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428" r:id="rId179"/>
    <p:sldId id="268" r:id="rId19"/>
    <p:sldId id="269" r:id="rId20"/>
    <p:sldId id="270" r:id="rId21"/>
    <p:sldId id="504" r:id="rId255"/>
    <p:sldId id="271" r:id="rId22"/>
    <p:sldId id="429" r:id="rId180"/>
    <p:sldId id="272" r:id="rId23"/>
    <p:sldId id="273" r:id="rId24"/>
    <p:sldId id="430" r:id="rId181"/>
    <p:sldId id="274" r:id="rId25"/>
    <p:sldId id="431" r:id="rId182"/>
    <p:sldId id="275" r:id="rId26"/>
    <p:sldId id="276" r:id="rId27"/>
    <p:sldId id="432" r:id="rId183"/>
    <p:sldId id="277" r:id="rId28"/>
    <p:sldId id="433" r:id="rId184"/>
    <p:sldId id="278" r:id="rId29"/>
    <p:sldId id="279" r:id="rId30"/>
    <p:sldId id="280" r:id="rId31"/>
    <p:sldId id="434" r:id="rId185"/>
    <p:sldId id="281" r:id="rId32"/>
    <p:sldId id="282" r:id="rId33"/>
    <p:sldId id="283" r:id="rId34"/>
    <p:sldId id="435" r:id="rId186"/>
    <p:sldId id="284" r:id="rId35"/>
    <p:sldId id="285" r:id="rId36"/>
    <p:sldId id="437" r:id="rId188"/>
    <p:sldId id="286" r:id="rId37"/>
    <p:sldId id="287" r:id="rId38"/>
    <p:sldId id="438" r:id="rId189"/>
    <p:sldId id="288" r:id="rId39"/>
    <p:sldId id="439" r:id="rId190"/>
    <p:sldId id="289" r:id="rId40"/>
    <p:sldId id="441" r:id="rId192"/>
    <p:sldId id="290" r:id="rId41"/>
    <p:sldId id="291" r:id="rId42"/>
    <p:sldId id="443" r:id="rId194"/>
    <p:sldId id="292" r:id="rId43"/>
    <p:sldId id="293" r:id="rId44"/>
    <p:sldId id="444" r:id="rId195"/>
    <p:sldId id="294" r:id="rId45"/>
    <p:sldId id="295" r:id="rId46"/>
    <p:sldId id="296" r:id="rId47"/>
    <p:sldId id="297" r:id="rId48"/>
    <p:sldId id="446" r:id="rId197"/>
    <p:sldId id="298" r:id="rId49"/>
    <p:sldId id="447" r:id="rId198"/>
    <p:sldId id="299" r:id="rId50"/>
    <p:sldId id="300" r:id="rId51"/>
    <p:sldId id="448" r:id="rId199"/>
    <p:sldId id="301" r:id="rId52"/>
    <p:sldId id="302" r:id="rId53"/>
    <p:sldId id="303" r:id="rId54"/>
    <p:sldId id="304" r:id="rId55"/>
    <p:sldId id="305" r:id="rId56"/>
    <p:sldId id="306" r:id="rId57"/>
    <p:sldId id="453" r:id="rId204"/>
    <p:sldId id="307" r:id="rId58"/>
    <p:sldId id="308" r:id="rId59"/>
    <p:sldId id="309" r:id="rId60"/>
    <p:sldId id="456" r:id="rId207"/>
    <p:sldId id="457" r:id="rId208"/>
    <p:sldId id="310" r:id="rId61"/>
    <p:sldId id="311" r:id="rId62"/>
    <p:sldId id="459" r:id="rId210"/>
    <p:sldId id="312" r:id="rId63"/>
    <p:sldId id="460" r:id="rId211"/>
    <p:sldId id="313" r:id="rId64"/>
    <p:sldId id="314" r:id="rId65"/>
    <p:sldId id="462" r:id="rId213"/>
    <p:sldId id="315" r:id="rId66"/>
    <p:sldId id="316" r:id="rId67"/>
    <p:sldId id="463" r:id="rId214"/>
    <p:sldId id="317" r:id="rId68"/>
    <p:sldId id="318" r:id="rId69"/>
    <p:sldId id="464" r:id="rId215"/>
    <p:sldId id="319" r:id="rId70"/>
    <p:sldId id="320" r:id="rId71"/>
    <p:sldId id="321" r:id="rId72"/>
    <p:sldId id="465" r:id="rId216"/>
    <p:sldId id="322" r:id="rId73"/>
    <p:sldId id="323" r:id="rId74"/>
    <p:sldId id="324" r:id="rId75"/>
    <p:sldId id="466" r:id="rId217"/>
    <p:sldId id="325" r:id="rId76"/>
    <p:sldId id="326" r:id="rId77"/>
    <p:sldId id="327" r:id="rId78"/>
    <p:sldId id="328" r:id="rId79"/>
    <p:sldId id="436" r:id="rId187"/>
    <p:sldId id="329" r:id="rId80"/>
    <p:sldId id="468" r:id="rId219"/>
    <p:sldId id="330" r:id="rId81"/>
    <p:sldId id="331" r:id="rId82"/>
    <p:sldId id="332" r:id="rId83"/>
    <p:sldId id="333" r:id="rId84"/>
    <p:sldId id="334" r:id="rId85"/>
    <p:sldId id="335" r:id="rId86"/>
    <p:sldId id="471" r:id="rId222"/>
    <p:sldId id="336" r:id="rId87"/>
    <p:sldId id="472" r:id="rId223"/>
    <p:sldId id="337" r:id="rId88"/>
    <p:sldId id="473" r:id="rId224"/>
    <p:sldId id="338" r:id="rId89"/>
    <p:sldId id="339" r:id="rId90"/>
    <p:sldId id="474" r:id="rId225"/>
    <p:sldId id="340" r:id="rId91"/>
    <p:sldId id="341" r:id="rId92"/>
    <p:sldId id="475" r:id="rId226"/>
    <p:sldId id="342" r:id="rId93"/>
    <p:sldId id="476" r:id="rId227"/>
    <p:sldId id="343" r:id="rId94"/>
    <p:sldId id="477" r:id="rId228"/>
    <p:sldId id="344" r:id="rId95"/>
    <p:sldId id="478" r:id="rId229"/>
    <p:sldId id="345" r:id="rId96"/>
    <p:sldId id="479" r:id="rId230"/>
    <p:sldId id="346" r:id="rId97"/>
    <p:sldId id="498" r:id="rId249"/>
    <p:sldId id="347" r:id="rId98"/>
    <p:sldId id="499" r:id="rId250"/>
    <p:sldId id="348" r:id="rId99"/>
    <p:sldId id="500" r:id="rId251"/>
    <p:sldId id="349" r:id="rId100"/>
    <p:sldId id="350" r:id="rId101"/>
    <p:sldId id="351" r:id="rId102"/>
    <p:sldId id="352" r:id="rId103"/>
    <p:sldId id="353" r:id="rId104"/>
    <p:sldId id="354" r:id="rId105"/>
    <p:sldId id="440" r:id="rId191"/>
    <p:sldId id="442" r:id="rId193"/>
    <p:sldId id="355" r:id="rId106"/>
    <p:sldId id="445" r:id="rId196"/>
    <p:sldId id="356" r:id="rId107"/>
    <p:sldId id="449" r:id="rId200"/>
    <p:sldId id="357" r:id="rId108"/>
    <p:sldId id="450" r:id="rId201"/>
    <p:sldId id="451" r:id="rId202"/>
    <p:sldId id="452" r:id="rId203"/>
    <p:sldId id="358" r:id="rId109"/>
    <p:sldId id="454" r:id="rId205"/>
    <p:sldId id="455" r:id="rId206"/>
    <p:sldId id="359" r:id="rId110"/>
    <p:sldId id="458" r:id="rId209"/>
    <p:sldId id="461" r:id="rId212"/>
    <p:sldId id="360" r:id="rId111"/>
    <p:sldId id="467" r:id="rId218"/>
    <p:sldId id="361" r:id="rId112"/>
    <p:sldId id="469" r:id="rId220"/>
    <p:sldId id="362" r:id="rId113"/>
    <p:sldId id="470" r:id="rId221"/>
    <p:sldId id="363" r:id="rId114"/>
    <p:sldId id="480" r:id="rId231"/>
    <p:sldId id="364" r:id="rId115"/>
    <p:sldId id="365" r:id="rId116"/>
    <p:sldId id="481" r:id="rId232"/>
    <p:sldId id="366" r:id="rId117"/>
    <p:sldId id="367" r:id="rId118"/>
    <p:sldId id="482" r:id="rId233"/>
    <p:sldId id="368" r:id="rId119"/>
    <p:sldId id="369" r:id="rId120"/>
    <p:sldId id="483" r:id="rId234"/>
    <p:sldId id="484" r:id="rId235"/>
    <p:sldId id="370" r:id="rId121"/>
    <p:sldId id="371" r:id="rId122"/>
    <p:sldId id="485" r:id="rId236"/>
    <p:sldId id="372" r:id="rId123"/>
    <p:sldId id="486" r:id="rId237"/>
    <p:sldId id="373" r:id="rId124"/>
    <p:sldId id="374" r:id="rId125"/>
    <p:sldId id="487" r:id="rId238"/>
    <p:sldId id="375" r:id="rId126"/>
    <p:sldId id="376" r:id="rId127"/>
    <p:sldId id="488" r:id="rId239"/>
    <p:sldId id="377" r:id="rId128"/>
    <p:sldId id="378" r:id="rId129"/>
    <p:sldId id="489" r:id="rId240"/>
    <p:sldId id="379" r:id="rId130"/>
    <p:sldId id="380" r:id="rId131"/>
    <p:sldId id="490" r:id="rId241"/>
    <p:sldId id="381" r:id="rId132"/>
    <p:sldId id="491" r:id="rId242"/>
    <p:sldId id="382" r:id="rId133"/>
    <p:sldId id="383" r:id="rId134"/>
    <p:sldId id="384" r:id="rId135"/>
    <p:sldId id="493" r:id="rId244"/>
    <p:sldId id="494" r:id="rId245"/>
    <p:sldId id="385" r:id="rId136"/>
    <p:sldId id="386" r:id="rId137"/>
    <p:sldId id="387" r:id="rId138"/>
    <p:sldId id="388" r:id="rId139"/>
    <p:sldId id="495" r:id="rId246"/>
    <p:sldId id="389" r:id="rId140"/>
    <p:sldId id="390" r:id="rId141"/>
    <p:sldId id="492" r:id="rId243"/>
    <p:sldId id="496" r:id="rId247"/>
    <p:sldId id="391" r:id="rId142"/>
    <p:sldId id="497" r:id="rId248"/>
    <p:sldId id="392" r:id="rId143"/>
    <p:sldId id="501" r:id="rId252"/>
    <p:sldId id="502" r:id="rId253"/>
    <p:sldId id="393" r:id="rId144"/>
    <p:sldId id="503" r:id="rId25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505" r:id="rId256"/>
    <p:sldId id="408" r:id="rId159"/>
    <p:sldId id="506" r:id="rId257"/>
    <p:sldId id="409" r:id="rId160"/>
    <p:sldId id="410" r:id="rId161"/>
    <p:sldId id="507" r:id="rId258"/>
    <p:sldId id="411" r:id="rId162"/>
    <p:sldId id="508" r:id="rId259"/>
    <p:sldId id="509" r:id="rId260"/>
    <p:sldId id="412" r:id="rId163"/>
    <p:sldId id="413" r:id="rId164"/>
    <p:sldId id="510" r:id="rId261"/>
    <p:sldId id="414" r:id="rId165"/>
    <p:sldId id="415" r:id="rId166"/>
    <p:sldId id="511" r:id="rId262"/>
    <p:sldId id="416" r:id="rId167"/>
    <p:sldId id="512" r:id="rId263"/>
    <p:sldId id="417" r:id="rId168"/>
    <p:sldId id="513" r:id="rId264"/>
    <p:sldId id="418" r:id="rId169"/>
    <p:sldId id="514" r:id="rId265"/>
    <p:sldId id="419" r:id="rId170"/>
    <p:sldId id="420" r:id="rId171"/>
    <p:sldId id="421" r:id="rId172"/>
    <p:sldId id="422" r:id="rId173"/>
    <p:sldId id="423" r:id="rId174"/>
    <p:sldId id="424" r:id="rId175"/>
    <p:sldId id="425" r:id="rId176"/>
    <p:sldId id="426" r:id="rId177"/>
    <p:sldId id="427" r:id="rId17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các bạn. Hôm nay chúng ta đi qua 15 buổi đầu của khoá, gom lại trong một bộ slide: dữ liệu cho dự báo.</a:t>
            </a:r>
          </a:p>
          <a:p>
            <a:r>
              <a:t>Ba chữ ở dưới tiêu đề là ba việc chúng ta làm: hiểu dữ liệu, làm sạch nó, và đánh giá trung thực. Buổi 1 đến 3 là nền móng, buổi 4 đến 13 là hiểu và chuẩn bị dữ liệu, đây là phần làm kỹ nhất. Buổi 14 và 15 là đánh giá, và nó được gộp vào đây vì một lý do đơn giản: không chấm trung thực thì chúng ta không biết tiền xử lý có giúp thật hay không.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bản đồ của buổi hôm nay, sáu phần xoay quanh một tâm.</a:t>
            </a:r>
          </a:p>
          <a:p>
            <a:r>
              <a:t>Phần A là khái niệm nền, mỗi khái niệm một slide. Phần B là các vấn đề dữ liệu hay gặp: mỗi vấn đề có một hình thật và ba thẻ, dấu hiệu, kiểm bằng gì, sửa thế nào. Phần C gom bảng tra, mười chỗ hay hiểu nhầm và từ điển Việt – Anh để các bạn tra nhanh. Phần D là đánh giá trung thực của buổi 14 và 15. Phần E ráp mọi thứ thành một quy trình tiền xử lý, tách rõ bước nào làm một lần, bước nào làm lại ở mỗi mốc cắt. Phần F điểm lại bộ dữ liệu đã dùng và những gì còn ở các buổi sau.</a:t>
            </a:r>
          </a:p>
          <a:p>
            <a:r>
              <a:t>Mỗi khi mở một phần mới, bản đồ này sẽ hiện lại, sáng đúng phần đang nói.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khoá có 44 buổi, đi từ thống kê cổ điển tới deep learning, foundation model và production. Nhìn dải ô ở dưới: 15 ô có màu là hôm nay, các ô xám là phần sau.</a:t>
            </a:r>
          </a:p>
          <a:p>
            <a:r>
              <a:t>Ba con số lớn chia 15 buổi này: 3 buổi nền móng, 10 buổi hiểu và chuẩn bị dữ liệu, 2 buổi đánh giá trung thực.</a:t>
            </a:r>
          </a:p>
          <a:p>
            <a:r>
              <a:t>Vì sao kéo hai buổi đánh giá vào đây? Vì nhiều bước tiền xử lý có "học" từ dữ liệu, ví dụ giá trị dùng để điền chỗ trống hay tham số của một phép biến đổi. Những bước đó chỉ đúng khi chúng ta biết nó được học trên đoạn nào. Mọi buổi sau đều đứng lên trên phần móng này.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giai đoạn dữ liệu đi theo một nhịp năm bước, các bạn nhìn năm vòng tròn: nhìn, đặt giả thuyết, kiểm bằng con số, xử lý, rồi kiểm lại.</a:t>
            </a:r>
          </a:p>
          <a:p>
            <a:r>
              <a:t>Ví dụ ở khung dưới: thấy một giờ bằng 0 lúc rạng sáng Chủ nhật tháng 3. Đừng vội điền. Nghi là do đổi giờ mùa hè, đếm lại số giờ của ngày đó, đổi sang UTC rồi mới gộp, cuối cùng vẽ lại ngày đó để chắc.</a:t>
            </a:r>
          </a:p>
          <a:p>
            <a:r>
              <a:t>(dừng) Bài học chính của cả phần này: không xoá, không điền khi chưa biết nguyên nhân. Một con số lạ có thể là lỗi, nhưng cũng có thể là sự kiện thật cần giữ lại.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vào phần A: khái niệm nền, đi theo thứ tự buổi 1 đến 13.</a:t>
            </a:r>
          </a:p>
          <a:p>
            <a:r>
              <a:t>Năm trang đầu là "Từ nền", gom những từ dùng nhiều mà không có slide riêng. Sau đó mỗi slide là một khái niệm, và luôn trả lời bốn câu: để làm gì, là gì, con số cao hay thấp nghĩa là gì, và một ví dụ có số.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trang "Từ nền" là chỗ để tra: gặp từ lạ ở slide nào thì quay lại đây. Mỗi dòng có ba cột, từ, nghĩa, và một ví dụ nhỏ.</a:t>
            </a:r>
          </a:p>
          <a:p>
            <a:r>
              <a:t>Trang này là các từ về dự báo và sai số. Dòng quan trọng nhất là sai số dự báo: sai số bằng thực tế trừ dự báo. Vậy sai số dương nghĩa là chúng ta dự báo thấp hơn thực tế, như 1,7 trừ 1,5 bằng cộng 0,2. Quy ước này dùng cho cả khoá, các bạn nhớ giúp.</a:t>
            </a:r>
          </a:p>
          <a:p>
            <a:r>
              <a:t>Dòng thứ hai nên nhớ là MAE với RMSE: MAE bỏ dấu rồi lấy trung bình, sai số cộng 2 và trừ 4 thì MAE là 3. RMSE bình phương trước nên phạt nặng sai số lớn. Và NaN là "không biết", khác hẳn số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2 là các từ thống kê, dùng ở buổi 2, 8, 9 và 14.</a:t>
            </a:r>
          </a:p>
          <a:p>
            <a:r>
              <a:t>Cặp từ nền nhất là mẫu và tổng thể. Mẫu là số liệu đang có trong tay, tổng thể là mọi giá trị nếu đo mãi. Mọi khoảng tin cậy và p-value đều là cách đoán về tổng thể từ một mẫu, nên khi thấy hai thứ đó, hãy tự hỏi: mẫu của mình có đại diện không.</a:t>
            </a:r>
          </a:p>
          <a:p>
            <a:r>
              <a:t>Hai dòng nữa đáng nhớ: phân phối chuẩn, 95% nằm trong trung bình cộng trừ 1,96 lần độ lệch chuẩn; và sai số chuẩn, tức độ lệch chuẩn của chính con số ước lượng, như trung bình 25 giờ dao động cỡ 181 chia căn 25, xấp xỉ 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3 là các từ về biến đổi, tính dừng và bất thường, dùng ở buổi 5, 6, 7 và 11.</a:t>
            </a:r>
          </a:p>
          <a:p>
            <a:r>
              <a:t>Ba dòng nên nhớ. Nhiễu trắng: không tự tương quan ở trễ nào, quá khứ không giúp gì để đoán, như tung xúc xắc. Random walk: giá trị mới bằng giá trị cũ cộng một bước ngẫu nhiên, nên nó trôi đi không quay về. Và winsorize: kéo giá trị bị gắn cờ về mức hợp lý, ví dụ 50 kéo về 12, chứ không xoá. Cách này khớp với bài học ở slide nhịp: không xoá khi chưa chắc. Còn MAD là thước đo độ tản mà ngoại lai không kéo được.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4 là tần số và bộ lọc của buổi 12. Với mọi bộ lọc, chúng ta hỏi hai câu trước: nó có nhìn tương lai không, và nó trễ bao nhiêu bước.</a:t>
            </a:r>
          </a:p>
          <a:p>
            <a:r>
              <a:t>Nhìn dòng trailing và centered: trailing chỉ nhìn các điểm trước, centered lấy cả trước lẫn sau, tức dùng số tương lai. Dòng trễ pha: trung bình 13 điểm trễ 6 bước. Và dòng sosfilt với sosfiltfilt: sosfiltfilt chạy xuôi rồi chạy ngược, nên nó nhìn tương lai. Làm sạch bằng bộ lọc nhìn tương lai là một kiểu rò rỉ mà chúng ta sẽ gặp lại ở phần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cuối của "Từ nền": làm sạch, feature và đánh giá, dùng ở buổi 10, 13 và 15.</a:t>
            </a:r>
          </a:p>
          <a:p>
            <a:r>
              <a:t>Ba dòng đáng nhớ nhất đều xoay quanh câu hỏi "lúc dự báo đã biết gì". Scaler phải fit trên phần học, không fit trên cả chuỗi. Ex-ante là chỉ dùng thông tin có lúc dự báo, như nhiệt độ dự báo; ex-post dùng cả số thật về sau, như nhiệt độ đo. Point-in-time là dùng số liệu đúng như lúc đó, ví dụ GDP bản công bố đầu tiên chứ không phải bản đã sửa. Cả ba đều là cách tránh để tương lai lọt vào quá khứ.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Khái niệm đầu tiên: dự báo là gì. Có ba thứ hay bị gộp làm một, các bạn nhìn bảng bên trái.</a:t>
            </a:r>
          </a:p>
          <a:p>
            <a:r>
              <a:t>Dự báo là điều sẽ xảy ra, mục tiêu là điều ta muốn, kế hoạch là việc ta làm để tới gần mục tiêu. Ở quán cà phê: dự báo tuần tới khoảng 1.900 ly, mục tiêu 2.500 ly. Nếu sếp muốn 2.500 nên bảo "dự báo 2.500", kho đặt hàng cho 2.500, tuần đó bán 1.900, thừa 600 ly, và không ai còn biết dự báo đúng hay sai. Muốn đạt mục tiêu thì sửa kế hoạch, đừng sửa dự báo.</a:t>
            </a:r>
          </a:p>
          <a:p>
            <a:r>
              <a:t>Bảng bên phải là bốn điều quyết định một thứ dự báo được tới đâu. Điện ngày mai thoả cả bốn. Tỷ giá chỉ thoả một, là có nhiều dữ liệu, vì người ta mua bán theo dự báo nên dự báo tự làm mình sai.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từ các bạn sẽ nghe suốt khoá: gốc dự báo và tầm dự báo.</a:t>
            </a:r>
          </a:p>
          <a:p>
            <a:r>
              <a:t>Nhìn hình: vạch cam là gốc, tức lúc ra dự báo. Bên trái vạch là những gì đã biết, dải xanh bên phải là phần phải đoán. Tầm h là đếm từ gốc bao nhiêu bước. Đứng ở 00:00 thứ Hai dự báo 168 giờ tới thì h chạy từ 1, là 01:00, tới 168, là giờ cuối Chủ nhật. h càng lớn càng xa gốc, thường sai số càng lớn.</a:t>
            </a:r>
          </a:p>
          <a:p>
            <a:r>
              <a:t>(dừng) Mọi quy tắc chống rò rỉ về sau đều quy về đúng một câu: chỉ được dùng thứ nằm bên trái gốc.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code đầu tiên, từ buổi 1: dữ liệu điện của một hộ, đo từng phút.</a:t>
            </a:r>
          </a:p>
          <a:p>
            <a:r>
              <a:t>Dòng 3 đến 6 đọc số đo và ghép ngày với giờ thành mốc thời gian. Dòng 8 và 9 gộp về từng giờ bằng resample rồi lấy trung bình. Vì số đo là kW, trung bình kW trong một giờ chính là số kWh của giờ đó. Giờ nào thiếu hơn 30 phút thì để trống, không đoán. Dòng 10 và 11 dùng groupby để lấy trung bình theo giờ trong ngày, rồi idxmin, idxmax tìm giờ thấp nhất và cao nhất. Dòng 12 và 13 so ngày thường với cuối tuần.</a:t>
            </a:r>
          </a:p>
          <a:p>
            <a:r>
              <a:t>Kết quả: thấp nhất lúc 4 giờ sáng, cao nhất lúc 20 giờ, và cuối tuần dùng nhiều hơn ngày thường. Nhịp lặp đều này gọi là mùa vụ, và chính nó làm điện dự báo được.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là một cách tính ra dự báo; tham số là các con số bên trong nó. "Mai bằng trung bình 7 ngày qua" là một mô hình có một tham số, là số 7. Khớp, hay học, là chọn tham số từ dữ liệu.</a:t>
            </a:r>
          </a:p>
          <a:p>
            <a:r>
              <a:t>Nhìn thanh ở trên: phần học là đoạn mô hình được thấy, kỳ chấm là đoạn giấu đi, nằm sau gốc dự báo. Vì sao phải giấu? Sai số đo trên phần học, gọi là phần dư, luôn đẹp hơn thật. Mô hình đủ nhiều tham số có thể khớp gần hoàn hảo những gì đã thấy mà dự báo cái mới vẫn tệ. Đó là học thuộc: thuộc đề cũ được 10 điểm, đề mới chỉ 6.</a:t>
            </a:r>
          </a:p>
          <a:p>
            <a:r>
              <a:t>Nên trong cả khoá, mọi chỉ số chính xác đều tính trên kỳ chấm; phần dư chỉ để chẩn đoán.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mở dữ liệu, chúng ta điền phiếu 6 ô. Ví dụ là một công ty mua trước điện cho một khu dân cư.</a:t>
            </a:r>
          </a:p>
          <a:p>
            <a:r>
              <a:t>Ô 1 là quyết định, và năm ô còn lại đều suy ra từ nó: cuối Chủ nhật đặt mua điện theo giờ cho 7 ngày tới. Từ đó ra ô 2, biến mục tiêu là kWh mỗi giờ, và ô 3, tầm dự báo 1 đến 168 giờ. Ô 5, mốc cắt: lúc dự báo chỉ có số đo tới 23:59 Chủ nhật và thời tiết bản dự báo, chưa có thời tiết thật.</a:t>
            </a:r>
          </a:p>
          <a:p>
            <a:r>
              <a:t>Hai ô các bạn sẽ gặp lại ngay trong vài slide tới: ô 4, độ chi tiết, quyết định cách chấm; ô 6, chi phí sai hai chiều, thiếu mất khoảng 4 đồng mỗi kWh, thừa mất khoảng 1 đồng, quyết định nên báo con số nào.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sử một mô hình báo sai số 0,38. Tốt hay xấu? Chưa nói được gì, vì không có gì để so. Giống như bạn được 7 điểm: cả lớp được 9 thì 7 là kém, cả lớp được 4 thì 7 là giỏi. Baseline là điểm của cả lớp: cách dự báo đơn giản nhất, ai cũng làm được, dùng làm mốc.</a:t>
            </a:r>
          </a:p>
          <a:p>
            <a:r>
              <a:t>Hình này là một chuỗi M4 theo ngày. Trên chuỗi này seasonal naive thắng vì bắt được nhịp tuần. Nhưng trên cả tập M4 theo ngày thì ngược lại: naive có MASE 0,835 và drift 0,810, cả hai đều thắng seasonal naive ở 1,077. Nên quy tắc của khoá là mô hình phải thắng cả bốn baseline trên backtest, và bảng kết quả luôn có seasonal naive.</a:t>
            </a:r>
          </a:p>
          <a:p>
            <a:r>
              <a:t>Thêm một điều: độ trễ của baseline phải ít nhất bằng tầm dự báo. Dự báo 7 ngày mà dùng "cùng giờ hôm qua" là đã dùng số chưa có tại gốc; phải dùng "cùng giờ tuần trước".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bốn baseline viết bằng NumPy, lấy từ buổi 14. Mỗi hàm nhận lịch sử y và trả về 14 bước dự báo.</a:t>
            </a:r>
          </a:p>
          <a:p>
            <a:r>
              <a:t>Dòng 3 và 4: lặp mức trung bình cả lịch sử 14 lần bằng np.repeat. Dòng 6 và 7: lặp giá trị cuối. Dòng 9 đến 11 là seasonal naive: lấy m giá trị cuối, ở đây m bằng 7 ngày, tức một vòng mùa vụ, rồi lặp lại vòng đó. Dòng 13 đến 15 là drift: tính độ dốc từ điểm đầu tới điểm cuối, rồi đi tiếp theo đường thẳng đó.</a:t>
            </a:r>
          </a:p>
          <a:p>
            <a:r>
              <a:t>Kết quả, MASE trung vị trên 1.000 chuỗi M4 theo ngày: trung bình 8,85, naive 0,835, seasonal naive 1,077, drift 0,810. Để ý baseline mean tệ hẳn, còn baseline thắng lại không phải seasonal naive.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chắc là hiểu bốn baseline, chúng ta tính tay trên chuỗi 10, 14, 12, 16, 14, 18, mùa dài 2, dự báo 2 bước tới.</a:t>
            </a:r>
          </a:p>
          <a:p>
            <a:r>
              <a:t>Đọc bảng theo cột "giả định": mỗi baseline là một giả định đơn giản về tương lai. Mean: tổng 84 chia 6 bằng 14, nên dự báo 14 và 14. Naive: lấy số cuối, 18 và 18. Seasonal naive: lấy cùng vị trí ở mùa trước, ra 14 rồi 18. Drift: độ dốc là 18 trừ 10, chia 5, bằng 1,6 mỗi bước, nên ra 19,6 rồi 21,2.</a:t>
            </a:r>
          </a:p>
          <a:p>
            <a:r>
              <a:t>Hai quy tắc ở dưới các bạn đã nghe: độ trễ ít nhất bằng tầm dự báo, và phải thắng cả bốn.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Quay lại dữ liệu điện buổi 1, lần này là MAE và bốn baseline cho tầm 168 giờ.</a:t>
            </a:r>
          </a:p>
          <a:p>
            <a:r>
              <a:t>Dòng 4 đến 7 là hàm MAE: lấy trị tuyệt đối từng sai số rồi trung bình, bỏ qua giờ không có số đo. Dòng 10 là naive, lặp số cuối cùng đã biết. Dòng 11 là trung bình mọi giờ đã biết. Dòng 12 là seasonal naive: cùng giờ tuần trước, lấy 168 giờ cuối bằng iloc. Dòng 13 và 14 là trung bình 4 tuần: xếp 4 tuần gần nhất thành 4 hàng bằng reshape, rồi lấy trung bình theo cột, tức mỗi giờ trong tuần là trung bình của 4 lần.</a:t>
            </a:r>
          </a:p>
          <a:p>
            <a:r>
              <a:t>Kết quả chấm cuốn năm 2010, tính bằng kWh mỗi giờ: trung bình 4 tuần 0,490, tuần trước 0,576, trung bình 0,652, giờ trước 0,770. Con số 0,490 là mốc mọi mô hình sau phải vượt.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đến một lỗi rất hay gặp. Sai số ảo là sai số đo trên chính dữ liệu đã dùng để dựng dự báo, nên nó đẹp hơn thật.</a:t>
            </a:r>
          </a:p>
          <a:p>
            <a:r>
              <a:t>Nhìn hình: cùng một mô hình "bảng lịch". Khi bảng được tính cả trên các giờ đang chấm, MAE là 0,380, đứng đầu bảng. Chấm trung thực thì MAE là 0,508, thua cả trung bình 4 tuần ở 0,490. Khoảng cách giữa hai con số càng lớn thì mô hình càng học thuộc thay vì học quy luật.</a:t>
            </a:r>
          </a:p>
          <a:p>
            <a:r>
              <a:t>Có một phép thử rẻ: đổi số đo ở giai đoạn chấm rồi chạy lại. Dự báo trung thực không được đổi theo; nếu đổi, mô hình đã nhìn thấy đáp án. Cách chấm đúng là dự báo cuốn, ở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cuốn là chấm đúng như lúc dùng thật. Bốn bước bên phải: chọn một gốc, ví dụ 00:00 thứ Hai; dựng dự báo chỉ từ dữ liệu trước gốc; dự báo 168 giờ tới rồi mới mở số thật để tính sai số; dời gốc sang thứ Hai sau và làm lại.</a:t>
            </a:r>
          </a:p>
          <a:p>
            <a:r>
              <a:t>Nhìn hình bên trái: mỗi hàng là một gốc. Phần xám là dữ liệu được dùng, ô xanh là tuần được dự báo và chấm. Xuống mỗi hàng, gốc dời thêm một tuần, và phần xám dài thêm. Buổi 1 làm vậy với 46 thứ Hai năm 2010, rồi lấy trung bình sai số.</a:t>
            </a:r>
          </a:p>
          <a:p>
            <a:r>
              <a:t>Làm như vậy trên quá khứ gọi là backtest. Buổi 15 sẽ tổng quát nó thành rolling origin, với các lựa chọn học trên đoạn nào, bỏ trống bao nhiêu, và học lại bao lâu một lần.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mô hình bảng lịch và vòng dự báo cuốn.</a:t>
            </a:r>
          </a:p>
          <a:p>
            <a:r>
              <a:t>Dòng 3 đến 7 dựng bảng lịch: với mỗi tổ hợp tuần trong năm, thứ, và giờ, lấy một trung bình, bằng groupby nhiều khoá. Dòng 8 và 9 tra bảng đó cho các giờ cần dự báo, dùng reindex; khoá nào không có thì ra NaN. Dòng 12 và 13: mỗi thứ Hai là một gốc, sinh bằng date_range cách nhau 168 giờ. Dòng 14 là dòng quan trọng nhất (chỉ vào dòng 14): bảng chỉ được khớp trên dữ liệu có chỉ số nhỏ hơn gốc. Dòng 15 và 16 ghép dự báo của mọi tuần để chấm.</a:t>
            </a:r>
          </a:p>
          <a:p>
            <a:r>
              <a:t>Kết quả: nếu lập bảng từ cả 4 năm, MAE là 0,380, đó là sai số ảo. Chấm cuốn 46 tuần thì 0,508, thua trung bình 4 tuần ở 0,490.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Nhớ ô 4 của phiếu, độ chi tiết. Slide này cho thấy vì sao nó quan trọng.</a:t>
            </a:r>
          </a:p>
          <a:p>
            <a:r>
              <a:t>Nhìn hình: cùng ba cách dự báo, chấm ở hai mức. Theo giờ, trung bình 4 tuần thắng với MAE 0,490, bảng lịch 0,508. Cộng lên tổng tuần thì thứ hạng đảo: bảng lịch 16,4 kWh mỗi tuần, thắng xa trung bình 4 tuần ở 27,9.</a:t>
            </a:r>
          </a:p>
          <a:p>
            <a:r>
              <a:t>Vì sao? Khi cộng lên tuần, phần lệch lên và lệch xuống do nhiễu bù trừ nhau. Chỉ những lệch cùng một chiều trong nhiều ngày mới dồn lại. Vậy nếu công ty mua điện theo giờ thì chấm theo giờ, nếu ký hợp đồng theo tuần thì chấm theo tuần. Phải chấm ở đúng mức của quyết định trước khi chọn mô hình.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cho phép so ở hai mức. Bảng cuon có mỗi dòng một giờ, cột goc, cột y và các cột dự báo.</a:t>
            </a:r>
          </a:p>
          <a:p>
            <a:r>
              <a:t>Dòng 4 đến 7 là MAE như trước, bỏ giờ trống. Dòng 11 cộng 168 giờ của mỗi gốc thành tổng tuần. Chú ý min_count bằng 1: nhóm toàn trống thì ra NaN chứ không ra 0. Dòng 12 và 13 hỏi từng tuần có đủ số đo mọi giờ không; tuần thiếu thì gán trống, không chấm, vì tổng của một tuần thiếu giờ sẽ thấp giả. Dòng 14 và 15 tính MAE ở hai mức.</a:t>
            </a:r>
          </a:p>
          <a:p>
            <a:r>
              <a:t>Kết quả: theo giờ, trung bình 4 tuần 0,490 thắng bảng lịch 0,508. Theo tổng tuần, bảng lịch 16,4 thắng xa trung bình 4 tuần 27,9 kWh mỗi tuần.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Ô 6 của phiếu: thiếu và thừa đắt khác nhau. Lúc đó con số nên báo không còn là trung bình nữa, mà là một quantile.</a:t>
            </a:r>
          </a:p>
          <a:p>
            <a:r>
              <a:t>Quantile p là giá trị nhỏ nhất mà ít nhất tỷ lệ p số liệu nằm dưới hoặc bằng nó; trung vị là quantile 0,5. Nhìn hình: đây là đường tích luỹ. Đi ngang từ tỷ lệ trên trục dọc tới đường cong, rồi thả xuống trục ngang là ra quantile.</a:t>
            </a:r>
          </a:p>
          <a:p>
            <a:r>
              <a:t>Khi thiếu mất 4 đồng, thừa mất 1 đồng, ta đặt dự báo ở quantile 4 chia 4 cộng 1, bằng 0,8: chấp nhận thừa để ít khi thiếu. Ở buổi 1, làm vậy giảm chi phí 18,6% dù MAE lại tệ hơn. Vậy chọn mô hình theo MAE sẽ chọn sai khi hai chiều đắt khác nhau.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này có tên: newsvendor, người bán báo. Mỗi sáng đặt số báo một lần; thiếu thì mất khách, thừa thì lỗ tiền in. Tiệm bánh mì cũng thế: họ làm dư ra một chút, vì mất một khách đắt hơn lỗ chút tiền bột. Công ty mua điện ở buổi 1 cũng vậy: thiếu mất Cu đồng mỗi kWh, thừa mất Co đồng.</a:t>
            </a:r>
          </a:p>
          <a:p>
            <a:r>
              <a:t>Lượng nên đặt là quantile Cu chia tổng Cu cộng Co. Nhìn cột thang: hai chiều bằng nhau thì báo trung vị, thiếu đắt gấp 4 thì báo quantile 0,8. Trên 10 ngày mẫu: mua 8 kWh tốn 33 đồng, mua 9 tốn 28, ít nhất, mua 10 lại tốn 33.</a:t>
            </a:r>
          </a:p>
          <a:p>
            <a:r>
              <a:t>Dự báo kiểu này chấm bằng pinball loss mức tau: thiếu mỗi đơn vị phạt tau, thừa mỗi đơn vị phạt 1 trừ tau. Tau 0,8, thật 10, báo 8: thiếu 2, phạt 1,6. Cách phạt này có đáy đúng ở quantile tau.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code này kiểm lại bằng số điều vừa nói.</a:t>
            </a:r>
          </a:p>
          <a:p>
            <a:r>
              <a:t>Dòng 3 đến 6: với 10 ngày nhu cầu, thử từng mức mua từ 6 đến 12, tính tiền mất; np.clip cắt số âm về 0 để tách riêng phần thiếu, phạt 4, và phần thừa, phạt 1. Dòng 7 tính quantile 0,8 theo kiểu đếm tay. Dòng 9 đến 12 là hàm tiền mất trên dữ liệu thật. Dòng 14 và 15 là chỗ cần để ý: phần cộng thêm lấy từ quantile 0,8 của sai số năm 2009, không nhìn năm 2010. Dòng 16 so tiền mất năm 2010 trước và sau.</a:t>
            </a:r>
          </a:p>
          <a:p>
            <a:r>
              <a:t>Kết quả: mua 9 kWh rẻ nhất, 28 đồng, đúng bằng quantile 0,8, không phải trung bình 7,7. Trên dữ liệu thật, cộng thêm 0,455 kWh làm tiền mất từ 1,213 xuống 0,987, giảm 18,6%, trong khi MAE tệ đi.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Quantile là một cách đọc phân phối. Trước khi tóm số liệu bằng một con số, chúng ta nhìn hình dạng của nó.</a:t>
            </a:r>
          </a:p>
          <a:p>
            <a:r>
              <a:t>Hình có hai phần: histogram đếm số lần gặp mỗi khoảng giá trị; đường tích luỹ cho biết bao nhiêu phần số liệu nằm dưới mỗi mốc. Đây là lượt thuê xe theo giờ. Histogram lệch phải: phần lớn giờ vắng, vài giờ rất đông, đuôi phải kéo dài.</a:t>
            </a:r>
          </a:p>
          <a:p>
            <a:r>
              <a:t>Chính cái đuôi đó kéo trung bình lên 189, trong khi trung vị chỉ 142. Hệ số lệch dương báo đuôi phải dài. Độ lệch chuẩn đo số liệu tản rộng cỡ nào, cùng đơn vị với dữ liệu. Hai con số trung bình và trung vị cách nhau thế này là dấu hiệu phải hỏi: mình cần báo con số nào.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2. Code này tính quantile như đếm tay, rồi thấy trung bình và trung vị lệch nhau trên dữ liệu thật.</a:t>
            </a:r>
          </a:p>
          <a:p>
            <a:r>
              <a:t>Dòng 6 và 7: chín giờ, xếp tăng dần là 2, 3, 5, 6, 8, 9, 12, 18, 36. Dòng 8: quantile 0,8 kiểu đếm tay, vị trí là 0,8 nhân 9 bằng 7,2, làm tròn lên số thứ 8, tức 18. Dòng 9: mặc định của NumPy nội suy giữa hai số kề nhau, nên ra 14,4. Hai cách cho hai số khác nhau, nên khi so với tính tay các bạn nhớ ghi rõ method. Dòng 11 đến 13 đọc lượt thuê theo giờ của Capital Bikeshare, dòng 14 so ba con số.</a:t>
            </a:r>
          </a:p>
          <a:p>
            <a:r>
              <a:t>Kết quả: trung bình 189, trung vị 142, quantile 0,9 khoảng 451 lượt mỗi giờ.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con số nền của thống kê: trung bình, phương sai, độ lệch chuẩn.</a:t>
            </a:r>
          </a:p>
          <a:p>
            <a:r>
              <a:t>Nhìn hình với ví dụ 2, 4, 6. Trung bình là 4. Khoảng cách tới trung bình là trừ 2, 0, 2; tổng bình phương là 8; chia cho n trừ 1, tức chia 2, ra phương sai 4. Căn của phương sai là độ lệch chuẩn, bằng 2, cùng đơn vị với dữ liệu.</a:t>
            </a:r>
          </a:p>
          <a:p>
            <a:r>
              <a:t>Từ đây có z-score: giá trị trừ trung bình, chia độ lệch chuẩn. Trung bình 10, độ lệch chuẩn 2, giá trị 16 thì z bằng 3, tức rất xa, nghi ngoại lai. Đây là gốc của quy tắc 3 sigma ở buổi 11, khoảng cộng trừ 1,96 s ở buổi 2, và CV ở buổi 9. Chuẩn hoá z-score bỏ mức và biên độ, chỉ giữ hình dạng: 100, 300, 100, 300 thành trừ 1, 1, trừ 1, 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Chín giờ thuê xe có trung bình 11 mà trung vị chỉ 8. Số liệu lệch về phía nào, và lệch cỡ nào? Hệ số lệch trả lời bằng một con số.</a:t>
            </a:r>
          </a:p>
          <a:p/>
          <a:p>
            <a:r>
              <a:t>Cách tính: lấy độ lệch của mỗi số khỏi trung bình, chia cho độ lệch chuẩn, lập phương, rồi lấy trung bình. Lập phương giữ dấu và phóng to số ở xa. Số 36 lệch cộng 25 nên góp gần hết tổng, còn số 8 lệch trừ 3 góp rất ít. Kết quả là cộng 1,35, tức đuôi phải dài.</a:t>
            </a:r>
          </a:p>
          <a:p/>
          <a:p>
            <a:r>
              <a:t>(chỉ vào hình) Ô trái đối xứng quanh giữa, hệ số lệch gần 0. Ô phải dồn về bên trái, đuôi kéo dài sang phải, hệ số lệch dương. Lượt thuê theo giờ của cả bộ dữ liệu có hệ số lệch 1,277.</a:t>
            </a:r>
          </a:p>
          <a:p/>
          <a:p>
            <a:r>
              <a:t>Hệ số lệch dương thì trung bình nằm trên trung vị, và các công thức giả định hình chuông sẽ không còn hợp.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Vậy nên báo trung bình, trung vị hay quantile? Câu trả lời nằm ở cách sai lệch bị tính tiền, gọi là hàm mất mát.</a:t>
            </a:r>
          </a:p>
          <a:p>
            <a:r>
              <a:t>Nhìn hình: ba đường phạt trên lượt thuê xe, trục ngang là con số ta báo, trục dọc là mức phạt; chỗ cần nhìn là đáy của mỗi đường. Phạt bình phương, lệch 2 phạt 4, lệch 10 phạt 100, nên rất sợ lệch xa; đáy ở 189,46, chính là trung bình. Phạt tuyệt đối, lệch bao nhiêu phạt bấy nhiêu; đáy ở 142, trung vị. Pinball với tau 0,9; đáy ở 452, quantile 0,9.</a:t>
            </a:r>
          </a:p>
          <a:p>
            <a:r>
              <a:t>Ba cách phạt, ba đáy khác nhau. Đây là lý do buổi 14 nói: chọn chỉ số là chọn dự báo.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lại ba cách phạt trên chín con số nhỏ.</a:t>
            </a:r>
          </a:p>
          <a:p>
            <a:r>
              <a:t>Dòng 5 tính độ lệch chuẩn mẫu, ddof bằng 1 nghĩa là chia cho n trừ 1. Dòng 7 đến 9 là hàm pinball: sai số dương, tức dự báo thấp, phạt tau lần; sai số âm phạt 1 trừ tau lần, viết bằng np.where. Dòng 11 đến 14 thử báo cùng một số c cho cả 9 giờ, với ba giá trị c: 8 là trung vị, 11 là trung bình, 18 là quantile 0,8. Mỗi c tính ba mức phạt.</a:t>
            </a:r>
          </a:p>
          <a:p>
            <a:r>
              <a:t>Kết quả: độ lệch chuẩn 10,57. Phạt tuyệt đối thấp nhất ở c bằng 8, là 6,56. Bình phương thấp nhất ở c bằng 11, là 99,3. Pinball 0,8 thấp nhất ở c bằng 18, là 3,40. Mỗi cách phạt chọn đúng con số của nó.</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95% hay được dựng bằng trung bình cộng trừ 1,96 lần độ lệch chuẩn. Con số 1,96 ở đâu ra?</a:t>
            </a:r>
          </a:p>
          <a:p/>
          <a:p>
            <a:r>
              <a:t>Nó đến từ phân phối chuẩn, đường cong hình chuông đối xứng quanh trung bình. (chỉ vào hình) Diện tích dưới đường cong là tỷ lệ giá trị. Phần xanh ở giữa, từ trung bình trừ 1,96 s tới trung bình cộng 1,96 s, chiếm đúng 95%. Hai phần cam ở hai đuôi mỗi phần 2,5%. Nên 1,96 chính là quantile 0,975 của phân phối chuẩn. Để so sánh, cộng trừ 1 độ lệch chuẩn chỉ chứa 68,3%.</a:t>
            </a:r>
          </a:p>
          <a:p/>
          <a:p>
            <a:r>
              <a:t>Ví dụ trung bình 100, độ lệch chuẩn 10 thì khoảng 95% là 80,4 tới 119,6. Nhưng với chín giờ thuê xe lệch phải, 11 trừ 1,96 nhân 10,57 cho cận dưới âm 9,7 lượt thuê, một con số vô lý.</a:t>
            </a:r>
          </a:p>
          <a:p/>
          <a:p>
            <a:r>
              <a:t>Vậy 1,96 chỉ đúng khi dữ liệu gần hình chuông; dữ liệu lệch thì lấy thẳng quantile của lịch sử.</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con số chưa đủ; nhiều khi chúng ta báo cả khoảng. Khoảng dự báo 95% hứa rằng cứ 100 lần thì khoảng 95 lần giá trị thật rơi vào trong. Tỷ lệ phủ đo lời hứa đó có giữ được không.</a:t>
            </a:r>
          </a:p>
          <a:p>
            <a:r>
              <a:t>Nhìn hình: khoảng cộng trừ 1,96 lần độ lệch chuẩn, dựng từ lượt thuê năm 2011. Ngay trên năm 2011, tức trong mẫu, nó phủ 96,4%. Sang năm 2012 chỉ phủ 72,5%, vì lượt thuê trung bình mỗi giờ tăng từ 143,8 lên 234,7; gần 3 trên 10 giờ vượt cận trên. Vì vậy phải báo riêng hai đuôi để biết lệch phía nào.</a:t>
            </a:r>
          </a:p>
          <a:p>
            <a:r>
              <a:t>Dữ liệu lệch phải thì dùng quantile thực nghiệm để hai đuôi cân. Nhưng không cách nào cứu được khi tương lai dịch mức. Luôn chấm khoảng ngoài mẫu.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loại khoảng hay bị nhầm. Khoảng dự báo trả lời: một giá trị mới, như giờ tới, sẽ rơi vào đâu. Khoảng tin cậy trả lời: một con số tóm tắt, như trung bình thật, nằm ở đâu.</a:t>
            </a:r>
          </a:p>
          <a:p>
            <a:r>
              <a:t>Nhìn hình: dù từng giá trị lệch phải, trung bình của nhiều giá trị vẫn gần hình chuông, đó là định lý giới hạn trung tâm. Và nó dao động theo độ lệch chuẩn chia căn n. Với lượt thuê xe, độ lệch chuẩn 181,4: trung bình 25 giờ dao động 36,1, 100 giờ còn 18,2, 400 giờ còn 9,1. n gấp 4 thì hẹp một nửa. Khoảng dự báo thì không hẹp về 0, vì từng giờ vẫn lên xuống như cũ.</a:t>
            </a:r>
          </a:p>
          <a:p>
            <a:r>
              <a:t>Còn chữ "95%" của khoảng tin cậy nói về quy trình: dựng 20 khoảng từ 20 mẫu thì khoảng 19 khoảng chứa trung bình thật.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dựng khoảng từ năm 2011 theo hai cách rồi chấm trên năm chưa dùng.</a:t>
            </a:r>
          </a:p>
          <a:p>
            <a:r>
              <a:t>Dòng 5 đến 7 là hai cách: công thức cộng trừ 1,96 s, và quantile thực nghiệm lấy thẳng mốc 2,5% và 97,5%. Dòng 10 và 11: mỗi giờ trong ngày một khoảng riêng, chỉ dựng từ 2011. Dòng 13 dùng merge theo cột giờ để gắn khoảng vào từng dòng. Dòng 14 tính tỷ lệ phủ, dòng 15 đếm riêng hai đuôi.</a:t>
            </a:r>
          </a:p>
          <a:p>
            <a:r>
              <a:t>Kết quả: trên 2011, cộng trừ 1,96 s phủ 96,4%, quantile phủ 95,3%, cả hai đều đẹp. Trên 2012 chỉ còn 72,5% và 70,1%, phần vượt cận trên là 27,4% và 29,3%. Cách nào cũng hỏng như nhau, vì mức đã dịch lên.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giả thuyết hỏi: nếu H0, giả định "không có gì đặc biệt", là đúng, thì dữ liệu như ta thấy hiếm cỡ nào? Con số đó là p-value. p nhỏ hơn mức ý nghĩa chọn trước, thường 0,05, thì bác bỏ H0.</a:t>
            </a:r>
          </a:p>
          <a:p>
            <a:r>
              <a:t>Ví dụ tung đồng xu 10 lần được 9 ngửa. Có 1.024 dãy kết quả, 10 dãy có đúng 9 ngửa và 1 dãy 10 ngửa, nên p bằng 11 trên 1.024, xấp xỉ 0,011, nhỏ hơn 0,05: bác bỏ "đồng xu cân đối".</a:t>
            </a:r>
          </a:p>
          <a:p>
            <a:r>
              <a:t>Hình dùng kiểm định hoán vị: xáo nhãn ngày làm việc, ngày nghỉ hàng nghìn lần, xem chênh lệch thật nằm ở đâu so với các lần xáo. (dừng) Ba chỗ hay sai: không bác bỏ không có nghĩa H0 đúng; p không phải xác suất H0 đúng; có ý nghĩa thống kê không có nghĩa là chênh lệch lớn.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2012, ngày làm việc hơn ngày nghỉ 456 lượt thuê. Làm sao tính p-value mà không cần công thức?</a:t>
            </a:r>
          </a:p>
          <a:p/>
          <a:p>
            <a:r>
              <a:t>Ý của kiểm định hoán vị: nếu nhãn làm việc hay nghỉ không liên quan tới lượt thuê, thì gán nhãn kiểu nào cũng như nhau. Ví dụ nhỏ, ngày làm việc 5, 7, 6, ngày nghỉ 3, 2, 4, chênh trung bình là 3. Có 20 cách chọn ba ngày làm nhóm làm việc, và chỉ 2 cách cho chênh cỡ 3 trở lên về một trong hai phía. Vậy p bằng 2 chia 20, tức 0,10.</a:t>
            </a:r>
          </a:p>
          <a:p/>
          <a:p>
            <a:r>
              <a:t>Với dữ liệu thật, máy xáo nhãn 9.999 lần. (chỉ vào ô trái) Cột xanh là các chênh lệch khi xáo, vạch cam là chênh thật 456. Chỉ một mẩu nhỏ nằm ngoài vạch cam, p bằng 0,025. Ô phải, thứ Bảy so với Chủ nhật, p bằng 0,078.</a:t>
            </a:r>
          </a:p>
          <a:p/>
          <a:p>
            <a:r>
              <a:t>Cách này giả định các ngày độc lập, nên với chuỗi thời gian p thật thường lớn hơn.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hoán vị viết trong mười dòng.</a:t>
            </a:r>
          </a:p>
          <a:p>
            <a:r>
              <a:t>Dòng 5 tính chênh lệch thật giữa hai nhóm ngày. Dòng 6 cố định seed để chạy lại ra đúng p. Dòng 8 đến 10: xáo nhãn 9.999 lần bằng rng.permutation, giữ nguyên số ngày mỗi loại, và đếm số lần chênh lệch sau xáo lớn bằng hoặc hơn chênh lệch thật. Nếu nhãn vô nghĩa thì xáo hay không cũng như nhau. Dòng 11: p là tỷ lệ lần xáo lệch cỡ thật. Dòng 14 và 15 áp vào ngày làm việc so với ngày nghỉ năm 2012.</a:t>
            </a:r>
          </a:p>
          <a:p>
            <a:r>
              <a:t>Kết quả: ngày làm việc hơn ngày nghỉ 456 lượt mỗi ngày, p bằng 0,025, bác bỏ H0. Thứ Bảy trừ Chủ nhật chênh tới 695 mà p lớn hơn 0,05. Chênh lớn chưa chắc là có ý nghĩa. Một lưu ý: phép này giả định các ngày độc lập, nên với chuỗi tự tương quan p thật thường lớn hơn.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ước lượng độ bấp bênh của một con số mà không cần công thức: rút lại từ chính mẫu nhiều lần và tính lại con số đó. Các bước cụ thể ở slide sau; slide này nói về chỗ chuỗi thời gian khác dữ liệu thường.</a:t>
            </a:r>
          </a:p>
          <a:p>
            <a:r>
              <a:t>Nhưng chuỗi thời gian có tự tương quan. Giờ này đông thì giờ sau gần như chắc cũng đông, nên giờ sau mang ít thông tin mới. Rút từng điểm làm mất điều đó, và khoảng hẹp giả. Nhìn hình: trục ngang là độ dài khối, trục dọc là tỷ lệ khoảng chứa trung bình thật trên mô phỏng AR(1). Rút từng điểm chỉ 60,3%, thay vì 95%. Block bootstrap rút cả khối liền nhau: khối 20 lên 89,3%. Nhưng khối 40 lại tụt còn 81,3%, nên hãy thử vài độ dài và báo độ nhạy.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bootstrap đi từng bước, vì chỗ này rất hay nhớ nhầm.</a:t>
            </a:r>
          </a:p>
          <a:p/>
          <a:p>
            <a:r>
              <a:t>(chỉ vào hàng ô trên) Bước một, có một mẫu thật, ví dụ 5 ngày: 12, 15, 11, 30, 14, trung bình 16,4. Bước hai, rút lại đủ 5 số, có hoàn lại: một ngày có thể được rút hai lần, ngày khác không được rút lần nào. Bước ba, tính trung bình của mẫu vừa rút. Bước bốn, lặp như vậy vài nghìn lần, được vài nghìn trung bình. Bước năm, xếp chúng theo thứ tự và lấy quantile 0,025 và 0,975: đó là khoảng tin cậy 95%. (dừng) Không có chỗ nào nhân 1,96 cả: bootstrap lấy thẳng hai đầu của các trung bình.</a:t>
            </a:r>
          </a:p>
          <a:p/>
          <a:p>
            <a:r>
              <a:t>Bảng trái là ba lần rút đầu tiên. Lần 1 và 2 không trúng số 30 nên trung bình chỉ 13,0 và 12,6; lần 3 trúng thì lên 16,4. Chính sự dao động đó cho ta độ bấp bênh.</a:t>
            </a:r>
          </a:p>
          <a:p/>
          <a:p>
            <a:r>
              <a:t>Bên phải là rút khối dài 2: rút ba điểm bắt đầu, lấy cả khối hai ngày liền nhau, nối lại rồi cắt còn 5 số. Ngày 30 và ngày 14 ngay sau nó vẫn đi cùng nhau, nên mối liên hệ giữa hai ngày liền nhau được giữ. Dữ liệu có tự tương quan thì phải rút kiểu này.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bootstrap với hai chế độ: từng điểm và theo khối.</a:t>
            </a:r>
          </a:p>
          <a:p>
            <a:r>
              <a:t>Dòng 5 và 6: khối dài 1 thì rút ngẫu nhiên có hoàn lại từng vị trí bằng rng.integers. Dòng 8 đến 10: rút điểm đầu của các khối, cộng thêm np.arange để thành các khối liền nhau, rồi nối lại. Dòng 11: lấy quantile 0,025 và 0,975 của 999 trung bình, ra khoảng 95%. Dòng 13 đến 16 chạy trên 300 chuỗi AR(1) với rho bằng 0,7, trung bình thật bằng 0, và đếm bao nhiêu khoảng chứa số 0.</a:t>
            </a:r>
          </a:p>
          <a:p>
            <a:r>
              <a:t>Kết quả: rút từng điểm chỉ 60,3% khoảng chứa trung bình thật. Khối 10 lên 89,0%, khối 20 là 89,3%, khối 40 tụt còn 81,3%. Rút khối sửa được phần lớn độ tự tin giả, nhưng không về đúng 95%.</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3: thời gian. Một con số giờ chưa đủ, phải có múi giờ.</a:t>
            </a:r>
          </a:p>
          <a:p>
            <a:r>
              <a:t>UTC là giờ chung, không đổi theo mùa: 07:00 ở Hà Nội là 00:00 UTC. Thời điểm naive không ghi múi giờ, aware thì có ghi. Rắc rối đến từ giờ mùa hè. Ở New York, ngày 10/3/2024 đồng hồ nhảy từ 1:59 lên 3:00, nên giờ 2:00 không tồn tại. Ngày 3/11 thì giờ 1:00 xảy ra hai lần.</a:t>
            </a:r>
          </a:p>
          <a:p>
            <a:r>
              <a:t>Nhìn hình: trục ngang là giờ UTC chạy đều, trục dọc là đồng hồ New York. Các bạn thấy một đoạn nhảy qua, "không tồn tại", và một đoạn lùi lại, "xảy ra 2 lần". Cách sửa: gắn đúng múi giờ rồi đổi sang UTC trước khi gộp hay ghép bất cứ thứ gì.</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một giờ New York có thể ứng với một, không, hoặc hai thời điểm UTC.</a:t>
            </a:r>
          </a:p>
          <a:p>
            <a:r>
              <a:t>Dòng 4 và 5 liệt kê bốn giờ quanh hai ngày vặn đồng hồ năm 2024. Dòng 7 thử cả hai cách hiểu, giờ hè và giờ đông, cho trường hợp giờ lặp. Dòng 9 và 10 dùng tz_localize để gắn múi giờ New York, biến một con số giờ thành một thời điểm thật. Dòng 11 dùng tz_convert đổi sang UTC. Dòng 12 và 13: giờ bị nhảy qua thì pandas báo lỗi, ta bắt lỗi và bỏ qua.</a:t>
            </a:r>
          </a:p>
          <a:p>
            <a:r>
              <a:t>Kết quả: ngày 10/3, 01:30 ra 06:30 UTC, 02:30 không tồn tại, 03:30 ra 07:30 UTC. Còn 01:30 ngày 3/11 có hai đáp án, 05:30 hoặc 06:30 UTC. Đây là lý do đếm theo giờ địa phương sẽ ra một giờ bằng 0 và một giờ gấp đôi.</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Đổi tần suất, ví dụ từ chuyến lẻ sang số chuyến mỗi giờ, phải trả lời ba câu.</a:t>
            </a:r>
          </a:p>
          <a:p>
            <a:r>
              <a:t>Câu 1: khoảng nào. Nhìn hình: closed chọn mốc biên thuộc khoảng nào, label chọn đặt tên khoảng bằng mốc đầu hay cuối. Mặc định của pandas với giờ là đóng trái, nhãn trái: từ 9:00 tới trước 10:00, tên "9:00". Bốn chuyến lúc 9:00, 9:40, 10:00, 10:20 cho ô "9:00" 2 chuyến, ô "10:00" 2 chuyến; chuyến 10:00 thuộc ô sau.</a:t>
            </a:r>
          </a:p>
          <a:p>
            <a:r>
              <a:t>Câu 2: gộp thế nào. Số lượng thì cộng; trạng thái như nhiệt độ thì trung bình hoặc lấy giá trị cuối. Câu 3: giờ trống là gì. Với số đếm, giờ trống là 0; với số đo, giờ trống là NaN, không biết.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đi qua đúng ba câu hỏi vừa rồi.</a:t>
            </a:r>
          </a:p>
          <a:p>
            <a:r>
              <a:t>Dòng 3 đến 5: ba sự kiện lúc 00:10, 00:50 và 02:20. Dòng 6 resample rồi cộng: giờ 01:00 không có gì, ra 0. Dòng 7 resample rồi lấy trung bình: giờ đó ra NaN. Dòng 9 là cách hay gặp khác: floor về đầu giờ rồi groupby; cách này không tự thêm giờ trống, nên giờ 01 biến mất khỏi chuỗi. Dòng 11 đến 13 sinh lưới giờ tháng 3 theo múi giờ New York và đếm.</a:t>
            </a:r>
          </a:p>
          <a:p>
            <a:r>
              <a:t>Kết quả: cộng ra 3, 0, 5; trung bình ra 1,5, NaN, 5; floor chỉ ra 3 và 5, mất hẳn một giờ. Và tháng 3 có 743 giờ, không phải 744, vì ngày 10/3 chỉ dài 23 giờ.</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Ghép hai nguồn theo thời gian, ví dụ gắn giá hay thời tiết vào từng dòng, dùng merge_asof: mỗi dòng lấy giá trị gần nhất về thời gian từ bảng kia.</a:t>
            </a:r>
          </a:p>
          <a:p>
            <a:r>
              <a:t>Nhìn hình: dòng lúc 10:00, bảng giá có số lúc 9:30 và 10:30. Hướng backward, cũng là mặc định, lấy giá 9 của lúc 9:30, tức số đã có, đúng. Hướng forward lấy giá 10 của lúc 10:30, tức lấy tương lai. Đây là rò rỉ, và nó cho kết quả đẹp giả.</a:t>
            </a:r>
          </a:p>
          <a:p>
            <a:r>
              <a:t>Hai điều thêm: đặt tolerance để không ghép một con số quá cũ, và luôn đưa cả hai nguồn về UTC trước khi ghép, như slide múi giờ vừa nói.</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của buổi 3: dạng dữ liệu mà mọi buổi sau nhận vào.</a:t>
            </a:r>
          </a:p>
          <a:p>
            <a:r>
              <a:t>Nhìn bảng bên trái: dạng dài có ba cột. unique_id là chuỗi nào, ds là khi nào theo UTC, y là giá trị bao nhiêu. Bảng bên phải là dạng rộng, mỗi chuỗi một cột: dễ nhìn, nhưng thêm chuỗi là thêm cột. Tháng 3/2024 có 259 khu vực taxi có chuyến, thì dạng rộng có 259 cột, còn dạng dài vẫn ba cột, chỉ nhiều dòng hơn.</a:t>
            </a:r>
          </a:p>
          <a:p>
            <a:r>
              <a:t>Bảng sạch khi thoả ba điều: mỗi cặp unique_id và ds chỉ một dòng, đủ mọi mốc thời gian, không trùng. Mọi chuỗi trải lên cùng một lưới UTC, và tháng 3/2024 có 743 giờ, vì New York mất một giờ ngày đổi giờ.</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chúng ta dựng đúng cái bảng ba cột vừa nói. Dòng 4 làm tròn giờ đón, đã đổi sang UTC, xuống đầu giờ. Dòng 5 đếm chuyến theo khu vực và giờ, nhưng chỉ ra những giờ có chuyến; giờ vắng thì biến mất hẳn khỏi bảng.</a:t>
            </a:r>
          </a:p>
          <a:p/>
          <a:p>
            <a:r>
              <a:t>Vì vậy dòng 6 và 7 dựng lưới giờ UTC của cả tháng 3 theo lịch New York, lấy mốc đầu, không lấy mốc cuối. Dòng 8 đến 10 là chỗ quan trọng: MultiIndex.from_product tạo mọi cặp khu vực nhân giờ, reindex trải số đếm lên lưới đó và điền 0 cho giờ không có chuyến. Đây là số đếm nên 0 là đúng; nếu là số đo như nhiệt độ thì phải để NaN.</a:t>
            </a:r>
          </a:p>
          <a:p/>
          <a:p>
            <a:r>
              <a:t>Kết quả: 192.437 dòng, đúng bằng 259 khu vực nhân 743 giờ, không mất chuyến nào. Và 53,7% số ô bằng 0, tức hơn một nửa bảng là giờ vắng khách.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phần đọc biểu đồ, trước hết cần ba từ. Nhìn hình: hàng trên là xu hướng, mức chung đi lên dần. Hàng giữa là mùa vụ, lặp đúng mỗi 12 bước, các vạch dọc cách đều nhau. Hàng dưới là chu kỳ: cũng lên xuống, nhưng vòng dài vòng ngắn khác nhau.</a:t>
            </a:r>
          </a:p>
          <a:p/>
          <a:p>
            <a:r>
              <a:t>Chỗ phân biệt là con số m cố định. Lượt thuê xe đông lúc 8h và 17h mỗi ngày làm việc là mùa vụ với m bằng 24, nên biết trước giờ đỉnh. Kinh tế tăng rồi suy thoái là chu kỳ, không ai hẹn trước lúc nó đổi chiều. Vì vậy mùa vụ là phần dự báo được nhờ lịch, còn chu kỳ khó hơn nhiều.</a:t>
            </a:r>
          </a:p>
          <a:p/>
          <a:p>
            <a:r>
              <a:t>Nhớ gọn: mùa vụ lặp đều, biết trước lúc lặp; chu kỳ lên xuống mà không biết khi nào lặp lại. Và “mùa” ở đây là mọi vòng lặp theo lịch: ngày, tuần, năm, không chỉ xuân, hạ, thu, đông.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khái niệm rồi, giờ cần một cách đọc hình để thấy chúng. Năm bước, áp cho mọi biểu đồ. Thử ngay với heatmap này.</a:t>
            </a:r>
          </a:p>
          <a:p/>
          <a:p>
            <a:r>
              <a:t>Bước một, trục ngang là giờ từ 0 đến 23. Bước hai, trục dọc là thứ Hai tới Chủ nhật, còn màu là lượt thuê trung bình mỗi giờ, thang màu bên phải. Bước ba, tối là thấp, sáng là cao. Bước bốn, nhìn vào hai cột sáng lúc 8h và 17h: chúng chạy suốt năm ngày làm việc rồi tắt ở cuối tuần, còn cuối tuần sáng đều giữa ngày. Bước năm, kết luận một câu: có mùa vụ ngày lồng trong mùa vụ tuần. Để ý tiêu đề hình chính là câu kết luận đó, quy ước của cả khoá.</a:t>
            </a:r>
          </a:p>
          <a:p/>
          <a:p>
            <a:r>
              <a:t>Một lưu ý: heatmap chỉ cho trung bình mỗi ô, không cho độ tản, nên hai ô chênh nhau chút ít chưa chắc là thật. Độ tản thì phải xem boxplot, lát nữa sẽ gặp.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vẽ, ta tính tay để thấy mùa vụ bằng số. Dòng 4 đến 6 là hai tuần lượt thuê, đơn vị trăm lượt mỗi ngày, từ thứ Hai tới Chủ nhật; tuần sau cao hơn tuần trước. Dòng 7 lấy trung bình mỗi tuần, keepdims để giữ dạng cột mà trừ được cả bảng: ra 10 và 12, đó là xu hướng. Dòng 8 trừ trung bình đi, phần còn lại của hai tuần giống hệt nhau: 0, 2, 2, 2, 4, âm 4, âm 6. Phần lặp lại y nguyên đó chính là mùa vụ tuần.</a:t>
            </a:r>
          </a:p>
          <a:p/>
          <a:p>
            <a:r>
              <a:t>Sang dữ liệu thật, dòng 11 và 12 gộp giờ thành ngày và tháng. min_count bằng 12 để ngày có dưới 12 giờ số liệu thì để trống, thay vì ra một tổng thấp giả. Dòng 13 lấy ba ngày thấp nhất: những ngày rơi sát 0 mà hình theo tháng giấu mất.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làm hình dễ nhìn hay dùng nhất là gộp tần suất, làm trơn và thang log. Slide này là làm trơn.</a:t>
            </a:r>
          </a:p>
          <a:p/>
          <a:p>
            <a:r>
              <a:t>Trung bình trượt có tâm thay mỗi điểm bằng trung bình của nó với các điểm hai bên, trong một cửa sổ w điểm, như công thức trên dải. Ví dụ bảy ngày 50, 52, 48, 2, 51, 49, 50: ngày thứ tư gần như trống. Cửa sổ 3 ngày biến nó thành 33,7; cửa sổ 7 ngày thành 43,1.</a:t>
            </a:r>
          </a:p>
          <a:p/>
          <a:p>
            <a:r>
              <a:t>(chỉ vào mũi tên) Đây là ngày bão Sandy, tệp chỉ còn một giờ với 22 lượt. Vậy mà đường cam 7 ngày ở ngày đó vẫn là 4.632 lượt, chỉ lõm nhẹ. Ai chỉ nhìn đường làm trơn sẽ không biết có một ngày dữ liệu gần như trống.</a:t>
            </a:r>
          </a:p>
          <a:p/>
          <a:p>
            <a:r>
              <a:t>Nên nhớ một thói quen: vẽ đường làm trơn đè lên dữ liệu gốc, đừng thay nó.</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dữ liệu, đổi thang dọc là đổi câu trả lời. Trên thang log, mỗi điểm đặt ở độ cao log cơ số 10 của nó. Gấp đôi thì cao thêm đúng 0,301, dù từ 100 lên 200 hay từ 200 lên 400. Nên hai đoạn dốc như nhau nghĩa là tăng cùng một phần trăm.</a:t>
            </a:r>
          </a:p>
          <a:p/>
          <a:p>
            <a:r>
              <a:t>Nhìn hai ô. Ô trái thang thường: tháng 4 sang tháng 5 tăng nhiều lượt nhất, thêm 40.951 lượt. Ô phải thang log: đoạn dốc nhất lại là tháng 3 sang tháng 4, tăng 48,1%.</a:t>
            </a:r>
          </a:p>
          <a:p/>
          <a:p>
            <a:r>
              <a:t>Không ô nào sai; hai ô trả lời hai câu hỏi khác nhau. Cần thêm bao nhiêu xe thì đọc thang thường. Tăng nhanh cỡ nào thì đọc thang log.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biểu đồ nào nói hết, nên buổi 4 dùng bộ 8 biểu đồ, mỗi hình trả lời đúng một câu hỏi. Các thẻ bên phải là danh sách; hình bên trái là cả tám hình trên dữ liệu thuê xe.</a:t>
            </a:r>
          </a:p>
          <a:p/>
          <a:p>
            <a:r>
              <a:t>Ba hình đáng nhớ nhất. Seasonal plot tuần: mỗi tuần một đường xám chồng lên nhau, thấy ngay thứ Hai tới thứ Sáu hai đỉnh, cuối tuần một đỉnh. Lag plot: trễ 168 giờ bám đường chéo nhất, r bằng 0,876, còn trễ 12 tản thành hai nhánh. Scatter với nhiệt độ tô màu theo năm: cùng nhiệt độ mà 2012 cao hơn 2011, tức quan hệ dời theo năm.</a:t>
            </a:r>
          </a:p>
          <a:p/>
          <a:p>
            <a:r>
              <a:t>Thêm hai thói quen khi vẽ: đường làm trơn vẽ đè lên dữ liệu gốc chứ đừng thay nó, để không mất ngày bất thường; và trên thang log, cùng độ dốc nghĩa là cùng phần trăm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đường theo thời gian thì khó thấy mùa vụ. Xếp lại theo thứ, theo tháng thì thấy gì?</a:t>
            </a:r>
          </a:p>
          <a:p/>
          <a:p>
            <a:r>
              <a:t>Có hai cách xếp. (chỉ vào ô trái) Seasonal plot vẽ mỗi tuần một đường rồi chồng lên nhau. Hai tuần ở đây song song: cùng hình dạng, tuần 2 cao hơn tuần 1 đúng 2 đơn vị ở mọi thứ.</a:t>
            </a:r>
          </a:p>
          <a:p/>
          <a:p>
            <a:r>
              <a:t>(chỉ vào ô phải) Subseries plot gom mỗi thứ vào một ô. Vạch cam là trung bình của thứ đó: 11, 13, 13, 13, 15, 7, 5, chính là hình dạng mùa vụ tuần. Trong mỗi ô, điểm sau cao hơn điểm trước, tức là có xu hướng.</a:t>
            </a:r>
          </a:p>
          <a:p/>
          <a:p>
            <a:r>
              <a:t>Trên lượt thuê theo giờ, seasonal plot theo tuần cho thấy thứ Hai tới thứ Sáu có hai đỉnh sáng chiều, cuối tuần chỉ một bướu giữa ngày: mùa vụ kép. Theo tháng, mỗi tháng 2012 gấp 1,41 tới 2,57 lần cùng tháng 2011.</a:t>
            </a:r>
          </a:p>
          <a:p/>
          <a:p>
            <a:r>
              <a:t>Seasonal plot cho hình dạng mùa vụ, subseries cho biết mỗi mùa đổi ra sao qua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Seasonal plot tuần dựng thế nào? Dòng 4 tính giờ trong tuần: thứ nhân 24 cộng giờ, ra số từ 0 đến 167. Dòng 5 gắn nhãn tuần bằng to_period W-SUN, tức tuần kết thúc vào Chủ nhật. Dòng 6 pivot_table xoay bảng: mỗi dòng một giờ trong tuần, mỗi tuần một cột; vẽ mỗi cột một đường là ra các đường xám chồng nhau. Dòng 7 lấy trung vị các tuần làm khuôn tuần điển hình.</a:t>
            </a:r>
          </a:p>
          <a:p/>
          <a:p>
            <a:r>
              <a:t>Dòng 9 đến 11 so tổng ngày theo thứ, và chỉ giữ ngày đủ 24 giờ để ngày thiếu số liệu không làm thứ đó thấp giả.</a:t>
            </a:r>
          </a:p>
          <a:p/>
          <a:p>
            <a:r>
              <a:t>Kết quả: 106 tuần chồng nhau, thứ Hai tới thứ Sáu hai đỉnh, cuối tuần một bướu. Nhưng tổng ngày lại gần nhau: thứ Bảy 4.653 lượt, thứ Sáu 4.933. Khác nhau là hình dạng trong ngày, không phải tổng.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cho trung bình; boxplot cho thêm độ tản. Nhìn hình: trục ngang là giờ, trục dọc là lượt mỗi giờ, xanh là ngày làm việc, cam là ngày nghỉ. Mỗi hộp chứa một nửa số ngày ở giữa, từ quantile 0,25 tới 0,75; độ rộng đó gọi là IQR, vạch giữa là trung vị. Hộp dài nghĩa là hôm đông hôm vắng, khó đoán.</a:t>
            </a:r>
          </a:p>
          <a:p/>
          <a:p>
            <a:r>
              <a:t>(chỉ vào 17h) 17h ngày làm việc: trung vị 539, hộp từ 348 tới 704, rộng nhất cả hình, nên đây là giờ khó dự báo nhất.</a:t>
            </a:r>
          </a:p>
          <a:p/>
          <a:p>
            <a:r>
              <a:t>Rồi nhìn 8h: hộp ngày nghỉ chỉ 57 tới 141, nằm hẳn dưới hộp ngày làm việc 365 tới 646. Hai hộp không chồng lên nhau, nên khi dự báo giờ đó, biết hôm nay là ngày làm việc hay ngày nghỉ là thông tin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hình vừa rồi ra từ vài dòng tính. Dòng 4 và 5: năm thứ Hai lúc 8h, trong đó một ngày lễ chỉ 60 lượt. Trung bình ra 356, bị ngày lễ kéo xuống. Dòng 6: quantile 0,25, 0,5 và 0,75 cho trung vị 420 và hộp 410 tới 440, không bị kéo. Đó là lý do boxplot dùng quantile chứ không dùng trung bình.</a:t>
            </a:r>
          </a:p>
          <a:p/>
          <a:p>
            <a:r>
              <a:t>Dòng 9 và 10: pivot_table với aggfunc mean ra bảng 7 thứ nhân 24 giờ, đúng những số được tô lên heatmap; ví dụ 8h thứ Hai 412, Chủ nhật 84. Dòng 11 đến 14 lọc từng giờ, tách ngày làm việc và ngày nghỉ, rồi lấy ba quantile làm mép dưới, vạch giữa, mép trên của hộp.</a:t>
            </a:r>
          </a:p>
          <a:p/>
          <a:p>
            <a:r>
              <a:t>Kết quả khớp slide trước: 8h ngày nghỉ 57 tới 141, ngày làm việc 365 tới 646.</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trước, cùng giờ hôm qua hay cùng giờ tuần trước: cái nào giống giờ này nhất? </a:t>
            </a:r>
          </a:p>
          <a:p/>
          <a:p>
            <a:r>
              <a:t>Lag plot là scatter, mỗi chấm ghép giá trị bây giờ với giá trị cách nó k bước về trước. Ví dụ chuỗi 2, 4, 6, 4 lặp lại, xét trễ 2. (chỉ vào hình) Trục ngang là y lúc t trừ 2, trục dọc là y lúc t. Cặp 2 với 6 nằm góc trên trái, cặp 6 với 2 nằm góc dưới phải. Các chấm đi xuống, ngược đường chéo cam: trễ 2 là nửa vòng lặp nên đỉnh ghép với đáy.</a:t>
            </a:r>
          </a:p>
          <a:p/>
          <a:p>
            <a:r>
              <a:t>Trên lượt thuê theo giờ, trễ 168, tức cùng giờ tuần trước, bám đường chéo hẹp nhất với r bằng 0,88. Trễ 12 tách thành hai nhánh, r bằng âm 0,14, và con số đó chỉ là trung bình của hai nhánh.</a:t>
            </a:r>
          </a:p>
          <a:p/>
          <a:p>
            <a:r>
              <a:t>Chấm bám đường chéo ở trễ k nghĩa là giá trị cách k bước đoán tốt hiện tại.</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plot cho ta nhìn bằng mắt; ACF đo cùng ý đó bằng số, cho mọi trễ một lúc. ACF ở trễ k là mức giống nhau giữa giá trị bây giờ và giá trị cách k bước, từ âm 1 tới 1.</a:t>
            </a:r>
          </a:p>
          <a:p/>
          <a:p>
            <a:r>
              <a:t>Nhìn hình: trục ngang là độ trễ k tính bằng giờ, tới 336; trục dọc là hệ số r_k. Cứ mỗi 24 giờ có một đỉnh, đó là nhịp ngày. Nhưng chỉ vào hai vạch đứt ở 168 và 336: đỉnh ở đó cao hơn các đỉnh quanh nó, vì cùng giờ cùng thứ tuần trước giống bây giờ nhất. Vậy là nhịp ngày lồng trong nhịp tuần.</a:t>
            </a:r>
          </a:p>
          <a:p/>
          <a:p>
            <a:r>
              <a:t>Còn ở trễ 12, tức nửa vòng ngày, đỉnh ghép với đáy nên r chỉ là âm 0,143. Cho nên đọc ACF theo vòng lặp, đừng đọc theo dấu của từng cột.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Tự viết ACF để thấy nó không có gì bí ẩn. Dòng 6 và 7 lấy độ lệch của từng điểm khỏi trung bình; mẫu số là tổng bình phương độ lệch trên cả chuỗi. Dòng 8 và 9: với mỗi trễ k, cộng tích độ lệch bây giờ với độ lệch k bước trước, rồi chia cho mẫu số đó. nansum để ô trống không biến cả phép cộng thành NaN.</a:t>
            </a:r>
          </a:p>
          <a:p/>
          <a:p>
            <a:r>
              <a:t>Dòng 11 kiểm trên chuỗi 2, 4, 6, 4 lặp lại, chu kỳ 4: r2 bằng âm 0,75 ở nửa chu kỳ, r4 bằng 0,5 ở đủ chu kỳ. Dòng 12 chạy 336 giờ trên dữ liệu thật: r ở trễ 168 là 0,864, cao hơn trễ 144 là 0,786, xác nhận nhịp tuần. Dòng 13 đến 15 dùng shift ghép giờ t với giờ t trừ k, đúng là một lag plot; trễ 168 cho r bằng 0,876.</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Doanh thu chỉ tăng 4,1% mà cột sau trông cao gấp ba. Vì sao?</a:t>
            </a:r>
          </a:p>
          <a:p/>
          <a:p>
            <a:r>
              <a:t>Vì người vẽ chọn thang. (chỉ vào ô trái) Trục dọc ở đây bắt đầu từ 480 chứ không từ 0, gọi là trục y cắt. Độ cao một cột bằng giá trị trừ đáy trục, chia cho khoảng từ đáy tới đỉnh trục. Tháng 5 là 490 triệu, cao 10 trên 40, tức 25% hình. Tháng 6 là 510 triệu, cao 30 trên 40, tức 75%. Mắt thấy gấp ba. (chỉ vào ô phải) Vẽ trục từ 0 thì hai cột gần bằng nhau.</a:t>
            </a:r>
          </a:p>
          <a:p/>
          <a:p>
            <a:r>
              <a:t>Trục kép cũng vậy: hai trục dọc, hai thang. Chọn thang phải hẹp thì hai đường trùng khít, chọn rộng thì một đường nằm ngang.</a:t>
            </a:r>
          </a:p>
          <a:p/>
          <a:p>
            <a:r>
              <a:t>Quy ước của khoá: số đếm và tổng vẽ trục từ 0. Hai chuỗi khác đơn vị thì tách hai hình, hoặc đánh chỉ số: chia cho tháng đầu rồi nhân 100. Đọc thang trước khi đọc đường.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năm, tương quan giữa nhiệt độ và lượt thuê đều trên 0,7. Gộp hai năm lại chỉ còn 0,627. Quan hệ yếu đi thật sao?</a:t>
            </a:r>
          </a:p>
          <a:p/>
          <a:p>
            <a:r>
              <a:t>(chỉ vào hình) Trục ngang là nhiệt độ trung bình ngày, trục dọc là lượt thuê mỗi ngày. Chấm xanh là năm 2011, chấm cam là 2012. Các bạn nhìn một cột dọc bất kỳ, ví dụ quanh 25 độ: chấm cam nằm trên chấm xanh. Cùng nhiệt độ mà năm 2012 cao hơn, vì có nhiều người dùng hơn.</a:t>
            </a:r>
          </a:p>
          <a:p/>
          <a:p>
            <a:r>
              <a:t>Hai đám mây song song. Năm 2011 r là 0,771, năm 2012 là 0,714. Khi gộp, hai mức khác nhau chồng lên nhau làm đám điểm dày ra theo chiều dọc, nên r chỉ còn 0,627, thấp hơn cả hai năm.</a:t>
            </a:r>
          </a:p>
          <a:p/>
          <a:p>
            <a:r>
              <a:t>Cách nhận ra rất đơn giản: tô màu scatter theo năm. Thấy các đám song song thì tính r riêng từng năm.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5 bắt đầu bằng câu hỏi: doanh số tăng vì người ta mua nhiều hơn thật, hay vì những lý do đã biết trước?</a:t>
            </a:r>
          </a:p>
          <a:p/>
          <a:p>
            <a:r>
              <a:t>Có ba lý do hay gặp, mỗi lý do một phép chia. Tháng dài hơn thì chia cho số ngày. Giá cao hơn thì chia cho CPI rồi nhân CPI năm gốc. Người đông hơn thì chia thêm cho dân số. Ví dụ doanh thu 100 lên 150, CPI 100 lên 125, dân số 10 lên 12: giá thực chỉ 120, tăng 20% chứ không phải 50%; chia đầu người thì 10 vẫn là 10, mỗi người mua y như cũ.</a:t>
            </a:r>
          </a:p>
          <a:p/>
          <a:p>
            <a:r>
              <a:t>(chỉ vào hình) Bán lẻ Mỹ đầu 2023: theo tổng tháng, tháng 2 giảm; chia số ngày thì tháng 2 tăng. Dấu của kết luận đảo ngược. Vì vậy mọi con số tăng trưởng phải nói rõ đã bỏ những gì.</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bỏ phần tăng do lịch, giá và dân số. Còn một vấn đề nữa: năm bán nhiều thì chênh lệch giữa tháng đông và tháng vắng cũng lớn, trong khi nhiều mô hình giả định dao động to như nhau ở mọi mức.</a:t>
            </a:r>
          </a:p>
          <a:p/>
          <a:p>
            <a:r>
              <a:t>Log giải quyết bằng cách biến nhân thành cộng. Cửa hàng nhỏ tăng 20%, từ 100 lên 120; siêu thị cũng tăng 20%, từ 1.000 lên 1.200. Trên thang gốc, một bên chênh 20, một bên chênh 200. Trên thang log, cả hai đều cao thêm 0,182. (chỉ vào hình) Hai đoạn rộng khác hẳn nhau theo chiều ngang nhưng cao bằng nhau theo chiều dọc.</a:t>
            </a:r>
          </a:p>
          <a:p/>
          <a:p>
            <a:r>
              <a:t>Log chỉ dùng cho số dương, và hợp nhất khi dao động tỷ lệ đúng với mức. Bán lẻ Mỹ thì mức gấp 3,1 lần mà dao động chỉ gấp 2,4, nên log ép quá tay. Slide sau là cái núm vặn ở giữa: Box-Cox.</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5: khi dao động cứ lớn dần theo mức, mô hình khó học. Box-Cox là một núm vặn λ: λ bằng 1 gần như giữ nguyên, λ bằng 0 là log, ở giữa là nén vừa phải.</a:t>
            </a:r>
          </a:p>
          <a:p/>
          <a:p>
            <a:r>
              <a:t>Nhìn nửa trái hình: trục ngang là λ, trục dọc là tiêu chí Guerrero, đo dao động các năm lệch nhau tới đâu; đáy nằm ở λ khoảng 0,34. Nửa phải: độ lệch chuẩn mỗi năm chia cho năm 1992, bán lẻ Mỹ. Không biến đổi, đường xám, tới 2019 gấp 2,45 lần. Với λ 0,34, đường cam, chỉ còn 1,21, gần đều nhất. Log, đường xanh, xuống 0,84, tức ép quá tay.</a:t>
            </a:r>
          </a:p>
          <a:p/>
          <a:p>
            <a:r>
              <a:t>Hai lưu ý: Box-Cox và log cần số dương, gặp 0 hay số âm thì dùng Yeo-Johnson; và λ là tham số của mô hình, nên tính lại ở mỗi gốc dự báo.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ép quá tay, để nguyên thì dao động phình ra. Chọn lambda ở giữa bằng cách nào?</a:t>
            </a:r>
          </a:p>
          <a:p/>
          <a:p>
            <a:r>
              <a:t>Cách của Guerrero: chia chuỗi thành từng năm. Sau Box-Cox, dao động của năm có mức mu gần bằng s chia mu mũ một trừ lambda. Ta chọn lambda làm các tỷ số này đều nhất, đo bằng CV, tức độ lệch chuẩn của chúng chia trung bình.</a:t>
            </a:r>
          </a:p>
          <a:p/>
          <a:p>
            <a:r>
              <a:t>Ví dụ ba năm có mức 100, 400, 900 và độ lệch chuẩn 10, 20, 30. Lambda bằng 1 thì tỷ số là 10, 20, 30, CV bằng 0,5. Lambda bằng 0,5 thì chia cho căn của mức: năm 400 có 20 chia 20 bằng 1, cả ba năm đều bằng 1, CV bằng 0. Lambda bằng 0, tức log, cho 0,1 rồi 0,05, ép quá tay.</a:t>
            </a:r>
          </a:p>
          <a:p/>
          <a:p>
            <a:r>
              <a:t>(chỉ vào ô trái) Trên bán lẻ Mỹ, đường CV theo lambda có đáy ở khoảng 0,34. (chỉ vào ô phải) Với lambda đó, đường cam nằm sát mức 1 nhất, còn log tụt xuống dưới.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Guerrero tự viết chỉ khoảng mười dòng. Dòng 5 dựng lưới 3.001 giá trị λ từ âm 1 tới 2. Dòng 7 cắt chuỗi thành từng năm, mỗi dòng 12 tháng; dòng 8 lấy mức và độ lệch chuẩn từng năm. Dòng 9 và 10 là ý chính: với mỗi λ, tính cho từng năm tỷ số độ lệch chuẩn chia mức mũ một trừ λ, rồi đo các tỷ số đó đều tới đâu bằng hệ số biến thiên CV. Dòng 11 giữ λ cho CV nhỏ nhất: ra 0,34.</a:t>
            </a:r>
          </a:p>
          <a:p/>
          <a:p>
            <a:r>
              <a:t>Dòng 14: scipy boxcox chọn λ theo tiêu chí khác, làm dữ liệu giống hình chuông nhất, ra 0,595. Hai con số khác nhau vì hỏi hai câu khác nhau, nên phải biết mình cần gì. Dòng 15 và 16: phần trăm tăng so với cùng tháng năm trước có số âm, nên dùng Yeo-Johnson, ra khoảng 1,02, tức gần như giữ nguyên.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trên thang log rồi exp về: vì sao cộng lại thì hụt so với tổng thật?</a:t>
            </a:r>
          </a:p>
          <a:p/>
          <a:p>
            <a:r>
              <a:t>Ví dụ ba giá trị log 0, 1, 2. (chỉ vào hàng trên) Trên thang log chúng cách đều, trung bình là 1. Exp của 1 là 2,72. (chỉ vào hàng dưới) Đổi từng giá trị về thang gốc thì được 1, 2,72 và 7,39. Trung bình thật là 3,70, nằm bên phải vạch 2,72.</a:t>
            </a:r>
          </a:p>
          <a:p/>
          <a:p>
            <a:r>
              <a:t>Lý do: exp giữ thứ tự, nên số đứng giữa vẫn đứng giữa. 2,72 là trung vị. Nhưng exp kéo giãn phía trên, đẩy số lớn ra xa và kéo trung bình lên. Độ lệch chuẩn trên thang log bằng 0,5 thì trung vị thấp hơn trung bình 11,75%.</a:t>
            </a:r>
          </a:p>
          <a:p/>
          <a:p>
            <a:r>
              <a:t>Khi cần tổng hay trung bình, nhân thêm một cộng sigma bình phương chia hai. Khi chấm bằng MAE thì không cần, vì MAE ưa trung vị. Sigma nhỏ thì phần hụt không đáng kể.</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6: tách chuỗi ra từng phần. Phân rã viết chuỗi thành xu hướng, mùa vụ và phần dư. Kiểu cộng: mùa hè luôn cao hơn nền 10 GW, dù nền là 80 hay 150 GW. Kiểu nhân: cao hơn một tỷ lệ, nền 100 thì thêm 10, nền 200 thì thêm 20.</a:t>
            </a:r>
          </a:p>
          <a:p/>
          <a:p>
            <a:r>
              <a:t>Nhìn hình, tháng 7/2024 của vùng PJM, năm hàng từ trên xuống: dữ liệu, xu hướng, mùa vụ ngày, mùa vụ tuần, phần dư, đều tính bằng GW. Tải điện có hai nhịp lồng nhau, 24 giờ và 168 giờ, nên dùng MSTL với hai chu kỳ đó. Xu hướng trơn; nhịp cuối tuần nằm gọn trong hàng mùa vụ tuần, ở những chỗ lõm xuống; còn phần dư chủ yếu là thời tiết. Phần dư là thứ còn lại để mô hình và biến ngoài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cách phân rã, khác nhau ở chỗ mùa vụ cố định hay được đổi dần. Phân rã cổ điển: xu hướng là trung bình trượt dài đúng một vòng, mùa vụ là trung bình theo từng vị trí trong vòng, nên ra một khuôn cố định cho cả năm. STL làm trơn cục bộ bằng LOESS nên mùa vụ đổi dần; MSTL làm việc đó cho nhiều chu kỳ.</a:t>
            </a:r>
          </a:p>
          <a:p/>
          <a:p>
            <a:r>
              <a:t>Nhìn hình: trục ngang là giờ New York, trục dọc là mùa vụ ngày tính bằng GW, mỗi đường một tháng. Tháng 1, xanh đậm, hai đỉnh sáng và tối; tháng 7, đỏ đậm, một đỉnh chiều, biên độ lớn hẳn vì điều hoà. Một khuôn cố định không chứa được cả hai.</a:t>
            </a:r>
          </a:p>
          <a:p/>
          <a:p>
            <a:r>
              <a:t>Nhớ gọn: cổ điển là một khuôn mùa vụ cho cả năm, STL là khuôn đổi dần, MSTL là nhiều khuôn, như 24 giờ và 168 giờ.</a:t>
            </a:r>
          </a:p>
          <a:p/>
          <a:p>
            <a:r>
              <a:t>Lưu ý: biên độ đổi theo mùa không phải lý do dùng phân rã nhân; nhân dành cho dao động tỷ lệ với mức. Và phần dư nhỏ bất thường thì nghi cửa sổ xu hướng quá ngắn.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Tự viết phân rã cổ điển để thấy nó chỉ là các phép trung bình. Dòng 6 tạo trọng số 2×m-MA: m cộng 1 trọng số, hai đầu mỗi đầu một nửa, tổng bằng 1. Dòng 7 và 8: np.convolve trượt bộ trọng số dọc chuỗi, mode valid chỉ giữ chỗ đủ hàng xóm, nên hai đầu xu hướng để NaN. Dòng 9 và 10: lấy dữ liệu trừ xu hướng, rồi trung bình theo từng vị trí trong vòng. Dòng 11 dời cho tổng mùa vụ một vòng bằng 0, để mức chung nằm hết ở xu hướng.</a:t>
            </a:r>
          </a:p>
          <a:p/>
          <a:p>
            <a:r>
              <a:t>Chạy trên 12 quý: quý 3 có xu hướng 22; mùa vụ bốn quý là 4, âm 3, âm 7, 6; phần dư chỉ cộng trừ 0,5 và cộng trừ 1,5. Và khớp seasonal_decompose của statsmodels tới từng số.</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chọn cách phân rã, ta đo xem mùa vụ ngày có đổi theo mùa không. Dòng 5 và 6: gom theo ngày, lấy giờ cao nhất trừ giờ thấp nhất, chia 1000 để ra GW. Dòng 7 và 8 lấy trung bình biên độ đó theo tháng. Kết quả: tháng 7 trung bình 44 GW, tháng 1 chỉ 17 GW. Mùa vụ đổi theo mùa như vậy thì khuôn cố định của phân rã cổ điển không hợp.</a:t>
            </a:r>
          </a:p>
          <a:p/>
          <a:p>
            <a:r>
              <a:t>Dòng 10 và 11 là một phát hiện phụ: soi giờ 17:00 UTC ngày 21/11 cùng hai giờ hai bên. Giờ đó báo 56.260 MW, kẹp giữa hai giờ khoảng 95.000 MW. Tải cả vùng không tụt mạnh như thế trong một giờ rồi hồi lại; đây là số liệu hỏng, phải sửa trước khi phân rã.</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rã xong, phần dư trông lộn xộn. Nó đã hết nhịp theo giờ, theo tháng chưa?</a:t>
            </a:r>
          </a:p>
          <a:p/>
          <a:p>
            <a:r>
              <a:t>Tỷ lệ mẫu hình kiểm bằng một con số. Nhóm phần dư theo lịch, ví dụ tháng nhân giờ, lấy trung bình mỗi nhóm, rồi đo các trung bình đó lệch nhau cỡ nào so với dao động của cả chuỗi. Ví dụ phần dư buổi sáng là âm 3, âm 5, buổi chiều là cộng 3, cộng 5. Trung bình hai nhóm là âm 4 và cộng 4, phương sai 32. Chuỗi có phương sai 320 thì tỷ lệ là 0,1: phần dư còn nhịp sáng chiều.</a:t>
            </a:r>
          </a:p>
          <a:p/>
          <a:p>
            <a:r>
              <a:t>(chỉ vào cột trái) Với tải điện PJM, phân rã cổ điển chu kỳ 24 còn vệt đỏ vào chiều hè, tỷ lệ 0,102, tức một phần mười phương sai vẫn là mẫu hình. (chỉ vào cột phải) MSTL gần như trắng, tỷ lệ 0,0006.</a:t>
            </a:r>
          </a:p>
          <a:p/>
          <a:p>
            <a:r>
              <a:t>Phần dư trông lộn xộn chưa đủ, hãy nhóm theo lịch rồi đo.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Mùa vụ lớn dần qua các năm. Một khuôn mùa vụ cố định sẽ bỏ sót điều gì?</a:t>
            </a:r>
          </a:p>
          <a:p/>
          <a:p>
            <a:r>
              <a:t>Ví dụ phần dữ liệu trừ xu hướng của quý 1 qua năm năm là 2, 4, 6, 8, 10. (chỉ vào đường xám) Phân rã cổ điển lấy một trung bình cho mọi năm, bằng 6. Phần dư đi từ âm 4 tới 4, vẫn còn một đường đi lên. (chỉ vào đường cam) Nếu mỗi năm chỉ lấy trung bình ba năm quanh nó, ta được 3, 4, 6, 8, 9, phần dư chỉ từ âm 1 tới 1.</a:t>
            </a:r>
          </a:p>
          <a:p/>
          <a:p>
            <a:r>
              <a:t>STL làm đúng ý đó bằng LOESS: ở mỗi điểm, khớp một đường qua các điểm lân cận, điểm gần nặng hơn. Nhờ vậy mùa vụ được đổi dần.</a:t>
            </a:r>
          </a:p>
          <a:p/>
          <a:p>
            <a:r>
              <a:t>Cửa sổ xu hướng quá ngắn thì xu hướng ôm luôn nhịp tuần và thời tiết. Trên PJM, STL chu kỳ 24 mặc định còn phương sai phần dư 2,8 GW bình phương, MSTL 16,5. Nhỏ ở đây là nhỏ giả tạo.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chạy STL và MSTL thật, và gặp hai lỗi hay gặp. Dòng 4 và 5, lỗi thứ nhất: đưa vào chuỗi còn giờ trống, MSTL không báo lỗi mà trả kết quả toàn NaN. Vì vậy phải lấp giờ trống trước.</a:t>
            </a:r>
          </a:p>
          <a:p/>
          <a:p>
            <a:r>
              <a:t>Dòng 7, lỗi thứ hai: STL với period 24 có cửa sổ xu hướng mặc định chỉ 47 giờ, quá ngắn, nên đường xu hướng ôm luôn cả biến động do thời tiết. Dòng 8 và 9 so phương sai phần dư: STL mặc định 2,8 GW bình phương, MSTL 16,5. Phần dư nhỏ hơn không có nghĩa là tốt hơn; ở đây nó nhỏ giả tạo.</a:t>
            </a:r>
          </a:p>
          <a:p/>
          <a:p>
            <a:r>
              <a:t>Dòng 11 đến 13 lấy cột seasonal_24, gom theo tháng và giờ, unstack thành bảng tháng nhân giờ, rồi đo biên độ: tháng 7 là 43,3 GW, tháng 1 là 14,4 GW. Dòng 14 tìm giờ đỉnh mùa đông và mùa hè, chính là hình hai đỉnh và một đỉnh vừa xem.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phân rã rồi, ta muốn một con số nói mùa vụ mạnh tới đâu. F_S bằng 1 trừ phương sai phần dư chia phương sai của mùa vụ cộng phần dư. Nói bằng lời: phần dư chiếm bao nhiêu trong tổng mùa vụ cộng phần dư, lấy 1 trừ đi.</a:t>
            </a:r>
          </a:p>
          <a:p/>
          <a:p>
            <a:r>
              <a:t>Nhìn hình: cùng một mùa vụ. Bên trái phần dư có độ lệch chuẩn 0,15, nhịp lặp rõ, F_S bằng 0,96. Bên phải phần dư độ lệch chuẩn 1,0, nhịp chìm trong nhiễu, F_S chỉ 0,34. F_T tính y hệt cho xu hướng.</a:t>
            </a:r>
          </a:p>
          <a:p/>
          <a:p>
            <a:r>
              <a:t>Điều cần nhớ: F phụ thuộc cách phân rã. PJM 2024, mùa vụ 24 giờ: 0,618 với phân rã cổ điển, 0,829 với MSTL. Nên khi báo con số này, luôn ghi kèm tên phương pháp.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Hàm do_manh tính cả F_T lẫn F_S từ một bảng phân rã. Dòng 6: F_T là 1 trừ phương sai phần dư chia phương sai của xu hướng cộng phần dư. Dòng 7 và 8 làm y hệt cho từng cột có tên bắt đầu bằng seasonal, dùng chung một phần dư. max với 0 để kẹp số âm về 0.</a:t>
            </a:r>
          </a:p>
          <a:p/>
          <a:p>
            <a:r>
              <a:t>Dòng 12 đến 14 gom kết quả MSTL vào một bảng, join thêm hai cột seasonal_24 và seasonal_168. Dòng 15 tính độ mạnh, rồi so với cùng hàm chạy trên phân rã cổ điển.</a:t>
            </a:r>
          </a:p>
          <a:p/>
          <a:p>
            <a:r>
              <a:t>Kết quả: F_S của mùa vụ ngày là 0,618 với cổ điển, 0,829 với MSTL; mùa vụ tuần của MSTL 0,415. Cùng chuỗi, khác phân rã, khác số. Và trên chuỗi này nhịp ngày mạnh hơn nhịp tuần khá rõ.</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rã có một điểm yếu: một giờ số liệu hỏng có thể làm méo cả xu hướng và mùa vụ.</a:t>
            </a:r>
          </a:p>
          <a:p/>
          <a:p>
            <a:r>
              <a:t>Robust làm phân rã hai lượt. Lượt đầu tính phần dư. Lượt sau, điểm nào có phần dư quá lớn so với 6 lần phần dư điển hình thì bị bớt tin, trọng số giảm tới 0. Ví dụ phần dư 1, âm 2, 1, 20, âm 1: mốc là 6, điểm 20 vượt mốc nên trọng số 0; điểm âm 2 còn trọng số 0,79. Điểm không bị xoá mà nằm lại trong phần dư.</a:t>
            </a:r>
          </a:p>
          <a:p/>
          <a:p>
            <a:r>
              <a:t>(chỉ vào hàng mùa vụ) Dữ liệu PJM có một giờ báo tụt còn 56.260 MW. Không robust, các vết lõm cam xuất hiện mỗi trưa: mùa vụ lúc 17 giờ UTC của ngày 20/11, ngày không có lỗi, là âm 4.051 MW. Robust thì là cộng 2.117 MW, và lỗi nằm gọn trong phần dư.</a:t>
            </a:r>
          </a:p>
          <a:p/>
          <a:p>
            <a:r>
              <a:t>Nhưng robust không tách được đợt nắng nóng kéo dài nhiều ngày; việc đó cần thêm biến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đi tiếp, chúng ta cần nhận ra ngay ba hình dạng của ACF, vì cả buổi 7 dựa vào đó.</a:t>
            </a:r>
          </a:p>
          <a:p/>
          <a:p>
            <a:r>
              <a:t>(chỉ vào hình) Hàng trên là ba chuỗi mô phỏng, hàng dưới là ACF của từng chuỗi; dải xám là cộng trừ 1,96 chia căn T, vùng coi như bằng 0.</a:t>
            </a:r>
          </a:p>
          <a:p/>
          <a:p>
            <a:r>
              <a:t>Cột trái là nhiễu trắng: quá khứ không có ký ức gì về tương lai, nên mọi cột nằm quanh 0, trong dải xám. Thỉnh thoảng một cột chạm ra ngoài là bình thường; slide Ljung-Box sẽ nói vì sao. Cột giữa là random walk: r1 gần 1 và các cột giảm rất chậm, dấu hiệu chuỗi chưa dừng. Chuỗi có xu hướng cũng cho hình như vậy, nên nhìn ACF chưa tách được hai loại này. Cột phải là chuỗi có mùa vụ 24 giờ: ACF có đỉnh đều ở 24, 48, xuống âm ở 12, 36, là lúc đỉnh ghép với đáy.</a:t>
            </a:r>
          </a:p>
          <a:p/>
          <a:p>
            <a:r>
              <a:t>(dừng) Quanh 0 là nhiễu trắng, giảm rất chậm là chưa dừng, có đỉnh đều là mùa vụ.</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7 quay lại ACF với mục đích khác: nhận ra hình dạng. Hàm ở dòng 6 đến 9 giống hệt buổi 4. Dòng 11 đến 13 chạy trên sáu số 2, 3, 5, 6, 5, 3 và so với hàm acf của statsmodels. Chú ý adjusted bằng False, để thư viện cũng chia cho tổng của cả chuỗi như ta; khác tuỳ chọn là khác số. Kết quả r1 bằng 0,333, r2 bằng âm 0,417, đúng như tính tay và khớp thư viện.</a:t>
            </a:r>
          </a:p>
          <a:p/>
          <a:p>
            <a:r>
              <a:t>Dòng 14 đến 16 tạo 500 điểm nhiễu trắng, cộng dồn bằng cumsum thành random walk, rồi tính ACF 30 trễ. Ba hình dạng cần nhớ: nhiễu trắng quanh 0; random walk giảm rất chậm; lượt thuê có đỉnh ở trễ 24, 48. ACF giảm rất chậm là dấu hiệu đầu tiên của chuỗi chưa dừng.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7. Trước khi nói PACF hay tính dừng, cần một mô hình nhỏ nhất cho tự tương quan: AR(1). Giá trị mới bằng ρ nhân giá trị cũ, cộng một phần ngẫu nhiên.</a:t>
            </a:r>
          </a:p>
          <a:p/>
          <a:p>
            <a:r>
              <a:t>Nhìn hình: đường xám có tự tương quan gần 0, lộn xộn; đường xanh có tự tương quan khoảng 0,9, lên thì ở trên một lúc. ρ bằng 0 là nhiễu trắng, không nhớ gì. ρ bằng 0,7 thì nhớ, nhưng mỗi bước kéo về trung bình: trung bình 0, đang ở 10, kỳ vọng bước sau là 7, rồi 4,9, dần về 0. Chuỗi đó dừng. ρ bằng 1 là random walk: kỳ vọng mãi là 10, không có mức để quay về.</a:t>
            </a:r>
          </a:p>
          <a:p/>
          <a:p>
            <a:r>
              <a:t>AR(p) dùng p bước trước. Mấy slide tới đều dựa vào mô hình này: PACF chỉ ra p, ADF kiểm ρ có bằng 1 không, prewhitening dùng AR để lọc.</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ACF ở trễ 2 lớn có thể chỉ vì hôm nay giống hôm qua và hôm qua giống hôm kia. Giống tin đồn truyền qua ba người A, B, C: C giống A chỉ vì cả hai nối qua B; biết B rồi thì A không cho C thêm gì. PACF đo đúng phần “thêm” đó: phần tương quan còn lại sau khi bỏ những gì các trễ ngắn hơn đã giải thích.</a:t>
            </a:r>
          </a:p>
          <a:p/>
          <a:p>
            <a:r>
              <a:t>Ở trễ 2 có công thức gọn trên slide: lấy r2 trừ phần đi qua trễ 1 là r1 bình phương, rồi chia cho 1 trừ r1 bình phương. AR(1) với phi 0,7: r1 là 0,7, r2 là 0,49, tử số bằng 0, nên PACF trễ 2 bằng 0. Một chuỗi có r1 0,5 và r2 0,4 thì ra 0,2: trễ 2 có thông tin riêng.</a:t>
            </a:r>
          </a:p>
          <a:p/>
          <a:p>
            <a:r>
              <a:t>Nhìn hình: bốn hàng là bốn chuỗi dựng từ cùng một dãy nhiễu; cột giữa là ACF, cột phải là PACF, dải xám là vùng coi như 0. Hàng AR(1) φ bằng 0,7: ACF giảm dần qua vài trễ, còn PACF trễ 1 là 0,713 rồi trễ 2 chỉ còn âm 0,110. PACF cắt sau trễ 1 nghĩa là chỉ cần hôm qua, tức AR(1).</a:t>
            </a:r>
          </a:p>
          <a:p/>
          <a:p>
            <a:r>
              <a:t>Giờ so hai hàng dưới: random walk và chuỗi có xu hướng đều có ACF giảm rất chậm, trông gần như nhau. Chỉ nhìn ACF không phân biệt được, nên lát nữa cần kiểm định ADF và KPSS.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bốn chuỗi của hình vừa rồi. Dòng 4 đến 8 dựng AR(1): mỗi bước bằng 0,7 lần bước trước cộng nhiễu mới; np.empty tạo mảng trống để điền dần. Dòng 9 và 10: bốn chuỗi dùng chung một dãy nhiễu seed 42, nên mọi khác biệt là do cấu trúc, không do may rủi. Dòng 11 là dải cộng trừ 1,96 chia căn T, để biết cột nào đáng chú ý.</a:t>
            </a:r>
          </a:p>
          <a:p/>
          <a:p>
            <a:r>
              <a:t>Dòng 14 đến 16 tính ACF, PACF 30 trễ và giữ vài con số. Để ý dòng 15 khai method bằng ywm rõ ràng, vì mặc định của hai hàm khác nhau; không khai thì con số lệch với cách tính tay.</a:t>
            </a:r>
          </a:p>
          <a:p/>
          <a:p>
            <a:r>
              <a:t>Kết quả: AR(1) có ACF giảm nhanh, PACF cắt sau trễ 1. Random walk và xu hướng đều có r1 gần 0,98, không phân biệt được bằng ACF.</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Nhiễu trắng là chuỗi mà mọi tự tương quan thật đều bằng 0. Cách đọc ACF hay gặp là đếm cột vượt dải. Slide này cho thấy vì sao không nên: mỗi cột giống một lần tung đồng xu có 5% khả năng vượt dải dù chuỗi là nhiễu thuần, nên nhìn 20 trễ thì trung bình có 1 cột vượt.</a:t>
            </a:r>
          </a:p>
          <a:p/>
          <a:p>
            <a:r>
              <a:t>Hình trái: nhiễu trắng 500 điểm, trục ngang là độ trễ tới 20, dải xám là cộng trừ 1,96 chia căn T; vẫn có cột chạm ra ngoài. Hình phải mô phỏng 1.000 chuỗi nhiễu trắng thuần: trục ngang là số cột vượt dải trong 20 trễ, trục dọc là số chuỗi. Trung bình mỗi chuỗi có 0,95 cột vượt, và 62% số chuỗi có ít nhất một cột vượt, dù chẳng có quy luật nào.</a:t>
            </a:r>
          </a:p>
          <a:p/>
          <a:p>
            <a:r>
              <a:t>Ljung-Box gộp nhiều trễ vào một kiểm định. Câu hỏi của nó: các ACF từ trễ 1 tới trễ ℓ có cùng bằng 0 không? H0 là chuỗi là nhiễu trắng. p nhỏ hơn 0,05 là còn quy luật chưa khai thác. Ta dùng nó để kiểm phần dư của mô hình đã sạch chưa, và khi đó nhớ truyền model_df, tức số tham số của mô hình.</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sao bằng 5,16 là lớn hay nhỏ? Phải so với ngưỡng nào?</a:t>
            </a:r>
          </a:p>
          <a:p/>
          <a:p>
            <a:r>
              <a:t>Nếu chuỗi là nhiễu trắng, Q sao theo phân phối khi bình phương. Bậc tự do bằng số trễ gộp vào, trừ số tham số nếu ta kiểm sai số của một mô hình. Ví dụ chuỗi 100 điểm, r1 bằng 0,2, r2 bằng 0,1. Q sao bằng 100 nhân 102, nhân tổng 0,2 bình phương chia 99 với 0,1 bình phương chia 98, ra khoảng 5,16.</a:t>
            </a:r>
          </a:p>
          <a:p/>
          <a:p>
            <a:r>
              <a:t>(chỉ vào hình) Đây là đường cong khi bình phương với 2 bậc tự do. Vùng đỏ là 5% giá trị lớn nhất, bắt đầu từ 5,99. Vạch xanh 5,16 chưa chạm vùng đỏ, nên chưa bác bỏ nhiễu trắng, p khoảng 0,076.</a:t>
            </a:r>
          </a:p>
          <a:p/>
          <a:p>
            <a:r>
              <a:t>Nhớ trừ bậc tự do: 10 trễ trên sai số của mô hình 2 tham số thì còn 8 bậc, ngưỡng 15,51 thay vì 18,31. Quên trừ thì p cao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Ljung-Box thay việc đếm cột bằng một con số Q sao và một p-value. Dòng 5 và 6 tính tay với 100 điểm, r1 bằng 0,2, r2 bằng 0,1: Q sao bằng T nhân T cộng 2, nhân với tổng của r_k bình phương chia T trừ k. Dòng 7 và 8 tra ngưỡng 5% của phân phối khi bình phương với 2 bậc tự do, và p-value bằng chi2.sf. Q sao bằng 5,16, nhỏ hơn ngưỡng 5,99, nên không bác bỏ: chưa thấy quy luật.</a:t>
            </a:r>
          </a:p>
          <a:p/>
          <a:p>
            <a:r>
              <a:t>Dòng 10 đến 12 dùng acorr_ljungbox kiểm 10 trễ trên ba chuỗi nhiễu trắng: p từ 0,081 tới 0,885, đều không bác bỏ, đúng như mong đợi. Dòng 14 thêm model_df bằng 2, như khi kiểm sai số của một mô hình hai tham số: bậc tự do giảm, p nhỏ đi. Quên model_df thì dễ tin nhầm phần dư đã sạch.</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khái niệm trung tâm của buổi 7: chuỗi dừng. Định nghĩa đủ gồm ba điều: mức trung bình không đổi, độ dao động không đổi, và tương quan giữa hai điểm chỉ phụ thuộc chúng cách nhau bao xa, không phụ thuộc đang ở thời điểm nào.</a:t>
            </a:r>
          </a:p>
          <a:p/>
          <a:p>
            <a:r>
              <a:t>Nhìn hình, ba hàng. Hàng trên là dừng: như nhiệt độ phòng máy lạnh đặt 25 độ, lúc 24,5, lúc 25,8, nhưng luôn bị kéo về 25. Hàng giữa là dừng quanh xu hướng: như chiều cao một đứa trẻ, bám theo một đường; bỏ đường đó đi thì phần còn lại dừng. Hàng dưới là random walk: như tung đồng xu rồi bước tới hoặc lùi, không có chỗ nào để quay về.</a:t>
            </a:r>
          </a:p>
          <a:p/>
          <a:p>
            <a:r>
              <a:t>Hai loại không dừng cần hai cách chữa: random walk thì sai phân, dừng quanh xu hướng thì khử xu hướng. Nhìn hình rất khó phân biệt, nên phải kiểm bằng ADF và KPSS. Thêm hai ý: chuỗi có chu kỳ lên xuống không đều vẫn có thể dừng; và với random walk, dự báo tốt nhất là naive, lấy giá trị cuối.</a:t>
            </a:r>
          </a:p>
          <a:p/>
          <a:p>
            <a:r>
              <a:t>Thử với số dư tài khoản: nhận lương rồi tiêu tuỳ ý, không có mức nào phải quay về, đó là random walk. Nhưng nếu đầu tháng nào cũng đưa số dư về đúng 10 triệu, chuyển phần dư sang tiết kiệm, thì số dư cuối tháng dao động quanh 10 triệu: dừng.</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tăng vài tháng liền: có xu hướng thật, hay chỉ là các bước ngẫu nhiên cộng dồn?</a:t>
            </a:r>
          </a:p>
          <a:p/>
          <a:p>
            <a:r>
              <a:t>Random walk là vị trí mới bằng vị trí cũ cộng một bước ngẫu nhiên. Ví dụ tung đồng xu, ngửa tiến 1, sấp lùi 1. Sáu lần tung cộng, trừ, cộng, cộng, trừ, cộng cho vị trí 1, 0, 1, 2, 1, 2.</a:t>
            </a:r>
          </a:p>
          <a:p/>
          <a:p>
            <a:r>
              <a:t>(chỉ vào hình) Trục ngang là số bước, trục dọc là vị trí, mỗi đường xám là một người. Không có mức nào để quay về, nên càng lâu càng có thể đi xa. Hai đường cam đứt là cộng trừ một độ lệch chuẩn, nở ra theo căn bậc hai số bước. Mô phỏng 10.000 người: 4 bước độ lệch chuẩn là 2,0, 25 bước là 5,0, 100 bước là 10,1. Số bước gấp 25 lần thì độ lệch chuẩn gấp 5 lần.</a:t>
            </a:r>
          </a:p>
          <a:p/>
          <a:p>
            <a:r>
              <a:t>Vì vậy random walk không dừng, phải sai phân, và dự báo tốt nhất cho nó là giá trị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sang kiểm định, chúng ta đặt bốn chuỗi mẫu của buổi 7 cạnh nhau.</a:t>
            </a:r>
          </a:p>
          <a:p/>
          <a:p>
            <a:r>
              <a:t>Đọc từng dòng. Nhiễu trắng không nhớ gì, r1 gần 0: dừng. AR(1) với phi 0,7 nhớ bước trước nhưng bị kéo về mức: vẫn dừng, r1 0,71 nhưng tới trễ 30 đã về 0. Random walk nhớ mãi, không có mức để quay về: không dừng, phải sai phân. Chuỗi xu hướng không nhớ gì cả, nó chỉ bám một đường thẳng: dừng quanh đường xu hướng, nên chữa bằng cách trừ đường đó đi.</a:t>
            </a:r>
          </a:p>
          <a:p/>
          <a:p>
            <a:r>
              <a:t>(chỉ vào cột r1 / r30) Chỗ cần để ý: random walk và xu hướng có r1 đều khoảng 0,98, ACF giảm chậm như nhau. Nhìn ACF không tách được hai loại này; phải chạy ADF và KPSS dạng “ct”, ở slide sau.</a:t>
            </a:r>
          </a:p>
          <a:p/>
          <a:p>
            <a:r>
              <a:t>Chữa nhầm thì sao? Sai phân chuỗi quanh xu hướng là sai phân thừa, sinh tương quan âm giả. Trừ đường thẳng khỏi random walk thì phần còn lại vẫn lang thang. Mẹo nhớ: random walk thì sai phân, dừng quanh xu hướng thì khử xu hướng.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random walk khác chuỗi dừng ở đâu, và vì sao mỗi loại cần thuốc riêng. Dòng 4 đến 6 mô phỏng 10.000 người tung đồng xu, mỗi người 100 bước, cumsum ra vị trí. Dòng 7 đo độ lệch chuẩn vị trí sau 4, 25 và 100 bước. Kết quả: số bước gấp 25 lần thì độ lệch chuẩn gấp 5 lần, từ 2,0 lên 10,1. Dao động lớn dần theo thời gian, nên random walk không dừng.</a:t>
            </a:r>
          </a:p>
          <a:p/>
          <a:p>
            <a:r>
              <a:t>Dòng 11 là thuốc một: polyfit tìm đường thẳng khớp nhất, polyval tính nó, rồi trừ đi. Dòng 12 là thuốc hai: np.diff, tức sai phân. Dòng 13 đo r1 phần còn lại.</a:t>
            </a:r>
          </a:p>
          <a:p/>
          <a:p>
            <a:r>
              <a:t>Chọn nhầm cách xử lý thì thấy ngay: khử xu hướng cho random walk thì r1 vẫn rất lớn; sai phân chuỗi xu hướng thì r1 âm rõ, dấu hiệu sai phân thừa.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Chuỗi có thành phần random walk không? Hai kiểm định hỏi câu này theo hai chiều ngược nhau.</a:t>
            </a:r>
          </a:p>
          <a:p/>
          <a:p>
            <a:r>
              <a:t>ADF hỏi: khi chuỗi đang cao hơn mức thường, bước sau có bị kéo xuống không? Nhìn hình: trục ngang là độ cao hiện tại trừ mức trung bình, trục dọc là bước kế tiếp. Bên trái, chuỗi dừng ρ bằng 0,7, đám chấm dốc xuống: cao thì bị kéo về. Bên phải, random walk, đường gần nằm ngang: độ cao không nói gì về bước sau. H0 của ADF là không dừng, nên p nhỏ hơn 0,05 là có bằng chứng dừng. KPSS ngược lại: H0 là dừng, p nhỏ hơn 0,05 là có bằng chứng không dừng.</a:t>
            </a:r>
          </a:p>
          <a:p/>
          <a:p>
            <a:r>
              <a:t>Ví dụ tay ở dưới: 5, 8, 4, 6, 5 cứ cao hơn 5 là đi xuống; 5, 6, 7, 6, 7 thì không đoán được.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Vì hai kiểm định có H0 ngược nhau, ta chạy cả hai rồi đọc bảng 2 nhân 2 này. ADF bác bỏ mà KPSS không, ô xanh: dừng, không cần sai phân. ADF không bác bỏ mà KPSS bác bỏ, ô cam: không dừng, sai phân rồi kiểm lại. Cả hai cùng bác bỏ là mâu thuẫn, thường do cú sốc hay đổi mức.</a:t>
            </a:r>
          </a:p>
          <a:p/>
          <a:p>
            <a:r>
              <a:t>Ví dụ thật bên phải: tăng trưởng GDP Mỹ theo quý 1947 đến 2026, ADF p bằng 0,000, KPSS p bằng 0,048, rơi vào ô mâu thuẫn. Chỉ lấy 1985 đến 2019, bỏ cú sốc đại dịch, thì cả hai đồng ý dừng.</a:t>
            </a:r>
          </a:p>
          <a:p/>
          <a:p>
            <a:r>
              <a:t>Hai điều nữa: khai cùng một dạng cho cả hai, c là quanh một mức, ct là quanh một đường xu hướng; và p của KPSS bị cắt ở 0,01 và 0,1, nên "p bằng 0,10" nghĩa là từ 0,1 trở lên, không phải "rất dừng".</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Chạy ADF và KPSS trên bốn chuỗi mẫu, cả hai dạng “c” và “ct”, để thấy vì sao phải khai dạng cho đúng.</a:t>
            </a:r>
          </a:p>
          <a:p/>
          <a:p>
            <a:r>
              <a:t>Hai dòng đầu, nhiễu trắng và AR(1), cả bốn cột đều nói dừng. Dòng ba, random walk: KPSS bác bỏ mạnh, ADF p bằng 0,073. Nếu ai đó dùng mức 10% thì sẽ gọi nhầm random walk là dừng; KPSS bắt được chỗ này.</a:t>
            </a:r>
          </a:p>
          <a:p/>
          <a:p>
            <a:r>
              <a:t>(chỉ vào dòng cam) Dòng bốn là chuỗi xu hướng. Dạng “c” hỏi có dừng quanh một mức cố định không, nên cả hai nói không dừng và bảo sai phân. Dạng “ct” hỏi quanh một đường thẳng, thì cả hai nói dừng. Kết luận đúng là dừng quanh xu hướng: chỉ cần khử xu hướng, sai phân là thừa.</a:t>
            </a:r>
          </a:p>
          <a:p/>
          <a:p>
            <a:r>
              <a:t>Hai lời nhắc: ADF hay bỏ sót chuỗi dừng mà rất gần random walk, nên không bác bỏ chưa phải là chứng minh. Và p của KPSS trong statsmodels bị cắt ở 0,01 và 0,1: thấy 0,10 thì đọc là lớn hơn hoặc bằng 0,1, không phải “rất dừng”.</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Gói bảng 2 nhân 2 thành hai hàm. Dòng 4: tham số dang là c hoặc ct, dùng chung cho cả hai kiểm định. Dòng 6 và 7: adfuller với autolag AIC tự chọn số trễ; p nhỏ là có bằng chứng dừng. Dòng 8 và 9: kpss với nlags auto; p nhỏ là có bằng chứng không dừng. Dòng 11 đến 14: o_bang đổi cặp câu hỏi "ADF có bác bỏ, KPSS có bác bỏ" thành một trong bốn kết luận.</a:t>
            </a:r>
          </a:p>
          <a:p/>
          <a:p>
            <a:r>
              <a:t>Dòng 15 và 16 thử chuỗi xu hướng 0,05t với cả hai dạng. Kết quả: dạng c nói không dừng; chỉ dạng ct mới cho thấy đây là chuỗi dừng quanh xu hướng, nên cần khử xu hướng chứ không sai phân. Khai sai dạng là kết luận sai.</a:t>
            </a:r>
          </a:p>
          <a:p/>
          <a:p>
            <a:r>
              <a:t>Còn với random walk, ADF cho p bằng 0,073, không bác bỏ, và KPSS bắt được: đúng ô không dừng.</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Thuốc cho random walk là sai phân. Sai phân thay mỗi giá trị bằng hiệu với giá trị trước: 100, 103, 105 thành 3, 2. Sai phân mùa vụ lấy hiệu với cùng vị trí vòng trước, ví dụ tháng này trừ cùng tháng năm ngoái.</a:t>
            </a:r>
          </a:p>
          <a:p/>
          <a:p>
            <a:r>
              <a:t>Nhìn hình: góc trên trái là log GDP thực của Mỹ theo quý, trôi lên mãi, và ACF ngay dưới giảm rất chậm. Góc trên phải là sai phân log, gần bằng phần trăm tăng mỗi quý: dao động quanh 0,76%, và ACF bên dưới chỉ còn vài trễ đầu. Chuỗi trôi đi đã thành chuỗi có mức để quay về.</a:t>
            </a:r>
          </a:p>
          <a:p/>
          <a:p>
            <a:r>
              <a:t>Khi nào dùng: random walk thì sai phân một lần; có mùa vụ thì sai phân mùa vụ trước; dừng quanh xu hướng thì khử xu hướng, sai phân thêm là thừa. Để ý cú sốc lớn quanh năm 2020 bên phải, chính là lý do ô mâu thuẫn ở slide trước.</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 phân chữa random walk, nhưng sai phân thêm một chuỗi đã dừng lại làm hỏng nó. Vậy dừng tay ở đâu?</a:t>
            </a:r>
          </a:p>
          <a:p/>
          <a:p>
            <a:r>
              <a:t>(chỉ vào bảng trái) Chuỗi 2, âm 1, 0, 1, âm 2, 0 đã dừng, độ lệch chuẩn 1,41. Sai phân nó ra âm 3, 1, 1, âm 3, 2: độ lệch chuẩn tăng lên 2,41, và r1 khoảng âm 0,5. Lý do là mỗi số gốc có mặt trong hai hiệu liền nhau với hai dấu ngược nhau, nên lên thì lần sau xuống. Đó là hai dấu hiệu sai phân thừa: r1 về gần âm 0,5, và độ lệch chuẩn tăng.</a:t>
            </a:r>
          </a:p>
          <a:p/>
          <a:p>
            <a:r>
              <a:t>GDP Mỹ là ví dụ thật: log GDP chưa dừng, sai phân một lần ra tăng trưởng. Theo KPSS máy móc thì phải sai phân thêm lần nữa, nhưng lần hai cho r1 âm 0,488 và độ lệch chuẩn tăng từ 1,105 lên 1,455. Dừng ở một lần.</a:t>
            </a:r>
          </a:p>
          <a:p/>
          <a:p>
            <a:r>
              <a:t>Bảng phải: chuỗi có mùa vụ thì sai phân mùa vụ trước. Lượt thuê theo giờ, thang log. Chỉ sai phân thường thì r24, r168 vẫn lớn, mùa vụ còn nguyên. Sai phân mùa vụ 168 bỏ được nhịp ngày và tuần. Thêm một lần sai phân thường nữa thì độ lệch chuẩn giảm tiếp và r1 chưa tới âm 0,5, nên cả hai lần đều đáng.</a:t>
            </a:r>
          </a:p>
          <a:p/>
          <a:p>
            <a:r>
              <a:t>Quy tắc: sai phân tới khi KPSS thôi bác bỏ, nhưng dừng tay nếu thấy hai dấu hiệu thừa.</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buổi 7 gói lại thành bảy bước, dùng mỗi khi gặp một chuỗi lạ.</a:t>
            </a:r>
          </a:p>
          <a:p/>
          <a:p>
            <a:r>
              <a:t>Hàng trên là nhìn và kiểm. Một, nhìn ACF: quanh 0 là nhiễu trắng, giảm rất chậm là chưa dừng, có đỉnh đều là mùa vụ. Hai, nhìn PACF: cao ở vài trễ đầu rồi tắt hẳn sau trễ p thì giống AR bậc p. Ba, Ljung-Box để có một p-value cho nhiều trễ, thay vì đếm cột vượt dải. Bốn, chạy cả ADF lẫn KPSS, cùng một dạng: “c” nếu chuỗi quanh một mức, “ct” nếu quanh một đường.</a:t>
            </a:r>
          </a:p>
          <a:p/>
          <a:p>
            <a:r>
              <a:t>Hàng dưới là kết luận và chữa. Năm, đọc bảng 2 × 2: hai kiểm định cùng hướng thì tin, mâu thuẫn thì quay lại vẽ chuỗi tìm cú sốc. Sáu, chữa đúng loại: random walk thì sai phân, quanh xu hướng thì khử xu hướng, có mùa vụ thì sai phân mùa vụ trước. Bảy, kiểm xem có chữa quá tay không: sai phân xong mà r1 về gần âm 0,5 hoặc độ lệch chuẩn tăng lên thì bớt một lần.</a:t>
            </a:r>
          </a:p>
          <a:p/>
          <a:p>
            <a:r>
              <a:t>Nhìn trước, kiểm bằng số sau, chữa xong thì kiểm lại.</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8: quan hệ giữa hai biến. Pearson r đo quan hệ đường thẳng; Spearman đo hai biến có cùng tăng theo thứ hạng không.</a:t>
            </a:r>
          </a:p>
          <a:p/>
          <a:p>
            <a:r>
              <a:t>Nhìn hình, bộ tứ Anscombe: bốn bộ dữ liệu cùng r bằng 0,82 và cùng đường hồi quy. Bộ một là quan hệ thẳng có nhiễu. Bộ hai là một đường cong. Bộ ba là thẳng chặt với một điểm lạ. Bộ bốn là một cột điểm dựng đứng cộng một điểm ở xa kéo lệch cả đường. Bốn câu chuyện khác nhau, cùng một con số.</a:t>
            </a:r>
          </a:p>
          <a:p/>
          <a:p>
            <a:r>
              <a:t>Ngược lại, hình chữ U đối xứng cho cả Pearson lẫn Spearman bằng 0 dù quan hệ rất chặt. Nên quy tắc là vẽ scatter trước khi tin r. Và nhớ: tương quan không phải nhân quả; cuối phần này ta sẽ thấy cả kiểm định Granger cũng không nói "gây ra".</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Quay lại code buổi 2 để thấy r sai lệch thế nào trên dữ liệu thật. Dòng 3 và 4: x từ âm 2 tới 2, y bằng x bình phương; y phụ thuộc hẳn vào x mà r bằng 0.</a:t>
            </a:r>
          </a:p>
          <a:p/>
          <a:p>
            <a:r>
              <a:t>Dòng 6 đến 8: r giữa nhiệt độ và lượt thuê trên mọi giờ là 0,405; chỉ giữ giờ 17 thì lên 0,588. Giờ trong ngày là biến gây nhiễu: trộn mọi giờ lại thì nhịp giờ che bớt quan hệ với nhiệt độ. Dòng 9: giờ trong ngày quyết định lượt thuê rất mạnh, nhưng r chỉ 0,394 vì quan hệ cong, có hai đỉnh.</a:t>
            </a:r>
          </a:p>
          <a:p/>
          <a:p>
            <a:r>
              <a:t>Dòng 10 đến 12 tính tự tương quan trễ 1 bằng tay: nhân độ lệch mỗi giờ với độ lệch giờ trước, chia tổng bình phương độ lệch. Ra 0,844: giờ này rất giống giờ trước.</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nói Pearson đo đường thẳng. Nhưng nhiều khi ta chỉ cần biết: x tăng thì y có tăng không, dù tăng theo đường cong.</a:t>
            </a:r>
          </a:p>
          <a:p/>
          <a:p>
            <a:r>
              <a:t>Spearman làm đúng việc đó. Nó xếp hạng từng biến, số nhỏ nhất là hạng 1, rồi tính Pearson trên các hạng. (chỉ vào hình trái) y bằng x bình phương, x từ 1 tới 5: y luôn tăng nhưng cong. Pearson chỉ 0,981, còn Spearman bằng đúng 1, vì hai dãy hạng trùng nhau.</a:t>
            </a:r>
          </a:p>
          <a:p/>
          <a:p>
            <a:r>
              <a:t>(chỉ vào hình phải) Nhưng với hình chữ U, x từ âm 2 tới 2, cả Pearson lẫn Spearman đều bằng 0, dù y hoàn toàn theo x. Nên Spearman giúp với đường cong cùng chiều, còn chữ U thì cần cách khác, lát nữa chúng ta sẽ gặp. Kendall cũng dùng hạng, đếm số cặp cùng chiều, và ít bị vài điểm lạ kéo đi khi mẫu nhỏ.</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kiểm hai hệ số bằng scipy. Dòng 4 và 5: y bằng x bình phương trên hai khoảng. Với x từ 1 tới 5, quan hệ cùng tăng; với x từ âm 2 tới 2, hình chữ U, và Pearson ra 0 dù y phụ thuộc hoàn toàn vào x. pearsonr và spearmanr đều trả kèm p-value; ta lấy phần tử đầu là hệ số.</a:t>
            </a:r>
          </a:p>
          <a:p/>
          <a:p>
            <a:r>
              <a:t>Dòng 7 đến 14 nhập hai trong bốn bộ Anscombe: bộ I thẳng có nhiễu, bộ IV là một cột x bằng 8 cộng một điểm x bằng 19. Dòng 15 và 16 tính hai hệ số cho từng bộ.</a:t>
            </a:r>
          </a:p>
          <a:p/>
          <a:p>
            <a:r>
              <a:t>Kết quả: bốn bộ cùng Pearson 0,82, nhưng Spearman trải từ 0,5 tới 0,99. Khi hai hệ số lệch nhau nhiều như vậy, đó là tín hiệu phải mở scatter ra xem.</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CPI và dân số Mỹ có R bình phương 0,95, hệ số t là 88,6. Nhìn con số thì tưởng hai thứ liên quan cực mạnh. Durbin–Watson giúp kiểm lại.</a:t>
            </a:r>
          </a:p>
          <a:p/>
          <a:p>
            <a:r>
              <a:t>Cách làm: hồi quy chuỗi này theo chuỗi kia, rồi nhìn phần dư, tức phần đường thẳng không giải thích được. Durbin–Watson so bước nhảy giữa hai phần dư liền nhau với độ lớn của phần dư. (chỉ vào hình trái) Phần dư đổi chậm, một tràng dương rồi một tràng âm: bước nhảy nhỏ, DW nhỏ, ví dụ 1, 1, 1, âm 1, âm 1, âm 1 cho DW khoảng 0,67. (chỉ vào hình phải) Phần dư đổi dấu liên tục thì DW lớn, khoảng 3,33.</a:t>
            </a:r>
          </a:p>
          <a:p/>
          <a:p>
            <a:r>
              <a:t>DW gần 2 là ổn. Còn CPI theo dân số có DW chỉ 0,0051, gần như bằng 0. Nghĩa là các con số R bình phương và t ở trên dựa trên một giả định sai, không tin được. R bình phương cao đi cùng DW gần 0 là dấu hiệu của tương quan giả.</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Texas, trời lạnh người ta bật sưởi, trời nóng bật điều hoà. Tải điện tăng ở cả hai phía, nên một đường thẳng theo nhiệt độ không tả được.</a:t>
            </a:r>
          </a:p>
          <a:p/>
          <a:p>
            <a:r>
              <a:t>Ngành năng lượng xử lý bằng hai biến mới quanh một mốc 18,33 độ, tức 65 độ F. CDD là số độ nóng hơn mốc, HDD là số độ lạnh hơn mốc; phía còn lại bằng 0. (chỉ vào hình) Đường đỏ là CDD, đi lên khi nóng hơn mốc; đường xanh là HDD, đi lên khi lạnh hơn mốc. Ví dụ 25 độ thì CDD là 6,67, HDD bằng 0; 10 độ thì HDD là 8,33.</a:t>
            </a:r>
          </a:p>
          <a:p/>
          <a:p>
            <a:r>
              <a:t>Đưa cả hai vào một hồi quy: phía nóng có một độ dốc, phía lạnh có một độ dốc, thành hình chữ V. Không cần chia dữ liệu làm hai nhóm. Trên tải điện ERCOT, R bình phương tăng từ 0,379 khi dùng nhiệt độ thẳng lên 0,812 khi dùng CDD và HDD, tức giải thích gấp đôi.</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CDD và HDD cần ta biết trước hình dạng của quan hệ. Nếu chưa biết thì sao? Mutual information đo mọi kiểu phụ thuộc, không cần đoán hình dạng.</a:t>
            </a:r>
          </a:p>
          <a:p/>
          <a:p>
            <a:r>
              <a:t>Câu hỏi của MI là: biết x có giúp đoán y không, theo bất kỳ cách nào. Ví dụ nhỏ: ngày lạnh tải cao, ngày vừa tải thấp, ngày nóng tải cao, mỗi loại một phần ba số ngày. Pearson bằng 0, vì đây là chữ U. Nhưng biết loại ngày là biết chắc tải. MI so tỷ lệ thật của mỗi ô với tỷ lệ nếu hai biến độc lập. Ô "vừa, thấp" xảy ra một phần ba số ngày, gấp 3 lần mức độc lập là một phần chín, nên góp một phần ba nhân ln 3, khoảng 0,366. Cộng ba ô được 0,637 nat.</a:t>
            </a:r>
          </a:p>
          <a:p/>
          <a:p>
            <a:r>
              <a:t>Độc lập thì MI bằng 0. (chỉ vào hình) Với nhiệt độ và tải điện ERCOT, MI là 0,862 nat. MI nói có phụ thuộc, nhưng không nói hình dạng; muốn thấy hình dạng vẫn phải nhìn scatter như hình này.</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 của nhiệt độ và tải là 0,862. Con số đó lớn thật, hay chỉ do may? Ta kiểm bằng hoán vị, giống buổi 2: xáo y nhiều lần để phá quan hệ, rồi xem MI thật có vượt xa MI của dữ liệu xáo không.</a:t>
            </a:r>
          </a:p>
          <a:p/>
          <a:p>
            <a:r>
              <a:t>Nhưng với chuỗi thời gian có một chỗ cần cẩn thận. Hai chuỗi trơn không liên quan gì vẫn hay có những quãng dài tình cờ cùng cao, cùng thấp, nên MI của chúng không nhỏ. (chỉ vào hàng giữa) Xáo từng điểm thì chuỗi thành nhiễu lộn xộn, mất hết độ trơn, MI của dữ liệu xáo rất nhỏ, và dữ liệu thật trông như đặc biệt. (chỉ vào hàng dưới) Xáo cả khối thì trong mỗi khối chuỗi vẫn trơn như thật, so sánh mới công bằng.</a:t>
            </a:r>
          </a:p>
          <a:p/>
          <a:p>
            <a:r>
              <a:t>Thử trên hai chuỗi độc lập: xáo từng điểm cho p bằng 0,005, kết luận nhầm là có quan hệ; xáo theo khối cho p bằng 0,055, không bác bỏ. Với dữ liệu ERCOT, xáo theo khối một tuần, MI thật 0,862 vượt xa ngưỡng 0,124. Quan hệ có thật.</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chuỗi có quan hệ rồi, câu hỏi tiếp: ai đi trước, trước bao nhiêu bước? Tương quan chéo r_k đo x lúc t giống y lúc t cộng k tới đâu.</a:t>
            </a:r>
          </a:p>
          <a:p/>
          <a:p>
            <a:r>
              <a:t>Nhìn hình trái, CCF thô giữa CDD, tức độ nóng, và tải điện: trục ngang là độ trễ k tính bằng giờ, CDD đi trước tải k giờ. Cao ở mọi trễ và lặp theo nhịp 24 giờ: 0,848 ở trễ 0, vẫn 0,828 ở trễ 24. Đó chỉ là nhịp ngày của chính CDD, chưa phải quan hệ.</a:t>
            </a:r>
          </a:p>
          <a:p/>
          <a:p>
            <a:r>
              <a:t>Hình phải, sau prewhitening: còn 0,205 ở trễ 0 và 0,061 ở trễ 24; đỉnh chỉ ở trễ 0 rồi tắt sau vài giờ. Kết luận: tải phản ứng với trời nóng gần như ngay trong giờ. Một lưu ý: quy ước hướng của hàm ccf khác nhau giữa các thư viện, nên thử trên chuỗi giả trước khi tin.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Prewhitening làm thế nào? Bốn bước ở dưới hình.</a:t>
            </a:r>
          </a:p>
          <a:p/>
          <a:p>
            <a:r>
              <a:t>Bước 1: dựng mô hình AR cho x, ở đây AR(48), tức phần của CDD tự đoán được từ 48 giờ trước của chính nó. Bước 2: lọc x, trừ phần tự đoán được, còn lại phần "bất ngờ". Bước 3 là chỗ hay sai: lọc y bằng đúng bộ lọc của x, không dựng mô hình riêng cho y. Bước 4: tính tương quan chéo trên hai chuỗi đã lọc; đỉnh còn lại ở trễ nào thì x đi trước y chừng ấy bước.</a:t>
            </a:r>
          </a:p>
          <a:p/>
          <a:p>
            <a:r>
              <a:t>Nhìn lại hình: trước lọc, tương quan nhoè ra mọi trễ và lặp theo nhịp ngày; sau lọc chỉ còn đỉnh 0,205 ở trễ 0 và gần như tắt ở trễ 24, còn 0,061. Kết quả này là căn cứ để chọn độ trễ cho feature ở các buổi sau.</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gồm hai hàm tự viết. Dòng 4 đến 6, ccf_tu_viet: chuẩn hoá hai chuỗi, rồi nhân x lúc t với y lúc t cộng k và lấy trung bình; k dương nghĩa là x đi trước. Tự viết để biết chắc chiều, vì các thư viện quy ước khác nhau.</a:t>
            </a:r>
          </a:p>
          <a:p/>
          <a:p>
            <a:r>
              <a:t>Dòng 8: AutoReg khớp AR(48) cho x, lấy các hệ số phi, bỏ hệ số chặn. Dòng 9 đến 12: hàm loc trừ khỏi mỗi điểm phần dự đoán từ 48 điểm trước, và áp đúng bộ phi đó cho cả x lẫn y. Dòng 14 và 15 so CCF thô với CCF sau lọc trên CDD và tải.</a:t>
            </a:r>
          </a:p>
          <a:p/>
          <a:p>
            <a:r>
              <a:t>Kết quả: thô, trễ 24 là 0,828, cao gần bằng trễ 0, là nhịp ngày của CDD. Sau lọc chỉ còn đỉnh ở trễ 0, bằng 0,205, tắt sau vài giờ.</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Kể cả khi đo đúng, một hệ số cho cả năm có thể là trung bình của các chế độ ngược nhau. Tương quan trượt tính r trên từng cửa sổ thời gian rồi trượt dần cửa sổ đi.</a:t>
            </a:r>
          </a:p>
          <a:p/>
          <a:p>
            <a:r>
              <a:t>Nhìn hình: trục ngang là ngày trong 2024, trục dọc là tương quan nhiệt độ với tải; đường xám là cửa sổ 30 ngày, đường xanh đậm là 90 ngày, vạch cam đứt là con số cả năm. Cửa sổ 90 ngày tới 31/3 là âm 0,801: mùa đông, lạnh thì sưởi. Cửa sổ tới 14/10 là 0,968: mùa hè, nóng thì điều hoà. Còn cả năm 0,616, không đúng với mùa nào.</a:t>
            </a:r>
          </a:p>
          <a:p/>
          <a:p>
            <a:r>
              <a:t>Quan hệ đổi dấu theo mùa thì tách thành từng chế độ, hoặc dùng CDD và HDD. Lưu ý kỹ thuật: rolling 90D mặc định chỉ cần 1 điểm, nên vài giá trị đầu là cộng trừ 1 giả; đặt min_periods rõ ràng.</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là ví dụ tay: ba ngày đông tương quan âm 1 hoàn toàn, ba ngày hè dương 1 hoàn toàn. Gộp sáu ngày lại chỉ ra r bằng 0,48, một con số lưng chừng không đúng với ngày nào.</a:t>
            </a:r>
          </a:p>
          <a:p/>
          <a:p>
            <a:r>
              <a:t>Dòng 7 gộp dữ liệu giờ thành trung bình ngày. Dòng 8 và 9 tính r trên cửa sổ trượt 90 và 30 ngày, với min_periods bằng đúng độ dài cửa sổ: chưa đủ điểm thì để trống, thay vì ra số giả. Dòng 10 tính con số cả năm để so.</a:t>
            </a:r>
          </a:p>
          <a:p/>
          <a:p>
            <a:r>
              <a:t>Kết quả: cửa sổ 90 ngày cho âm 0,801 ngày 31/3 và 0,968 ngày 14/10; cửa sổ 30 ngày xuống tới âm 0,971. Cả năm chỉ 0,616. Ví dụ tay và dữ liệu thật kể cùng một chuyện: gộp hai chế độ ngược dấu thì ra một số lưng chừng.</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Granger so sai số dự báo Y khi có và khi không có quá khứ của X. p nhỏ nghĩa là quá khứ X giúp dự báo Y, không phải X gây ra Y.</a:t>
            </a:r>
          </a:p>
          <a:p/>
          <a:p>
            <a:r>
              <a:t>Nhìn hình phải: tương quan chéo cao ở cả hai chiều, CDD trước tải và tải trước CDD. Granger cũng có ý nghĩa ở cả hai chiều, p nhỏ hơn 0,001. Nhưng "tải điện gây ra nhiệt độ" là vô lý. Hình trái giải thích: trục ngang là giờ UTC, trục dọc là giá trị chuẩn hoá; tải và nhiệt độ theo cùng một nhịp 24 giờ. Nhịp ngày là biến gây nhiễu, điều khiển cả hai.</a:t>
            </a:r>
          </a:p>
          <a:p/>
          <a:p>
            <a:r>
              <a:t>Ba điều kiện khi dùng Granger: chạy cả hai chiều; chuỗi phải dừng, sai phân trước; và hỏi thêm lúc ra dự báo ta có biết giá trị tương lai của X không.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là chỗ dễ sai nhất: grangercausalitytests hỏi cột 2 có giúp dự báo cột 1 không. Nên ta xếp kết quả vào cột 1, nguyên nhân nghi ngờ vào cột 2; đảo thứ tự là trả lời câu hỏi ngược. Dòng 7 lấy p nhỏ nhất của kiểm định F qua các độ trễ 1 tới 4.</a:t>
            </a:r>
          </a:p>
          <a:p/>
          <a:p>
            <a:r>
              <a:t>Dòng 10 và 11 hỏi cả hai chiều: CDD giúp dự báo tải không, và tải giúp dự báo CDD không. Dòng 13 và 14 đi tìm biến thứ ba: trung bình tải và nhiệt độ theo giờ trong ngày, chuẩn hoá để cùng thang, ra hai đường gần trùng nhau.</a:t>
            </a:r>
          </a:p>
          <a:p/>
          <a:p>
            <a:r>
              <a:t>Kết quả: cả hai chiều p gần 0, kể cả "tải giúp dự báo nhiệt độ". Vô lý, vì cả hai cùng chạy theo nhịp ngày. Granger có ý nghĩa hai chiều là tín hiệu đi tìm biến gây nhiễu.</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8 có nhiều công cụ. Slide này xếp chúng thành tám câu hỏi theo thứ tự nên hỏi.</a:t>
            </a:r>
          </a:p>
          <a:p/>
          <a:p>
            <a:r>
              <a:t>Một, quan hệ trông ra sao: luôn vẽ scatter trước khi tin một hệ số. Hai, thẳng hàng hay chỉ cùng tăng: Pearson hay Spearman. Ba, hai chuỗi có cùng trôi theo thời gian không: đo lại trên sai phân và xem Durbin–Watson; CPI với dân số Mỹ đi từ 0,97 xuống còn âm 0,21. Bốn, quan hệ cong hay đổi dấu: tách CDD, HDD, hoặc đo mutual information rồi kiểm bằng hoán vị theo khối.</a:t>
            </a:r>
          </a:p>
          <a:p/>
          <a:p>
            <a:r>
              <a:t>Hàng dưới. Năm, ai đi trước và trước bao lâu: prewhiten cả hai chuỗi bằng cùng một bộ lọc rồi mới đọc tương quan chéo. Sáu, quan hệ có giữ nguyên cả năm không: tương quan trượt; đổi dấu theo mùa thì tách riêng từng mùa. Bảy, quá khứ của x có giúp đoán y không: Granger, chạy cả hai chiều, và nhớ nó chỉ nói “giúp dự báo”. Tám, lúc dự báo thật đã có x trong tay chưa: nếu chưa, chỉ được dùng bản dự báo của x, chuyện của buổi 13.</a:t>
            </a:r>
          </a:p>
          <a:p/>
          <a:p>
            <a:r>
              <a:t>(dừng) Đừng tin hệ số tương quan ngay; đi qua đủ tám câu thì mới dùng x làm feature.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48.000 chuỗi thì không ai xem từng hình. Chuỗi nào khó, chuỗi nào giống nhau?</a:t>
            </a:r>
          </a:p>
          <a:p/>
          <a:p>
            <a:r>
              <a:t>Ta tóm mỗi chuỗi thành vài con số gọi là đặc trưng, như CV, r1, entropy. Mỗi chuỗi thành một hàng số, cả tập thành một bảng.</a:t>
            </a:r>
          </a:p>
          <a:p/>
          <a:p>
            <a:r>
              <a:t>Đặc trưng tốt phải không đổi theo đơn vị. Ví dụ chuỗi a là 2, 4, 6, 4 lặp lại, và chuỗi 1.000 lần a. Trung bình là 4 và 4.000, đổi theo đơn vị. CV là 1,51 chia 4 và 1.512 chia 4.000, cùng bằng 0,378. Nhân chuỗi với 1.000 mà đặc trưng đổi theo thì nó đang đo độ lớn, không đo hình dạng. Trong 20 đặc trưng của buổi, chỉ trung bình và độ lệch chuẩn đổi.</a:t>
            </a:r>
          </a:p>
          <a:p/>
          <a:p>
            <a:r>
              <a:t>(chỉ vào hình) Ô trái, hai chuỗi cùng hình nhưng một chuỗi lớn gấp 100 lần. Ô phải, sau z-score hai đường trùng khít. Code chạy STL trên chuỗi đã z-score để nhóm đặc trưng xu hướng cũng không đổi.</a:t>
            </a:r>
          </a:p>
          <a:p/>
          <a:p>
            <a:r>
              <a:t>Và tính mọi chuỗi trên cùng độ dài.</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Hàm dac_trung biến một chuỗi thành một hàng số; ở đây là 6 trong 20 đặc trưng. Dòng 7: chuẩn hoá z-score trước khi chạy STL, để độ mạnh mùa vụ không tính bằng USD. Dòng 8 đến 10: gắn lịch tháng rồi tách xu hướng, mùa vụ, phần dư bằng STL. Dòng 11 đến 15: mỗi đặc trưng một con số: trung bình, hệ số biến thiên, hệ số lệch và độ nhọn để đo đuôi, độ mạnh mùa vụ tính như F_S, tỷ lệ số 0.</a:t>
            </a:r>
          </a:p>
          <a:p/>
          <a:p>
            <a:r>
              <a:t>Dòng 16 là chi tiết trung thực: chỉ tính trên phần học, bỏ 18 tháng dùng để chấm, để đặc trưng không nhìn thấy tương lai.</a:t>
            </a:r>
          </a:p>
          <a:p/>
          <a:p>
            <a:r>
              <a:t>Kết quả: nhân mọi chuỗi với 1.000 thì chỉ trung bình và độ lệch chuẩn đổi, 18 đặc trưng còn lại giữ nguyên. Bảng này còn cho thấy 1 chuỗi hằng và 50 chuỗi bậc thang, những chuỗi hỏng cần xem riêng.</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nhìn chuỗi theo nhịp lặp thay vì theo thời gian. Tần số là số vòng lặp mỗi bước, bằng 1 chia chu kỳ.</a:t>
            </a:r>
          </a:p>
          <a:p/>
          <a:p>
            <a:r>
              <a:t>Nhìn hình: sóng trên lặp mỗi 12 tháng, tần số 1 chia 12, khoảng 0,083 vòng mỗi tháng. Sóng dưới lặp mỗi 2 tháng, tần số 0,5, nhanh nhất mà dữ liệu tháng thể hiện được.</a:t>
            </a:r>
          </a:p>
          <a:p/>
          <a:p>
            <a:r>
              <a:t>Phổ, hay periodogram, cho biết mỗi tần số góp bao nhiêu phần dao động, gọi là năng lượng. Tần số thấp là dao động chậm như xu hướng, mùa năm; tần số giữa là nhịp ngày, nhịp tuần; tần số cao thường là nhiễu. Ví dụ ở buổi 12: phổ điện thiết bị có đỉnh ở một vòng mỗi ngày, và 17,8% năng lượng nằm ở dao động nhanh hơn một giờ. Phổ cho ta biết nhịp nào là tín hiệu cần giữ, nhịp nào là nhiễu có thể lọc.</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Chuỗi này có nhịp đều để khai thác, hay gần như ngẫu nhiên?</a:t>
            </a:r>
          </a:p>
          <a:p/>
          <a:p>
            <a:r>
              <a:t>Phổ cho biết mỗi tần số góp bao nhiêu năng lượng. Ta đổi phổ thành các phần cộng lại bằng 1, như chia một chiếc bánh. Spectral entropy đo bánh chia đều tới đâu: 0 là dồn vào một đĩa, 1 là chia đều. Công thức cộng trừ p nhân log p của từng phần, rồi chia cho log số tần số để kết quả nằm từ 0 tới 1. Ví dụ phổ bốn tần số: dồn cả vào một tần số thì entropy 0, hai nhịp chia đôi thì 0,5, mỗi tần số một phần tư thì 1.</a:t>
            </a:r>
          </a:p>
          <a:p/>
          <a:p>
            <a:r>
              <a:t>(chỉ vào hàng dưới) Chuỗi mùa vụ 12 tháng dồn gần hết vào một cột, entropy 0,33. Nhiễu thuần trải đều, entropy 0,94. Trên 4.000 chuỗi M4, trung vị là 0,462.</a:t>
            </a:r>
          </a:p>
          <a:p/>
          <a:p>
            <a:r>
              <a:t>Nhờ vậy ta xếp hạng độ khó hàng nghìn chuỗi mà chưa chạy mô hình nào.</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spectral entropy chỉ trong bốn dòng. Dòng 5: signal.welch ước lượng phổ bằng cách chia chuỗi thành nhiều đoạn chồng nhau rồi lấy trung bình phổ của các đoạn. Dòng 6 bỏ tần số 0, vì đó chỉ là mức trung bình. Dòng 7 chia cho tổng để các phần năng lượng cộng lại bằng 1. Dòng 8 là entropy của các phần đó, chia cho ln của số tần số để luôn nằm trong 0 tới 1.</a:t>
            </a:r>
          </a:p>
          <a:p/>
          <a:p>
            <a:r>
              <a:t>Dòng 11 đến 13 so chuỗi sin 12 tháng có nhiễu nhỏ với nhiễu thuần: 0,33 và 0,94, đúng hình vừa xem. Dòng 14 và 15 xem phân bố trên 4.000 chuỗi M4: trung vị 0,462, và một phần năm số chuỗi từ 0,666 trở lên. Nhóm entropy cao đó giống nhiễu, là nhóm khoanh lại để xét có đáng làm mô hình hay chỉ cần baseline.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biết entropy có báo trước độ khó không, trước hết phải đo độ khó cho đúng.</a:t>
            </a:r>
          </a:p>
          <a:p/>
          <a:p>
            <a:r>
              <a:t>Nhìn hình: trục ngang ở cả hai ô là entropy, đường cam nối trung vị của năm nhóm. Ô trái là sMAPE: đường cam đi lên, nhóm entropy cao nhất có sai số trung vị gấp đôi các nhóm còn lại. Ô phải là MASE: mọi nhóm nằm ngang quanh vạch 1.</a:t>
            </a:r>
          </a:p>
          <a:p/>
          <a:p>
            <a:r>
              <a:t>Vì sao? MASE chia sai số cho sai số seasonal naive của chính chuỗi đó. Chuỗi khó thì mẫu số cũng lớn, nên độ khó tự triệt tiêu. Tương quan với entropy: sMAPE cộng 0,245, MASE chia seasonal naive chỉ âm 0,048, còn chia naive một bước thì ra âm 0,381. (dừng) Cùng dữ liệu, chỉ đổi mẫu số mà kết luận đi từ dương qua 0 tới âm.</a:t>
            </a:r>
          </a:p>
          <a:p/>
          <a:p>
            <a:r>
              <a:t>Có người giải thích việc đổi sang sMAPE là vì phần trăm dễ nói với người không chuyên. Lý do thật không phải vậy, mà là mẫu số: MASE đã chia mất độ khó.</a:t>
            </a:r>
          </a:p>
          <a:p/>
          <a:p>
            <a:r>
              <a:t>Nên nhớ: MASE để so mô hình trên cùng một chuỗi, sMAPE để xếp độ khó giữa các chuỗi dương.</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xem bằng code chỉ đổi mẫu số thì kết luận đổi ra sao.</a:t>
            </a:r>
          </a:p>
          <a:p/>
          <a:p>
            <a:r>
              <a:t>Dòng 5 đến 7 là sMAPE: chia sai số cho mức của chuỗi, có np.where để khỏi chia cho 0. Dòng 8 đến 10 là MASE: chia cho sai số seasonal naive tính trên phần học. Dòng 13 đến 14 giữ 18 tháng cuối để chấm, và dự báo bằng cách lặp lại năm cuối; hàm np.resize làm việc lặp 12 tháng thành 18 tháng. Dòng 16 tính tương quan Pearson giữa entropy và độ khó.</a:t>
            </a:r>
          </a:p>
          <a:p/>
          <a:p>
            <a:r>
              <a:t>Kết quả: ví dụ tay với hai chuỗi, MASE nói B dễ hơn A, 0,92 so với 1,00, còn sMAPE nói B khó hơn hẳn, 76,2% so với 6,7%. Trên cả tập, tương quan với entropy là cộng 0,245 theo sMAPE và âm 0,048 theo MASE. Hai thước đo trả lời hai câu hỏi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độ khó rồi, giờ chúng ta muốn nhìn cả 4.000 chuỗi M4 trên một hình.</a:t>
            </a:r>
          </a:p>
          <a:p/>
          <a:p>
            <a:r>
              <a:t>Chúng ta giữ 15 đặc trưng không phụ thuộc đơn vị, chuẩn hoá từng cột, rồi dùng PCA, phép chiếu giữ nhiều khác biệt nhất, để nén về hai trục. Mỗi chấm là một chuỗi. Trục ngang PC1 giữ 41% khác biệt, là độ lởm chởm: phải là chuỗi lởm chởm, trái là chuỗi trơn. Trục dọc PC2 thêm 15%, là mức xu hướng và mùa vụ.</a:t>
            </a:r>
          </a:p>
          <a:p/>
          <a:p>
            <a:r>
              <a:t>Ba ô cùng vị trí chấm, chỉ khác màu: entropy, F_S và sMAPE. (chỉ vào phía phải) Vùng phải sáng ở ô entropy cũng sáng ở ô sMAPE và tối ở ô F_S: chuỗi lởm chởm, mùa vụ yếu là chuỗi khó. Quy tắc thực hành: entropy từ 0,666 trở lên và F_S dưới 0,4 thì chỉ cần baseline. Còn mấy chấm lẻ ở góc trên phải là chuỗi lạ, phải xem tận mắt.</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làm bản đồ và tách nhóm dùng baseline.</a:t>
            </a:r>
          </a:p>
          <a:p/>
          <a:p>
            <a:r>
              <a:t>Dòng 5 đến 7 chọn cột: chỉ giữ đặc trưng đủ số, bỏ hai cột quy mô, và bỏ cột sai số. Bỏ cột sai số là quan trọng: để sai số lẫn vào bản đồ thì bản đồ tự "biết" chuỗi nào khó, đó là rò rỉ. Dòng 8 dùng StandardScaler để cột có số to không lấn át. Dòng 9 đến 11 nén về hai trục, explained_variance_ratio_ cho biết mỗi trục giữ bao nhiêu phần trăm. Dòng 13 đến 14 gắn nhãn "dùng baseline" theo quy tắc entropy và F_S, dòng 15 kiểm lại bằng sMAPE thật.</a:t>
            </a:r>
          </a:p>
          <a:p/>
          <a:p>
            <a:r>
              <a:t>Kết quả: PC1 giữ 41%, PC2 15%. 137 chuỗi dùng baseline có sMAPE trung vị 18,11%, gấp ba nhóm 3.863 chuỗi còn lại, 6,05%. Quy tắc tách đúng nhóm khó.</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nhóm theo đặc trưng. Còn muốn gom các chuỗi cùng hình dạng thì dùng DTW.</a:t>
            </a:r>
          </a:p>
          <a:p/>
          <a:p>
            <a:r>
              <a:t>DTW đo hai chuỗi giống hình dạng tới đâu, cho phép lệch thời gian đôi chút, ví dụ đỉnh Tết năm sớm năm muộn. Chuỗi “tăng, giảm, tăng” và cùng hình đó nhưng chậm vài bước thì DTW coi là giống nhau. Nhưng DTW so giá trị, nên phải chuẩn hoá z-score từng chuỗi trước.</a:t>
            </a:r>
          </a:p>
          <a:p/>
          <a:p>
            <a:r>
              <a:t>Nhìn hình: mỗi cột là một cụm. Hàng trên phân cụm sau chuẩn hoá, ra bốn hình dạng: giảm, tăng đều, bướu giữa, dao động quanh mức. Hàng dưới không chuẩn hoá: các đường trong mỗi ô na ná nhau, chỉ có thang trục dọc tăng dần từ trái sang phải. Mức trung vị bốn cụm là 1.585, 3.310, 6.835, 9.832, tức là đang xếp theo độ lớn, việc một phép sort cũng làm được.</a:t>
            </a:r>
          </a:p>
          <a:p/>
          <a:p>
            <a:r>
              <a:t>Kiểm nhanh: mức trung vị các cụm tăng đều thì bạn đã quên chuẩn hoá.</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phân cụm DTW, có công tắc chuẩn hoá để so hai trường hợp.</a:t>
            </a:r>
          </a:p>
          <a:p/>
          <a:p>
            <a:r>
              <a:t>Dòng 7 đến 8 là hàm z: trừ trung bình, chia độ lệch chuẩn, bỏ độ lớn chỉ giữ hình dạng. Dòng 10 chọn có chuẩn hoá hay không. Dòng 11 tính khoảng cách DTW giữa mọi cặp chuỗi, cửa sổ 10 nghĩa là cho lệch tối đa 10 bước. Dòng 12 đến 13 sửa ma trận: thư viện chỉ điền một nửa, nên đổi vô cực thành 0 rồi cộng với chuyển vị cho đối xứng. Dòng 14 đến 16: linkage theo Ward gộp dần hai nhóm gần nhau nhất, fcluster cắt cây ra đúng 4 cụm.</a:t>
            </a:r>
          </a:p>
          <a:p/>
          <a:p>
            <a:r>
              <a:t>Kết quả: không chuẩn hoá thì mức trung vị các cụm tăng đều từ 1.585 tới 9.832, chỉ là xếp theo độ lớn. Chuẩn hoá thì bốn cụm là bốn hình dạng.</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bán lẻ, cách phân loại mã hàng quen thuộc là ABC–XYZ. Nó trả lời hai câu hỏi khác nhau, và cả hai đều không phải "chuỗi nào khó".</a:t>
            </a:r>
          </a:p>
          <a:p/>
          <a:p>
            <a:r>
              <a:t>ABC xếp theo doanh thu. Nhìn ô phải, dòng A: một phần năm số mã mang 74,7% doanh thu. Đó là nơi dự báo sai đắt nhất, đáng làm mô hình kỹ nhất. XYZ xếp theo CV, độ lệch chuẩn chia trung bình, tức chỉ đo dao động.</a:t>
            </a:r>
          </a:p>
          <a:p/>
          <a:p>
            <a:r>
              <a:t>Dao động không phải độ khó. Chuỗi 10, 30, 10, 30 có CV 0,58, khá cao, nhưng mùa vụ đều đặn nên rất dễ đoán. Muốn đo độ khó thì dùng sai số thật của một baseline.</a:t>
            </a:r>
          </a:p>
          <a:p/>
          <a:p>
            <a:r>
              <a:t>Cách nhớ: ABC hỏi cái nào quan trọng, CV hỏi cái nào dao động, sai số baseline mới hỏi cái nào khó.</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bảng ABC–XYZ rồi kiểm CV có đo được độ khó không.</a:t>
            </a:r>
          </a:p>
          <a:p/>
          <a:p>
            <a:r>
              <a:t>Dòng 4 đến 6 tổng hợp từng mã hàng bằng groupby và agg, chỉ giữ mã có đủ 12 tháng. Dòng 7 tính CV. Dòng 8 đến 9 xếp theo doanh thu: 20% mã đầu là A, 30% tiếp là B, còn lại C. Dòng 10 đến 11 chia X, Y, Z theo CV, rồi unstack thành bảng 3 nhân 3. Dòng 13 đến 14 đối chiếu CV với sMAPE thật trên 4.000 chuỗi M4 bằng tương quan Spearman.</a:t>
            </a:r>
          </a:p>
          <a:p/>
          <a:p>
            <a:r>
              <a:t>Kết quả: 2.773 mã hàng, nhóm A mang 74,7% doanh thu, ô CZ đông gần gấp bốn ô AX. Trên M4, Spearman giữa CV và sMAPE là 0,765, khá cao, nhưng CV vẫn xếp sai đúng loại chuỗi mùa vụ đều. Nên dùng CV để sàng sơ bộ, không thay được sai số baseline.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sang buổi 13: tạo feature. Feature là một cột đầu vào của mô hình, và chỉ có một quy tắc: mỗi feature phải trả lời được "biết trước bao lâu".</a:t>
            </a:r>
          </a:p>
          <a:p/>
          <a:p>
            <a:r>
              <a:t>Có ba nhóm hợp lệ. Lịch, như thứ, giờ, ngày lễ, biết mãi mãi. Kế hoạch, như khuyến mãi đã công bố, biết từ lúc công bố. Quá khứ của chuỗi thì chỉ biết tới thời điểm ra dự báo, nên phải cách mốc cần dự báo ít nhất h bước.</a:t>
            </a:r>
          </a:p>
          <a:p/>
          <a:p>
            <a:r>
              <a:t>Nhìn hình: hai thanh là hai nhóm. 41 feature của buổi 13 có 23 cột lịch và 18 cột lấy từ quá khứ, không cột nào nằm ngoài. Feature nào không xếp được vào ba nhóm là nghi rò rỉ.</a:t>
            </a:r>
          </a:p>
          <a:p/>
          <a:p>
            <a:r>
              <a:t>Bảng "biết trước bao lâu" nộp kèm mô hình, để người xem lại bắt được rò rỉ mà không cần đọc code.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đặt câu hỏi "lúc ra dự báo tôi đã có nó chưa" cho từng feature.</a:t>
            </a:r>
          </a:p>
          <a:p/>
          <a:p>
            <a:r>
              <a:t>Dòng 3 đến 4: tối thứ Hai chúng ta dự báo doanh thu thứ Ba, tức h bằng 1. Dòng 5: thứ của ngày mai là lịch, biết từ trước. Dòng 6 đến 7 so hai cách lấy trung bình: y cắt tới t chỉ gồm các ngày đã biết, còn y.mean() gồm cả những ngày chưa xảy ra. Dòng 9 đến 16 là hàm bang_biet_truoc, xếp feature vào nhóm theo tên cột; đuôi _that là giá trị thật, bị loại.</a:t>
            </a:r>
          </a:p>
          <a:p/>
          <a:p>
            <a:r>
              <a:t>Kết quả: trung bình 189 ngày đã biết là 27.701, còn trung bình cả chuỗi là 33.454, vì gồm 550 ngày chưa xảy ra. Đó là rò rỉ bằng một dòng code. Và lưu ý: cột z_score lọt vào nhóm "vô hạn" chỉ vì tên không theo quy ước. Tên sai thì bảng sai, nên đặt tên cột cẩn thận.</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nhìn về một điểm quá khứ, ví dụ lag_7 của thứ Hai là giá trị thứ Hai tuần trước. Rolling lấy trung bình một vùng gần đây. Khi dự báo trước h bước thì phải shift h trước, rolling sau.</a:t>
            </a:r>
          </a:p>
          <a:p/>
          <a:p>
            <a:r>
              <a:t>Nhìn bảng: h bằng 3, chuỗi 10, 20 tới 60. Dòng xanh là đúng thứ tự: shift 3 rồi rolling 2 cho ngày 6 giá trị 25, là trung bình ngày 2 và 3, đã biết từ ngày 3. Dòng đỏ là quên shift: rolling 2 cho ngày 6 giá trị 55, trung bình ngày 5 và 6. (dừng) Lúc ra dự báo, tức ngày 3, chúng ta chưa có hai ngày đó. Đó là rò rỉ.</a:t>
            </a:r>
          </a:p>
          <a:p/>
          <a:p>
            <a:r>
              <a:t>Lỗi này không báo lỗi gì cả, chỉ làm backtest đẹp giả tạo.</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cho thấy bằng số vì sao phải shift trước, rồi gói thành hàm tạo feature.</a:t>
            </a:r>
          </a:p>
          <a:p/>
          <a:p>
            <a:r>
              <a:t>Dòng 2 là sáu ngày doanh thu, dự báo trước 1 ngày. Dòng 3 đến 5 là ba cách tính trung bình 3 ngày: có tâm thì nhìn cả ngày sau, không shift thì chứa chính ngày t, chỉ dòng 5 là đúng. Hàm feature_tre ở dưới: dòng 9 lùi chuỗi tam bước trước khi làm gì khác; dòng 10 đến 11, lag nhỏ hơn tầm dự báo bị nâng lên bằng tam; dòng 12 đến 14, mọi rolling tính trên chuỗi đã lùi.</a:t>
            </a:r>
          </a:p>
          <a:p/>
          <a:p>
            <a:r>
              <a:t>Kết quả ngày 4: có tâm ra 14, không shift ra 11,33, shift đúng ra 10. Phép thử: cắt bớt dữ liệu tương lai rồi tính lại feature. Bản shift lệch 0, bản có tâm lệch tới 5.113. Feature đổi khi cắt tương lai tức là feature đang nhìn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lịch biết trước mãi mãi, nhưng phải đưa vào theo cách mô hình hiểu được.</a:t>
            </a:r>
          </a:p>
          <a:p/>
          <a:p>
            <a:r>
              <a:t>Ghi thứ là số 1 tới 7 thì Chủ nhật cách thứ Hai rất xa, dù thực tế chúng liền nhau. Một cặp sin, cos đặt các thứ lên vòng tròn, Chủ nhật đứng cạnh thứ Hai. Mùa vụ dài 365 ngày thì dùng vài cặp Fourier thay vì 365 biến giả.</a:t>
            </a:r>
          </a:p>
          <a:p/>
          <a:p>
            <a:r>
              <a:t>Tết âm lịch khó hơn. Nhìn ô trái: chấm xanh là Tết âm lịch, xê dịch gần một tháng giữa các năm dương. Nên không ghi cứng ngày mà tính số ngày tới Tết, theo múi giờ Việt Nam; thư viện lịch Trung Quốc dùng UTC+8 có năm lệch một ngày. Ô phải xếp theo số ngày tới Tết: lượt xem Wikipedia còn 0,62 lần mức thường vào mùng 1.</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mã hoá lịch.</a:t>
            </a:r>
          </a:p>
          <a:p/>
          <a:p>
            <a:r>
              <a:t>Dòng 3 đến 5 đặt thứ Bảy, Chủ nhật, thứ Hai lên vòng tròn bằng sin và cos của 2 pi nhân số thứ chia 7. Dòng 6 dùng np.linalg.norm đo khoảng cách Chủ nhật tới thứ Hai. Hàm feature_fourier: dòng 9 đổi ngày thành số ngày kể từ đầu chuỗi; dòng 11 đến 13, mỗi i thêm một cặp sóng lặp i lần mỗi năm, K bằng 3 cho 6 cột. Dòng 16 đếm số ngày tới mùng 1 Tết gần nhất theo lịch âm.</a:t>
            </a:r>
          </a:p>
          <a:p/>
          <a:p>
            <a:r>
              <a:t>Kết quả: Chủ nhật cách thứ Hai 0,868, đúng bằng khoảng cách thứ Bảy tới Chủ nhật. Thêm 5 feature Tết: cả năm chỉ tốt hơn 1,9%, nhưng quanh Tết tốt hơn 16,9%. Bài học: báo cải thiện ở đúng vùng feature có tác dụng, báo trung bình cả năm sẽ loại oan nó.</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hoá cả tập dữ liệu rồi mới chia học và kiểm. Tương lai lọt vào ở đâu?</a:t>
            </a:r>
          </a:p>
          <a:p/>
          <a:p>
            <a:r>
              <a:t>Lấy sáu ngày doanh thu 10, 12, 8, 14, 20, 16. Trung bình cả sáu ngày là 13,33, đã chứa hai ngày cuối. Vậy khi ngày 1 được chuẩn hoá và biết mình thấp hơn trung bình, nó đã biết các ngày sau cao. Target encoding cũng vậy: trung bình nhóm A là 12,67, tính gộp cả số 20 của ngày 5, rồi gán ngược cho ngày 1.</a:t>
            </a:r>
          </a:p>
          <a:p/>
          <a:p>
            <a:r>
              <a:t>Kiểu thứ ba các bạn đã gặp ở buổi 10. (chỉ vào hình) Nội suy hai phía điền ô trống bằng cách nhìn sang số bên phải mốc cắt, còn ffill chỉ nhìn quá khứ. Rò rỉ này chỉ thấy ở mép lỗ, những ngày không thiếu thì hai cách giống hệt nhau.</a:t>
            </a:r>
          </a:p>
          <a:p/>
          <a:p>
            <a:r>
              <a:t>Cách sửa chung: tính mọi tham số, trung bình, độ lệch chuẩn hay trung bình nhóm, chỉ trên phần học hoặc từ những ngày trước t.</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feature, không ai đọc hết từng dòng code. Máy kiểm rò rỉ giúp được không? Được, bằng hai bài kiểm.</a:t>
            </a:r>
          </a:p>
          <a:p/>
          <a:p>
            <a:r>
              <a:t>Bài thứ nhất, cắt tương lai: tính feature trên dữ liệu đầy đủ, cắt tại một mốc, tính lại, so mọi dòng trước mốc. Cắt sau ngày thứ tư thì cột trung bình có tâm đổi từ 14 thành NaN, còn cột đã shift giữ nguyên.</a:t>
            </a:r>
          </a:p>
          <a:p/>
          <a:p>
            <a:r>
              <a:t>Nhưng cắt ở đâu thì lag_1 vẫn y như nhau, nên cần bài thứ hai là nhiễu mục tiêu. (chỉ vào hình) Ô trên, y bị cộng nhiễu từ vạch đứt. Ô dưới, mỗi vạch là một dòng có feature đổi. Vùng xanh là các dòng mà lúc ra dự báo, tức 3 bước trước, nhiễu chưa xảy ra. lag_1 đổi ngay trong vùng xanh nên bị bắt, lag_3 chỉ đổi sau vùng đó. Với tầm dự báo 24 giờ, lag_1 đổi ở 23 dòng ngay sau mốc.</a:t>
            </a:r>
          </a:p>
          <a:p/>
          <a:p>
            <a:r>
              <a:t>Bài kiểm xanh chỉ nói không thấy rò rỉ ở những mốc đã cắt.</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Tối nay dự báo tải điện trưa mai. Nhiệt độ trưa mai trong tay ta là số nào? Là bản dự báo, không phải số thật.</a:t>
            </a:r>
          </a:p>
          <a:p/>
          <a:p>
            <a:r>
              <a:t>Nhiệt độ ở đây là biến ngoại sinh, biến ngoài chuỗi dùng làm feature. Trưa mai thật 35 °C, nhưng tối nay ta chỉ có bản dự báo 33 °C, nên feature phải là 33. Dùng bản có trong tay lúc dự báo gọi là ex-ante. Dùng số thật biết về sau là ex-post, và trong backtest đó là rò rỉ.</a:t>
            </a:r>
          </a:p>
          <a:p/>
          <a:p>
            <a:r>
              <a:t>(chỉ vào hình) Ô trái là nhiệt độ Dallas nửa đầu tháng 7 năm 2024: đường đen là thật, xanh là dự báo trước 1 ngày, cam là trước 3 ngày. Ô phải là phân phối sai số. Dự báo trước 1 ngày sai trung bình 1,32 °C, trước 3 ngày 2,07 °C.</a:t>
            </a:r>
          </a:p>
          <a:p/>
          <a:p>
            <a:r>
              <a:t>Với từng biến, các bạn hỏi: lúc ra dự báo, con số này đã có chưa?</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Hết phần A về khái niệm. Phần B là các vấn đề dữ liệu, đi theo thứ tự buổi 3 tới 13.</a:t>
            </a:r>
          </a:p>
          <a:p/>
          <a:p>
            <a:r>
              <a:t>Mỗi slide vấn đề có ba thẻ: dấu hiệu, tức thấy gì thì nên nghi; kiểm bằng, tức con số hay lệnh nào xác nhận nghi ngờ; và cách sửa. Khi gặp dữ liệu mới, các bạn có thể dùng đúng ba câu hỏi này làm danh sách kiểm.</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đi từng vấn đề, nhìn bức tranh chung.</a:t>
            </a:r>
          </a:p>
          <a:p/>
          <a:p>
            <a:r>
              <a:t>Cách đọc: mỗi dòng là một loại vấn đề, mỗi cột là một buổi, chấm cam là buổi dạy cách nhận ra và sửa nó. Đọc theo dòng để biết một vấn đề quay lại ở đâu.</a:t>
            </a:r>
          </a:p>
          <a:p/>
          <a:p>
            <a:r>
              <a:t>Dòng tô nền là rò rỉ tương lai, dùng thông tin chưa có lúc dự báo: gặp ở 8 buổi, nhiều nhất bảng. Mỗi lần một dạng khác: sai số ảo ở buổi 1, lambda Box-Cox tính trên cả chuỗi ở buổi 5, điền thiếu trước khi chia tập ở buổi 10, feature không shift ở buổi 13, chia dữ liệu ngẫu nhiên ở buổi 15. Dòng thứ hai đáng nhớ là thiếu dữ liệu, gặp ở 5 buổi.</a:t>
            </a:r>
          </a:p>
          <a:p/>
          <a:p>
            <a:r>
              <a:t>Nghĩa là: đừng coi rò rỉ là một bước kiểm một lần, nó có mặt ở gần như mọi khâu.</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Vấn đề đầu tiên, buổi 3: múi giờ. Khi làm dữ liệu, lưu tâm múi giờ trước tiên.</a:t>
            </a:r>
          </a:p>
          <a:p/>
          <a:p>
            <a:r>
              <a:t>Dấu hiệu: nhìn hình trái, đếm chuyến taxi New York theo giờ địa phương naive. Rạng sáng Chủ nhật 10/3, giờ 02:00 có 0 chuyến, vì giờ đó không tồn tại khi vặn đồng hồ. Ngày 3/11, giờ 01:00 có 9.869 chuyến, gần gấp đôi cùng giờ tuần sau, vì hai giờ thật bị gộp làm một. Hình phải: ghép taxi giờ địa phương với thời tiết giờ UTC thì New York "nóng nhất lúc 20h", đường cam trượt phải khoảng 4 giờ.</a:t>
            </a:r>
          </a:p>
          <a:p/>
          <a:p>
            <a:r>
              <a:t>Kiểm bằng: in 00:00 tới 05:00 của ngày đổi giờ, và xem giờ nóng nhất có rơi vào buổi chiều không.</a:t>
            </a:r>
          </a:p>
          <a:p/>
          <a:p>
            <a:r>
              <a:t>Sửa: gắn múi giờ, đổi sang UTC, rồi mới gộp và ghép. Bỏ qua thì ghép lệch không báo lỗi mà lặng lẽ dời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tái hiện lỗi: đếm thẳng trên giờ không có múi giờ.</a:t>
            </a:r>
          </a:p>
          <a:p/>
          <a:p>
            <a:r>
              <a:t>Dòng 3 đến 5 đọc giờ đón và giờ trả của tháng 3 và tháng 11, chỉ lấy hai cột cho nhanh. Dòng 7 đến 8 là hàm dem_naive: đặt giờ đón làm chỉ mục, resample theo giờ rồi đếm số dòng. Dòng 10 đến 11 xem quanh hai ngày vặn đồng hồ. Dòng 12 lấy cùng giờ tuần sau làm mốc so. Dòng 14 tìm chuyến có giờ trả trước giờ đón.</a:t>
            </a:r>
          </a:p>
          <a:p/>
          <a:p>
            <a:r>
              <a:t>Kết quả: giờ 02:00 ngày 10/3 có 0 chuyến; giờ 01:00 ngày 3/11 có 9.869 chuyến, trong khi tuần sau chỉ 5.318. Còn chuyến có thời lượng âm, khách xuống xe trước khi lên, là dấu hiệu trừ thẳng hai giờ naive qua lúc vặn đồng hồ. Code không báo lỗi nào, chỉ có số là sai.</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cách sửa: đưa cả hai bảng về UTC rồi mới ghép.</a:t>
            </a:r>
          </a:p>
          <a:p/>
          <a:p>
            <a:r>
              <a:t>Dòng 5: thời tiết vốn là UTC, chỉ cần ghi rõ bằng tz_localize. Dòng 6 đến 7: taxi gắn giờ New York rồi đổi sang UTC; giờ không tồn tại hay giờ lặp thì ghi NaT thay vì đoán. Dòng 8 đến 9 đếm chuyến mỗi giờ UTC rồi ghép với thời tiết. Dòng 10 đến 11 là phép thử: giờ nóng nhất phải là buổi chiều. Dòng 13 đến 16: khi bảng phải thưa, dùng merge_asof, mặc định lấy dòng gần nhất ở trước, tức chỉ nhìn quá khứ.</a:t>
            </a:r>
          </a:p>
          <a:p/>
          <a:p>
            <a:r>
              <a:t>Kết quả: giờ nóng nhất, ghép sai ra 20h, ghép đúng ra 16h. Tương quan mưa và số chuyến đổi dấu: ghép sai âm 0,100, ghép đúng cộng 0,136. merge_asof lấy giá 9 lúc 09:30, không lấy giá 10 của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4: gộp dữ liệu. Nhìn ba ô, cùng dữ liệu thuê xe ở ba mức gộp.</a:t>
            </a:r>
          </a:p>
          <a:p/>
          <a:p>
            <a:r>
              <a:t>Ô trên theo giờ, 17.544 điểm, thành một khối màu, không đọc được gì. Ô giữa theo ngày: thấy dao động trong tuần và những ngày rơi sát 0. Ô dưới theo tháng: mượt, đẹp, thấy xu hướng và mùa vụ năm, nhưng đã gộp mất mùa vụ ngày, tuần và các ngày bất thường.</a:t>
            </a:r>
          </a:p>
          <a:p/>
          <a:p>
            <a:r>
              <a:t>Dấu hiệu: kết luận "không có mùa vụ tuần" từ một hình như ô dưới; hoặc giờ thiếu hiện thành số 0. Kiểm bằng heatmap giờ nhân thứ và ACF tới trễ 168, và đếm NaN trên lưới giờ đầy đủ. Sửa: vẽ ở nhiều mức gộp. Khi cộng, dùng sum với min_count bằng 1, vì resample().sum() mặc định biến giờ thiếu thành 0 và kéo tổng xuống.</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hai điều: làm trơn xoá mất ngày bất thường, và thang log đo tăng theo phần trăm, như slide khái niệm đã nói.</a:t>
            </a:r>
          </a:p>
          <a:p/>
          <a:p>
            <a:r>
              <a:t>Dòng 4 cộng lượt thuê mỗi ngày, có min_count bằng 1 để ngày thiếu vẫn là NaN. Dòng 5 lấy trung bình trượt 7 ngày có tâm: 3 ngày trước, 3 ngày sau. Dòng 6 so ngày bão Sandy: số thật và số đã làm trơn. Dòng 8 lấy tổng tháng năm 2011. Dòng 9 đến 12 đặt cạnh nhau diff, tăng bao nhiêu lượt, và pct_change, tăng bao nhiêu phần trăm.</a:t>
            </a:r>
          </a:p>
          <a:p/>
          <a:p>
            <a:r>
              <a:t>Kết quả: ngày bão chỉ còn 1 giờ số liệu mà đường trơn vẫn hơn 4.600 lượt; ngày bất thường đã bị xoá. Tháng 4 so tháng 3 tăng 48,1%, tháng 5 so tháng 4 tăng 43,2%, dù tháng 5 thêm nhiều lượt nhất, 40.951. Thang thường nói tháng 5 tăng mạnh nhất, thang log nói tháng 4.</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đẹp chưa chắc đúng: đọc thang trước khi đọc đường.</a:t>
            </a:r>
          </a:p>
          <a:p/>
          <a:p>
            <a:r>
              <a:t>Hình trái: lượt thuê và nhiệt độ trên trục kép, hai trục dọc, trục trái cắt ở 90.000. Hai đường gần như đè nhau, trông như "lượt thuê bám sát nhiệt độ". Nhưng sự trùng khít là do chọn thang bên phải, còn trục cắt làm tháng 1 trông gần bằng 0.</a:t>
            </a:r>
          </a:p>
          <a:p/>
          <a:p>
            <a:r>
              <a:t>Dấu hiệu: hai trục dọc trên một hình, hoặc trục y không bắt đầu từ 0. Kiểm bằng cách đọc thang từng trục. Sửa: hình phải, tách hai hình, số đếm vẽ từ 0, nói về quan hệ bằng scatter. Scatter cho thấy quan hệ có thật, r bằng 0,91 qua 12 tháng, nhưng không tăng mãi: tháng 9 mát hơn tháng 7 khoảng 5 độ mà lượt thuê cao nhất năm. Trục kép giấu mất điều đó.</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Thay trục kép bằng con số: đo r, và thấy trộn hai năm làm quan hệ trông yếu đi.</a:t>
            </a:r>
          </a:p>
          <a:p/>
          <a:p>
            <a:r>
              <a:t>Dòng 4 đến 5 gộp theo tháng năm 2012, mỗi cột một kiểu: lượt thuê thì cộng, nhiệt độ thì lấy trung bình. Dòng 6 tính r qua 12 tháng. Dòng 8 đến 10 chuyển sang theo ngày và tính r riêng cho từng năm bằng groupby. Dòng 11 gộp hai năm rồi tính r để so. Dòng 14: muốn đặt hai chuỗi lên chung một trục thì đánh chỉ số, tháng đầu bằng 100.</a:t>
            </a:r>
          </a:p>
          <a:p/>
          <a:p>
            <a:r>
              <a:t>Kết quả: 12 tháng 2012, r bằng 0,91. Theo ngày, năm 2011 r bằng 0,771, năm 2012 bằng 0,714, nhưng gộp hai năm chỉ còn 0,627, vì cả đám chấm năm 2012 dời lên cao hơn. Scatter trộn nhiều năm thì tô màu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5. Doanh thu tăng có thể vì ba lý do: giá tăng, dân số tăng, hoặc mỗi người mua nhiều hơn thật.</a:t>
            </a:r>
          </a:p>
          <a:p/>
          <a:p>
            <a:r>
              <a:t>Hình phải: doanh số bán lẻ Mỹ, năm 1993 bằng 100. Danh nghĩa lên 416, trừ lạm phát còn 187, chia thêm dân số còn 142. "Tăng hơn 4 lần" chỉ còn tăng thật khoảng 42%.</a:t>
            </a:r>
          </a:p>
          <a:p/>
          <a:p>
            <a:r>
              <a:t>Vấn đề thứ hai, hình trái: mỗi chấm là một năm, ngang là mức, dọc là độ lệch chuẩn trong năm. Năm bán nhiều thì dao động cũng lớn, từ 15,6 lên 38,1 tỷ USD. Như slide khái niệm về log đã nói, log hoặc Box-Cox làm dao động đều lại.</a:t>
            </a:r>
          </a:p>
          <a:p/>
          <a:p>
            <a:r>
              <a:t>Kiểm bằng: so độ lệch chuẩn từng năm với mức, vẽ cạnh nhau chuỗi danh nghĩa và chuỗi thực. Sửa: log hoặc Box-Cox; chia CPI, dân số, và số ngày trong tháng. Khi báo "tăng bao nhiêu", nói rõ là danh nghĩa, thực, hay thực trên đầu người.</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đầu tiên: chia số ngày của tháng, vì tháng 2 ngắn nên mỗi năm "sụt" giả.</a:t>
            </a:r>
          </a:p>
          <a:p/>
          <a:p>
            <a:r>
              <a:t>Dòng 4 lấy ba tháng đầu năm 2023. Dòng 5 lấy số ngày lịch bằng days_in_month: 31, 28, 31. Dòng 6 đến 8 đếm số ngày không phải Chủ nhật, dùng MonthEnd để nhảy tới cuối tháng. Dòng 9 đến 10 tính doanh số mỗi ngày theo hai cách đếm. Dòng 11 so với tháng trước theo phần trăm.</a:t>
            </a:r>
          </a:p>
          <a:p/>
          <a:p>
            <a:r>
              <a:t>Kết quả: tháng 2 so tháng 1, tổng giảm 3,4% nhưng mỗi ngày lại tăng 7,0%: dấu đảo ngược. Tháng 3 so tháng 2: tăng 14,15% nếu so thẳng, 3,11% khi chia ngày, 1,47% khi bỏ Chủ nhật, và âm 1,05% theo chuỗi ADJUSTED. Cùng một câu hỏi, bốn câu trả lời. Và đừng dùng chuỗi ADJUSTED rồi lại chia số ngày, vì như vậy chênh lệch số ngày bị bỏ hai lần.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bóc lạm phát và dân số khỏi doanh số.</a:t>
            </a:r>
          </a:p>
          <a:p/>
          <a:p>
            <a:r>
              <a:t>Dòng 4 lấp đúng một tháng CPI không được công bố, tháng 10/2025, bằng interpolate với limit bằng 1. Dòng 5 đến 6 đổi ra giá năm gốc 2025: chia CPI của tháng đó, nhân CPI trung bình năm 2025. Dòng 7 chia dân số ra mức mỗi người. Dòng 8 đến 10 cộng thành tổng năm cho cả ba chuỗi. Dòng 11 đánh chỉ số 1993 bằng 100 để ba chuỗi khác đơn vị so được với nhau.</a:t>
            </a:r>
          </a:p>
          <a:p/>
          <a:p>
            <a:r>
              <a:t>Kết quả: chỉ số năm 2025 là 416 danh nghĩa, 187 giá thực, 142 thực trên đầu người. Tức là giá chung tăng 2,23 lần và dân số tăng 1,31 lần; phần còn lại mới là mỗi người mua nhiều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hai điều về log.</a:t>
            </a:r>
          </a:p>
          <a:p/>
          <a:p>
            <a:r>
              <a:t>Dòng 3 đến 4: 100 lên 120 và 1.000 lên 1.200 đều tăng 20%. Trên thang log cả hai cặp cách nhau đúng log của 1,2, tức 0,182. Log biến cùng phần trăm thành cùng khoảng cách, cửa hàng nhỏ và siêu thị được đối xử như nhau.</a:t>
            </a:r>
          </a:p>
          <a:p/>
          <a:p>
            <a:r>
              <a:t>Dòng 7 đến 8 cắt chuỗi bán lẻ 1992 tới 2019 thành bảng, mỗi dòng một năm, bằng reshape 12 cột. Dòng 9 đến 10 tính mức và độ lệch chuẩn của từng năm. Dòng 11 so năm cuối với năm đầu.</a:t>
            </a:r>
          </a:p>
          <a:p/>
          <a:p>
            <a:r>
              <a:t>Kết quả: mức gấp 3,1 lần, dao động gấp 2,4 lần. Dao động lớn lên theo mức, nhưng chậm hơn mức. Đó là lý do có khi log hơi quá tay, và Box-Cox cho chúng ta một núm vặn lambda ở giữa.</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trên thang log xong, chúng ta phải exp để về đơn vị gốc. Như slide khái niệm về log đã nói, log ép số lớn lại; exp thì kéo chúng giãn ra. Hệ quả: đổi ngược thẳng cho ra trung vị, không phải trung bình.</a:t>
            </a:r>
          </a:p>
          <a:p/>
          <a:p>
            <a:r>
              <a:t>Nhìn hình: histogram 100.000 mẫu. Vạch đen là trung bình thật, vạch cam là exp của trung bình log, thấp hơn 11,9%. Vạch xanh là có hiệu chỉnh, gần khớp.</a:t>
            </a:r>
          </a:p>
          <a:p/>
          <a:p>
            <a:r>
              <a:t>Dấu hiệu: cộng dự báo nhiều cửa hàng ra tổng thấp hơn thật. Kiểm bằng so tổng dự báo với tổng thực tế trên kỳ chấm. Sửa: cần tổng hay trung bình thì nhân với 1 cộng sigma bình phương chia 2, sigma là độ lệch chuẩn sai số trên thang log. Chấm bằng MAE, vốn ưa trung vị, thì không cần. Hiệu chỉnh không sửa lệch do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bằng mô phỏng.</a:t>
            </a:r>
          </a:p>
          <a:p/>
          <a:p>
            <a:r>
              <a:t>Dòng 3 đến 4 là ví dụ tay: ba số log 0, 1, 2. Exp của trung bình là 2,72, còn trung bình của các exp là 3,70. Hai con số khác nhau, đó là toàn bộ vấn đề.</a:t>
            </a:r>
          </a:p>
          <a:p/>
          <a:p>
            <a:r>
              <a:t>Dòng 6 sinh 100.000 mẫu log-normal, seed 42: log của chúng có hình chuông. Dòng 8 đổi ngược thẳng, ra trung vị. Dòng 9 nhân thêm 1 cộng nửa phương sai log, đó là hiệu chỉnh bias. Dòng 10 đo mỗi cách hụt bao nhiêu so với trung bình thật.</a:t>
            </a:r>
          </a:p>
          <a:p/>
          <a:p>
            <a:r>
              <a:t>Kết quả: đổi ngược thẳng hụt 11,9%, có hiệu chỉnh gần khớp. Khoảng hụt nhỏ khi sigma nhỏ và lớn nhanh khi sigma gần 1, nên chỉ bật hiệu chỉnh khi cần trung bình và sigma đủ lớn.</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ghép lại thành một backtest thật: seasonal naive có drift trên thang log.</a:t>
            </a:r>
          </a:p>
          <a:p/>
          <a:p>
            <a:r>
              <a:t>Hàm du_bao_log: dòng 5 đến 6 lấy 96 tháng ngay trước gốc, rồi lấy log. Điểm quan trọng là chỉ dùng dữ liệu trước gốc. Dòng 7 đến 8 tính sai phân mùa vụ của log, từ đó ra drift và sigma bình phương. Dòng 10 dự báo bằng cùng tháng năm trước cộng drift. Dòng 11 đến 13 đổi ngược hai cách: thẳng ra trung vị, có hiệu chỉnh ra trung bình. Dòng 15 đến 16 chạy lại ở mỗi gốc từ tháng 1/2012 tới tháng 12/2018, 84 gốc.</a:t>
            </a:r>
          </a:p>
          <a:p/>
          <a:p>
            <a:r>
              <a:t>Kết quả: 1.008 dự báo. Hiệu chỉnh đẩy tổng dự báo lên đúng cỡ sigma bình phương chia 2, nhưng chỉ giúp khi dự báo đang thấp. Chuỗi bách hoá vốn đã lệch gần cộng 10%, hiệu chỉnh còn làm tệ thêm. Luôn kiểm lệch trước khi bật.</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6: phân rã. Khai chu kỳ 24 cho chuỗi có nhịp tuần thì nhịp tuần chạy vào xu hướng.</a:t>
            </a:r>
          </a:p>
          <a:p/>
          <a:p>
            <a:r>
              <a:t>Nhìn hình: tải điện tháng 7/2024 theo giờ, bốn hàng là dữ liệu, xu hướng, mùa vụ, phần dư. Dải xám là thứ Bảy, Chủ nhật. Hàng xu hướng lõm xuống đúng mỗi dải xám. Lý do: xu hướng là trung bình một ngày, Chủ nhật thấp thì trung bình quanh Chủ nhật cũng thấp. Hàng phần dư còn dao động đều mỗi ngày khoảng cộng trừ 15 GW, là mùa vụ ngày của tháng 7 mà khuôn chung cả năm không chứa được.</a:t>
            </a:r>
          </a:p>
          <a:p/>
          <a:p>
            <a:r>
              <a:t>Kiểm bằng: trung bình xu hướng theo thứ; cuối tuần thấp hẳn là có vấn đề. Sửa: MSTL với hai chu kỳ 24 và 168. Giờ hỏng lẻ thì bật robust. Nhưng đợt nắng nóng nhiều ngày thì robust không tách được, cần thêm biến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hai chỗ mùa vụ hay trốn.</a:t>
            </a:r>
          </a:p>
          <a:p/>
          <a:p>
            <a:r>
              <a:t>Dòng 5 phân rã cổ điển chu kỳ 24 giờ. Dòng 6 đến 7 lấy xu hướng trung bình theo thứ: nếu có nhịp tuần thì sẽ thấy nó ở đây. Dòng 9 đến 12 là hàm ty_le_mau_hinh: lấy trung bình phần dư theo tháng và giờ, rồi chia phương sai cho phương sai chuỗi. Gần 0 nghĩa là phần dư sạch, không còn mẫu hình theo lịch. Dòng 14 đến 15 chạy MSTL với 24 và 168, rồi so bằng cùng thước đo.</a:t>
            </a:r>
          </a:p>
          <a:p/>
          <a:p>
            <a:r>
              <a:t>Kết quả: xu hướng thứ Bảy, Chủ nhật thấp hơn giữa tuần khoảng 5.500 đến 6.600 MW. Tỷ lệ mẫu hình tháng nhân giờ: cổ điển 0,102, MSTL 0,0006. Một con số đủ để nói phân rã nào sạch hơn, không phải ngồi so hình.</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thứ hai: robust làm gì với một giờ hỏng.</a:t>
            </a:r>
          </a:p>
          <a:p/>
          <a:p>
            <a:r>
              <a:t>Dòng 5 đến 6 là ví dụ tay: năm phần dư, trong đó có một số 20. Lấy trị tuyệt đối chia 6 lần trung vị của trị tuyệt đối. Dòng 7 tính trọng số: gần 1 là tin, bằng 0 là bỏ qua. Dòng 10 bật robust cho từng lượt STL bên trong MSTL. Dòng 13 đến 14 xem mùa vụ ngày hôm trước giờ hỏng có bị kéo lệch không. Dòng 15 xem phần dư ở chính giờ hỏng.</a:t>
            </a:r>
          </a:p>
          <a:p/>
          <a:p>
            <a:r>
              <a:t>Kết quả: ví dụ tay, điểm 20 có trọng số 0, điểm âm 2 có trọng số 0,79. Trên dữ liệu thật, không robust thì mùa vụ ngày 20/11, một ngày không lỗi, lệch khoảng 6.200 MW vì lỗi bị chia ra cả tuần. Robust giữ trọn cú rơi trong phần dư, đúng chỗ nó thuộc về.</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7. Sai phân như thuốc: đúng liều thì khỏi, quá liều thì hại.</a:t>
            </a:r>
          </a:p>
          <a:p/>
          <a:p>
            <a:r>
              <a:t>Hình có hai cột. Cột phải: sai phân random walk, đúng liều, độ lệch chuẩn giảm từ 4,55 xuống 0,96, r một chỉ còn 0,100. Cột trái: sai phân nhiễu trắng vốn đã dừng, tức là thừa. Nhìn cột ACF trễ 1 ở ô dưới: r một bằng âm 0,447, và tiêu đề ghi độ lệch chuẩn tăng từ 0,96 lên 1,29. Chuỗi nhiễu hơn trước.</a:t>
            </a:r>
          </a:p>
          <a:p/>
          <a:p>
            <a:r>
              <a:t>Dấu hiệu sai phân thừa: r một gần âm 0,5 kèm độ lệch chuẩn tăng. Kiểm bằng ADF, KPSS trước khi sai phân, và ACF sau khi sai phân. Sửa: bớt một lần sai phân; xu hướng thẳng thì khử xu hướng thay vì sai phân; có mùa vụ thì sai phân mùa vụ trước. Bỏ qua thì dự báo tệ hơn chỉ vì chúng ta đã tự thêm nhiễu.</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biết khi nào dừng sai phân.</a:t>
            </a:r>
          </a:p>
          <a:p/>
          <a:p>
            <a:r>
              <a:t>Dòng 5 đến 8 là hàm dau_hieu: sai phân một lần, trả r một sau sai phân và độ lệch chuẩn trước, sau. Dòng 11 chạy trên nhiễu trắng, chuỗi đã dừng, để thấy dấu hiệu thừa. Dòng 12 chạy trên random walk, tạo bằng cumsum, để thấy đúng liều. Dòng 14 lấy log của 1 cộng lượt thuê xe theo giờ, dùng log1p vì có giờ không ai thuê. Dòng 15 đến 16 so ba cách: sai phân thường, sai phân mùa vụ 168, và cả hai.</a:t>
            </a:r>
          </a:p>
          <a:p/>
          <a:p>
            <a:r>
              <a:t>Kết quả: nhiễu trắng r một bằng âm 0,447, độ lệch chuẩn 0,96 lên 1,29, là thừa. Random walk 4,55 xuống 0,96, đúng liều. Lượt thuê: sai phân 168 rồi sai phân thường thì độ lệch chuẩn giảm từ 0,589 xuống 0,427. r một là âm 0,249, chưa tới dấu hiệu thừa: ở đây cả hai lần sai phân đều đáng.</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8: tương quan. Tương quan giả là r rất cao chỉ vì hai chuỗi cùng tăng theo thời gian.</a:t>
            </a:r>
          </a:p>
          <a:p/>
          <a:p>
            <a:r>
              <a:t>Nhìn hình: ô trái, CPI và dân số Mỹ cùng đi lên. Ô giữa, scatter trên mức: chấm nằm gần như một đường, r bằng 0,974. Ô phải, scatter trên thay đổi hằng tháng: đám chấm không có hình dạng, r chỉ còn âm 0,207. Câu hỏi đúng là: tháng nào dân số tăng nhanh thì giá có tăng nhanh không? Câu trả lời là không.</a:t>
            </a:r>
          </a:p>
          <a:p/>
          <a:p>
            <a:r>
              <a:t>Kiểm bằng hai cách: sai phân rồi đo lại r, và Durbin–Watson của phần dư hồi quy. Durbin–Watson gần 2 là tốt, gần 0 là phần dư tự tương quan mạnh, dấu hiệu tương quan giả. Bỏ qua thì chúng ta chọn một biến giải thích vô dụng. Khi viết kết luận, nói "đi cùng", đừng nói "gây ra".</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bắt tương quan giả bằng hai phép kiểm.</a:t>
            </a:r>
          </a:p>
          <a:p/>
          <a:p>
            <a:r>
              <a:t>Dòng 3 đến 4 là Durbin–Watson: tổng bình phương bước nhảy của phần dư chia tổng bình phương phần dư. Phần dư đổi chậm thì bước nhảy nhỏ, con số gần 0. Dòng 6 đến 8 khớp đường thẳng bằng lstsq, bình phương nhỏ nhất, rồi lấy phần dư. Dòng 9 đến 10 trả R bình phương, thống kê t của hệ số, và DW. Dòng 13 hồi quy dân số theo CPI trên mức. Dòng 14 đến 15 hỏi lại câu đúng: lấy thay đổi hằng tháng rồi tính tương quan.</a:t>
            </a:r>
          </a:p>
          <a:p/>
          <a:p>
            <a:r>
              <a:t>Kết quả: trên mức, r bằng 0,974, R bình phương 0,95, t bằng 88,6, trông cực kỳ chắc chắn. Nhưng DW chỉ 0,0051, và r sau sai phân là âm 0,207. R bình phương cao, t lớn, DW gần 0: đó là bộ ba của hồi quy giả.</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Pearson chỉ đo quan hệ thẳng. Tải điện ERCOT ở Texas theo nhiệt độ có hình chữ U: trời nóng bật điều hoà, trời lạnh bật sưởi.</a:t>
            </a:r>
          </a:p>
          <a:p/>
          <a:p>
            <a:r>
              <a:t>Nhìn ô trái: mỗi chấm một giờ năm 2024. Đường đen là hồi quy thẳng, đường cam là hồi quy theo hai nhánh. Phía bên trái 18 độ, đường đen đi xuống mà chấm đi lên: đường thẳng bỏ sót hẳn nhánh lạnh. Pearson 0,616 trông khá mạnh, nhưng là trộn nhánh lạnh âm 0,649 với nhánh nóng cộng 0,910.</a:t>
            </a:r>
          </a:p>
          <a:p/>
          <a:p>
            <a:r>
              <a:t>Kiểm bằng: vẽ scatter trước, đo thêm mutual information vì nó bắt được quan hệ cong. Sửa: tách nhiệt độ thành CDD, độ nóng, bằng nhiệt độ trừ 18,33 nếu dương, và HDD, độ lạnh, bằng 18,33 trừ nhiệt độ nếu dương. R bình phương tăng từ 0,379 lên 0,812. Ô phải cho thấy mốc 18,33 là quy ước, gần mốc tốt nhất 19,5 độ.</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tách chữ U và kiểm mutual information có thật không.</a:t>
            </a:r>
          </a:p>
          <a:p/>
          <a:p>
            <a:r>
              <a:t>Dòng 4 tính CDD và HDD bằng np.maximum với 0, mốc 18,33 độ, tức 65 độ F. Dòng 5 đến 9 so R bình phương của hồi quy theo nhiệt độ với theo CDD cộng HDD. Dòng 10 đến 11 tính MI bằng mutual_info_regression. Dòng 13 đến 15 là phần tinh tế: để biết MI bao nhiêu thì đáng tin, chúng ta xáo thứ tự các khối một tuần, 100 lần. Xáo từng điểm sẽ phá tự tương quan, khiến cả hai chuỗi độc lập cũng trông "có quan hệ". Dòng 16 lấy ngưỡng 95% của MI khi không có quan hệ.</a:t>
            </a:r>
          </a:p>
          <a:p/>
          <a:p>
            <a:r>
              <a:t>Kết quả: R bình phương từ 0,379 lên 0,812. MI thật 0,862, vượt xa ngưỡng xáo khối 0,124. Quan hệ có thật, chỉ là không thẳng.</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10: dữ liệu thiếu. Có hai loại. Thiếu giá trị là có dòng, ô rỗng. Thiếu mốc là mất cả dòng. isna() chỉ thấy loại thứ nhất.</a:t>
            </a:r>
          </a:p>
          <a:p/>
          <a:p>
            <a:r>
              <a:t>Ví dụ: đo mỗi 30 phút từ 00:00 tới 02:30 phải có 6 mốc, tệp có 5 dòng. isna() báo 1 ô thiếu lúc 02:00, nhưng mốc 01:00 mất cả dòng mà không ai biết.</a:t>
            </a:r>
          </a:p>
          <a:p/>
          <a:p>
            <a:r>
              <a:t>Nhìn hình trạm Nội Bài: ô trái, số mốc thiếu theo tháng, dồn vào vài tháng, nhiều nhất tháng 7, dấu hiệu sự cố hệ thống. Ô phải, độ dài lỗ: hai phần ba số lỗ chỉ dài một bước, lỗ dài nhất 8 giờ.</a:t>
            </a:r>
          </a:p>
          <a:p/>
          <a:p>
            <a:r>
              <a:t>Kiểm bằng: so số dòng với số mốc của lưới đầy đủ, đếm mốc trùng. Sửa: reindex lên lưới đầy đủ trước mọi việc khác. Bỏ qua thì lag và rolling đếm sai số bước.</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lưới rồi mới đếm thiếu.</a:t>
            </a:r>
          </a:p>
          <a:p/>
          <a:p>
            <a:r>
              <a:t>Dòng 4 đến 6 tạo năm dòng đo, mốc 01:00 không có dòng nào, mốc 02:00 có dòng nhưng ô rỗng. Dòng 7 dùng pd.date_range dựng lưới đủ mọi mốc 30 phút từ đầu tới cuối. Dòng 8 đến 9 đếm thiếu hai lần: trước và sau khi reindex lên lưới. reindex đặt chuỗi lên bộ mốc mới, mốc nào chưa có dòng thì thành NaN. Dòng 11 đến 14 là hàm do_dai_lo: đánh số từng đoạn NaN liền nhau rồi đếm độ dài, để biết lỗ ngắn hay dài.</a:t>
            </a:r>
          </a:p>
          <a:p/>
          <a:p>
            <a:r>
              <a:t>Kết quả: ví dụ nhỏ, isna() báo 1, lên lưới ra 2. Trạm Nội Bài năm 2024: lưới có 17.568 mốc, tệp chỉ có 17.319 dòng, thiếu 249 mốc, trong khi isna() chỉ thấy 2 ô. Đếm trước khi dựng lưới là đếm sai.</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Biết có bao nhiêu chỗ thiếu rồi, câu hỏi tiếp theo quan trọng hơn: vì sao thiếu. Điền được hay không phụ thuộc vào lý do, không phụ thuộc cách điền giỏi tới đâu.</a:t>
            </a:r>
          </a:p>
          <a:p/>
          <a:p>
            <a:r>
              <a:t>Nhìn hình: chấm xanh là số còn lại, chấm đỏ là số bị mất. MCAR mất rải đều, như mất mạng vài phút: phần còn lại vẫn đại diện, điền thoải mái. MAR mất dồn trong vùng xám, như trạm hay hỏng mùa mưa: điền được nếu cách điền dùng thông tin mùa. MNAR mất đúng các đỉnh trên vạch đứt: phần còn lại đã bị lọc lệch.</a:t>
            </a:r>
          </a:p>
          <a:p/>
          <a:p>
            <a:r>
              <a:t>Ví dụ tính tay: bốn giờ PM2.5 thật 10, 20, 30, 40, trung bình 25. Cảm biến tắt khi trên 30, chỉ còn 10, 20, 30, trung bình 20. (dừng) Lệch 5 trước khi chúng ta điền bất cứ gì.</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là định nghĩa, slide này là hậu quả khi thiếu vì chính giá trị.</a:t>
            </a:r>
          </a:p>
          <a:p/>
          <a:p>
            <a:r>
              <a:t>Nhìn ô trái: xám là dữ liệu thật, vạch đứt là ngưỡng 1 mà cảm biến tắt. MNAR mất 16,2% số điểm, toàn ở phía cao. Cam là sau khi điền bằng nội suy: vẫn không có phần bên phải vạch. Ô phải: trung bình sau khi điền là âm 0,30, trong khi thật là âm 0,005. MCAR chỉ lệch một phần nghìn. Điền kiểu gì cũng không lấy lại được thứ đã bị lọc.</a:t>
            </a:r>
          </a:p>
          <a:p/>
          <a:p>
            <a:r>
              <a:t>Kiểm trên dữ liệu thật: so các trạm hàng xóm lúc một trạm thiếu và lúc có số. Khi trạm Dongsi ở Bắc Kinh thiếu, các trạm khác còn thấp hơn 3%: không có bằng chứng MNAR. Phải đo, đừng giả định. Sửa: MCAR, MAR thì điền được; MNAR thì đừng điền, và báo tỷ lệ thiếu theo trạm, theo tháng.</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mô phỏng, nơi chúng ta biết trước đáp án.</a:t>
            </a:r>
          </a:p>
          <a:p/>
          <a:p>
            <a:r>
              <a:t>Dòng 4 đến 6 sinh 5.000 điểm thật, hình chuông tâm 0, seed 0. Dòng 7 tạo MCAR: xoá ngẫu nhiên 10% bằng mask. Dòng 8 tạo MNAR: xoá đúng những điểm cao hơn 1, như cảm biến tắt khi giá trị cao. Dòng 9 đến 10 nội suy cả hai rồi so trung bình với số thật. Dòng 12 đến 15 là hàm bang_chung_mnar cho dữ liệu thật: lấy trung bình 11 trạm còn lại, so lúc trạm đang xét thiếu với lúc có số.</a:t>
            </a:r>
          </a:p>
          <a:p/>
          <a:p>
            <a:r>
              <a:t>Kết quả: MNAR mất 16,2%, điền xong trung bình âm 0,30 thay vì âm 0,005; MCAR gần như không lệch. Trên dữ liệu Bắc Kinh, Dongsi thiếu thì các trạm khác thấp hơn 3,0%. Nếu MNAR, lúc thiếu phải là lúc ô nhiễm cao, tức trạm khác phải cao hơn, chứ không phải thấp hơn.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phải chỗ thiếu nào cũng hiện ra là NaN. Mã trá hình là con số quy ước của nguồn, không phải số đo.</a:t>
            </a:r>
          </a:p>
          <a:p/>
          <a:p>
            <a:r>
              <a:t>Nhìn hình trạm Nội Bài, ba ô. Ô trái: cột cao vọt ở mép phải, tầm nhìn đúng bằng 9,999 km, chiếm 35% số dòng. Nó nghĩa là "10 km trở lên", không phải một phép đo. Ô giữa: độ ẩm chạm trần 100%. Ô phải: các khe trống đều đặn, nhiệt độ chỉ ghi số nguyên.</a:t>
            </a:r>
          </a:p>
          <a:p/>
          <a:p>
            <a:r>
              <a:t>Kiểm bằng value_counts().head() và đọc tài liệu nguồn; đo độ phân giải trước khi gọi một đoạn lặp là cảm biến kẹt. Sửa: đổi thành NaN kèm cột cờ ghi lý do. Đừng dropna() cả dòng, vì dòng có tầm nhìn 9,999 vẫn có nhiệt độ hợp lệ. Số 0 do hết hàng cũng là thiếu: không đánh dấu thì mô hình dự báo thấp, cửa hàng nhập ít, lại hết hàng, vòng lặp tự củng cố.</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Nhiệt độ ghi đúng 26,0 °C suốt nhiều giờ: cảm biến hỏng, hay trời đổi quá ít? Trước khi trả lời, chúng ta phải biết độ phân giải, tức bước nhỏ nhất cảm biến ghi được.</a:t>
            </a:r>
          </a:p>
          <a:p/>
          <a:p>
            <a:r>
              <a:t>(chỉ vào hình) Trục ngang là giờ, đường xanh là nhiệt độ thật, đường cam là số ghi được. Ô trái, nhiệt độ thật đi từ 25,6 lên 26,4 °C, nhưng cảm biến ghi tới 1 °C nên cả năm số đều là 26. Đường cam nằm ngang mà cảm biến vẫn khoẻ. Ô phải thì khác: nhiệt độ thật đổi vài độ, cả ngày lẫn đêm, mà số ghi không nhúc nhích. Đó mới là kẹt.</a:t>
            </a:r>
          </a:p>
          <a:p/>
          <a:p>
            <a:r>
              <a:t>Ở trạm Nội Bài, nếu đặt ngưỡng đứng yên 12 giờ thì ra 24 đoạn, quá nhiều để đều là hỏng, nên buổi 10 dùng 18 giờ. Vậy các bạn nhớ thứ tự: đo độ phân giải trước, rồi mới đặt ngưỡng gọi cảm biến là kẹt.</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Mã trá hình, trần cảm biến, độ phân giải và đoạn kẹt có một điểm chung: không cái nào để lại NaN, nên phải đo từng dấu vết. Dòng 5: gọi min trên cột độ ẩm ra chữ '100', vì cột số đang lưu dạng chữ và pandas so theo thứ tự chữ cái. Dòng 6 và 7 ép về số, chữ lạ thành NaN. Dòng 8 đo tỷ lệ mã 9,999 km và tỷ lệ độ ẩm chạm 100. Dòng 9 và 10 lấy bước nhỏ nhất giữa hai giá trị khác nhau, tức độ phân giải. Dòng 12 đến 16 đánh số từng đoạn lặp liền nhau rồi giữ đoạn đủ dài. Kết quả: độ ẩm dạng chữ cho min '100' mà max '94'; hơn một phần ba dòng tầm nhìn là mã 9,999; 5,7% độ ẩm chạm trần; ngưỡng 18 giờ tìm ra 2 đoạn kẹt, dài nhất 33,5 giờ.</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chấm cách điền, cần biết mỗi cách làm gì. Có bảy cách, và ba câu hỏi chọn giữa chúng: lỗ dài hay ngắn, chuỗi có nhịp ngày không, và cách điền có dùng số tương lai không.</a:t>
            </a:r>
          </a:p>
          <a:p/>
          <a:p>
            <a:r>
              <a:t>(chỉ vào hình) Sáu giờ liền, hai ô giữa bị thiếu, giá trị thật là 26 và 28, đúng lúc nhiệt độ lên đỉnh. ffill giữ số gần nhất nên điền 23, 23, sai nhiều nhất. Tuyến tính nối 23 với 27 theo công thức trên dải, ra 24,33 và 25,67. Mùa vụ lấy cùng giờ hôm qua, ra 25 và 27. Trạm hàng xóm cộng 1 độ ra đúng 26 và 28, vì nó mang theo hình dạng của đoạn bị mất.</a:t>
            </a:r>
          </a:p>
          <a:p/>
          <a:p>
            <a:r>
              <a:t>Tóm lại: lỗ ngắn thì ffill hay tuyến tính đều ổn; lỗ dài thì cần mùa vụ hoặc hàng xóm. Và nhớ tuyến tính, spline, Kalman smoother đều dùng số ở phía sau lỗ.</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bảy cách điền rồi, vậy làm sao biết cách nào tốt khi ta không có số thật ở chỗ thiếu? Ta tự tạo đáp án: che nhân tạo, tức xoá bớt những ô đang có số, điền lại, rồi so với số vừa xoá. (chỉ vào bảng) Cùng bảy cách, cùng chuỗi Nội Bài, chỉ đổi kiểu che. Che rải rác 10% điểm thì tuyến tính đứng hạng 1, MAE 0,291; che khối 48 giờ thì nó tụt xuống hạng 5, MAE 2,171. Trạm hàng xóm đi ngược lại, từ hạng 5 lên hạng 1. Vì sao? Lỗ ngắn thì nối hai đầu là đủ; lỗ dài thì cần một nguồn mang theo hình dạng nhịp ngày. Nếu chỉ che một kiểu, ta sẽ chọn cách điền giỏi ở lỗ ngắn mà tệ ở lỗ dài. Nguyên tắc: dữ liệu có kiểu lỗ nào thì che và chấm đúng kiểu đó.</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hôm nay mất hai giờ, số thật là 26 và 28; bên dưới là số cùng giờ hôm qua. Dòng 7 đến 9 là ba cách chỉ biết hai đầu lỗ: ffill chép số trước, tuyến tính nối thẳng, spline nối cong. Dòng 10 và 11 mượn hình dạng từ nguồn khác: mùa vụ lấy cùng giờ hôm qua, hàng xóm lấy hôm qua cộng 1. Dòng 12 đến 16 là cách Kalman: UnobservedComponents khớp một mô hình gồm mức đổi dần cộng nhịp ngày rồi lấy giá trị làm trơn, tức nhìn cả hai phía. Kết quả: ffill sai nhiều nhất, lệch 3 và 5; tuyến tính lệch 1,67 và 2,33; mùa vụ lệch 1 và 1; hàng xóm trúng cả hai. Ngoài đời, Nội Bài với Open-Meteo tương quan r bằng 0,976, nên hàng xóm là nguồn rất tốt.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code sinh ra bảng hai kiểu che ở slide “Chấm cách điền” vừa xem. Dòng 3 đến 7, che điểm: lấy vị trí các ô đang có số, rút ngẫu nhiên 10% không trùng, rồi xoá. Dòng 9 đến 15, che khối: xoá năm đoạn liền, mỗi đoạn 96 bước, tức 48 giờ với dữ liệu nửa giờ một lần. Cả hai đều có seed để chạy lại ra đúng số. Dòng 16 là chỗ quan trọng nhất: MAE chỉ tính trên những ô vừa bị che, vì các ô còn lại vẫn là số thật, tính vào chỉ làm sai số nhỏ đi giả tạo. Kết quả: tuyến tính hạng 1 ở lỗ ngắn với MAE 0,291 °C nhưng hạng 5 ở lỗ 48 giờ với 2,171; hàng xóm đi ngược lại, từ hạng 5 lên hạng 1.</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Điền chỗ thiếu xong thì backtest đẹp hẳn. Câu hỏi đầu tiên: cách điền có dùng số của tập kiểm không?</a:t>
            </a:r>
          </a:p>
          <a:p/>
          <a:p>
            <a:r>
              <a:t>(chỉ vào hình) Ba mốc: 20, một ô trống, rồi 30. Vạch đứt là mốc cắt, bên phải là tương lai. Ô vuông xanh là ffill, lấy số gần nhất phía trước, nên điền 20. Hình thoi đỏ là nội suy tuyến tính, điền 25, nhưng con số 25 chỉ có được nhờ số 30 nằm bên phải vạch. Nếu số 30 thuộc tập kiểm thì thông tin tập kiểm đã chảy vào tập học.</a:t>
            </a:r>
          </a:p>
          <a:p/>
          <a:p>
            <a:r>
              <a:t>Kiểm bằng máy: làm sạch dữ liệu đầy đủ và dữ liệu bị cắt tại một mốc, rồi so phần trước mốc. Điều kiện là mốc cắt phải nằm trong một lỗ, nếu cắt ở chỗ dữ liệu liền thì bài kiểm luôn báo sạch.</a:t>
            </a:r>
          </a:p>
          <a:p/>
          <a:p>
            <a:r>
              <a:t>Điền nhân quả chỉ dùng số trước ô đang điền: có số mới thì số cũ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nhìn một lỗ dài cụ thể. (chỉ vào hình) Lỗ 48 giờ: ffill và nội suy tuyến tính đều vẽ thành một đường phẳng quanh 24 °C, trong khi thật nhiệt độ dao động 21 đến 27 °C mỗi ngày. Nhịp ngày bị xoá sạch, và mô hình học từ đoạn phẳng đó sẽ học sai. Trạm hàng xóm thì giữ được hình dạng. Dấu hiệu cần để ý là đoạn phẳng dài bất thường, hoặc backtest đẹp hẳn lên sau khi làm sạch. Cái sau là do nội suy dùng điểm phía sau: điền ngày 3 bằng cách nối ngày 2 với ngày 4 là đã dùng ngày 4. Kiểm bằng kiem_ro_ri với mốc cắt đặt ngay trong lỗ. Sửa: chia tập trước rồi mới điền, chỉ dùng cách điền nhân quả, lỗ ngắn thì điền, lỗ dài để trống, và luôn giữ cột cờ da_dien. Riêng dữ liệu MNAR thì điền kiểu gì cũng lệch.</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Gói hai nguyên tắc vừa rồi thành một hàm. Dòng 4: biến các số nghi ngờ thành NaN trước tiên, để chúng không bị dùng làm đầu mút khi điền. Dòng 5 đến 7 đo độ dài lỗ cho từng ô thiếu, cùng mẹo đánh số đoạn như slide đoạn kẹt. Dòng 8 và 9 chỉ điền lỗ tới 6 bước, tức 3 giờ, bằng cách mùa vụ vì nó nhân quả; lỗ dài để trống. Dòng 10 xuất kèm cột cờ da_dien. Dòng 12 đến 16 là máy kiểm: làm sạch trên dữ liệu đủ và trên dữ liệu cắt tại một mốc nằm trong lỗ, rồi so phần trước mốc; khác nhau là có rò rỉ. Kết quả trên Nội Bài: 130 ô bị loại vì nghi ngờ, 198 ô được điền, 181 ô để trống. Còn bản điền mọi lỗ bằng tuyến tính thì bị máy kiểm bắt ngay khi mốc cắt rơi vào lỗ.</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11: ngoại lai. Chữ "ngoại lai" thật ra gộp bốn thứ khác nhau. (chỉ vào hình) Quanh mức 10: điểm đơn AO lệch lên 25 rồi về ngay; dịch mức LS nhảy lên 20 và ở lại; thay đổi tạm TC nhảy lên 20 rồi tắt dần 15, 12, 11, 10; còn đổi phương sai thì mức giữ nguyên nhưng dao động to ra. Vì sao phải phân loại? Vì loại quyết định cách bắt và cách sửa, không phải độ lớn. Hampel bắt điểm đơn, tìm điểm gãy bắt dịch mức, MAD trên phần dư STL bắt đổi phương sai. Nên trước một điểm lạ, câu hỏi đầu tiên là: đây là lỗi, giai đoạn tạm thời, hay một trạng thái mới?</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loại giống hệt nhau ở đúng cái mốc lạ; chỉ các điểm sau mốc mới tách được chúng. Dòng 4 đến 7 là bốn chuỗi tám điểm, cùng nền 10. Dòng 9 lấy riêng điểm 4, và các bạn sẽ thấy nó chưa phân biệt được gì. Dòng 10 đến 12 là ba câu hỏi về phần sau mốc: trung bình bốn điểm sau cho biết nó có ở lại không, điểm cuối cho biết có hồi về không, độ lệch chuẩn sau cho biết có rung mạnh hơn không. Dòng 13 gom thành bảng, mỗi dòng một loại. Kết quả: điểm 4 không tách được ba loại đầu; nhìn bốn điểm sau thì tách rõ: AO về 10, dịch mức ở lại 20, thay đổi tạm hồi dần. Đổi phương sai có độ lệch chuẩn phần sau là 4,08. Bài học: đừng phán loại khi mới thấy một điểm, hãy chờ thêm vài bước.</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số quanh 12 có một số 50. Vì sao ngưỡng 3σ không gắn cờ nó?</a:t>
            </a:r>
          </a:p>
          <a:p/>
          <a:p>
            <a:r>
              <a:t>z-score hỏi một điểm cách trung bình bao nhiêu lần độ lệch chuẩn. Nhưng chính số 50 kéo trung bình lên 15,6 và kéo độ lệch chuẩn lên khoảng 12,1, trong khi bỏ nó đi thì độ lệch chuẩn chỉ khoảng 1. Lấy 50 trừ 15,6 rồi chia 12,1, được 2,84, không vượt 3.</a:t>
            </a:r>
          </a:p>
          <a:p/>
          <a:p>
            <a:r>
              <a:t>(chỉ vào hình) Trục ngang là vị trí, trục dọc là giá trị. Vạch cam đứt là trung bình cộng ba lần độ lệch chuẩn: ở ô trái nó nằm ở 52, cao hơn chính số 50. Ô phải thêm số 60, vạch cam bị đẩy lên gần 76, và cả hai ngoại lai cùng lọt. Ngoại lai tự che mình và che nhau, đó gọi là masking.</a:t>
            </a:r>
          </a:p>
          <a:p/>
          <a:p>
            <a:r>
              <a:t>Trên lượt xem Wikipedia, thêm một ngày giả thật lớn làm số ngày bị gắn cờ tụt từ 16 xuống 5. Không vượt 3σ không có nghĩa là dữ liệu sạch.</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bắt ngoại lai quen nhất là z-score: điểm cách trung bình bao nhiêu lần độ lệch chuẩn, quá 3 thì gắn cờ. Vấn đề là chính ngoại lai kéo trung bình lên và làm độ lệch chuẩn phình ra, nên nó tự che mình. Hiện tượng này gọi là masking. Ví dụ năm số 5, 5, 5, 5, 100: điểm 100 chỉ có z bằng 1,79, không bị gắn cờ. (chỉ vào hình) Trên lượt xem Wikipedia, 3σ gắn cờ 16 ngày; thêm đúng một ngày cực lớn thì chỉ còn 5. Đó cũng là cách kiểm: thêm một điểm cực lớn rồi đếm lại, số cờ giảm là đang bị che. Còn nữa, với mẫu nhỏ z có trần: mười số thì tối đa 2,85, ngưỡng 3 không bao giờ bắt được gì. Sửa bằng MAD và Hampel, dựa trên trung vị nên ngoại lai không kéo được.</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thấy masking bằng số. Dòng 4 và 5 là hàm z_score quen thuộc: cách trung bình quá 3 độ lệch chuẩn thì gắn cờ. Dòng 7 và 8: mười số quanh 11, 12, có một số 50 nổi bật, tính z của nó. Dòng 9 tính trần của trị tuyệt đối z khi n bằng 10, bằng n trừ 1 chia căn n, ra 2,85. Dòng 11 đến 13: lấy chuỗi lượt xem Wikipedia, chèn một ngày giả lớn gấp 8 lần ngày cao nhất vào giữa, rồi đếm số cờ trước và sau. Kết quả: z của 50 chỉ 2,84, nằm dưới trần 2,85, nên dù nhìn bằng mắt là thấy ngay, ngưỡng 3 không bao giờ bắt được. Trên Wikipedia, thêm một ngày giả làm số ngày bị gắn cờ tụt từ 16 xuống 5. Một ngoại lai lớn làm các ngoại lai khác biến mất.</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Lượt xem tăng suốt mười năm. So mỗi ngày với trung bình cả chuỗi còn có nghĩa không? Không, nên ta sửa hai chỗ.</a:t>
            </a:r>
          </a:p>
          <a:p/>
          <a:p>
            <a:r>
              <a:t>Chỗ thứ nhất: đo bằng trung vị. Với mười số vừa rồi, trung vị là 12. Khoảng cách tới 12 có trung vị là 1, nhân 1,4826 để cùng thang với độ lệch chuẩn, ra MAD khoảng 1,48. Điểm của số 50 là 38 chia 1,48, khoảng 25,6, vượt xa 3. Điểm của số 10 chỉ 1,35.</a:t>
            </a:r>
          </a:p>
          <a:p/>
          <a:p>
            <a:r>
              <a:t>Chỗ thứ hai: so tại chỗ. Bộ lọc Hampel tính trung vị và MAD trong cửa sổ quanh mỗi điểm. (chỉ vào hình) Dải xanh là trung vị cộng trừ ba MAD của cửa sổ, nó đi lên theo xu hướng. Điểm vọt khỏi dải bị tô đỏ, còn ngưỡng 3σ toàn chuỗi nằm cao hơn mọi điểm.</a:t>
            </a:r>
          </a:p>
          <a:p/>
          <a:p>
            <a:r>
              <a:t>Hampel dùng cửa sổ có tâm, nên chỉ dùng để làm sạch lịch sử, không làm feature dự báo.</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sửa masking có hai bước. MAD đo độ dao động bằng trung vị thay vì trung bình, nên ngoại lai không kéo được. Hampel đi thêm một bước: so mỗi điểm với trung vị và MAD của cửa sổ quanh nó, nên xu hướng dài hạn không làm nó mù. (chỉ vào hình và bảng) Trên 3.653 ngày Wikipedia, 3σ toàn chuỗi gắn cờ 16 ngày, toàn là ngày ở giai đoạn mức cao, bỏ sót bất thường ở vùng mức thấp. Hampel ±15 ngày gắn cờ 121 ngày, 3,31%, rải đều mười năm. STL robust thì tới 16,86%, quá nhiều để gọi là ngoại lai. Vậy trước khi tin một ngưỡng, xem nó gắn cờ bao nhiêu phần trăm dữ liệu. Sửa bằng winsorize, kéo điểm về trung vị địa phương, không xoá mốc. Lưu ý Hampel dùng cửa sổ giữa, nên chỉ để làm sạch, không làm feature.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Đổi trung bình thành trung vị là xong phần khó. Dòng 4: hệ số 1,4826 đưa MAD về cùng thang với độ lệch chuẩn, để ngưỡng 3 vẫn có nghĩa như trước. Dòng 6 đến 9 là điểm MAD toàn chuỗi: khoảng cách tới trung vị chia cho 1,4826 lần MAD. Dòng 11 đến 13: Hampel lấy trung vị của 31 ngày quanh mỗi điểm, cửa sổ đặt giữa. Dòng 14 tính MAD cũng trên cửa sổ đó. Dòng 15 và 16 gắn cờ điểm cách mức địa phương quá 3; chỗ MAD bằng 0 được đổi thành NaN để khỏi chia cho 0. Kết quả: điểm MAD của số 50 là 25,6, bắt ngay, trong khi z chỉ 2,84. Trên Wikipedia, Hampel gắn cờ 121 ngày rải đều mười năm, và thêm ngày giả chỉ làm con số thành 123. Ngoại lai không còn che được nhau.</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90 bị gắn cờ giữa các số quanh 12: xoá, kéo về 12, hay giữ nguyên?</a:t>
            </a:r>
          </a:p>
          <a:p/>
          <a:p>
            <a:r>
              <a:t>(chỉ vào hình) Dấu nhân xám là số 90 bị gắn cờ. Xoá nó thì lưới thời gian thủng một mốc. Winsorize thì kéo nó về trung vị địa phương là 12, chuỗi thành 12, 11, 13, 12, 12, giữ đủ mốc, kèm cột da_sua bằng 1.</a:t>
            </a:r>
          </a:p>
          <a:p/>
          <a:p>
            <a:r>
              <a:t>Nhưng nếu ngày đó là Tết thì sao? Trên lượt xem bài Tết Nguyên Đán, mọi cách tìm ngoại lai đều gắn cờ cả 10 đỉnh Tết. Ngưỡng thống kê chỉ biết điểm này khác, không biết khác vì lỗi hay vì sự kiện thật. Việc đó cần nhật ký sự kiện, tức danh sách các mốc có sự kiện đã biết. Có trong nhật ký thì giữ nguyên 90.</a:t>
            </a:r>
          </a:p>
          <a:p/>
          <a:p>
            <a:r>
              <a:t>Tóm lại, chọn theo loại: lỗi đo thì winsorize, sự kiện thật thì giữ và ghi nhật ký, dịch mức thì thêm biến giả, là cột 0 và 1 đánh dấu sự kiện.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mặt ngược lại: bắt được ngoại lai rồi, có nên sửa hết không? (chỉ vào hình) Chạy bộ bắt ngoại lai trên lượt xem Wikipedia tiếng Việt thì cả 10 trên 10 đỉnh Tết bị gắn cờ. Nhưng Tết là bất thường thật, và là thứ đáng dự báo nhất trong năm; xoá đi là xoá mất nó. Đỉnh Tết còn xê dịch tới 25 ngày giữa các năm vì theo lịch âm, nên phân rã theo lịch dương không học được. Kiểm bằng cách vẽ chuỗi quanh những mốc bị sửa rồi đối chiếu với lịch lễ. Sửa: giữ nguyên, ghi vào nhật ký sự kiện, thêm biến giả theo lịch âm. Và chọn cách sửa theo loại: điểm đơn là lỗi thì winsorize, dịch mức hay thay đổi tạm thì biến giả. Ngoại lai không đồng nghĩa với lỗi.</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nào cũng gắn cờ Tết, nên phải có nhật ký sự kiện chặn lại. Dòng 3: ngày đông nhất mỗi năm chính là đỉnh Tết. Dòng 4 kiểm xem Hampel có gắn cờ các đỉnh đó không. Dòng 6 đến 13 là hàm xu_ly_ngoai_lai: dòng 8 và 9 bỏ cờ ở những mốc có trong nhật ký, dòng 10 đến 12 thay các điểm lỗi còn lại bằng trung vị quanh nó, tức winsorize, và dòng 13 trả kèm cột da_sua để biết ô nào đã bị thay. Dòng 15 chạy trên chuỗi Tết với nhật ký là mười đỉnh. Kết quả: năm cách gắn cờ khác nhau đều bắt 10 trên 10 đỉnh Tết. Xoá theo 3σ làm mất 54 mốc, trong đó có cả mười đỉnh; winsorize cộng nhật ký giữ đủ 3.653 mốc, lưới thời gian không bị thủng.</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Mức đổi đột ngột mà từng điểm riêng lẻ trông vẫn bình thường. Tìm mốc đổi đó thế nào?</a:t>
            </a:r>
          </a:p>
          <a:p/>
          <a:p>
            <a:r>
              <a:t>Ta chia chuỗi thành đoạn, mỗi đoạn có trung bình riêng. Chi phí một đoạn là tổng bình phương khoảng cách tới trung bình đoạn. Chia càng nhiều càng khớp, nên mỗi điểm gãy phải trả một khoản phạt gọi là penalty.</a:t>
            </a:r>
          </a:p>
          <a:p/>
          <a:p>
            <a:r>
              <a:t>(chỉ vào hình) Ô trái là mười số, năm số quanh 10 rồi năm số quanh 20. Ô phải, trục ngang là số điểm gãy, cột xanh là chi phí, phần cam là penalty khoảng 6,9 cho mỗi điểm gãy. Không cắt tốn 254. Cắt một lần còn 4, cộng 6,9 là 10,9. Cắt hai lần chi phí còn 3,17 nhưng phải trả 13,8, tổng 17,0. Một điểm gãy thắng.</a:t>
            </a:r>
          </a:p>
          <a:p/>
          <a:p>
            <a:r>
              <a:t>Thuật toán PELT tìm đúng cách chia có tổng chi phí cộng penalty nhỏ nhất. Penalty nhỏ thì cắt vụn, lớn thì không còn điểm gãy, nên các bạn quét nhiều mức và giữ kết quả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Loại bất thường thứ hai cần công cụ riêng là dịch mức, tức điểm gãy: mốc mà trước và sau khác hẳn nhau. PELT cắt chuỗi thành các đoạn sao cho tổng chi phí các đoạn cộng penalty là nhỏ nhất; mỗi điểm gãy thêm vào phải giảm chi phí nhiều hơn penalty. Penalty thấp thì cắt vụn, cao thì bỏ sót. (chỉ vào hình) Trên hành khách bay EU, chạy trên mức gốc ra 43 điểm gãy. Vì sao? Dao động lớn dần theo mức, nên mỗi mùa hè đông khách trông như một đoạn mới. Lấy log trước thì dao động đều lại, chỉ còn 2 điểm gãy, đúng quanh COVID, và ổn định khi penalty đi từ 1 tới 4 lần ln n. Kiểm nhanh: số điểm gãy phải giảm khi penalty tăng. PELT hợp để phân tích lịch sử, không hợp để báo động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4 và 5: mười số có một bậc từ 10 lên 20, penalty đặt bằng 3 lần ln n. Dòng 6 gọi ruptures: Pelt tìm cách cắt rẻ nhất, predict trả vị trí kết thúc từng đoạn. Dòng 8 đến 12 là hàm diem_gay: dòng 9 lấy log để mùa hè đông khách thôi bị coi là gãy, dòng 11 và 12 chạy PELT rồi đổi vị trí cắt thành ngày tháng, bỏ phần tử cuối vì đó chỉ là độ dài chuỗi. Dòng 14 đến 16 quét bảy mức penalty từ 0,5 đến 10 lần ln n, để xem điểm nào trụ lại. Kết quả: ví dụ tay ra 5 và 10, tức một điểm gãy sau vị trí 5. Hàng không EU: mức gốc ra 43 điểm gãy, log ra 2, ổn định từ 1 tới 4 lần ln n, là 2/2020, giảm 78,7%, và 5/2021. Điểm gãy đáng tin là điểm không đổi khi penalty đổi.</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Tìm ra điểm gãy COVID rồi, xử lý đoạn đó thế nào? (chỉ vào bảng) Cùng một mô hình, chỉ đổi cách xử lý, MAPE năm 2023 chênh gần 3 lần. Giữ nguyên: 24,01%, vì đoạn sụt kéo cả đường xu hướng xuống. Cắt, chỉ học sau hồi phục: 18,11%, vì chỉ còn 18 tháng, quá ngắn để học mùa vụ. Coi COVID là thiếu rồi nội suy qua: 8,71%, tốt nhất ở đây. Nhưng đừng nhớ "nội suy luôn thắng". Nội suy chỉ hợp khi hành vi quay về như cũ; nếu sau cú sốc là một mức mới kéo dài thì dùng biến giả. Chọn cách nào là một giả định về tương lai, nên phải thử từng cách, chấm dự báo trên năm sau đó, và ghi rõ giả định vào báo cáo.</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ở đây cố tình đơn giản và giữ cố định, để chỉ còn một thứ thay đổi là cách xử lý COVID. Dòng 5 đến 7 dùng np.polyfit khớp một đường thẳng làm xu hướng. Dòng 8 và 9 tính mỗi tháng là một tỷ lệ so với xu hướng, rồi lấy trung bình theo tháng trong năm, tức mùa vụ nhân. Dòng 10 đến 12 kéo dài xu hướng và nhân hệ số tháng để ra dự báo. Dòng 14 học tới hết 2022 và đánh dấu 16 tháng COVID, từ 3/2020 tới 6/2021. Dòng 15 và 16 là ba cách: giữ, dùng mask rồi interpolate để coi là thiếu, và cắt chỉ giữ sau 6/2021. Kết quả: coi là thiếu cho MAPE 8,71%, giữ nguyên 24,01%. Giữ nguyên thì 16 tháng sụt kéo xu hướng xuống, dự báo thấp gần 20 triệu khách mỗi tháng.</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12 là khử nhiễu. Chuỗi bằng tín hiệu cộng nhiễu, và bộ lọc cố ước lượng phần tín hiệu. Câu hỏi đầu tiên với mọi bộ lọc: đầu ra tại thời điểm t có dùng số sau t không?</a:t>
            </a:r>
          </a:p>
          <a:p/>
          <a:p>
            <a:r>
              <a:t>(chỉ vào hình) Năm giờ điện 10, 12, 14, 30, 16. Đứng ở giờ 3. Kiểu trailing chỉ lấy ba giờ đã qua: 10, 12, 14, ra 12. Kiểu centered lấy giờ trước, giờ này và giờ sau: 12, 14, 30, ra 18,67. Con số 30 là của giờ 4, lúc đứng ở giờ 3 chưa ai biết.</a:t>
            </a:r>
          </a:p>
          <a:p/>
          <a:p>
            <a:r>
              <a:t>Nên centered chỉ để mô tả, vẽ báo cáo, tách xu hướng; không bao giờ làm feature dự báo. Trailing dùng được, nhưng phải trả giá bằng độ trễ: trung bình 13 điểm có đỉnh đến sau tín hiệu 6 bước.</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Hạ dữ liệu 10 phút xuống 1 giờ thì hiện ra một chu kỳ 2,5 giờ. Nó từ đâu ra?</a:t>
            </a:r>
          </a:p>
          <a:p/>
          <a:p>
            <a:r>
              <a:t>(chỉ vào hình) Đường xám là sóng thật, lặp mỗi 4 bước. Chấm đỏ là các mẫu, lấy mỗi 3 bước một lần. Nối các chấm lại được sóng nét đứt, lặp mỗi 12 bước, không có thật. Hiện tượng này gọi là aliasing, giống bánh xe trong phim cũ trông như quay ngược.</a:t>
            </a:r>
          </a:p>
          <a:p/>
          <a:p>
            <a:r>
              <a:t>Quy tắc Nyquist: lấy mẫu với tần số f_s thì chỉ thấy đúng dao động chậm hơn một nửa f_s. Dao động nhanh hơn bị gập xuống: lấy tần số thật trừ bội số gần nhất của tần số lấy mẫu. Ở đây một phần tư trừ một phần ba, trị tuyệt đối là một phần mười hai, tức chu kỳ giả 12 bước. Với dữ liệu 10 phút, dao động 43 phút gập thành đúng chu kỳ giả 2,5 giờ đó.</a:t>
            </a:r>
          </a:p>
          <a:p/>
          <a:p>
            <a:r>
              <a:t>Cách tránh: lọc thông thấp, bỏ dao động nhanh, rồi mới hạ mẫu.</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12: nhiễu và tần số. Trước khi lọc hay hạ mẫu, ta đọc phổ, tức xem dao động của chuỗi nằm ở tần số nào. (chỉ vào hình trái) Trục ngang là tần số, trục đứng là năng lượng. Cả hai cảm biến có đỉnh ở chu kỳ khoảng một ngày, nhưng điện thiết bị còn 17,8% năng lượng ở dao động nhanh hơn một giờ, còn nhiệt độ phòng gần như không có. Nên lọc nhiệt độ chỉ thêm trễ. (chỉ vào hình phải) Lấy mẫu quá thưa thì dao động nhanh biến thành nhịp chậm không có thật, gọi là aliasing, như bánh xe quay ngược trong phim cũ. Giới hạn Nyquist là nửa tần số lấy mẫu; nhanh hơn mức đó sẽ bị gập xuống. Dao động 43 phút, hạ mẫu thô xuống 1 giờ, sinh chu kỳ giả 2,5 giờ. Sửa: lọc thông thấp trước khi hạ mẫu.</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lọc, đo hai thứ: nhịp nào mạnh nhất, và dao động nhanh chiếm bao nhiêu năng lượng. Dòng 5 đến 7 là hai dãy tính tay: dãy đổi dấu mỗi bước lặp mỗi 2 bước, dãy ba cộng ba trừ lặp mỗi 6 bước; periodogram phải cho đỉnh ở 0,5 và một phần sáu. Dòng 9 đến 12 là hàm pho: trừ trung bình trước, để thành phần tần số 0 không át hết, rồi dùng Welch, tức chia chuỗi thành đoạn và lấy trung bình phổ các đoạn cho ổn định. Dòng 14 và 15 tìm chu kỳ mạnh nhất, bỏ qua tần số 0. Dòng 16 là tỷ lệ năng lượng ở tần số trên 1 vòng mỗi giờ. Kết quả: ví dụ tay đúng ở 0,5 và một phần sáu; cả hai cảm biến có đỉnh 24,38 giờ; điện thiết bị có 17,8% năng lượng dưới 1 giờ, nhiệt độ phòng 0,0.</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là công thức tần số giả: lấy trị tuyệt đối của f trừ k lần tần số lấy mẫu, với k là số nguyên gần f chia tần số lấy mẫu nhất. Dòng 11 là hạ mẫu thô: cứ 6 mẫu lấy một, từ 10 phút lên 1 giờ. Dòng 12 thiết kế bộ lọc Butterworth cắt ở 0,8 lần Nyquist mới, tức chừa một khoảng an toàn. Dòng 13 lọc hai chiều rồi mới lấy mẫu; ở đây ta xử lý dữ liệu lịch sử nên lọc hai chiều không sao, nhưng không dùng cách này làm feature. Dòng 15 và 16 tạo chuỗi thử: nhịp ngày cộng dao động 1,4 chu kỳ mỗi giờ. Kết quả: 1,4 lấy mẫu mỗi giờ gập thành 0,4, tức chu kỳ giả 2,5 giờ; công suất ở đó là 64,0 khi hạ mẫu thô và 0,0 khi lọc trước.</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cách làm trơn nhân quả nào trễ ít hơn không? Có: EWMA, trung bình trượt hàm mũ.</a:t>
            </a:r>
          </a:p>
          <a:p/>
          <a:p>
            <a:r>
              <a:t>Công thức rất gọn: đầu ra mới bằng alpha nhân số mới, cộng một trừ alpha nhân đầu ra trước. Với alpha 0,5 và chuỗi 10, 20, 10, ta được 10, rồi 15, rồi 12,5. Mỗi bước chỉ cần nhớ một con số.</a:t>
            </a:r>
          </a:p>
          <a:p/>
          <a:p>
            <a:r>
              <a:t>(chỉ vào hình) Trục ngang là số bước lùi về quá khứ, trục dọc là trọng số. Trung bình 13 điểm chia đều rồi cắt hẳn; EWMA dồn phần lớn vào vài điểm mới nhất. Vì vậy cùng độ trơn mà trễ ít hơn: đo được trung bình 13 điểm trễ 6 bước, EWMA alpha 0,15 trễ 4.</a:t>
            </a:r>
          </a:p>
          <a:p/>
          <a:p>
            <a:r>
              <a:t>Một lưu ý khi dùng pandas: alpha, span và com là ba cách khai cùng một tham số. span bằng 9 là alpha 0,2, còn com bằng 9 là alpha 0,1. Luôn ghi rõ đã khai cái nào.</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họ bộ lọc, mười cấu hình. Cái nào dùng được làm feature dự báo?</a:t>
            </a:r>
          </a:p>
          <a:p/>
          <a:p>
            <a:r>
              <a:t>Savitzky–Golay khớp đa thức quanh mỗi điểm. Butterworth cắt tần số theo ngưỡng. Kalman ước lượng tín hiệu ẩn.</a:t>
            </a:r>
          </a:p>
          <a:p/>
          <a:p>
            <a:r>
              <a:t>(chỉ vào hình) Tín hiệu nhảy từ 0 lên 1 tại vạch chấm. Bản một chiều, màu xanh, chỉ lên sau vạch: nó trễ. Bản xuôi rồi ngược, màu cam, đã lên trước vạch. Nó không trễ vì đầu ra lúc đó đã dùng số của tương lai.</a:t>
            </a:r>
          </a:p>
          <a:p/>
          <a:p>
            <a:r>
              <a:t>Trên tín hiệu mô phỏng, ba bộ lọc có sai số thấp nhất đều nhìn tương lai. Đổi 10 số cuối chuỗi thì sosfilt giữ nguyên quá khứ, còn filtfilt đổi quá khứ tới 23,615 và kéo ngược 274 bước. Bù lại, Butterworth nhân quả trễ 19 bước. Dùng được làm feature chỉ có trailing, EWMA, sosfilt và Kalman filter với tham số cố định từ phần học.</a:t>
            </a:r>
          </a:p>
          <a:p/>
          <a:p>
            <a:r>
              <a:t>Độ trơn luôn phải trả bằng trễ, hoặc bằng việc nhìn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họ bộ lọc của buổi 12 gom vào một bảng để tra khi cần.</a:t>
            </a:r>
          </a:p>
          <a:p/>
          <a:p>
            <a:r>
              <a:t>Đọc theo cột “hiểu đơn giản” trước. Trailing lấy trung bình k điểm gần nhất. Centered lấy các điểm quanh nó, cả trước lẫn sau. EWMA cho điểm mới nặng hơn điểm cũ. Savitzky–Golay khớp một đa thức nhỏ quanh mỗi điểm nên giữ được chiều cao đỉnh. Butterworth cắt tần số cao theo ngưỡng. Kalman ước lượng một tín hiệu ẩn đổi dần, cộng nhiễu.</a:t>
            </a:r>
          </a:p>
          <a:p/>
          <a:p>
            <a:r>
              <a:t>(chỉ vào cột cuối) Cột quan trọng nhất là “nhân quả”. Làm feature dự báo thì chỉ chọn trong các dòng “có”. Hai dòng “có / không” tuỳ phiên bản: sosfilt và Kalman filter chạy một chiều thì nhân quả; sosfiltfilt và Kalman smoother chạy hai chiều thì nhìn tương lai. Riêng Kalman filter chỉ nhân quả khi tham số ước lượng trên phần học rồi cố định; khớp lại trên cả chuỗi thì quá khứ đổi tới 1,134.</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đã nói, độ trơn luôn phải trả giá: hoặc trễ, hoặc nhìn tương lai. Trung bình trượt 13 điểm kiểu trailing chạy sau tín hiệu 6 bước. (chỉ vào hình) Buổi 12 so sáu họ bộ lọc trong mười cấu hình. Ba cái RMSE thấp nhất, trung bình trượt centered, Kalman smoother và Savitzky–Golay, đều nhìn tương lai, nên không dùng được làm feature. Nếu chỉ nhìn bảng RMSE, ta sẽ chọn đúng bộ lọc không chạy được lúc dự báo. Sửa: thêm cột "nhân quả" vào bảng xếp hạng và chỉ so các bộ lọc nhân quả với nhau. Trong nhóm này Kalman filter tốt nhất, RMSE 0,584; Butterworth nhân quả tệ nhất, 2,419, vì trễ 19 bước. Thêm một lưu ý: khử nhiễu bôi nhoè bước nhảy, nên tìm điểm gãy trước rồi mới lọc.</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chạy các họ bộ lọc trên cùng một chuỗi mô phỏng có nhiễu, seed 0, nên biết được tín hiệu thật để tính RMSE. Dòng 7 và 8: tham số Kalman chỉ học trên một phần ba đầu, để không rò rỉ qua tham số. Dòng 9 đến 11: trung bình trượt trailing, centered và EWMA. Dòng 12: Savitzky–Golay khớp đa thức bậc 2 trong cửa sổ 13 điểm có tâm, giữ đỉnh tốt nhưng dùng điểm phía sau. Dòng 13 và 14 là cùng một bộ Butterworth, chạy một chiều bằng sosfilt hoặc hai chiều bằng sosfiltfilt. Dòng 15 và 16: Kalman filter chỉ dùng quá khứ, Kalman smoother dùng cả hai phía. Kết quả: ba RMSE thấp nhất, centered 0,357, Kalman smoother và Savitzky–Golay, đều nhìn tương lai. Nhân quả tốt nhất là Kalman filter, 0,584, trễ chỉ 1 bước.</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thư viện không nói bộ lọc có dùng số của giờ sau không. Kiểm thế nào? Đổi đuôi, xem đầu.</a:t>
            </a:r>
          </a:p>
          <a:p/>
          <a:p>
            <a:r>
              <a:t>Năm giờ điện 10, 12, 14, 30, 16, đổi giờ cuối từ 16 thành 40. Trung bình trượt kiểu centered ở giờ 4 đổi từ 20 thành 28: một con số quá khứ bị sửa khi dữ liệu mới về. Kiểu trailing ở giờ 4 vẫn 18,67.</a:t>
            </a:r>
          </a:p>
          <a:p/>
          <a:p>
            <a:r>
              <a:t>(chỉ vào hình) Ô dưới, trục dọc là đầu ra mới trừ đầu ra cũ, thang log. Nhìn bên trái vạch đen đứt, chỗ bắt đầu đổi: đường xanh trailing nằm ở 0, đường cam centered nhảy lên ở 6 mốc ngay trước vạch, đúng nửa cửa sổ 13.</a:t>
            </a:r>
          </a:p>
          <a:p/>
          <a:p>
            <a:r>
              <a:t>Ba chỗ hay sai: so mọi mốc trước điểm đổi, không bỏ đoạn cuối; dung sai theo thang dữ liệu; và tham số ước lượng trên cả chuỗi cũng làm quá khứ đổi, như Kalman filter khớp lại trên cả chuỗi đổi quá khứ 1,134.</a:t>
            </a:r>
          </a:p>
          <a:p/>
          <a:p>
            <a:r>
              <a:t>Nhân quả thì quá khứ đứng yên.</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đã nói, bộ lọc nhân quả chỉ dùng dữ liệu tới thời điểm đang xét. Nhưng đọc code không phải lúc nào cũng thấy nó có nhìn tương lai hay không, nên ta cần một phép thử: đổi vài điểm cuối chuỗi rồi chạy lại. Quá khứ mà đổi theo là bộ lọc đã nhìn tương lai. (chỉ vào hình) Sau khi đổi 10 giá trị cuối, trailing không đổi ở mốc nào trước đó; centered đổi ở 6 mốc ngay trước. Cái giá nếu bỏ qua: feature làm trơn kiểu centered hay filtfilt hứa giảm MAE 24 đến 28%, còn mọi feature nhân quả chỉ giúp 1 đến 6%, và phần thưởng giả mất sạch khi chạy thật. Sửa: dùng trailing, EWMA hay sosfilt; tham số ước lượng trên phần học rồi cố định; và luôn chấm trên chuỗi gốc.</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bằng ví dụ năm giờ tính tay được. Dòng 3: năm giờ điện, giờ 4 vọt lên 30. Dòng 4 và 5 là hai kiểu trung bình trượt ba điểm: trailing lấy điểm đang xét và hai điểm trước, centered lấy một trước, một sau. Dòng 7 và 8: giả sử số của giờ 5 về khác đi, đổi từ 16 thành 40. Dòng 9 và 10 xem giá trị ở giờ 4 có đổi theo không. Kết quả: ngay từ đầu, centered ở giờ 3 đã ra 18,67, vì nó cộng cả số 30 của giờ 4, tức biết trước cú vọt. Khi giờ 5 đổi thành 40, centered ở giờ 4 nhảy từ 20 lên 28, nghĩa là quá khứ bị viết lại; trailing ở giờ 4 vẫn là 18,67. Đó chính là phép thử đổi đuôi, ở quy mô năm số.</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biến phép thử đó thành một hàm chạy được cho mọi bộ lọc. Dòng 6: chạy bộ lọc trên chuỗi gốc. Dòng 7 đến 9: cộng 50 vào 10 số cuối rồi chạy lại. Dòng 10: so mọi mốc trước chỗ đổi, NaN đổi thành 0 để phép trừ không ra NaN. Dòng 11 và 12: lệch vượt sai số máy tính thì báo có nhìn tương lai; ngưỡng tính theo độ lớn chuỗi để không báo nhầm vì sai số làm tròn. Dòng 14 kiểm cả mười cấu hình bộ lọc. Kết quả: 6 trên 10 cấu hình nhìn tương lai. Centered 13 đổi quá khứ tới 23,077. Kalman khớp lại trên cả chuỗi đổi 1,134, tức bộ lọc nhân quả vẫn rò rỉ qua tham số. filtfilt làm bẩn ngược tới 274 bước, xa hơn nhiều so với độ rộng cửa sổ mà ta tưởng.</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Làm trơn feature bằng bộ lọc nhân quả thì được. Còn làm trơn chính mục tiêu thì sao?</a:t>
            </a:r>
          </a:p>
          <a:p/>
          <a:p>
            <a:r>
              <a:t>Cùng một mô hình dự báo điện một giờ tới. Chấm trên điện thật, MAE là 46,84 Wh. Chấm trên điện đã làm trơn bằng trung bình centered 13 điểm, MAE còn 35,78, giảm 23,6%. Mô hình không đổi một chút nào; nó chỉ được chấm trên một đề dễ hơn và không có thật, vì không ai trả tiền điện đã làm trơn.</a:t>
            </a:r>
          </a:p>
          <a:p/>
          <a:p>
            <a:r>
              <a:t>(chỉ vào hình) Đường làm trơn cắt mất các đỉnh nhọn, đúng những chỗ mô hình sai nhiều nhất.</a:t>
            </a:r>
          </a:p>
          <a:p/>
          <a:p>
            <a:r>
              <a:t>Cách sửa: luôn chấm trên chuỗi gốc. Nếu người dùng thật sự cần trung bình 3 giờ tới, thì định nghĩa lại mục tiêu thành đúng đại lượng đó và ghi rõ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mấy slide trước đã nói, feature nhìn tương lai làm sai số đẹp giả; slide này đo đẹp giả bao nhiêu. Dòng 5 và 6: feature là giá trị đã lọc cộng giá trị hiện tại, mục tiêu là điện 6 bước sau, tức 1 giờ tới, lấy bằng shift âm 6. Dòng 7 và 8 chia theo thời gian, 70% đầu học, 30% sau chấm, không xáo trộn. Dòng 9 đến 11 hồi quy tuyến tính bằng bình phương nhỏ nhất với lstsq. Dòng 12 tính MAE trên chuỗi gốc, không phải chuỗi đã lọc. Dòng 14 đến 16 so ba trường hợp: không lọc, centered, trailing. Kết quả: không lọc MAE 46,84 Wh. Centered giảm 27,7%, filtfilt giảm 24,5%, đều là giả. Feature nhân quả chỉ giúp 0,9 đến 5,9%. Đó mới là con số ta được hưởng khi chạy thật.</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13: rò rỉ tương lai, tức dùng thông tin chưa có lúc ra dự báo. Nó không bao giờ báo lỗi; triệu chứng duy nhất là backtest đẹp còn dùng thật thì tệ. Nên ta phải có máy kiểm. kiem_ro_ri làm ba bước: cắt dữ liệu tại một mốc, tính lại feature, so từng dòng trước mốc. Giống hệt thì chưa thấy rò rỉ; khác là feature đã dùng tương lai. (chỉ vào hình) Bản shift 1 rồi rolling 7 trùng khít; bản rolling center bằng True lệch ngay trước mốc cắt. Ba kiểu rò rỉ qua cả chuỗi hay gặp: scaler tính trên toàn bộ dữ liệu, target encoding tính trên cả chuỗi, nội suy dùng điểm phía sau. Cách sửa chung: chỉ fit trên phần học. Thêm kiểm nhiễu mục tiêu để bắt lag nhỏ hơn tầm dự báo. Và nhớ: kiểm xanh không chứng minh là sạch.</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đặt bản sai cạnh bản đúng cho ba kiểu rò rỉ, trên sáu ngày tính tay được. Dòng 4 đến 7: sáu ngày, hai nhóm A và B xen kẽ, ngày 3 bị mất số. Dòng 8 và 9, chuẩn hoá: bản sai dùng trung bình cả sáu ngày, bản đúng dùng shift 1 rồi expanding, tức chỉ trung bình tới hôm qua. Dòng 10 đến 12, trung bình nhóm: bản sai lấy trung bình cả nhóm, bản đúng tính theo nhóm nhưng chỉ trên quá khứ. Dòng 13 và 14, điền chỗ thiếu: nội suy hai phía so với ffill lấy hôm trước. Kết quả: mọi ô z đều dùng trung bình 13,33, trong đó có cả hai ngày cuối. Ngày 1 mang trung bình nhóm A là 12,67, chứa số 20 của ngày 5. Điền hai phía ra 13 vì đã nhìn ngày 4, ffill ra 12.</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máy tự tìm rò rỉ. Dòng 3: tính feature một lần trên dữ liệu đầy đủ. Dòng 4 và 5: chọn ba mốc cắt ở 50, 70 và 90% chuỗi, vì ở một mốc, rò rỉ có thể không hiện ra. Dòng 7: bỏ phần sau mốc rồi tính lại. Dòng 9: so mọi dòng trước mốc, không bỏ dòng cuối nào, vì rò rỉ hay nằm sát mốc. Dòng 11 đến 15: so từng cột bằng isclose với equal_nan bằng True, nên NaN gặp số vẫn tính là khác; cột nào đổi dù chỉ một dòng là rò rỉ, trả về kèm số dòng đổi. Kết quả: bản làm ẩu, một mốc và bỏ 10 dòng cuối, chỉ bắt 4 cột, để lọt tb_7. Bản đúng bắt đủ 5 cột. Bộ 41 cột đã sửa qua sạch cả hai bài kiểm.</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Kiểu rò rỉ cuối khó thấy nhất: biến ngoại sinh, ví dụ nhiệt độ khi dự báo tải điện. Lúc dự báo, ta chỉ có bản dự báo nhiệt độ, không có nhiệt độ thật. (chỉ vào hình) Backtest dùng nhiệt độ thật hứa giảm sai số 3,85%. Chạy thật bằng dự báo trước 1 ngày còn giảm 3,10%. Chạy bằng dự báo trước 3 ngày thì sai số tăng 2,20%, tệ hơn không dùng nhiệt độ, vì mô hình học tin nhiệt độ quá mức. Kiểm bằng một câu hỏi cho từng biến: lúc ra dự báo, con số này đã có trong tay chưa? Sửa: huấn luyện bằng các bản dự báo đã lưu lại, ghép bằng merge_asof có tolerance. Dự báo trước 3 ngày kém tới mức huấn luyện bằng chính nó vẫn tăng sai số 2,92%, nên bỏ hẳn feature đó.</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4: mục tiêu là tải điện 24 giờ sau, lấy bằng shift âm 24. Dòng 5: vì mục tiêu đã ở t cộng 24, tải hiện tại chính là lag 24, còn shift 144 là lag 168 tính từ giờ đích. Dòng 6 và 7 đưa ba nguồn nhiệt độ về đúng giờ cần dự báo: nhiệt độ thật, dự báo trước 1 ngày, dự báo trước 3 ngày. Dòng 9 là backtest bằng nhiệt độ thật, con số hứa hẹn. Dòng 10 và 11 là kịch bản hay gặp ngoài đời: học bằng thật, chạy bằng dự báo. Dòng 13 đến 15 ghép bằng merge_asof: direction backward chỉ lấy bản tin cũ hơn, tolerance 3 giờ để quá cũ thì bỏ trống. Kết quả: nhiệt độ thật hứa giảm 3,85% sai số; học bằng thật, chạy bằng dự báo trước 3 ngày thì sai số tăng 2,20%, tệ hơn không dùng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 là phần để tra khi làm thật, không phải để học thuộc. Nó gom 24 lỗi hay gặp vào ba bảng, thêm 10 chỗ người mới hay hiểu nhầm, và từ điển Việt – Anh 100 thuật ngữ để các bạn đọc tài liệu gốc. Cách dùng bảng tra: thấy dấu hiệu ở cột trái, chạy phép kiểm ở cột giữa, rồi sửa theo cột phải.</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đầu gom tám lỗi của buổi 3 đến 6: múi giờ, gộp tần suất, điều chỉnh lịch, biến đổi, phân rã. Đọc từ trái sang: dấu hiệu, kiểm bằng gì, sửa thế nào, buổi nào để xem lại. Ba dòng nên nhớ. Dòng "Nóng nhất lúc 20h": giờ nóng nhất trung bình lệch lạ là dấu hiệu các nguồn chưa về cùng UTC. Dòng "Data must be positive": đó là lỗi Box-Cox khi gặp số 0 hay số âm; kiểm y.min, rồi dùng Yeo-Johnson, bản nhận cả số 0 và số âm. Và dòng "Tổng dự báo thấp hơn thật": đổi ngược từ log mà quên hiệu chỉnh bias thì tổng luôn hụt.</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thứ hai là tám lỗi của buổi 7 đến 10: dừng, tương quan, thiếu. Nhấn ba dòng. ADF và KPSS cùng bác bỏ không phải "dừng quanh xu hướng" mà thường do cú sốc hay đổi mức đột ngột; vẽ chuỗi, tìm cú sốc, tách đoạn. Hai chuỗi lạ có r bằng 0,97 thường là tương quan giả do cùng có xu hướng; sai phân rồi tính lại r. Và "min lớn hơn max" nghe vô lý nhưng gặp thật: cột số lưu dạng chữ, kiểm dtypes rồi dùng to_numeric với errors bằng coerce. Dòng cuối, một giá trị chiếm 35%, là mã trá hình ta vừa gặp ở Nội Bài.</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cuối là tám lỗi của buổi 10 đến 15, nhiều dòng các bạn vừa gặp trong phần B. Nhấn ba dòng. "3σ không bắt được gì": thêm một điểm cực lớn để thử, rồi chuyển sang MAD hay Hampel. "Backtest đẹp, dùng thật tệ": chạy kiem_ro_ri nhiều mốc cắt, sửa bằng lag không nhỏ hơn tầm dự báo và chỉ fit trên phần học. Và dòng cuối về gap: gap là số bước bỏ trống giữa mốc cắt và đoạn dự báo khi dữ liệu về trễ. Số liệu về trễ 1 ngày thì gap bằng 24 giờ. Quên gap là backtest đang dùng số liệu mà lúc chạy thật chưa về.</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chỗ này là những câu nghe hợp lý nhưng sai. Cột trái là điều hay nghĩ, cột giữa là thật ra thế nào. Tôi nhấn ba câu. Thứ nhất, "ADF dừng, KPSS không dừng thì là dừng quanh xu hướng": sai, đó là mâu thuẫn, vì hai kiểm định có giả thuyết ngược nhau; thường có cú sốc hoặc đổi mức, hãy vẽ chuỗi. Thứ hai, "CV cao là khó dự báo": chuỗi 10, 30, 10, 30 có CV 0,58 mà rất dễ đoán; độ khó phải đo bằng sai số của baseline. Thứ ba, "chỉ cần thắng seasonal naive": phải thắng cả bốn baseline; trên M4 theo ngày, naive 0,835 và drift 0,810 còn thắng seasonal naive 1,077.</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slide từ điển này để tra, không cần đọc hết. Tên tiếng Anh thống nhất theo Phụ lục E, dùng khi các bạn đọc tài liệu gốc như FPP, statsmodels hay Nixtla. Cột cuối cho biết buổi nào dạy từ đó. Slide đầu là nền móng và hiểu dữ liệu, buổi 1 đến 6. Hai cặp nên nhớ vì gặp liên tục trong tài liệu tiếng Anh: gốc dự báo là forecast origin hay cutoff, và tầm dự báo h là forecast horizon. Thêm "sai số ảo" là in-sample error: sai số đo trên chính dữ liệu đã học, luôn đẹp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hai: dừng và làm sạch, buổi 6 đến 11. Khi đọc tài liệu tiếng Anh, để ý ba từ. Stationarity là tính dừng, và unit root test là tên chung của ADF với KPSS. Sentinel value là mã trá hình, như 9,999 km ở Nội Bài; tra bằng từ này sẽ ra tài liệu nguồn giải thích mã. Và MCAR, MAR, MNAR là ba kiểu thiếu: thiếu hoàn toàn ngẫu nhiên, thiếu ngẫu nhiên có điều kiện, thiếu vì chính giá trị của nó.</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ba: ngoại lai, bộ lọc, rò rỉ và đánh giá, buổi 11 đến 15. Ba từ đáng nhớ. Masking là che khuất, ngoại lai tự che mình; swamping là mặt ngược lại, gắn cờ oan điểm bình thường. Data leakage hay look-ahead bias là rò rỉ tương lai; tìm bằng cả hai từ vì mỗi cộng đồng quen một cách gọi. Và rolling origin còn được gọi là time series cross-validation, cùng một ý: dự báo cuốn qua nhiều gốc.</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tư gom các thuật ngữ nền về xác suất, biểu đồ và biến đổi từ bảng "Từ mới" của buổi 1 đến 6. Hai dòng đáng nhớ. Point và probabilistic forecast: dự báo điểm cho một số, dự báo phân phối cho cả khoảng khả năng. Và effective sample size, cỡ mẫu hiệu dụng: dữ liệu tự tương quan thì số điểm "đáng giá" ít hơn số dòng, nên khoảng tin cậy phải rộng hơn. Còn random seed là thứ ta ghi kèm mọi con số trong khoá để chạy lại ra đúng số.</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của từ điển: tương quan, làm sạch và bộ lọc, từ buổi 8 đến 15. Ba dòng đáng nhớ. Confounder, biến gây nhiễu, là biến thứ ba làm hai chuỗi trông như liên quan. Artificial masking là che nhân tạo, cách ta chấm các cách điền ở buổi 10; đừng nhầm với masking của ngoại lai ở buổi 11. Và target encoding, mã hoá target, là nguồn rò rỉ hay gặp nếu tính trên cả chuỗi.</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cuối cho biết mỗi thư viện lo phần nào, để khi mở code các bạn biết tra ở đâu. pandas và NumPy có mặt ở mọi buổi: pandas lo bảng dữ liệu theo thời gian như resample, shift, rolling, merge_asof; NumPy lo tính toán trên mảng. statsmodels là thư viện thống kê: ACF, ADF, KPSS, STL. SciPy lo Box-Cox, tương quan và bộ lọc tín hiệu buổi 12. ruptures chỉ để tìm điểm gãy. statsforecast và utilsforecast của Nixtla chạy baseline, backtest và chỉ số nhanh cho hàng nghìn chuỗi. Dòng cuối quan trọng: nhiều hàm như du_bao_cuon hay kiem_ro_ri là tự viết, để thấy rõ từng bước trước khi giao cho thư viện.</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là bảng tra ngược, các bạn không cần nhớ ngay. Cột trái là lý thuyết, cột giữa là tên hàm, cột thứ ba là thư viện, cột cuối là buổi dạy. Khi ôn lại một khái niệm, ví dụ Box-Cox, các bạn tìm dòng đó, thấy hàm stats.boxcox của SciPy ở buổi 5, rồi mở slide code của buổi 5 để xem cách dùng. Hai điều đáng để ý: pandas xuất hiện ở hầu hết các dòng, vì phần lớn tiền xử lý là thao tác bảng theo thời gian; và dòng cuối, chỉ số sai số, có cả bản tự viết lẫn utilsforecast, vì chúng ta sẽ thấy ở phần sau rằng hai bản này có thể lệch nhau nếu không đọc quy ước.</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Đến đây chúng ta đã làm sạch, biến đổi, tạo feature. Nhưng mọi bước đó chỉ có giá trị nếu dự báo tốt hơn thật, và "tốt hơn thật" phải đo trung thực. Phần D đi qua sáu việc: chẩn đoán phần dư, chọn chỉ số, chia dữ liệu theo thời gian, backtest rolling origin, tách ba đoạn dữ liệu, và kiểm định Diebold–Mariano để biết chênh lệch là thật hay may.</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đầu tiên: mô hình đã khai thác hết quy luật trong dữ liệu chưa? Phần dư trả lời câu đó. Phần dư là thực tế trừ giá trị khớp trên phần học; còn sai số dự báo đo trên kỳ chấm, phần mô hình chưa thấy. Hai thứ này khác nhau, và chỉ số chính xác luôn tính trên kỳ chấm. (chỉ vào hình) Ô trái là phần dư theo ngày, có một cú rơi rất lớn. Ô giữa là ACF theo trễ: các cột đầu cao vượt hẳn hai đường đứt, trễ 1 tới 0,86. Ô phải là phân phối, lệch khỏi hình chuông. Ljung-Box cho p gần 0, tức còn quy luật bị bỏ sót. Nghĩa là seasonal naive chưa dùng hết thông tin, mô hình tốt hơn có chỗ để thắng, và khoảng dự báo của baseline này không đáng tin.</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chúng ta kiểm bằng code. Dòng 4 đến 5 tính phần dư seasonal naive: mỗi ngày trừ ngày cùng thứ tuần trước. Dòng 8 đến 10 tính tự tương quan của phần dư ở 14 trễ, bằng np.dot: nhân từng cặp rồi cộng. Dòng 11 đến 12 gộp 14 trễ đó thành một con số Q, cộng bình phương các tự tương quan có trọng số. Dòng 13 đổi Q thành p bằng phân phối chi bình phương: p là xác suất gặp Q lớn cỡ này nếu phần dư chỉ là nhiễu. Dòng 16 dùng Jarque–Bera để hỏi phần dư có gần hình chuông không. Kết quả trên 1.000 chuỗi M4: 99,8% còn tự tương quan, 92,5% không hình chuông, và 46,4% có phương sai đổi hơn 2 lần. Tức là gần như chuỗi nào cũng còn chỗ để cải thiện.</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Chọn chỉ số nghe như việc kỹ thuật, nhưng thật ra là chọn luôn dự báo. Ba chỉ số cơ bản, sai số bằng thực tế trừ dự báo. MAE là trung bình độ lớn sai số. RMSE bình phương trước khi lấy trung bình rồi căn lại, nên phạt nặng sai số lớn. ME giữ dấu: dương nghĩa là dự báo thấp có hệ thống. (chỉ vào hình) Ô trái là 20.000 số lệch phải như doanh số. Ô phải thử từng hằng số dự báo và xem mỗi chỉ số đáy ở đâu: MAE đáy ở trung vị 20,0, RMSE đáy ở trung bình 30,1, MAPE còn đáy thấp hơn cả hai, ở 9,1. Vì vậy hãy chọn chỉ số theo cái giá thật của sai lệch. Một lưu ý: utilsforecast tính bias là dự báo trừ thực tế, ngược dấu với khoá.</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3 đến 8 là ba chỉ số, mỗi cái một dòng, sai số là thực tế trừ dự báo. Dòng 10 đến 11 là bảng năm ngày để các bạn tính tay đối chiếu. Dòng 12 sinh 20.000 số lệch phải bằng lognormal, seed 0 để chạy lại ra y hệt. Dòng 13 đến 15 là thí nghiệm chính: chia khoảng giá trị thành 2.000 hằng số c, với mỗi c tính MAE và RMSE nếu ta luôn dự báo c. Dòng 16 dùng np.argmin tìm c làm mỗi chỉ số nhỏ nhất. Kết quả: năm ngày cho MAE 1,6, RMSE 2,10, ME 0,8. Trên số lệch phải, MAE nhỏ nhất ở 20,0, đúng trung vị; RMSE nhỏ nhất ở 30,1, đúng trung bình. Cùng dữ liệu, hai chỉ số đòi hai con số dự báo khác nhau.</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so sai số giữa các chuỗi khác đơn vị, người ta hay dùng phần trăm, và MAPE là lựa chọn phổ biến. MAPE chia sai số cho thực tế nên có hai điểm yếu. Thực tế bằng 0 thì chia cho 0, ra vô hạn. Và nó lệch không đối xứng: thật 100, dự báo 150 ra 50%, nhưng thật 150, dự báo 100 chỉ ra 33,3%. (chỉ vào hình) Mỗi ô là hạng của một baseline theo một chỉ số, ô trái là M4, ô phải là bán lẻ có 75% ngày bằng 0. M4 gần như cùng thứ hạng ở mọi chỉ số; bán lẻ thì hạng nhất đổi theo chỉ số, còn cột MAPE toàn gạch vì không tính được. Thay thế là WAPE, lấy tổng chia tổng, và MASE, chia cho sai số của baseline. Ngay sau slide code, một slide riêng nói kỹ MASE.</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lệch 50 đơn vị, vì sao dự báo cao bị MAPE phạt nặng hơn dự báo thấp?</a:t>
            </a:r>
          </a:p>
          <a:p/>
          <a:p>
            <a:r>
              <a:t>MAPE chia sai số cho thực tế. Thực tế 100, dự báo 150: lệch 50 chia 100, ra 50%. Thực tế 150, dự báo 100: vẫn lệch 50 nhưng chia 150, chỉ còn 33,3%. Dự báo thấp sai nhiều nhất là 100%, khi dự báo bằng 0, còn dự báo cao thì sai bao nhiêu phần trăm cũng được. Nên tối ưu MAPE sẽ kéo dự báo xuống thấp.</a:t>
            </a:r>
          </a:p>
          <a:p/>
          <a:p>
            <a:r>
              <a:t>(chỉ vào hình) Với 20.000 số mô phỏng lệch phải như doanh số, ở ô phải trục ngang là hằng số dự báo, trục dọc là chỉ số, chia cho giá trị nhỏ nhất của chính nó. Nhìn đáy ba đường: MAE đáy ở 20,0, đúng trung vị; RMSE ở 30,1, là trung bình; MAPE ở 9,1, thấp hơn cả hai.</a:t>
            </a:r>
          </a:p>
          <a:p/>
          <a:p>
            <a:r>
              <a:t>sMAPE mang tên đối xứng nhưng cũng không đối xứng. Chọn mô hình bằng MAPE là nghiêng về dự báo thấp.</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chỉ số phần trăm, mỗi hàm xử lý số 0 một kiểu. Dòng 3 đến 6 là MAPE: chia từng sai số cho từng thực tế. Dòng 5 có np.errstate để tắt cảnh báo chia cho 0, nhưng chúng ta cố ý để kết quả vô hạn hiện ra, không giấu đi. Dòng 8 đến 12 là sMAPE kiểu M4: chia cho tổng độ lớn thực tế và dự báo, nhân 200, nên thang đi từ 0 tới 200; ô nào mẫu bằng 0 thì np.where cho 0. Dòng 14 đến 16 là WAPE: tổng sai số chia tổng thực tế, chỉ hỏng khi cả chuỗi bằng 0. Kết quả trên bảng năm ngày: MAPE 12,8%, sMAPE 13,6, WAPE 13,3%. Thêm một ngày thực tế bằng 0 thì MAPE thành vô hạn ngay, và trên 300 mã bán lẻ, MAPE không tính được.</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số phần trăm vỡ khi có số 0. MASE tránh việc chia cho thực tế.</a:t>
            </a:r>
          </a:p>
          <a:p/>
          <a:p>
            <a:r>
              <a:t>MASE lấy MAE trên kỳ chấm, chia cho MAE của seasonal naive trên phần học. Kết quả đọc là: mô hình sai bằng bao nhiêu lần mức sai quen thuộc của baseline trên chuỗi này. Ví dụ phần học 9, 11, 10, 12, 13: bước nhảy trung bình 1,5. MAE kỳ chấm 1,6 thì MASE là 1,07. RMSSE làm tương tự với bình phương, dùng ở cuộc thi M5.</a:t>
            </a:r>
          </a:p>
          <a:p/>
          <a:p>
            <a:r>
              <a:t>Có hai chỗ hay nhầm. Một, mẫu số phải lấy trên phần học; lấy trên kỳ chấm là dùng thông tin tương lai, và MASE của naive trên M4 ra 0,972 thay vì 0,835. Hai, MASE dưới 1 chưa chắc thắng seasonal naive trên kỳ chấm, vì kỳ chấm thường khó hơn. Muốn biết thì chạy baseline trên cùng kỳ.</a:t>
            </a:r>
          </a:p>
          <a:p/>
          <a:p>
            <a:r>
              <a:t>(chỉ vào hình buổi 9) Vì mẫu số lớn lên theo độ khó của chuỗi, MASE của seasonal naive nằm ngang quanh 1. MASE dùng để so mô hình, không để đo độ khó.</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MASE chia sai số cho sai số của seasonal naive trên phần học. Dòng 4 là chỗ quan trọng nhất: sai số seasonal naive tính trên phần học, không phải trên kỳ chấm. Dòng 5 đến 7 lấy trung bình trị tuyệt đối cho MASE, hoặc trung bình bình phương cho RMSSE. Dòng 9 đến 11 chia MAE kỳ chấm cho mẫu số đó. Dòng 11 còn một chi tiết: mẫu số bằng 0, ví dụ chuỗi phẳng, thì trả NaN chứ không trả 0, để khỏi lẫn với dự báo hoàn hảo. Dòng 13 đến 15 là RMSSE, làm y hệt với bình phương rồi căn. Ví dụ tay: MASE bằng 1,6 chia 1,5, khoảng 1,07; RMSSE khoảng 1,33. Nếu lấy nhầm mẫu số trên đoạn chấm như code đầu buổi, MASE của naive trên M4 ra 0,972 thay vì 0,835.</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nhiều chuỗi thì phải gộp, và gộp là chỗ dễ giấu lỗi. Dòng 3 đến 5 bỏ các ô vô hạn hay NaN, nhưng đếm số ô đó để báo ra. Dòng 6 gộp bằng cả trung vị và trung bình: trung vị không bị vài chuỗi cực đoan kéo, trung bình thì bị. Dòng 8 đến 12 xếp hạng mô hình theo từng chỉ số bằng rank; riêng ME xếp theo trị tuyệt đối vì ME âm hay dương đều là lệch. Dòng 15 đến 16 đối chiếu với utilsforecast: thư viện trả tỷ lệ 0 tới 1, phải nhân 200 mới về thang M4. Kết quả trên 300 mã bán lẻ: hạng nhất đổi theo chỉ số, naive thắng theo MAE, seasonal naive thắng theo sMAPE. Còn sMAPE tự viết 3,59 so với utilsforecast 0,0179, lệch 200 lần chỉ vì quy ước.</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chỉ số của buổi 14 trong một bảng, để tra lại khi phải chọn.</a:t>
            </a:r>
          </a:p>
          <a:p/>
          <a:p>
            <a:r>
              <a:t>Ba dòng đầu cùng đơn vị với dữ liệu. ME giữ dấu nên đo độ chệch, không đo độ chính xác: dương là dự báo thấp hơn thực tế. MAE ưa trung vị. RMSE ưa trung bình và phạt nặng sai số lớn.</a:t>
            </a:r>
          </a:p>
          <a:p/>
          <a:p>
            <a:r>
              <a:t>Ba dòng giữa là phần trăm. MAPE dễ đọc nhưng hỏng khi thực tế bằng 0 và kéo dự báo xuống thấp. sMAPE là chỉ số của cuộc thi M4, thang 0 tới 200, tên là đối xứng nhưng thật ra vẫn không đối xứng. WAPE chia tổng cho tổng nên sống được với số 0.</a:t>
            </a:r>
          </a:p>
          <a:p/>
          <a:p>
            <a:r>
              <a:t>Hai dòng cuối chia cho sai số của seasonal naive trên phần học, nên so được giữa các chuỗi. Phần học lặp hoàn hảo thì mẫu số bằng 0 và hàm phải trả NaN.</a:t>
            </a:r>
          </a:p>
          <a:p/>
          <a:p>
            <a:r>
              <a:t>(dừng) Chọn chỉ số theo quyết định trước khi xem kết quả, vì đổi chỉ số là đổi hạng.</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chỉ số rồi, câu hỏi tiếp theo là chấm trên đoạn nào. Học máy thông thường chia ngẫu nhiên. Với chuỗi thời gian, đó là nhìn trộm tương lai. (chỉ vào hình) Trục ngang là thời gian, xanh là điểm học, cam là điểm kiểm. Hàng trên là chia ngẫu nhiên: chấm cam nằm xen giữa chấm xanh, tức mô hình được học cả hôm qua lẫn ngày mai của điểm đang kiểm. Hai hàng dưới là hai cách đúng: hold-out kiểm một lần trên đoạn cuối; rolling origin kiểm nhiều lần, lần nào cũng chỉ học quá khứ. Triệu chứng của chia ngẫu nhiên là sai số lúc kiểm rất đẹp, chạy thật thì tệ, và ta dễ chọn nhầm mô hình giỏi học thuộc. Cách kiểm đơn giản: nhìn xem điểm kiểm có xen giữa điểm học không.</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đo bằng số xem chia ngẫu nhiên hứa sai bao nhiêu. Dòng 5 đặt mốc 1 tháng 10 năm 2024: ba tháng cuối là hold-out, không đụng tới. Dòng 6 đến 8 dựng feature lag từ 24 giờ trở lên cộng lịch, và chỉ lấy phần trước mốc để học. Dòng 10 đến 13 chạy KFold 5 phần có xáo trộn, ước lượng sai số theo kiểu học máy thông thường. Dòng 14 đến 15 làm cách trung thực: học một lần trên quá khứ, chấm trên ba tháng sau. Kết quả với rừng ngẫu nhiên: K-fold hứa 1.639 MW, hold-out thật 2.129 MW, tức K-fold hứa thấp hơn thật 23,0%. Hồi quy tuyến tính cũng lệch, nhưng ít hơn, 11,8%, vì mô hình tuyến tính khó học thuộc hơn.</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vào hình) Trục ngang là hai mô hình, trục dọc là MAE tính bằng MW. Cột cam là K-fold xáo trộn, cột xanh là rolling origin, cột đen là hold-out thật. Nhìn vào độ cao cột cam và cột xanh so với cột đen. Với rừng ngẫu nhiên, K-fold hứa thấp hơn thật 23%, còn rolling origin chỉ lệch 9%. Nhưng đừng coi rolling origin là tiên tri: nó chỉ đúng khi giai đoạn backtest giống tương lai; với hồi quy tuyến tính, cả hai cách đều hứa thấp hơn thật 12 đến 16%. K-fold cũng không phải lúc nào cũng sai: Bergmeir, Hyndman và Koo năm 2018 chỉ ra rằng nếu mô hình chỉ dùng lag và phần dư không còn tự tương quan thì K-fold dùng được. Mô hình càng giỏi nhớ thì K-fold càng lạc quan.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 origin là backtest như chạy thật. Ta đặt nhiều mốc cắt, gọi là cutoff; ở mỗi cutoff học trên quá khứ rồi dự báo đoạn ngay sau. (chỉ vào ô trái) Trục ngang là cutoff trong tháng 9 năm 2024, trục dọc là MAE của từng cửa sổ 24 giờ. Đường xanh của rừng ngẫu nhiên lên xuống rất mạnh: mỗi cửa sổ là một lần may rủi, nên phải báo cả phân bố sai số chứ không chỉ trung bình. (chỉ vào ô phải) Trục ngang là bước h từ 1 tới 48 giờ; sai số nhảy lên ở bước 25. Tầm thật là 24 giờ thì chỉ nhìn 24 giờ đầu. Cách tính cutoff: cutoff cuối bằng n trừ 1 trừ gap trừ h. Với 30 mốc, h bằng 4, gap bằng 2 thì cutoff cuối là 23, lùi đều 4 bước được 19 và 15.</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tự viết bộ backtest để thấy từng bước. Dòng 6 tính cutoff của cửa sổ cuối sao cho cửa sổ đó kết thúc đúng ở mốc cuối. Dòng 7 đến 8 lùi đều từng buoc để ra các cutoff trước, và chừa gap bước trống sau mỗi cutoff. Dòng 12 là dòng chống rò rỉ: hàm dự báo chỉ nhận các dòng tới cutoff, không thấy đoạn kiểm. Dòng 13 đến 14 dự báo đúng các mốc của đoạn kiểm, và dòng 15 dùng merge ghép dự báo với thực tế để chấm. statsforecast có hàm cross_validation làm cùng việc nhưng không có gap. Kết quả trên tải ERCOT, 28 cửa sổ 24 giờ: rừng ngẫu nhiên 1.944 MW so với hold-out 2.129 MW, lệch 8,7%. Seasonal naive tự viết khớp statsforecast, chênh 0,0, nên ta tin bộ tự viết đúng.</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 origin có bốn lựa chọn, và cả bốn phải khớp với cách mô hình chạy thật. (chỉ vào hình) Mỗi hàng là một cutoff: phần xám là dữ liệu được học, dài dần qua từng hàng, tức là expanding; ô xanh là đoạn được dự báo và chấm. Expanding học toàn bộ quá khứ, dùng khi quá khứ xa vẫn giống hiện tại. Sliding chỉ học L bước gần nhất, ví dụ 90 ngày, dùng khi quá khứ xa đã khác. Gap là số bước bỏ trống bằng đúng độ trễ công bố dữ liệu: số liệu điện về trễ 1 ngày thì gap bằng 24 giờ; quên gap là cho mô hình thấy số liệu chưa về. Refit là học lại mỗi cửa sổ; mô hình nặng thì refit mỗi vài cửa sổ.</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con số MAE gộp che mất độ dao động, nên ta tách ra. Dòng 7 đến 8 chạy backtest 28 cửa sổ, mỗi cửa sổ 24 giờ, cho rừng ngẫu nhiên và seasonal naive trên cùng các cửa sổ. Dòng 9 đến 11 dùng groupby theo cutoff để tính một MAE cho mỗi cửa sổ, mỗi mô hình. Dòng 12 gọi describe để tóm từ nhỏ nhất tới lớn nhất. Dòng 14 đến 15 gộp sai số theo buoc_h, tức bước thứ mấy sau cutoff. Kết quả: MAE một ngày của rừng ngẫu nhiên đi từ 583 tới 4.328 MW, gấp bảy lần. Nếu hold-out chỉ rơi vào một ngày, các bạn có thể báo bất kỳ con số nào trong khoảng đó. Trên M4, seasonal naive 24 giờ nhảy lên từ bước 25, vì ngày thứ hai nó lặp lại một ngày đã cũ hơn.</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Hãy nghĩ như đi thi: đề luyện để tune tham số, đề thi thử để chọn mô hình, đề thi thật để báo cáo, và chỉ mở một lần. Học sinh luyện đúng đề thi thật thì điểm cao mà không giỏi hơn. (chỉ vào hình) Trục dọc là MASE trung vị của 414 chuỗi M4 theo giờ, vạch đen là 1. Cột cam là tune, chọn và báo cáo cùng một đoạn: 0,775. Cột xanh là ba đoạn riêng: 1,039. Cùng quy trình, con số cam lạc quan 25%. Lý do: cái thắng trên một đoạn được hưởng cả phần may của đoạn đó. Chọn trên tập kiểm cũng là rò rỉ; đã mở hold-out rồi quay lại chỉnh mô hình thì cần một hold-out mới.</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tách ba đoạn 48 giờ cuối của mỗi chuỗi. Dòng 3 tạo lưới trọng số w từ 0 tới 1, bước 0,1, tức 11 giá trị. Dòng 9 chia ba đoạn: T để tune, A để chọn, B để báo cáo. Dòng 10 chọn w cho MASE thấp nhất trên đoạn T. Dòng 11 đến 12 chấm sáu phương pháp đơn giản trên đoạn A và chọn cái tốt nhất. Dòng 13 đến 15 chỉ báo MASE của phương pháp đã chọn trên đoạn B, đoạn chưa dùng cho việc gì. Hàm _cham là hàm tự viết tính MASE trên một đoạn 48 giờ. Kết quả trên 414 chuỗi M4 theo giờ: làm tất cả trên đoạn B cho MASE trung vị 0,775; ba đoạn riêng cho 1,039. Con số trung thực tệ hơn 25%.</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mô hình chênh nhau vài phần trăm: thật, hay chỉ may? Kiểm định Diebold–Mariano lấy chênh lệch sai số trung bình chia cho sai số chuẩn của chính chênh lệch đó. p dưới 0,05 thì chênh có thật; từ 0,05 trở lên thì chưa có bằng chứng. (chỉ vào hình) Ô trái là chênh sai số trung bình từng ngày của 92 ngày hold-out: mô hình trộn thắng 53 ngày, thua nhiều ngày khác. Ô phải là ACF của chênh lệch từng giờ: trễ 1 tới 0,91 và còn vượt đường đứt tới khoảng trễ 18. Đó là chỗ cần cẩn thận: bỏ qua tự tương quan này thì p nhỏ giả tạo. Phải cộng tự hiệp phương sai tới trễ h trừ 1 và dùng bản hiệu chỉnh HLN. Thêm nữa, so 20 cặp mô hình thì trung bình khoảng một cặp p dưới 0,05 chỉ do may.</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tính chênh độ lớn sai số của hai dự báo ở từng giờ. Dòng 8 đến 9 là phần mấu chốt: tính tự hiệp phương sai của chênh lệch ở các trễ từ 0 tới h trừ 1 rồi cộng vào phương sai, vì các giờ gần nhau dùng chung thông tin. Dòng 10 đến 11 là phòng hờ: phương sai ra âm thì lùi về h bằng 1. Dòng 12 lấy chênh trung bình chia sai số chuẩn. Dòng 13 đến 14 là bản ngây thơ, so với hình chuông chuẩn. Dòng 15 đến 16 là bản HLN: nhân hệ số sửa mẫu nhỏ rồi so với phân phối t. Kết quả, mô hình trộn so với seasonal naive trên 2.215 giờ: bản bỏ tự tương quan cho p bằng 0,0000012, trông rất chắc chắn; bản HLN với h bằng 24 cho p bằng 0,16, tức chưa có bằng chứng.</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 15 buổi chúng ta gặp bảy kiểm định. Tin vui là cả bảy đọc cùng một cách.</a:t>
            </a:r>
          </a:p>
          <a:p/>
          <a:p>
            <a:r>
              <a:t>(chỉ vào bốn ô trên) Đặt H0, giả định ban đầu, thường là “không có gì đặc biệt”. Tính một con số từ dữ liệu. Hỏi: nếu H0 đúng, gặp con số lệch cỡ này hoặc hơn hiếm tới đâu; đó là p. p nhỏ hơn 0,05 thì bác bỏ H0; p lớn hơn thì chỉ là chưa đủ bằng chứng, không có nghĩa H0 đúng.</a:t>
            </a:r>
          </a:p>
          <a:p/>
          <a:p>
            <a:r>
              <a:t>Bảng dưới chỉ cần nhớ cột H0. Hoán vị: hai nhóm như nhau. Ljung-Box: phần dư là nhiễu trắng, nên p nhỏ là còn quy luật. Granger: quá khứ x không giúp dự báo y. Jarque–Bera: phần dư hình chuông. Diebold–Mariano: hai mô hình chính xác như nhau.</a:t>
            </a:r>
          </a:p>
          <a:p/>
          <a:p>
            <a:r>
              <a:t>(chỉ vào hai dòng cam) Hai dòng cam là chỗ hay nhầm nhất. ADF đặt H0 là không dừng, nên p nhỏ là dừng. KPSS đặt ngược lại, H0 là dừng, nên p nhỏ là không dừng. Luôn đọc H0 trước khi đọc p.</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E ghép mọi thứ từ đầu khoá thành một quy trình. Chỉ cần một câu hỏi để xếp từng bước vào đúng chỗ: bước này có học gì từ dữ liệu không? Nếu có, nó phải làm lại ở mỗi cutoff, chỉ trên dữ liệu trước cutoff.</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ba tầng, đọc từ trên xuống; số nhỏ dưới mỗi ô là buổi dạy bước đó. Tầng 1 làm một lần trên toàn bộ dữ liệu, vì các bước này không học tham số nào: nạp và ép kiểu số, đưa về UTC, dựng lưới đủ, đổi mã trá hình thành NaN, nhìn bộ biểu đồ, ghi nhật ký sự kiện, điều chỉnh lịch và lạm phát. Tầng 2, trong khung viền đứt, là nơi rò rỉ hay xảy ra nhất: điền nhân quả, ngưỡng Hampel, λ của Box-Cox, bộ lọc nhân quả, feature với lag từ h trở lên, scaler. Các bước này học từ dữ liệu, nên phải làm lại ở mỗi cutoff; làm trên toàn bộ rồi mới backtest là để tương lai rò vào quá khứ. Tầng 3 là kiểm: rolling origin có gap, chấm MASE hoặc WAPE trên chuỗi gốc so với seasonal naive, và chạy kiem_ro_ri.</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chỉ nhớ ba điều cho mọi bước tiền xử lý thì là ba điều này. Thứ nhất, chỉ dùng thông tin có trước cutoff: áp cho feature, giá trị điền, tham số biến đổi, và cả biến ngoại sinh, nghĩa là dùng bản dự báo đã lưu chứ không dùng số thật. Đây là lỗi gặp lại ở nhiều buổi nhất. Thứ hai, giữ dữ liệu gốc, gắn cờ thay vì xoá, vì xoá làm thủng lưới thời gian và mất dấu vết; cột cờ cho biết chỗ nào đã sửa. Thứ ba, phải thắng các baseline trên backtest, luôn có seasonal naive. Bước tiền xử lý nào không làm sai số trung thực tốt lên thì bỏ, dù nó trông hợp lý đến đâu.</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cuối nói về dữ liệu dùng trong khoá: dữ liệu thật, bẩn thật, có giấy phép mở đã xác minh. Sau đó là bảng tra mỗi buổi nằm ở slide nào để các bạn ôn, và những phần tiền xử lý các buổi sau sẽ dạy thêm.</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bốn bộ dữ liệu này không được chọn vì sạch, mà vì mỗi bộ dạy một kiểu bẩn. Mỗi thẻ ghi tên bộ, nội dung, dòng đỏ là kiểu bẩn, dòng dưới cùng là tần suất, giấy phép và buổi dùng. Vài ví dụ: điện hộ gia đình ghi thiếu bằng dấu hỏi; taxi New York có giờ naive quanh ngày đổi giờ; Census có ô "(S)" và đổi định nghĩa; EIA-930 đổi cột giữa năm; trạm Nội Bài dùng mã 9,999 và cờ chất lượng; Wikipedia có đỉnh Tết theo lịch âm; Eurostat gãy do COVID; bán lẻ trực tuyến nhiều số 0. Mọi bộ đều tải kèm kiểm sha256, tức dấu vân tay của tệp. Khoá không dùng FRED vì điều khoản cấm dùng cho machine learning; chuỗi kinh tế lấy từ cơ quan gốc.</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dùng khi các bạn muốn ôn một buổi cụ thể. Mỗi dòng là một buổi, bên cạnh là các slide tóm buổi đó. Script sinh slide có kiểm để mọi mục lý thuyết 4.x của buổi 1 đến 15 đều có ít nhất một slide, nên không buổi nào bị bỏ sót. Cách ôn gợi ý: mở các slide của buổi đó, đọc mục tương ứng trong bài đọc kèm, rồi mới quay về tài liệu gốc của buổi khi cần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 đến 15 cho chúng ta quy trình chung. Tiền xử lý chưa dừng ở đây; mỗi loại bài toán sau này thêm phần riêng. (chỉ vào đường thời gian) Số trong vòng tròn là buổi dạy. Buổi 19 xử lý chuỗi thưa nhiều số 0, nối tiếp bộ bán lẻ các bạn đã thấy. Buổi 20 là dữ liệu khác tần suất và số liệu bị sửa lại. Buổi 22 biến chuỗi thành bảng hồi quy, buổi 24 là chuỗi mới chưa có lịch sử, buổi 28 là gộp theo cấp bậc, buổi 29 là cửa sổ cho deep learning. Hai mốc cuối, buổi 41 và 43, đưa lên production: pipeline point-in-time chạy lại ra đúng kết quả, và giám sát drift khi dữ liệu mới đổi.</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điều mang về. Nhìn trước, xử lý sau. NaN là không biết, 0 là đo được và bằng không: gắn cờ, đừng xoá. Mọi mốc thời gian về UTC, trên lưới đầy đủ. Chỉ dùng thông tin có trước cutoff. Và mọi mô hình, mọi bước tiền xử lý phải thắng các baseline, luôn có seasonal naive, trên rolling origin. Nếu một bước không qua được bài kiểm cuối cùng này, nó không đáng giữ. Cảm ơn các bạn.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4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4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5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5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5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6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6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6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6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6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6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notesSlide" Target="../notesSlides/notesSlide6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7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notesSlide" Target="../notesSlides/notesSlide7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notesSlide" Target="../notesSlides/notesSlide7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7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notesSlide" Target="../notesSlides/notesSlide7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notesSlide" Target="../notesSlides/notesSlide8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8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notesSlide" Target="../notesSlides/notesSlide8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notesSlide" Target="../notesSlides/notesSlide8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 Id="rId4" Type="http://schemas.openxmlformats.org/officeDocument/2006/relationships/notesSlide" Target="../notesSlides/notesSlide8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image" Target="../media/image78.png"/><Relationship Id="rId4" Type="http://schemas.openxmlformats.org/officeDocument/2006/relationships/notesSlide" Target="../notesSlides/notesSlide8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notesSlide" Target="../notesSlides/notesSlide9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notesSlide" Target="../notesSlides/notesSlide9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9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notesSlide" Target="../notesSlides/notesSlide9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87.png"/><Relationship Id="rId4" Type="http://schemas.openxmlformats.org/officeDocument/2006/relationships/notesSlide" Target="../notesSlides/notesSlide10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image" Target="../media/image89.png"/><Relationship Id="rId4" Type="http://schemas.openxmlformats.org/officeDocument/2006/relationships/notesSlide" Target="../notesSlides/notesSlide10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notesSlide" Target="../notesSlides/notesSlide10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notesSlide" Target="../notesSlides/notesSlide10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notesSlide" Target="../notesSlides/notesSlide10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96.png"/><Relationship Id="rId4" Type="http://schemas.openxmlformats.org/officeDocument/2006/relationships/notesSlide" Target="../notesSlides/notesSlide10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image" Target="../media/image98.png"/><Relationship Id="rId4" Type="http://schemas.openxmlformats.org/officeDocument/2006/relationships/notesSlide" Target="../notesSlides/notesSlide10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11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 Id="rId3" Type="http://schemas.openxmlformats.org/officeDocument/2006/relationships/image" Target="../media/image100.png"/><Relationship Id="rId4" Type="http://schemas.openxmlformats.org/officeDocument/2006/relationships/notesSlide" Target="../notesSlides/notesSlide11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notesSlide" Target="../notesSlides/notesSlide11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 Id="rId3" Type="http://schemas.openxmlformats.org/officeDocument/2006/relationships/image" Target="../media/image104.png"/><Relationship Id="rId4" Type="http://schemas.openxmlformats.org/officeDocument/2006/relationships/notesSlide" Target="../notesSlides/notesSlide11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 Id="rId3" Type="http://schemas.openxmlformats.org/officeDocument/2006/relationships/image" Target="../media/image106.png"/><Relationship Id="rId4" Type="http://schemas.openxmlformats.org/officeDocument/2006/relationships/notesSlide" Target="../notesSlides/notesSlide11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 Id="rId3" Type="http://schemas.openxmlformats.org/officeDocument/2006/relationships/image" Target="../media/image108.png"/><Relationship Id="rId4" Type="http://schemas.openxmlformats.org/officeDocument/2006/relationships/notesSlide" Target="../notesSlides/notesSlide12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notesSlide" Target="../notesSlides/notesSlide12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notesSlide" Target="../notesSlides/notesSlide12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notesSlide" Target="../notesSlides/notesSlide12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 Id="rId3" Type="http://schemas.openxmlformats.org/officeDocument/2006/relationships/image" Target="../media/image115.png"/><Relationship Id="rId4" Type="http://schemas.openxmlformats.org/officeDocument/2006/relationships/notesSlide" Target="../notesSlides/notesSlide12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image" Target="../media/image117.png"/><Relationship Id="rId4" Type="http://schemas.openxmlformats.org/officeDocument/2006/relationships/notesSlide" Target="../notesSlides/notesSlide13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notesSlide" Target="../notesSlides/notesSlide13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3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notesSlide" Target="../notesSlides/notesSlide13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notesSlide" Target="../notesSlides/notesSlide13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image" Target="../media/image124.png"/><Relationship Id="rId4" Type="http://schemas.openxmlformats.org/officeDocument/2006/relationships/notesSlide" Target="../notesSlides/notesSlide14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notesSlide" Target="../notesSlides/notesSlide14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 Id="rId3" Type="http://schemas.openxmlformats.org/officeDocument/2006/relationships/image" Target="../media/image127.png"/><Relationship Id="rId4" Type="http://schemas.openxmlformats.org/officeDocument/2006/relationships/notesSlide" Target="../notesSlides/notesSlide146.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image" Target="../media/image129.png"/><Relationship Id="rId4" Type="http://schemas.openxmlformats.org/officeDocument/2006/relationships/notesSlide" Target="../notesSlides/notesSlide14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image" Target="../media/image131.png"/><Relationship Id="rId4" Type="http://schemas.openxmlformats.org/officeDocument/2006/relationships/notesSlide" Target="../notesSlides/notesSlide15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notesSlide" Target="../notesSlides/notesSlide155.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notesSlide" Target="../notesSlides/notesSlide15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notesSlide" Target="../notesSlides/notesSlide16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 Id="rId3" Type="http://schemas.openxmlformats.org/officeDocument/2006/relationships/notesSlide" Target="../notesSlides/notesSlide16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notesSlide" Target="../notesSlides/notesSlide16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16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notesSlide" Target="../notesSlides/notesSlide16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169.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notesSlide" Target="../notesSlides/notesSlide170.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 Id="rId3" Type="http://schemas.openxmlformats.org/officeDocument/2006/relationships/image" Target="../media/image141.png"/><Relationship Id="rId4" Type="http://schemas.openxmlformats.org/officeDocument/2006/relationships/notesSlide" Target="../notesSlides/notesSlide17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notesSlide" Target="../notesSlides/notesSlide17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76.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 Id="rId3" Type="http://schemas.openxmlformats.org/officeDocument/2006/relationships/notesSlide" Target="../notesSlides/notesSlide17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notesSlide" Target="../notesSlides/notesSlide179.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5.png"/><Relationship Id="rId3" Type="http://schemas.openxmlformats.org/officeDocument/2006/relationships/image" Target="../media/image146.png"/><Relationship Id="rId4" Type="http://schemas.openxmlformats.org/officeDocument/2006/relationships/notesSlide" Target="../notesSlides/notesSlide18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 Id="rId3" Type="http://schemas.openxmlformats.org/officeDocument/2006/relationships/notesSlide" Target="../notesSlides/notesSlide18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notesSlide" Target="../notesSlides/notesSlide18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 Id="rId3" Type="http://schemas.openxmlformats.org/officeDocument/2006/relationships/notesSlide" Target="../notesSlides/notesSlide185.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18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notesSlide" Target="../notesSlides/notesSlide18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image" Target="../media/image154.png"/><Relationship Id="rId4" Type="http://schemas.openxmlformats.org/officeDocument/2006/relationships/notesSlide" Target="../notesSlides/notesSlide19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19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193.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7.png"/><Relationship Id="rId3" Type="http://schemas.openxmlformats.org/officeDocument/2006/relationships/image" Target="../media/image158.png"/><Relationship Id="rId4" Type="http://schemas.openxmlformats.org/officeDocument/2006/relationships/notesSlide" Target="../notesSlides/notesSlide19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9.png"/><Relationship Id="rId3" Type="http://schemas.openxmlformats.org/officeDocument/2006/relationships/image" Target="../media/image160.png"/><Relationship Id="rId4" Type="http://schemas.openxmlformats.org/officeDocument/2006/relationships/notesSlide" Target="../notesSlides/notesSlide196.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notesSlide" Target="../notesSlides/notesSlide19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3.png"/><Relationship Id="rId3" Type="http://schemas.openxmlformats.org/officeDocument/2006/relationships/image" Target="../media/image164.png"/><Relationship Id="rId4" Type="http://schemas.openxmlformats.org/officeDocument/2006/relationships/notesSlide" Target="../notesSlides/notesSlide20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notesSlide" Target="../notesSlides/notesSlide20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20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20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 Id="rId3" Type="http://schemas.openxmlformats.org/officeDocument/2006/relationships/notesSlide" Target="../notesSlides/notesSlide206.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notesSlide" Target="../notesSlides/notesSlide20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 Id="rId3" Type="http://schemas.openxmlformats.org/officeDocument/2006/relationships/notesSlide" Target="../notesSlides/notesSlide21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 Id="rId3" Type="http://schemas.openxmlformats.org/officeDocument/2006/relationships/notesSlide" Target="../notesSlides/notesSlide21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3.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6.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8.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notesSlide" Target="../notesSlides/notesSlide229.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image" Target="../media/image175.png"/><Relationship Id="rId4" Type="http://schemas.openxmlformats.org/officeDocument/2006/relationships/notesSlide" Target="../notesSlides/notesSlide23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 Id="rId3" Type="http://schemas.openxmlformats.org/officeDocument/2006/relationships/image" Target="../media/image177.png"/><Relationship Id="rId4" Type="http://schemas.openxmlformats.org/officeDocument/2006/relationships/notesSlide" Target="../notesSlides/notesSlide23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 Id="rId3" Type="http://schemas.openxmlformats.org/officeDocument/2006/relationships/notesSlide" Target="../notesSlides/notesSlide23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image" Target="../media/image110.png"/><Relationship Id="rId4" Type="http://schemas.openxmlformats.org/officeDocument/2006/relationships/notesSlide" Target="../notesSlides/notesSlide23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9.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notesSlide" Target="../notesSlides/notesSlide240.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 Id="rId3" Type="http://schemas.openxmlformats.org/officeDocument/2006/relationships/notesSlide" Target="../notesSlides/notesSlide24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notesSlide" Target="../notesSlides/notesSlide24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notesSlide" Target="../notesSlides/notesSlide24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 Id="rId3" Type="http://schemas.openxmlformats.org/officeDocument/2006/relationships/notesSlide" Target="../notesSlides/notesSlide24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5.png"/><Relationship Id="rId3" Type="http://schemas.openxmlformats.org/officeDocument/2006/relationships/image" Target="../media/image186.png"/><Relationship Id="rId4" Type="http://schemas.openxmlformats.org/officeDocument/2006/relationships/notesSlide" Target="../notesSlides/notesSlide249.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5.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6.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8.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9.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 Id="rId3" Type="http://schemas.openxmlformats.org/officeDocument/2006/relationships/notesSlide" Target="../notesSlides/notesSlide1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 Id="rId3" Type="http://schemas.openxmlformats.org/officeDocument/2006/relationships/image" Target="../media/image10.png"/><Relationship Id="rId4" Type="http://schemas.openxmlformats.org/officeDocument/2006/relationships/notesSlide" Target="../notesSlides/notesSlide2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1.png"/><Relationship Id="rId3" Type="http://schemas.openxmlformats.org/officeDocument/2006/relationships/image" Target="../media/image192.png"/><Relationship Id="rId4" Type="http://schemas.openxmlformats.org/officeDocument/2006/relationships/notesSlide" Target="../notesSlides/notesSlide3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3.png"/><Relationship Id="rId3" Type="http://schemas.openxmlformats.org/officeDocument/2006/relationships/image" Target="../media/image194.png"/><Relationship Id="rId4" Type="http://schemas.openxmlformats.org/officeDocument/2006/relationships/notesSlide" Target="../notesSlides/notesSlide3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5.png"/><Relationship Id="rId3" Type="http://schemas.openxmlformats.org/officeDocument/2006/relationships/image" Target="../media/image196.png"/><Relationship Id="rId4" Type="http://schemas.openxmlformats.org/officeDocument/2006/relationships/notesSlide" Target="../notesSlides/notesSlide10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25.png"/><Relationship Id="rId4" Type="http://schemas.openxmlformats.org/officeDocument/2006/relationships/notesSlide" Target="../notesSlides/notesSlide4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8.png"/><Relationship Id="rId3" Type="http://schemas.openxmlformats.org/officeDocument/2006/relationships/image" Target="../media/image199.png"/><Relationship Id="rId4" Type="http://schemas.openxmlformats.org/officeDocument/2006/relationships/notesSlide" Target="../notesSlides/notesSlide4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 Id="rId3" Type="http://schemas.openxmlformats.org/officeDocument/2006/relationships/notesSlide" Target="../notesSlides/notesSlide14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 Id="rId3" Type="http://schemas.openxmlformats.org/officeDocument/2006/relationships/image" Target="../media/image33.png"/><Relationship Id="rId4" Type="http://schemas.openxmlformats.org/officeDocument/2006/relationships/notesSlide" Target="../notesSlides/notesSlide4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143.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notesSlide" Target="../notesSlides/notesSlide5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1.png"/><Relationship Id="rId3" Type="http://schemas.openxmlformats.org/officeDocument/2006/relationships/image" Target="../media/image202.png"/><Relationship Id="rId4" Type="http://schemas.openxmlformats.org/officeDocument/2006/relationships/notesSlide" Target="../notesSlides/notesSlide145.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 Id="rId3" Type="http://schemas.openxmlformats.org/officeDocument/2006/relationships/notesSlide" Target="../notesSlides/notesSlide58.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notesSlide" Target="../notesSlides/notesSlide60.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 Id="rId3" Type="http://schemas.openxmlformats.org/officeDocument/2006/relationships/image" Target="../media/image206.png"/><Relationship Id="rId4" Type="http://schemas.openxmlformats.org/officeDocument/2006/relationships/notesSlide" Target="../notesSlides/notesSlide6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4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 Id="rId3" Type="http://schemas.openxmlformats.org/officeDocument/2006/relationships/image" Target="../media/image52.png"/><Relationship Id="rId4" Type="http://schemas.openxmlformats.org/officeDocument/2006/relationships/notesSlide" Target="../notesSlides/notesSlide14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129.png"/><Relationship Id="rId4" Type="http://schemas.openxmlformats.org/officeDocument/2006/relationships/notesSlide" Target="../notesSlides/notesSlide15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 Id="rId3" Type="http://schemas.openxmlformats.org/officeDocument/2006/relationships/image" Target="../media/image54.png"/><Relationship Id="rId4" Type="http://schemas.openxmlformats.org/officeDocument/2006/relationships/notesSlide" Target="../notesSlides/notesSlide15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 Id="rId3" Type="http://schemas.openxmlformats.org/officeDocument/2006/relationships/image" Target="../media/image56.png"/><Relationship Id="rId4" Type="http://schemas.openxmlformats.org/officeDocument/2006/relationships/notesSlide" Target="../notesSlides/notesSlide70.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image" Target="../media/image59.png"/><Relationship Id="rId4" Type="http://schemas.openxmlformats.org/officeDocument/2006/relationships/notesSlide" Target="../notesSlides/notesSlide15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notesSlide" Target="../notesSlides/notesSlide154.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3.png"/><Relationship Id="rId3" Type="http://schemas.openxmlformats.org/officeDocument/2006/relationships/image" Target="../media/image214.png"/><Relationship Id="rId4" Type="http://schemas.openxmlformats.org/officeDocument/2006/relationships/notesSlide" Target="../notesSlides/notesSlide7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notesSlide" Target="../notesSlides/notesSlide75.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notesSlide" Target="../notesSlides/notesSlide156.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8.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image" Target="../media/image67.png"/><Relationship Id="rId4" Type="http://schemas.openxmlformats.org/officeDocument/2006/relationships/notesSlide" Target="../notesSlides/notesSlide80.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7.png"/><Relationship Id="rId3" Type="http://schemas.openxmlformats.org/officeDocument/2006/relationships/image" Target="../media/image218.png"/><Relationship Id="rId4" Type="http://schemas.openxmlformats.org/officeDocument/2006/relationships/notesSlide" Target="../notesSlides/notesSlide15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5.png"/><Relationship Id="rId3" Type="http://schemas.openxmlformats.org/officeDocument/2006/relationships/image" Target="../media/image206.png"/><Relationship Id="rId4" Type="http://schemas.openxmlformats.org/officeDocument/2006/relationships/notesSlide" Target="../notesSlides/notesSlide83.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9.png"/><Relationship Id="rId3" Type="http://schemas.openxmlformats.org/officeDocument/2006/relationships/image" Target="../media/image220.png"/><Relationship Id="rId4" Type="http://schemas.openxmlformats.org/officeDocument/2006/relationships/notesSlide" Target="../notesSlides/notesSlide86.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 Id="rId3" Type="http://schemas.openxmlformats.org/officeDocument/2006/relationships/image" Target="../media/image78.png"/><Relationship Id="rId4" Type="http://schemas.openxmlformats.org/officeDocument/2006/relationships/notesSlide" Target="../notesSlides/notesSlide8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 Id="rId3" Type="http://schemas.openxmlformats.org/officeDocument/2006/relationships/image" Target="../media/image82.png"/><Relationship Id="rId4" Type="http://schemas.openxmlformats.org/officeDocument/2006/relationships/notesSlide" Target="../notesSlides/notesSlide93.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9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 Id="rId3" Type="http://schemas.openxmlformats.org/officeDocument/2006/relationships/image" Target="../media/image133.png"/><Relationship Id="rId4" Type="http://schemas.openxmlformats.org/officeDocument/2006/relationships/notesSlide" Target="../notesSlides/notesSlide159.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notesSlide" Target="../notesSlides/notesSlide104.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 Id="rId3" Type="http://schemas.openxmlformats.org/officeDocument/2006/relationships/image" Target="../media/image91.png"/><Relationship Id="rId4" Type="http://schemas.openxmlformats.org/officeDocument/2006/relationships/notesSlide" Target="../notesSlides/notesSlide161.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 Id="rId3" Type="http://schemas.openxmlformats.org/officeDocument/2006/relationships/image" Target="../media/image93.png"/><Relationship Id="rId4" Type="http://schemas.openxmlformats.org/officeDocument/2006/relationships/notesSlide" Target="../notesSlides/notesSlide16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notesSlide" Target="../notesSlides/notesSlide11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 Id="rId3" Type="http://schemas.openxmlformats.org/officeDocument/2006/relationships/image" Target="../media/image100.png"/><Relationship Id="rId4" Type="http://schemas.openxmlformats.org/officeDocument/2006/relationships/notesSlide" Target="../notesSlides/notesSlide113.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notesSlide" Target="../notesSlides/notesSlide115.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 Id="rId3" Type="http://schemas.openxmlformats.org/officeDocument/2006/relationships/notesSlide" Target="../notesSlides/notesSlide11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 Id="rId3" Type="http://schemas.openxmlformats.org/officeDocument/2006/relationships/image" Target="../media/image108.png"/><Relationship Id="rId4" Type="http://schemas.openxmlformats.org/officeDocument/2006/relationships/notesSlide" Target="../notesSlides/notesSlide12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0.png"/><Relationship Id="rId3" Type="http://schemas.openxmlformats.org/officeDocument/2006/relationships/image" Target="../media/image231.png"/><Relationship Id="rId4" Type="http://schemas.openxmlformats.org/officeDocument/2006/relationships/notesSlide" Target="../notesSlides/notesSlide12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 Id="rId3" Type="http://schemas.openxmlformats.org/officeDocument/2006/relationships/notesSlide" Target="../notesSlides/notesSlide125.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 Id="rId3" Type="http://schemas.openxmlformats.org/officeDocument/2006/relationships/notesSlide" Target="../notesSlides/notesSlide12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4.png"/><Relationship Id="rId3" Type="http://schemas.openxmlformats.org/officeDocument/2006/relationships/image" Target="../media/image235.png"/><Relationship Id="rId4" Type="http://schemas.openxmlformats.org/officeDocument/2006/relationships/notesSlide" Target="../notesSlides/notesSlide12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 Id="rId3" Type="http://schemas.openxmlformats.org/officeDocument/2006/relationships/notesSlide" Target="../notesSlides/notesSlide16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168.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notesSlide" Target="../notesSlides/notesSlide171.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image" Target="../media/image141.png"/><Relationship Id="rId4" Type="http://schemas.openxmlformats.org/officeDocument/2006/relationships/notesSlide" Target="../notesSlides/notesSlide17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 Id="rId3" Type="http://schemas.openxmlformats.org/officeDocument/2006/relationships/notesSlide" Target="../notesSlides/notesSlide175.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78.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 Id="rId3" Type="http://schemas.openxmlformats.org/officeDocument/2006/relationships/notesSlide" Target="../notesSlides/notesSlide180.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 Id="rId3" Type="http://schemas.openxmlformats.org/officeDocument/2006/relationships/image" Target="../media/image146.png"/><Relationship Id="rId4" Type="http://schemas.openxmlformats.org/officeDocument/2006/relationships/notesSlide" Target="../notesSlides/notesSlide183.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 Id="rId3" Type="http://schemas.openxmlformats.org/officeDocument/2006/relationships/image" Target="../media/image149.png"/><Relationship Id="rId4" Type="http://schemas.openxmlformats.org/officeDocument/2006/relationships/notesSlide" Target="../notesSlides/notesSlide18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189.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notesSlide" Target="../notesSlides/notesSlide19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notesSlide" Target="../notesSlides/notesSlide19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 Id="rId3" Type="http://schemas.openxmlformats.org/officeDocument/2006/relationships/image" Target="../media/image158.png"/><Relationship Id="rId4" Type="http://schemas.openxmlformats.org/officeDocument/2006/relationships/notesSlide" Target="../notesSlides/notesSlide20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 Id="rId3" Type="http://schemas.openxmlformats.org/officeDocument/2006/relationships/notesSlide" Target="../notesSlides/notesSlide19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 Id="rId3" Type="http://schemas.openxmlformats.org/officeDocument/2006/relationships/image" Target="../media/image160.png"/><Relationship Id="rId4" Type="http://schemas.openxmlformats.org/officeDocument/2006/relationships/notesSlide" Target="../notesSlides/notesSlide19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5.png"/><Relationship Id="rId3" Type="http://schemas.openxmlformats.org/officeDocument/2006/relationships/image" Target="../media/image246.png"/><Relationship Id="rId4" Type="http://schemas.openxmlformats.org/officeDocument/2006/relationships/notesSlide" Target="../notesSlides/notesSlide204.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208.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 Id="rId3" Type="http://schemas.openxmlformats.org/officeDocument/2006/relationships/notesSlide" Target="../notesSlides/notesSlide210.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notesSlide" Target="../notesSlides/notesSlide131.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 Id="rId3" Type="http://schemas.openxmlformats.org/officeDocument/2006/relationships/notesSlide" Target="../notesSlides/notesSlide133.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8.png"/><Relationship Id="rId3" Type="http://schemas.openxmlformats.org/officeDocument/2006/relationships/image" Target="../media/image249.png"/><Relationship Id="rId4" Type="http://schemas.openxmlformats.org/officeDocument/2006/relationships/notesSlide" Target="../notesSlides/notesSlide13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 Id="rId3" Type="http://schemas.openxmlformats.org/officeDocument/2006/relationships/notesSlide" Target="../notesSlides/notesSlide213.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 Id="rId3" Type="http://schemas.openxmlformats.org/officeDocument/2006/relationships/notesSlide" Target="../notesSlides/notesSlide215.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 Id="rId3" Type="http://schemas.openxmlformats.org/officeDocument/2006/relationships/notesSlide" Target="../notesSlides/notesSlide23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 Id="rId3" Type="http://schemas.openxmlformats.org/officeDocument/2006/relationships/image" Target="../media/image175.png"/><Relationship Id="rId4" Type="http://schemas.openxmlformats.org/officeDocument/2006/relationships/notesSlide" Target="../notesSlides/notesSlide23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 Id="rId3" Type="http://schemas.openxmlformats.org/officeDocument/2006/relationships/image" Target="../media/image175.png"/><Relationship Id="rId4" Type="http://schemas.openxmlformats.org/officeDocument/2006/relationships/notesSlide" Target="../notesSlides/notesSlide235.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 Id="rId3" Type="http://schemas.openxmlformats.org/officeDocument/2006/relationships/notesSlide" Target="../notesSlides/notesSlide23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notesSlide" Target="../notesSlides/notesSlide238.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notesSlide" Target="../notesSlides/notesSlide24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 Id="rId3" Type="http://schemas.openxmlformats.org/officeDocument/2006/relationships/image" Target="../media/image180.png"/><Relationship Id="rId4" Type="http://schemas.openxmlformats.org/officeDocument/2006/relationships/notesSlide" Target="../notesSlides/notesSlide24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notesSlide" Target="../notesSlides/notesSlide246.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 Id="rId3" Type="http://schemas.openxmlformats.org/officeDocument/2006/relationships/notesSlide" Target="../notesSlides/notesSlide24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5.png"/><Relationship Id="rId3" Type="http://schemas.openxmlformats.org/officeDocument/2006/relationships/image" Target="../media/image186.png"/><Relationship Id="rId4" Type="http://schemas.openxmlformats.org/officeDocument/2006/relationships/notesSlide" Target="../notesSlides/notesSlide25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914400"/>
            <a:ext cx="7315200" cy="365760"/>
          </a:xfrm>
          <a:prstGeom prst="rect">
            <a:avLst/>
          </a:prstGeom>
          <a:noFill/>
        </p:spPr>
        <p:txBody>
          <a:bodyPr wrap="square" lIns="0" rIns="0" tIns="0" bIns="0" anchor="t">
            <a:spAutoFit/>
          </a:bodyPr>
          <a:lstStyle/>
          <a:p>
            <a:pPr algn="l"/>
            <a:r>
              <a:rPr sz="1400" b="1" i="0">
                <a:solidFill>
                  <a:srgbClr val="8FA3BF"/>
                </a:solidFill>
                <a:latin typeface="Arial"/>
              </a:rPr>
              <a:t>KHOÁ FORECASTING IN AI · BUỔI 1–15</a:t>
            </a:r>
          </a:p>
        </p:txBody>
      </p:sp>
      <p:sp>
        <p:nvSpPr>
          <p:cNvPr id="3" name="TextBox 2"/>
          <p:cNvSpPr txBox="1"/>
          <p:nvPr/>
        </p:nvSpPr>
        <p:spPr>
          <a:xfrm>
            <a:off x="822960" y="1554480"/>
            <a:ext cx="10515600" cy="2194560"/>
          </a:xfrm>
          <a:prstGeom prst="rect">
            <a:avLst/>
          </a:prstGeom>
          <a:noFill/>
        </p:spPr>
        <p:txBody>
          <a:bodyPr wrap="square" lIns="0" rIns="0" tIns="0" bIns="0" anchor="t">
            <a:spAutoFit/>
          </a:bodyPr>
          <a:lstStyle/>
          <a:p>
            <a:pPr algn="l">
              <a:spcAft>
                <a:spcPts val="1000"/>
              </a:spcAft>
            </a:pPr>
            <a:r>
              <a:rPr sz="6000" b="1" i="0">
                <a:solidFill>
                  <a:srgbClr val="FFFFFF"/>
                </a:solidFill>
                <a:latin typeface="Arial"/>
              </a:rPr>
              <a:t>Dữ liệu cho dự báo</a:t>
            </a:r>
          </a:p>
          <a:p>
            <a:pPr algn="l">
              <a:spcAft>
                <a:spcPts val="1000"/>
              </a:spcAft>
            </a:pPr>
            <a:r>
              <a:rPr sz="2600" b="0" i="0">
                <a:solidFill>
                  <a:srgbClr val="C9D3E0"/>
                </a:solidFill>
                <a:latin typeface="Arial"/>
              </a:rPr>
              <a:t>hiểu · làm sạch · đánh giá trung thực</a:t>
            </a:r>
          </a:p>
        </p:txBody>
      </p:sp>
      <p:sp>
        <p:nvSpPr>
          <p:cNvPr id="4" name="Oval 3"/>
          <p:cNvSpPr/>
          <p:nvPr/>
        </p:nvSpPr>
        <p:spPr>
          <a:xfrm>
            <a:off x="822960" y="4754880"/>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A</a:t>
            </a:r>
          </a:p>
        </p:txBody>
      </p:sp>
      <p:sp>
        <p:nvSpPr>
          <p:cNvPr id="5" name="Oval 4"/>
          <p:cNvSpPr/>
          <p:nvPr/>
        </p:nvSpPr>
        <p:spPr>
          <a:xfrm>
            <a:off x="1508760" y="4754880"/>
            <a:ext cx="457200" cy="457200"/>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B</a:t>
            </a:r>
          </a:p>
        </p:txBody>
      </p:sp>
      <p:sp>
        <p:nvSpPr>
          <p:cNvPr id="6" name="Oval 5"/>
          <p:cNvSpPr/>
          <p:nvPr/>
        </p:nvSpPr>
        <p:spPr>
          <a:xfrm>
            <a:off x="2194560" y="4754880"/>
            <a:ext cx="457200" cy="457200"/>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a:t>
            </a:r>
          </a:p>
        </p:txBody>
      </p:sp>
      <p:sp>
        <p:nvSpPr>
          <p:cNvPr id="7" name="Oval 6"/>
          <p:cNvSpPr/>
          <p:nvPr/>
        </p:nvSpPr>
        <p:spPr>
          <a:xfrm>
            <a:off x="2880360" y="475488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D</a:t>
            </a:r>
          </a:p>
        </p:txBody>
      </p:sp>
      <p:sp>
        <p:nvSpPr>
          <p:cNvPr id="8" name="Oval 7"/>
          <p:cNvSpPr/>
          <p:nvPr/>
        </p:nvSpPr>
        <p:spPr>
          <a:xfrm>
            <a:off x="3566160" y="4754880"/>
            <a:ext cx="457200" cy="4572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E</a:t>
            </a:r>
          </a:p>
        </p:txBody>
      </p:sp>
      <p:sp>
        <p:nvSpPr>
          <p:cNvPr id="9" name="Oval 8"/>
          <p:cNvSpPr/>
          <p:nvPr/>
        </p:nvSpPr>
        <p:spPr>
          <a:xfrm>
            <a:off x="4251960" y="4754880"/>
            <a:ext cx="457200" cy="457200"/>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F</a:t>
            </a:r>
          </a:p>
        </p:txBody>
      </p:sp>
      <p:sp>
        <p:nvSpPr>
          <p:cNvPr id="10" name="TextBox 9"/>
          <p:cNvSpPr txBox="1"/>
          <p:nvPr/>
        </p:nvSpPr>
        <p:spPr>
          <a:xfrm>
            <a:off x="822960" y="5486400"/>
            <a:ext cx="10058400" cy="457200"/>
          </a:xfrm>
          <a:prstGeom prst="rect">
            <a:avLst/>
          </a:prstGeom>
          <a:noFill/>
        </p:spPr>
        <p:txBody>
          <a:bodyPr wrap="square" lIns="0" rIns="0" tIns="0" bIns="0" anchor="t">
            <a:spAutoFit/>
          </a:bodyPr>
          <a:lstStyle/>
          <a:p>
            <a:pPr algn="l"/>
            <a:r>
              <a:rPr sz="1600" b="0" i="0">
                <a:solidFill>
                  <a:srgbClr val="A9B4C4"/>
                </a:solidFill>
                <a:latin typeface="Arial"/>
              </a:rPr>
              <a:t>Nền móng (1–3) · Hiểu &amp; chuẩn bị dữ liệu (4–13) · Đánh giá trung thực (14–15)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Hôm nay nói gì: sáu phần</a:t>
            </a:r>
          </a:p>
        </p:txBody>
      </p:sp>
      <p:cxnSp>
        <p:nvCxnSpPr>
          <p:cNvPr id="3" name="Connector 2"/>
          <p:cNvCxnSpPr/>
          <p:nvPr/>
        </p:nvCxnSpPr>
        <p:spPr>
          <a:xfrm flipH="1" flipV="1">
            <a:off x="2212848" y="2103120"/>
            <a:ext cx="3886200" cy="1874519"/>
          </a:xfrm>
          <a:prstGeom prst="line">
            <a:avLst/>
          </a:prstGeom>
          <a:ln w="28575">
            <a:solidFill>
              <a:srgbClr val="0F8B8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2212848" y="3977639"/>
            <a:ext cx="3886200" cy="0"/>
          </a:xfrm>
          <a:prstGeom prst="line">
            <a:avLst/>
          </a:prstGeom>
          <a:ln w="28575">
            <a:solidFill>
              <a:srgbClr val="D9642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212848" y="3977639"/>
            <a:ext cx="3886200" cy="1874520"/>
          </a:xfrm>
          <a:prstGeom prst="line">
            <a:avLst/>
          </a:prstGeom>
          <a:ln w="28575">
            <a:solidFill>
              <a:srgbClr val="A77B0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099048" y="2103120"/>
            <a:ext cx="3886200" cy="1874519"/>
          </a:xfrm>
          <a:prstGeom prst="line">
            <a:avLst/>
          </a:prstGeom>
          <a:ln w="28575">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9048" y="3977639"/>
            <a:ext cx="3886200" cy="0"/>
          </a:xfrm>
          <a:prstGeom prst="line">
            <a:avLst/>
          </a:prstGeom>
          <a:ln w="28575">
            <a:solidFill>
              <a:srgbClr val="2E6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9048" y="3977639"/>
            <a:ext cx="3886200" cy="1874520"/>
          </a:xfrm>
          <a:prstGeom prst="line">
            <a:avLst/>
          </a:prstGeom>
          <a:ln w="28575">
            <a:solidFill>
              <a:srgbClr val="4A556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498848" y="3246120"/>
            <a:ext cx="3200400" cy="14630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Dữ liệu cho dự báo</a:t>
            </a:r>
          </a:p>
          <a:p>
            <a:pPr algn="ctr"/>
            <a:r>
              <a:rPr sz="1300" b="0" i="0">
                <a:solidFill>
                  <a:srgbClr val="C9D3E0"/>
                </a:solidFill>
                <a:latin typeface="Arial"/>
              </a:rPr>
              <a:t>buổi 1–15</a:t>
            </a:r>
          </a:p>
        </p:txBody>
      </p:sp>
      <p:sp>
        <p:nvSpPr>
          <p:cNvPr id="10" name="Rounded Rectangle 9"/>
          <p:cNvSpPr/>
          <p:nvPr/>
        </p:nvSpPr>
        <p:spPr>
          <a:xfrm>
            <a:off x="612648" y="1485900"/>
            <a:ext cx="3200400" cy="1234440"/>
          </a:xfrm>
          <a:prstGeom prst="roundRect">
            <a:avLst>
              <a:gd name="adj" fmla="val 1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A. Khái niệm nền</a:t>
            </a:r>
          </a:p>
          <a:p>
            <a:pPr algn="ctr"/>
            <a:r>
              <a:rPr sz="1200" b="1" i="0">
                <a:solidFill>
                  <a:srgbClr val="FFFFFF"/>
                </a:solidFill>
                <a:latin typeface="Arial"/>
              </a:rPr>
              <a:t>Buổi 1–13</a:t>
            </a:r>
          </a:p>
          <a:p>
            <a:pPr algn="ctr"/>
            <a:r>
              <a:rPr sz="1100" b="0" i="0">
                <a:solidFill>
                  <a:srgbClr val="FFFFFF"/>
                </a:solidFill>
                <a:latin typeface="Arial"/>
              </a:rPr>
              <a:t>6 ô · quantile · p-value · UTC · biểu đồ · ACF · ADF/KPSS · tương quan · feature</a:t>
            </a:r>
          </a:p>
        </p:txBody>
      </p:sp>
      <p:sp>
        <p:nvSpPr>
          <p:cNvPr id="11" name="Rounded Rectangle 10"/>
          <p:cNvSpPr/>
          <p:nvPr/>
        </p:nvSpPr>
        <p:spPr>
          <a:xfrm>
            <a:off x="612648" y="3360420"/>
            <a:ext cx="3200400" cy="1234440"/>
          </a:xfrm>
          <a:prstGeom prst="roundRect">
            <a:avLst>
              <a:gd name="adj" fmla="val 18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B. Vấn đề dữ liệu</a:t>
            </a:r>
          </a:p>
          <a:p>
            <a:pPr algn="ctr"/>
            <a:r>
              <a:rPr sz="1200" b="1" i="0">
                <a:solidFill>
                  <a:srgbClr val="FFFFFF"/>
                </a:solidFill>
                <a:latin typeface="Arial"/>
              </a:rPr>
              <a:t>Buổi 3–13</a:t>
            </a:r>
          </a:p>
          <a:p>
            <a:pPr algn="ctr"/>
            <a:r>
              <a:rPr sz="1100" b="0" i="0">
                <a:solidFill>
                  <a:srgbClr val="FFFFFF"/>
                </a:solidFill>
                <a:latin typeface="Arial"/>
              </a:rPr>
              <a:t>múi giờ · thiếu · MNAR · mã trá hình · ngoại lai · điểm gãy · bộ lọc · rò rỉ</a:t>
            </a:r>
          </a:p>
        </p:txBody>
      </p:sp>
      <p:sp>
        <p:nvSpPr>
          <p:cNvPr id="12" name="Rounded Rectangle 11"/>
          <p:cNvSpPr/>
          <p:nvPr/>
        </p:nvSpPr>
        <p:spPr>
          <a:xfrm>
            <a:off x="612648" y="5234940"/>
            <a:ext cx="3200400" cy="1234440"/>
          </a:xfrm>
          <a:prstGeom prst="roundRect">
            <a:avLst>
              <a:gd name="adj" fmla="val 18000"/>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C. Bảng tra &amp; từ điển</a:t>
            </a:r>
          </a:p>
          <a:p>
            <a:pPr algn="ctr"/>
            <a:r>
              <a:rPr sz="1200" b="1" i="0">
                <a:solidFill>
                  <a:srgbClr val="FFFFFF"/>
                </a:solidFill>
                <a:latin typeface="Arial"/>
              </a:rPr>
              <a:t>24 lỗi · 10 chỗ nhầm · 100 từ</a:t>
            </a:r>
          </a:p>
          <a:p>
            <a:pPr algn="ctr"/>
            <a:r>
              <a:rPr sz="1100" b="0" i="0">
                <a:solidFill>
                  <a:srgbClr val="FFFFFF"/>
                </a:solidFill>
                <a:latin typeface="Arial"/>
              </a:rPr>
              <a:t>dấu hiệu, cách kiểm, cách sửa · Việt – Anh</a:t>
            </a:r>
          </a:p>
        </p:txBody>
      </p:sp>
      <p:sp>
        <p:nvSpPr>
          <p:cNvPr id="13" name="Rounded Rectangle 12"/>
          <p:cNvSpPr/>
          <p:nvPr/>
        </p:nvSpPr>
        <p:spPr>
          <a:xfrm>
            <a:off x="8385048" y="1485900"/>
            <a:ext cx="3200400" cy="1234440"/>
          </a:xfrm>
          <a:prstGeom prst="roundRect">
            <a:avLst>
              <a:gd name="adj" fmla="val 18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D. Đánh giá trung thực</a:t>
            </a:r>
          </a:p>
          <a:p>
            <a:pPr algn="ctr"/>
            <a:r>
              <a:rPr sz="1200" b="1" i="0">
                <a:solidFill>
                  <a:srgbClr val="FFFFFF"/>
                </a:solidFill>
                <a:latin typeface="Arial"/>
              </a:rPr>
              <a:t>Buổi 14–15</a:t>
            </a:r>
          </a:p>
          <a:p>
            <a:pPr algn="ctr"/>
            <a:r>
              <a:rPr sz="1100" b="0" i="0">
                <a:solidFill>
                  <a:srgbClr val="FFFFFF"/>
                </a:solidFill>
                <a:latin typeface="Arial"/>
              </a:rPr>
              <a:t>phần dư · chỉ số · chia theo thời gian · rolling origin · DM</a:t>
            </a:r>
          </a:p>
        </p:txBody>
      </p:sp>
      <p:sp>
        <p:nvSpPr>
          <p:cNvPr id="14" name="Rounded Rectangle 13"/>
          <p:cNvSpPr/>
          <p:nvPr/>
        </p:nvSpPr>
        <p:spPr>
          <a:xfrm>
            <a:off x="8385048" y="3360420"/>
            <a:ext cx="3200400" cy="1234440"/>
          </a:xfrm>
          <a:prstGeom prst="roundRect">
            <a:avLst>
              <a:gd name="adj" fmla="val 18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E. Quy trình tiền xử lý</a:t>
            </a:r>
          </a:p>
          <a:p>
            <a:pPr algn="ctr"/>
            <a:r>
              <a:rPr sz="1200" b="1" i="0">
                <a:solidFill>
                  <a:srgbClr val="FFFFFF"/>
                </a:solidFill>
                <a:latin typeface="Arial"/>
              </a:rPr>
              <a:t>Buổi 1–15</a:t>
            </a:r>
          </a:p>
          <a:p>
            <a:pPr algn="ctr"/>
            <a:r>
              <a:rPr sz="1100" b="0" i="0">
                <a:solidFill>
                  <a:srgbClr val="FFFFFF"/>
                </a:solidFill>
                <a:latin typeface="Arial"/>
              </a:rPr>
              <a:t>làm một lần · lặp ở mỗi cutoff · kiểm</a:t>
            </a:r>
          </a:p>
        </p:txBody>
      </p:sp>
      <p:sp>
        <p:nvSpPr>
          <p:cNvPr id="15" name="Rounded Rectangle 14"/>
          <p:cNvSpPr/>
          <p:nvPr/>
        </p:nvSpPr>
        <p:spPr>
          <a:xfrm>
            <a:off x="8385048" y="5234940"/>
            <a:ext cx="3200400" cy="1234440"/>
          </a:xfrm>
          <a:prstGeom prst="roundRect">
            <a:avLst>
              <a:gd name="adj" fmla="val 18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F. Dữ liệu &amp; phía trước</a:t>
            </a:r>
          </a:p>
          <a:p>
            <a:pPr algn="ctr"/>
            <a:r>
              <a:rPr sz="1200" b="1" i="0">
                <a:solidFill>
                  <a:srgbClr val="FFFFFF"/>
                </a:solidFill>
                <a:latin typeface="Arial"/>
              </a:rPr>
              <a:t>14 bộ dữ liệu</a:t>
            </a:r>
          </a:p>
          <a:p>
            <a:pPr algn="ctr"/>
            <a:r>
              <a:rPr sz="1100" b="0" i="0">
                <a:solidFill>
                  <a:srgbClr val="FFFFFF"/>
                </a:solidFill>
                <a:latin typeface="Arial"/>
              </a:rPr>
              <a:t>bộ dữ liệu · tra theo buổi · buổi sau còn gì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15 buổi móng của lộ trình 44 buổi</a:t>
            </a:r>
          </a:p>
        </p:txBody>
      </p:sp>
      <p:sp>
        <p:nvSpPr>
          <p:cNvPr id="3" name="TextBox 2"/>
          <p:cNvSpPr txBox="1"/>
          <p:nvPr/>
        </p:nvSpPr>
        <p:spPr>
          <a:xfrm>
            <a:off x="548640" y="1463040"/>
            <a:ext cx="3566160" cy="1188720"/>
          </a:xfrm>
          <a:prstGeom prst="rect">
            <a:avLst/>
          </a:prstGeom>
          <a:noFill/>
        </p:spPr>
        <p:txBody>
          <a:bodyPr wrap="square" lIns="0" rIns="0" tIns="0" bIns="0" anchor="t">
            <a:spAutoFit/>
          </a:bodyPr>
          <a:lstStyle/>
          <a:p>
            <a:pPr algn="l"/>
            <a:r>
              <a:rPr sz="7200" b="1" i="0">
                <a:solidFill>
                  <a:srgbClr val="0F8B8D"/>
                </a:solidFill>
                <a:latin typeface="Arial"/>
              </a:rPr>
              <a:t>3</a:t>
            </a:r>
          </a:p>
        </p:txBody>
      </p:sp>
      <p:sp>
        <p:nvSpPr>
          <p:cNvPr id="4" name="TextBox 3"/>
          <p:cNvSpPr txBox="1"/>
          <p:nvPr/>
        </p:nvSpPr>
        <p:spPr>
          <a:xfrm>
            <a:off x="54864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nền móng</a:t>
            </a:r>
          </a:p>
        </p:txBody>
      </p:sp>
      <p:sp>
        <p:nvSpPr>
          <p:cNvPr id="5" name="TextBox 4"/>
          <p:cNvSpPr txBox="1"/>
          <p:nvPr/>
        </p:nvSpPr>
        <p:spPr>
          <a:xfrm>
            <a:off x="54864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1–3</a:t>
            </a:r>
          </a:p>
        </p:txBody>
      </p:sp>
      <p:sp>
        <p:nvSpPr>
          <p:cNvPr id="6" name="TextBox 5"/>
          <p:cNvSpPr txBox="1"/>
          <p:nvPr/>
        </p:nvSpPr>
        <p:spPr>
          <a:xfrm>
            <a:off x="4343400" y="1463040"/>
            <a:ext cx="3566160" cy="1188720"/>
          </a:xfrm>
          <a:prstGeom prst="rect">
            <a:avLst/>
          </a:prstGeom>
          <a:noFill/>
        </p:spPr>
        <p:txBody>
          <a:bodyPr wrap="square" lIns="0" rIns="0" tIns="0" bIns="0" anchor="t">
            <a:spAutoFit/>
          </a:bodyPr>
          <a:lstStyle/>
          <a:p>
            <a:pPr algn="l"/>
            <a:r>
              <a:rPr sz="7200" b="1" i="0">
                <a:solidFill>
                  <a:srgbClr val="D9642B"/>
                </a:solidFill>
                <a:latin typeface="Arial"/>
              </a:rPr>
              <a:t>10</a:t>
            </a:r>
          </a:p>
        </p:txBody>
      </p:sp>
      <p:sp>
        <p:nvSpPr>
          <p:cNvPr id="7" name="TextBox 6"/>
          <p:cNvSpPr txBox="1"/>
          <p:nvPr/>
        </p:nvSpPr>
        <p:spPr>
          <a:xfrm>
            <a:off x="434340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hiểu &amp; chuẩn bị dữ liệu</a:t>
            </a:r>
          </a:p>
        </p:txBody>
      </p:sp>
      <p:sp>
        <p:nvSpPr>
          <p:cNvPr id="8" name="TextBox 7"/>
          <p:cNvSpPr txBox="1"/>
          <p:nvPr/>
        </p:nvSpPr>
        <p:spPr>
          <a:xfrm>
            <a:off x="434340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4–13</a:t>
            </a:r>
          </a:p>
        </p:txBody>
      </p:sp>
      <p:sp>
        <p:nvSpPr>
          <p:cNvPr id="9" name="TextBox 8"/>
          <p:cNvSpPr txBox="1"/>
          <p:nvPr/>
        </p:nvSpPr>
        <p:spPr>
          <a:xfrm>
            <a:off x="8138160" y="1463040"/>
            <a:ext cx="3566160" cy="1188720"/>
          </a:xfrm>
          <a:prstGeom prst="rect">
            <a:avLst/>
          </a:prstGeom>
          <a:noFill/>
        </p:spPr>
        <p:txBody>
          <a:bodyPr wrap="square" lIns="0" rIns="0" tIns="0" bIns="0" anchor="t">
            <a:spAutoFit/>
          </a:bodyPr>
          <a:lstStyle/>
          <a:p>
            <a:pPr algn="l"/>
            <a:r>
              <a:rPr sz="7200" b="1" i="0">
                <a:solidFill>
                  <a:srgbClr val="6C4AB6"/>
                </a:solidFill>
                <a:latin typeface="Arial"/>
              </a:rPr>
              <a:t>2</a:t>
            </a:r>
          </a:p>
        </p:txBody>
      </p:sp>
      <p:sp>
        <p:nvSpPr>
          <p:cNvPr id="10" name="TextBox 9"/>
          <p:cNvSpPr txBox="1"/>
          <p:nvPr/>
        </p:nvSpPr>
        <p:spPr>
          <a:xfrm>
            <a:off x="813816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đánh giá trung thực</a:t>
            </a:r>
          </a:p>
        </p:txBody>
      </p:sp>
      <p:sp>
        <p:nvSpPr>
          <p:cNvPr id="11" name="TextBox 10"/>
          <p:cNvSpPr txBox="1"/>
          <p:nvPr/>
        </p:nvSpPr>
        <p:spPr>
          <a:xfrm>
            <a:off x="813816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14–15</a:t>
            </a:r>
          </a:p>
        </p:txBody>
      </p:sp>
      <p:sp>
        <p:nvSpPr>
          <p:cNvPr id="12" name="Rounded Rectangle 11"/>
          <p:cNvSpPr/>
          <p:nvPr/>
        </p:nvSpPr>
        <p:spPr>
          <a:xfrm>
            <a:off x="54864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5156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0302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80594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5740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30886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6032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1178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6324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1470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6616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17620" y="4160520"/>
            <a:ext cx="224028" cy="502920"/>
          </a:xfrm>
          <a:prstGeom prst="roundRect">
            <a:avLst>
              <a:gd name="adj" fmla="val 20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069080" y="4160520"/>
            <a:ext cx="224028" cy="502920"/>
          </a:xfrm>
          <a:prstGeom prst="roundRect">
            <a:avLst>
              <a:gd name="adj" fmla="val 20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205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8234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3263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5778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8293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0807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322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836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8351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0866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380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895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8409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924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439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5953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468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982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3497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6012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8526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01041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3555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06070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08585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11099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3614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4800600"/>
            <a:ext cx="3931920" cy="365760"/>
          </a:xfrm>
          <a:prstGeom prst="rect">
            <a:avLst/>
          </a:prstGeom>
          <a:noFill/>
        </p:spPr>
        <p:txBody>
          <a:bodyPr wrap="square" lIns="0" rIns="0" tIns="0" bIns="0" anchor="t">
            <a:spAutoFit/>
          </a:bodyPr>
          <a:lstStyle/>
          <a:p>
            <a:pPr algn="l"/>
            <a:r>
              <a:rPr sz="1400" b="1" i="0">
                <a:solidFill>
                  <a:srgbClr val="1B2A41"/>
                </a:solidFill>
                <a:latin typeface="Arial"/>
              </a:rPr>
              <a:t>buổi 1 → 15: hôm nay</a:t>
            </a:r>
          </a:p>
        </p:txBody>
      </p:sp>
      <p:sp>
        <p:nvSpPr>
          <p:cNvPr id="57" name="TextBox 56"/>
          <p:cNvSpPr txBox="1"/>
          <p:nvPr/>
        </p:nvSpPr>
        <p:spPr>
          <a:xfrm>
            <a:off x="4389120" y="4800600"/>
            <a:ext cx="7223760" cy="731520"/>
          </a:xfrm>
          <a:prstGeom prst="rect">
            <a:avLst/>
          </a:prstGeom>
          <a:noFill/>
        </p:spPr>
        <p:txBody>
          <a:bodyPr wrap="square" lIns="0" rIns="0" tIns="0" bIns="0" anchor="t">
            <a:spAutoFit/>
          </a:bodyPr>
          <a:lstStyle/>
          <a:p>
            <a:pPr algn="l"/>
            <a:r>
              <a:rPr sz="1200" b="0" i="0">
                <a:solidFill>
                  <a:srgbClr val="5B6778"/>
                </a:solidFill>
                <a:latin typeface="Arial"/>
              </a:rPr>
              <a:t>16–21 thống kê · 22–24 ML · 25–28 bất định · 29–33 deep learning · 34–37 foundation model &amp; LLM · 38–40 nhân quả · 41–43 production · 44 dự án cuối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Nhìn trước, xử lý sau, kiểm lại cuối</a:t>
            </a:r>
          </a:p>
        </p:txBody>
      </p:sp>
      <p:sp>
        <p:nvSpPr>
          <p:cNvPr id="3" name="Oval 2"/>
          <p:cNvSpPr/>
          <p:nvPr/>
        </p:nvSpPr>
        <p:spPr>
          <a:xfrm>
            <a:off x="56372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1</a:t>
            </a:r>
          </a:p>
        </p:txBody>
      </p:sp>
      <p:sp>
        <p:nvSpPr>
          <p:cNvPr id="4" name="TextBox 3"/>
          <p:cNvSpPr txBox="1"/>
          <p:nvPr/>
        </p:nvSpPr>
        <p:spPr>
          <a:xfrm>
            <a:off x="19796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Nhìn</a:t>
            </a:r>
          </a:p>
        </p:txBody>
      </p:sp>
      <p:sp>
        <p:nvSpPr>
          <p:cNvPr id="5" name="TextBox 4"/>
          <p:cNvSpPr txBox="1"/>
          <p:nvPr/>
        </p:nvSpPr>
        <p:spPr>
          <a:xfrm>
            <a:off x="19796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vẽ đủ biểu đồ</a:t>
            </a:r>
          </a:p>
        </p:txBody>
      </p:sp>
      <p:cxnSp>
        <p:nvCxnSpPr>
          <p:cNvPr id="6" name="Connector 5"/>
          <p:cNvCxnSpPr/>
          <p:nvPr/>
        </p:nvCxnSpPr>
        <p:spPr>
          <a:xfrm>
            <a:off x="222793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94116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2</a:t>
            </a:r>
          </a:p>
        </p:txBody>
      </p:sp>
      <p:sp>
        <p:nvSpPr>
          <p:cNvPr id="8" name="TextBox 7"/>
          <p:cNvSpPr txBox="1"/>
          <p:nvPr/>
        </p:nvSpPr>
        <p:spPr>
          <a:xfrm>
            <a:off x="257540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Giả thuyết</a:t>
            </a:r>
          </a:p>
        </p:txBody>
      </p:sp>
      <p:sp>
        <p:nvSpPr>
          <p:cNvPr id="9" name="TextBox 8"/>
          <p:cNvSpPr txBox="1"/>
          <p:nvPr/>
        </p:nvSpPr>
        <p:spPr>
          <a:xfrm>
            <a:off x="257540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nghi điều gì?</a:t>
            </a:r>
          </a:p>
        </p:txBody>
      </p:sp>
      <p:cxnSp>
        <p:nvCxnSpPr>
          <p:cNvPr id="10" name="Connector 9"/>
          <p:cNvCxnSpPr/>
          <p:nvPr/>
        </p:nvCxnSpPr>
        <p:spPr>
          <a:xfrm>
            <a:off x="460537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31860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3</a:t>
            </a:r>
          </a:p>
        </p:txBody>
      </p:sp>
      <p:sp>
        <p:nvSpPr>
          <p:cNvPr id="12" name="TextBox 11"/>
          <p:cNvSpPr txBox="1"/>
          <p:nvPr/>
        </p:nvSpPr>
        <p:spPr>
          <a:xfrm>
            <a:off x="495284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Kiểm bằng số</a:t>
            </a:r>
          </a:p>
        </p:txBody>
      </p:sp>
      <p:sp>
        <p:nvSpPr>
          <p:cNvPr id="13" name="TextBox 12"/>
          <p:cNvSpPr txBox="1"/>
          <p:nvPr/>
        </p:nvSpPr>
        <p:spPr>
          <a:xfrm>
            <a:off x="495284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đếm, đo, test</a:t>
            </a:r>
          </a:p>
        </p:txBody>
      </p:sp>
      <p:cxnSp>
        <p:nvCxnSpPr>
          <p:cNvPr id="14" name="Connector 13"/>
          <p:cNvCxnSpPr/>
          <p:nvPr/>
        </p:nvCxnSpPr>
        <p:spPr>
          <a:xfrm>
            <a:off x="698281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69604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4</a:t>
            </a:r>
          </a:p>
        </p:txBody>
      </p:sp>
      <p:sp>
        <p:nvSpPr>
          <p:cNvPr id="16" name="TextBox 15"/>
          <p:cNvSpPr txBox="1"/>
          <p:nvPr/>
        </p:nvSpPr>
        <p:spPr>
          <a:xfrm>
            <a:off x="733028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Xử lý</a:t>
            </a:r>
          </a:p>
        </p:txBody>
      </p:sp>
      <p:sp>
        <p:nvSpPr>
          <p:cNvPr id="17" name="TextBox 16"/>
          <p:cNvSpPr txBox="1"/>
          <p:nvPr/>
        </p:nvSpPr>
        <p:spPr>
          <a:xfrm>
            <a:off x="733028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sửa có ghi lại</a:t>
            </a:r>
          </a:p>
        </p:txBody>
      </p:sp>
      <p:cxnSp>
        <p:nvCxnSpPr>
          <p:cNvPr id="18" name="Connector 17"/>
          <p:cNvCxnSpPr/>
          <p:nvPr/>
        </p:nvCxnSpPr>
        <p:spPr>
          <a:xfrm>
            <a:off x="936025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073487" y="1920240"/>
            <a:ext cx="1554480" cy="155448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5</a:t>
            </a:r>
          </a:p>
        </p:txBody>
      </p:sp>
      <p:sp>
        <p:nvSpPr>
          <p:cNvPr id="20" name="TextBox 19"/>
          <p:cNvSpPr txBox="1"/>
          <p:nvPr/>
        </p:nvSpPr>
        <p:spPr>
          <a:xfrm>
            <a:off x="970772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Kiểm lại</a:t>
            </a:r>
          </a:p>
        </p:txBody>
      </p:sp>
      <p:sp>
        <p:nvSpPr>
          <p:cNvPr id="21" name="TextBox 20"/>
          <p:cNvSpPr txBox="1"/>
          <p:nvPr/>
        </p:nvSpPr>
        <p:spPr>
          <a:xfrm>
            <a:off x="970772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so trước / sau</a:t>
            </a:r>
          </a:p>
        </p:txBody>
      </p:sp>
      <p:sp>
        <p:nvSpPr>
          <p:cNvPr id="22" name="Rounded Rectangle 21"/>
          <p:cNvSpPr/>
          <p:nvPr/>
        </p:nvSpPr>
        <p:spPr>
          <a:xfrm>
            <a:off x="548640" y="4892040"/>
            <a:ext cx="11091672" cy="118872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29200"/>
            <a:ext cx="10515600" cy="914400"/>
          </a:xfrm>
          <a:prstGeom prst="rect">
            <a:avLst/>
          </a:prstGeom>
          <a:noFill/>
        </p:spPr>
        <p:txBody>
          <a:bodyPr wrap="square" lIns="0" rIns="0" tIns="0" bIns="0" anchor="ctr">
            <a:spAutoFit/>
          </a:bodyPr>
          <a:lstStyle/>
          <a:p>
            <a:pPr algn="l"/>
            <a:r>
              <a:rPr sz="1600" b="1" i="0">
                <a:solidFill>
                  <a:srgbClr val="0F8B8D"/>
                </a:solidFill>
                <a:latin typeface="Arial"/>
              </a:rPr>
              <a:t>Ví dụ:  </a:t>
            </a:r>
            <a:r>
              <a:rPr sz="1600" b="0" i="0">
                <a:solidFill>
                  <a:srgbClr val="1B2A41"/>
                </a:solidFill>
                <a:latin typeface="Arial"/>
              </a:rPr>
              <a:t>thấy một giờ bằng 0 lúc rạng sáng Chủ nhật tháng 3, nghi do đổi giờ mùa hè, đếm lại số giờ của ngày đó, đổi sang UTC rồi mới gộp, và vẽ lại ngày đó để chắc chắn.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A</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Khái niệm nền</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0F8B8D"/>
                </a:solidFill>
                <a:latin typeface="Arial"/>
              </a:rPr>
              <a:t>Buổi 1–13</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Mỗi khái niệm: để làm gì, là gì, cao thấp nghĩa là gì, và một ví dụ có số.</a:t>
            </a:r>
          </a:p>
        </p:txBody>
      </p:sp>
      <p:cxnSp>
        <p:nvCxnSpPr>
          <p:cNvPr id="6" name="Connector 5"/>
          <p:cNvCxnSpPr/>
          <p:nvPr/>
        </p:nvCxnSpPr>
        <p:spPr>
          <a:xfrm flipH="1" flipV="1">
            <a:off x="7155180" y="2125980"/>
            <a:ext cx="1943100" cy="937259"/>
          </a:xfrm>
          <a:prstGeom prst="line">
            <a:avLst/>
          </a:prstGeom>
          <a:ln w="19050">
            <a:solidFill>
              <a:srgbClr val="0F8B8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1/5: dự báo, sai số, dữ liệu</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mô hình, tham số</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Cách tính ra dự báo; tham số là các con số bên trong nó</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“Mai = trung bình 7 ngày qua”</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khớp (fit), học</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Chọn các tham số từ dữ liệu quá khứ</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Tính trung bình 7 ngày từ lịch sử</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phần học / kỳ chấm</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Đoạn dùng để khớp / đoạn giữ riêng để chấm</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Học 2009, chấm 2010</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học thuộc (overfit)</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Khớp quá sát phần học, dự báo mới thì tệ</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Thuộc đề cũ: 10 điểm; đề mới: 6</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sai số dự báo</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Thực tế − dự báo; dương là dự báo thấp</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1,7 − 1,5 = +0,2</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MAE</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độ lớn sai số, bỏ dấu</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Sai số +2 và −4 → 3</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RMSE</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Căn của trung bình sai số bình phương; phạt nặng sai số lớn</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Sai số 1 và −3 → 2,24</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MAPE</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|sai số| chia thực tế, tính bằng %</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Thật 100, dự báo 90 → 10%</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NaN</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Ô “không biết” của pandas, khác với số 0</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Không đo lúc 01:00 → NaN</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backtest</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Đứng ở nhiều mốc trong quá khứ, dự báo, rồi so với thực tế</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4 thứ Hai, mỗi lần dự báo 24 giờ</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feature / mục tiêu</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đầu vào mô hình dùng / con số cần dự báo</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Điện 2 giờ qua / điện giờ tới</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lag, rolling</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Giá trị k bước trước; thống kê trên w điểm gần nhất</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lag_7 thứ Hai = thứ Hai tuần trước</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trung bình trượt</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Thay mỗi điểm bằng trung bình với các điểm lân cận</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50, 2, 51 → quanh 2 là 34,3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2/5: thống kê</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mẫu / tổng thể</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liệu đang có / mọi giá trị nếu đo mãi</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9 giờ 17h đang có / mọi giờ 17h</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phân phối chuẩn</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Hình chuông đối xứng; 95% nằm trong trung bình ± 1,96 s</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100 ± 1,96 × 10 → 80,4–119,6</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histogram</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đếm số giá trị rơi vào mỗi khoảng</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0–9: 6 số; 10–19: 2 số</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i.i.d.</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Các lần độc lập và cùng phân phối</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Các lần tung một xúc xắc</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mức ý nghĩa α</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Ngưỡng chọn trước; p nhỏ hơn thì bác bỏ H0</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Hay dùng 0,05</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sai số chuẩn</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Độ lệch chuẩn của chính một con số ước lượng</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25 giờ: 181 / √25 ≈ 36</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tương quan r</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từ −1 tới 1: hai biến cùng tăng giảm theo đường thẳng tới đâu</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1, 2, 3 và 2, 4, 6 → r = 1</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r1, r_k</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Tự tương quan ở trễ 1, ở trễ k</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r24 = 0,81 với lượt thuê xe</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hồi quy đơn, R²</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Đường y = a + b·x khớp nhất; R² là phần dao động nó giải thích</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R² = 0,8: giải thích 80%</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Durbin–Watson</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Đo phần dư hồi quy có tự tương quan: gần 2 là không, gần 0 là mạnh</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Gần 0 → nghi tương quan giả</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mutual information</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Biết x thì bớt được bao nhiêu điều chưa biết về y; bắt cả quan hệ cong</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Bằng 0 khi độc lập</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CV</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Độ lệch chuẩn chia trung bình</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100, s = 10 → 0,1</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Jarque–Bera</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Kiểm định số liệu có gần hình chuông không; p nhỏ là không</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Phần dư có vài cú rơi lớn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3/5: biến đổi, dừng, bất thường</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log, exp</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log y: e mũ mấy thì bằng y; exp làm ngược lại</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log 100 = 4,605</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CPI, năm gốc</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số giá một giỏ hàng; năm lấy làm mốc sức mua</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CPI 100 → 125: giá tăng 25%</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điều chỉnh lịch</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Chia tổng tháng cho số ngày để tháng dài ngắn so được</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280 tỷ / 28 ngày = 10 tỷ/ngày</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log-normal</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y = exp(w) với w hình chuông: luôn dương, lệch phải</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Doanh số, giá nhà</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Yeo-Johnson</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Biến thể Box-Cox nhận cả số 0 và số âm</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Chuỗi % tăng trưởng có tháng âm</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nhiễu trắng</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Không tự tương quan ở trễ nào: quá khứ không giúp đoán</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Kết quả tung xúc xắc</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random walk</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Giá trị mới = giá trị cũ + một bước ngẫu nhiên</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Tung đồng xu rồi bước tới, lùi</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khử xu hướng</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Lấy chuỗi trừ đường xu hướng</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30 − 24,5 = 5,5</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LOESS</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Làm trơn cục bộ: mỗi điểm nhìn lân cận, điểm gần nặng hơn</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Lõi của STL</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robust</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Cách ước lượng ít bị vài điểm bất thường kéo lệch</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robust=True trong STL</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biến giả</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0/1 báo mốc nào thuộc một sự kiện</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covid = 1 từ 3/2020 tới 6/2021</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winsorize</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Kéo giá trị bị gắn cờ về mức hợp lý (trung vị địa phương), không xoá</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50 → 12</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MAD</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vị của khoảng cách tới trung vị</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Ngoại lai không kéo được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4/5: tần số và bộ lọc</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bộ lọc</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Phép biến một chuỗi thành chuỗi khác, thường để làm trơn</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trượt 3 điểm</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trailing / centered</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nhìn các điểm trước / lấy cả trước lẫn sau</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Centered dùng số tương lai</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trễ (pha)</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Đầu ra bộ lọc chạy sau tín hiệu thật bao nhiêu bước</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13 điểm trễ 6 bước</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tần số lấy mẫu f_s</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mẫu mỗi đơn vị thời gian</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10 phút một mẫu: 6 mẫu/giờ</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tần số Nyquist</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Tần số cao nhất còn thấy đúng: f_s / 2</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6 mẫu/giờ → 3 vòng/giờ</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hạ mẫu</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Giảm tần số lấy mẫu</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Từ 10 phút sang 1 giờ</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lọc thông thấp</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Giữ dao động chậm, bỏ dao động nhanh</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Lọc trước khi hạ mẫu</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EWMA</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trượt hàm mũ: điểm mới nặng hơn điểm cũ</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z_t = α·y_t + (1 − α)·z_(t−1)</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Savitzky–Golay</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Khớp đa thức bậc thấp quanh mỗi điểm</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Nhìn cả hai phía: không nhân quả</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Butterworth</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Bộ lọc cắt tần số theo một ngưỡng</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Bản nhân quả trễ 19 bước</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Kalman filter / smoother</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Ước lượng tín hiệu ẩn; filter dùng quá khứ, smoother dùng cả chuỗi</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Smoother không nhân quả</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sosfilt / sosfiltfilt</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Chạy bộ lọc xuôi thời gian / xuôi rồi ngược</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sosfiltfilt nhìn tương lai</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tín hiệu / nhiễu</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Phần có quy luật cần giữ / phần ngẫu nhiên</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Nhịp ngày / bật tắt ấm đun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5/5: làm sạch, feature, đánh giá</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ép kiểu số</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Đổi cột đọc thành chữ về số (to_numeric)</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“12,5” → 12.5; “(S)” → NaN</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nội suy tuyến tính, ffill</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Nối thẳng hai điểm hai bên lỗ / chép giá trị trước đó</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10, ?, 14 → 12 / 10</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cờ chất lượng</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Mã nguồn gắn kèm số đo: qua kiểm tra hay đáng ngờ</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GHCNh: mã 2 = đáng ngờ</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độ phân giải</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Bước nhỏ nhất giữa hai giá trị cảm biến ghi được</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số nguyên: 1 °C</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cảm biến kẹt</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Cảm biến ghi lặp một giá trị nhiều giờ liền</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26,0 suốt 33 giờ</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scaler</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Trừ trung bình, chia độ lệch chuẩn cho từng cột (StandardScaler)</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Phải fit trên phần học</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target encoding</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Thay một nhóm bằng trung bình mục tiêu của nhóm</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Thứ Bảy → doanh thu TB các thứ Bảy</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biến ngoại sinh</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Biến ngoài chuỗi, dùng làm feature</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khi dự báo tải điện</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ex-ante / ex-post</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dùng thông tin có lúc dự báo / dùng cả số thật về sau</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dự báo / nhiệt độ đo</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point-in-time</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Dùng số liệu đúng như lúc đó, không dùng bản đã sửa về sau</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GDP bản công bố đầu tiên</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hold-out</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Đoạn tương lai giữ riêng, chỉ chấm một lần</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Quý 4 năm 2024</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tune</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Thử nhiều cách đặt tham số, giữ cách sai ít nhất</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Thử 11 giá trị w</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rừng ngẫu nhiên</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Nhiều cây quy tắc “nếu… thì…”, lấy trung bình; rất giỏi nhớ</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200 cây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là điều sẽ xảy ra, không phải điều muốn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 vs goal vs plan · forecastability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Con số ta sắp đưa ra là điều sẽ xảy ra, hay điều ta muốn xảy ra?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Giữ dự báo trung thực, và biết trước một thứ dự báo được tới đâu.</a:t>
            </a:r>
          </a:p>
        </p:txBody>
      </p:sp>
      <p:sp>
        <p:nvSpPr>
          <p:cNvPr id="8" name="TextBox 7"/>
          <p:cNvSpPr txBox="1"/>
          <p:nvPr/>
        </p:nvSpPr>
        <p:spPr>
          <a:xfrm>
            <a:off x="548640" y="2478023"/>
            <a:ext cx="5394960" cy="320040"/>
          </a:xfrm>
          <a:prstGeom prst="rect">
            <a:avLst/>
          </a:prstGeom>
          <a:noFill/>
        </p:spPr>
        <p:txBody>
          <a:bodyPr wrap="square" lIns="0" rIns="0" tIns="0" bIns="0" anchor="t">
            <a:spAutoFit/>
          </a:bodyPr>
          <a:lstStyle/>
          <a:p>
            <a:pPr algn="l"/>
            <a:r>
              <a:rPr sz="1500" b="1" i="0">
                <a:solidFill>
                  <a:srgbClr val="0F8B8D"/>
                </a:solidFill>
                <a:latin typeface="Arial"/>
              </a:rPr>
              <a:t>Ba thứ hay bị nhập làm một</a:t>
            </a:r>
          </a:p>
        </p:txBody>
      </p:sp>
      <p:sp>
        <p:nvSpPr>
          <p:cNvPr id="9" name="Rectangle 8"/>
          <p:cNvSpPr/>
          <p:nvPr/>
        </p:nvSpPr>
        <p:spPr>
          <a:xfrm>
            <a:off x="548640" y="2889503"/>
            <a:ext cx="123444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
            </a:r>
          </a:p>
        </p:txBody>
      </p:sp>
      <p:sp>
        <p:nvSpPr>
          <p:cNvPr id="10" name="Rectangle 9"/>
          <p:cNvSpPr/>
          <p:nvPr/>
        </p:nvSpPr>
        <p:spPr>
          <a:xfrm>
            <a:off x="1783080" y="2889503"/>
            <a:ext cx="182880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Trả lời</a:t>
            </a:r>
          </a:p>
        </p:txBody>
      </p:sp>
      <p:sp>
        <p:nvSpPr>
          <p:cNvPr id="11" name="Rectangle 10"/>
          <p:cNvSpPr/>
          <p:nvPr/>
        </p:nvSpPr>
        <p:spPr>
          <a:xfrm>
            <a:off x="3611880" y="2889503"/>
            <a:ext cx="2331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Quán cà phê</a:t>
            </a:r>
          </a:p>
        </p:txBody>
      </p:sp>
      <p:sp>
        <p:nvSpPr>
          <p:cNvPr id="12" name="Rectangle 11"/>
          <p:cNvSpPr/>
          <p:nvPr/>
        </p:nvSpPr>
        <p:spPr>
          <a:xfrm>
            <a:off x="548640" y="3456432"/>
            <a:ext cx="12344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Dự báo</a:t>
            </a:r>
          </a:p>
        </p:txBody>
      </p:sp>
      <p:sp>
        <p:nvSpPr>
          <p:cNvPr id="13" name="Rectangle 12"/>
          <p:cNvSpPr/>
          <p:nvPr/>
        </p:nvSpPr>
        <p:spPr>
          <a:xfrm>
            <a:off x="1783080" y="3456432"/>
            <a:ext cx="182880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điều gì sẽ xảy ra</a:t>
            </a:r>
          </a:p>
        </p:txBody>
      </p:sp>
      <p:sp>
        <p:nvSpPr>
          <p:cNvPr id="14" name="Rectangle 13"/>
          <p:cNvSpPr/>
          <p:nvPr/>
        </p:nvSpPr>
        <p:spPr>
          <a:xfrm>
            <a:off x="3611880" y="3456432"/>
            <a:ext cx="2331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tuần tới bán khoảng 1.900 ly</a:t>
            </a:r>
          </a:p>
        </p:txBody>
      </p:sp>
      <p:sp>
        <p:nvSpPr>
          <p:cNvPr id="15" name="Rectangle 14"/>
          <p:cNvSpPr/>
          <p:nvPr/>
        </p:nvSpPr>
        <p:spPr>
          <a:xfrm>
            <a:off x="548640" y="4023359"/>
            <a:ext cx="12344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Mục tiêu</a:t>
            </a:r>
          </a:p>
        </p:txBody>
      </p:sp>
      <p:sp>
        <p:nvSpPr>
          <p:cNvPr id="16" name="Rectangle 15"/>
          <p:cNvSpPr/>
          <p:nvPr/>
        </p:nvSpPr>
        <p:spPr>
          <a:xfrm>
            <a:off x="1783080" y="4023359"/>
            <a:ext cx="182880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ta muốn điều gì</a:t>
            </a:r>
          </a:p>
        </p:txBody>
      </p:sp>
      <p:sp>
        <p:nvSpPr>
          <p:cNvPr id="17" name="Rectangle 16"/>
          <p:cNvSpPr/>
          <p:nvPr/>
        </p:nvSpPr>
        <p:spPr>
          <a:xfrm>
            <a:off x="3611880" y="4023359"/>
            <a:ext cx="2331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bán 2.500 ly</a:t>
            </a:r>
          </a:p>
        </p:txBody>
      </p:sp>
      <p:sp>
        <p:nvSpPr>
          <p:cNvPr id="18" name="Rectangle 17"/>
          <p:cNvSpPr/>
          <p:nvPr/>
        </p:nvSpPr>
        <p:spPr>
          <a:xfrm>
            <a:off x="548640" y="4590288"/>
            <a:ext cx="12344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Kế hoạch</a:t>
            </a:r>
          </a:p>
        </p:txBody>
      </p:sp>
      <p:sp>
        <p:nvSpPr>
          <p:cNvPr id="19" name="Rectangle 18"/>
          <p:cNvSpPr/>
          <p:nvPr/>
        </p:nvSpPr>
        <p:spPr>
          <a:xfrm>
            <a:off x="1783080" y="4590288"/>
            <a:ext cx="182880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ta làm gì để tới gần</a:t>
            </a:r>
          </a:p>
        </p:txBody>
      </p:sp>
      <p:sp>
        <p:nvSpPr>
          <p:cNvPr id="20" name="Rectangle 19"/>
          <p:cNvSpPr/>
          <p:nvPr/>
        </p:nvSpPr>
        <p:spPr>
          <a:xfrm>
            <a:off x="3611880" y="4590288"/>
            <a:ext cx="2331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khuyến mãi, đặt thêm hạt</a:t>
            </a:r>
          </a:p>
        </p:txBody>
      </p:sp>
      <p:sp>
        <p:nvSpPr>
          <p:cNvPr id="21" name="TextBox 20"/>
          <p:cNvSpPr txBox="1"/>
          <p:nvPr/>
        </p:nvSpPr>
        <p:spPr>
          <a:xfrm>
            <a:off x="548640" y="5358383"/>
            <a:ext cx="5394960" cy="1097280"/>
          </a:xfrm>
          <a:prstGeom prst="rect">
            <a:avLst/>
          </a:prstGeom>
          <a:noFill/>
        </p:spPr>
        <p:txBody>
          <a:bodyPr wrap="square" lIns="0" rIns="0" tIns="0" bIns="0" anchor="t">
            <a:spAutoFit/>
          </a:bodyPr>
          <a:lstStyle/>
          <a:p>
            <a:pPr algn="l"/>
            <a:r>
              <a:rPr sz="1300" b="0" i="0">
                <a:solidFill>
                  <a:srgbClr val="5B6778"/>
                </a:solidFill>
                <a:latin typeface="Arial"/>
              </a:rPr>
              <a:t>Sếp muốn 2.500 ly nên bảo “dự báo 2.500”: kho đặt hàng cho 2.500, tuần đó bán 1.900, thừa 600 ly, và không ai còn biết dự báo đúng hay sai.</a:t>
            </a:r>
          </a:p>
        </p:txBody>
      </p:sp>
      <p:sp>
        <p:nvSpPr>
          <p:cNvPr id="22" name="TextBox 21"/>
          <p:cNvSpPr txBox="1"/>
          <p:nvPr/>
        </p:nvSpPr>
        <p:spPr>
          <a:xfrm>
            <a:off x="6309360" y="2478023"/>
            <a:ext cx="5330952" cy="320040"/>
          </a:xfrm>
          <a:prstGeom prst="rect">
            <a:avLst/>
          </a:prstGeom>
          <a:noFill/>
        </p:spPr>
        <p:txBody>
          <a:bodyPr wrap="square" lIns="0" rIns="0" tIns="0" bIns="0" anchor="t">
            <a:spAutoFit/>
          </a:bodyPr>
          <a:lstStyle/>
          <a:p>
            <a:pPr algn="l"/>
            <a:r>
              <a:rPr sz="1500" b="1" i="0">
                <a:solidFill>
                  <a:srgbClr val="0F8B8D"/>
                </a:solidFill>
                <a:latin typeface="Arial"/>
              </a:rPr>
              <a:t>Bốn điều cho biết một thứ dự báo được tới đâu</a:t>
            </a:r>
          </a:p>
        </p:txBody>
      </p:sp>
      <p:sp>
        <p:nvSpPr>
          <p:cNvPr id="23" name="Rectangle 22"/>
          <p:cNvSpPr/>
          <p:nvPr/>
        </p:nvSpPr>
        <p:spPr>
          <a:xfrm>
            <a:off x="6309360" y="2889503"/>
            <a:ext cx="214884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
            </a:r>
          </a:p>
        </p:txBody>
      </p:sp>
      <p:sp>
        <p:nvSpPr>
          <p:cNvPr id="24" name="Rectangle 23"/>
          <p:cNvSpPr/>
          <p:nvPr/>
        </p:nvSpPr>
        <p:spPr>
          <a:xfrm>
            <a:off x="8458200" y="2889503"/>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Điện ngày mai</a:t>
            </a:r>
          </a:p>
        </p:txBody>
      </p:sp>
      <p:sp>
        <p:nvSpPr>
          <p:cNvPr id="25" name="Rectangle 24"/>
          <p:cNvSpPr/>
          <p:nvPr/>
        </p:nvSpPr>
        <p:spPr>
          <a:xfrm>
            <a:off x="9646920" y="2889503"/>
            <a:ext cx="1993392"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Tỷ giá tuần sau</a:t>
            </a:r>
          </a:p>
        </p:txBody>
      </p:sp>
      <p:sp>
        <p:nvSpPr>
          <p:cNvPr id="26" name="Rectangle 25"/>
          <p:cNvSpPr/>
          <p:nvPr/>
        </p:nvSpPr>
        <p:spPr>
          <a:xfrm>
            <a:off x="6309360" y="3456432"/>
            <a:ext cx="21488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Hiểu cái gì tác động tới nó</a:t>
            </a:r>
          </a:p>
        </p:txBody>
      </p:sp>
      <p:sp>
        <p:nvSpPr>
          <p:cNvPr id="27" name="Rectangle 26"/>
          <p:cNvSpPr/>
          <p:nvPr/>
        </p:nvSpPr>
        <p:spPr>
          <a:xfrm>
            <a:off x="8458200" y="3456432"/>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28" name="Rectangle 27"/>
          <p:cNvSpPr/>
          <p:nvPr/>
        </p:nvSpPr>
        <p:spPr>
          <a:xfrm>
            <a:off x="9646920" y="3456432"/>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ít</a:t>
            </a:r>
          </a:p>
        </p:txBody>
      </p:sp>
      <p:sp>
        <p:nvSpPr>
          <p:cNvPr id="29" name="Rectangle 28"/>
          <p:cNvSpPr/>
          <p:nvPr/>
        </p:nvSpPr>
        <p:spPr>
          <a:xfrm>
            <a:off x="6309360" y="4023359"/>
            <a:ext cx="21488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Có nhiều dữ liệu</a:t>
            </a:r>
          </a:p>
        </p:txBody>
      </p:sp>
      <p:sp>
        <p:nvSpPr>
          <p:cNvPr id="30" name="Rectangle 29"/>
          <p:cNvSpPr/>
          <p:nvPr/>
        </p:nvSpPr>
        <p:spPr>
          <a:xfrm>
            <a:off x="8458200" y="4023359"/>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31" name="Rectangle 30"/>
          <p:cNvSpPr/>
          <p:nvPr/>
        </p:nvSpPr>
        <p:spPr>
          <a:xfrm>
            <a:off x="9646920" y="4023359"/>
            <a:ext cx="1993392"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32" name="Rectangle 31"/>
          <p:cNvSpPr/>
          <p:nvPr/>
        </p:nvSpPr>
        <p:spPr>
          <a:xfrm>
            <a:off x="6309360" y="4590288"/>
            <a:ext cx="21488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Tương lai giống quá khứ</a:t>
            </a:r>
          </a:p>
        </p:txBody>
      </p:sp>
      <p:sp>
        <p:nvSpPr>
          <p:cNvPr id="33" name="Rectangle 32"/>
          <p:cNvSpPr/>
          <p:nvPr/>
        </p:nvSpPr>
        <p:spPr>
          <a:xfrm>
            <a:off x="8458200" y="4590288"/>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thường có</a:t>
            </a:r>
          </a:p>
        </p:txBody>
      </p:sp>
      <p:sp>
        <p:nvSpPr>
          <p:cNvPr id="34" name="Rectangle 33"/>
          <p:cNvSpPr/>
          <p:nvPr/>
        </p:nvSpPr>
        <p:spPr>
          <a:xfrm>
            <a:off x="9646920" y="4590288"/>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khủng hoảng làm đổi hẳn</a:t>
            </a:r>
          </a:p>
        </p:txBody>
      </p:sp>
      <p:sp>
        <p:nvSpPr>
          <p:cNvPr id="35" name="Rectangle 34"/>
          <p:cNvSpPr/>
          <p:nvPr/>
        </p:nvSpPr>
        <p:spPr>
          <a:xfrm>
            <a:off x="6309360" y="5157216"/>
            <a:ext cx="21488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Dự báo không làm đổi chính nó</a:t>
            </a:r>
          </a:p>
        </p:txBody>
      </p:sp>
      <p:sp>
        <p:nvSpPr>
          <p:cNvPr id="36" name="Rectangle 35"/>
          <p:cNvSpPr/>
          <p:nvPr/>
        </p:nvSpPr>
        <p:spPr>
          <a:xfrm>
            <a:off x="8458200" y="5157216"/>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đúng</a:t>
            </a:r>
          </a:p>
        </p:txBody>
      </p:sp>
      <p:sp>
        <p:nvSpPr>
          <p:cNvPr id="37" name="Rectangle 36"/>
          <p:cNvSpPr/>
          <p:nvPr/>
        </p:nvSpPr>
        <p:spPr>
          <a:xfrm>
            <a:off x="9646920" y="5157216"/>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sai: người ta mua bán theo dự báo</a:t>
            </a:r>
          </a:p>
        </p:txBody>
      </p:sp>
      <p:sp>
        <p:nvSpPr>
          <p:cNvPr id="38" name="TextBox 37"/>
          <p:cNvSpPr txBox="1"/>
          <p:nvPr/>
        </p:nvSpPr>
        <p:spPr>
          <a:xfrm>
            <a:off x="6309360" y="5952744"/>
            <a:ext cx="5330952" cy="731520"/>
          </a:xfrm>
          <a:prstGeom prst="rect">
            <a:avLst/>
          </a:prstGeom>
          <a:noFill/>
        </p:spPr>
        <p:txBody>
          <a:bodyPr wrap="square" lIns="0" rIns="0" tIns="0" bIns="0" anchor="t">
            <a:spAutoFit/>
          </a:bodyPr>
          <a:lstStyle/>
          <a:p>
            <a:pPr algn="l"/>
            <a:r>
              <a:rPr sz="1300" b="0" i="0">
                <a:solidFill>
                  <a:srgbClr val="5B6778"/>
                </a:solidFill>
                <a:latin typeface="Arial"/>
              </a:rPr>
              <a:t>Điện ngày mai thoả cả bốn nên đoán được rất sát; tỷ giá chỉ thoả một.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Đứng ở gốc, chỉ thấy quá khứ</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 origin (cutoff) · forecast horizon h</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mình đang đứng ở thời điểm nào và phải nhìn xa bao nhiêu, để chỉ dùng dữ liệu có trước lúc đó.</a:t>
            </a:r>
          </a:p>
        </p:txBody>
      </p:sp>
      <p:pic>
        <p:nvPicPr>
          <p:cNvPr id="7" name="Picture 6" descr="kn-tam-du-bao-h.png"/>
          <p:cNvPicPr>
            <a:picLocks noChangeAspect="1"/>
          </p:cNvPicPr>
          <p:nvPr/>
        </p:nvPicPr>
        <p:blipFill>
          <a:blip r:embed="rId2"/>
          <a:stretch>
            <a:fillRect/>
          </a:stretch>
        </p:blipFill>
        <p:spPr>
          <a:xfrm>
            <a:off x="548640" y="2493066"/>
            <a:ext cx="6309360" cy="3572650"/>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Gốc dự báo là lúc ra dự báo. Tầm h là số bước phải đoán, đếm từ gốc.</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Tầm xa hay gần nghĩa là gì</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h nhỏ</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sát gốc, còn nhiều số liệu mới để dựa vào</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h lớn</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xa gốc, khó hơn, sai số thường lớn hơn</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Đứng ở 00:00 thứ Hai, dự báo 168 giờ tới: h = 1 là 01:00, h = 168 là giờ cuối Chủ nhật.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Mô hình học từ phần học, bị chấm ở kỳ chấm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model · parameter · fit · training set · test period · overfitting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mô hình “học” từ đâu và được chấm ở đâu, để thấy vì sao chấm trên phần học cho con số đẹp hơn thật.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“Học trên đề cũ, thi trên đề mới; thuộc lòng đề cũ không có nghĩa là giỏi.”</a:t>
            </a:r>
          </a:p>
        </p:txBody>
      </p:sp>
      <p:sp>
        <p:nvSpPr>
          <p:cNvPr id="8" name="Rounded Rectangle 7"/>
          <p:cNvSpPr/>
          <p:nvPr/>
        </p:nvSpPr>
        <p:spPr>
          <a:xfrm>
            <a:off x="548640" y="2587751"/>
            <a:ext cx="7498079" cy="685800"/>
          </a:xfrm>
          <a:prstGeom prst="roundRect">
            <a:avLst>
              <a:gd name="adj" fmla="val 20000"/>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587751"/>
            <a:ext cx="7498079" cy="68580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1B2A41"/>
                </a:solidFill>
                <a:latin typeface="Arial"/>
              </a:rPr>
              <a:t>Phần học: mô hình được thấy, dùng để khớp tham số</a:t>
            </a:r>
          </a:p>
        </p:txBody>
      </p:sp>
      <p:sp>
        <p:nvSpPr>
          <p:cNvPr id="10" name="Rounded Rectangle 9"/>
          <p:cNvSpPr/>
          <p:nvPr/>
        </p:nvSpPr>
        <p:spPr>
          <a:xfrm>
            <a:off x="8183879" y="2587751"/>
            <a:ext cx="3456432" cy="68580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Kỳ chấm: giấu đi, chỉ để chấm</a:t>
            </a:r>
          </a:p>
        </p:txBody>
      </p:sp>
      <p:sp>
        <p:nvSpPr>
          <p:cNvPr id="11" name="TextBox 10"/>
          <p:cNvSpPr txBox="1"/>
          <p:nvPr/>
        </p:nvSpPr>
        <p:spPr>
          <a:xfrm>
            <a:off x="8092440" y="3319272"/>
            <a:ext cx="1097280" cy="274320"/>
          </a:xfrm>
          <a:prstGeom prst="rect">
            <a:avLst/>
          </a:prstGeom>
          <a:noFill/>
        </p:spPr>
        <p:txBody>
          <a:bodyPr wrap="square" lIns="0" rIns="0" tIns="0" bIns="0" anchor="t">
            <a:spAutoFit/>
          </a:bodyPr>
          <a:lstStyle/>
          <a:p>
            <a:pPr algn="l"/>
            <a:r>
              <a:rPr sz="1200" b="1" i="0">
                <a:solidFill>
                  <a:srgbClr val="E07B00"/>
                </a:solidFill>
                <a:latin typeface="Arial"/>
              </a:rPr>
              <a:t>gốc dự báo</a:t>
            </a:r>
          </a:p>
        </p:txBody>
      </p:sp>
      <p:cxnSp>
        <p:nvCxnSpPr>
          <p:cNvPr id="12" name="Connector 11"/>
          <p:cNvCxnSpPr/>
          <p:nvPr/>
        </p:nvCxnSpPr>
        <p:spPr>
          <a:xfrm>
            <a:off x="8110727" y="2496311"/>
            <a:ext cx="0" cy="868680"/>
          </a:xfrm>
          <a:prstGeom prst="line">
            <a:avLst/>
          </a:prstGeom>
          <a:ln w="31750">
            <a:solidFill>
              <a:srgbClr val="E07B0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Mô hình, tham số</a:t>
            </a:r>
          </a:p>
        </p:txBody>
      </p:sp>
      <p:sp>
        <p:nvSpPr>
          <p:cNvPr id="15" name="TextBox 14"/>
          <p:cNvSpPr txBox="1"/>
          <p:nvPr/>
        </p:nvSpPr>
        <p:spPr>
          <a:xfrm>
            <a:off x="777240"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Mô hình là một cách tính ra dự báo; tham số là các con số bên trong nó. “Mai = trung bình 7 ngày qua” là một mô hình có một tham số: số 7.</a:t>
            </a:r>
          </a:p>
        </p:txBody>
      </p:sp>
      <p:sp>
        <p:nvSpPr>
          <p:cNvPr id="16" name="Rounded Rectangle 15"/>
          <p:cNvSpPr/>
          <p:nvPr/>
        </p:nvSpPr>
        <p:spPr>
          <a:xfrm>
            <a:off x="4306824"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Khớp (fit), học</a:t>
            </a:r>
          </a:p>
        </p:txBody>
      </p:sp>
      <p:sp>
        <p:nvSpPr>
          <p:cNvPr id="18" name="TextBox 17"/>
          <p:cNvSpPr txBox="1"/>
          <p:nvPr/>
        </p:nvSpPr>
        <p:spPr>
          <a:xfrm>
            <a:off x="4535424"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tham số từ dữ liệu phần học. Đo sai số trên chính phần học (phần dư) luôn đẹp hơn thật.</a:t>
            </a:r>
          </a:p>
        </p:txBody>
      </p:sp>
      <p:sp>
        <p:nvSpPr>
          <p:cNvPr id="19" name="Rounded Rectangle 18"/>
          <p:cNvSpPr/>
          <p:nvPr/>
        </p:nvSpPr>
        <p:spPr>
          <a:xfrm>
            <a:off x="8065008"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Học thuộc (overfit)</a:t>
            </a:r>
          </a:p>
        </p:txBody>
      </p:sp>
      <p:sp>
        <p:nvSpPr>
          <p:cNvPr id="21" name="TextBox 20"/>
          <p:cNvSpPr txBox="1"/>
          <p:nvPr/>
        </p:nvSpPr>
        <p:spPr>
          <a:xfrm>
            <a:off x="8293608"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Mô hình đủ nhiều tham số thì khớp gần hoàn hảo phần học mà dự báo mới vẫn tệ: thuộc đề cũ được 10 điểm, đề mới chỉ 6.</a:t>
            </a:r>
          </a:p>
        </p:txBody>
      </p:sp>
      <p:sp>
        <p:nvSpPr>
          <p:cNvPr id="22" name="TextBox 21"/>
          <p:cNvSpPr txBox="1"/>
          <p:nvPr/>
        </p:nvSpPr>
        <p:spPr>
          <a:xfrm>
            <a:off x="548640" y="6519671"/>
            <a:ext cx="11091672" cy="548640"/>
          </a:xfrm>
          <a:prstGeom prst="rect">
            <a:avLst/>
          </a:prstGeom>
          <a:noFill/>
        </p:spPr>
        <p:txBody>
          <a:bodyPr wrap="square" lIns="0" rIns="0" tIns="0" bIns="0" anchor="t">
            <a:spAutoFit/>
          </a:bodyPr>
          <a:lstStyle/>
          <a:p>
            <a:pPr algn="l"/>
            <a:r>
              <a:rPr sz="1400" b="1" i="0">
                <a:solidFill>
                  <a:srgbClr val="5B6778"/>
                </a:solidFill>
                <a:latin typeface="Arial"/>
              </a:rPr>
              <a:t>Mọi chỉ số chính xác trong khoá đều tính trên kỳ chấm; phần dư chỉ dùng để chẩn đoán.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Điền 6 ô trước khi mở dữ liệu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forecasting problem statement · decision · target variable · granularity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dự báo phục vụ quyết định nào, rồi mới biết dự báo gì, xa bao nhiêu, chấm ra sao.</a:t>
            </a:r>
          </a:p>
        </p:txBody>
      </p:sp>
      <p:sp>
        <p:nvSpPr>
          <p:cNvPr id="7" name="Rounded Rectangle 6"/>
          <p:cNvSpPr/>
          <p:nvPr/>
        </p:nvSpPr>
        <p:spPr>
          <a:xfrm>
            <a:off x="548640"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1</a:t>
            </a:r>
          </a:p>
        </p:txBody>
      </p:sp>
      <p:sp>
        <p:nvSpPr>
          <p:cNvPr id="9" name="TextBox 8"/>
          <p:cNvSpPr txBox="1"/>
          <p:nvPr/>
        </p:nvSpPr>
        <p:spPr>
          <a:xfrm>
            <a:off x="1371600"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Quyết định</a:t>
            </a:r>
          </a:p>
        </p:txBody>
      </p:sp>
      <p:sp>
        <p:nvSpPr>
          <p:cNvPr id="10" name="TextBox 9"/>
          <p:cNvSpPr txBox="1"/>
          <p:nvPr/>
        </p:nvSpPr>
        <p:spPr>
          <a:xfrm>
            <a:off x="777240"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Ai dùng dự báo, để làm gì?</a:t>
            </a:r>
          </a:p>
        </p:txBody>
      </p:sp>
      <p:sp>
        <p:nvSpPr>
          <p:cNvPr id="11" name="TextBox 10"/>
          <p:cNvSpPr txBox="1"/>
          <p:nvPr/>
        </p:nvSpPr>
        <p:spPr>
          <a:xfrm>
            <a:off x="777240"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Năm ô còn lại đều suy ra từ ô này.</a:t>
            </a:r>
          </a:p>
        </p:txBody>
      </p:sp>
      <p:sp>
        <p:nvSpPr>
          <p:cNvPr id="12" name="TextBox 11"/>
          <p:cNvSpPr txBox="1"/>
          <p:nvPr/>
        </p:nvSpPr>
        <p:spPr>
          <a:xfrm>
            <a:off x="777240"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cuối Chủ nhật đặt mua điện theo giờ cho 7 ngày tới</a:t>
            </a:r>
          </a:p>
        </p:txBody>
      </p:sp>
      <p:sp>
        <p:nvSpPr>
          <p:cNvPr id="13" name="Rounded Rectangle 12"/>
          <p:cNvSpPr/>
          <p:nvPr/>
        </p:nvSpPr>
        <p:spPr>
          <a:xfrm>
            <a:off x="4306824"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35424"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2</a:t>
            </a:r>
          </a:p>
        </p:txBody>
      </p:sp>
      <p:sp>
        <p:nvSpPr>
          <p:cNvPr id="15" name="TextBox 14"/>
          <p:cNvSpPr txBox="1"/>
          <p:nvPr/>
        </p:nvSpPr>
        <p:spPr>
          <a:xfrm>
            <a:off x="5129784"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Biến mục tiêu</a:t>
            </a:r>
          </a:p>
        </p:txBody>
      </p:sp>
      <p:sp>
        <p:nvSpPr>
          <p:cNvPr id="16" name="TextBox 15"/>
          <p:cNvSpPr txBox="1"/>
          <p:nvPr/>
        </p:nvSpPr>
        <p:spPr>
          <a:xfrm>
            <a:off x="4535424"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Dự báo con số nào, đơn vị gì?</a:t>
            </a:r>
          </a:p>
        </p:txBody>
      </p:sp>
      <p:sp>
        <p:nvSpPr>
          <p:cNvPr id="17" name="TextBox 16"/>
          <p:cNvSpPr txBox="1"/>
          <p:nvPr/>
        </p:nvSpPr>
        <p:spPr>
          <a:xfrm>
            <a:off x="4535424"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Sai đơn vị là dự báo giỏi một con số không ai cần.</a:t>
            </a:r>
          </a:p>
        </p:txBody>
      </p:sp>
      <p:sp>
        <p:nvSpPr>
          <p:cNvPr id="18" name="TextBox 17"/>
          <p:cNvSpPr txBox="1"/>
          <p:nvPr/>
        </p:nvSpPr>
        <p:spPr>
          <a:xfrm>
            <a:off x="4535424"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kWh (điện năng) mỗi giờ, không phải kW (công suất)</a:t>
            </a:r>
          </a:p>
        </p:txBody>
      </p:sp>
      <p:sp>
        <p:nvSpPr>
          <p:cNvPr id="19" name="Rounded Rectangle 18"/>
          <p:cNvSpPr/>
          <p:nvPr/>
        </p:nvSpPr>
        <p:spPr>
          <a:xfrm>
            <a:off x="8065008"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93608"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3</a:t>
            </a:r>
          </a:p>
        </p:txBody>
      </p:sp>
      <p:sp>
        <p:nvSpPr>
          <p:cNvPr id="21" name="TextBox 20"/>
          <p:cNvSpPr txBox="1"/>
          <p:nvPr/>
        </p:nvSpPr>
        <p:spPr>
          <a:xfrm>
            <a:off x="8887968"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Tầm dự báo</a:t>
            </a:r>
          </a:p>
        </p:txBody>
      </p:sp>
      <p:sp>
        <p:nvSpPr>
          <p:cNvPr id="22" name="TextBox 21"/>
          <p:cNvSpPr txBox="1"/>
          <p:nvPr/>
        </p:nvSpPr>
        <p:spPr>
          <a:xfrm>
            <a:off x="8293608"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Nhìn xa bao nhiêu bước?</a:t>
            </a:r>
          </a:p>
        </p:txBody>
      </p:sp>
      <p:sp>
        <p:nvSpPr>
          <p:cNvPr id="23" name="TextBox 22"/>
          <p:cNvSpPr txBox="1"/>
          <p:nvPr/>
        </p:nvSpPr>
        <p:spPr>
          <a:xfrm>
            <a:off x="8293608"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Nhìn xa h bước thì chỉ dùng được số liệu cũ hơn h bước.</a:t>
            </a:r>
          </a:p>
        </p:txBody>
      </p:sp>
      <p:sp>
        <p:nvSpPr>
          <p:cNvPr id="24" name="TextBox 23"/>
          <p:cNvSpPr txBox="1"/>
          <p:nvPr/>
        </p:nvSpPr>
        <p:spPr>
          <a:xfrm>
            <a:off x="8293608"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1–168 giờ, tính từ 00:00 thứ Hai</a:t>
            </a:r>
          </a:p>
        </p:txBody>
      </p:sp>
      <p:sp>
        <p:nvSpPr>
          <p:cNvPr id="25" name="Rounded Rectangle 24"/>
          <p:cNvSpPr/>
          <p:nvPr/>
        </p:nvSpPr>
        <p:spPr>
          <a:xfrm>
            <a:off x="548640"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4</a:t>
            </a:r>
          </a:p>
        </p:txBody>
      </p:sp>
      <p:sp>
        <p:nvSpPr>
          <p:cNvPr id="27" name="TextBox 26"/>
          <p:cNvSpPr txBox="1"/>
          <p:nvPr/>
        </p:nvSpPr>
        <p:spPr>
          <a:xfrm>
            <a:off x="1371600"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Độ chi tiết</a:t>
            </a:r>
          </a:p>
        </p:txBody>
      </p:sp>
      <p:sp>
        <p:nvSpPr>
          <p:cNvPr id="28" name="TextBox 27"/>
          <p:cNvSpPr txBox="1"/>
          <p:nvPr/>
        </p:nvSpPr>
        <p:spPr>
          <a:xfrm>
            <a:off x="777240"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Chấm ở mức nào?</a:t>
            </a:r>
          </a:p>
        </p:txBody>
      </p:sp>
      <p:sp>
        <p:nvSpPr>
          <p:cNvPr id="29" name="TextBox 28"/>
          <p:cNvSpPr txBox="1"/>
          <p:nvPr/>
        </p:nvSpPr>
        <p:spPr>
          <a:xfrm>
            <a:off x="777240"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Chấm sai mức là chọn nhầm mô hình.</a:t>
            </a:r>
          </a:p>
        </p:txBody>
      </p:sp>
      <p:sp>
        <p:nvSpPr>
          <p:cNvPr id="30" name="TextBox 29"/>
          <p:cNvSpPr txBox="1"/>
          <p:nvPr/>
        </p:nvSpPr>
        <p:spPr>
          <a:xfrm>
            <a:off x="777240"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theo giờ, cho cả khu</a:t>
            </a:r>
          </a:p>
        </p:txBody>
      </p:sp>
      <p:sp>
        <p:nvSpPr>
          <p:cNvPr id="31" name="Rounded Rectangle 30"/>
          <p:cNvSpPr/>
          <p:nvPr/>
        </p:nvSpPr>
        <p:spPr>
          <a:xfrm>
            <a:off x="4306824"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35424"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5</a:t>
            </a:r>
          </a:p>
        </p:txBody>
      </p:sp>
      <p:sp>
        <p:nvSpPr>
          <p:cNvPr id="33" name="TextBox 32"/>
          <p:cNvSpPr txBox="1"/>
          <p:nvPr/>
        </p:nvSpPr>
        <p:spPr>
          <a:xfrm>
            <a:off x="5129784"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Mốc cắt dữ liệu</a:t>
            </a:r>
          </a:p>
        </p:txBody>
      </p:sp>
      <p:sp>
        <p:nvSpPr>
          <p:cNvPr id="34" name="TextBox 33"/>
          <p:cNvSpPr txBox="1"/>
          <p:nvPr/>
        </p:nvSpPr>
        <p:spPr>
          <a:xfrm>
            <a:off x="4535424"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Lúc dự báo đã biết gì?</a:t>
            </a:r>
          </a:p>
        </p:txBody>
      </p:sp>
      <p:sp>
        <p:nvSpPr>
          <p:cNvPr id="35" name="TextBox 34"/>
          <p:cNvSpPr txBox="1"/>
          <p:nvPr/>
        </p:nvSpPr>
        <p:spPr>
          <a:xfrm>
            <a:off x="4535424"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Lỡ dùng thứ chưa có là rò rỉ: backtest đẹp, dùng thật tệ.</a:t>
            </a:r>
          </a:p>
        </p:txBody>
      </p:sp>
      <p:sp>
        <p:nvSpPr>
          <p:cNvPr id="36" name="TextBox 35"/>
          <p:cNvSpPr txBox="1"/>
          <p:nvPr/>
        </p:nvSpPr>
        <p:spPr>
          <a:xfrm>
            <a:off x="4535424"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số đo tới 23:59 Chủ nhật; thời tiết chỉ có bản dự báo</a:t>
            </a:r>
          </a:p>
        </p:txBody>
      </p:sp>
      <p:sp>
        <p:nvSpPr>
          <p:cNvPr id="37" name="Rounded Rectangle 36"/>
          <p:cNvSpPr/>
          <p:nvPr/>
        </p:nvSpPr>
        <p:spPr>
          <a:xfrm>
            <a:off x="8065008"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93608"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6</a:t>
            </a:r>
          </a:p>
        </p:txBody>
      </p:sp>
      <p:sp>
        <p:nvSpPr>
          <p:cNvPr id="39" name="TextBox 38"/>
          <p:cNvSpPr txBox="1"/>
          <p:nvPr/>
        </p:nvSpPr>
        <p:spPr>
          <a:xfrm>
            <a:off x="8887968"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Chi phí sai hai chiều</a:t>
            </a:r>
          </a:p>
        </p:txBody>
      </p:sp>
      <p:sp>
        <p:nvSpPr>
          <p:cNvPr id="40" name="TextBox 39"/>
          <p:cNvSpPr txBox="1"/>
          <p:nvPr/>
        </p:nvSpPr>
        <p:spPr>
          <a:xfrm>
            <a:off x="8293608"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Thiếu mất gì? Thừa mất gì?</a:t>
            </a:r>
          </a:p>
        </p:txBody>
      </p:sp>
      <p:sp>
        <p:nvSpPr>
          <p:cNvPr id="41" name="TextBox 40"/>
          <p:cNvSpPr txBox="1"/>
          <p:nvPr/>
        </p:nvSpPr>
        <p:spPr>
          <a:xfrm>
            <a:off x="8293608"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Thiếu đắt hơn thừa thì nên báo cao hơn trung bình.</a:t>
            </a:r>
          </a:p>
        </p:txBody>
      </p:sp>
      <p:sp>
        <p:nvSpPr>
          <p:cNvPr id="42" name="TextBox 41"/>
          <p:cNvSpPr txBox="1"/>
          <p:nvPr/>
        </p:nvSpPr>
        <p:spPr>
          <a:xfrm>
            <a:off x="8293608"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thiếu mất 4 đồng/kWh, thừa mất 1 đồng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0,38 là tốt hay xấu? Phải có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baseline · naive · seasonal naive · drift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mốc để biết mô hình tốt hơn hay tệ hơn cách đoán đơn giản nhất.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“Được 7 điểm: cả lớp 9 thì là kém, cả lớp 4 thì là giỏi; baseline là điểm của cả lớp.”</a:t>
            </a:r>
          </a:p>
        </p:txBody>
      </p:sp>
      <p:sp>
        <p:nvSpPr>
          <p:cNvPr id="8" name="Rounded Rectangle 7"/>
          <p:cNvSpPr/>
          <p:nvPr/>
        </p:nvSpPr>
        <p:spPr>
          <a:xfrm>
            <a:off x="548640" y="245059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5059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27bc7e0dfb0b.png"/>
          <p:cNvPicPr>
            <a:picLocks noChangeAspect="1"/>
          </p:cNvPicPr>
          <p:nvPr/>
        </p:nvPicPr>
        <p:blipFill>
          <a:blip r:embed="rId2"/>
          <a:stretch>
            <a:fillRect/>
          </a:stretch>
        </p:blipFill>
        <p:spPr>
          <a:xfrm>
            <a:off x="1783080" y="2609087"/>
            <a:ext cx="6412992" cy="341376"/>
          </a:xfrm>
          <a:prstGeom prst="rect">
            <a:avLst/>
          </a:prstGeom>
        </p:spPr>
      </p:pic>
      <p:sp>
        <p:nvSpPr>
          <p:cNvPr id="11" name="TextBox 10"/>
          <p:cNvSpPr txBox="1"/>
          <p:nvPr/>
        </p:nvSpPr>
        <p:spPr>
          <a:xfrm>
            <a:off x="8378952" y="2450591"/>
            <a:ext cx="3124200" cy="658368"/>
          </a:xfrm>
          <a:prstGeom prst="rect">
            <a:avLst/>
          </a:prstGeom>
          <a:noFill/>
        </p:spPr>
        <p:txBody>
          <a:bodyPr wrap="square" lIns="0" rIns="0" tIns="0" bIns="0" anchor="ctr">
            <a:spAutoFit/>
          </a:bodyPr>
          <a:lstStyle/>
          <a:p>
            <a:pPr algn="l"/>
            <a:r>
              <a:rPr sz="1150" b="0" i="0">
                <a:solidFill>
                  <a:srgbClr val="1B2A41"/>
                </a:solidFill>
                <a:latin typeface="Arial"/>
              </a:rPr>
              <a:t>Naive, seasonal naive (h ≤ m), drift. Drift 10 → 18 trong 5 bước: dốc 1,6, bước sau 19,6.</a:t>
            </a:r>
          </a:p>
        </p:txBody>
      </p:sp>
      <p:pic>
        <p:nvPicPr>
          <p:cNvPr id="12" name="Picture 11" descr="bon-baseline.png"/>
          <p:cNvPicPr>
            <a:picLocks noChangeAspect="1"/>
          </p:cNvPicPr>
          <p:nvPr/>
        </p:nvPicPr>
        <p:blipFill>
          <a:blip r:embed="rId3"/>
          <a:stretch>
            <a:fillRect/>
          </a:stretch>
        </p:blipFill>
        <p:spPr>
          <a:xfrm>
            <a:off x="3521340" y="3200399"/>
            <a:ext cx="5146270" cy="1737360"/>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Cách dự báo đơn giản nhất: naive lấy giá trị cuối, seasonal naive lấy cùng vị trí mùa trước, cộng mean và drift. Độ trễ phải ≥ tầm dự báo.</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So với baseline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thấp hơn</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mô hình có giá trị</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ngang</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chưa đáng công</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cao hơn</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còn thua cách đơn giản nhất</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Phải thắng cả bốn: trên M4 theo ngày, naive (MASE 0,835) và drift (0,810) còn thắng seasonal naive (1,077).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Bốn baseline, tính bằng tay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mean · naive · seasonal naive · drift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được tay bốn cách dự báo đơn giản nhất, vì mọi mô hình trong khoá đều phải thắng chúng.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“Baseline nào cũng là một giả định đơn giản về tương lai.”</a:t>
            </a:r>
          </a:p>
        </p:txBody>
      </p:sp>
      <p:sp>
        <p:nvSpPr>
          <p:cNvPr id="8" name="TextBox 7"/>
          <p:cNvSpPr txBox="1"/>
          <p:nvPr/>
        </p:nvSpPr>
        <p:spPr>
          <a:xfrm>
            <a:off x="548640" y="2542032"/>
            <a:ext cx="11091672" cy="365760"/>
          </a:xfrm>
          <a:prstGeom prst="rect">
            <a:avLst/>
          </a:prstGeom>
          <a:noFill/>
        </p:spPr>
        <p:txBody>
          <a:bodyPr wrap="square" lIns="0" rIns="0" tIns="0" bIns="0" anchor="t">
            <a:spAutoFit/>
          </a:bodyPr>
          <a:lstStyle/>
          <a:p>
            <a:pPr algn="l"/>
            <a:r>
              <a:rPr sz="1500" b="1" i="0">
                <a:solidFill>
                  <a:srgbClr val="1B2A41"/>
                </a:solidFill>
                <a:latin typeface="Arial"/>
              </a:rPr>
              <a:t>Chuỗi 10, 14, 12, 16, 14, 18, mùa dài m = 2, dự báo 2 bước tới</a:t>
            </a:r>
          </a:p>
        </p:txBody>
      </p:sp>
      <p:sp>
        <p:nvSpPr>
          <p:cNvPr id="9" name="Rectangle 8"/>
          <p:cNvSpPr/>
          <p:nvPr/>
        </p:nvSpPr>
        <p:spPr>
          <a:xfrm>
            <a:off x="548640" y="2999232"/>
            <a:ext cx="210312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Baseline</a:t>
            </a:r>
          </a:p>
        </p:txBody>
      </p:sp>
      <p:sp>
        <p:nvSpPr>
          <p:cNvPr id="10" name="Rectangle 9"/>
          <p:cNvSpPr/>
          <p:nvPr/>
        </p:nvSpPr>
        <p:spPr>
          <a:xfrm>
            <a:off x="2651760" y="2999232"/>
            <a:ext cx="356616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Giả định</a:t>
            </a:r>
          </a:p>
        </p:txBody>
      </p:sp>
      <p:sp>
        <p:nvSpPr>
          <p:cNvPr id="11" name="Rectangle 10"/>
          <p:cNvSpPr/>
          <p:nvPr/>
        </p:nvSpPr>
        <p:spPr>
          <a:xfrm>
            <a:off x="6217920" y="2999232"/>
            <a:ext cx="329184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Cách tính</a:t>
            </a:r>
          </a:p>
        </p:txBody>
      </p:sp>
      <p:sp>
        <p:nvSpPr>
          <p:cNvPr id="12" name="Rectangle 11"/>
          <p:cNvSpPr/>
          <p:nvPr/>
        </p:nvSpPr>
        <p:spPr>
          <a:xfrm>
            <a:off x="9509760" y="2999232"/>
            <a:ext cx="2130552"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Dự báo</a:t>
            </a:r>
          </a:p>
        </p:txBody>
      </p:sp>
      <p:sp>
        <p:nvSpPr>
          <p:cNvPr id="13" name="Rectangle 12"/>
          <p:cNvSpPr/>
          <p:nvPr/>
        </p:nvSpPr>
        <p:spPr>
          <a:xfrm>
            <a:off x="548640" y="3547872"/>
            <a:ext cx="210312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mean</a:t>
            </a:r>
          </a:p>
        </p:txBody>
      </p:sp>
      <p:sp>
        <p:nvSpPr>
          <p:cNvPr id="14" name="Rectangle 13"/>
          <p:cNvSpPr/>
          <p:nvPr/>
        </p:nvSpPr>
        <p:spPr>
          <a:xfrm>
            <a:off x="2651760" y="3547872"/>
            <a:ext cx="35661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tương lai quanh trung bình cũ</a:t>
            </a:r>
          </a:p>
        </p:txBody>
      </p:sp>
      <p:sp>
        <p:nvSpPr>
          <p:cNvPr id="15" name="Rectangle 14"/>
          <p:cNvSpPr/>
          <p:nvPr/>
        </p:nvSpPr>
        <p:spPr>
          <a:xfrm>
            <a:off x="6217920" y="3547872"/>
            <a:ext cx="329184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84 / 6</a:t>
            </a:r>
          </a:p>
        </p:txBody>
      </p:sp>
      <p:sp>
        <p:nvSpPr>
          <p:cNvPr id="16" name="Rectangle 15"/>
          <p:cNvSpPr/>
          <p:nvPr/>
        </p:nvSpPr>
        <p:spPr>
          <a:xfrm>
            <a:off x="9509760" y="3547872"/>
            <a:ext cx="2130552"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14</a:t>
            </a:r>
          </a:p>
        </p:txBody>
      </p:sp>
      <p:sp>
        <p:nvSpPr>
          <p:cNvPr id="17" name="Rectangle 16"/>
          <p:cNvSpPr/>
          <p:nvPr/>
        </p:nvSpPr>
        <p:spPr>
          <a:xfrm>
            <a:off x="548640" y="4096511"/>
            <a:ext cx="210312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naive</a:t>
            </a:r>
          </a:p>
        </p:txBody>
      </p:sp>
      <p:sp>
        <p:nvSpPr>
          <p:cNvPr id="18" name="Rectangle 17"/>
          <p:cNvSpPr/>
          <p:nvPr/>
        </p:nvSpPr>
        <p:spPr>
          <a:xfrm>
            <a:off x="2651760" y="4096511"/>
            <a:ext cx="35661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tương lai giống điểm cuối</a:t>
            </a:r>
          </a:p>
        </p:txBody>
      </p:sp>
      <p:sp>
        <p:nvSpPr>
          <p:cNvPr id="19" name="Rectangle 18"/>
          <p:cNvSpPr/>
          <p:nvPr/>
        </p:nvSpPr>
        <p:spPr>
          <a:xfrm>
            <a:off x="6217920" y="4096511"/>
            <a:ext cx="329184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lấy số cuối</a:t>
            </a:r>
          </a:p>
        </p:txBody>
      </p:sp>
      <p:sp>
        <p:nvSpPr>
          <p:cNvPr id="20" name="Rectangle 19"/>
          <p:cNvSpPr/>
          <p:nvPr/>
        </p:nvSpPr>
        <p:spPr>
          <a:xfrm>
            <a:off x="9509760" y="4096511"/>
            <a:ext cx="2130552"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18; 18</a:t>
            </a:r>
          </a:p>
        </p:txBody>
      </p:sp>
      <p:sp>
        <p:nvSpPr>
          <p:cNvPr id="21" name="Rectangle 20"/>
          <p:cNvSpPr/>
          <p:nvPr/>
        </p:nvSpPr>
        <p:spPr>
          <a:xfrm>
            <a:off x="548640" y="4645152"/>
            <a:ext cx="210312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seasonal naive</a:t>
            </a:r>
          </a:p>
        </p:txBody>
      </p:sp>
      <p:sp>
        <p:nvSpPr>
          <p:cNvPr id="22" name="Rectangle 21"/>
          <p:cNvSpPr/>
          <p:nvPr/>
        </p:nvSpPr>
        <p:spPr>
          <a:xfrm>
            <a:off x="2651760" y="4645152"/>
            <a:ext cx="35661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lặp lại mùa trước</a:t>
            </a:r>
          </a:p>
        </p:txBody>
      </p:sp>
      <p:sp>
        <p:nvSpPr>
          <p:cNvPr id="23" name="Rectangle 22"/>
          <p:cNvSpPr/>
          <p:nvPr/>
        </p:nvSpPr>
        <p:spPr>
          <a:xfrm>
            <a:off x="6217920" y="4645152"/>
            <a:ext cx="329184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lấy cùng vị trí mùa trước</a:t>
            </a:r>
          </a:p>
        </p:txBody>
      </p:sp>
      <p:sp>
        <p:nvSpPr>
          <p:cNvPr id="24" name="Rectangle 23"/>
          <p:cNvSpPr/>
          <p:nvPr/>
        </p:nvSpPr>
        <p:spPr>
          <a:xfrm>
            <a:off x="9509760" y="4645152"/>
            <a:ext cx="2130552"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18</a:t>
            </a:r>
          </a:p>
        </p:txBody>
      </p:sp>
      <p:sp>
        <p:nvSpPr>
          <p:cNvPr id="25" name="Rectangle 24"/>
          <p:cNvSpPr/>
          <p:nvPr/>
        </p:nvSpPr>
        <p:spPr>
          <a:xfrm>
            <a:off x="548640" y="5193792"/>
            <a:ext cx="210312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drift</a:t>
            </a:r>
          </a:p>
        </p:txBody>
      </p:sp>
      <p:sp>
        <p:nvSpPr>
          <p:cNvPr id="26" name="Rectangle 25"/>
          <p:cNvSpPr/>
          <p:nvPr/>
        </p:nvSpPr>
        <p:spPr>
          <a:xfrm>
            <a:off x="2651760" y="5193792"/>
            <a:ext cx="35661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đi tiếp theo độ dốc cũ</a:t>
            </a:r>
          </a:p>
        </p:txBody>
      </p:sp>
      <p:sp>
        <p:nvSpPr>
          <p:cNvPr id="27" name="Rectangle 26"/>
          <p:cNvSpPr/>
          <p:nvPr/>
        </p:nvSpPr>
        <p:spPr>
          <a:xfrm>
            <a:off x="6217920" y="5193792"/>
            <a:ext cx="329184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(18 − 10) / 5 = 1,6 mỗi bước</a:t>
            </a:r>
          </a:p>
        </p:txBody>
      </p:sp>
      <p:sp>
        <p:nvSpPr>
          <p:cNvPr id="28" name="Rectangle 27"/>
          <p:cNvSpPr/>
          <p:nvPr/>
        </p:nvSpPr>
        <p:spPr>
          <a:xfrm>
            <a:off x="9509760" y="5193792"/>
            <a:ext cx="2130552"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19,6; 21,2</a:t>
            </a:r>
          </a:p>
        </p:txBody>
      </p:sp>
      <p:sp>
        <p:nvSpPr>
          <p:cNvPr id="29" name="TextBox 28"/>
          <p:cNvSpPr txBox="1"/>
          <p:nvPr/>
        </p:nvSpPr>
        <p:spPr>
          <a:xfrm>
            <a:off x="548640" y="5925312"/>
            <a:ext cx="11091672" cy="914400"/>
          </a:xfrm>
          <a:prstGeom prst="rect">
            <a:avLst/>
          </a:prstGeom>
          <a:noFill/>
        </p:spPr>
        <p:txBody>
          <a:bodyPr wrap="square" lIns="0" rIns="0" tIns="0" bIns="0" anchor="t">
            <a:spAutoFit/>
          </a:bodyPr>
          <a:lstStyle/>
          <a:p>
            <a:pPr algn="l"/>
            <a:r>
              <a:rPr sz="1400" b="0" i="0">
                <a:solidFill>
                  <a:srgbClr val="5B6778"/>
                </a:solidFill>
                <a:latin typeface="Arial"/>
              </a:rPr>
              <a:t>Hai quy tắc: độ trễ của baseline phải ít nhất bằng tầm dự báo, ở mọi h (dự báo 7 ngày thì không dùng “cùng giờ hôm qua”); và mô hình phải thắng cả bốn, vì baseline thắng không phải lúc nào cũng là seasonal naive.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Nhìn trộm đáp án thì sai số đẹp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in-sample error · rolling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Khớp mô hình trên cả năm 2010 rồi chấm trên chính năm 2010, được MAE 0,380. Tin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đúng mô hình sẽ sai bao nhiêu khi dùng thật, chứ không phải lúc nó đã thấy đáp án.</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“Nhìn trộm thì ra sai số ảo; cách chấm trung thực ở slide sau.”</a:t>
            </a:r>
          </a:p>
        </p:txBody>
      </p:sp>
      <p:pic>
        <p:nvPicPr>
          <p:cNvPr id="9" name="Picture 8" descr="sai-so-ao.png"/>
          <p:cNvPicPr>
            <a:picLocks noChangeAspect="1"/>
          </p:cNvPicPr>
          <p:nvPr/>
        </p:nvPicPr>
        <p:blipFill>
          <a:blip r:embed="rId2"/>
          <a:stretch>
            <a:fillRect/>
          </a:stretch>
        </p:blipFill>
        <p:spPr>
          <a:xfrm>
            <a:off x="3069744" y="2816351"/>
            <a:ext cx="6049462" cy="2121408"/>
          </a:xfrm>
          <a:prstGeom prst="rect">
            <a:avLst/>
          </a:prstGeom>
        </p:spPr>
      </p:pic>
      <p:sp>
        <p:nvSpPr>
          <p:cNvPr id="10" name="Rounded Rectangle 9"/>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2" name="TextBox 11"/>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ảo là sai số đo trên chính dữ liệu đã dùng để dựng dự báo, nên mô hình như đã thấy trước đáp án.</a:t>
            </a:r>
          </a:p>
        </p:txBody>
      </p:sp>
      <p:sp>
        <p:nvSpPr>
          <p:cNvPr id="13" name="Rounded Rectangle 12"/>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5" name="TextBox 14"/>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ảo luôn thấp hơn sai số thật. Hai con số càng cách xa, mô hình càng học thuộc thay vì học quy luật.</a:t>
            </a:r>
          </a:p>
        </p:txBody>
      </p:sp>
      <p:sp>
        <p:nvSpPr>
          <p:cNvPr id="16" name="Rounded Rectangle 1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8" name="TextBox 1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Cùng một mô hình: nhìn trộm thì MAE 0,380, đứng đầu bảng; chấm trung thực thì 0,508, thua cả trung bình 4 tuần.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cuốn: chấm như lúc dùng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forecast · rolling origin · out-of-sample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sai số đúng như lúc dự báo thật, không đo trên dữ liệu mô hình đã thấy.</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“Đứng ở một thứ Hai, chỉ nhìn quá khứ, đoán tuần tới, chấm, rồi dời sang thứ Hai sau.”</a:t>
            </a:r>
          </a:p>
        </p:txBody>
      </p:sp>
      <p:pic>
        <p:nvPicPr>
          <p:cNvPr id="8" name="Picture 7" descr="kn-du-bao-cuon.png"/>
          <p:cNvPicPr>
            <a:picLocks noChangeAspect="1"/>
          </p:cNvPicPr>
          <p:nvPr/>
        </p:nvPicPr>
        <p:blipFill>
          <a:blip r:embed="rId2"/>
          <a:stretch>
            <a:fillRect/>
          </a:stretch>
        </p:blipFill>
        <p:spPr>
          <a:xfrm>
            <a:off x="548640" y="2993531"/>
            <a:ext cx="6035040" cy="2955769"/>
          </a:xfrm>
          <a:prstGeom prst="rect">
            <a:avLst/>
          </a:prstGeom>
        </p:spPr>
      </p:pic>
      <p:sp>
        <p:nvSpPr>
          <p:cNvPr id="9" name="Oval 8"/>
          <p:cNvSpPr/>
          <p:nvPr/>
        </p:nvSpPr>
        <p:spPr>
          <a:xfrm>
            <a:off x="6903720" y="2496311"/>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1</a:t>
            </a:r>
          </a:p>
        </p:txBody>
      </p:sp>
      <p:sp>
        <p:nvSpPr>
          <p:cNvPr id="10" name="TextBox 9"/>
          <p:cNvSpPr txBox="1"/>
          <p:nvPr/>
        </p:nvSpPr>
        <p:spPr>
          <a:xfrm>
            <a:off x="7498079" y="2450591"/>
            <a:ext cx="4114800" cy="320040"/>
          </a:xfrm>
          <a:prstGeom prst="rect">
            <a:avLst/>
          </a:prstGeom>
          <a:noFill/>
        </p:spPr>
        <p:txBody>
          <a:bodyPr wrap="square" lIns="0" rIns="0" tIns="0" bIns="0" anchor="t">
            <a:spAutoFit/>
          </a:bodyPr>
          <a:lstStyle/>
          <a:p>
            <a:pPr algn="l"/>
            <a:r>
              <a:rPr sz="1500" b="1" i="0">
                <a:solidFill>
                  <a:srgbClr val="0F8B8D"/>
                </a:solidFill>
                <a:latin typeface="Arial"/>
              </a:rPr>
              <a:t>Đặt gốc</a:t>
            </a:r>
          </a:p>
        </p:txBody>
      </p:sp>
      <p:sp>
        <p:nvSpPr>
          <p:cNvPr id="11" name="TextBox 10"/>
          <p:cNvSpPr txBox="1"/>
          <p:nvPr/>
        </p:nvSpPr>
        <p:spPr>
          <a:xfrm>
            <a:off x="7498079" y="2779775"/>
            <a:ext cx="4114800" cy="644652"/>
          </a:xfrm>
          <a:prstGeom prst="rect">
            <a:avLst/>
          </a:prstGeom>
          <a:noFill/>
        </p:spPr>
        <p:txBody>
          <a:bodyPr wrap="square" lIns="0" rIns="0" tIns="0" bIns="0" anchor="t">
            <a:spAutoFit/>
          </a:bodyPr>
          <a:lstStyle/>
          <a:p>
            <a:pPr algn="l"/>
            <a:r>
              <a:rPr sz="1300" b="0" i="0">
                <a:solidFill>
                  <a:srgbClr val="1B2A41"/>
                </a:solidFill>
                <a:latin typeface="Arial"/>
              </a:rPr>
              <a:t>Chọn một thứ Hai 00:00 làm gốc dự báo.</a:t>
            </a:r>
          </a:p>
        </p:txBody>
      </p:sp>
      <p:sp>
        <p:nvSpPr>
          <p:cNvPr id="12" name="Oval 11"/>
          <p:cNvSpPr/>
          <p:nvPr/>
        </p:nvSpPr>
        <p:spPr>
          <a:xfrm>
            <a:off x="6903720" y="3506723"/>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2</a:t>
            </a:r>
          </a:p>
        </p:txBody>
      </p:sp>
      <p:sp>
        <p:nvSpPr>
          <p:cNvPr id="13" name="TextBox 12"/>
          <p:cNvSpPr txBox="1"/>
          <p:nvPr/>
        </p:nvSpPr>
        <p:spPr>
          <a:xfrm>
            <a:off x="7498079" y="3461003"/>
            <a:ext cx="4114800" cy="320040"/>
          </a:xfrm>
          <a:prstGeom prst="rect">
            <a:avLst/>
          </a:prstGeom>
          <a:noFill/>
        </p:spPr>
        <p:txBody>
          <a:bodyPr wrap="square" lIns="0" rIns="0" tIns="0" bIns="0" anchor="t">
            <a:spAutoFit/>
          </a:bodyPr>
          <a:lstStyle/>
          <a:p>
            <a:pPr algn="l"/>
            <a:r>
              <a:rPr sz="1500" b="1" i="0">
                <a:solidFill>
                  <a:srgbClr val="0F8B8D"/>
                </a:solidFill>
                <a:latin typeface="Arial"/>
              </a:rPr>
              <a:t>Chỉ dùng quá khứ</a:t>
            </a:r>
          </a:p>
        </p:txBody>
      </p:sp>
      <p:sp>
        <p:nvSpPr>
          <p:cNvPr id="14" name="TextBox 13"/>
          <p:cNvSpPr txBox="1"/>
          <p:nvPr/>
        </p:nvSpPr>
        <p:spPr>
          <a:xfrm>
            <a:off x="7498079" y="3790187"/>
            <a:ext cx="4114800" cy="644652"/>
          </a:xfrm>
          <a:prstGeom prst="rect">
            <a:avLst/>
          </a:prstGeom>
          <a:noFill/>
        </p:spPr>
        <p:txBody>
          <a:bodyPr wrap="square" lIns="0" rIns="0" tIns="0" bIns="0" anchor="t">
            <a:spAutoFit/>
          </a:bodyPr>
          <a:lstStyle/>
          <a:p>
            <a:pPr algn="l"/>
            <a:r>
              <a:rPr sz="1300" b="0" i="0">
                <a:solidFill>
                  <a:srgbClr val="1B2A41"/>
                </a:solidFill>
                <a:latin typeface="Arial"/>
              </a:rPr>
              <a:t>Dựng dự báo chỉ từ dữ liệu trước gốc; tuần sắp đoán bị giấu.</a:t>
            </a:r>
          </a:p>
        </p:txBody>
      </p:sp>
      <p:sp>
        <p:nvSpPr>
          <p:cNvPr id="15" name="Oval 14"/>
          <p:cNvSpPr/>
          <p:nvPr/>
        </p:nvSpPr>
        <p:spPr>
          <a:xfrm>
            <a:off x="6903720" y="4517136"/>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a:t>
            </a:r>
          </a:p>
        </p:txBody>
      </p:sp>
      <p:sp>
        <p:nvSpPr>
          <p:cNvPr id="16" name="TextBox 15"/>
          <p:cNvSpPr txBox="1"/>
          <p:nvPr/>
        </p:nvSpPr>
        <p:spPr>
          <a:xfrm>
            <a:off x="7498079" y="4471416"/>
            <a:ext cx="4114800" cy="320040"/>
          </a:xfrm>
          <a:prstGeom prst="rect">
            <a:avLst/>
          </a:prstGeom>
          <a:noFill/>
        </p:spPr>
        <p:txBody>
          <a:bodyPr wrap="square" lIns="0" rIns="0" tIns="0" bIns="0" anchor="t">
            <a:spAutoFit/>
          </a:bodyPr>
          <a:lstStyle/>
          <a:p>
            <a:pPr algn="l"/>
            <a:r>
              <a:rPr sz="1500" b="1" i="0">
                <a:solidFill>
                  <a:srgbClr val="0F8B8D"/>
                </a:solidFill>
                <a:latin typeface="Arial"/>
              </a:rPr>
              <a:t>Dự báo rồi chấm</a:t>
            </a:r>
          </a:p>
        </p:txBody>
      </p:sp>
      <p:sp>
        <p:nvSpPr>
          <p:cNvPr id="17" name="TextBox 16"/>
          <p:cNvSpPr txBox="1"/>
          <p:nvPr/>
        </p:nvSpPr>
        <p:spPr>
          <a:xfrm>
            <a:off x="7498079" y="4800600"/>
            <a:ext cx="4114800" cy="644652"/>
          </a:xfrm>
          <a:prstGeom prst="rect">
            <a:avLst/>
          </a:prstGeom>
          <a:noFill/>
        </p:spPr>
        <p:txBody>
          <a:bodyPr wrap="square" lIns="0" rIns="0" tIns="0" bIns="0" anchor="t">
            <a:spAutoFit/>
          </a:bodyPr>
          <a:lstStyle/>
          <a:p>
            <a:pPr algn="l"/>
            <a:r>
              <a:rPr sz="1300" b="0" i="0">
                <a:solidFill>
                  <a:srgbClr val="1B2A41"/>
                </a:solidFill>
                <a:latin typeface="Arial"/>
              </a:rPr>
              <a:t>Đoán 168 giờ tới, sau đó mới mở số đo thật để tính sai số.</a:t>
            </a:r>
          </a:p>
        </p:txBody>
      </p:sp>
      <p:sp>
        <p:nvSpPr>
          <p:cNvPr id="18" name="Oval 17"/>
          <p:cNvSpPr/>
          <p:nvPr/>
        </p:nvSpPr>
        <p:spPr>
          <a:xfrm>
            <a:off x="6903720" y="5527547"/>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4</a:t>
            </a:r>
          </a:p>
        </p:txBody>
      </p:sp>
      <p:sp>
        <p:nvSpPr>
          <p:cNvPr id="19" name="TextBox 18"/>
          <p:cNvSpPr txBox="1"/>
          <p:nvPr/>
        </p:nvSpPr>
        <p:spPr>
          <a:xfrm>
            <a:off x="7498079" y="5481827"/>
            <a:ext cx="4114800" cy="320040"/>
          </a:xfrm>
          <a:prstGeom prst="rect">
            <a:avLst/>
          </a:prstGeom>
          <a:noFill/>
        </p:spPr>
        <p:txBody>
          <a:bodyPr wrap="square" lIns="0" rIns="0" tIns="0" bIns="0" anchor="t">
            <a:spAutoFit/>
          </a:bodyPr>
          <a:lstStyle/>
          <a:p>
            <a:pPr algn="l"/>
            <a:r>
              <a:rPr sz="1500" b="1" i="0">
                <a:solidFill>
                  <a:srgbClr val="0F8B8D"/>
                </a:solidFill>
                <a:latin typeface="Arial"/>
              </a:rPr>
              <a:t>Dời gốc, lặp lại</a:t>
            </a:r>
          </a:p>
        </p:txBody>
      </p:sp>
      <p:sp>
        <p:nvSpPr>
          <p:cNvPr id="20" name="TextBox 19"/>
          <p:cNvSpPr txBox="1"/>
          <p:nvPr/>
        </p:nvSpPr>
        <p:spPr>
          <a:xfrm>
            <a:off x="7498079" y="5811012"/>
            <a:ext cx="4114800" cy="644652"/>
          </a:xfrm>
          <a:prstGeom prst="rect">
            <a:avLst/>
          </a:prstGeom>
          <a:noFill/>
        </p:spPr>
        <p:txBody>
          <a:bodyPr wrap="square" lIns="0" rIns="0" tIns="0" bIns="0" anchor="t">
            <a:spAutoFit/>
          </a:bodyPr>
          <a:lstStyle/>
          <a:p>
            <a:pPr algn="l"/>
            <a:r>
              <a:rPr sz="1300" b="0" i="0">
                <a:solidFill>
                  <a:srgbClr val="1B2A41"/>
                </a:solidFill>
                <a:latin typeface="Arial"/>
              </a:rPr>
              <a:t>Sang thứ Hai sau, làm lại, rồi lấy trung bình sai số. Làm vậy trên quá khứ gọi là backtest.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Chấm theo giờ hay theo tuần: thứ hạng đảo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granularity · temporal aggregation · evaluation level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4 tuần thắng khi chấm theo giờ. Nếu công ty mua điện một khối cho cả tuần thì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Chấm mô hình ở đúng mức mà quyết định sẽ dùng.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“Chấm theo giờ thì thắng theo giờ; chấm theo tuần thì thắng theo tuần.”</a:t>
            </a:r>
          </a:p>
        </p:txBody>
      </p:sp>
      <p:pic>
        <p:nvPicPr>
          <p:cNvPr id="9" name="Picture 8" descr="tong-tuan.png"/>
          <p:cNvPicPr>
            <a:picLocks noChangeAspect="1"/>
          </p:cNvPicPr>
          <p:nvPr/>
        </p:nvPicPr>
        <p:blipFill>
          <a:blip r:embed="rId2"/>
          <a:stretch>
            <a:fillRect/>
          </a:stretch>
        </p:blipFill>
        <p:spPr>
          <a:xfrm>
            <a:off x="3381890" y="2816351"/>
            <a:ext cx="5425170" cy="2121408"/>
          </a:xfrm>
          <a:prstGeom prst="rect">
            <a:avLst/>
          </a:prstGeom>
        </p:spPr>
      </p:pic>
      <p:sp>
        <p:nvSpPr>
          <p:cNvPr id="10" name="Rounded Rectangle 9"/>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2" name="TextBox 11"/>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Độ chi tiết là mức gộp của dự báo và của phép chấm: theo giờ, ngày hay tuần; từng hộ hay cả khu.</a:t>
            </a:r>
          </a:p>
        </p:txBody>
      </p:sp>
      <p:sp>
        <p:nvSpPr>
          <p:cNvPr id="13" name="Rounded Rectangle 12"/>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5" name="TextBox 14"/>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Gộp lên mức thô thì phần lệch lên và lệch xuống bù trừ nhau, nên thứ hạng các mô hình có thể đổi hẳn.</a:t>
            </a:r>
          </a:p>
        </p:txBody>
      </p:sp>
      <p:sp>
        <p:nvSpPr>
          <p:cNvPr id="16" name="Rounded Rectangle 1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8" name="TextBox 1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Theo giờ, trung bình 4 tuần (0,490) thắng bảng lịch (0,508). Theo tổng tuần, bảng lịch (16,4) thắng (27,9).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Thiếu và thừa đắt khác nhau: dùng quantile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quantile · median · pinball loss · coverage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mức dự báo cân được cái giá của thiếu và cái giá của thừa.</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fb615a06624.png"/>
          <p:cNvPicPr>
            <a:picLocks noChangeAspect="1"/>
          </p:cNvPicPr>
          <p:nvPr/>
        </p:nvPicPr>
        <p:blipFill>
          <a:blip r:embed="rId2"/>
          <a:stretch>
            <a:fillRect/>
          </a:stretch>
        </p:blipFill>
        <p:spPr>
          <a:xfrm>
            <a:off x="1138428" y="2225040"/>
            <a:ext cx="5129784" cy="341376"/>
          </a:xfrm>
          <a:prstGeom prst="rect">
            <a:avLst/>
          </a:prstGeom>
        </p:spPr>
      </p:pic>
      <p:pic>
        <p:nvPicPr>
          <p:cNvPr id="9" name="Picture 8" descr="kn-quantile-trung-vi.png"/>
          <p:cNvPicPr>
            <a:picLocks noChangeAspect="1"/>
          </p:cNvPicPr>
          <p:nvPr/>
        </p:nvPicPr>
        <p:blipFill>
          <a:blip r:embed="rId3"/>
          <a:stretch>
            <a:fillRect/>
          </a:stretch>
        </p:blipFill>
        <p:spPr>
          <a:xfrm>
            <a:off x="548640" y="3076955"/>
            <a:ext cx="6309360" cy="3154680"/>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Quantile p là giá trị nhỏ nhất mà ít nhất tỷ lệ p số liệu nằm dưới hoặc bằng nó; trung vị là quantile 0,5. Dự báo quantile được chấm bằng pinball loss.</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Cao hay thấp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0,1</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thấp, hay thiếu</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0,5</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trung vị</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0,9</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cao, ít khi thiếu nhưng hay thừa</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Thiếu mất 4 đồng, thừa mất 1 đồng thì đặt ở quantile 4 / (4 + 1) = 0,8. Với 10 ngày mẫu, mua 9 kWh tốn ít nhất.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Đặt hàng một lần: thiếu và thừa đều tốn tiền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newsvendor problem · pinball loss · quantile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Mua thiếu mỗi kWh mất 4 đồng, mua thừa mất 1 đồng. Mỗi giờ nên mua bao nhiêu?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vì sao nên báo cao hơn trung bình khi thiếu đắt hơn thừa, và chấm dự báo kiểu đó bằng gì.</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“Như tiệm bánh mì làm dư ra: mất một khách đắt hơn lỗ chút tiền bột.”</a:t>
            </a:r>
          </a:p>
        </p:txBody>
      </p:sp>
      <p:sp>
        <p:nvSpPr>
          <p:cNvPr id="9" name="Rounded Rectangle 8"/>
          <p:cNvSpPr/>
          <p:nvPr/>
        </p:nvSpPr>
        <p:spPr>
          <a:xfrm>
            <a:off x="548640" y="281635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d6164d7acf84.png"/>
          <p:cNvPicPr>
            <a:picLocks noChangeAspect="1"/>
          </p:cNvPicPr>
          <p:nvPr/>
        </p:nvPicPr>
        <p:blipFill>
          <a:blip r:embed="rId2"/>
          <a:stretch>
            <a:fillRect/>
          </a:stretch>
        </p:blipFill>
        <p:spPr>
          <a:xfrm>
            <a:off x="640080" y="2992067"/>
            <a:ext cx="6126480" cy="306937"/>
          </a:xfrm>
          <a:prstGeom prst="rect">
            <a:avLst/>
          </a:prstGeom>
        </p:spPr>
      </p:pic>
      <p:pic>
        <p:nvPicPr>
          <p:cNvPr id="11" name="Picture 10" descr="kn-bai-toan-newsvendor.png"/>
          <p:cNvPicPr>
            <a:picLocks noChangeAspect="1"/>
          </p:cNvPicPr>
          <p:nvPr/>
        </p:nvPicPr>
        <p:blipFill>
          <a:blip r:embed="rId3"/>
          <a:stretch>
            <a:fillRect/>
          </a:stretch>
        </p:blipFill>
        <p:spPr>
          <a:xfrm>
            <a:off x="862821" y="3566160"/>
            <a:ext cx="5680996" cy="2926079"/>
          </a:xfrm>
          <a:prstGeom prst="rect">
            <a:avLst/>
          </a:prstGeom>
        </p:spPr>
      </p:pic>
      <p:sp>
        <p:nvSpPr>
          <p:cNvPr id="12" name="TextBox 11"/>
          <p:cNvSpPr txBox="1"/>
          <p:nvPr/>
        </p:nvSpPr>
        <p:spPr>
          <a:xfrm>
            <a:off x="7223760" y="281635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3" name="TextBox 12"/>
          <p:cNvSpPr txBox="1"/>
          <p:nvPr/>
        </p:nvSpPr>
        <p:spPr>
          <a:xfrm>
            <a:off x="7223760" y="3136391"/>
            <a:ext cx="4416552" cy="877823"/>
          </a:xfrm>
          <a:prstGeom prst="rect">
            <a:avLst/>
          </a:prstGeom>
          <a:noFill/>
        </p:spPr>
        <p:txBody>
          <a:bodyPr wrap="square" lIns="0" rIns="0" tIns="0" bIns="0" anchor="t">
            <a:spAutoFit/>
          </a:bodyPr>
          <a:lstStyle/>
          <a:p>
            <a:pPr algn="l"/>
            <a:r>
              <a:rPr sz="1500" b="0" i="0">
                <a:solidFill>
                  <a:srgbClr val="1B2A41"/>
                </a:solidFill>
                <a:latin typeface="Arial"/>
              </a:rPr>
              <a:t>Newsvendor: đặt một lượng trước, thiếu mất Cu mỗi đơn vị, thừa mất Co. Pinball loss chấm dự báo quantile τ: thiếu phạt τ, thừa phạt 1 − τ mỗi đơn vị.</a:t>
            </a:r>
          </a:p>
        </p:txBody>
      </p:sp>
      <p:sp>
        <p:nvSpPr>
          <p:cNvPr id="14" name="TextBox 13"/>
          <p:cNvSpPr txBox="1"/>
          <p:nvPr/>
        </p:nvSpPr>
        <p:spPr>
          <a:xfrm>
            <a:off x="7223760" y="4041648"/>
            <a:ext cx="4416552" cy="274320"/>
          </a:xfrm>
          <a:prstGeom prst="rect">
            <a:avLst/>
          </a:prstGeom>
          <a:noFill/>
        </p:spPr>
        <p:txBody>
          <a:bodyPr wrap="square" lIns="0" rIns="0" tIns="0" bIns="0" anchor="t">
            <a:spAutoFit/>
          </a:bodyPr>
          <a:lstStyle/>
          <a:p>
            <a:pPr algn="l"/>
            <a:r>
              <a:rPr sz="1400" b="1" i="0">
                <a:solidFill>
                  <a:srgbClr val="0F8B8D"/>
                </a:solidFill>
                <a:latin typeface="Arial"/>
              </a:rPr>
              <a:t>Tỷ lệ chi phí nói gì</a:t>
            </a:r>
          </a:p>
        </p:txBody>
      </p:sp>
      <p:cxnSp>
        <p:nvCxnSpPr>
          <p:cNvPr id="15" name="Connector 14"/>
          <p:cNvCxnSpPr/>
          <p:nvPr/>
        </p:nvCxnSpPr>
        <p:spPr>
          <a:xfrm>
            <a:off x="7959852" y="4498848"/>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877556" y="4416552"/>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0336" y="4636008"/>
            <a:ext cx="1399032" cy="274320"/>
          </a:xfrm>
          <a:prstGeom prst="rect">
            <a:avLst/>
          </a:prstGeom>
          <a:noFill/>
        </p:spPr>
        <p:txBody>
          <a:bodyPr wrap="square" lIns="0" rIns="0" tIns="0" bIns="0" anchor="t">
            <a:spAutoFit/>
          </a:bodyPr>
          <a:lstStyle/>
          <a:p>
            <a:pPr algn="ctr"/>
            <a:r>
              <a:rPr sz="1400" b="1" i="0">
                <a:solidFill>
                  <a:srgbClr val="0F8B8D"/>
                </a:solidFill>
                <a:latin typeface="Arial"/>
              </a:rPr>
              <a:t>Cu = Co</a:t>
            </a:r>
          </a:p>
        </p:txBody>
      </p:sp>
      <p:sp>
        <p:nvSpPr>
          <p:cNvPr id="18" name="TextBox 17"/>
          <p:cNvSpPr txBox="1"/>
          <p:nvPr/>
        </p:nvSpPr>
        <p:spPr>
          <a:xfrm>
            <a:off x="7260336" y="4910328"/>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trung vị (τ = 0,5)</a:t>
            </a:r>
          </a:p>
        </p:txBody>
      </p:sp>
      <p:sp>
        <p:nvSpPr>
          <p:cNvPr id="19" name="Oval 18"/>
          <p:cNvSpPr/>
          <p:nvPr/>
        </p:nvSpPr>
        <p:spPr>
          <a:xfrm>
            <a:off x="9349740" y="4416552"/>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32519" y="4636008"/>
            <a:ext cx="1399032" cy="274320"/>
          </a:xfrm>
          <a:prstGeom prst="rect">
            <a:avLst/>
          </a:prstGeom>
          <a:noFill/>
        </p:spPr>
        <p:txBody>
          <a:bodyPr wrap="square" lIns="0" rIns="0" tIns="0" bIns="0" anchor="t">
            <a:spAutoFit/>
          </a:bodyPr>
          <a:lstStyle/>
          <a:p>
            <a:pPr algn="ctr"/>
            <a:r>
              <a:rPr sz="1200" b="1" i="0">
                <a:solidFill>
                  <a:srgbClr val="0F8B8D"/>
                </a:solidFill>
                <a:latin typeface="Arial"/>
              </a:rPr>
              <a:t>Cu = 4·Co</a:t>
            </a:r>
          </a:p>
        </p:txBody>
      </p:sp>
      <p:sp>
        <p:nvSpPr>
          <p:cNvPr id="21" name="TextBox 20"/>
          <p:cNvSpPr txBox="1"/>
          <p:nvPr/>
        </p:nvSpPr>
        <p:spPr>
          <a:xfrm>
            <a:off x="8732519" y="4910328"/>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quantile 0,8</a:t>
            </a:r>
          </a:p>
        </p:txBody>
      </p:sp>
      <p:sp>
        <p:nvSpPr>
          <p:cNvPr id="22" name="Oval 21"/>
          <p:cNvSpPr/>
          <p:nvPr/>
        </p:nvSpPr>
        <p:spPr>
          <a:xfrm>
            <a:off x="10821924" y="4416552"/>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04704" y="4636008"/>
            <a:ext cx="1399032" cy="274320"/>
          </a:xfrm>
          <a:prstGeom prst="rect">
            <a:avLst/>
          </a:prstGeom>
          <a:noFill/>
        </p:spPr>
        <p:txBody>
          <a:bodyPr wrap="square" lIns="0" rIns="0" tIns="0" bIns="0" anchor="t">
            <a:spAutoFit/>
          </a:bodyPr>
          <a:lstStyle/>
          <a:p>
            <a:pPr algn="ctr"/>
            <a:r>
              <a:rPr sz="1400" b="1" i="0">
                <a:solidFill>
                  <a:srgbClr val="0F8B8D"/>
                </a:solidFill>
                <a:latin typeface="Arial"/>
              </a:rPr>
              <a:t>Cu ≫ Co</a:t>
            </a:r>
          </a:p>
        </p:txBody>
      </p:sp>
      <p:sp>
        <p:nvSpPr>
          <p:cNvPr id="24" name="TextBox 23"/>
          <p:cNvSpPr txBox="1"/>
          <p:nvPr/>
        </p:nvSpPr>
        <p:spPr>
          <a:xfrm>
            <a:off x="10204704" y="4910328"/>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rất cao, gần như không bao giờ thiếu</a:t>
            </a:r>
          </a:p>
        </p:txBody>
      </p:sp>
      <p:sp>
        <p:nvSpPr>
          <p:cNvPr id="25" name="TextBox 24"/>
          <p:cNvSpPr txBox="1"/>
          <p:nvPr/>
        </p:nvSpPr>
        <p:spPr>
          <a:xfrm>
            <a:off x="7223760" y="526694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6" name="TextBox 25"/>
          <p:cNvSpPr txBox="1"/>
          <p:nvPr/>
        </p:nvSpPr>
        <p:spPr>
          <a:xfrm>
            <a:off x="7223760" y="5586983"/>
            <a:ext cx="4416552" cy="877823"/>
          </a:xfrm>
          <a:prstGeom prst="rect">
            <a:avLst/>
          </a:prstGeom>
          <a:noFill/>
        </p:spPr>
        <p:txBody>
          <a:bodyPr wrap="square" lIns="0" rIns="0" tIns="0" bIns="0" anchor="t">
            <a:spAutoFit/>
          </a:bodyPr>
          <a:lstStyle/>
          <a:p>
            <a:pPr algn="l"/>
            <a:r>
              <a:rPr sz="1500" b="0" i="0">
                <a:solidFill>
                  <a:srgbClr val="1B2A41"/>
                </a:solidFill>
                <a:latin typeface="Arial"/>
              </a:rPr>
              <a:t>10 ngày mẫu, thiếu 4 đồng, thừa 1 đồng: mua 8 kWh tốn 33 đồng, mua 9 kWh tốn 28 (ít nhất). Pinball τ = 0,8, thật 10, báo 8: phạt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Phân phối: nhìn hình dạng trước khi tóm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distribution · histogram · cumulative distribution (CDF) · skewness · standard deviation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17h mai có bao nhiêu lượt thuê? Không ai biết chắc: dưới 100 thì hiếm, quanh 400 hay gặp.</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số liệu hay rơi vào đâu và lệch về phía nào, trước khi tóm nó bằng một con số.</a:t>
            </a:r>
          </a:p>
        </p:txBody>
      </p:sp>
      <p:pic>
        <p:nvPicPr>
          <p:cNvPr id="8" name="Picture 7" descr="histogram-tich-luy.png"/>
          <p:cNvPicPr>
            <a:picLocks noChangeAspect="1"/>
          </p:cNvPicPr>
          <p:nvPr/>
        </p:nvPicPr>
        <p:blipFill>
          <a:blip r:embed="rId2"/>
          <a:stretch>
            <a:fillRect/>
          </a:stretch>
        </p:blipFill>
        <p:spPr>
          <a:xfrm>
            <a:off x="2619090" y="2432303"/>
            <a:ext cx="6950770"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Histogram đếm số lần gặp mỗi khoảng giá trị. Đường tích luỹ cho biết bao nhiêu phần số liệu nằm dưới mỗi mốc.</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Đuôi bên phải dài (lệch phải) thì trung bình lớn hơn trung vị. Độ lệch chuẩn càng lớn, số liệu càng tản rộng.</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theo giờ: trung bình 189 nhưng trung vị chỉ 142, vì vài giờ rất đông kéo trung bình lên.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Trung bình, độ lệch chuẩn, z-score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9,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mean · variance · standard deviation · z-score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thước đo chung cho “mức” và “độ tản” của số liệu, nền của 3σ, 1,96s, CV và chuẩn hoá.</a:t>
            </a:r>
          </a:p>
        </p:txBody>
      </p:sp>
      <p:sp>
        <p:nvSpPr>
          <p:cNvPr id="7" name="Rounded Rectangle 6"/>
          <p:cNvSpPr/>
          <p:nvPr/>
        </p:nvSpPr>
        <p:spPr>
          <a:xfrm>
            <a:off x="548640" y="2066543"/>
            <a:ext cx="6309360"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243b7dce65ae.png"/>
          <p:cNvPicPr>
            <a:picLocks noChangeAspect="1"/>
          </p:cNvPicPr>
          <p:nvPr/>
        </p:nvPicPr>
        <p:blipFill>
          <a:blip r:embed="rId2"/>
          <a:stretch>
            <a:fillRect/>
          </a:stretch>
        </p:blipFill>
        <p:spPr>
          <a:xfrm>
            <a:off x="1621536" y="2130552"/>
            <a:ext cx="4163568" cy="762000"/>
          </a:xfrm>
          <a:prstGeom prst="rect">
            <a:avLst/>
          </a:prstGeom>
        </p:spPr>
      </p:pic>
      <p:pic>
        <p:nvPicPr>
          <p:cNvPr id="9" name="Picture 8" descr="kn-phuong-sai-do-lech-chuan.png"/>
          <p:cNvPicPr>
            <a:picLocks noChangeAspect="1"/>
          </p:cNvPicPr>
          <p:nvPr/>
        </p:nvPicPr>
        <p:blipFill>
          <a:blip r:embed="rId3"/>
          <a:stretch>
            <a:fillRect/>
          </a:stretch>
        </p:blipFill>
        <p:spPr>
          <a:xfrm>
            <a:off x="662027" y="3048000"/>
            <a:ext cx="6082585" cy="3444239"/>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Phương sai: trung bình bình phương khoảng cách tới trung bình (chia n − 1). Độ lệch chuẩn s: căn của phương sai, cùng đơn vị với dữ liệu. z = (giá trị − trung bình) / s.</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z lớn hay nhỏ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sát trung bình</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2</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khá xa, ít gặp</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3</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rất xa, nghi ngoại lai</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2, 4, 6: trung bình 4, phương sai 4, độ lệch chuẩn 2. Trung bình 10, s = 2, giá trị 16 thì z = 3. Chuẩn hoá 100, 300, 100, 300 ra −1, 1, −1,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Hệ số lệch: đuôi dài nằm về phía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skewness · long right / left tail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11 mà trung vị chỉ 8. Số liệu lệch về phía nào, lệch cỡ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số liệu lệch về phía nào, để hiểu vì sao trung bình khác trung vị.</a:t>
            </a:r>
          </a:p>
        </p:txBody>
      </p:sp>
      <p:sp>
        <p:nvSpPr>
          <p:cNvPr id="8" name="Rounded Rectangle 7"/>
          <p:cNvSpPr/>
          <p:nvPr/>
        </p:nvSpPr>
        <p:spPr>
          <a:xfrm>
            <a:off x="548640" y="2432303"/>
            <a:ext cx="6309360" cy="78638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420304b69bd.png"/>
          <p:cNvPicPr>
            <a:picLocks noChangeAspect="1"/>
          </p:cNvPicPr>
          <p:nvPr/>
        </p:nvPicPr>
        <p:blipFill>
          <a:blip r:embed="rId2"/>
          <a:stretch>
            <a:fillRect/>
          </a:stretch>
        </p:blipFill>
        <p:spPr>
          <a:xfrm>
            <a:off x="2764536" y="2496311"/>
            <a:ext cx="1877568" cy="658368"/>
          </a:xfrm>
          <a:prstGeom prst="rect">
            <a:avLst/>
          </a:prstGeom>
        </p:spPr>
      </p:pic>
      <p:pic>
        <p:nvPicPr>
          <p:cNvPr id="10" name="Picture 9" descr="kn-he-so-lech.png"/>
          <p:cNvPicPr>
            <a:picLocks noChangeAspect="1"/>
          </p:cNvPicPr>
          <p:nvPr/>
        </p:nvPicPr>
        <p:blipFill>
          <a:blip r:embed="rId3"/>
          <a:stretch>
            <a:fillRect/>
          </a:stretch>
        </p:blipFill>
        <p:spPr>
          <a:xfrm>
            <a:off x="548640" y="3318914"/>
            <a:ext cx="6309360" cy="31645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Hệ số lệch là trung bình của (độ lệch / s)³. Lập phương giữ dấu và phóng to số ở xa, nên đuôi dài bên nào thì dấu theo bên đó.</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Dấu của hệ số lệch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đối xứng, trung bình gần trung vị</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&gt; 0</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đuôi phải dài, trung bình lớn hơn trung vị</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&lt; 0</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đuôi trái dài</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2, 3, 5, 6, 8, 9, 12, 18, 36: số 36 lệch +25 góp gần hết, hệ số lệch +1,35. Lượt thuê theo giờ: 1,277.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Cách phạt quyết định con số nên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loss function · squared / absolute / pinball loss · point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Chỉ được báo một con số: trung bình, trung vị hay quantile?</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Báo đúng con số (trung bình, trung vị hay quantile) theo cách sai lệch bị tính tiền.</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a9f16ad940c.png"/>
          <p:cNvPicPr>
            <a:picLocks noChangeAspect="1"/>
          </p:cNvPicPr>
          <p:nvPr/>
        </p:nvPicPr>
        <p:blipFill>
          <a:blip r:embed="rId2"/>
          <a:stretch>
            <a:fillRect/>
          </a:stretch>
        </p:blipFill>
        <p:spPr>
          <a:xfrm>
            <a:off x="1783080" y="2609087"/>
            <a:ext cx="7086600" cy="304800"/>
          </a:xfrm>
          <a:prstGeom prst="rect">
            <a:avLst/>
          </a:prstGeom>
        </p:spPr>
      </p:pic>
      <p:pic>
        <p:nvPicPr>
          <p:cNvPr id="11" name="Picture 10" descr="ham-mat-mat.png"/>
          <p:cNvPicPr>
            <a:picLocks noChangeAspect="1"/>
          </p:cNvPicPr>
          <p:nvPr/>
        </p:nvPicPr>
        <p:blipFill>
          <a:blip r:embed="rId3"/>
          <a:stretch>
            <a:fillRect/>
          </a:stretch>
        </p:blipFill>
        <p:spPr>
          <a:xfrm>
            <a:off x="3374870" y="3182112"/>
            <a:ext cx="5439210" cy="175564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Hàm mất mát là quy tắc tính phạt cho một dự báo sai. Ba kiểu hay gặp: tuyệt đối, bình phương và pinball.</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Phạt kiểu nào thì báo gì</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8" name="Connector 17"/>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bình phương</a:t>
            </a:r>
          </a:p>
        </p:txBody>
      </p:sp>
      <p:sp>
        <p:nvSpPr>
          <p:cNvPr id="21" name="TextBox 20"/>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trung bình</a:t>
            </a:r>
          </a:p>
        </p:txBody>
      </p:sp>
      <p:sp>
        <p:nvSpPr>
          <p:cNvPr id="22" name="Oval 21"/>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5647"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tuyệt đối</a:t>
            </a:r>
          </a:p>
        </p:txBody>
      </p:sp>
      <p:sp>
        <p:nvSpPr>
          <p:cNvPr id="24" name="TextBox 23"/>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trung vị</a:t>
            </a:r>
          </a:p>
        </p:txBody>
      </p:sp>
      <p:sp>
        <p:nvSpPr>
          <p:cNvPr id="25" name="Oval 24"/>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456"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pinball τ</a:t>
            </a:r>
          </a:p>
        </p:txBody>
      </p:sp>
      <p:sp>
        <p:nvSpPr>
          <p:cNvPr id="27" name="TextBox 26"/>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quantile τ</a:t>
            </a:r>
          </a:p>
        </p:txBody>
      </p:sp>
      <p:sp>
        <p:nvSpPr>
          <p:cNvPr id="28" name="Rounded Rectangle 2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0" name="TextBox 2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phạt bình phương thấp nhất ở 189,46; phạt tuyệt đối ở 142; pinball τ = 0,9 ở 452.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Phân phối chuẩn: 95% nằm trong ±1,96 s</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normal distribution · 68–95 rule · quantile 0.975 = 1.96</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Khoảng 95% lấy ±1,96 s. Con số 1,96 ở đâu ra, và dữ liệu lệch phải thì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con số 1,96 của khoảng 95% đến từ đâu, và khi nào dùng được.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c53217ae096.png"/>
          <p:cNvPicPr>
            <a:picLocks noChangeAspect="1"/>
          </p:cNvPicPr>
          <p:nvPr/>
        </p:nvPicPr>
        <p:blipFill>
          <a:blip r:embed="rId2"/>
          <a:stretch>
            <a:fillRect/>
          </a:stretch>
        </p:blipFill>
        <p:spPr>
          <a:xfrm>
            <a:off x="2148840" y="2628899"/>
            <a:ext cx="3108960" cy="265176"/>
          </a:xfrm>
          <a:prstGeom prst="rect">
            <a:avLst/>
          </a:prstGeom>
        </p:spPr>
      </p:pic>
      <p:pic>
        <p:nvPicPr>
          <p:cNvPr id="10" name="Picture 9" descr="kn-phan-phoi-chuan.png"/>
          <p:cNvPicPr>
            <a:picLocks noChangeAspect="1"/>
          </p:cNvPicPr>
          <p:nvPr/>
        </p:nvPicPr>
        <p:blipFill>
          <a:blip r:embed="rId3"/>
          <a:stretch>
            <a:fillRect/>
          </a:stretch>
        </p:blipFill>
        <p:spPr>
          <a:xfrm>
            <a:off x="561671" y="3182112"/>
            <a:ext cx="6283296"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Đường cong hình chuông, đối xứng quanh trung bình. Diện tích dưới đường bên trái một mốc là tỷ lệ giá trị nhỏ hơn mốc đó.</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Bao nhiêu phần nằm quanh trung bình</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1 s</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68,3%</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1,96 s</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95,0%, mỗi đuôi 2,5%</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2 s</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95,4%</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100 ± 1,96 × 10 cho 80,4 tới 119,6. Dữ liệu lệch phải thì không hợp: 11 ± 1,96 × 10,57 cho cận dưới −9,7 lượt thuê.</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Khoảng 95% phải phủ thật 95%</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prediction interval · coverage · empirical quantile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Báo “17h mai có 65 tới 604 lượt, khả năng 95%”. 95% đó có thật là 95%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lời hứa của khoảng dự báo: nói 95% thì có thật là 95% không.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“Hứa 95% thì cứ 100 lần phải trúng khoảng 95 lần.”</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7073b8ccbffc.png"/>
          <p:cNvPicPr>
            <a:picLocks noChangeAspect="1"/>
          </p:cNvPicPr>
          <p:nvPr/>
        </p:nvPicPr>
        <p:blipFill>
          <a:blip r:embed="rId2"/>
          <a:stretch>
            <a:fillRect/>
          </a:stretch>
        </p:blipFill>
        <p:spPr>
          <a:xfrm>
            <a:off x="1783080" y="3012947"/>
            <a:ext cx="6044184" cy="265176"/>
          </a:xfrm>
          <a:prstGeom prst="rect">
            <a:avLst/>
          </a:prstGeom>
        </p:spPr>
      </p:pic>
      <p:sp>
        <p:nvSpPr>
          <p:cNvPr id="12" name="TextBox 11"/>
          <p:cNvSpPr txBox="1"/>
          <p:nvPr/>
        </p:nvSpPr>
        <p:spPr>
          <a:xfrm>
            <a:off x="8010144" y="2816351"/>
            <a:ext cx="3493008" cy="658368"/>
          </a:xfrm>
          <a:prstGeom prst="rect">
            <a:avLst/>
          </a:prstGeom>
          <a:noFill/>
        </p:spPr>
        <p:txBody>
          <a:bodyPr wrap="square" lIns="0" rIns="0" tIns="0" bIns="0" anchor="ctr">
            <a:spAutoFit/>
          </a:bodyPr>
          <a:lstStyle/>
          <a:p>
            <a:pPr algn="l"/>
            <a:r>
              <a:rPr sz="1150" b="0" i="0">
                <a:solidFill>
                  <a:srgbClr val="1B2A41"/>
                </a:solidFill>
                <a:latin typeface="Arial"/>
              </a:rPr>
              <a:t>Tỷ lệ phủ = số giá trị thật rơi vào khoảng chia tổng số giá trị.</a:t>
            </a:r>
          </a:p>
        </p:txBody>
      </p:sp>
      <p:pic>
        <p:nvPicPr>
          <p:cNvPr id="13" name="Picture 12" descr="khoang-2011-2012.png"/>
          <p:cNvPicPr>
            <a:picLocks noChangeAspect="1"/>
          </p:cNvPicPr>
          <p:nvPr/>
        </p:nvPicPr>
        <p:blipFill>
          <a:blip r:embed="rId3"/>
          <a:stretch>
            <a:fillRect/>
          </a:stretch>
        </p:blipFill>
        <p:spPr>
          <a:xfrm>
            <a:off x="4370563" y="3566160"/>
            <a:ext cx="3447825"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dự báo 95% là vùng được hứa sẽ chứa giá trị thật 95 lần trên 100. Tỷ lệ phủ là tỷ lệ thật sự rơi vào.</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Tỷ lệ phủ 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dưới 95%</a:t>
            </a:r>
          </a:p>
        </p:txBody>
      </p:sp>
      <p:sp>
        <p:nvSpPr>
          <p:cNvPr id="23" name="TextBox 22"/>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khoảng quá hẹp, tự tin quá</a:t>
            </a:r>
          </a:p>
        </p:txBody>
      </p:sp>
      <p:sp>
        <p:nvSpPr>
          <p:cNvPr id="24" name="Oval 23"/>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 95%</a:t>
            </a:r>
          </a:p>
        </p:txBody>
      </p:sp>
      <p:sp>
        <p:nvSpPr>
          <p:cNvPr id="26" name="TextBox 25"/>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giữ đúng lời hứa</a:t>
            </a:r>
          </a:p>
        </p:txBody>
      </p:sp>
      <p:sp>
        <p:nvSpPr>
          <p:cNvPr id="27" name="Oval 26"/>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gần 100%</a:t>
            </a:r>
          </a:p>
        </p:txBody>
      </p:sp>
      <p:sp>
        <p:nvSpPr>
          <p:cNvPr id="29" name="TextBox 28"/>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khoảng rộng thừa</a:t>
            </a:r>
          </a:p>
        </p:txBody>
      </p:sp>
      <p:sp>
        <p:nvSpPr>
          <p:cNvPr id="30" name="Rounded Rectangle 2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2" name="TextBox 3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1,96 là quantile 0,975 của phân phối chuẩn. Khoảng ±1,96s từ 2011 phủ 96,4% năm 2011 nhưng chỉ 72,5% năm 2012.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Khoảng dự báo khác khoảng tin cậy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prediction interval vs confidence interval · central limit theorem (CLT) · 1/√n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năm 2012 là 234,7 lượt/giờ. Một năm “giống hệt” thì con số này lệch bao nhiêu?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Không nhầm độ bấp bênh của một giá trị mới với độ bấp bênh của một con số tóm tắt như trung bình.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e86ddd4a401c.png"/>
          <p:cNvPicPr>
            <a:picLocks noChangeAspect="1"/>
          </p:cNvPicPr>
          <p:nvPr/>
        </p:nvPicPr>
        <p:blipFill>
          <a:blip r:embed="rId2"/>
          <a:stretch>
            <a:fillRect/>
          </a:stretch>
        </p:blipFill>
        <p:spPr>
          <a:xfrm>
            <a:off x="1783080" y="2596896"/>
            <a:ext cx="1295400" cy="329184"/>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s = 181, n = 25: 181 / 5 ≈ 36.</a:t>
            </a:r>
          </a:p>
        </p:txBody>
      </p:sp>
      <p:pic>
        <p:nvPicPr>
          <p:cNvPr id="12" name="Picture 11" descr="kn-dinh-ly-gioi-han-trung-tam-clt.png"/>
          <p:cNvPicPr>
            <a:picLocks noChangeAspect="1"/>
          </p:cNvPicPr>
          <p:nvPr/>
        </p:nvPicPr>
        <p:blipFill>
          <a:blip r:embed="rId3"/>
          <a:stretch>
            <a:fillRect/>
          </a:stretch>
        </p:blipFill>
        <p:spPr>
          <a:xfrm>
            <a:off x="3598819" y="3182112"/>
            <a:ext cx="4991313"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dự báo: nơi một giá trị mới sẽ rơi. Khoảng tin cậy: nơi con số thật, như trung bình, nằm.</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Thêm dữ liệu thì sao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tin cậy hẹp dần theo 1/√n, nhờ định lý giới hạn trung tâm. Khoảng dự báo thì không hẹp về 0, vì từng giá trị vẫn dao động.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độ lệch chuẩn 181: trung bình của 25 giờ dao động 36,1; của 100 giờ còn 18,2; của 400 giờ còn 9,1.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p-value: nếu H0 đúng, dữ liệu này hiếm cỡ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null hypothesis H0 · p-value · significance level α · permutation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Ngày làm việc năm 2012 đông hơn ngày nghỉ 456 lượt. Khác biệt thật, hay do may?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Phân biệt một chênh lệch có thật với một chênh lệch chỉ do may rủi.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bd38e8283f1.png"/>
          <p:cNvPicPr>
            <a:picLocks noChangeAspect="1"/>
          </p:cNvPicPr>
          <p:nvPr/>
        </p:nvPicPr>
        <p:blipFill>
          <a:blip r:embed="rId2"/>
          <a:stretch>
            <a:fillRect/>
          </a:stretch>
        </p:blipFill>
        <p:spPr>
          <a:xfrm>
            <a:off x="3221736" y="2596896"/>
            <a:ext cx="963167" cy="329184"/>
          </a:xfrm>
          <a:prstGeom prst="rect">
            <a:avLst/>
          </a:prstGeom>
        </p:spPr>
      </p:pic>
      <p:pic>
        <p:nvPicPr>
          <p:cNvPr id="10" name="Picture 9" descr="kn-kiem-dinh-gia-thuyet-khong-h0.png"/>
          <p:cNvPicPr>
            <a:picLocks noChangeAspect="1"/>
          </p:cNvPicPr>
          <p:nvPr/>
        </p:nvPicPr>
        <p:blipFill>
          <a:blip r:embed="rId3"/>
          <a:stretch>
            <a:fillRect/>
          </a:stretch>
        </p:blipFill>
        <p:spPr>
          <a:xfrm>
            <a:off x="548640" y="3253236"/>
            <a:ext cx="6309360" cy="3167879"/>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H0 là giả định “không có gì đặc biệt”. p-value là xác suất gặp dữ liệu lệch cỡ này hoặc hơn, nếu H0 đúng.</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p lớn hay nhỏ nghĩa là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p &lt; 0,05</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hiếm, bác bỏ H0</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p ≥ 0,05</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chưa đủ bằng chứng, không có nghĩa H0 đúng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Tung đồng xu 10 lần được 9 ngửa: p = 11 / 1.024 ≈ 0,011, nhỏ hơn 0,05, nên bác bỏ “đồng xu cân đối”.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Kiểm định hoán vị: xáo nhãn rồi đếm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permutation test · shuffled labels · p-value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Ngày làm việc hơn ngày nghỉ 456 lượt. Làm sao tính p-value mà không cần công thức?</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p-value cho câu hỏi “hai nhóm có khác nhau không” mà không cần công thức phức tạp.</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672565d075cf.png"/>
          <p:cNvPicPr>
            <a:picLocks noChangeAspect="1"/>
          </p:cNvPicPr>
          <p:nvPr/>
        </p:nvPicPr>
        <p:blipFill>
          <a:blip r:embed="rId2"/>
          <a:stretch>
            <a:fillRect/>
          </a:stretch>
        </p:blipFill>
        <p:spPr>
          <a:xfrm>
            <a:off x="1783080" y="2578608"/>
            <a:ext cx="4251960" cy="365760"/>
          </a:xfrm>
          <a:prstGeom prst="rect">
            <a:avLst/>
          </a:prstGeom>
        </p:spPr>
      </p:pic>
      <p:pic>
        <p:nvPicPr>
          <p:cNvPr id="11" name="Picture 10" descr="hoan-vi.png"/>
          <p:cNvPicPr>
            <a:picLocks noChangeAspect="1"/>
          </p:cNvPicPr>
          <p:nvPr/>
        </p:nvPicPr>
        <p:blipFill>
          <a:blip r:embed="rId3"/>
          <a:stretch>
            <a:fillRect/>
          </a:stretch>
        </p:blipFill>
        <p:spPr>
          <a:xfrm>
            <a:off x="3663704" y="3182112"/>
            <a:ext cx="4861542" cy="175564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Nếu nhãn nhóm không liên quan tới số liệu, gán nhãn kiểu nào cũng như nhau. Xáo nhãn nhiều lần, đếm tỷ lệ lần cho chênh lệch cỡ thật hoặc hơn.</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Đọc kết quả thế nào</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Chênh thật nằm lọt trong đám chênh do xáo thì p lớn, có thể chỉ do may. Nằm xa ngoài đám thì p nhỏ. Cách này giả định các ngày độc lập.</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Làm việc 5, 7, 6; nghỉ 3, 2, 4: chênh 3. Chỉ 2 trong 20 cách chia cho chênh cỡ đó, p = 0,10. Năm 2012: chênh 456 lượt, p = 0,025.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Bootstrap chuỗi thời gian: rút cả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bootstrap · block bootstrap · confidence interval · i.i.d.</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một con số như trung bình bấp bênh cỡ nào, mà không cần công thức.</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89fb2cf65e57.png"/>
          <p:cNvPicPr>
            <a:picLocks noChangeAspect="1"/>
          </p:cNvPicPr>
          <p:nvPr/>
        </p:nvPicPr>
        <p:blipFill>
          <a:blip r:embed="rId2"/>
          <a:stretch>
            <a:fillRect/>
          </a:stretch>
        </p:blipFill>
        <p:spPr>
          <a:xfrm>
            <a:off x="1783080" y="2205228"/>
            <a:ext cx="1395984" cy="381000"/>
          </a:xfrm>
          <a:prstGeom prst="rect">
            <a:avLst/>
          </a:prstGeom>
        </p:spPr>
      </p:pic>
      <p:sp>
        <p:nvSpPr>
          <p:cNvPr id="10" name="TextBox 9"/>
          <p:cNvSpPr txBox="1"/>
          <p:nvPr/>
        </p:nvSpPr>
        <p:spPr>
          <a:xfrm>
            <a:off x="5602071" y="2066543"/>
            <a:ext cx="5901080" cy="658368"/>
          </a:xfrm>
          <a:prstGeom prst="rect">
            <a:avLst/>
          </a:prstGeom>
          <a:noFill/>
        </p:spPr>
        <p:txBody>
          <a:bodyPr wrap="square" lIns="0" rIns="0" tIns="0" bIns="0" anchor="ctr">
            <a:spAutoFit/>
          </a:bodyPr>
          <a:lstStyle/>
          <a:p>
            <a:pPr algn="l"/>
            <a:r>
              <a:rPr sz="1150" b="0" i="0">
                <a:solidFill>
                  <a:srgbClr val="1B2A41"/>
                </a:solidFill>
                <a:latin typeface="Arial"/>
              </a:rPr>
              <a:t>200 điểm, ρ = 0,7: chỉ đáng giá như 35 điểm độc lập.</a:t>
            </a:r>
          </a:p>
        </p:txBody>
      </p:sp>
      <p:pic>
        <p:nvPicPr>
          <p:cNvPr id="11" name="Picture 10" descr="bootstrap-do-dai-khoi.png"/>
          <p:cNvPicPr>
            <a:picLocks noChangeAspect="1"/>
          </p:cNvPicPr>
          <p:nvPr/>
        </p:nvPicPr>
        <p:blipFill>
          <a:blip r:embed="rId3"/>
          <a:stretch>
            <a:fillRect/>
          </a:stretch>
        </p:blipFill>
        <p:spPr>
          <a:xfrm>
            <a:off x="2979311" y="2816351"/>
            <a:ext cx="6230328" cy="212140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Bootstrap rút lại từ chính mẫu thật nhiều lần và tính lại con số mỗi lần. Block bootstrap rút cả khối điểm liền nhau.</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Dữ liệu tự tương quan mà rút từng điểm thì mất cách các điểm liền nhau đi cùng nhau, nên khoảng hẹp giả. Rút cả khối giữ được điều đó.</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Rút từng điểm, khoảng chỉ chứa trung bình thật 60,3% số lần. Rút khối dài 20 thì lên 89,3%.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Bootstrap từng bước: rút lại, lấy hai đầu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“Khoảng 95% là hai đầu của vài nghìn trung bình tính lại, không phải trung bình ± 1,96.”</a:t>
            </a:r>
          </a:p>
        </p:txBody>
      </p:sp>
      <p:sp>
        <p:nvSpPr>
          <p:cNvPr id="6" name="Rounded Rectangle 5"/>
          <p:cNvSpPr/>
          <p:nvPr/>
        </p:nvSpPr>
        <p:spPr>
          <a:xfrm>
            <a:off x="548640" y="1801368"/>
            <a:ext cx="1984248" cy="17830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1</a:t>
            </a:r>
          </a:p>
        </p:txBody>
      </p:sp>
      <p:sp>
        <p:nvSpPr>
          <p:cNvPr id="8" name="TextBox 7"/>
          <p:cNvSpPr txBox="1"/>
          <p:nvPr/>
        </p:nvSpPr>
        <p:spPr>
          <a:xfrm>
            <a:off x="1161288" y="1892807"/>
            <a:ext cx="1280160" cy="475488"/>
          </a:xfrm>
          <a:prstGeom prst="rect">
            <a:avLst/>
          </a:prstGeom>
          <a:noFill/>
        </p:spPr>
        <p:txBody>
          <a:bodyPr wrap="square" lIns="0" rIns="0" tIns="0" bIns="0" anchor="ctr">
            <a:spAutoFit/>
          </a:bodyPr>
          <a:lstStyle/>
          <a:p>
            <a:pPr algn="l"/>
            <a:r>
              <a:rPr sz="1500" b="1" i="0">
                <a:solidFill>
                  <a:srgbClr val="0F8B8D"/>
                </a:solidFill>
                <a:latin typeface="Arial"/>
              </a:rPr>
              <a:t>Mẫu thật</a:t>
            </a:r>
          </a:p>
        </p:txBody>
      </p:sp>
      <p:sp>
        <p:nvSpPr>
          <p:cNvPr id="9" name="TextBox 8"/>
          <p:cNvSpPr txBox="1"/>
          <p:nvPr/>
        </p:nvSpPr>
        <p:spPr>
          <a:xfrm>
            <a:off x="731520" y="2459736"/>
            <a:ext cx="1618488" cy="1051560"/>
          </a:xfrm>
          <a:prstGeom prst="rect">
            <a:avLst/>
          </a:prstGeom>
          <a:noFill/>
        </p:spPr>
        <p:txBody>
          <a:bodyPr wrap="square" lIns="0" rIns="0" tIns="0" bIns="0" anchor="t">
            <a:spAutoFit/>
          </a:bodyPr>
          <a:lstStyle/>
          <a:p>
            <a:pPr algn="l">
              <a:spcAft>
                <a:spcPts val="200"/>
              </a:spcAft>
            </a:pPr>
            <a:r>
              <a:rPr sz="1400" b="0" i="0">
                <a:solidFill>
                  <a:srgbClr val="1B2A41"/>
                </a:solidFill>
                <a:latin typeface="Arial"/>
              </a:rPr>
              <a:t>n số đang có. Ví dụ 5 ngày: 12, 15, 11, 30, 14; trung bình 16,4.</a:t>
            </a:r>
          </a:p>
        </p:txBody>
      </p:sp>
      <p:cxnSp>
        <p:nvCxnSpPr>
          <p:cNvPr id="10" name="Connector 9"/>
          <p:cNvCxnSpPr/>
          <p:nvPr/>
        </p:nvCxnSpPr>
        <p:spPr>
          <a:xfrm>
            <a:off x="2569464" y="2692908"/>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25496" y="1801368"/>
            <a:ext cx="1984248" cy="17830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62656"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2</a:t>
            </a:r>
          </a:p>
        </p:txBody>
      </p:sp>
      <p:sp>
        <p:nvSpPr>
          <p:cNvPr id="13" name="TextBox 12"/>
          <p:cNvSpPr txBox="1"/>
          <p:nvPr/>
        </p:nvSpPr>
        <p:spPr>
          <a:xfrm>
            <a:off x="3438144" y="1892807"/>
            <a:ext cx="1280160" cy="475488"/>
          </a:xfrm>
          <a:prstGeom prst="rect">
            <a:avLst/>
          </a:prstGeom>
          <a:noFill/>
        </p:spPr>
        <p:txBody>
          <a:bodyPr wrap="square" lIns="0" rIns="0" tIns="0" bIns="0" anchor="ctr">
            <a:spAutoFit/>
          </a:bodyPr>
          <a:lstStyle/>
          <a:p>
            <a:pPr algn="l"/>
            <a:r>
              <a:rPr sz="1500" b="1" i="0">
                <a:solidFill>
                  <a:srgbClr val="0F8B8D"/>
                </a:solidFill>
                <a:latin typeface="Arial"/>
              </a:rPr>
              <a:t>Rút lại n số</a:t>
            </a:r>
          </a:p>
        </p:txBody>
      </p:sp>
      <p:sp>
        <p:nvSpPr>
          <p:cNvPr id="14" name="TextBox 13"/>
          <p:cNvSpPr txBox="1"/>
          <p:nvPr/>
        </p:nvSpPr>
        <p:spPr>
          <a:xfrm>
            <a:off x="3008376" y="2459736"/>
            <a:ext cx="1618488" cy="1051560"/>
          </a:xfrm>
          <a:prstGeom prst="rect">
            <a:avLst/>
          </a:prstGeom>
          <a:noFill/>
        </p:spPr>
        <p:txBody>
          <a:bodyPr wrap="square" lIns="0" rIns="0" tIns="0" bIns="0" anchor="t">
            <a:spAutoFit/>
          </a:bodyPr>
          <a:lstStyle/>
          <a:p>
            <a:pPr algn="l">
              <a:spcAft>
                <a:spcPts val="200"/>
              </a:spcAft>
            </a:pPr>
            <a:r>
              <a:rPr sz="1400" b="0" i="0">
                <a:solidFill>
                  <a:srgbClr val="1B2A41"/>
                </a:solidFill>
                <a:latin typeface="Arial"/>
              </a:rPr>
              <a:t>Có hoàn lại: số có thể lặp, số có thể bị bỏ. Có tự tương quan thì rút cả khối.</a:t>
            </a:r>
          </a:p>
        </p:txBody>
      </p:sp>
      <p:cxnSp>
        <p:nvCxnSpPr>
          <p:cNvPr id="15" name="Connector 14"/>
          <p:cNvCxnSpPr/>
          <p:nvPr/>
        </p:nvCxnSpPr>
        <p:spPr>
          <a:xfrm>
            <a:off x="4846320" y="2692908"/>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02352" y="1801368"/>
            <a:ext cx="1984248" cy="17830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239512"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3</a:t>
            </a:r>
          </a:p>
        </p:txBody>
      </p:sp>
      <p:sp>
        <p:nvSpPr>
          <p:cNvPr id="18" name="TextBox 17"/>
          <p:cNvSpPr txBox="1"/>
          <p:nvPr/>
        </p:nvSpPr>
        <p:spPr>
          <a:xfrm>
            <a:off x="5715000" y="1892807"/>
            <a:ext cx="1280160" cy="475488"/>
          </a:xfrm>
          <a:prstGeom prst="rect">
            <a:avLst/>
          </a:prstGeom>
          <a:noFill/>
        </p:spPr>
        <p:txBody>
          <a:bodyPr wrap="square" lIns="0" rIns="0" tIns="0" bIns="0" anchor="ctr">
            <a:spAutoFit/>
          </a:bodyPr>
          <a:lstStyle/>
          <a:p>
            <a:pPr algn="l"/>
            <a:r>
              <a:rPr sz="1500" b="1" i="0">
                <a:solidFill>
                  <a:srgbClr val="0F8B8D"/>
                </a:solidFill>
                <a:latin typeface="Arial"/>
              </a:rPr>
              <a:t>Tính lại</a:t>
            </a:r>
          </a:p>
        </p:txBody>
      </p:sp>
      <p:sp>
        <p:nvSpPr>
          <p:cNvPr id="19" name="TextBox 18"/>
          <p:cNvSpPr txBox="1"/>
          <p:nvPr/>
        </p:nvSpPr>
        <p:spPr>
          <a:xfrm>
            <a:off x="5285232" y="2459736"/>
            <a:ext cx="1618488" cy="1051560"/>
          </a:xfrm>
          <a:prstGeom prst="rect">
            <a:avLst/>
          </a:prstGeom>
          <a:noFill/>
        </p:spPr>
        <p:txBody>
          <a:bodyPr wrap="square" lIns="0" rIns="0" tIns="0" bIns="0" anchor="t">
            <a:spAutoFit/>
          </a:bodyPr>
          <a:lstStyle/>
          <a:p>
            <a:pPr algn="l">
              <a:spcAft>
                <a:spcPts val="200"/>
              </a:spcAft>
            </a:pPr>
            <a:r>
              <a:rPr sz="1400" b="0" i="0">
                <a:solidFill>
                  <a:srgbClr val="1B2A41"/>
                </a:solidFill>
                <a:latin typeface="Arial"/>
              </a:rPr>
              <a:t>Mỗi lần rút cho một trung bình mới.</a:t>
            </a:r>
          </a:p>
        </p:txBody>
      </p:sp>
      <p:cxnSp>
        <p:nvCxnSpPr>
          <p:cNvPr id="20" name="Connector 19"/>
          <p:cNvCxnSpPr/>
          <p:nvPr/>
        </p:nvCxnSpPr>
        <p:spPr>
          <a:xfrm>
            <a:off x="7123176" y="2692908"/>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79208" y="1801368"/>
            <a:ext cx="1984248" cy="17830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16368"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4</a:t>
            </a:r>
          </a:p>
        </p:txBody>
      </p:sp>
      <p:sp>
        <p:nvSpPr>
          <p:cNvPr id="23" name="TextBox 22"/>
          <p:cNvSpPr txBox="1"/>
          <p:nvPr/>
        </p:nvSpPr>
        <p:spPr>
          <a:xfrm>
            <a:off x="7991856" y="1892807"/>
            <a:ext cx="1280160" cy="475488"/>
          </a:xfrm>
          <a:prstGeom prst="rect">
            <a:avLst/>
          </a:prstGeom>
          <a:noFill/>
        </p:spPr>
        <p:txBody>
          <a:bodyPr wrap="square" lIns="0" rIns="0" tIns="0" bIns="0" anchor="ctr">
            <a:spAutoFit/>
          </a:bodyPr>
          <a:lstStyle/>
          <a:p>
            <a:pPr algn="l"/>
            <a:r>
              <a:rPr sz="1500" b="1" i="0">
                <a:solidFill>
                  <a:srgbClr val="0F8B8D"/>
                </a:solidFill>
                <a:latin typeface="Arial"/>
              </a:rPr>
              <a:t>Lặp vài nghìn lần</a:t>
            </a:r>
          </a:p>
        </p:txBody>
      </p:sp>
      <p:sp>
        <p:nvSpPr>
          <p:cNvPr id="24" name="TextBox 23"/>
          <p:cNvSpPr txBox="1"/>
          <p:nvPr/>
        </p:nvSpPr>
        <p:spPr>
          <a:xfrm>
            <a:off x="7562088" y="2459736"/>
            <a:ext cx="1618488" cy="1051560"/>
          </a:xfrm>
          <a:prstGeom prst="rect">
            <a:avLst/>
          </a:prstGeom>
          <a:noFill/>
        </p:spPr>
        <p:txBody>
          <a:bodyPr wrap="square" lIns="0" rIns="0" tIns="0" bIns="0" anchor="t">
            <a:spAutoFit/>
          </a:bodyPr>
          <a:lstStyle/>
          <a:p>
            <a:pPr algn="l">
              <a:spcAft>
                <a:spcPts val="200"/>
              </a:spcAft>
            </a:pPr>
            <a:r>
              <a:rPr sz="1400" b="0" i="0">
                <a:solidFill>
                  <a:srgbClr val="1B2A41"/>
                </a:solidFill>
                <a:latin typeface="Arial"/>
              </a:rPr>
              <a:t>Được vài nghìn trung bình: thấy con số dao động cỡ nào.</a:t>
            </a:r>
          </a:p>
        </p:txBody>
      </p:sp>
      <p:cxnSp>
        <p:nvCxnSpPr>
          <p:cNvPr id="25" name="Connector 24"/>
          <p:cNvCxnSpPr/>
          <p:nvPr/>
        </p:nvCxnSpPr>
        <p:spPr>
          <a:xfrm>
            <a:off x="9400032" y="2692908"/>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656064" y="1801368"/>
            <a:ext cx="1984248" cy="17830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793224"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5</a:t>
            </a:r>
          </a:p>
        </p:txBody>
      </p:sp>
      <p:sp>
        <p:nvSpPr>
          <p:cNvPr id="28" name="TextBox 27"/>
          <p:cNvSpPr txBox="1"/>
          <p:nvPr/>
        </p:nvSpPr>
        <p:spPr>
          <a:xfrm>
            <a:off x="10268712" y="1892807"/>
            <a:ext cx="1280160" cy="475488"/>
          </a:xfrm>
          <a:prstGeom prst="rect">
            <a:avLst/>
          </a:prstGeom>
          <a:noFill/>
        </p:spPr>
        <p:txBody>
          <a:bodyPr wrap="square" lIns="0" rIns="0" tIns="0" bIns="0" anchor="ctr">
            <a:spAutoFit/>
          </a:bodyPr>
          <a:lstStyle/>
          <a:p>
            <a:pPr algn="l"/>
            <a:r>
              <a:rPr sz="1500" b="1" i="0">
                <a:solidFill>
                  <a:srgbClr val="0F8B8D"/>
                </a:solidFill>
                <a:latin typeface="Arial"/>
              </a:rPr>
              <a:t>Lấy hai đầu</a:t>
            </a:r>
          </a:p>
        </p:txBody>
      </p:sp>
      <p:sp>
        <p:nvSpPr>
          <p:cNvPr id="29" name="TextBox 28"/>
          <p:cNvSpPr txBox="1"/>
          <p:nvPr/>
        </p:nvSpPr>
        <p:spPr>
          <a:xfrm>
            <a:off x="9838944" y="2459736"/>
            <a:ext cx="1618488" cy="1051560"/>
          </a:xfrm>
          <a:prstGeom prst="rect">
            <a:avLst/>
          </a:prstGeom>
          <a:noFill/>
        </p:spPr>
        <p:txBody>
          <a:bodyPr wrap="square" lIns="0" rIns="0" tIns="0" bIns="0" anchor="t">
            <a:spAutoFit/>
          </a:bodyPr>
          <a:lstStyle/>
          <a:p>
            <a:pPr algn="l">
              <a:spcAft>
                <a:spcPts val="200"/>
              </a:spcAft>
            </a:pPr>
            <a:r>
              <a:rPr sz="1400" b="0" i="0">
                <a:solidFill>
                  <a:srgbClr val="1B2A41"/>
                </a:solidFill>
                <a:latin typeface="Arial"/>
              </a:rPr>
              <a:t>Quantile 0,025 và 0,975 của các trung bình là khoảng tin cậy 95%.</a:t>
            </a:r>
          </a:p>
        </p:txBody>
      </p:sp>
      <p:sp>
        <p:nvSpPr>
          <p:cNvPr id="30" name="TextBox 29"/>
          <p:cNvSpPr txBox="1"/>
          <p:nvPr/>
        </p:nvSpPr>
        <p:spPr>
          <a:xfrm>
            <a:off x="548640" y="3858768"/>
            <a:ext cx="5394960" cy="320040"/>
          </a:xfrm>
          <a:prstGeom prst="rect">
            <a:avLst/>
          </a:prstGeom>
          <a:noFill/>
        </p:spPr>
        <p:txBody>
          <a:bodyPr wrap="square" lIns="0" rIns="0" tIns="0" bIns="0" anchor="t">
            <a:spAutoFit/>
          </a:bodyPr>
          <a:lstStyle/>
          <a:p>
            <a:pPr algn="l"/>
            <a:r>
              <a:rPr sz="1500" b="1" i="0">
                <a:solidFill>
                  <a:srgbClr val="0F8B8D"/>
                </a:solidFill>
                <a:latin typeface="Arial"/>
              </a:rPr>
              <a:t>Rút từng điểm: ba lần đầu</a:t>
            </a:r>
          </a:p>
        </p:txBody>
      </p:sp>
      <p:sp>
        <p:nvSpPr>
          <p:cNvPr id="31" name="Rectangle 30"/>
          <p:cNvSpPr/>
          <p:nvPr/>
        </p:nvSpPr>
        <p:spPr>
          <a:xfrm>
            <a:off x="548640" y="4270248"/>
            <a:ext cx="82296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Lần</a:t>
            </a:r>
          </a:p>
        </p:txBody>
      </p:sp>
      <p:sp>
        <p:nvSpPr>
          <p:cNvPr id="32" name="Rectangle 31"/>
          <p:cNvSpPr/>
          <p:nvPr/>
        </p:nvSpPr>
        <p:spPr>
          <a:xfrm>
            <a:off x="1371600" y="4270248"/>
            <a:ext cx="301752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Mẫu lại</a:t>
            </a:r>
          </a:p>
        </p:txBody>
      </p:sp>
      <p:sp>
        <p:nvSpPr>
          <p:cNvPr id="33" name="Rectangle 32"/>
          <p:cNvSpPr/>
          <p:nvPr/>
        </p:nvSpPr>
        <p:spPr>
          <a:xfrm>
            <a:off x="4389120" y="4270248"/>
            <a:ext cx="155448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Trung bình</a:t>
            </a:r>
          </a:p>
        </p:txBody>
      </p:sp>
      <p:sp>
        <p:nvSpPr>
          <p:cNvPr id="34" name="Rectangle 33"/>
          <p:cNvSpPr/>
          <p:nvPr/>
        </p:nvSpPr>
        <p:spPr>
          <a:xfrm>
            <a:off x="548640" y="4727448"/>
            <a:ext cx="82296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a:t>
            </a:r>
          </a:p>
        </p:txBody>
      </p:sp>
      <p:sp>
        <p:nvSpPr>
          <p:cNvPr id="35" name="Rectangle 34"/>
          <p:cNvSpPr/>
          <p:nvPr/>
        </p:nvSpPr>
        <p:spPr>
          <a:xfrm>
            <a:off x="1371600" y="4727448"/>
            <a:ext cx="301752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14, 12, 12, 15, 12</a:t>
            </a:r>
          </a:p>
        </p:txBody>
      </p:sp>
      <p:sp>
        <p:nvSpPr>
          <p:cNvPr id="36" name="Rectangle 35"/>
          <p:cNvSpPr/>
          <p:nvPr/>
        </p:nvSpPr>
        <p:spPr>
          <a:xfrm>
            <a:off x="4389120" y="4727448"/>
            <a:ext cx="155448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13,0</a:t>
            </a:r>
          </a:p>
        </p:txBody>
      </p:sp>
      <p:sp>
        <p:nvSpPr>
          <p:cNvPr id="37" name="Rectangle 36"/>
          <p:cNvSpPr/>
          <p:nvPr/>
        </p:nvSpPr>
        <p:spPr>
          <a:xfrm>
            <a:off x="548640" y="5184648"/>
            <a:ext cx="822960" cy="45720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2</a:t>
            </a:r>
          </a:p>
        </p:txBody>
      </p:sp>
      <p:sp>
        <p:nvSpPr>
          <p:cNvPr id="38" name="Rectangle 37"/>
          <p:cNvSpPr/>
          <p:nvPr/>
        </p:nvSpPr>
        <p:spPr>
          <a:xfrm>
            <a:off x="1371600" y="5184648"/>
            <a:ext cx="3017520" cy="45720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14, 14, 11, 12, 12</a:t>
            </a:r>
          </a:p>
        </p:txBody>
      </p:sp>
      <p:sp>
        <p:nvSpPr>
          <p:cNvPr id="39" name="Rectangle 38"/>
          <p:cNvSpPr/>
          <p:nvPr/>
        </p:nvSpPr>
        <p:spPr>
          <a:xfrm>
            <a:off x="4389120" y="5184648"/>
            <a:ext cx="1554480" cy="45720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12,6</a:t>
            </a:r>
          </a:p>
        </p:txBody>
      </p:sp>
      <p:sp>
        <p:nvSpPr>
          <p:cNvPr id="40" name="Rectangle 39"/>
          <p:cNvSpPr/>
          <p:nvPr/>
        </p:nvSpPr>
        <p:spPr>
          <a:xfrm>
            <a:off x="548640" y="5641848"/>
            <a:ext cx="82296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3</a:t>
            </a:r>
          </a:p>
        </p:txBody>
      </p:sp>
      <p:sp>
        <p:nvSpPr>
          <p:cNvPr id="41" name="Rectangle 40"/>
          <p:cNvSpPr/>
          <p:nvPr/>
        </p:nvSpPr>
        <p:spPr>
          <a:xfrm>
            <a:off x="1371600" y="5641848"/>
            <a:ext cx="301752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15, 11, 30, 11, 15</a:t>
            </a:r>
          </a:p>
        </p:txBody>
      </p:sp>
      <p:sp>
        <p:nvSpPr>
          <p:cNvPr id="42" name="Rectangle 41"/>
          <p:cNvSpPr/>
          <p:nvPr/>
        </p:nvSpPr>
        <p:spPr>
          <a:xfrm>
            <a:off x="4389120" y="5641848"/>
            <a:ext cx="155448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16,4</a:t>
            </a:r>
          </a:p>
        </p:txBody>
      </p:sp>
      <p:sp>
        <p:nvSpPr>
          <p:cNvPr id="43" name="TextBox 42"/>
          <p:cNvSpPr txBox="1"/>
          <p:nvPr/>
        </p:nvSpPr>
        <p:spPr>
          <a:xfrm>
            <a:off x="548640" y="6190488"/>
            <a:ext cx="5394960" cy="640080"/>
          </a:xfrm>
          <a:prstGeom prst="rect">
            <a:avLst/>
          </a:prstGeom>
          <a:noFill/>
        </p:spPr>
        <p:txBody>
          <a:bodyPr wrap="square" lIns="0" rIns="0" tIns="0" bIns="0" anchor="t">
            <a:spAutoFit/>
          </a:bodyPr>
          <a:lstStyle/>
          <a:p>
            <a:pPr algn="l"/>
            <a:r>
              <a:rPr sz="1300" b="0" i="0">
                <a:solidFill>
                  <a:srgbClr val="5B6778"/>
                </a:solidFill>
                <a:latin typeface="Arial"/>
              </a:rPr>
              <a:t>Lần 1 và 2 không trúng số 30 nên trung bình thấp hẳn; thứ tự các ngày bị xáo tung.</a:t>
            </a:r>
          </a:p>
        </p:txBody>
      </p:sp>
      <p:sp>
        <p:nvSpPr>
          <p:cNvPr id="44" name="TextBox 43"/>
          <p:cNvSpPr txBox="1"/>
          <p:nvPr/>
        </p:nvSpPr>
        <p:spPr>
          <a:xfrm>
            <a:off x="6309360" y="3858768"/>
            <a:ext cx="5330952" cy="320040"/>
          </a:xfrm>
          <a:prstGeom prst="rect">
            <a:avLst/>
          </a:prstGeom>
          <a:noFill/>
        </p:spPr>
        <p:txBody>
          <a:bodyPr wrap="square" lIns="0" rIns="0" tIns="0" bIns="0" anchor="t">
            <a:spAutoFit/>
          </a:bodyPr>
          <a:lstStyle/>
          <a:p>
            <a:pPr algn="l"/>
            <a:r>
              <a:rPr sz="1500" b="1" i="0">
                <a:solidFill>
                  <a:srgbClr val="0F8B8D"/>
                </a:solidFill>
                <a:latin typeface="Arial"/>
              </a:rPr>
              <a:t>Rút khối dài 2: giữ các ngày liền nhau</a:t>
            </a:r>
          </a:p>
        </p:txBody>
      </p:sp>
      <p:sp>
        <p:nvSpPr>
          <p:cNvPr id="45" name="Rounded Rectangle 44"/>
          <p:cNvSpPr/>
          <p:nvPr/>
        </p:nvSpPr>
        <p:spPr>
          <a:xfrm>
            <a:off x="6309360" y="4315968"/>
            <a:ext cx="1600200" cy="548640"/>
          </a:xfrm>
          <a:prstGeom prst="roundRect">
            <a:avLst>
              <a:gd name="adj" fmla="val 20000"/>
            </a:avLst>
          </a:prstGeom>
          <a:solidFill>
            <a:srgbClr val="E8F0FA"/>
          </a:solidFill>
          <a:ln w="15875">
            <a:solidFill>
              <a:srgbClr val="2E6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2E6FBF"/>
                </a:solidFill>
                <a:latin typeface="Arial"/>
              </a:rPr>
              <a:t>(30, 14)</a:t>
            </a:r>
          </a:p>
        </p:txBody>
      </p:sp>
      <p:sp>
        <p:nvSpPr>
          <p:cNvPr id="46" name="Rounded Rectangle 45"/>
          <p:cNvSpPr/>
          <p:nvPr/>
        </p:nvSpPr>
        <p:spPr>
          <a:xfrm>
            <a:off x="8092440" y="4315968"/>
            <a:ext cx="1600200" cy="548640"/>
          </a:xfrm>
          <a:prstGeom prst="roundRect">
            <a:avLst>
              <a:gd name="adj" fmla="val 20000"/>
            </a:avLst>
          </a:prstGeom>
          <a:solidFill>
            <a:srgbClr val="E8F0FA"/>
          </a:solidFill>
          <a:ln w="15875">
            <a:solidFill>
              <a:srgbClr val="2E6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2E6FBF"/>
                </a:solidFill>
                <a:latin typeface="Arial"/>
              </a:rPr>
              <a:t>(15, 11)</a:t>
            </a:r>
          </a:p>
        </p:txBody>
      </p:sp>
      <p:sp>
        <p:nvSpPr>
          <p:cNvPr id="47" name="Rounded Rectangle 46"/>
          <p:cNvSpPr/>
          <p:nvPr/>
        </p:nvSpPr>
        <p:spPr>
          <a:xfrm>
            <a:off x="9875520" y="4315968"/>
            <a:ext cx="1600200" cy="548640"/>
          </a:xfrm>
          <a:prstGeom prst="roundRect">
            <a:avLst>
              <a:gd name="adj" fmla="val 20000"/>
            </a:avLst>
          </a:prstGeom>
          <a:solidFill>
            <a:srgbClr val="E8F0FA"/>
          </a:solidFill>
          <a:ln w="15875">
            <a:solidFill>
              <a:srgbClr val="2E6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2E6FBF"/>
                </a:solidFill>
                <a:latin typeface="Arial"/>
              </a:rPr>
              <a:t>(12, 15)</a:t>
            </a:r>
          </a:p>
        </p:txBody>
      </p:sp>
      <p:sp>
        <p:nvSpPr>
          <p:cNvPr id="48" name="TextBox 47"/>
          <p:cNvSpPr txBox="1"/>
          <p:nvPr/>
        </p:nvSpPr>
        <p:spPr>
          <a:xfrm>
            <a:off x="6309360" y="5047488"/>
            <a:ext cx="5330952" cy="1188720"/>
          </a:xfrm>
          <a:prstGeom prst="rect">
            <a:avLst/>
          </a:prstGeom>
          <a:noFill/>
        </p:spPr>
        <p:txBody>
          <a:bodyPr wrap="square" lIns="0" rIns="0" tIns="0" bIns="0" anchor="t">
            <a:spAutoFit/>
          </a:bodyPr>
          <a:lstStyle/>
          <a:p>
            <a:pPr algn="l">
              <a:spcAft>
                <a:spcPts val="600"/>
              </a:spcAft>
            </a:pPr>
            <a:r>
              <a:rPr sz="1400" b="0" i="0">
                <a:solidFill>
                  <a:srgbClr val="1B2A41"/>
                </a:solidFill>
                <a:latin typeface="Arial"/>
              </a:rPr>
              <a:t>Nối lại, cắt còn 5 số: </a:t>
            </a:r>
            <a:r>
              <a:rPr sz="1400" b="1" i="0">
                <a:solidFill>
                  <a:srgbClr val="1B2A41"/>
                </a:solidFill>
                <a:latin typeface="Arial"/>
              </a:rPr>
              <a:t>30, 14, 15, 11, 12</a:t>
            </a:r>
            <a:r>
              <a:rPr sz="1400" b="0" i="0">
                <a:solidFill>
                  <a:srgbClr val="1B2A41"/>
                </a:solidFill>
                <a:latin typeface="Arial"/>
              </a:rPr>
              <a:t> → trung bình 16,4.</a:t>
            </a:r>
          </a:p>
          <a:p>
            <a:pPr algn="l">
              <a:spcAft>
                <a:spcPts val="600"/>
              </a:spcAft>
            </a:pPr>
            <a:r>
              <a:rPr sz="1300" b="0" i="0">
                <a:solidFill>
                  <a:srgbClr val="5B6778"/>
                </a:solidFill>
                <a:latin typeface="Arial"/>
              </a:rPr>
              <a:t>Ngày 30 và ngày 14 ngay sau nó vẫn đi cùng nhau, nên mối liên hệ giữa hai ngày liền nhau được giữ.</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Một con số giờ chưa đủ: cần múi giờ</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UTC · time zone · daylight saving time (DST) · naive / aware timestamp</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Taxi ghi giờ theo đồng hồ New York, thời tiết ghi theo UTC. Ghép hai bảng thế nào cho khớp giờ?</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Mỗi mốc giờ chỉ trỏ đúng một thời điểm, để gộp và ghép không bị sai.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4e21020d1e5.png"/>
          <p:cNvPicPr>
            <a:picLocks noChangeAspect="1"/>
          </p:cNvPicPr>
          <p:nvPr/>
        </p:nvPicPr>
        <p:blipFill>
          <a:blip r:embed="rId2"/>
          <a:stretch>
            <a:fillRect/>
          </a:stretch>
        </p:blipFill>
        <p:spPr>
          <a:xfrm>
            <a:off x="2097024" y="2622804"/>
            <a:ext cx="3212592" cy="277368"/>
          </a:xfrm>
          <a:prstGeom prst="rect">
            <a:avLst/>
          </a:prstGeom>
        </p:spPr>
      </p:pic>
      <p:pic>
        <p:nvPicPr>
          <p:cNvPr id="10" name="Picture 9" descr="kn-gio-mua-he-dst.png"/>
          <p:cNvPicPr>
            <a:picLocks noChangeAspect="1"/>
          </p:cNvPicPr>
          <p:nvPr/>
        </p:nvPicPr>
        <p:blipFill>
          <a:blip r:embed="rId3"/>
          <a:stretch>
            <a:fillRect/>
          </a:stretch>
        </p:blipFill>
        <p:spPr>
          <a:xfrm>
            <a:off x="548640" y="3297656"/>
            <a:ext cx="6309360" cy="30790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UTC là giờ chung, không đổi theo mùa. Offset là độ lệch so với UTC, Hà Nội là +07:00. Giờ naive là giờ không ghi múi.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Giờ mùa hè (DST) làm giờ địa phương có một giờ biến mất vào mùa xuân và một giờ lặp hai lần vào mùa thu.</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07:00 ở Hà Nội là 00:00Z (Z nghĩa là UTC). New York ngày 10/3/2024 không có 2:00; ngày 3/11 có 1:00 hai lần.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Gộp tần suất: khoảng nào, cộng hay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resample · closed / label · sum vs mean aggregation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Chuyến taxi rơi vào giây bất kỳ, mô hình cần mỗi giờ một số. Chuyến đúng 10:00 thuộc giờ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Đổi tần suất, chẳng hạn từ phút sang giờ, mà không tạo ra số liệu giả.</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a69b2eeeeb1.png"/>
          <p:cNvPicPr>
            <a:picLocks noChangeAspect="1"/>
          </p:cNvPicPr>
          <p:nvPr/>
        </p:nvPicPr>
        <p:blipFill>
          <a:blip r:embed="rId2"/>
          <a:stretch>
            <a:fillRect/>
          </a:stretch>
        </p:blipFill>
        <p:spPr>
          <a:xfrm>
            <a:off x="2644140" y="2602991"/>
            <a:ext cx="2118360" cy="316992"/>
          </a:xfrm>
          <a:prstGeom prst="rect">
            <a:avLst/>
          </a:prstGeom>
        </p:spPr>
      </p:pic>
      <p:pic>
        <p:nvPicPr>
          <p:cNvPr id="10" name="Picture 9" descr="kn-closed-label.png"/>
          <p:cNvPicPr>
            <a:picLocks noChangeAspect="1"/>
          </p:cNvPicPr>
          <p:nvPr/>
        </p:nvPicPr>
        <p:blipFill>
          <a:blip r:embed="rId3"/>
          <a:stretch>
            <a:fillRect/>
          </a:stretch>
        </p:blipFill>
        <p:spPr>
          <a:xfrm>
            <a:off x="552237" y="3182112"/>
            <a:ext cx="6302165"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closed chọn mốc biên thuộc khoảng nào; label chọn đặt tên khoảng theo mốc đầu hay mốc cuối.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Gộp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Số lượng thì cộng, trạng thái như nhiệt độ thì lấy trung bình. Giờ trống của số đếm là 0, của số đo là NaN.</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Bốn chuyến lúc 9:00, 9:40, 10:00, 10:20, gộp mặc định: ô “9:00” có 2 chuyến, ô “10:00” có 2 chuyến.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Ghép theo thời gian: chỉ nhìn về quá khứ</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as-of join (merge_asof) · direction="backward" · tolerance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Ghép số liệu của nguồn khác vào đúng dòng, mà không lấy nhầm số của tương lai.</a:t>
            </a:r>
          </a:p>
        </p:txBody>
      </p:sp>
      <p:pic>
        <p:nvPicPr>
          <p:cNvPr id="7" name="Picture 6" descr="kn-ghep-as-of-merge-asof.png"/>
          <p:cNvPicPr>
            <a:picLocks noChangeAspect="1"/>
          </p:cNvPicPr>
          <p:nvPr/>
        </p:nvPicPr>
        <p:blipFill>
          <a:blip r:embed="rId2"/>
          <a:stretch>
            <a:fillRect/>
          </a:stretch>
        </p:blipFill>
        <p:spPr>
          <a:xfrm>
            <a:off x="548640" y="2612486"/>
            <a:ext cx="6309360" cy="3333810"/>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merge_asof cho mỗi dòng lấy giá trị gần nhất về thời gian từ bảng kia.</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hướng nào</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backward</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lấy số đã có trước đó: đúng</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forward</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lấy số sắp tới: rò rỉ</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Dòng 10:00, giá có lúc 9:30 và 10:30: backward lấy 9 của 9:30, forward lấy 10 của 10:30. Thêm tolerance để bỏ số quá cũ.</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Dạng dài: ai, khi nào, bao nhiêu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long format · wide format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Mọi chuỗi cùng một khuôn, để mọi công cụ ở các buổi sau nhận vào được.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“Thêm chuỗi chỉ thêm dòng, không thêm cột.”</a:t>
            </a:r>
          </a:p>
        </p:txBody>
      </p:sp>
      <p:sp>
        <p:nvSpPr>
          <p:cNvPr id="8" name="TextBox 7"/>
          <p:cNvSpPr txBox="1"/>
          <p:nvPr/>
        </p:nvSpPr>
        <p:spPr>
          <a:xfrm>
            <a:off x="548640" y="2240280"/>
            <a:ext cx="5120640" cy="320040"/>
          </a:xfrm>
          <a:prstGeom prst="rect">
            <a:avLst/>
          </a:prstGeom>
          <a:noFill/>
        </p:spPr>
        <p:txBody>
          <a:bodyPr wrap="square" lIns="0" rIns="0" tIns="0" bIns="0" anchor="t">
            <a:spAutoFit/>
          </a:bodyPr>
          <a:lstStyle/>
          <a:p>
            <a:pPr algn="l"/>
            <a:r>
              <a:rPr sz="1200" b="1" i="0">
                <a:solidFill>
                  <a:srgbClr val="0F8B8D"/>
                </a:solidFill>
                <a:latin typeface="Arial"/>
              </a:rPr>
              <a:t>Dạng dài: mọi buổi sau nhận vào dạng này</a:t>
            </a:r>
          </a:p>
        </p:txBody>
      </p:sp>
      <p:sp>
        <p:nvSpPr>
          <p:cNvPr id="9" name="Rectangle 8"/>
          <p:cNvSpPr/>
          <p:nvPr/>
        </p:nvSpPr>
        <p:spPr>
          <a:xfrm>
            <a:off x="548640" y="2606040"/>
            <a:ext cx="155448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unique_id</a:t>
            </a:r>
          </a:p>
        </p:txBody>
      </p:sp>
      <p:sp>
        <p:nvSpPr>
          <p:cNvPr id="10" name="Rectangle 9"/>
          <p:cNvSpPr/>
          <p:nvPr/>
        </p:nvSpPr>
        <p:spPr>
          <a:xfrm>
            <a:off x="2103120" y="2606040"/>
            <a:ext cx="182880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ds (UTC)</a:t>
            </a:r>
          </a:p>
        </p:txBody>
      </p:sp>
      <p:sp>
        <p:nvSpPr>
          <p:cNvPr id="11" name="Rectangle 10"/>
          <p:cNvSpPr/>
          <p:nvPr/>
        </p:nvSpPr>
        <p:spPr>
          <a:xfrm>
            <a:off x="3931920" y="2606040"/>
            <a:ext cx="109728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y</a:t>
            </a:r>
          </a:p>
        </p:txBody>
      </p:sp>
      <p:sp>
        <p:nvSpPr>
          <p:cNvPr id="12" name="Rectangle 11"/>
          <p:cNvSpPr/>
          <p:nvPr/>
        </p:nvSpPr>
        <p:spPr>
          <a:xfrm>
            <a:off x="548640" y="3026664"/>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3" name="Rectangle 12"/>
          <p:cNvSpPr/>
          <p:nvPr/>
        </p:nvSpPr>
        <p:spPr>
          <a:xfrm>
            <a:off x="2103120" y="3026664"/>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14" name="Rectangle 13"/>
          <p:cNvSpPr/>
          <p:nvPr/>
        </p:nvSpPr>
        <p:spPr>
          <a:xfrm>
            <a:off x="3931920" y="3026664"/>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3</a:t>
            </a:r>
          </a:p>
        </p:txBody>
      </p:sp>
      <p:sp>
        <p:nvSpPr>
          <p:cNvPr id="15" name="Rectangle 14"/>
          <p:cNvSpPr/>
          <p:nvPr/>
        </p:nvSpPr>
        <p:spPr>
          <a:xfrm>
            <a:off x="548640" y="3447288"/>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6" name="Rectangle 15"/>
          <p:cNvSpPr/>
          <p:nvPr/>
        </p:nvSpPr>
        <p:spPr>
          <a:xfrm>
            <a:off x="2103120" y="3447288"/>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17" name="Rectangle 16"/>
          <p:cNvSpPr/>
          <p:nvPr/>
        </p:nvSpPr>
        <p:spPr>
          <a:xfrm>
            <a:off x="3931920" y="3447288"/>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18" name="Rectangle 17"/>
          <p:cNvSpPr/>
          <p:nvPr/>
        </p:nvSpPr>
        <p:spPr>
          <a:xfrm>
            <a:off x="548640" y="3867912"/>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9" name="Rectangle 18"/>
          <p:cNvSpPr/>
          <p:nvPr/>
        </p:nvSpPr>
        <p:spPr>
          <a:xfrm>
            <a:off x="2103120" y="3867912"/>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20" name="Rectangle 19"/>
          <p:cNvSpPr/>
          <p:nvPr/>
        </p:nvSpPr>
        <p:spPr>
          <a:xfrm>
            <a:off x="3931920" y="3867912"/>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5</a:t>
            </a:r>
          </a:p>
        </p:txBody>
      </p:sp>
      <p:sp>
        <p:nvSpPr>
          <p:cNvPr id="21" name="Rectangle 20"/>
          <p:cNvSpPr/>
          <p:nvPr/>
        </p:nvSpPr>
        <p:spPr>
          <a:xfrm>
            <a:off x="548640" y="4288536"/>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2" name="Rectangle 21"/>
          <p:cNvSpPr/>
          <p:nvPr/>
        </p:nvSpPr>
        <p:spPr>
          <a:xfrm>
            <a:off x="2103120" y="4288536"/>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23" name="Rectangle 22"/>
          <p:cNvSpPr/>
          <p:nvPr/>
        </p:nvSpPr>
        <p:spPr>
          <a:xfrm>
            <a:off x="3931920" y="4288536"/>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1</a:t>
            </a:r>
          </a:p>
        </p:txBody>
      </p:sp>
      <p:sp>
        <p:nvSpPr>
          <p:cNvPr id="24" name="Rectangle 23"/>
          <p:cNvSpPr/>
          <p:nvPr/>
        </p:nvSpPr>
        <p:spPr>
          <a:xfrm>
            <a:off x="548640" y="4709160"/>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5" name="Rectangle 24"/>
          <p:cNvSpPr/>
          <p:nvPr/>
        </p:nvSpPr>
        <p:spPr>
          <a:xfrm>
            <a:off x="2103120" y="4709160"/>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26" name="Rectangle 25"/>
          <p:cNvSpPr/>
          <p:nvPr/>
        </p:nvSpPr>
        <p:spPr>
          <a:xfrm>
            <a:off x="3931920" y="4709160"/>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2</a:t>
            </a:r>
          </a:p>
        </p:txBody>
      </p:sp>
      <p:sp>
        <p:nvSpPr>
          <p:cNvPr id="27" name="Rectangle 26"/>
          <p:cNvSpPr/>
          <p:nvPr/>
        </p:nvSpPr>
        <p:spPr>
          <a:xfrm>
            <a:off x="548640" y="5129784"/>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8" name="Rectangle 27"/>
          <p:cNvSpPr/>
          <p:nvPr/>
        </p:nvSpPr>
        <p:spPr>
          <a:xfrm>
            <a:off x="2103120" y="5129784"/>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29" name="Rectangle 28"/>
          <p:cNvSpPr/>
          <p:nvPr/>
        </p:nvSpPr>
        <p:spPr>
          <a:xfrm>
            <a:off x="3931920" y="5129784"/>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30" name="TextBox 29"/>
          <p:cNvSpPr txBox="1"/>
          <p:nvPr/>
        </p:nvSpPr>
        <p:spPr>
          <a:xfrm>
            <a:off x="6400800" y="2240280"/>
            <a:ext cx="5212080" cy="320040"/>
          </a:xfrm>
          <a:prstGeom prst="rect">
            <a:avLst/>
          </a:prstGeom>
          <a:noFill/>
        </p:spPr>
        <p:txBody>
          <a:bodyPr wrap="square" lIns="0" rIns="0" tIns="0" bIns="0" anchor="t">
            <a:spAutoFit/>
          </a:bodyPr>
          <a:lstStyle/>
          <a:p>
            <a:pPr algn="l"/>
            <a:r>
              <a:rPr sz="1200" b="1" i="0">
                <a:solidFill>
                  <a:srgbClr val="5B6778"/>
                </a:solidFill>
                <a:latin typeface="Arial"/>
              </a:rPr>
              <a:t>Dạng rộng: dễ nhìn nhưng khó mở rộng</a:t>
            </a:r>
          </a:p>
        </p:txBody>
      </p:sp>
      <p:sp>
        <p:nvSpPr>
          <p:cNvPr id="31" name="Rectangle 30"/>
          <p:cNvSpPr/>
          <p:nvPr/>
        </p:nvSpPr>
        <p:spPr>
          <a:xfrm>
            <a:off x="6400800" y="2606040"/>
            <a:ext cx="182880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ds (UTC)</a:t>
            </a:r>
          </a:p>
        </p:txBody>
      </p:sp>
      <p:sp>
        <p:nvSpPr>
          <p:cNvPr id="32" name="Rectangle 31"/>
          <p:cNvSpPr/>
          <p:nvPr/>
        </p:nvSpPr>
        <p:spPr>
          <a:xfrm>
            <a:off x="8229600" y="2606040"/>
            <a:ext cx="128016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A</a:t>
            </a:r>
          </a:p>
        </p:txBody>
      </p:sp>
      <p:sp>
        <p:nvSpPr>
          <p:cNvPr id="33" name="Rectangle 32"/>
          <p:cNvSpPr/>
          <p:nvPr/>
        </p:nvSpPr>
        <p:spPr>
          <a:xfrm>
            <a:off x="9509760" y="2606040"/>
            <a:ext cx="128016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B</a:t>
            </a:r>
          </a:p>
        </p:txBody>
      </p:sp>
      <p:sp>
        <p:nvSpPr>
          <p:cNvPr id="34" name="Rectangle 33"/>
          <p:cNvSpPr/>
          <p:nvPr/>
        </p:nvSpPr>
        <p:spPr>
          <a:xfrm>
            <a:off x="6400800" y="3026664"/>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35" name="Rectangle 34"/>
          <p:cNvSpPr/>
          <p:nvPr/>
        </p:nvSpPr>
        <p:spPr>
          <a:xfrm>
            <a:off x="8229600" y="3026664"/>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3</a:t>
            </a:r>
          </a:p>
        </p:txBody>
      </p:sp>
      <p:sp>
        <p:nvSpPr>
          <p:cNvPr id="36" name="Rectangle 35"/>
          <p:cNvSpPr/>
          <p:nvPr/>
        </p:nvSpPr>
        <p:spPr>
          <a:xfrm>
            <a:off x="9509760" y="3026664"/>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1</a:t>
            </a:r>
          </a:p>
        </p:txBody>
      </p:sp>
      <p:sp>
        <p:nvSpPr>
          <p:cNvPr id="37" name="Rectangle 36"/>
          <p:cNvSpPr/>
          <p:nvPr/>
        </p:nvSpPr>
        <p:spPr>
          <a:xfrm>
            <a:off x="6400800" y="3447288"/>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38" name="Rectangle 37"/>
          <p:cNvSpPr/>
          <p:nvPr/>
        </p:nvSpPr>
        <p:spPr>
          <a:xfrm>
            <a:off x="8229600" y="3447288"/>
            <a:ext cx="128016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39" name="Rectangle 38"/>
          <p:cNvSpPr/>
          <p:nvPr/>
        </p:nvSpPr>
        <p:spPr>
          <a:xfrm>
            <a:off x="9509760" y="3447288"/>
            <a:ext cx="128016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2</a:t>
            </a:r>
          </a:p>
        </p:txBody>
      </p:sp>
      <p:sp>
        <p:nvSpPr>
          <p:cNvPr id="40" name="Rectangle 39"/>
          <p:cNvSpPr/>
          <p:nvPr/>
        </p:nvSpPr>
        <p:spPr>
          <a:xfrm>
            <a:off x="6400800" y="3867912"/>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41" name="Rectangle 40"/>
          <p:cNvSpPr/>
          <p:nvPr/>
        </p:nvSpPr>
        <p:spPr>
          <a:xfrm>
            <a:off x="8229600" y="3867912"/>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5</a:t>
            </a:r>
          </a:p>
        </p:txBody>
      </p:sp>
      <p:sp>
        <p:nvSpPr>
          <p:cNvPr id="42" name="Rectangle 41"/>
          <p:cNvSpPr/>
          <p:nvPr/>
        </p:nvSpPr>
        <p:spPr>
          <a:xfrm>
            <a:off x="9509760" y="3867912"/>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43" name="TextBox 42"/>
          <p:cNvSpPr txBox="1"/>
          <p:nvPr/>
        </p:nvSpPr>
        <p:spPr>
          <a:xfrm>
            <a:off x="6400800" y="4480560"/>
            <a:ext cx="5212080" cy="411480"/>
          </a:xfrm>
          <a:prstGeom prst="rect">
            <a:avLst/>
          </a:prstGeom>
          <a:noFill/>
        </p:spPr>
        <p:txBody>
          <a:bodyPr wrap="square" lIns="0" rIns="0" tIns="0" bIns="0" anchor="t">
            <a:spAutoFit/>
          </a:bodyPr>
          <a:lstStyle/>
          <a:p>
            <a:pPr algn="l"/>
            <a:r>
              <a:rPr sz="1700" b="1" i="0">
                <a:solidFill>
                  <a:srgbClr val="0F8B8D"/>
                </a:solidFill>
                <a:latin typeface="Arial"/>
              </a:rPr>
              <a:t>unique_id  </a:t>
            </a:r>
            <a:r>
              <a:rPr sz="1700" b="0" i="0">
                <a:solidFill>
                  <a:srgbClr val="1B2A41"/>
                </a:solidFill>
                <a:latin typeface="Arial"/>
              </a:rPr>
              <a:t>ai: chuỗi nào</a:t>
            </a:r>
          </a:p>
        </p:txBody>
      </p:sp>
      <p:sp>
        <p:nvSpPr>
          <p:cNvPr id="44" name="TextBox 43"/>
          <p:cNvSpPr txBox="1"/>
          <p:nvPr/>
        </p:nvSpPr>
        <p:spPr>
          <a:xfrm>
            <a:off x="6400800" y="4937760"/>
            <a:ext cx="5212080" cy="411480"/>
          </a:xfrm>
          <a:prstGeom prst="rect">
            <a:avLst/>
          </a:prstGeom>
          <a:noFill/>
        </p:spPr>
        <p:txBody>
          <a:bodyPr wrap="square" lIns="0" rIns="0" tIns="0" bIns="0" anchor="t">
            <a:spAutoFit/>
          </a:bodyPr>
          <a:lstStyle/>
          <a:p>
            <a:pPr algn="l"/>
            <a:r>
              <a:rPr sz="1700" b="1" i="0">
                <a:solidFill>
                  <a:srgbClr val="0F8B8D"/>
                </a:solidFill>
                <a:latin typeface="Arial"/>
              </a:rPr>
              <a:t>ds  </a:t>
            </a:r>
            <a:r>
              <a:rPr sz="1700" b="0" i="0">
                <a:solidFill>
                  <a:srgbClr val="1B2A41"/>
                </a:solidFill>
                <a:latin typeface="Arial"/>
              </a:rPr>
              <a:t>khi nào: mốc thời gian UTC</a:t>
            </a:r>
          </a:p>
        </p:txBody>
      </p:sp>
      <p:sp>
        <p:nvSpPr>
          <p:cNvPr id="45" name="TextBox 44"/>
          <p:cNvSpPr txBox="1"/>
          <p:nvPr/>
        </p:nvSpPr>
        <p:spPr>
          <a:xfrm>
            <a:off x="6400800" y="5394960"/>
            <a:ext cx="5212080" cy="411480"/>
          </a:xfrm>
          <a:prstGeom prst="rect">
            <a:avLst/>
          </a:prstGeom>
          <a:noFill/>
        </p:spPr>
        <p:txBody>
          <a:bodyPr wrap="square" lIns="0" rIns="0" tIns="0" bIns="0" anchor="t">
            <a:spAutoFit/>
          </a:bodyPr>
          <a:lstStyle/>
          <a:p>
            <a:pPr algn="l"/>
            <a:r>
              <a:rPr sz="1700" b="1" i="0">
                <a:solidFill>
                  <a:srgbClr val="0F8B8D"/>
                </a:solidFill>
                <a:latin typeface="Arial"/>
              </a:rPr>
              <a:t>y  </a:t>
            </a:r>
            <a:r>
              <a:rPr sz="1700" b="0" i="0">
                <a:solidFill>
                  <a:srgbClr val="1B2A41"/>
                </a:solidFill>
                <a:latin typeface="Arial"/>
              </a:rPr>
              <a:t>bao nhiêu: giá trị đo</a:t>
            </a:r>
          </a:p>
        </p:txBody>
      </p:sp>
      <p:sp>
        <p:nvSpPr>
          <p:cNvPr id="46" name="TextBox 45"/>
          <p:cNvSpPr txBox="1"/>
          <p:nvPr/>
        </p:nvSpPr>
        <p:spPr>
          <a:xfrm>
            <a:off x="548640" y="5806440"/>
            <a:ext cx="11091672" cy="548640"/>
          </a:xfrm>
          <a:prstGeom prst="rect">
            <a:avLst/>
          </a:prstGeom>
          <a:noFill/>
        </p:spPr>
        <p:txBody>
          <a:bodyPr wrap="square" lIns="0" rIns="0" tIns="0" bIns="0" anchor="t">
            <a:spAutoFit/>
          </a:bodyPr>
          <a:lstStyle/>
          <a:p>
            <a:pPr algn="l"/>
            <a:r>
              <a:rPr sz="1600" b="1" i="0">
                <a:solidFill>
                  <a:srgbClr val="5B6778"/>
                </a:solidFill>
                <a:latin typeface="Arial"/>
              </a:rPr>
              <a:t>Bảng sạch khi mỗi cặp (unique_id, ds) chỉ có một dòng, đủ mọi mốc và không trùng.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Mùa vụ lặp đều; chu kỳ không hẹn trước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trend · seasonality · cycle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phần lặp lại biết trước, thứ dự báo được, khỏi phần lên xuống không hẹn trước.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“Mùa vụ lặp đều, biết trước lúc lặp; chu kỳ lên xuống mà không biết khi nào lặp lại.”</a:t>
            </a:r>
          </a:p>
        </p:txBody>
      </p:sp>
      <p:pic>
        <p:nvPicPr>
          <p:cNvPr id="8" name="Picture 7" descr="kn-chu-ky.png"/>
          <p:cNvPicPr>
            <a:picLocks noChangeAspect="1"/>
          </p:cNvPicPr>
          <p:nvPr/>
        </p:nvPicPr>
        <p:blipFill>
          <a:blip r:embed="rId2"/>
          <a:stretch>
            <a:fillRect/>
          </a:stretch>
        </p:blipFill>
        <p:spPr>
          <a:xfrm>
            <a:off x="548640" y="2861138"/>
            <a:ext cx="6309360" cy="3220554"/>
          </a:xfrm>
          <a:prstGeom prst="rect">
            <a:avLst/>
          </a:prstGeom>
        </p:spPr>
      </p:pic>
      <p:sp>
        <p:nvSpPr>
          <p:cNvPr id="9" name="TextBox 8"/>
          <p:cNvSpPr txBox="1"/>
          <p:nvPr/>
        </p:nvSpPr>
        <p:spPr>
          <a:xfrm>
            <a:off x="7223760" y="245059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70632"/>
            <a:ext cx="4416552" cy="999743"/>
          </a:xfrm>
          <a:prstGeom prst="rect">
            <a:avLst/>
          </a:prstGeom>
          <a:noFill/>
        </p:spPr>
        <p:txBody>
          <a:bodyPr wrap="square" lIns="0" rIns="0" tIns="0" bIns="0" anchor="t">
            <a:spAutoFit/>
          </a:bodyPr>
          <a:lstStyle/>
          <a:p>
            <a:pPr algn="l"/>
            <a:r>
              <a:rPr sz="1500" b="0" i="0">
                <a:solidFill>
                  <a:srgbClr val="1B2A41"/>
                </a:solidFill>
                <a:latin typeface="Arial"/>
              </a:rPr>
              <a:t>Xu hướng là mức chung đổi dần. Mùa vụ lặp lại sau một số bước cố định m. Chu kỳ lên xuống nhưng dài ngắn không đều.</a:t>
            </a:r>
          </a:p>
        </p:txBody>
      </p:sp>
      <p:sp>
        <p:nvSpPr>
          <p:cNvPr id="11" name="TextBox 10"/>
          <p:cNvSpPr txBox="1"/>
          <p:nvPr/>
        </p:nvSpPr>
        <p:spPr>
          <a:xfrm>
            <a:off x="7223760" y="379780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2" name="TextBox 11"/>
          <p:cNvSpPr txBox="1"/>
          <p:nvPr/>
        </p:nvSpPr>
        <p:spPr>
          <a:xfrm>
            <a:off x="7223760" y="4117847"/>
            <a:ext cx="4416552" cy="999743"/>
          </a:xfrm>
          <a:prstGeom prst="rect">
            <a:avLst/>
          </a:prstGeom>
          <a:noFill/>
        </p:spPr>
        <p:txBody>
          <a:bodyPr wrap="square" lIns="0" rIns="0" tIns="0" bIns="0" anchor="t">
            <a:spAutoFit/>
          </a:bodyPr>
          <a:lstStyle/>
          <a:p>
            <a:pPr algn="l"/>
            <a:r>
              <a:rPr sz="1500" b="0" i="0">
                <a:solidFill>
                  <a:srgbClr val="1B2A41"/>
                </a:solidFill>
                <a:latin typeface="Arial"/>
              </a:rPr>
              <a:t>Hỏi: có lặp sau đúng m bước biết trước (24 giờ, 7 ngày, 12 tháng) không? “Mùa” là mọi vòng lặp theo lịch, không chỉ xuân, hạ, thu, đông.</a:t>
            </a:r>
          </a:p>
        </p:txBody>
      </p:sp>
      <p:sp>
        <p:nvSpPr>
          <p:cNvPr id="13" name="TextBox 12"/>
          <p:cNvSpPr txBox="1"/>
          <p:nvPr/>
        </p:nvSpPr>
        <p:spPr>
          <a:xfrm>
            <a:off x="7223760" y="514502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65064"/>
            <a:ext cx="4416552" cy="999743"/>
          </a:xfrm>
          <a:prstGeom prst="rect">
            <a:avLst/>
          </a:prstGeom>
          <a:noFill/>
        </p:spPr>
        <p:txBody>
          <a:bodyPr wrap="square" lIns="0" rIns="0" tIns="0" bIns="0" anchor="t">
            <a:spAutoFit/>
          </a:bodyPr>
          <a:lstStyle/>
          <a:p>
            <a:pPr algn="l"/>
            <a:r>
              <a:rPr sz="1500" b="0" i="0">
                <a:solidFill>
                  <a:srgbClr val="1B2A41"/>
                </a:solidFill>
                <a:latin typeface="Arial"/>
              </a:rPr>
              <a:t>Thuê xe đông lúc 8h và 17h mỗi ngày làm việc là mùa vụ (m = 24). Kinh tế tăng rồi suy giảm không hẹn trước là chu kỳ.</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Đọc mọi biểu đồ theo 5 bước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axis · legend · heatmap · seasonal plot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ra một kết luận có bằng chứng từ biểu đồ, không đoán theo cảm giác.</a:t>
            </a:r>
          </a:p>
        </p:txBody>
      </p:sp>
      <p:pic>
        <p:nvPicPr>
          <p:cNvPr id="7" name="Picture 6" descr="nhiet-gio-thu.png"/>
          <p:cNvPicPr>
            <a:picLocks noChangeAspect="1"/>
          </p:cNvPicPr>
          <p:nvPr/>
        </p:nvPicPr>
        <p:blipFill>
          <a:blip r:embed="rId2"/>
          <a:stretch>
            <a:fillRect/>
          </a:stretch>
        </p:blipFill>
        <p:spPr>
          <a:xfrm>
            <a:off x="548640" y="2737631"/>
            <a:ext cx="6309360" cy="3083521"/>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Năm bước: trục ngang là gì, trục dọc là gì và đơn vị nào, ký hiệu nghĩa là gì, nhìn vào đâu, và kết luận bằng một câu.</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Heatmap đọc thế nào</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tối</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giá trị thấp</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sáng</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giá trị cao</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Heatmap giờ × thứ: hai cột sáng lúc 8h và 17h chạy suốt thứ Hai tới thứ Sáu rồi tắt vào cuối tuần.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Làm trơn: đường mượt xoá ngày bất thường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smoothing · centered moving average · window w</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Làm trơn cho hình dễ nhìn. Nhưng nó giấu mất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xu hướng qua nhiễu từng ngày mà không đánh mất những ngày bất thường cần biết.</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“Vẽ đường làm trơn đè lên dữ liệu gốc, đừng thay nó.”</a:t>
            </a:r>
          </a:p>
        </p:txBody>
      </p:sp>
      <p:sp>
        <p:nvSpPr>
          <p:cNvPr id="9" name="Rounded Rectangle 8"/>
          <p:cNvSpPr/>
          <p:nvPr/>
        </p:nvSpPr>
        <p:spPr>
          <a:xfrm>
            <a:off x="548640" y="2816351"/>
            <a:ext cx="11091672" cy="86258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862584"/>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0170c2b42dcb.png"/>
          <p:cNvPicPr>
            <a:picLocks noChangeAspect="1"/>
          </p:cNvPicPr>
          <p:nvPr/>
        </p:nvPicPr>
        <p:blipFill>
          <a:blip r:embed="rId2"/>
          <a:stretch>
            <a:fillRect/>
          </a:stretch>
        </p:blipFill>
        <p:spPr>
          <a:xfrm>
            <a:off x="1783080" y="2880359"/>
            <a:ext cx="3669792" cy="734568"/>
          </a:xfrm>
          <a:prstGeom prst="rect">
            <a:avLst/>
          </a:prstGeom>
        </p:spPr>
      </p:pic>
      <p:sp>
        <p:nvSpPr>
          <p:cNvPr id="12" name="TextBox 11"/>
          <p:cNvSpPr txBox="1"/>
          <p:nvPr/>
        </p:nvSpPr>
        <p:spPr>
          <a:xfrm>
            <a:off x="5635752" y="2816351"/>
            <a:ext cx="5867399" cy="862584"/>
          </a:xfrm>
          <a:prstGeom prst="rect">
            <a:avLst/>
          </a:prstGeom>
          <a:noFill/>
        </p:spPr>
        <p:txBody>
          <a:bodyPr wrap="square" lIns="0" rIns="0" tIns="0" bIns="0" anchor="ctr">
            <a:spAutoFit/>
          </a:bodyPr>
          <a:lstStyle/>
          <a:p>
            <a:pPr algn="l"/>
            <a:r>
              <a:rPr sz="1150" b="0" i="0">
                <a:solidFill>
                  <a:srgbClr val="1B2A41"/>
                </a:solidFill>
                <a:latin typeface="Arial"/>
              </a:rPr>
              <a:t>w = 3 quanh ngày thứ tư: (48 + 2 + 51) / 3 = 33,7.</a:t>
            </a:r>
          </a:p>
        </p:txBody>
      </p:sp>
      <p:pic>
        <p:nvPicPr>
          <p:cNvPr id="13" name="Picture 12" descr="lam-tron.png"/>
          <p:cNvPicPr>
            <a:picLocks noChangeAspect="1"/>
          </p:cNvPicPr>
          <p:nvPr/>
        </p:nvPicPr>
        <p:blipFill>
          <a:blip r:embed="rId3"/>
          <a:stretch>
            <a:fillRect/>
          </a:stretch>
        </p:blipFill>
        <p:spPr>
          <a:xfrm>
            <a:off x="4597287" y="3770375"/>
            <a:ext cx="2994377" cy="1167384"/>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Trung bình trượt có tâm thay mỗi điểm bằng trung bình của nó với các điểm hai bên, trong cửa sổ w điểm.</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Cửa sổ rộng hay hẹp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w nhỏ</a:t>
            </a:r>
          </a:p>
        </p:txBody>
      </p:sp>
      <p:sp>
        <p:nvSpPr>
          <p:cNvPr id="23" name="TextBox 22"/>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còn thấy chi tiết, còn nhiễu</a:t>
            </a:r>
          </a:p>
        </p:txBody>
      </p:sp>
      <p:sp>
        <p:nvSpPr>
          <p:cNvPr id="24" name="Oval 23"/>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w lớn</a:t>
            </a:r>
          </a:p>
        </p:txBody>
      </p:sp>
      <p:sp>
        <p:nvSpPr>
          <p:cNvPr id="26" name="TextBox 25"/>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rất mượt, ngày lạ gần như biến mất</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50, 52, 48, 2, 51, 49, 50: w = 3 cho ngày thứ tư 33,7; w = 7 cho 43,1. Ngày bão Sandy chỉ có 22 lượt, đường 7 ngày vẫn 4.632.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Thang log: cùng độ dốc là cùng phần trăm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log scale · percentage change · log10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Tháng tăng mạnh nhất là tháng thêm nhiều lượt nhất, hay tháng tăng nhiều phần trăm nhất?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đúng câu hỏi: tăng thêm bao nhiêu đơn vị, hay tăng nhanh bao nhiêu phần trăm.</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0d5a093e8baf.png"/>
          <p:cNvPicPr>
            <a:picLocks noChangeAspect="1"/>
          </p:cNvPicPr>
          <p:nvPr/>
        </p:nvPicPr>
        <p:blipFill>
          <a:blip r:embed="rId2"/>
          <a:stretch>
            <a:fillRect/>
          </a:stretch>
        </p:blipFill>
        <p:spPr>
          <a:xfrm>
            <a:off x="1783080" y="2637796"/>
            <a:ext cx="6611112" cy="247383"/>
          </a:xfrm>
          <a:prstGeom prst="rect">
            <a:avLst/>
          </a:prstGeom>
        </p:spPr>
      </p:pic>
      <p:sp>
        <p:nvSpPr>
          <p:cNvPr id="11" name="TextBox 10"/>
          <p:cNvSpPr txBox="1"/>
          <p:nvPr/>
        </p:nvSpPr>
        <p:spPr>
          <a:xfrm>
            <a:off x="8577072" y="2432303"/>
            <a:ext cx="2926080" cy="658368"/>
          </a:xfrm>
          <a:prstGeom prst="rect">
            <a:avLst/>
          </a:prstGeom>
          <a:noFill/>
        </p:spPr>
        <p:txBody>
          <a:bodyPr wrap="square" lIns="0" rIns="0" tIns="0" bIns="0" anchor="ctr">
            <a:spAutoFit/>
          </a:bodyPr>
          <a:lstStyle/>
          <a:p>
            <a:pPr algn="l"/>
            <a:r>
              <a:rPr sz="1150" b="0" i="0">
                <a:solidFill>
                  <a:srgbClr val="1B2A41"/>
                </a:solidFill>
                <a:latin typeface="Arial"/>
              </a:rPr>
              <a:t>100 → 200 và 200 → 400 cao thêm như nhau: cùng gấp đôi.</a:t>
            </a:r>
          </a:p>
        </p:txBody>
      </p:sp>
      <p:pic>
        <p:nvPicPr>
          <p:cNvPr id="12" name="Picture 11" descr="thang-log.png"/>
          <p:cNvPicPr>
            <a:picLocks noChangeAspect="1"/>
          </p:cNvPicPr>
          <p:nvPr/>
        </p:nvPicPr>
        <p:blipFill>
          <a:blip r:embed="rId3"/>
          <a:stretch>
            <a:fillRect/>
          </a:stretch>
        </p:blipFill>
        <p:spPr>
          <a:xfrm>
            <a:off x="3284680" y="3182112"/>
            <a:ext cx="561959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Thang log đặt mỗi điểm ở độ cao log10 y thay vì y. Mỗi lần gấp đôi thì cao thêm đúng 0,301, ở bất kỳ mức nào.</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Dùng thang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200" b="1" i="0">
                <a:solidFill>
                  <a:srgbClr val="0F8B8D"/>
                </a:solidFill>
                <a:latin typeface="Arial"/>
              </a:rPr>
              <a:t>thang thường</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hỏi tăng bao nhiêu (thêm bao nhiêu xe)</a:t>
            </a:r>
          </a:p>
        </p:txBody>
      </p:sp>
      <p:sp>
        <p:nvSpPr>
          <p:cNvPr id="23" name="Oval 22"/>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200" b="1" i="0">
                <a:solidFill>
                  <a:srgbClr val="0F8B8D"/>
                </a:solidFill>
                <a:latin typeface="Arial"/>
              </a:rPr>
              <a:t>thang log</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hỏi tăng nhanh bao nhiêu phần trăm</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Thuê xe 2011: thang thường cho tháng 4 → 5 tăng nhiều nhất (+40.951 lượt); thang log cho tháng 3 → 4 nhanh nhất (+48,1%).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Tám biểu đồ, tám câu hỏi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seasonal plot · subseries plot · lag plot · heatmap · boxplot · ACF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Không kết luận từ một hình: mỗi hình kiểm một giả thuyết khác nhau.</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“Mỗi hình trả lời đúng một câu; một hình không đủ để kết luận.”</a:t>
            </a:r>
          </a:p>
        </p:txBody>
      </p:sp>
      <p:pic>
        <p:nvPicPr>
          <p:cNvPr id="8" name="Picture 7" descr="bo-bieu-do.png"/>
          <p:cNvPicPr>
            <a:picLocks noChangeAspect="1"/>
          </p:cNvPicPr>
          <p:nvPr/>
        </p:nvPicPr>
        <p:blipFill>
          <a:blip r:embed="rId2"/>
          <a:stretch>
            <a:fillRect/>
          </a:stretch>
        </p:blipFill>
        <p:spPr>
          <a:xfrm>
            <a:off x="839604" y="2450591"/>
            <a:ext cx="3258550" cy="4087368"/>
          </a:xfrm>
          <a:prstGeom prst="rect">
            <a:avLst/>
          </a:prstGeom>
        </p:spPr>
      </p:pic>
      <p:sp>
        <p:nvSpPr>
          <p:cNvPr id="9" name="Rounded Rectangle 8"/>
          <p:cNvSpPr/>
          <p:nvPr/>
        </p:nvSpPr>
        <p:spPr>
          <a:xfrm>
            <a:off x="4754880" y="2450591"/>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523744"/>
            <a:ext cx="2926080" cy="320040"/>
          </a:xfrm>
          <a:prstGeom prst="rect">
            <a:avLst/>
          </a:prstGeom>
          <a:noFill/>
        </p:spPr>
        <p:txBody>
          <a:bodyPr wrap="square" lIns="0" rIns="0" tIns="0" bIns="0" anchor="t">
            <a:spAutoFit/>
          </a:bodyPr>
          <a:lstStyle/>
          <a:p>
            <a:pPr algn="l"/>
            <a:r>
              <a:rPr sz="1400" b="1" i="0">
                <a:solidFill>
                  <a:srgbClr val="0F8B8D"/>
                </a:solidFill>
                <a:latin typeface="Arial"/>
              </a:rPr>
              <a:t>1  Đường theo ngày</a:t>
            </a:r>
          </a:p>
        </p:txBody>
      </p:sp>
      <p:sp>
        <p:nvSpPr>
          <p:cNvPr id="11" name="TextBox 10"/>
          <p:cNvSpPr txBox="1"/>
          <p:nvPr/>
        </p:nvSpPr>
        <p:spPr>
          <a:xfrm>
            <a:off x="4937760" y="2852927"/>
            <a:ext cx="2926080" cy="365760"/>
          </a:xfrm>
          <a:prstGeom prst="rect">
            <a:avLst/>
          </a:prstGeom>
          <a:noFill/>
        </p:spPr>
        <p:txBody>
          <a:bodyPr wrap="square" lIns="0" rIns="0" tIns="0" bIns="0" anchor="t">
            <a:spAutoFit/>
          </a:bodyPr>
          <a:lstStyle/>
          <a:p>
            <a:pPr algn="l"/>
            <a:r>
              <a:rPr sz="1300" b="0" i="0">
                <a:solidFill>
                  <a:srgbClr val="1B2A41"/>
                </a:solidFill>
                <a:latin typeface="Arial"/>
              </a:rPr>
              <a:t>xu hướng, mùa năm</a:t>
            </a:r>
          </a:p>
        </p:txBody>
      </p:sp>
      <p:sp>
        <p:nvSpPr>
          <p:cNvPr id="12" name="Rounded Rectangle 11"/>
          <p:cNvSpPr/>
          <p:nvPr/>
        </p:nvSpPr>
        <p:spPr>
          <a:xfrm>
            <a:off x="8229600" y="2450591"/>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523744"/>
            <a:ext cx="2926080" cy="320040"/>
          </a:xfrm>
          <a:prstGeom prst="rect">
            <a:avLst/>
          </a:prstGeom>
          <a:noFill/>
        </p:spPr>
        <p:txBody>
          <a:bodyPr wrap="square" lIns="0" rIns="0" tIns="0" bIns="0" anchor="t">
            <a:spAutoFit/>
          </a:bodyPr>
          <a:lstStyle/>
          <a:p>
            <a:pPr algn="l"/>
            <a:r>
              <a:rPr sz="1400" b="1" i="0">
                <a:solidFill>
                  <a:srgbClr val="0F8B8D"/>
                </a:solidFill>
                <a:latin typeface="Arial"/>
              </a:rPr>
              <a:t>2  Seasonal plot tuần</a:t>
            </a:r>
          </a:p>
        </p:txBody>
      </p:sp>
      <p:sp>
        <p:nvSpPr>
          <p:cNvPr id="14" name="TextBox 13"/>
          <p:cNvSpPr txBox="1"/>
          <p:nvPr/>
        </p:nvSpPr>
        <p:spPr>
          <a:xfrm>
            <a:off x="8412480" y="2852927"/>
            <a:ext cx="2926080" cy="365760"/>
          </a:xfrm>
          <a:prstGeom prst="rect">
            <a:avLst/>
          </a:prstGeom>
          <a:noFill/>
        </p:spPr>
        <p:txBody>
          <a:bodyPr wrap="square" lIns="0" rIns="0" tIns="0" bIns="0" anchor="t">
            <a:spAutoFit/>
          </a:bodyPr>
          <a:lstStyle/>
          <a:p>
            <a:pPr algn="l"/>
            <a:r>
              <a:rPr sz="1300" b="0" i="0">
                <a:solidFill>
                  <a:srgbClr val="1B2A41"/>
                </a:solidFill>
                <a:latin typeface="Arial"/>
              </a:rPr>
              <a:t>hình dạng một vòng lặp</a:t>
            </a:r>
          </a:p>
        </p:txBody>
      </p:sp>
      <p:sp>
        <p:nvSpPr>
          <p:cNvPr id="15" name="Rounded Rectangle 14"/>
          <p:cNvSpPr/>
          <p:nvPr/>
        </p:nvSpPr>
        <p:spPr>
          <a:xfrm>
            <a:off x="4754880" y="3346703"/>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3419856"/>
            <a:ext cx="2926080" cy="320040"/>
          </a:xfrm>
          <a:prstGeom prst="rect">
            <a:avLst/>
          </a:prstGeom>
          <a:noFill/>
        </p:spPr>
        <p:txBody>
          <a:bodyPr wrap="square" lIns="0" rIns="0" tIns="0" bIns="0" anchor="t">
            <a:spAutoFit/>
          </a:bodyPr>
          <a:lstStyle/>
          <a:p>
            <a:pPr algn="l"/>
            <a:r>
              <a:rPr sz="1400" b="1" i="0">
                <a:solidFill>
                  <a:srgbClr val="0F8B8D"/>
                </a:solidFill>
                <a:latin typeface="Arial"/>
              </a:rPr>
              <a:t>3  Subseries theo tháng</a:t>
            </a:r>
          </a:p>
        </p:txBody>
      </p:sp>
      <p:sp>
        <p:nvSpPr>
          <p:cNvPr id="17" name="TextBox 16"/>
          <p:cNvSpPr txBox="1"/>
          <p:nvPr/>
        </p:nvSpPr>
        <p:spPr>
          <a:xfrm>
            <a:off x="4937760" y="3749039"/>
            <a:ext cx="2926080" cy="365760"/>
          </a:xfrm>
          <a:prstGeom prst="rect">
            <a:avLst/>
          </a:prstGeom>
          <a:noFill/>
        </p:spPr>
        <p:txBody>
          <a:bodyPr wrap="square" lIns="0" rIns="0" tIns="0" bIns="0" anchor="t">
            <a:spAutoFit/>
          </a:bodyPr>
          <a:lstStyle/>
          <a:p>
            <a:pPr algn="l"/>
            <a:r>
              <a:rPr sz="1300" b="0" i="0">
                <a:solidFill>
                  <a:srgbClr val="1B2A41"/>
                </a:solidFill>
                <a:latin typeface="Arial"/>
              </a:rPr>
              <a:t>mỗi mùa đổi qua các năm ra sao</a:t>
            </a:r>
          </a:p>
        </p:txBody>
      </p:sp>
      <p:sp>
        <p:nvSpPr>
          <p:cNvPr id="18" name="Rounded Rectangle 17"/>
          <p:cNvSpPr/>
          <p:nvPr/>
        </p:nvSpPr>
        <p:spPr>
          <a:xfrm>
            <a:off x="8229600" y="3346703"/>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3419856"/>
            <a:ext cx="2926080" cy="320040"/>
          </a:xfrm>
          <a:prstGeom prst="rect">
            <a:avLst/>
          </a:prstGeom>
          <a:noFill/>
        </p:spPr>
        <p:txBody>
          <a:bodyPr wrap="square" lIns="0" rIns="0" tIns="0" bIns="0" anchor="t">
            <a:spAutoFit/>
          </a:bodyPr>
          <a:lstStyle/>
          <a:p>
            <a:pPr algn="l"/>
            <a:r>
              <a:rPr sz="1400" b="1" i="0">
                <a:solidFill>
                  <a:srgbClr val="0F8B8D"/>
                </a:solidFill>
                <a:latin typeface="Arial"/>
              </a:rPr>
              <a:t>4  Lag plot</a:t>
            </a:r>
          </a:p>
        </p:txBody>
      </p:sp>
      <p:sp>
        <p:nvSpPr>
          <p:cNvPr id="20" name="TextBox 19"/>
          <p:cNvSpPr txBox="1"/>
          <p:nvPr/>
        </p:nvSpPr>
        <p:spPr>
          <a:xfrm>
            <a:off x="8412480" y="3749039"/>
            <a:ext cx="2926080" cy="365760"/>
          </a:xfrm>
          <a:prstGeom prst="rect">
            <a:avLst/>
          </a:prstGeom>
          <a:noFill/>
        </p:spPr>
        <p:txBody>
          <a:bodyPr wrap="square" lIns="0" rIns="0" tIns="0" bIns="0" anchor="t">
            <a:spAutoFit/>
          </a:bodyPr>
          <a:lstStyle/>
          <a:p>
            <a:pPr algn="l"/>
            <a:r>
              <a:rPr sz="1300" b="0" i="0">
                <a:solidFill>
                  <a:srgbClr val="1B2A41"/>
                </a:solidFill>
                <a:latin typeface="Arial"/>
              </a:rPr>
              <a:t>giống k bước trước tới đâu</a:t>
            </a:r>
          </a:p>
        </p:txBody>
      </p:sp>
      <p:sp>
        <p:nvSpPr>
          <p:cNvPr id="21" name="Rounded Rectangle 20"/>
          <p:cNvSpPr/>
          <p:nvPr/>
        </p:nvSpPr>
        <p:spPr>
          <a:xfrm>
            <a:off x="4754880" y="4242816"/>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4315968"/>
            <a:ext cx="2926080" cy="320040"/>
          </a:xfrm>
          <a:prstGeom prst="rect">
            <a:avLst/>
          </a:prstGeom>
          <a:noFill/>
        </p:spPr>
        <p:txBody>
          <a:bodyPr wrap="square" lIns="0" rIns="0" tIns="0" bIns="0" anchor="t">
            <a:spAutoFit/>
          </a:bodyPr>
          <a:lstStyle/>
          <a:p>
            <a:pPr algn="l"/>
            <a:r>
              <a:rPr sz="1400" b="1" i="0">
                <a:solidFill>
                  <a:srgbClr val="0F8B8D"/>
                </a:solidFill>
                <a:latin typeface="Arial"/>
              </a:rPr>
              <a:t>5  Heatmap giờ × thứ</a:t>
            </a:r>
          </a:p>
        </p:txBody>
      </p:sp>
      <p:sp>
        <p:nvSpPr>
          <p:cNvPr id="23" name="TextBox 22"/>
          <p:cNvSpPr txBox="1"/>
          <p:nvPr/>
        </p:nvSpPr>
        <p:spPr>
          <a:xfrm>
            <a:off x="4937760" y="4645152"/>
            <a:ext cx="2926080" cy="365760"/>
          </a:xfrm>
          <a:prstGeom prst="rect">
            <a:avLst/>
          </a:prstGeom>
          <a:noFill/>
        </p:spPr>
        <p:txBody>
          <a:bodyPr wrap="square" lIns="0" rIns="0" tIns="0" bIns="0" anchor="t">
            <a:spAutoFit/>
          </a:bodyPr>
          <a:lstStyle/>
          <a:p>
            <a:pPr algn="l"/>
            <a:r>
              <a:rPr sz="1300" b="0" i="0">
                <a:solidFill>
                  <a:srgbClr val="1B2A41"/>
                </a:solidFill>
                <a:latin typeface="Arial"/>
              </a:rPr>
              <a:t>mùa vụ kép ngày trong tuần</a:t>
            </a:r>
          </a:p>
        </p:txBody>
      </p:sp>
      <p:sp>
        <p:nvSpPr>
          <p:cNvPr id="24" name="Rounded Rectangle 23"/>
          <p:cNvSpPr/>
          <p:nvPr/>
        </p:nvSpPr>
        <p:spPr>
          <a:xfrm>
            <a:off x="8229600" y="4242816"/>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4315968"/>
            <a:ext cx="2926080" cy="320040"/>
          </a:xfrm>
          <a:prstGeom prst="rect">
            <a:avLst/>
          </a:prstGeom>
          <a:noFill/>
        </p:spPr>
        <p:txBody>
          <a:bodyPr wrap="square" lIns="0" rIns="0" tIns="0" bIns="0" anchor="t">
            <a:spAutoFit/>
          </a:bodyPr>
          <a:lstStyle/>
          <a:p>
            <a:pPr algn="l"/>
            <a:r>
              <a:rPr sz="1400" b="1" i="0">
                <a:solidFill>
                  <a:srgbClr val="0F8B8D"/>
                </a:solidFill>
                <a:latin typeface="Arial"/>
              </a:rPr>
              <a:t>6  Boxplot theo giờ</a:t>
            </a:r>
          </a:p>
        </p:txBody>
      </p:sp>
      <p:sp>
        <p:nvSpPr>
          <p:cNvPr id="26" name="TextBox 25"/>
          <p:cNvSpPr txBox="1"/>
          <p:nvPr/>
        </p:nvSpPr>
        <p:spPr>
          <a:xfrm>
            <a:off x="8412480" y="4645152"/>
            <a:ext cx="2926080" cy="365760"/>
          </a:xfrm>
          <a:prstGeom prst="rect">
            <a:avLst/>
          </a:prstGeom>
          <a:noFill/>
        </p:spPr>
        <p:txBody>
          <a:bodyPr wrap="square" lIns="0" rIns="0" tIns="0" bIns="0" anchor="t">
            <a:spAutoFit/>
          </a:bodyPr>
          <a:lstStyle/>
          <a:p>
            <a:pPr algn="l"/>
            <a:r>
              <a:rPr sz="1300" b="0" i="0">
                <a:solidFill>
                  <a:srgbClr val="1B2A41"/>
                </a:solidFill>
                <a:latin typeface="Arial"/>
              </a:rPr>
              <a:t>độ tản: giờ nào khó</a:t>
            </a:r>
          </a:p>
        </p:txBody>
      </p:sp>
      <p:sp>
        <p:nvSpPr>
          <p:cNvPr id="27" name="Rounded Rectangle 26"/>
          <p:cNvSpPr/>
          <p:nvPr/>
        </p:nvSpPr>
        <p:spPr>
          <a:xfrm>
            <a:off x="4754880" y="5138927"/>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5212079"/>
            <a:ext cx="2926080" cy="320040"/>
          </a:xfrm>
          <a:prstGeom prst="rect">
            <a:avLst/>
          </a:prstGeom>
          <a:noFill/>
        </p:spPr>
        <p:txBody>
          <a:bodyPr wrap="square" lIns="0" rIns="0" tIns="0" bIns="0" anchor="t">
            <a:spAutoFit/>
          </a:bodyPr>
          <a:lstStyle/>
          <a:p>
            <a:pPr algn="l"/>
            <a:r>
              <a:rPr sz="1400" b="1" i="0">
                <a:solidFill>
                  <a:srgbClr val="0F8B8D"/>
                </a:solidFill>
                <a:latin typeface="Arial"/>
              </a:rPr>
              <a:t>7  Scatter với nhiệt độ</a:t>
            </a:r>
          </a:p>
        </p:txBody>
      </p:sp>
      <p:sp>
        <p:nvSpPr>
          <p:cNvPr id="29" name="TextBox 28"/>
          <p:cNvSpPr txBox="1"/>
          <p:nvPr/>
        </p:nvSpPr>
        <p:spPr>
          <a:xfrm>
            <a:off x="4937760" y="5541264"/>
            <a:ext cx="2926080" cy="365760"/>
          </a:xfrm>
          <a:prstGeom prst="rect">
            <a:avLst/>
          </a:prstGeom>
          <a:noFill/>
        </p:spPr>
        <p:txBody>
          <a:bodyPr wrap="square" lIns="0" rIns="0" tIns="0" bIns="0" anchor="t">
            <a:spAutoFit/>
          </a:bodyPr>
          <a:lstStyle/>
          <a:p>
            <a:pPr algn="l"/>
            <a:r>
              <a:rPr sz="1300" b="0" i="0">
                <a:solidFill>
                  <a:srgbClr val="1B2A41"/>
                </a:solidFill>
                <a:latin typeface="Arial"/>
              </a:rPr>
              <a:t>quan hệ với biến khác, theo năm</a:t>
            </a:r>
          </a:p>
        </p:txBody>
      </p:sp>
      <p:sp>
        <p:nvSpPr>
          <p:cNvPr id="30" name="Rounded Rectangle 29"/>
          <p:cNvSpPr/>
          <p:nvPr/>
        </p:nvSpPr>
        <p:spPr>
          <a:xfrm>
            <a:off x="8229600" y="5138927"/>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5212079"/>
            <a:ext cx="2926080" cy="320040"/>
          </a:xfrm>
          <a:prstGeom prst="rect">
            <a:avLst/>
          </a:prstGeom>
          <a:noFill/>
        </p:spPr>
        <p:txBody>
          <a:bodyPr wrap="square" lIns="0" rIns="0" tIns="0" bIns="0" anchor="t">
            <a:spAutoFit/>
          </a:bodyPr>
          <a:lstStyle/>
          <a:p>
            <a:pPr algn="l"/>
            <a:r>
              <a:rPr sz="1400" b="1" i="0">
                <a:solidFill>
                  <a:srgbClr val="0F8B8D"/>
                </a:solidFill>
                <a:latin typeface="Arial"/>
              </a:rPr>
              <a:t>8  ACF</a:t>
            </a:r>
          </a:p>
        </p:txBody>
      </p:sp>
      <p:sp>
        <p:nvSpPr>
          <p:cNvPr id="32" name="TextBox 31"/>
          <p:cNvSpPr txBox="1"/>
          <p:nvPr/>
        </p:nvSpPr>
        <p:spPr>
          <a:xfrm>
            <a:off x="8412480" y="5541264"/>
            <a:ext cx="2926080" cy="365760"/>
          </a:xfrm>
          <a:prstGeom prst="rect">
            <a:avLst/>
          </a:prstGeom>
          <a:noFill/>
        </p:spPr>
        <p:txBody>
          <a:bodyPr wrap="square" lIns="0" rIns="0" tIns="0" bIns="0" anchor="t">
            <a:spAutoFit/>
          </a:bodyPr>
          <a:lstStyle/>
          <a:p>
            <a:pPr algn="l"/>
            <a:r>
              <a:rPr sz="1300" b="0" i="0">
                <a:solidFill>
                  <a:srgbClr val="1B2A41"/>
                </a:solidFill>
                <a:latin typeface="Arial"/>
              </a:rPr>
              <a:t>nhịp lặp, đo bằng số</a:t>
            </a:r>
          </a:p>
        </p:txBody>
      </p:sp>
      <p:sp>
        <p:nvSpPr>
          <p:cNvPr id="33" name="TextBox 32"/>
          <p:cNvSpPr txBox="1"/>
          <p:nvPr/>
        </p:nvSpPr>
        <p:spPr>
          <a:xfrm>
            <a:off x="4754880" y="6089904"/>
            <a:ext cx="6766560" cy="822960"/>
          </a:xfrm>
          <a:prstGeom prst="rect">
            <a:avLst/>
          </a:prstGeom>
          <a:noFill/>
        </p:spPr>
        <p:txBody>
          <a:bodyPr wrap="square" lIns="0" rIns="0" tIns="0" bIns="0" anchor="t">
            <a:spAutoFit/>
          </a:bodyPr>
          <a:lstStyle/>
          <a:p>
            <a:pPr algn="l"/>
            <a:r>
              <a:rPr sz="1300" b="0" i="0">
                <a:solidFill>
                  <a:srgbClr val="5B6778"/>
                </a:solidFill>
                <a:latin typeface="Arial"/>
              </a:rPr>
              <a:t>Thêm hai thói quen: vẽ đường làm trơn đè lên dữ liệu gốc chứ đừng thay nó, để không mất ngày bất thường; trên thang log, cùng độ dốc nghĩa là cùng phần trăm thay đổi.</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Seasonal plot chồng vòng, subseries gom mùa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seasonal plot · subseries plot · multiple seasonality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Nhìn đường theo thời gian khó thấy mùa vụ. Xếp lại theo thứ, theo tháng thì thấy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hình dạng mùa vụ, và từng mùa đổi ra sao qua thời gian, bằng cách xếp dữ liệu theo lịch.</a:t>
            </a:r>
          </a:p>
        </p:txBody>
      </p:sp>
      <p:pic>
        <p:nvPicPr>
          <p:cNvPr id="8" name="Picture 7" descr="kn-subseries-plot.png"/>
          <p:cNvPicPr>
            <a:picLocks noChangeAspect="1"/>
          </p:cNvPicPr>
          <p:nvPr/>
        </p:nvPicPr>
        <p:blipFill>
          <a:blip r:embed="rId2"/>
          <a:stretch>
            <a:fillRect/>
          </a:stretch>
        </p:blipFill>
        <p:spPr>
          <a:xfrm>
            <a:off x="548640" y="3073336"/>
            <a:ext cx="6309360" cy="277787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Seasonal plot: mỗi vòng lặp (mỗi tuần) một đường, chồng lên nhau. Subseries plot: mỗi mùa (mỗi thứ, mỗi tháng) một ô, điểm xếp theo thời gian.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Nhìn vào đâu</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Seasonal: đường nào lệch khỏi khuôn chung. Subseries: vạch trung bình các ô vẽ ra mùa vụ; trong ô, điểm sau cao hơn là có xu hướng.</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Lượt thuê theo tuần: T2–T6 hai đỉnh, T7–CN một bướu, tức mùa vụ kép. Mỗi tháng 2012 gấp 1,41 tới 2,57 lần cùng tháng 2011.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Boxplot: hộp càng dài, giờ càng khó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boxplot · interquartile range (IQR) · median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Giờ nào khó đoán nhất: hôm thì đông, hôm thì vắng?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độ tản của từng nhóm (giờ, thứ), tức nhóm nào khó dự báo.</a:t>
            </a:r>
          </a:p>
        </p:txBody>
      </p:sp>
      <p:pic>
        <p:nvPicPr>
          <p:cNvPr id="8" name="Picture 7" descr="hop-theo-gio.png"/>
          <p:cNvPicPr>
            <a:picLocks noChangeAspect="1"/>
          </p:cNvPicPr>
          <p:nvPr/>
        </p:nvPicPr>
        <p:blipFill>
          <a:blip r:embed="rId2"/>
          <a:stretch>
            <a:fillRect/>
          </a:stretch>
        </p:blipFill>
        <p:spPr>
          <a:xfrm>
            <a:off x="548640" y="3063777"/>
            <a:ext cx="6309360" cy="2796988"/>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Hộp chứa một nửa số ngày ở giữa, từ quantile 0,25 tới 0,75; độ rộng hộp gọi là IQR. Vạch giữa hộp là trung vị.</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Hộp ngắn hay dài nghĩa là gì</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hộp ngắn</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ngày nào cũng như ngày nấy, dễ đoán</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hộp dài</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hôm đông hôm vắng, khó đoán</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17h ngày làm việc có hộp 348–704 lượt, rộng nhất. 8h ngày nghỉ chỉ 57–141, nằm hẳn dưới ngày làm việc.</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Lag plot: bám đường chéo là đoán được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lag plot · autocorrelation at lag k</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Giờ trước, cùng giờ hôm qua hay cùng giờ tuần trước: cái nào giống giờ này nhất?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giá trị quá khứ nào (giờ trước, hôm qua, tuần trước) đoán tốt giá trị hiện tại.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6cb24d5f437.png"/>
          <p:cNvPicPr>
            <a:picLocks noChangeAspect="1"/>
          </p:cNvPicPr>
          <p:nvPr/>
        </p:nvPicPr>
        <p:blipFill>
          <a:blip r:embed="rId2"/>
          <a:stretch>
            <a:fillRect/>
          </a:stretch>
        </p:blipFill>
        <p:spPr>
          <a:xfrm>
            <a:off x="3107436" y="2628899"/>
            <a:ext cx="1191768" cy="265176"/>
          </a:xfrm>
          <a:prstGeom prst="rect">
            <a:avLst/>
          </a:prstGeom>
        </p:spPr>
      </p:pic>
      <p:pic>
        <p:nvPicPr>
          <p:cNvPr id="10" name="Picture 9" descr="kn-lag-plot.png"/>
          <p:cNvPicPr>
            <a:picLocks noChangeAspect="1"/>
          </p:cNvPicPr>
          <p:nvPr/>
        </p:nvPicPr>
        <p:blipFill>
          <a:blip r:embed="rId3"/>
          <a:stretch>
            <a:fillRect/>
          </a:stretch>
        </p:blipFill>
        <p:spPr>
          <a:xfrm>
            <a:off x="1826966" y="3182112"/>
            <a:ext cx="375270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Scatter của y_t theo y_(t−k): mỗi chấm ghép một giá trị với giá trị cách nó k bước về trước.</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Hình dạng nói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bám đường chéo</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cách k bước đoán tốt hiện tại</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đi xuống</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k bằng nửa vòng: đỉnh ghép với đáy</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hai nhánh</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r chỉ là trung bình hai nhánh</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2, 4, 6, 4, 2, 4, 6, 4 ở trễ 2: cặp (2, 6), (6, 2) nằm trên đường đi xuống. Lượt thuê: trễ 168 hẹp nhất, r = 0,88; trễ 12 hai nhánh, r = −0,14.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ACF: cách k bước có giống bây giờ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autocorrelation function (ACF) ·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giờ tới nên dựa vào giờ trước, cùng giờ hôm qua, hay cùng giờ tuần trước?</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quá khứ giúp đoán hiện tại tới đâu, và nhịp lặp dài bao nhiêu bước.</a:t>
            </a:r>
          </a:p>
        </p:txBody>
      </p:sp>
      <p:sp>
        <p:nvSpPr>
          <p:cNvPr id="8" name="Rounded Rectangle 7"/>
          <p:cNvSpPr/>
          <p:nvPr/>
        </p:nvSpPr>
        <p:spPr>
          <a:xfrm>
            <a:off x="548640" y="2432303"/>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93268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725b760da80.png"/>
          <p:cNvPicPr>
            <a:picLocks noChangeAspect="1"/>
          </p:cNvPicPr>
          <p:nvPr/>
        </p:nvPicPr>
        <p:blipFill>
          <a:blip r:embed="rId2"/>
          <a:stretch>
            <a:fillRect/>
          </a:stretch>
        </p:blipFill>
        <p:spPr>
          <a:xfrm>
            <a:off x="1783080" y="2487168"/>
            <a:ext cx="2068521" cy="822960"/>
          </a:xfrm>
          <a:prstGeom prst="rect">
            <a:avLst/>
          </a:prstGeom>
        </p:spPr>
      </p:pic>
      <p:sp>
        <p:nvSpPr>
          <p:cNvPr id="11" name="TextBox 10"/>
          <p:cNvSpPr txBox="1"/>
          <p:nvPr/>
        </p:nvSpPr>
        <p:spPr>
          <a:xfrm>
            <a:off x="5602071" y="2432303"/>
            <a:ext cx="5901080" cy="932688"/>
          </a:xfrm>
          <a:prstGeom prst="rect">
            <a:avLst/>
          </a:prstGeom>
          <a:noFill/>
        </p:spPr>
        <p:txBody>
          <a:bodyPr wrap="square" lIns="0" rIns="0" tIns="0" bIns="0" anchor="ctr">
            <a:spAutoFit/>
          </a:bodyPr>
          <a:lstStyle/>
          <a:p>
            <a:pPr algn="l"/>
            <a:r>
              <a:rPr sz="1150" b="0" i="0">
                <a:solidFill>
                  <a:srgbClr val="1B2A41"/>
                </a:solidFill>
                <a:latin typeface="Arial"/>
              </a:rPr>
              <a:t>Tử: độ lệch của các cặp cách nhau k bước nhân với nhau; mẫu: tổng bình phương độ lệch cả chuỗi.</a:t>
            </a:r>
          </a:p>
        </p:txBody>
      </p:sp>
      <p:pic>
        <p:nvPicPr>
          <p:cNvPr id="12" name="Picture 11" descr="acf.png"/>
          <p:cNvPicPr>
            <a:picLocks noChangeAspect="1"/>
          </p:cNvPicPr>
          <p:nvPr/>
        </p:nvPicPr>
        <p:blipFill>
          <a:blip r:embed="rId3"/>
          <a:stretch>
            <a:fillRect/>
          </a:stretch>
        </p:blipFill>
        <p:spPr>
          <a:xfrm>
            <a:off x="4333539" y="3456432"/>
            <a:ext cx="3521872" cy="148132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Mức giống nhau giữa giá trị bây giờ và giá trị cách đó k bước (gọi là trễ k).</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Cao hay thấp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trước cao thì nay thấp</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quá khứ không giúp gì</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trước cao thì nay cũng cao</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có đỉnh ở trễ 24, 168 và 336: nhịp ngày lồng trong nhịp tuần.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Trục y cắt, trục kép: thang do người vẽ chọn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truncated y-axis · dual axis · index to 100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Doanh thu chỉ tăng 4,1% mà cột sau trông cao gấp ba. Vì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thang trước khi đọc đường, để không thấy chênh lớn hay quan hệ chặt chỉ do cách vẽ.</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85dcb1f9841.png"/>
          <p:cNvPicPr>
            <a:picLocks noChangeAspect="1"/>
          </p:cNvPicPr>
          <p:nvPr/>
        </p:nvPicPr>
        <p:blipFill>
          <a:blip r:embed="rId2"/>
          <a:stretch>
            <a:fillRect/>
          </a:stretch>
        </p:blipFill>
        <p:spPr>
          <a:xfrm>
            <a:off x="2225040" y="2552700"/>
            <a:ext cx="2956560" cy="417576"/>
          </a:xfrm>
          <a:prstGeom prst="rect">
            <a:avLst/>
          </a:prstGeom>
        </p:spPr>
      </p:pic>
      <p:pic>
        <p:nvPicPr>
          <p:cNvPr id="10" name="Picture 9" descr="kn-truc-y-cat.png"/>
          <p:cNvPicPr>
            <a:picLocks noChangeAspect="1"/>
          </p:cNvPicPr>
          <p:nvPr/>
        </p:nvPicPr>
        <p:blipFill>
          <a:blip r:embed="rId3"/>
          <a:stretch>
            <a:fillRect/>
          </a:stretch>
        </p:blipFill>
        <p:spPr>
          <a:xfrm>
            <a:off x="548640" y="3420243"/>
            <a:ext cx="6309360" cy="2833865"/>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Trục y cắt: trục dọc không bắt đầu từ 0. Trục kép: hai trục dọc với hai thang trên một hình. Người vẽ chọn thang, nên chọn được độ cao.</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Quy ước khi vẽ</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Số đếm và tổng vẽ trục từ 0. Hai chuỗi khác đơn vị thì tách hình, hoặc đánh chỉ số: chia cho tháng đầu rồi nhân 100.</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490 → 510 triệu là +4,1%. Trục từ 480 tới 520: tháng đầu cao 25%, tháng sau cao 75% chiều cao hình, mắt thấy gấp ba.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Trộn nhiều năm vào một scatter làm r yếu 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pooling years · level shift · colour by time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Mỗi năm r trên 0,7, gộp hai năm lại chỉ còn 0,627. Quan hệ yếu đi thật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đúng quan hệ giữa hai đại lượng khi mức chung đổi theo năm.</a:t>
            </a:r>
          </a:p>
        </p:txBody>
      </p:sp>
      <p:pic>
        <p:nvPicPr>
          <p:cNvPr id="8" name="Picture 7" descr="phan-tan-nhiet-do.png"/>
          <p:cNvPicPr>
            <a:picLocks noChangeAspect="1"/>
          </p:cNvPicPr>
          <p:nvPr/>
        </p:nvPicPr>
        <p:blipFill>
          <a:blip r:embed="rId2"/>
          <a:stretch>
            <a:fillRect/>
          </a:stretch>
        </p:blipFill>
        <p:spPr>
          <a:xfrm>
            <a:off x="548640" y="2636584"/>
            <a:ext cx="6309360" cy="3651374"/>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Mức chung dời lên theo năm thì gộp các năm làm đám điểm dày ra theo chiều dọc, nên r gộp nhỏ hơn r của từng năm.</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Tô màu scatter theo năm. Thấy hai đám mây song song, cùng nhiệt độ mà năm sau cao hơn, thì tính r riêng từng năm.</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Nhiệt độ × lượt thuê mỗi ngày: 2011 r = 0,771, 2012 r = 0,714, gộp hai năm chỉ còn 0,627, thấp hơn cả hai năm.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Điều chỉnh lịch, lạm phát, dân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calendar adjustment · CPI deflation (real value) · per capita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Doanh số tháng 3 cao hơn tháng 2: vì người ta mua nhiều hơn, hay chỉ vì tháng 3 dài hơn 3 ngày?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doanh số tăng thật, hay chỉ vì tháng dài hơn, giá cao hơn, người đông hơn.</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0667cd6fb6ad.png"/>
          <p:cNvPicPr>
            <a:picLocks noChangeAspect="1"/>
          </p:cNvPicPr>
          <p:nvPr/>
        </p:nvPicPr>
        <p:blipFill>
          <a:blip r:embed="rId2"/>
          <a:stretch>
            <a:fillRect/>
          </a:stretch>
        </p:blipFill>
        <p:spPr>
          <a:xfrm>
            <a:off x="1783080" y="2540507"/>
            <a:ext cx="4861560" cy="441960"/>
          </a:xfrm>
          <a:prstGeom prst="rect">
            <a:avLst/>
          </a:prstGeom>
        </p:spPr>
      </p:pic>
      <p:sp>
        <p:nvSpPr>
          <p:cNvPr id="11" name="TextBox 10"/>
          <p:cNvSpPr txBox="1"/>
          <p:nvPr/>
        </p:nvSpPr>
        <p:spPr>
          <a:xfrm>
            <a:off x="6827520" y="2432303"/>
            <a:ext cx="4675632" cy="658368"/>
          </a:xfrm>
          <a:prstGeom prst="rect">
            <a:avLst/>
          </a:prstGeom>
          <a:noFill/>
        </p:spPr>
        <p:txBody>
          <a:bodyPr wrap="square" lIns="0" rIns="0" tIns="0" bIns="0" anchor="ctr">
            <a:spAutoFit/>
          </a:bodyPr>
          <a:lstStyle/>
          <a:p>
            <a:pPr algn="l"/>
            <a:r>
              <a:rPr sz="1150" b="0" i="0">
                <a:solidFill>
                  <a:srgbClr val="1B2A41"/>
                </a:solidFill>
                <a:latin typeface="Arial"/>
              </a:rPr>
              <a:t>z là CPI: 150 / 125 × 100 = 120 tỷ theo giá năm gốc.</a:t>
            </a:r>
          </a:p>
        </p:txBody>
      </p:sp>
      <p:pic>
        <p:nvPicPr>
          <p:cNvPr id="12" name="Picture 11" descr="dieu-chinh-lich.png"/>
          <p:cNvPicPr>
            <a:picLocks noChangeAspect="1"/>
          </p:cNvPicPr>
          <p:nvPr/>
        </p:nvPicPr>
        <p:blipFill>
          <a:blip r:embed="rId3"/>
          <a:stretch>
            <a:fillRect/>
          </a:stretch>
        </p:blipFill>
        <p:spPr>
          <a:xfrm>
            <a:off x="3526538" y="3182112"/>
            <a:ext cx="513587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Điều chỉnh lịch: chia tổng tháng cho số ngày. Giá thực: chia CPI rồi nhân CPI năm gốc. Trên đầu người: chia thêm dân số.</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Mỗi bước bỏ một nguyên nhân</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Tháng 3 so với tháng 2/2023: so thẳng +14,15%; chia ngày lịch +3,11%; chuỗi đã điều chỉnh của Census −1,05%.</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Doanh thu 100 → 150, CPI 100 → 125, dân số 10 → 12: giá thực 120 (+20%); mỗi người 10 → 10, không đổi.</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Log: cùng % thành cùng khoảng cách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log transformation · multiplicative → additive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Năm bán càng nhiều, tháng đông với tháng vắng càng chênh xa. Mà mô hình lại muốn dao động đều.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dao động đều lại khi nó lớn dần theo mức, cho mô hình dễ học.</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fec05769aa88.png"/>
          <p:cNvPicPr>
            <a:picLocks noChangeAspect="1"/>
          </p:cNvPicPr>
          <p:nvPr/>
        </p:nvPicPr>
        <p:blipFill>
          <a:blip r:embed="rId2"/>
          <a:stretch>
            <a:fillRect/>
          </a:stretch>
        </p:blipFill>
        <p:spPr>
          <a:xfrm>
            <a:off x="1783080" y="2652965"/>
            <a:ext cx="6611112" cy="217044"/>
          </a:xfrm>
          <a:prstGeom prst="rect">
            <a:avLst/>
          </a:prstGeom>
        </p:spPr>
      </p:pic>
      <p:sp>
        <p:nvSpPr>
          <p:cNvPr id="11" name="TextBox 10"/>
          <p:cNvSpPr txBox="1"/>
          <p:nvPr/>
        </p:nvSpPr>
        <p:spPr>
          <a:xfrm>
            <a:off x="8577072" y="2432303"/>
            <a:ext cx="2926080" cy="658368"/>
          </a:xfrm>
          <a:prstGeom prst="rect">
            <a:avLst/>
          </a:prstGeom>
          <a:noFill/>
        </p:spPr>
        <p:txBody>
          <a:bodyPr wrap="square" lIns="0" rIns="0" tIns="0" bIns="0" anchor="ctr">
            <a:spAutoFit/>
          </a:bodyPr>
          <a:lstStyle/>
          <a:p>
            <a:pPr algn="l"/>
            <a:r>
              <a:rPr sz="1150" b="0" i="0">
                <a:solidFill>
                  <a:srgbClr val="1B2A41"/>
                </a:solidFill>
                <a:latin typeface="Arial"/>
              </a:rPr>
              <a:t>Mọi cú tăng 20% đều cao thêm 0,182, dù từ 100 hay từ 1.000.</a:t>
            </a:r>
          </a:p>
        </p:txBody>
      </p:sp>
      <p:pic>
        <p:nvPicPr>
          <p:cNvPr id="12" name="Picture 11" descr="kn-log-exp.png"/>
          <p:cNvPicPr>
            <a:picLocks noChangeAspect="1"/>
          </p:cNvPicPr>
          <p:nvPr/>
        </p:nvPicPr>
        <p:blipFill>
          <a:blip r:embed="rId3"/>
          <a:stretch>
            <a:fillRect/>
          </a:stretch>
        </p:blipFill>
        <p:spPr>
          <a:xfrm>
            <a:off x="4066653" y="3182112"/>
            <a:ext cx="405564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Log biến nhân thành cộng, nên tăng cùng một phần trăm thì cách nhau cùng một khoảng, bất kể mức. Chỉ dùng cho số dương.</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Khi nào hợp</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Dao động tỷ lệ đúng với mức thì log hợp. Dao động tăng chậm hơn mức thì log ép quá tay: dùng Box-Cox (slide sau).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100 → 120 và 1.000 → 1.200 đều cao thêm 0,182 trên thang log. Bán lẻ Mỹ: mức gấp 3,1 lần mà dao động chỉ gấp 2,4.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Box-Cox: núm vặn giữa giữ nguyên và log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Box-Cox transformation · λ (lambda) · Guerrero method · Yeo-Johnson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Để nguyên thì dao động phình theo mức; lấy log thì ép quá tay. Chọn nấc ở giữa bằng số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dao động đều lại khi dao động cứ lớn dần theo mức, để mô hình dễ học.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51e26247334.png"/>
          <p:cNvPicPr>
            <a:picLocks noChangeAspect="1"/>
          </p:cNvPicPr>
          <p:nvPr/>
        </p:nvPicPr>
        <p:blipFill>
          <a:blip r:embed="rId2"/>
          <a:stretch>
            <a:fillRect/>
          </a:stretch>
        </p:blipFill>
        <p:spPr>
          <a:xfrm>
            <a:off x="1202436" y="2552700"/>
            <a:ext cx="5001768" cy="417576"/>
          </a:xfrm>
          <a:prstGeom prst="rect">
            <a:avLst/>
          </a:prstGeom>
        </p:spPr>
      </p:pic>
      <p:pic>
        <p:nvPicPr>
          <p:cNvPr id="10" name="Picture 9" descr="kn-bien-doi-box-cox.png"/>
          <p:cNvPicPr>
            <a:picLocks noChangeAspect="1"/>
          </p:cNvPicPr>
          <p:nvPr/>
        </p:nvPicPr>
        <p:blipFill>
          <a:blip r:embed="rId3"/>
          <a:stretch>
            <a:fillRect/>
          </a:stretch>
        </p:blipFill>
        <p:spPr>
          <a:xfrm>
            <a:off x="548640" y="3230667"/>
            <a:ext cx="6309360" cy="3213016"/>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Box-Cox là phép biến đổi có một núm vặn λ. Cách Guerrero chọn λ sao cho dao động các năm đều nhau nhất.</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λ lớn hay nhỏ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lấy log, nén mạnh</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0,5</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căn bậc hai</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1</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gần như giữ nguyên</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Bán lẻ Mỹ: Guerrero chọn λ ≈ 0,34. Dao động năm 2019 so với 1992: dữ liệu gốc gấp 2,45 lần, sau λ 0,34 chỉ 1,21.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Guerrero chọn λ làm dao động các năm đều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Guerrero method · coefficient of variation (CV) · Box-Cox λ</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Log ép quá tay, để nguyên thì dao động phình ra. Chọn λ ở giữa bằng cách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λ Box-Cox bằng số, không bằng mắt, để dao động không còn đổi theo mức.</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1305173a270.png"/>
          <p:cNvPicPr>
            <a:picLocks noChangeAspect="1"/>
          </p:cNvPicPr>
          <p:nvPr/>
        </p:nvPicPr>
        <p:blipFill>
          <a:blip r:embed="rId2"/>
          <a:stretch>
            <a:fillRect/>
          </a:stretch>
        </p:blipFill>
        <p:spPr>
          <a:xfrm>
            <a:off x="1783080" y="2526792"/>
            <a:ext cx="4800600" cy="469392"/>
          </a:xfrm>
          <a:prstGeom prst="rect">
            <a:avLst/>
          </a:prstGeom>
        </p:spPr>
      </p:pic>
      <p:sp>
        <p:nvSpPr>
          <p:cNvPr id="11" name="TextBox 10"/>
          <p:cNvSpPr txBox="1"/>
          <p:nvPr/>
        </p:nvSpPr>
        <p:spPr>
          <a:xfrm>
            <a:off x="6766560" y="2432303"/>
            <a:ext cx="4736592" cy="658368"/>
          </a:xfrm>
          <a:prstGeom prst="rect">
            <a:avLst/>
          </a:prstGeom>
          <a:noFill/>
        </p:spPr>
        <p:txBody>
          <a:bodyPr wrap="square" lIns="0" rIns="0" tIns="0" bIns="0" anchor="ctr">
            <a:spAutoFit/>
          </a:bodyPr>
          <a:lstStyle/>
          <a:p>
            <a:pPr algn="l"/>
            <a:r>
              <a:rPr sz="1150" b="0" i="0">
                <a:solidFill>
                  <a:srgbClr val="1B2A41"/>
                </a:solidFill>
                <a:latin typeface="Arial"/>
              </a:rPr>
              <a:t>λ = 0,5, năm μ = 400, s = 20: 20 / √400 = 1.</a:t>
            </a:r>
          </a:p>
        </p:txBody>
      </p:sp>
      <p:pic>
        <p:nvPicPr>
          <p:cNvPr id="12" name="Picture 11" descr="box-cox.png"/>
          <p:cNvPicPr>
            <a:picLocks noChangeAspect="1"/>
          </p:cNvPicPr>
          <p:nvPr/>
        </p:nvPicPr>
        <p:blipFill>
          <a:blip r:embed="rId3"/>
          <a:stretch>
            <a:fillRect/>
          </a:stretch>
        </p:blipFill>
        <p:spPr>
          <a:xfrm>
            <a:off x="3475105" y="3182112"/>
            <a:ext cx="523874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chuỗi thành từng năm. Sau Box-Cox, dao động của năm có mức μ gần bằng s / μ^(1−λ). Chọn λ làm các tỷ số này đều nhất, tức CV nhỏ nhất.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Ba năm μ = 100, 400, 900; s = 10, 20, 30</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1</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tỷ số 10, 20, 30: dao động lớn dần</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0,5</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tỷ số 1, 1, 1: đều hoàn toàn</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0</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0,1; 0,05; 0,033: log ép quá tay</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λ = 1: ba tỷ số có độ lệch chuẩn 10, trung bình 20, CV = 0,5. λ = 0,5: CV = 0. Bán lẻ Mỹ: CV nhỏ nhất ở λ ≈ 0,34.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Vì sao exp của dự báo log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back-transformation · median vs mean · bias adjustment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trên thang log rồi exp về: vì sao cộng lại thì hụt so với tổng thật?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đổi ngược cho ra con số nào, và khi nào phải nhân thêm hệ số để ra trung bình.</a:t>
            </a:r>
          </a:p>
        </p:txBody>
      </p:sp>
      <p:pic>
        <p:nvPicPr>
          <p:cNvPr id="8" name="Picture 7" descr="kn-doi-nguoc.png"/>
          <p:cNvPicPr>
            <a:picLocks noChangeAspect="1"/>
          </p:cNvPicPr>
          <p:nvPr/>
        </p:nvPicPr>
        <p:blipFill>
          <a:blip r:embed="rId2"/>
          <a:stretch>
            <a:fillRect/>
          </a:stretch>
        </p:blipFill>
        <p:spPr>
          <a:xfrm>
            <a:off x="2619166" y="2432303"/>
            <a:ext cx="6950619"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exp giữ thứ tự, nên số đứng giữa trên thang log vẫn đứng giữa: đó là trung vị. Nhưng exp kéo giãn phía trên, đẩy trung bình lên cao hơn.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Khi nào hiệu chỉnh</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5" name="Connector 14"/>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cần tổng</a:t>
            </a:r>
          </a:p>
        </p:txBody>
      </p:sp>
      <p:sp>
        <p:nvSpPr>
          <p:cNvPr id="18" name="TextBox 17"/>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cần tổng hay trung bình: nhân 1 + σ²/2</a:t>
            </a:r>
          </a:p>
        </p:txBody>
      </p:sp>
      <p:sp>
        <p:nvSpPr>
          <p:cNvPr id="19" name="Oval 18"/>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chấm MAE</a:t>
            </a:r>
          </a:p>
        </p:txBody>
      </p:sp>
      <p:sp>
        <p:nvSpPr>
          <p:cNvPr id="21" name="TextBox 20"/>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cần: MAE ưa trung vị</a:t>
            </a:r>
          </a:p>
        </p:txBody>
      </p:sp>
      <p:sp>
        <p:nvSpPr>
          <p:cNvPr id="22" name="Oval 21"/>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σ nhỏ</a:t>
            </a:r>
          </a:p>
        </p:txBody>
      </p:sp>
      <p:sp>
        <p:nvSpPr>
          <p:cNvPr id="24" name="TextBox 23"/>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phần hụt không đáng kể</a:t>
            </a:r>
          </a:p>
        </p:txBody>
      </p:sp>
      <p:sp>
        <p:nvSpPr>
          <p:cNvPr id="25" name="Rounded Rectangle 2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7" name="TextBox 2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Log 0, 1, 2: exp(1) = 2,72 là số đứng giữa, còn trung bình thật là 3,70. σ = 0,5 thì trung vị thấp hơn trung bình 11,75%.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Chuỗi = xu hướng + mùa vụ +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decomposition (additive / multiplicative) · residual · STL / MSTL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Tải điện đổi vì mức chung theo mùa, nhịp ngày và tuần, và những thứ bất ngờ. Tách ra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chuỗi ra từng phần để thấy riêng xu hướng, mùa vụ và phần khó đoán.</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04d3962e380.png"/>
          <p:cNvPicPr>
            <a:picLocks noChangeAspect="1"/>
          </p:cNvPicPr>
          <p:nvPr/>
        </p:nvPicPr>
        <p:blipFill>
          <a:blip r:embed="rId2"/>
          <a:stretch>
            <a:fillRect/>
          </a:stretch>
        </p:blipFill>
        <p:spPr>
          <a:xfrm>
            <a:off x="1569720" y="2634995"/>
            <a:ext cx="4267200" cy="252984"/>
          </a:xfrm>
          <a:prstGeom prst="rect">
            <a:avLst/>
          </a:prstGeom>
        </p:spPr>
      </p:pic>
      <p:pic>
        <p:nvPicPr>
          <p:cNvPr id="10" name="Picture 9" descr="mstl.png"/>
          <p:cNvPicPr>
            <a:picLocks noChangeAspect="1"/>
          </p:cNvPicPr>
          <p:nvPr/>
        </p:nvPicPr>
        <p:blipFill>
          <a:blip r:embed="rId3"/>
          <a:stretch>
            <a:fillRect/>
          </a:stretch>
        </p:blipFill>
        <p:spPr>
          <a:xfrm>
            <a:off x="1745901" y="3182112"/>
            <a:ext cx="391483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Phân rã tách chuỗi thành xu hướng, mùa vụ và phần dư. Kiểu cộng: mùa vụ thêm một lượng cố định. Kiểu nhân: thêm theo %.</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cộng hay nhân</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Biên độ mùa vụ giữ nguyên khi mức đổi thì chọn cộng. Biên độ lớn dần theo mức thì chọn nhân, hoặc lấy log rồi cộng.</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Cộng: mùa hè luôn cao hơn 10 GW, dù mức nền là 80 hay 150 GW. Nhân: nền 100 thì +10, nền 200 thì +20.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Cổ điển, STL, MSTL: mùa vụ cố định hay đổi dần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classical decomposition · STL · MSTL · LOESS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Nhịp ngày của tải điện tháng 7 khác hẳn tháng 1. Phân rã có cho mùa vụ đổi theo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phân rã khớp với việc mùa vụ có đổi theo thời gian hay không.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“Cổ điển: một khuôn mùa vụ cho cả năm; STL: khuôn đổi dần; MSTL: nhiều khuôn, như 24 và 168 giờ.”</a:t>
            </a:r>
          </a:p>
        </p:txBody>
      </p:sp>
      <p:sp>
        <p:nvSpPr>
          <p:cNvPr id="9" name="Rounded Rectangle 8"/>
          <p:cNvSpPr/>
          <p:nvPr/>
        </p:nvSpPr>
        <p:spPr>
          <a:xfrm>
            <a:off x="548640" y="2816351"/>
            <a:ext cx="6309360" cy="87477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20f66cef75d0.png"/>
          <p:cNvPicPr>
            <a:picLocks noChangeAspect="1"/>
          </p:cNvPicPr>
          <p:nvPr/>
        </p:nvPicPr>
        <p:blipFill>
          <a:blip r:embed="rId2"/>
          <a:stretch>
            <a:fillRect/>
          </a:stretch>
        </p:blipFill>
        <p:spPr>
          <a:xfrm>
            <a:off x="998219" y="2880359"/>
            <a:ext cx="5410200" cy="746760"/>
          </a:xfrm>
          <a:prstGeom prst="rect">
            <a:avLst/>
          </a:prstGeom>
        </p:spPr>
      </p:pic>
      <p:pic>
        <p:nvPicPr>
          <p:cNvPr id="11" name="Picture 10" descr="bien-do-ngay.png"/>
          <p:cNvPicPr>
            <a:picLocks noChangeAspect="1"/>
          </p:cNvPicPr>
          <p:nvPr/>
        </p:nvPicPr>
        <p:blipFill>
          <a:blip r:embed="rId3"/>
          <a:stretch>
            <a:fillRect/>
          </a:stretch>
        </p:blipFill>
        <p:spPr>
          <a:xfrm>
            <a:off x="739616" y="3782567"/>
            <a:ext cx="5927407" cy="2709672"/>
          </a:xfrm>
          <a:prstGeom prst="rect">
            <a:avLst/>
          </a:prstGeom>
        </p:spPr>
      </p:pic>
      <p:sp>
        <p:nvSpPr>
          <p:cNvPr id="12" name="TextBox 11"/>
          <p:cNvSpPr txBox="1"/>
          <p:nvPr/>
        </p:nvSpPr>
        <p:spPr>
          <a:xfrm>
            <a:off x="7223760" y="281635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3" name="TextBox 12"/>
          <p:cNvSpPr txBox="1"/>
          <p:nvPr/>
        </p:nvSpPr>
        <p:spPr>
          <a:xfrm>
            <a:off x="7223760" y="3136391"/>
            <a:ext cx="4416552" cy="877823"/>
          </a:xfrm>
          <a:prstGeom prst="rect">
            <a:avLst/>
          </a:prstGeom>
          <a:noFill/>
        </p:spPr>
        <p:txBody>
          <a:bodyPr wrap="square" lIns="0" rIns="0" tIns="0" bIns="0" anchor="t">
            <a:spAutoFit/>
          </a:bodyPr>
          <a:lstStyle/>
          <a:p>
            <a:pPr algn="l"/>
            <a:r>
              <a:rPr sz="1500" b="0" i="0">
                <a:solidFill>
                  <a:srgbClr val="1B2A41"/>
                </a:solidFill>
                <a:latin typeface="Arial"/>
              </a:rPr>
              <a:t>Cổ điển: xu hướng là trung bình trượt đúng một vòng, mùa vụ là trung bình theo vị trí trong vòng. STL lấy trung bình cục bộ (LOESS).</a:t>
            </a:r>
          </a:p>
        </p:txBody>
      </p:sp>
      <p:sp>
        <p:nvSpPr>
          <p:cNvPr id="14" name="TextBox 13"/>
          <p:cNvSpPr txBox="1"/>
          <p:nvPr/>
        </p:nvSpPr>
        <p:spPr>
          <a:xfrm>
            <a:off x="7223760" y="4041648"/>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cách nào</a:t>
            </a:r>
          </a:p>
        </p:txBody>
      </p:sp>
      <p:sp>
        <p:nvSpPr>
          <p:cNvPr id="15" name="TextBox 14"/>
          <p:cNvSpPr txBox="1"/>
          <p:nvPr/>
        </p:nvSpPr>
        <p:spPr>
          <a:xfrm>
            <a:off x="7223760" y="4361688"/>
            <a:ext cx="4416552" cy="877823"/>
          </a:xfrm>
          <a:prstGeom prst="rect">
            <a:avLst/>
          </a:prstGeom>
          <a:noFill/>
        </p:spPr>
        <p:txBody>
          <a:bodyPr wrap="square" lIns="0" rIns="0" tIns="0" bIns="0" anchor="t">
            <a:spAutoFit/>
          </a:bodyPr>
          <a:lstStyle/>
          <a:p>
            <a:pPr algn="l"/>
            <a:r>
              <a:rPr sz="1500" b="0" i="0">
                <a:solidFill>
                  <a:srgbClr val="1B2A41"/>
                </a:solidFill>
                <a:latin typeface="Arial"/>
              </a:rPr>
              <a:t>Hình dạng mùa vụ đổi theo mùa thì dùng STL/MSTL, không phải phân rã nhân. Phần dư nhỏ bất thường có thể do cửa sổ xu hướng quá ngắn.</a:t>
            </a:r>
          </a:p>
        </p:txBody>
      </p:sp>
      <p:sp>
        <p:nvSpPr>
          <p:cNvPr id="16" name="TextBox 15"/>
          <p:cNvSpPr txBox="1"/>
          <p:nvPr/>
        </p:nvSpPr>
        <p:spPr>
          <a:xfrm>
            <a:off x="7223760" y="526694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7" name="TextBox 16"/>
          <p:cNvSpPr txBox="1"/>
          <p:nvPr/>
        </p:nvSpPr>
        <p:spPr>
          <a:xfrm>
            <a:off x="7223760" y="5586983"/>
            <a:ext cx="4416552" cy="877823"/>
          </a:xfrm>
          <a:prstGeom prst="rect">
            <a:avLst/>
          </a:prstGeom>
          <a:noFill/>
        </p:spPr>
        <p:txBody>
          <a:bodyPr wrap="square" lIns="0" rIns="0" tIns="0" bIns="0" anchor="t">
            <a:spAutoFit/>
          </a:bodyPr>
          <a:lstStyle/>
          <a:p>
            <a:pPr algn="l"/>
            <a:r>
              <a:rPr sz="1500" b="0" i="0">
                <a:solidFill>
                  <a:srgbClr val="1B2A41"/>
                </a:solidFill>
                <a:latin typeface="Arial"/>
              </a:rPr>
              <a:t>Mùa vụ ngày của PJM: tháng 1 hai đỉnh sáng và tối, tháng 7 một đỉnh chiều. Một khuôn cố định không chứa được cả hai.</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Tỷ lệ mẫu hình: phần dư còn nhịp lịch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residual pattern ratio · calendar grouping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Phân rã xong, phần dư trông lộn xộn. Nó đã hết nhịp theo giờ, theo tháng chưa?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một phân rã đã lấy hết mùa vụ chưa bằng một con số, không chỉ bằng mắt.</a:t>
            </a:r>
          </a:p>
        </p:txBody>
      </p:sp>
      <p:pic>
        <p:nvPicPr>
          <p:cNvPr id="8" name="Picture 7" descr="phan-du-so-sanh.png"/>
          <p:cNvPicPr>
            <a:picLocks noChangeAspect="1"/>
          </p:cNvPicPr>
          <p:nvPr/>
        </p:nvPicPr>
        <p:blipFill>
          <a:blip r:embed="rId2"/>
          <a:stretch>
            <a:fillRect/>
          </a:stretch>
        </p:blipFill>
        <p:spPr>
          <a:xfrm>
            <a:off x="822934" y="2432303"/>
            <a:ext cx="5760771" cy="4059935"/>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Nhóm phần dư theo lịch (tháng × giờ, thứ × giờ), lấy trung bình mỗi nhóm, rồi đo các trung bình đó lệch nhau cỡ nào so với dao động của cả chuỗi.</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PJM 2024, nhóm tháng × giờ</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0,0006</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MSTL (24, 168): phần dư gần như sạch</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0,102</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cổ điển chu kỳ 24: một phần mười còn là mẫu hình</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Phần dư sáng −3, −5; chiều +3, +5: trung bình nhóm −4 và +4, phương sai 32. Chuỗi có phương sai 320 thì tỷ lệ 0,1: còn nhịp sáng – chiều.</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STL: mùa vụ lấy trung bình cục bộ, đổi dần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STL · LOESS (local regression) · trend window</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Mùa vụ lớn dần qua các năm. Một khuôn mùa vụ cố định sẽ bỏ sót điều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vì sao STL cho mùa vụ tháng 7 khác tháng 1, còn phân rã cổ điển thì không.</a:t>
            </a:r>
          </a:p>
        </p:txBody>
      </p:sp>
      <p:pic>
        <p:nvPicPr>
          <p:cNvPr id="8" name="Picture 7" descr="kn-stl-loess.png"/>
          <p:cNvPicPr>
            <a:picLocks noChangeAspect="1"/>
          </p:cNvPicPr>
          <p:nvPr/>
        </p:nvPicPr>
        <p:blipFill>
          <a:blip r:embed="rId2"/>
          <a:stretch>
            <a:fillRect/>
          </a:stretch>
        </p:blipFill>
        <p:spPr>
          <a:xfrm>
            <a:off x="548640" y="2837408"/>
            <a:ext cx="6309360" cy="3249727"/>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Cổ điển lấy một trung bình cho mọi quý 1 của mọi năm. STL dùng LOESS: mùa vụ mỗi năm chỉ nhìn vài năm lân cận, năm gần nặng hơn.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Cửa sổ xu hướng quá ngắn</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Xu hướng mềm quá thì ôm luôn nhịp tuần lẫn thời tiết, phần dư nhỏ giả tạo: STL(period = 24) trên PJM còn 2,8 GW², MSTL 16,5 GW².</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Quý 1 trừ xu hướng qua 5 năm: 2, 4, 6, 8, 10. Cổ điển: mùa vụ 6, phần dư −4 tới 4. Trung bình 3 năm: 3, 4, 6, 8, 9, phần dư −1 tới 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F_S: mùa vụ mạnh tới đâu so với nhiễu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strength of trend F_T · strength of seasonality F_S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con số để so mùa vụ mạnh hay yếu giữa các chuỗi.</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91e384f72b6.png"/>
          <p:cNvPicPr>
            <a:picLocks noChangeAspect="1"/>
          </p:cNvPicPr>
          <p:nvPr/>
        </p:nvPicPr>
        <p:blipFill>
          <a:blip r:embed="rId2"/>
          <a:stretch>
            <a:fillRect/>
          </a:stretch>
        </p:blipFill>
        <p:spPr>
          <a:xfrm>
            <a:off x="2058924" y="2205228"/>
            <a:ext cx="3288792" cy="381000"/>
          </a:xfrm>
          <a:prstGeom prst="rect">
            <a:avLst/>
          </a:prstGeom>
        </p:spPr>
      </p:pic>
      <p:pic>
        <p:nvPicPr>
          <p:cNvPr id="9" name="Picture 8" descr="kn-do-manh-xu-huong-mua-vu.png"/>
          <p:cNvPicPr>
            <a:picLocks noChangeAspect="1"/>
          </p:cNvPicPr>
          <p:nvPr/>
        </p:nvPicPr>
        <p:blipFill>
          <a:blip r:embed="rId3"/>
          <a:stretch>
            <a:fillRect/>
          </a:stretch>
        </p:blipFill>
        <p:spPr>
          <a:xfrm>
            <a:off x="548640" y="3109526"/>
            <a:ext cx="6309360" cy="3089539"/>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F_S = 1 − Var(phần dư) / Var(mùa vụ + phần dư). F_T tính giống vậy cho xu hướng.</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Cao hay thấp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mùa vụ chìm trong nhiễu</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0,5</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vừa phải</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mùa vụ lấn át nhiễu</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PJM 2024, mùa vụ 24 giờ: 0,618 nếu phân rã cổ điển, 0,829 nếu MSTL. Vì vậy luôn ghi kèm tên cách phân rã.</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Robust: bớt tin điểm có phần dư quá lớn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robust decomposition · robustness weights (bisquare)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Một giờ báo 56.260 MW giữa hai giờ khoảng 95.000 MW. Lỗi đó có kéo méo cả mùa vụ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giờ số liệu hỏng không được làm méo xu hướng và mùa vụ của cả tuần.</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ff171103745.png"/>
          <p:cNvPicPr>
            <a:picLocks noChangeAspect="1"/>
          </p:cNvPicPr>
          <p:nvPr/>
        </p:nvPicPr>
        <p:blipFill>
          <a:blip r:embed="rId2"/>
          <a:stretch>
            <a:fillRect/>
          </a:stretch>
        </p:blipFill>
        <p:spPr>
          <a:xfrm>
            <a:off x="640080" y="2587455"/>
            <a:ext cx="6126480" cy="348065"/>
          </a:xfrm>
          <a:prstGeom prst="rect">
            <a:avLst/>
          </a:prstGeom>
        </p:spPr>
      </p:pic>
      <p:pic>
        <p:nvPicPr>
          <p:cNvPr id="10" name="Picture 9" descr="robust.png"/>
          <p:cNvPicPr>
            <a:picLocks noChangeAspect="1"/>
          </p:cNvPicPr>
          <p:nvPr/>
        </p:nvPicPr>
        <p:blipFill>
          <a:blip r:embed="rId3"/>
          <a:stretch>
            <a:fillRect/>
          </a:stretch>
        </p:blipFill>
        <p:spPr>
          <a:xfrm>
            <a:off x="1149547" y="3182112"/>
            <a:ext cx="5107544"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Phân rã hai lượt. Lượt sau cho điểm có phần dư lớn trọng số nhỏ, tới 0. Điểm không bị xoá mà nằm lại trong phần dư.</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Cứu được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một giờ hỏng</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cứu được: lỗi nằm gọn trong phần dư</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đợt nóng nhiều ngày</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không cứu được: cần biến nhiệt độ</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PJM, 17:00 UTC ngày 20/11 (không có lỗi): mùa vụ ngày −4.051 MW khi không robust, +2.117 MW khi robust.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Ba hình dạng ACF cần nhận ra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“ACF quanh 0 là nhiễu trắng, giảm rất chậm là chưa dừng, có đỉnh đều là mùa vụ.”</a:t>
            </a:r>
          </a:p>
        </p:txBody>
      </p:sp>
      <p:pic>
        <p:nvPicPr>
          <p:cNvPr id="6" name="Picture 5" descr="ba-hinh-acf.png"/>
          <p:cNvPicPr>
            <a:picLocks noChangeAspect="1"/>
          </p:cNvPicPr>
          <p:nvPr/>
        </p:nvPicPr>
        <p:blipFill>
          <a:blip r:embed="rId2"/>
          <a:stretch>
            <a:fillRect/>
          </a:stretch>
        </p:blipFill>
        <p:spPr>
          <a:xfrm>
            <a:off x="548640" y="1801368"/>
            <a:ext cx="11091672" cy="3044952"/>
          </a:xfrm>
          <a:prstGeom prst="rect">
            <a:avLst/>
          </a:prstGeom>
        </p:spPr>
      </p:pic>
      <p:sp>
        <p:nvSpPr>
          <p:cNvPr id="7" name="Rounded Rectangle 6"/>
          <p:cNvSpPr/>
          <p:nvPr/>
        </p:nvSpPr>
        <p:spPr>
          <a:xfrm>
            <a:off x="548640" y="4983480"/>
            <a:ext cx="3575304" cy="150876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0F8B8D"/>
                </a:solidFill>
                <a:latin typeface="Arial"/>
              </a:rPr>
              <a:t>Nhiễu trắng</a:t>
            </a:r>
          </a:p>
        </p:txBody>
      </p:sp>
      <p:sp>
        <p:nvSpPr>
          <p:cNvPr id="9" name="TextBox 8"/>
          <p:cNvSpPr txBox="1"/>
          <p:nvPr/>
        </p:nvSpPr>
        <p:spPr>
          <a:xfrm>
            <a:off x="777240" y="5394960"/>
            <a:ext cx="3118104" cy="105156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Quá khứ không có “ký ức” về tương lai: mọi r_k quanh 0, trong dải xám ±1,96/√T.</a:t>
            </a:r>
          </a:p>
        </p:txBody>
      </p:sp>
      <p:sp>
        <p:nvSpPr>
          <p:cNvPr id="10" name="Rounded Rectangle 9"/>
          <p:cNvSpPr/>
          <p:nvPr/>
        </p:nvSpPr>
        <p:spPr>
          <a:xfrm>
            <a:off x="4306824" y="4983480"/>
            <a:ext cx="3575304" cy="150876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0F8B8D"/>
                </a:solidFill>
                <a:latin typeface="Arial"/>
              </a:rPr>
              <a:t>Xu hướng, random walk</a:t>
            </a:r>
          </a:p>
        </p:txBody>
      </p:sp>
      <p:sp>
        <p:nvSpPr>
          <p:cNvPr id="12" name="TextBox 11"/>
          <p:cNvSpPr txBox="1"/>
          <p:nvPr/>
        </p:nvSpPr>
        <p:spPr>
          <a:xfrm>
            <a:off x="4535424" y="5394960"/>
            <a:ext cx="3118104" cy="105156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r1 gần 1 và r_k giảm rất chậm khi k tăng: chuỗi chưa dừng. Nhìn ACF chưa tách được hai loại này.</a:t>
            </a:r>
          </a:p>
        </p:txBody>
      </p:sp>
      <p:sp>
        <p:nvSpPr>
          <p:cNvPr id="13" name="Rounded Rectangle 12"/>
          <p:cNvSpPr/>
          <p:nvPr/>
        </p:nvSpPr>
        <p:spPr>
          <a:xfrm>
            <a:off x="8065008" y="4983480"/>
            <a:ext cx="3575304" cy="150876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0F8B8D"/>
                </a:solidFill>
                <a:latin typeface="Arial"/>
              </a:rPr>
              <a:t>Mùa vụ</a:t>
            </a:r>
          </a:p>
        </p:txBody>
      </p:sp>
      <p:sp>
        <p:nvSpPr>
          <p:cNvPr id="15" name="TextBox 14"/>
          <p:cNvSpPr txBox="1"/>
          <p:nvPr/>
        </p:nvSpPr>
        <p:spPr>
          <a:xfrm>
            <a:off x="8293608" y="5394960"/>
            <a:ext cx="3118104" cy="105156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r_k có đỉnh ở bội số của chu kỳ: 24, 48… với dữ liệu giờ; thêm đỉnh cao hơn ở 168 nếu có nhịp tuần.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Mô hình AR: một phần hôm qua cộng nhiễu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autoregressive model AR(1) · coefficient ρ (φ)</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mô hình nhỏ để hiểu tự tương quan, PACF, tính dừng và prewhitening.</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1c50febc70.png"/>
          <p:cNvPicPr>
            <a:picLocks noChangeAspect="1"/>
          </p:cNvPicPr>
          <p:nvPr/>
        </p:nvPicPr>
        <p:blipFill>
          <a:blip r:embed="rId2"/>
          <a:stretch>
            <a:fillRect/>
          </a:stretch>
        </p:blipFill>
        <p:spPr>
          <a:xfrm>
            <a:off x="2788920" y="2281427"/>
            <a:ext cx="1828800" cy="228600"/>
          </a:xfrm>
          <a:prstGeom prst="rect">
            <a:avLst/>
          </a:prstGeom>
        </p:spPr>
      </p:pic>
      <p:pic>
        <p:nvPicPr>
          <p:cNvPr id="9" name="Picture 8" descr="kn-tu-tuong-quan.png"/>
          <p:cNvPicPr>
            <a:picLocks noChangeAspect="1"/>
          </p:cNvPicPr>
          <p:nvPr/>
        </p:nvPicPr>
        <p:blipFill>
          <a:blip r:embed="rId3"/>
          <a:stretch>
            <a:fillRect/>
          </a:stretch>
        </p:blipFill>
        <p:spPr>
          <a:xfrm>
            <a:off x="548640" y="3012270"/>
            <a:ext cx="6309360" cy="3284051"/>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AR(1): giá trị mới = ρ × giá trị cũ + một phần ngẫu nhiên. AR(p) dùng p bước trước. ρ (hay φ) là hệ số, từ −1 tới 1.</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ρ lớn hay nhỏ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nhiễu trắng, không nhớ gì</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0,7</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nhớ, rồi kéo về mức: dừng</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1</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random walk, không quay về</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Trung bình 0, đang ở 10, ρ = 0,7: kỳ vọng bước sau 7, rồi 4,9, dần về 0. ρ = 1: kỳ vọng mãi là 10.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PACF: trễ xa còn thêm gì sau trễ gần?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partial autocorrelation function (PACF) · AR(1)</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cần bao nhiêu bước quá khứ để dự báo, tức bậc AR.</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“Sau khi biết quá khứ gần, quá khứ xa còn thông tin gì?”</a:t>
            </a:r>
          </a:p>
        </p:txBody>
      </p:sp>
      <p:sp>
        <p:nvSpPr>
          <p:cNvPr id="8" name="Rounded Rectangle 7"/>
          <p:cNvSpPr/>
          <p:nvPr/>
        </p:nvSpPr>
        <p:spPr>
          <a:xfrm>
            <a:off x="548640" y="245059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9098aae50aa.png"/>
          <p:cNvPicPr>
            <a:picLocks noChangeAspect="1"/>
          </p:cNvPicPr>
          <p:nvPr/>
        </p:nvPicPr>
        <p:blipFill>
          <a:blip r:embed="rId2"/>
          <a:stretch>
            <a:fillRect/>
          </a:stretch>
        </p:blipFill>
        <p:spPr>
          <a:xfrm>
            <a:off x="3055620" y="2526792"/>
            <a:ext cx="1295400" cy="505968"/>
          </a:xfrm>
          <a:prstGeom prst="rect">
            <a:avLst/>
          </a:prstGeom>
        </p:spPr>
      </p:pic>
      <p:pic>
        <p:nvPicPr>
          <p:cNvPr id="10" name="Picture 9" descr="bon-chuoi.png"/>
          <p:cNvPicPr>
            <a:picLocks noChangeAspect="1"/>
          </p:cNvPicPr>
          <p:nvPr/>
        </p:nvPicPr>
        <p:blipFill>
          <a:blip r:embed="rId3"/>
          <a:stretch>
            <a:fillRect/>
          </a:stretch>
        </p:blipFill>
        <p:spPr>
          <a:xfrm>
            <a:off x="1860632" y="3200399"/>
            <a:ext cx="3685375" cy="3291840"/>
          </a:xfrm>
          <a:prstGeom prst="rect">
            <a:avLst/>
          </a:prstGeom>
        </p:spPr>
      </p:pic>
      <p:sp>
        <p:nvSpPr>
          <p:cNvPr id="11" name="TextBox 10"/>
          <p:cNvSpPr txBox="1"/>
          <p:nvPr/>
        </p:nvSpPr>
        <p:spPr>
          <a:xfrm>
            <a:off x="7223760" y="245059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70632"/>
            <a:ext cx="4416552" cy="999743"/>
          </a:xfrm>
          <a:prstGeom prst="rect">
            <a:avLst/>
          </a:prstGeom>
          <a:noFill/>
        </p:spPr>
        <p:txBody>
          <a:bodyPr wrap="square" lIns="0" rIns="0" tIns="0" bIns="0" anchor="t">
            <a:spAutoFit/>
          </a:bodyPr>
          <a:lstStyle/>
          <a:p>
            <a:pPr algn="l"/>
            <a:r>
              <a:rPr sz="1500" b="0" i="0">
                <a:solidFill>
                  <a:srgbClr val="1B2A41"/>
                </a:solidFill>
                <a:latin typeface="Arial"/>
              </a:rPr>
              <a:t>Như tin đồn A → B → C: biết B rồi thì A không cho C thêm gì. PACF trễ k là phần tương quan còn lại sau khi bỏ phần các trễ ngắn hơn đã giải thích.</a:t>
            </a:r>
          </a:p>
        </p:txBody>
      </p:sp>
      <p:sp>
        <p:nvSpPr>
          <p:cNvPr id="13" name="TextBox 12"/>
          <p:cNvSpPr txBox="1"/>
          <p:nvPr/>
        </p:nvSpPr>
        <p:spPr>
          <a:xfrm>
            <a:off x="7223760" y="379780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4" name="TextBox 13"/>
          <p:cNvSpPr txBox="1"/>
          <p:nvPr/>
        </p:nvSpPr>
        <p:spPr>
          <a:xfrm>
            <a:off x="7223760" y="4117847"/>
            <a:ext cx="4416552" cy="999743"/>
          </a:xfrm>
          <a:prstGeom prst="rect">
            <a:avLst/>
          </a:prstGeom>
          <a:noFill/>
        </p:spPr>
        <p:txBody>
          <a:bodyPr wrap="square" lIns="0" rIns="0" tIns="0" bIns="0" anchor="t">
            <a:spAutoFit/>
          </a:bodyPr>
          <a:lstStyle/>
          <a:p>
            <a:pPr algn="l"/>
            <a:r>
              <a:rPr sz="1500" b="0" i="0">
                <a:solidFill>
                  <a:srgbClr val="1B2A41"/>
                </a:solidFill>
                <a:latin typeface="Arial"/>
              </a:rPr>
              <a:t>PACF cao ở trễ 1 rồi tắt hẳn: chỉ cần hôm qua, tức AR(1). ACF giảm rất chậm qua nhiều trễ: chuỗi chưa dừng.</a:t>
            </a:r>
          </a:p>
        </p:txBody>
      </p:sp>
      <p:sp>
        <p:nvSpPr>
          <p:cNvPr id="15" name="TextBox 14"/>
          <p:cNvSpPr txBox="1"/>
          <p:nvPr/>
        </p:nvSpPr>
        <p:spPr>
          <a:xfrm>
            <a:off x="7223760" y="514502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65064"/>
            <a:ext cx="4416552" cy="999743"/>
          </a:xfrm>
          <a:prstGeom prst="rect">
            <a:avLst/>
          </a:prstGeom>
          <a:noFill/>
        </p:spPr>
        <p:txBody>
          <a:bodyPr wrap="square" lIns="0" rIns="0" tIns="0" bIns="0" anchor="t">
            <a:spAutoFit/>
          </a:bodyPr>
          <a:lstStyle/>
          <a:p>
            <a:pPr algn="l"/>
            <a:r>
              <a:rPr sz="1500" b="0" i="0">
                <a:solidFill>
                  <a:srgbClr val="1B2A41"/>
                </a:solidFill>
                <a:latin typeface="Arial"/>
              </a:rPr>
              <a:t>AR(1), φ = 0,7: r1 = 0,7, r2 = 0,49, PACF(2) = (0,49 − 0,49) / (1 − 0,49) = 0. Chuỗi có r1 = 0,5, r2 = 0,4: (0,4 − 0,25) / 0,75 = 0,2, trễ 2 có thông tin riêng.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Đừng đếm cột vượt dải: dùng Ljung-Box</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Ljung–Box test · white noise · model_df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xong, phần sai số còn sót quy luật nào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một chuỗi, hay phần dư của mô hình, đã hết quy luật chưa, bằng một con số.</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“Ljung-Box hỏi: các ACF từ trễ 1 tới trễ ℓ có cùng bằng 0 không?”</a:t>
            </a:r>
          </a:p>
        </p:txBody>
      </p:sp>
      <p:sp>
        <p:nvSpPr>
          <p:cNvPr id="9" name="Rounded Rectangle 8"/>
          <p:cNvSpPr/>
          <p:nvPr/>
        </p:nvSpPr>
        <p:spPr>
          <a:xfrm>
            <a:off x="548640" y="2816351"/>
            <a:ext cx="11091672"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82600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25492fc6d284.png"/>
          <p:cNvPicPr>
            <a:picLocks noChangeAspect="1"/>
          </p:cNvPicPr>
          <p:nvPr/>
        </p:nvPicPr>
        <p:blipFill>
          <a:blip r:embed="rId2"/>
          <a:stretch>
            <a:fillRect/>
          </a:stretch>
        </p:blipFill>
        <p:spPr>
          <a:xfrm>
            <a:off x="1783080" y="2880359"/>
            <a:ext cx="2575560" cy="697992"/>
          </a:xfrm>
          <a:prstGeom prst="rect">
            <a:avLst/>
          </a:prstGeom>
        </p:spPr>
      </p:pic>
      <p:sp>
        <p:nvSpPr>
          <p:cNvPr id="12" name="TextBox 11"/>
          <p:cNvSpPr txBox="1"/>
          <p:nvPr/>
        </p:nvSpPr>
        <p:spPr>
          <a:xfrm>
            <a:off x="5602071" y="2816351"/>
            <a:ext cx="5901080" cy="826008"/>
          </a:xfrm>
          <a:prstGeom prst="rect">
            <a:avLst/>
          </a:prstGeom>
          <a:noFill/>
        </p:spPr>
        <p:txBody>
          <a:bodyPr wrap="square" lIns="0" rIns="0" tIns="0" bIns="0" anchor="ctr">
            <a:spAutoFit/>
          </a:bodyPr>
          <a:lstStyle/>
          <a:p>
            <a:pPr algn="l"/>
            <a:r>
              <a:rPr sz="1150" b="0" i="0">
                <a:solidFill>
                  <a:srgbClr val="1B2A41"/>
                </a:solidFill>
                <a:latin typeface="Arial"/>
              </a:rPr>
              <a:t>Gộp bình phương ACF của ℓ trễ đầu. Q* lớn thì p nhỏ: còn quy luật.</a:t>
            </a:r>
          </a:p>
        </p:txBody>
      </p:sp>
      <p:pic>
        <p:nvPicPr>
          <p:cNvPr id="13" name="Picture 12" descr="nhieu-trang.png"/>
          <p:cNvPicPr>
            <a:picLocks noChangeAspect="1"/>
          </p:cNvPicPr>
          <p:nvPr/>
        </p:nvPicPr>
        <p:blipFill>
          <a:blip r:embed="rId3"/>
          <a:stretch>
            <a:fillRect/>
          </a:stretch>
        </p:blipFill>
        <p:spPr>
          <a:xfrm>
            <a:off x="4330010" y="3733799"/>
            <a:ext cx="3528930" cy="120396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Nhiễu trắng: mọi r_k thật đều bằng 0. Ljung-Box gộp ACF của nhiều trễ vào một kiểm định, H0: chuỗi là nhiễu trắng.</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p lớn hay nhỏ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p &lt; 0,05</a:t>
            </a:r>
          </a:p>
        </p:txBody>
      </p:sp>
      <p:sp>
        <p:nvSpPr>
          <p:cNvPr id="23" name="TextBox 22"/>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còn quy luật chưa khai thác</a:t>
            </a:r>
          </a:p>
        </p:txBody>
      </p:sp>
      <p:sp>
        <p:nvSpPr>
          <p:cNvPr id="24" name="Oval 23"/>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p ≥ 0,05</a:t>
            </a:r>
          </a:p>
        </p:txBody>
      </p:sp>
      <p:sp>
        <p:nvSpPr>
          <p:cNvPr id="26" name="TextBox 25"/>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chưa thấy quy luật nào còn sót</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Mỗi cột có 5% khả năng vượt dải dù là nhiễu, nên 20 trễ có trung bình 1 cột vượt; 62% chuỗi nhiễu có ít nhất một cột.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Q* vượt ngưỡng χ² mới là còn quy luật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Ljung–Box Q* · χ² distribution · degrees of freedom (model_df)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Q* = 5,16 là lớn hay nhỏ? Phải so với ngưỡng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tính, tự đọc con số Ljung-Box, và khai đúng bậc tự do khi kiểm sai số của mô hình.</a:t>
            </a:r>
          </a:p>
        </p:txBody>
      </p:sp>
      <p:sp>
        <p:nvSpPr>
          <p:cNvPr id="8" name="Rounded Rectangle 7"/>
          <p:cNvSpPr/>
          <p:nvPr/>
        </p:nvSpPr>
        <p:spPr>
          <a:xfrm>
            <a:off x="548640" y="2432303"/>
            <a:ext cx="6309360"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4b31fa04932e.png"/>
          <p:cNvPicPr>
            <a:picLocks noChangeAspect="1"/>
          </p:cNvPicPr>
          <p:nvPr/>
        </p:nvPicPr>
        <p:blipFill>
          <a:blip r:embed="rId2"/>
          <a:stretch>
            <a:fillRect/>
          </a:stretch>
        </p:blipFill>
        <p:spPr>
          <a:xfrm>
            <a:off x="1030224" y="2496311"/>
            <a:ext cx="5346192" cy="697992"/>
          </a:xfrm>
          <a:prstGeom prst="rect">
            <a:avLst/>
          </a:prstGeom>
        </p:spPr>
      </p:pic>
      <p:pic>
        <p:nvPicPr>
          <p:cNvPr id="10" name="Picture 9" descr="kn-ljung-box.png"/>
          <p:cNvPicPr>
            <a:picLocks noChangeAspect="1"/>
          </p:cNvPicPr>
          <p:nvPr/>
        </p:nvPicPr>
        <p:blipFill>
          <a:blip r:embed="rId3"/>
          <a:stretch>
            <a:fillRect/>
          </a:stretch>
        </p:blipFill>
        <p:spPr>
          <a:xfrm>
            <a:off x="928476" y="3349752"/>
            <a:ext cx="5549686" cy="314248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Nếu chuỗi là nhiễu trắng, Q* theo phân phối χ². Bậc tự do là số trễ gộp vào, trừ số tham số nếu kiểm sai số của một mô hình.</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Ngưỡng 5% của χ²</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2 bậc tự do</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5,99</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8 bậc tự do</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15,51</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10 bậc tự do</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18,31</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100 điểm, r1 = 0,2, r2 = 0,1: Q* ≈ 5,16, nhỏ hơn 5,99 nên chưa bác bỏ nhiễu trắng (p ≈ 0,076). 10 trễ, mô hình 2 tham số: 8 bậc.</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Chuỗi dừng: mức và dao động không đổi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stationarity · white noise · random walk · trend-stationary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Mức và độ dao động của chuỗi có giữ nguyên không? Nếu không, học quá khứ khó dùng cho mai sau.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chuỗi có “mức để quay về” không, để chọn sai phân hay khử xu hướng.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“Như phòng máy lạnh đặt 25 °C: lúc 24,5, lúc 25,8, nhưng luôn bị kéo về 25.”</a:t>
            </a:r>
          </a:p>
        </p:txBody>
      </p:sp>
      <p:sp>
        <p:nvSpPr>
          <p:cNvPr id="9" name="Rounded Rectangle 8"/>
          <p:cNvSpPr/>
          <p:nvPr/>
        </p:nvSpPr>
        <p:spPr>
          <a:xfrm>
            <a:off x="548640" y="281635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075b285a75a.png"/>
          <p:cNvPicPr>
            <a:picLocks noChangeAspect="1"/>
          </p:cNvPicPr>
          <p:nvPr/>
        </p:nvPicPr>
        <p:blipFill>
          <a:blip r:embed="rId2"/>
          <a:stretch>
            <a:fillRect/>
          </a:stretch>
        </p:blipFill>
        <p:spPr>
          <a:xfrm>
            <a:off x="1709928" y="3012947"/>
            <a:ext cx="3986784" cy="265176"/>
          </a:xfrm>
          <a:prstGeom prst="rect">
            <a:avLst/>
          </a:prstGeom>
        </p:spPr>
      </p:pic>
      <p:pic>
        <p:nvPicPr>
          <p:cNvPr id="11" name="Picture 10" descr="kn-dung.png"/>
          <p:cNvPicPr>
            <a:picLocks noChangeAspect="1"/>
          </p:cNvPicPr>
          <p:nvPr/>
        </p:nvPicPr>
        <p:blipFill>
          <a:blip r:embed="rId3"/>
          <a:stretch>
            <a:fillRect/>
          </a:stretch>
        </p:blipFill>
        <p:spPr>
          <a:xfrm>
            <a:off x="1100796" y="3566160"/>
            <a:ext cx="5205046" cy="2926079"/>
          </a:xfrm>
          <a:prstGeom prst="rect">
            <a:avLst/>
          </a:prstGeom>
        </p:spPr>
      </p:pic>
      <p:sp>
        <p:nvSpPr>
          <p:cNvPr id="12" name="TextBox 11"/>
          <p:cNvSpPr txBox="1"/>
          <p:nvPr/>
        </p:nvSpPr>
        <p:spPr>
          <a:xfrm>
            <a:off x="7223760" y="281635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3" name="TextBox 12"/>
          <p:cNvSpPr txBox="1"/>
          <p:nvPr/>
        </p:nvSpPr>
        <p:spPr>
          <a:xfrm>
            <a:off x="7223760" y="3136391"/>
            <a:ext cx="4416552" cy="877823"/>
          </a:xfrm>
          <a:prstGeom prst="rect">
            <a:avLst/>
          </a:prstGeom>
          <a:noFill/>
        </p:spPr>
        <p:txBody>
          <a:bodyPr wrap="square" lIns="0" rIns="0" tIns="0" bIns="0" anchor="t">
            <a:spAutoFit/>
          </a:bodyPr>
          <a:lstStyle/>
          <a:p>
            <a:pPr algn="l"/>
            <a:r>
              <a:rPr sz="1500" b="0" i="0">
                <a:solidFill>
                  <a:srgbClr val="1B2A41"/>
                </a:solidFill>
                <a:latin typeface="Arial"/>
              </a:rPr>
              <a:t>Mức trung bình, độ dao động và tự tương quan (chỉ phụ thuộc khoảng cách k) không đổi theo thời gian. Chu kỳ dài ngắn không đều vẫn có thể dừng.</a:t>
            </a:r>
          </a:p>
        </p:txBody>
      </p:sp>
      <p:sp>
        <p:nvSpPr>
          <p:cNvPr id="14" name="TextBox 13"/>
          <p:cNvSpPr txBox="1"/>
          <p:nvPr/>
        </p:nvSpPr>
        <p:spPr>
          <a:xfrm>
            <a:off x="7223760" y="404164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5" name="TextBox 14"/>
          <p:cNvSpPr txBox="1"/>
          <p:nvPr/>
        </p:nvSpPr>
        <p:spPr>
          <a:xfrm>
            <a:off x="7223760" y="4361688"/>
            <a:ext cx="4416552" cy="877823"/>
          </a:xfrm>
          <a:prstGeom prst="rect">
            <a:avLst/>
          </a:prstGeom>
          <a:noFill/>
        </p:spPr>
        <p:txBody>
          <a:bodyPr wrap="square" lIns="0" rIns="0" tIns="0" bIns="0" anchor="t">
            <a:spAutoFit/>
          </a:bodyPr>
          <a:lstStyle/>
          <a:p>
            <a:pPr algn="l"/>
            <a:r>
              <a:rPr sz="1500" b="0" i="0">
                <a:solidFill>
                  <a:srgbClr val="1B2A41"/>
                </a:solidFill>
                <a:latin typeface="Arial"/>
              </a:rPr>
              <a:t>Dừng thì dao động quanh một mức. Dừng quanh xu hướng thì bám một đường. Random walk thì trôi đi, không quay về. Kiểm lại bằng ADF và KPSS.</a:t>
            </a:r>
          </a:p>
        </p:txBody>
      </p:sp>
      <p:sp>
        <p:nvSpPr>
          <p:cNvPr id="16" name="TextBox 15"/>
          <p:cNvSpPr txBox="1"/>
          <p:nvPr/>
        </p:nvSpPr>
        <p:spPr>
          <a:xfrm>
            <a:off x="7223760" y="526694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7" name="TextBox 16"/>
          <p:cNvSpPr txBox="1"/>
          <p:nvPr/>
        </p:nvSpPr>
        <p:spPr>
          <a:xfrm>
            <a:off x="7223760" y="5586983"/>
            <a:ext cx="4416552" cy="877823"/>
          </a:xfrm>
          <a:prstGeom prst="rect">
            <a:avLst/>
          </a:prstGeom>
          <a:noFill/>
        </p:spPr>
        <p:txBody>
          <a:bodyPr wrap="square" lIns="0" rIns="0" tIns="0" bIns="0" anchor="t">
            <a:spAutoFit/>
          </a:bodyPr>
          <a:lstStyle/>
          <a:p>
            <a:pPr algn="l"/>
            <a:r>
              <a:rPr sz="1500" b="0" i="0">
                <a:solidFill>
                  <a:srgbClr val="1B2A41"/>
                </a:solidFill>
                <a:latin typeface="Arial"/>
              </a:rPr>
              <a:t>Chiều cao một đứa trẻ: dừng quanh xu hướng. Số dư tài khoản tiêu lương tuỳ ý: random walk. Đầu tháng luôn đưa về đúng 10 triệu: số dư cuối tháng dừng.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Random walk: càng lâu càng có thể đi xa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random walk · variance grows with √n · naive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Số liệu tăng vài tháng liền: có xu hướng thật, hay chỉ là các bước ngẫu nhiên cộng dồn?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vì sao random walk không dừng, phải sai phân, và dự báo tốt nhất là giá trị cuối.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34acc1a7915.png"/>
          <p:cNvPicPr>
            <a:picLocks noChangeAspect="1"/>
          </p:cNvPicPr>
          <p:nvPr/>
        </p:nvPicPr>
        <p:blipFill>
          <a:blip r:embed="rId2"/>
          <a:stretch>
            <a:fillRect/>
          </a:stretch>
        </p:blipFill>
        <p:spPr>
          <a:xfrm>
            <a:off x="640080" y="2618063"/>
            <a:ext cx="6126480" cy="286848"/>
          </a:xfrm>
          <a:prstGeom prst="rect">
            <a:avLst/>
          </a:prstGeom>
        </p:spPr>
      </p:pic>
      <p:pic>
        <p:nvPicPr>
          <p:cNvPr id="10" name="Picture 9" descr="kn-random-walk.png"/>
          <p:cNvPicPr>
            <a:picLocks noChangeAspect="1"/>
          </p:cNvPicPr>
          <p:nvPr/>
        </p:nvPicPr>
        <p:blipFill>
          <a:blip r:embed="rId3"/>
          <a:stretch>
            <a:fillRect/>
          </a:stretch>
        </p:blipFill>
        <p:spPr>
          <a:xfrm>
            <a:off x="548640" y="3244306"/>
            <a:ext cx="6309360" cy="31857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Vị trí mới bằng vị trí cũ cộng một bước ngẫu nhiên. Không có mức để quay về, nên độ dao động nở ra theo căn bậc hai số bước.</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Độ lệch chuẩn vị trí, 10.000 người mô phỏng</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4 bước</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2,0</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25 bước</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5,0</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100 bước</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10,1</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Sáu lần tung +1, −1, +1, +1, −1, +1: vị trí 1, 0, 1, 2, 1, 2. Số bước gấp 25 lần thì độ lệch chuẩn gấp 5 lần.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Bốn chuỗi mẫu: nhớ gì, có dừng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“Mẹo nhớ: random walk thì sai phân; dừng quanh xu hướng thì khử xu hướng.”</a:t>
            </a:r>
          </a:p>
        </p:txBody>
      </p:sp>
      <p:sp>
        <p:nvSpPr>
          <p:cNvPr id="6" name="Rectangle 5"/>
          <p:cNvSpPr/>
          <p:nvPr/>
        </p:nvSpPr>
        <p:spPr>
          <a:xfrm>
            <a:off x="548640" y="1847088"/>
            <a:ext cx="1920240"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Chuỗi mẫu</a:t>
            </a:r>
          </a:p>
        </p:txBody>
      </p:sp>
      <p:sp>
        <p:nvSpPr>
          <p:cNvPr id="7" name="Rectangle 6"/>
          <p:cNvSpPr/>
          <p:nvPr/>
        </p:nvSpPr>
        <p:spPr>
          <a:xfrm>
            <a:off x="2468880" y="1847088"/>
            <a:ext cx="2651760"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Công thức</a:t>
            </a:r>
          </a:p>
        </p:txBody>
      </p:sp>
      <p:sp>
        <p:nvSpPr>
          <p:cNvPr id="8" name="Rectangle 7"/>
          <p:cNvSpPr/>
          <p:nvPr/>
        </p:nvSpPr>
        <p:spPr>
          <a:xfrm>
            <a:off x="5120640" y="1847088"/>
            <a:ext cx="2194560"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Nhớ quá khứ?</a:t>
            </a:r>
          </a:p>
        </p:txBody>
      </p:sp>
      <p:sp>
        <p:nvSpPr>
          <p:cNvPr id="9" name="Rectangle 8"/>
          <p:cNvSpPr/>
          <p:nvPr/>
        </p:nvSpPr>
        <p:spPr>
          <a:xfrm>
            <a:off x="7315200" y="1847088"/>
            <a:ext cx="1783080"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Dừng?</a:t>
            </a:r>
          </a:p>
        </p:txBody>
      </p:sp>
      <p:sp>
        <p:nvSpPr>
          <p:cNvPr id="10" name="Rectangle 9"/>
          <p:cNvSpPr/>
          <p:nvPr/>
        </p:nvSpPr>
        <p:spPr>
          <a:xfrm>
            <a:off x="9098280" y="1847088"/>
            <a:ext cx="1280160"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r1 / r30</a:t>
            </a:r>
          </a:p>
        </p:txBody>
      </p:sp>
      <p:sp>
        <p:nvSpPr>
          <p:cNvPr id="11" name="Rectangle 10"/>
          <p:cNvSpPr/>
          <p:nvPr/>
        </p:nvSpPr>
        <p:spPr>
          <a:xfrm>
            <a:off x="10378440" y="1847088"/>
            <a:ext cx="1261872" cy="62179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Chữa</a:t>
            </a:r>
          </a:p>
        </p:txBody>
      </p:sp>
      <p:sp>
        <p:nvSpPr>
          <p:cNvPr id="12" name="Rectangle 11"/>
          <p:cNvSpPr/>
          <p:nvPr/>
        </p:nvSpPr>
        <p:spPr>
          <a:xfrm>
            <a:off x="548640" y="2468880"/>
            <a:ext cx="192024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nhiễu trắng</a:t>
            </a:r>
          </a:p>
        </p:txBody>
      </p:sp>
      <p:sp>
        <p:nvSpPr>
          <p:cNvPr id="13" name="Rectangle 12"/>
          <p:cNvSpPr/>
          <p:nvPr/>
        </p:nvSpPr>
        <p:spPr>
          <a:xfrm>
            <a:off x="2468880" y="2468880"/>
            <a:ext cx="26517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y_t = ε_t</a:t>
            </a:r>
          </a:p>
        </p:txBody>
      </p:sp>
      <p:sp>
        <p:nvSpPr>
          <p:cNvPr id="14" name="Rectangle 13"/>
          <p:cNvSpPr/>
          <p:nvPr/>
        </p:nvSpPr>
        <p:spPr>
          <a:xfrm>
            <a:off x="5120640" y="2468880"/>
            <a:ext cx="21945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không nhớ gì</a:t>
            </a:r>
          </a:p>
        </p:txBody>
      </p:sp>
      <p:sp>
        <p:nvSpPr>
          <p:cNvPr id="15" name="Rectangle 14"/>
          <p:cNvSpPr/>
          <p:nvPr/>
        </p:nvSpPr>
        <p:spPr>
          <a:xfrm>
            <a:off x="7315200" y="2468880"/>
            <a:ext cx="1783080" cy="621792"/>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E8449"/>
                </a:solidFill>
                <a:latin typeface="Arial"/>
              </a:rPr>
              <a:t>có</a:t>
            </a:r>
          </a:p>
        </p:txBody>
      </p:sp>
      <p:sp>
        <p:nvSpPr>
          <p:cNvPr id="16" name="Rectangle 15"/>
          <p:cNvSpPr/>
          <p:nvPr/>
        </p:nvSpPr>
        <p:spPr>
          <a:xfrm>
            <a:off x="9098280" y="2468880"/>
            <a:ext cx="12801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0,10 / −0,05</a:t>
            </a:r>
          </a:p>
        </p:txBody>
      </p:sp>
      <p:sp>
        <p:nvSpPr>
          <p:cNvPr id="17" name="Rectangle 16"/>
          <p:cNvSpPr/>
          <p:nvPr/>
        </p:nvSpPr>
        <p:spPr>
          <a:xfrm>
            <a:off x="10378440" y="2468880"/>
            <a:ext cx="1261872"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không cần</a:t>
            </a:r>
          </a:p>
        </p:txBody>
      </p:sp>
      <p:sp>
        <p:nvSpPr>
          <p:cNvPr id="18" name="Rectangle 17"/>
          <p:cNvSpPr/>
          <p:nvPr/>
        </p:nvSpPr>
        <p:spPr>
          <a:xfrm>
            <a:off x="548640" y="3090672"/>
            <a:ext cx="192024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AR(1), φ = 0,7</a:t>
            </a:r>
          </a:p>
        </p:txBody>
      </p:sp>
      <p:sp>
        <p:nvSpPr>
          <p:cNvPr id="19" name="Rectangle 18"/>
          <p:cNvSpPr/>
          <p:nvPr/>
        </p:nvSpPr>
        <p:spPr>
          <a:xfrm>
            <a:off x="2468880" y="3090672"/>
            <a:ext cx="26517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y_t = 0,7·y_(t−1) + ε_t</a:t>
            </a:r>
          </a:p>
        </p:txBody>
      </p:sp>
      <p:sp>
        <p:nvSpPr>
          <p:cNvPr id="20" name="Rectangle 19"/>
          <p:cNvSpPr/>
          <p:nvPr/>
        </p:nvSpPr>
        <p:spPr>
          <a:xfrm>
            <a:off x="5120640" y="3090672"/>
            <a:ext cx="21945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nhớ, rồi kéo về mức</a:t>
            </a:r>
          </a:p>
        </p:txBody>
      </p:sp>
      <p:sp>
        <p:nvSpPr>
          <p:cNvPr id="21" name="Rectangle 20"/>
          <p:cNvSpPr/>
          <p:nvPr/>
        </p:nvSpPr>
        <p:spPr>
          <a:xfrm>
            <a:off x="7315200" y="3090672"/>
            <a:ext cx="1783080" cy="621792"/>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E8449"/>
                </a:solidFill>
                <a:latin typeface="Arial"/>
              </a:rPr>
              <a:t>có</a:t>
            </a:r>
          </a:p>
        </p:txBody>
      </p:sp>
      <p:sp>
        <p:nvSpPr>
          <p:cNvPr id="22" name="Rectangle 21"/>
          <p:cNvSpPr/>
          <p:nvPr/>
        </p:nvSpPr>
        <p:spPr>
          <a:xfrm>
            <a:off x="9098280" y="3090672"/>
            <a:ext cx="12801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0,71 / −0,03</a:t>
            </a:r>
          </a:p>
        </p:txBody>
      </p:sp>
      <p:sp>
        <p:nvSpPr>
          <p:cNvPr id="23" name="Rectangle 22"/>
          <p:cNvSpPr/>
          <p:nvPr/>
        </p:nvSpPr>
        <p:spPr>
          <a:xfrm>
            <a:off x="10378440" y="3090672"/>
            <a:ext cx="1261872"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không cần</a:t>
            </a:r>
          </a:p>
        </p:txBody>
      </p:sp>
      <p:sp>
        <p:nvSpPr>
          <p:cNvPr id="24" name="Rectangle 23"/>
          <p:cNvSpPr/>
          <p:nvPr/>
        </p:nvSpPr>
        <p:spPr>
          <a:xfrm>
            <a:off x="548640" y="3712464"/>
            <a:ext cx="192024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random walk</a:t>
            </a:r>
          </a:p>
        </p:txBody>
      </p:sp>
      <p:sp>
        <p:nvSpPr>
          <p:cNvPr id="25" name="Rectangle 24"/>
          <p:cNvSpPr/>
          <p:nvPr/>
        </p:nvSpPr>
        <p:spPr>
          <a:xfrm>
            <a:off x="2468880" y="3712464"/>
            <a:ext cx="26517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y_t = y_(t−1) + ε_t</a:t>
            </a:r>
          </a:p>
        </p:txBody>
      </p:sp>
      <p:sp>
        <p:nvSpPr>
          <p:cNvPr id="26" name="Rectangle 25"/>
          <p:cNvSpPr/>
          <p:nvPr/>
        </p:nvSpPr>
        <p:spPr>
          <a:xfrm>
            <a:off x="5120640" y="3712464"/>
            <a:ext cx="21945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nhớ mãi, không quay về</a:t>
            </a:r>
          </a:p>
        </p:txBody>
      </p:sp>
      <p:sp>
        <p:nvSpPr>
          <p:cNvPr id="27" name="Rectangle 26"/>
          <p:cNvSpPr/>
          <p:nvPr/>
        </p:nvSpPr>
        <p:spPr>
          <a:xfrm>
            <a:off x="7315200" y="3712464"/>
            <a:ext cx="1783080" cy="621792"/>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C0392B"/>
                </a:solidFill>
                <a:latin typeface="Arial"/>
              </a:rPr>
              <a:t>không</a:t>
            </a:r>
          </a:p>
        </p:txBody>
      </p:sp>
      <p:sp>
        <p:nvSpPr>
          <p:cNvPr id="28" name="Rectangle 27"/>
          <p:cNvSpPr/>
          <p:nvPr/>
        </p:nvSpPr>
        <p:spPr>
          <a:xfrm>
            <a:off x="9098280" y="3712464"/>
            <a:ext cx="1280160" cy="62179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0,98 / 0,53</a:t>
            </a:r>
          </a:p>
        </p:txBody>
      </p:sp>
      <p:sp>
        <p:nvSpPr>
          <p:cNvPr id="29" name="Rectangle 28"/>
          <p:cNvSpPr/>
          <p:nvPr/>
        </p:nvSpPr>
        <p:spPr>
          <a:xfrm>
            <a:off x="10378440" y="3712464"/>
            <a:ext cx="1261872" cy="621792"/>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C0392B"/>
                </a:solidFill>
                <a:latin typeface="Arial"/>
              </a:rPr>
              <a:t>sai phân</a:t>
            </a:r>
          </a:p>
        </p:txBody>
      </p:sp>
      <p:sp>
        <p:nvSpPr>
          <p:cNvPr id="30" name="Rectangle 29"/>
          <p:cNvSpPr/>
          <p:nvPr/>
        </p:nvSpPr>
        <p:spPr>
          <a:xfrm>
            <a:off x="548640" y="4334256"/>
            <a:ext cx="192024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xu hướng</a:t>
            </a:r>
          </a:p>
        </p:txBody>
      </p:sp>
      <p:sp>
        <p:nvSpPr>
          <p:cNvPr id="31" name="Rectangle 30"/>
          <p:cNvSpPr/>
          <p:nvPr/>
        </p:nvSpPr>
        <p:spPr>
          <a:xfrm>
            <a:off x="2468880" y="4334256"/>
            <a:ext cx="26517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y_t = 0,05·t + ε_t</a:t>
            </a:r>
          </a:p>
        </p:txBody>
      </p:sp>
      <p:sp>
        <p:nvSpPr>
          <p:cNvPr id="32" name="Rectangle 31"/>
          <p:cNvSpPr/>
          <p:nvPr/>
        </p:nvSpPr>
        <p:spPr>
          <a:xfrm>
            <a:off x="5120640" y="4334256"/>
            <a:ext cx="21945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không; bám một đường</a:t>
            </a:r>
          </a:p>
        </p:txBody>
      </p:sp>
      <p:sp>
        <p:nvSpPr>
          <p:cNvPr id="33" name="Rectangle 32"/>
          <p:cNvSpPr/>
          <p:nvPr/>
        </p:nvSpPr>
        <p:spPr>
          <a:xfrm>
            <a:off x="7315200" y="4334256"/>
            <a:ext cx="1783080" cy="621792"/>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B4541B"/>
                </a:solidFill>
                <a:latin typeface="Arial"/>
              </a:rPr>
              <a:t>quanh đường xu hướng</a:t>
            </a:r>
          </a:p>
        </p:txBody>
      </p:sp>
      <p:sp>
        <p:nvSpPr>
          <p:cNvPr id="34" name="Rectangle 33"/>
          <p:cNvSpPr/>
          <p:nvPr/>
        </p:nvSpPr>
        <p:spPr>
          <a:xfrm>
            <a:off x="9098280" y="4334256"/>
            <a:ext cx="1280160" cy="62179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0,98 / 0,81</a:t>
            </a:r>
          </a:p>
        </p:txBody>
      </p:sp>
      <p:sp>
        <p:nvSpPr>
          <p:cNvPr id="35" name="Rectangle 34"/>
          <p:cNvSpPr/>
          <p:nvPr/>
        </p:nvSpPr>
        <p:spPr>
          <a:xfrm>
            <a:off x="10378440" y="4334256"/>
            <a:ext cx="1261872" cy="621792"/>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B4541B"/>
                </a:solidFill>
                <a:latin typeface="Arial"/>
              </a:rPr>
              <a:t>khử xu hướng</a:t>
            </a:r>
          </a:p>
        </p:txBody>
      </p:sp>
      <p:sp>
        <p:nvSpPr>
          <p:cNvPr id="36" name="Rounded Rectangle 35"/>
          <p:cNvSpPr/>
          <p:nvPr/>
        </p:nvSpPr>
        <p:spPr>
          <a:xfrm>
            <a:off x="548640" y="5138928"/>
            <a:ext cx="5440680" cy="12344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276088"/>
            <a:ext cx="4983480" cy="274320"/>
          </a:xfrm>
          <a:prstGeom prst="rect">
            <a:avLst/>
          </a:prstGeom>
          <a:noFill/>
        </p:spPr>
        <p:txBody>
          <a:bodyPr wrap="square" lIns="0" rIns="0" tIns="0" bIns="0" anchor="t">
            <a:spAutoFit/>
          </a:bodyPr>
          <a:lstStyle/>
          <a:p>
            <a:pPr algn="l"/>
            <a:r>
              <a:rPr sz="1300" b="1" i="0">
                <a:solidFill>
                  <a:srgbClr val="2E6FBF"/>
                </a:solidFill>
                <a:latin typeface="Arial"/>
              </a:rPr>
              <a:t>ACF chưa đủ để tách</a:t>
            </a:r>
          </a:p>
        </p:txBody>
      </p:sp>
      <p:sp>
        <p:nvSpPr>
          <p:cNvPr id="38" name="TextBox 37"/>
          <p:cNvSpPr txBox="1"/>
          <p:nvPr/>
        </p:nvSpPr>
        <p:spPr>
          <a:xfrm>
            <a:off x="777240" y="5550408"/>
            <a:ext cx="4983480" cy="777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Random walk và xu hướng cùng có r1 ≈ 0,98 và ACF giảm chậm như nhau. Muốn tách phải chạy ADF và KPSS dạng “ct”.</a:t>
            </a:r>
          </a:p>
        </p:txBody>
      </p:sp>
      <p:sp>
        <p:nvSpPr>
          <p:cNvPr id="39" name="Rounded Rectangle 38"/>
          <p:cNvSpPr/>
          <p:nvPr/>
        </p:nvSpPr>
        <p:spPr>
          <a:xfrm>
            <a:off x="6199632" y="5138928"/>
            <a:ext cx="5440680" cy="12344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8232" y="5276088"/>
            <a:ext cx="4983480" cy="274320"/>
          </a:xfrm>
          <a:prstGeom prst="rect">
            <a:avLst/>
          </a:prstGeom>
          <a:noFill/>
        </p:spPr>
        <p:txBody>
          <a:bodyPr wrap="square" lIns="0" rIns="0" tIns="0" bIns="0" anchor="t">
            <a:spAutoFit/>
          </a:bodyPr>
          <a:lstStyle/>
          <a:p>
            <a:pPr algn="l"/>
            <a:r>
              <a:rPr sz="1300" b="1" i="0">
                <a:solidFill>
                  <a:srgbClr val="C0392B"/>
                </a:solidFill>
                <a:latin typeface="Arial"/>
              </a:rPr>
              <a:t>Chữa nhầm thì sao</a:t>
            </a:r>
          </a:p>
        </p:txBody>
      </p:sp>
      <p:sp>
        <p:nvSpPr>
          <p:cNvPr id="41" name="TextBox 40"/>
          <p:cNvSpPr txBox="1"/>
          <p:nvPr/>
        </p:nvSpPr>
        <p:spPr>
          <a:xfrm>
            <a:off x="6428232" y="5550408"/>
            <a:ext cx="4983480" cy="777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phân chuỗi quanh xu hướng là sai phân thừa, sinh tương quan âm giả. Trừ đường thẳng khỏi random walk thì phần còn lại vẫn lang thang.</a:t>
            </a:r>
          </a:p>
        </p:txBody>
      </p:sp>
      <p:sp>
        <p:nvSpPr>
          <p:cNvPr id="42" name="TextBox 41"/>
          <p:cNvSpPr txBox="1"/>
          <p:nvPr/>
        </p:nvSpPr>
        <p:spPr>
          <a:xfrm>
            <a:off x="548640" y="6492240"/>
            <a:ext cx="11091672" cy="274320"/>
          </a:xfrm>
          <a:prstGeom prst="rect">
            <a:avLst/>
          </a:prstGeom>
          <a:noFill/>
        </p:spPr>
        <p:txBody>
          <a:bodyPr wrap="square" lIns="0" rIns="0" tIns="0" bIns="0" anchor="t">
            <a:spAutoFit/>
          </a:bodyPr>
          <a:lstStyle/>
          <a:p>
            <a:pPr algn="l"/>
            <a:r>
              <a:rPr sz="1100" b="0" i="0">
                <a:solidFill>
                  <a:srgbClr val="5B6778"/>
                </a:solidFill>
                <a:latin typeface="Arial"/>
              </a:rPr>
              <a:t>Mô phỏng 500 điểm, seed 42. r1, r30: tự tương quan ở trễ 1 và trễ 30.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ADF và KPSS là gì: hai câu hỏi ngược chiều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augmented Dickey–Fuller (ADF) · KPSS · unit root · null hypothesis H0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con số để quyết định chuỗi có thành phần random walk không, tức có cần sai phân không.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“ADF hỏi ‘có lực kéo về không?’; KPSS hỏi ‘có trôi đi không?’”</a:t>
            </a:r>
          </a:p>
        </p:txBody>
      </p:sp>
      <p:pic>
        <p:nvPicPr>
          <p:cNvPr id="8" name="Picture 7" descr="kn-adf-kpss.png"/>
          <p:cNvPicPr>
            <a:picLocks noChangeAspect="1"/>
          </p:cNvPicPr>
          <p:nvPr/>
        </p:nvPicPr>
        <p:blipFill>
          <a:blip r:embed="rId2"/>
          <a:stretch>
            <a:fillRect/>
          </a:stretch>
        </p:blipFill>
        <p:spPr>
          <a:xfrm>
            <a:off x="548640" y="2466755"/>
            <a:ext cx="5760720" cy="2820601"/>
          </a:xfrm>
          <a:prstGeom prst="rect">
            <a:avLst/>
          </a:prstGeom>
        </p:spPr>
      </p:pic>
      <p:sp>
        <p:nvSpPr>
          <p:cNvPr id="9" name="Rounded Rectangle 8"/>
          <p:cNvSpPr/>
          <p:nvPr/>
        </p:nvSpPr>
        <p:spPr>
          <a:xfrm>
            <a:off x="6583680" y="2450591"/>
            <a:ext cx="5056632" cy="141732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87751"/>
            <a:ext cx="4599432" cy="274320"/>
          </a:xfrm>
          <a:prstGeom prst="rect">
            <a:avLst/>
          </a:prstGeom>
          <a:noFill/>
        </p:spPr>
        <p:txBody>
          <a:bodyPr wrap="square" lIns="0" rIns="0" tIns="0" bIns="0" anchor="t">
            <a:spAutoFit/>
          </a:bodyPr>
          <a:lstStyle/>
          <a:p>
            <a:pPr algn="l"/>
            <a:r>
              <a:rPr sz="1300" b="1" i="0">
                <a:solidFill>
                  <a:srgbClr val="2E6FBF"/>
                </a:solidFill>
                <a:latin typeface="Arial"/>
              </a:rPr>
              <a:t>ADF</a:t>
            </a:r>
          </a:p>
        </p:txBody>
      </p:sp>
      <p:sp>
        <p:nvSpPr>
          <p:cNvPr id="11" name="TextBox 10"/>
          <p:cNvSpPr txBox="1"/>
          <p:nvPr/>
        </p:nvSpPr>
        <p:spPr>
          <a:xfrm>
            <a:off x="6812280" y="2862072"/>
            <a:ext cx="4599432" cy="96012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Đang cao hơn mức thường thì bước sau có bị kéo xuống không? Giả định ban đầu: chuỗi không dừng. p &lt; 0,05 nghĩa là có bằng chứng chuỗi dừng.</a:t>
            </a:r>
          </a:p>
        </p:txBody>
      </p:sp>
      <p:sp>
        <p:nvSpPr>
          <p:cNvPr id="12" name="Rounded Rectangle 11"/>
          <p:cNvSpPr/>
          <p:nvPr/>
        </p:nvSpPr>
        <p:spPr>
          <a:xfrm>
            <a:off x="6583680" y="3959352"/>
            <a:ext cx="5056632" cy="1417320"/>
          </a:xfrm>
          <a:prstGeom prst="roundRect">
            <a:avLst>
              <a:gd name="adj" fmla="val 10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4096512"/>
            <a:ext cx="4599432" cy="274320"/>
          </a:xfrm>
          <a:prstGeom prst="rect">
            <a:avLst/>
          </a:prstGeom>
          <a:noFill/>
        </p:spPr>
        <p:txBody>
          <a:bodyPr wrap="square" lIns="0" rIns="0" tIns="0" bIns="0" anchor="t">
            <a:spAutoFit/>
          </a:bodyPr>
          <a:lstStyle/>
          <a:p>
            <a:pPr algn="l"/>
            <a:r>
              <a:rPr sz="1300" b="1" i="0">
                <a:solidFill>
                  <a:srgbClr val="B4541B"/>
                </a:solidFill>
                <a:latin typeface="Arial"/>
              </a:rPr>
              <a:t>KPSS</a:t>
            </a:r>
          </a:p>
        </p:txBody>
      </p:sp>
      <p:sp>
        <p:nvSpPr>
          <p:cNvPr id="14" name="TextBox 13"/>
          <p:cNvSpPr txBox="1"/>
          <p:nvPr/>
        </p:nvSpPr>
        <p:spPr>
          <a:xfrm>
            <a:off x="6812280" y="4370832"/>
            <a:ext cx="4599432" cy="96012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Chuỗi có trôi xa khỏi mức (hay đường xu hướng) hơn một chuỗi dừng cho phép không? Giả định ban đầu: chuỗi dừng. p &lt; 0,05 nghĩa là có bằng chứng chuỗi không dừng.</a:t>
            </a:r>
          </a:p>
        </p:txBody>
      </p:sp>
      <p:sp>
        <p:nvSpPr>
          <p:cNvPr id="15" name="Rounded Rectangle 14"/>
          <p:cNvSpPr/>
          <p:nvPr/>
        </p:nvSpPr>
        <p:spPr>
          <a:xfrm>
            <a:off x="548640" y="5440680"/>
            <a:ext cx="11091672" cy="10058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77840"/>
            <a:ext cx="10634472" cy="274320"/>
          </a:xfrm>
          <a:prstGeom prst="rect">
            <a:avLst/>
          </a:prstGeom>
          <a:noFill/>
        </p:spPr>
        <p:txBody>
          <a:bodyPr wrap="square" lIns="0" rIns="0" tIns="0" bIns="0" anchor="t">
            <a:spAutoFit/>
          </a:bodyPr>
          <a:lstStyle/>
          <a:p>
            <a:pPr algn="l"/>
            <a:r>
              <a:rPr sz="1300" b="1" i="0">
                <a:solidFill>
                  <a:srgbClr val="0F8B8D"/>
                </a:solidFill>
                <a:latin typeface="Arial"/>
              </a:rPr>
              <a:t>Ví dụ tính tay</a:t>
            </a:r>
          </a:p>
        </p:txBody>
      </p:sp>
      <p:sp>
        <p:nvSpPr>
          <p:cNvPr id="17" name="TextBox 16"/>
          <p:cNvSpPr txBox="1"/>
          <p:nvPr/>
        </p:nvSpPr>
        <p:spPr>
          <a:xfrm>
            <a:off x="777240" y="5852160"/>
            <a:ext cx="10634472" cy="5486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5, 8, 4, 6, 5: cứ cao hơn 5 là bước sau đi xuống, có lực kéo về như chuỗi dừng. Chuỗi 5, 6, 7, 6, 7: độ cao hiện tại không đoán được bước sau, giống random walk.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Chạy cả ADF và KPSS, rồi đọc bảng 2 ×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ADF · KPSS · regression="c" / "ct"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Ghép kết luận của hai kiểm định để quyết định có sai phân hay không.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“Hai kiểm định cùng nói một hướng thì tin; nói ngược nhau thì xem lại chuỗi.”</a:t>
            </a:r>
          </a:p>
        </p:txBody>
      </p:sp>
      <p:sp>
        <p:nvSpPr>
          <p:cNvPr id="8" name="Rectangle 7"/>
          <p:cNvSpPr/>
          <p:nvPr/>
        </p:nvSpPr>
        <p:spPr>
          <a:xfrm>
            <a:off x="548640" y="2542032"/>
            <a:ext cx="210312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
            </a:r>
          </a:p>
        </p:txBody>
      </p:sp>
      <p:sp>
        <p:nvSpPr>
          <p:cNvPr id="9" name="Rectangle 8"/>
          <p:cNvSpPr/>
          <p:nvPr/>
        </p:nvSpPr>
        <p:spPr>
          <a:xfrm>
            <a:off x="2651760" y="2542032"/>
            <a:ext cx="251460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KPSS không bác bỏ</a:t>
            </a:r>
          </a:p>
        </p:txBody>
      </p:sp>
      <p:sp>
        <p:nvSpPr>
          <p:cNvPr id="10" name="Rectangle 9"/>
          <p:cNvSpPr/>
          <p:nvPr/>
        </p:nvSpPr>
        <p:spPr>
          <a:xfrm>
            <a:off x="5166360" y="2542032"/>
            <a:ext cx="251460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KPSS bác bỏ</a:t>
            </a:r>
          </a:p>
        </p:txBody>
      </p:sp>
      <p:sp>
        <p:nvSpPr>
          <p:cNvPr id="11" name="Rectangle 10"/>
          <p:cNvSpPr/>
          <p:nvPr/>
        </p:nvSpPr>
        <p:spPr>
          <a:xfrm>
            <a:off x="548640" y="3410711"/>
            <a:ext cx="2103120" cy="86868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ADF bác bỏ</a:t>
            </a:r>
          </a:p>
        </p:txBody>
      </p:sp>
      <p:sp>
        <p:nvSpPr>
          <p:cNvPr id="12" name="Rectangle 11"/>
          <p:cNvSpPr/>
          <p:nvPr/>
        </p:nvSpPr>
        <p:spPr>
          <a:xfrm>
            <a:off x="2651760" y="3410711"/>
            <a:ext cx="2514600" cy="86868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E8449"/>
                </a:solidFill>
                <a:latin typeface="Arial"/>
              </a:rPr>
              <a:t>Dừng: không cần sai phân</a:t>
            </a:r>
          </a:p>
        </p:txBody>
      </p:sp>
      <p:sp>
        <p:nvSpPr>
          <p:cNvPr id="13" name="Rectangle 12"/>
          <p:cNvSpPr/>
          <p:nvPr/>
        </p:nvSpPr>
        <p:spPr>
          <a:xfrm>
            <a:off x="5166360" y="3410711"/>
            <a:ext cx="2514600" cy="86868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C0392B"/>
                </a:solidFill>
                <a:latin typeface="Arial"/>
              </a:rPr>
              <a:t>Mâu thuẫn: vẽ chuỗi, tìm cú sốc</a:t>
            </a:r>
          </a:p>
        </p:txBody>
      </p:sp>
      <p:sp>
        <p:nvSpPr>
          <p:cNvPr id="14" name="Rectangle 13"/>
          <p:cNvSpPr/>
          <p:nvPr/>
        </p:nvSpPr>
        <p:spPr>
          <a:xfrm>
            <a:off x="548640" y="4279392"/>
            <a:ext cx="2103120" cy="86868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ADF không bác bỏ</a:t>
            </a:r>
          </a:p>
        </p:txBody>
      </p:sp>
      <p:sp>
        <p:nvSpPr>
          <p:cNvPr id="15" name="Rectangle 14"/>
          <p:cNvSpPr/>
          <p:nvPr/>
        </p:nvSpPr>
        <p:spPr>
          <a:xfrm>
            <a:off x="2651760" y="4279392"/>
            <a:ext cx="2514600" cy="86868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5B6778"/>
                </a:solidFill>
                <a:latin typeface="Arial"/>
              </a:rPr>
              <a:t>Chưa đủ bằng chứng</a:t>
            </a:r>
          </a:p>
        </p:txBody>
      </p:sp>
      <p:sp>
        <p:nvSpPr>
          <p:cNvPr id="16" name="Rectangle 15"/>
          <p:cNvSpPr/>
          <p:nvPr/>
        </p:nvSpPr>
        <p:spPr>
          <a:xfrm>
            <a:off x="5166360" y="4279392"/>
            <a:ext cx="2514600" cy="868680"/>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B4541B"/>
                </a:solidFill>
                <a:latin typeface="Arial"/>
              </a:rPr>
              <a:t>Không dừng: sai phân</a:t>
            </a:r>
          </a:p>
        </p:txBody>
      </p:sp>
      <p:sp>
        <p:nvSpPr>
          <p:cNvPr id="17" name="TextBox 16"/>
          <p:cNvSpPr txBox="1"/>
          <p:nvPr/>
        </p:nvSpPr>
        <p:spPr>
          <a:xfrm>
            <a:off x="548640" y="5239512"/>
            <a:ext cx="7132320" cy="822960"/>
          </a:xfrm>
          <a:prstGeom prst="rect">
            <a:avLst/>
          </a:prstGeom>
          <a:noFill/>
        </p:spPr>
        <p:txBody>
          <a:bodyPr wrap="square" lIns="0" rIns="0" tIns="0" bIns="0" anchor="t">
            <a:spAutoFit/>
          </a:bodyPr>
          <a:lstStyle/>
          <a:p>
            <a:pPr algn="l"/>
            <a:r>
              <a:rPr sz="1300" b="0" i="0">
                <a:solidFill>
                  <a:srgbClr val="5B6778"/>
                </a:solidFill>
                <a:latin typeface="Arial"/>
              </a:rPr>
              <a:t>ADF p &lt; 0,05: có bằng chứng dừng. KPSS p &lt; 0,05: có bằng chứng không dừng. Chỉ ô xanh và ô cam cho kết luận rõ.</a:t>
            </a:r>
          </a:p>
        </p:txBody>
      </p:sp>
      <p:sp>
        <p:nvSpPr>
          <p:cNvPr id="18" name="Rounded Rectangle 17"/>
          <p:cNvSpPr/>
          <p:nvPr/>
        </p:nvSpPr>
        <p:spPr>
          <a:xfrm>
            <a:off x="7955279" y="2542032"/>
            <a:ext cx="3685032" cy="178308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2679191"/>
            <a:ext cx="3227832" cy="274320"/>
          </a:xfrm>
          <a:prstGeom prst="rect">
            <a:avLst/>
          </a:prstGeom>
          <a:noFill/>
        </p:spPr>
        <p:txBody>
          <a:bodyPr wrap="square" lIns="0" rIns="0" tIns="0" bIns="0" anchor="t">
            <a:spAutoFit/>
          </a:bodyPr>
          <a:lstStyle/>
          <a:p>
            <a:pPr algn="l"/>
            <a:r>
              <a:rPr sz="1300" b="1" i="0">
                <a:solidFill>
                  <a:srgbClr val="2E6FBF"/>
                </a:solidFill>
                <a:latin typeface="Arial"/>
              </a:rPr>
              <a:t>Dữ liệu thật: GDP Mỹ</a:t>
            </a:r>
          </a:p>
        </p:txBody>
      </p:sp>
      <p:sp>
        <p:nvSpPr>
          <p:cNvPr id="20" name="TextBox 19"/>
          <p:cNvSpPr txBox="1"/>
          <p:nvPr/>
        </p:nvSpPr>
        <p:spPr>
          <a:xfrm>
            <a:off x="8183879" y="2953512"/>
            <a:ext cx="3227832" cy="132588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Cả giai đoạn 1947–2026: ADF p = 0,000, KPSS p = 0,048, rơi vào ô mâu thuẫn. Chỉ lấy 1985–2019 thì dừng.</a:t>
            </a:r>
          </a:p>
        </p:txBody>
      </p:sp>
      <p:sp>
        <p:nvSpPr>
          <p:cNvPr id="21" name="Rounded Rectangle 20"/>
          <p:cNvSpPr/>
          <p:nvPr/>
        </p:nvSpPr>
        <p:spPr>
          <a:xfrm>
            <a:off x="7955279" y="4462272"/>
            <a:ext cx="3685032" cy="17830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4599432"/>
            <a:ext cx="3227832" cy="274320"/>
          </a:xfrm>
          <a:prstGeom prst="rect">
            <a:avLst/>
          </a:prstGeom>
          <a:noFill/>
        </p:spPr>
        <p:txBody>
          <a:bodyPr wrap="square" lIns="0" rIns="0" tIns="0" bIns="0" anchor="t">
            <a:spAutoFit/>
          </a:bodyPr>
          <a:lstStyle/>
          <a:p>
            <a:pPr algn="l"/>
            <a:r>
              <a:rPr sz="1300" b="1" i="0">
                <a:solidFill>
                  <a:srgbClr val="0F8B8D"/>
                </a:solidFill>
                <a:latin typeface="Arial"/>
              </a:rPr>
              <a:t>Khai dạng cho đúng</a:t>
            </a:r>
          </a:p>
        </p:txBody>
      </p:sp>
      <p:sp>
        <p:nvSpPr>
          <p:cNvPr id="23" name="TextBox 22"/>
          <p:cNvSpPr txBox="1"/>
          <p:nvPr/>
        </p:nvSpPr>
        <p:spPr>
          <a:xfrm>
            <a:off x="8183879" y="4873752"/>
            <a:ext cx="3227832" cy="132588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 hỏi dừng quanh một mức; “ct” hỏi dừng quanh một đường xu hướng. Khai sai dạng là kết luận sai.</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ADF, KPSS trên bốn chuỗi: “c” hay “ct”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“Không bác bỏ chưa phải là chứng minh: kiểm định là bằng chứng, không phải phán quyết.”</a:t>
            </a:r>
          </a:p>
        </p:txBody>
      </p:sp>
      <p:sp>
        <p:nvSpPr>
          <p:cNvPr id="6" name="Rectangle 5"/>
          <p:cNvSpPr/>
          <p:nvPr/>
        </p:nvSpPr>
        <p:spPr>
          <a:xfrm>
            <a:off x="548640" y="1847088"/>
            <a:ext cx="21031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Chuỗi (500 điểm)</a:t>
            </a:r>
          </a:p>
        </p:txBody>
      </p:sp>
      <p:sp>
        <p:nvSpPr>
          <p:cNvPr id="7" name="Rectangle 6"/>
          <p:cNvSpPr/>
          <p:nvPr/>
        </p:nvSpPr>
        <p:spPr>
          <a:xfrm>
            <a:off x="2651760" y="1847088"/>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ADF c</a:t>
            </a:r>
          </a:p>
        </p:txBody>
      </p:sp>
      <p:sp>
        <p:nvSpPr>
          <p:cNvPr id="8" name="Rectangle 7"/>
          <p:cNvSpPr/>
          <p:nvPr/>
        </p:nvSpPr>
        <p:spPr>
          <a:xfrm>
            <a:off x="3840480" y="1847088"/>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KPSS c</a:t>
            </a:r>
          </a:p>
        </p:txBody>
      </p:sp>
      <p:sp>
        <p:nvSpPr>
          <p:cNvPr id="9" name="Rectangle 8"/>
          <p:cNvSpPr/>
          <p:nvPr/>
        </p:nvSpPr>
        <p:spPr>
          <a:xfrm>
            <a:off x="5029200" y="1847088"/>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ADF ct</a:t>
            </a:r>
          </a:p>
        </p:txBody>
      </p:sp>
      <p:sp>
        <p:nvSpPr>
          <p:cNvPr id="10" name="Rectangle 9"/>
          <p:cNvSpPr/>
          <p:nvPr/>
        </p:nvSpPr>
        <p:spPr>
          <a:xfrm>
            <a:off x="6217920" y="1847088"/>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KPSS ct</a:t>
            </a:r>
          </a:p>
        </p:txBody>
      </p:sp>
      <p:sp>
        <p:nvSpPr>
          <p:cNvPr id="11" name="Rectangle 10"/>
          <p:cNvSpPr/>
          <p:nvPr/>
        </p:nvSpPr>
        <p:spPr>
          <a:xfrm>
            <a:off x="7406640" y="1847088"/>
            <a:ext cx="4233672"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Kết luận</a:t>
            </a:r>
          </a:p>
        </p:txBody>
      </p:sp>
      <p:sp>
        <p:nvSpPr>
          <p:cNvPr id="12" name="Rectangle 11"/>
          <p:cNvSpPr/>
          <p:nvPr/>
        </p:nvSpPr>
        <p:spPr>
          <a:xfrm>
            <a:off x="548640" y="2414016"/>
            <a:ext cx="21031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nhiễu trắng</a:t>
            </a:r>
          </a:p>
        </p:txBody>
      </p:sp>
      <p:sp>
        <p:nvSpPr>
          <p:cNvPr id="13" name="Rectangle 12"/>
          <p:cNvSpPr/>
          <p:nvPr/>
        </p:nvSpPr>
        <p:spPr>
          <a:xfrm>
            <a:off x="2651760" y="2414016"/>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0,000</a:t>
            </a:r>
          </a:p>
        </p:txBody>
      </p:sp>
      <p:sp>
        <p:nvSpPr>
          <p:cNvPr id="14" name="Rectangle 13"/>
          <p:cNvSpPr/>
          <p:nvPr/>
        </p:nvSpPr>
        <p:spPr>
          <a:xfrm>
            <a:off x="3840480" y="2414016"/>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0,10</a:t>
            </a:r>
          </a:p>
        </p:txBody>
      </p:sp>
      <p:sp>
        <p:nvSpPr>
          <p:cNvPr id="15" name="Rectangle 14"/>
          <p:cNvSpPr/>
          <p:nvPr/>
        </p:nvSpPr>
        <p:spPr>
          <a:xfrm>
            <a:off x="5029200" y="2414016"/>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0,000</a:t>
            </a:r>
          </a:p>
        </p:txBody>
      </p:sp>
      <p:sp>
        <p:nvSpPr>
          <p:cNvPr id="16" name="Rectangle 15"/>
          <p:cNvSpPr/>
          <p:nvPr/>
        </p:nvSpPr>
        <p:spPr>
          <a:xfrm>
            <a:off x="6217920" y="2414016"/>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0,10</a:t>
            </a:r>
          </a:p>
        </p:txBody>
      </p:sp>
      <p:sp>
        <p:nvSpPr>
          <p:cNvPr id="17" name="Rectangle 16"/>
          <p:cNvSpPr/>
          <p:nvPr/>
        </p:nvSpPr>
        <p:spPr>
          <a:xfrm>
            <a:off x="7406640" y="2414016"/>
            <a:ext cx="4233672"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E8449"/>
                </a:solidFill>
                <a:latin typeface="Arial"/>
              </a:rPr>
              <a:t>dừng</a:t>
            </a:r>
          </a:p>
        </p:txBody>
      </p:sp>
      <p:sp>
        <p:nvSpPr>
          <p:cNvPr id="18" name="Rectangle 17"/>
          <p:cNvSpPr/>
          <p:nvPr/>
        </p:nvSpPr>
        <p:spPr>
          <a:xfrm>
            <a:off x="548640" y="2980944"/>
            <a:ext cx="21031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AR(1), φ = 0,7</a:t>
            </a:r>
          </a:p>
        </p:txBody>
      </p:sp>
      <p:sp>
        <p:nvSpPr>
          <p:cNvPr id="19" name="Rectangle 18"/>
          <p:cNvSpPr/>
          <p:nvPr/>
        </p:nvSpPr>
        <p:spPr>
          <a:xfrm>
            <a:off x="2651760" y="2980944"/>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0,000</a:t>
            </a:r>
          </a:p>
        </p:txBody>
      </p:sp>
      <p:sp>
        <p:nvSpPr>
          <p:cNvPr id="20" name="Rectangle 19"/>
          <p:cNvSpPr/>
          <p:nvPr/>
        </p:nvSpPr>
        <p:spPr>
          <a:xfrm>
            <a:off x="3840480" y="2980944"/>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0,10</a:t>
            </a:r>
          </a:p>
        </p:txBody>
      </p:sp>
      <p:sp>
        <p:nvSpPr>
          <p:cNvPr id="21" name="Rectangle 20"/>
          <p:cNvSpPr/>
          <p:nvPr/>
        </p:nvSpPr>
        <p:spPr>
          <a:xfrm>
            <a:off x="5029200" y="2980944"/>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0,000</a:t>
            </a:r>
          </a:p>
        </p:txBody>
      </p:sp>
      <p:sp>
        <p:nvSpPr>
          <p:cNvPr id="22" name="Rectangle 21"/>
          <p:cNvSpPr/>
          <p:nvPr/>
        </p:nvSpPr>
        <p:spPr>
          <a:xfrm>
            <a:off x="6217920" y="2980944"/>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0,10</a:t>
            </a:r>
          </a:p>
        </p:txBody>
      </p:sp>
      <p:sp>
        <p:nvSpPr>
          <p:cNvPr id="23" name="Rectangle 22"/>
          <p:cNvSpPr/>
          <p:nvPr/>
        </p:nvSpPr>
        <p:spPr>
          <a:xfrm>
            <a:off x="7406640" y="2980944"/>
            <a:ext cx="4233672"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E8449"/>
                </a:solidFill>
                <a:latin typeface="Arial"/>
              </a:rPr>
              <a:t>dừng</a:t>
            </a:r>
          </a:p>
        </p:txBody>
      </p:sp>
      <p:sp>
        <p:nvSpPr>
          <p:cNvPr id="24" name="Rectangle 23"/>
          <p:cNvSpPr/>
          <p:nvPr/>
        </p:nvSpPr>
        <p:spPr>
          <a:xfrm>
            <a:off x="548640" y="3547872"/>
            <a:ext cx="21031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random walk</a:t>
            </a:r>
          </a:p>
        </p:txBody>
      </p:sp>
      <p:sp>
        <p:nvSpPr>
          <p:cNvPr id="25" name="Rectangle 24"/>
          <p:cNvSpPr/>
          <p:nvPr/>
        </p:nvSpPr>
        <p:spPr>
          <a:xfrm>
            <a:off x="2651760" y="3547872"/>
            <a:ext cx="1188720"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C0392B"/>
                </a:solidFill>
                <a:latin typeface="Arial"/>
              </a:rPr>
              <a:t>0,073</a:t>
            </a:r>
          </a:p>
        </p:txBody>
      </p:sp>
      <p:sp>
        <p:nvSpPr>
          <p:cNvPr id="26" name="Rectangle 25"/>
          <p:cNvSpPr/>
          <p:nvPr/>
        </p:nvSpPr>
        <p:spPr>
          <a:xfrm>
            <a:off x="3840480" y="3547872"/>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0,01</a:t>
            </a:r>
          </a:p>
        </p:txBody>
      </p:sp>
      <p:sp>
        <p:nvSpPr>
          <p:cNvPr id="27" name="Rectangle 26"/>
          <p:cNvSpPr/>
          <p:nvPr/>
        </p:nvSpPr>
        <p:spPr>
          <a:xfrm>
            <a:off x="5029200" y="3547872"/>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0,214</a:t>
            </a:r>
          </a:p>
        </p:txBody>
      </p:sp>
      <p:sp>
        <p:nvSpPr>
          <p:cNvPr id="28" name="Rectangle 27"/>
          <p:cNvSpPr/>
          <p:nvPr/>
        </p:nvSpPr>
        <p:spPr>
          <a:xfrm>
            <a:off x="6217920" y="3547872"/>
            <a:ext cx="1188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0,01</a:t>
            </a:r>
          </a:p>
        </p:txBody>
      </p:sp>
      <p:sp>
        <p:nvSpPr>
          <p:cNvPr id="29" name="Rectangle 28"/>
          <p:cNvSpPr/>
          <p:nvPr/>
        </p:nvSpPr>
        <p:spPr>
          <a:xfrm>
            <a:off x="7406640" y="3547872"/>
            <a:ext cx="423367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C0392B"/>
                </a:solidFill>
                <a:latin typeface="Arial"/>
              </a:rPr>
              <a:t>không dừng: sai phân</a:t>
            </a:r>
          </a:p>
        </p:txBody>
      </p:sp>
      <p:sp>
        <p:nvSpPr>
          <p:cNvPr id="30" name="Rectangle 29"/>
          <p:cNvSpPr/>
          <p:nvPr/>
        </p:nvSpPr>
        <p:spPr>
          <a:xfrm>
            <a:off x="548640" y="4114800"/>
            <a:ext cx="21031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xu hướng 0,05t</a:t>
            </a:r>
          </a:p>
        </p:txBody>
      </p:sp>
      <p:sp>
        <p:nvSpPr>
          <p:cNvPr id="31" name="Rectangle 30"/>
          <p:cNvSpPr/>
          <p:nvPr/>
        </p:nvSpPr>
        <p:spPr>
          <a:xfrm>
            <a:off x="2651760" y="4114800"/>
            <a:ext cx="1188720" cy="56692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B4541B"/>
                </a:solidFill>
                <a:latin typeface="Arial"/>
              </a:rPr>
              <a:t>0,906</a:t>
            </a:r>
          </a:p>
        </p:txBody>
      </p:sp>
      <p:sp>
        <p:nvSpPr>
          <p:cNvPr id="32" name="Rectangle 31"/>
          <p:cNvSpPr/>
          <p:nvPr/>
        </p:nvSpPr>
        <p:spPr>
          <a:xfrm>
            <a:off x="3840480" y="4114800"/>
            <a:ext cx="1188720" cy="56692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B4541B"/>
                </a:solidFill>
                <a:latin typeface="Arial"/>
              </a:rPr>
              <a:t>≤ 0,01</a:t>
            </a:r>
          </a:p>
        </p:txBody>
      </p:sp>
      <p:sp>
        <p:nvSpPr>
          <p:cNvPr id="33" name="Rectangle 32"/>
          <p:cNvSpPr/>
          <p:nvPr/>
        </p:nvSpPr>
        <p:spPr>
          <a:xfrm>
            <a:off x="5029200" y="4114800"/>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0,000</a:t>
            </a:r>
          </a:p>
        </p:txBody>
      </p:sp>
      <p:sp>
        <p:nvSpPr>
          <p:cNvPr id="34" name="Rectangle 33"/>
          <p:cNvSpPr/>
          <p:nvPr/>
        </p:nvSpPr>
        <p:spPr>
          <a:xfrm>
            <a:off x="6217920" y="4114800"/>
            <a:ext cx="1188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 0,10</a:t>
            </a:r>
          </a:p>
        </p:txBody>
      </p:sp>
      <p:sp>
        <p:nvSpPr>
          <p:cNvPr id="35" name="Rectangle 34"/>
          <p:cNvSpPr/>
          <p:nvPr/>
        </p:nvSpPr>
        <p:spPr>
          <a:xfrm>
            <a:off x="7406640" y="4114800"/>
            <a:ext cx="4233672" cy="56692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B4541B"/>
                </a:solidFill>
                <a:latin typeface="Arial"/>
              </a:rPr>
              <a:t>dừng quanh xu hướng: khử xu hướng</a:t>
            </a:r>
          </a:p>
        </p:txBody>
      </p:sp>
      <p:sp>
        <p:nvSpPr>
          <p:cNvPr id="36" name="Rounded Rectangle 35"/>
          <p:cNvSpPr/>
          <p:nvPr/>
        </p:nvSpPr>
        <p:spPr>
          <a:xfrm>
            <a:off x="548640" y="4910328"/>
            <a:ext cx="3575304" cy="1600200"/>
          </a:xfrm>
          <a:prstGeom prst="roundRect">
            <a:avLst>
              <a:gd name="adj" fmla="val 10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77240" y="5047488"/>
            <a:ext cx="3118104" cy="274320"/>
          </a:xfrm>
          <a:prstGeom prst="rect">
            <a:avLst/>
          </a:prstGeom>
          <a:noFill/>
        </p:spPr>
        <p:txBody>
          <a:bodyPr wrap="square" lIns="0" rIns="0" tIns="0" bIns="0" anchor="t">
            <a:spAutoFit/>
          </a:bodyPr>
          <a:lstStyle/>
          <a:p>
            <a:pPr algn="l"/>
            <a:r>
              <a:rPr sz="1300" b="1" i="0">
                <a:solidFill>
                  <a:srgbClr val="B4541B"/>
                </a:solidFill>
                <a:latin typeface="Arial"/>
              </a:rPr>
              <a:t>Đọc dòng 4</a:t>
            </a:r>
          </a:p>
        </p:txBody>
      </p:sp>
      <p:sp>
        <p:nvSpPr>
          <p:cNvPr id="38" name="TextBox 37"/>
          <p:cNvSpPr txBox="1"/>
          <p:nvPr/>
        </p:nvSpPr>
        <p:spPr>
          <a:xfrm>
            <a:off x="777240" y="5321808"/>
            <a:ext cx="3118104" cy="114300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Dạng “c” nói không dừng, bảo sai phân. Dạng “ct” mới thấy chuỗi dừng quanh một đường: chỉ cần khử xu hướng.</a:t>
            </a:r>
          </a:p>
        </p:txBody>
      </p:sp>
      <p:sp>
        <p:nvSpPr>
          <p:cNvPr id="39" name="Rounded Rectangle 38"/>
          <p:cNvSpPr/>
          <p:nvPr/>
        </p:nvSpPr>
        <p:spPr>
          <a:xfrm>
            <a:off x="4306824" y="4910328"/>
            <a:ext cx="3575304" cy="160020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35424" y="5047488"/>
            <a:ext cx="3118104" cy="274320"/>
          </a:xfrm>
          <a:prstGeom prst="rect">
            <a:avLst/>
          </a:prstGeom>
          <a:noFill/>
        </p:spPr>
        <p:txBody>
          <a:bodyPr wrap="square" lIns="0" rIns="0" tIns="0" bIns="0" anchor="t">
            <a:spAutoFit/>
          </a:bodyPr>
          <a:lstStyle/>
          <a:p>
            <a:pPr algn="l"/>
            <a:r>
              <a:rPr sz="1300" b="1" i="0">
                <a:solidFill>
                  <a:srgbClr val="C0392B"/>
                </a:solidFill>
                <a:latin typeface="Arial"/>
              </a:rPr>
              <a:t>Đọc dòng 3</a:t>
            </a:r>
          </a:p>
        </p:txBody>
      </p:sp>
      <p:sp>
        <p:nvSpPr>
          <p:cNvPr id="41" name="TextBox 40"/>
          <p:cNvSpPr txBox="1"/>
          <p:nvPr/>
        </p:nvSpPr>
        <p:spPr>
          <a:xfrm>
            <a:off x="4535424" y="5321808"/>
            <a:ext cx="3118104" cy="114300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Random walk có ADF p = 0,073: dùng mức 10% sẽ gọi nhầm là dừng. KPSS bắt được (≤ 0,01).</a:t>
            </a:r>
          </a:p>
        </p:txBody>
      </p:sp>
      <p:sp>
        <p:nvSpPr>
          <p:cNvPr id="42" name="Rounded Rectangle 41"/>
          <p:cNvSpPr/>
          <p:nvPr/>
        </p:nvSpPr>
        <p:spPr>
          <a:xfrm>
            <a:off x="8065008" y="4910328"/>
            <a:ext cx="3575304" cy="160020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293608" y="5047488"/>
            <a:ext cx="3118104" cy="274320"/>
          </a:xfrm>
          <a:prstGeom prst="rect">
            <a:avLst/>
          </a:prstGeom>
          <a:noFill/>
        </p:spPr>
        <p:txBody>
          <a:bodyPr wrap="square" lIns="0" rIns="0" tIns="0" bIns="0" anchor="t">
            <a:spAutoFit/>
          </a:bodyPr>
          <a:lstStyle/>
          <a:p>
            <a:pPr algn="l"/>
            <a:r>
              <a:rPr sz="1300" b="1" i="0">
                <a:solidFill>
                  <a:srgbClr val="2E6FBF"/>
                </a:solidFill>
                <a:latin typeface="Arial"/>
              </a:rPr>
              <a:t>Hai lời nhắc</a:t>
            </a:r>
          </a:p>
        </p:txBody>
      </p:sp>
      <p:sp>
        <p:nvSpPr>
          <p:cNvPr id="44" name="TextBox 43"/>
          <p:cNvSpPr txBox="1"/>
          <p:nvPr/>
        </p:nvSpPr>
        <p:spPr>
          <a:xfrm>
            <a:off x="8293608" y="5321808"/>
            <a:ext cx="3118104" cy="114300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ADF hay bỏ sót chuỗi dừng mà rất gần random walk. p của KPSS bị cắt ở 0,01 và 0,1: “0,10” nghĩa là ≥ 0,1.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phân: nhìn vào thay đổi thay vì mức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differencing · seasonal differencing · detrending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Biến một chuỗi trôi đi (không dừng) thành chuỗi có mức để quay về, để mô hình học được.</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011ab4c1930.png"/>
          <p:cNvPicPr>
            <a:picLocks noChangeAspect="1"/>
          </p:cNvPicPr>
          <p:nvPr/>
        </p:nvPicPr>
        <p:blipFill>
          <a:blip r:embed="rId2"/>
          <a:stretch>
            <a:fillRect/>
          </a:stretch>
        </p:blipFill>
        <p:spPr>
          <a:xfrm>
            <a:off x="1463039" y="2269236"/>
            <a:ext cx="4480560" cy="252984"/>
          </a:xfrm>
          <a:prstGeom prst="rect">
            <a:avLst/>
          </a:prstGeom>
        </p:spPr>
      </p:pic>
      <p:pic>
        <p:nvPicPr>
          <p:cNvPr id="9" name="Picture 8" descr="gdp.png"/>
          <p:cNvPicPr>
            <a:picLocks noChangeAspect="1"/>
          </p:cNvPicPr>
          <p:nvPr/>
        </p:nvPicPr>
        <p:blipFill>
          <a:blip r:embed="rId3"/>
          <a:stretch>
            <a:fillRect/>
          </a:stretch>
        </p:blipFill>
        <p:spPr>
          <a:xfrm>
            <a:off x="548640" y="2943674"/>
            <a:ext cx="6309360" cy="3421243"/>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Sai phân: thay mỗi giá trị bằng hiệu với giá trị trước, y_t − y_(t−1). Sai phân mùa vụ: hiệu với cùng vị trí của vòng trước, y_t − y_(t−m).</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Khi nào dùng</a:t>
            </a:r>
          </a:p>
        </p:txBody>
      </p:sp>
      <p:sp>
        <p:nvSpPr>
          <p:cNvPr id="13" name="TextBox 12"/>
          <p:cNvSpPr txBox="1"/>
          <p:nvPr/>
        </p:nvSpPr>
        <p:spPr>
          <a:xfrm>
            <a:off x="7223760" y="3861815"/>
            <a:ext cx="4416552" cy="1127760"/>
          </a:xfrm>
          <a:prstGeom prst="rect">
            <a:avLst/>
          </a:prstGeom>
          <a:noFill/>
        </p:spPr>
        <p:txBody>
          <a:bodyPr wrap="square" lIns="0" rIns="0" tIns="0" bIns="0" anchor="t">
            <a:spAutoFit/>
          </a:bodyPr>
          <a:lstStyle/>
          <a:p>
            <a:pPr algn="l"/>
            <a:r>
              <a:rPr sz="1500" b="0" i="0">
                <a:solidFill>
                  <a:srgbClr val="1B2A41"/>
                </a:solidFill>
                <a:latin typeface="Arial"/>
              </a:rPr>
              <a:t>Chuỗi random walk thì sai phân một lần. Chuỗi có mùa vụ thì sai phân mùa vụ trước. Chuỗi dừng quanh xu hướng thì khử xu hướng (trừ đường xu hướng) thay vì sai phân.</a:t>
            </a:r>
          </a:p>
        </p:txBody>
      </p:sp>
      <p:sp>
        <p:nvSpPr>
          <p:cNvPr id="14" name="TextBox 13"/>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5" name="TextBox 14"/>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100, 103, 105 thành 3, 2. GDP Mỹ: log GDP trôi lên mãi; sai phân log dao động quanh 0,76% mỗi quý.</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phân bao nhiêu lần là đủ</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“Sai phân tới khi KPSS thôi bác bỏ, nhưng dừng tay nếu r1 về gần −0,5 hoặc độ lệch chuẩn tăng.”</a:t>
            </a:r>
          </a:p>
        </p:txBody>
      </p:sp>
      <p:sp>
        <p:nvSpPr>
          <p:cNvPr id="6" name="TextBox 5"/>
          <p:cNvSpPr txBox="1"/>
          <p:nvPr/>
        </p:nvSpPr>
        <p:spPr>
          <a:xfrm>
            <a:off x="548640" y="1801368"/>
            <a:ext cx="5394960" cy="320040"/>
          </a:xfrm>
          <a:prstGeom prst="rect">
            <a:avLst/>
          </a:prstGeom>
          <a:noFill/>
        </p:spPr>
        <p:txBody>
          <a:bodyPr wrap="square" lIns="0" rIns="0" tIns="0" bIns="0" anchor="t">
            <a:spAutoFit/>
          </a:bodyPr>
          <a:lstStyle/>
          <a:p>
            <a:pPr algn="l"/>
            <a:r>
              <a:rPr sz="1500" b="1" i="0">
                <a:solidFill>
                  <a:srgbClr val="0F8B8D"/>
                </a:solidFill>
                <a:latin typeface="Arial"/>
              </a:rPr>
              <a:t>Tính tay: sai phân một chuỗi đã dừng</a:t>
            </a:r>
          </a:p>
        </p:txBody>
      </p:sp>
      <p:sp>
        <p:nvSpPr>
          <p:cNvPr id="7" name="Rectangle 6"/>
          <p:cNvSpPr/>
          <p:nvPr/>
        </p:nvSpPr>
        <p:spPr>
          <a:xfrm>
            <a:off x="548640" y="2185416"/>
            <a:ext cx="164592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
            </a:r>
          </a:p>
        </p:txBody>
      </p:sp>
      <p:sp>
        <p:nvSpPr>
          <p:cNvPr id="8" name="Rectangle 7"/>
          <p:cNvSpPr/>
          <p:nvPr/>
        </p:nvSpPr>
        <p:spPr>
          <a:xfrm>
            <a:off x="2194560" y="2185416"/>
            <a:ext cx="237744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Các số</a:t>
            </a:r>
          </a:p>
        </p:txBody>
      </p:sp>
      <p:sp>
        <p:nvSpPr>
          <p:cNvPr id="9" name="Rectangle 8"/>
          <p:cNvSpPr/>
          <p:nvPr/>
        </p:nvSpPr>
        <p:spPr>
          <a:xfrm>
            <a:off x="4572000" y="2185416"/>
            <a:ext cx="1371600" cy="45720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Độ lệch chuẩn</a:t>
            </a:r>
          </a:p>
        </p:txBody>
      </p:sp>
      <p:sp>
        <p:nvSpPr>
          <p:cNvPr id="10" name="Rectangle 9"/>
          <p:cNvSpPr/>
          <p:nvPr/>
        </p:nvSpPr>
        <p:spPr>
          <a:xfrm>
            <a:off x="548640" y="2642616"/>
            <a:ext cx="164592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chuỗi đã dừng</a:t>
            </a:r>
          </a:p>
        </p:txBody>
      </p:sp>
      <p:sp>
        <p:nvSpPr>
          <p:cNvPr id="11" name="Rectangle 10"/>
          <p:cNvSpPr/>
          <p:nvPr/>
        </p:nvSpPr>
        <p:spPr>
          <a:xfrm>
            <a:off x="2194560" y="2642616"/>
            <a:ext cx="237744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2, −1, 0, 1, −2, 0</a:t>
            </a:r>
          </a:p>
        </p:txBody>
      </p:sp>
      <p:sp>
        <p:nvSpPr>
          <p:cNvPr id="12" name="Rectangle 11"/>
          <p:cNvSpPr/>
          <p:nvPr/>
        </p:nvSpPr>
        <p:spPr>
          <a:xfrm>
            <a:off x="4572000" y="2642616"/>
            <a:ext cx="1371600" cy="45720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1,41</a:t>
            </a:r>
          </a:p>
        </p:txBody>
      </p:sp>
      <p:sp>
        <p:nvSpPr>
          <p:cNvPr id="13" name="Rectangle 12"/>
          <p:cNvSpPr/>
          <p:nvPr/>
        </p:nvSpPr>
        <p:spPr>
          <a:xfrm>
            <a:off x="548640" y="3099816"/>
            <a:ext cx="1645920" cy="45720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sau sai phân</a:t>
            </a:r>
          </a:p>
        </p:txBody>
      </p:sp>
      <p:sp>
        <p:nvSpPr>
          <p:cNvPr id="14" name="Rectangle 13"/>
          <p:cNvSpPr/>
          <p:nvPr/>
        </p:nvSpPr>
        <p:spPr>
          <a:xfrm>
            <a:off x="2194560" y="3099816"/>
            <a:ext cx="2377440" cy="45720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−3, 1, 1, −3, 2</a:t>
            </a:r>
          </a:p>
        </p:txBody>
      </p:sp>
      <p:sp>
        <p:nvSpPr>
          <p:cNvPr id="15" name="Rectangle 14"/>
          <p:cNvSpPr/>
          <p:nvPr/>
        </p:nvSpPr>
        <p:spPr>
          <a:xfrm>
            <a:off x="4572000" y="3099816"/>
            <a:ext cx="1371600" cy="45720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C0392B"/>
                </a:solidFill>
                <a:latin typeface="Arial"/>
              </a:rPr>
              <a:t>2,41</a:t>
            </a:r>
          </a:p>
        </p:txBody>
      </p:sp>
      <p:sp>
        <p:nvSpPr>
          <p:cNvPr id="16" name="TextBox 15"/>
          <p:cNvSpPr txBox="1"/>
          <p:nvPr/>
        </p:nvSpPr>
        <p:spPr>
          <a:xfrm>
            <a:off x="548640" y="3675887"/>
            <a:ext cx="5394960" cy="914400"/>
          </a:xfrm>
          <a:prstGeom prst="rect">
            <a:avLst/>
          </a:prstGeom>
          <a:noFill/>
        </p:spPr>
        <p:txBody>
          <a:bodyPr wrap="square" lIns="0" rIns="0" tIns="0" bIns="0" anchor="t">
            <a:spAutoFit/>
          </a:bodyPr>
          <a:lstStyle/>
          <a:p>
            <a:pPr algn="l"/>
            <a:r>
              <a:rPr sz="1300" b="0" i="0">
                <a:solidFill>
                  <a:srgbClr val="1B2A41"/>
                </a:solidFill>
                <a:latin typeface="Arial"/>
              </a:rPr>
              <a:t>Độ lệch chuẩn tăng gấp 1,7 và r1 ≈ −0,50: mỗi số gốc có mặt trong hai hiệu liền nhau với hai dấu ngược nhau, nên lên thì lần sau xuống.</a:t>
            </a:r>
          </a:p>
        </p:txBody>
      </p:sp>
      <p:sp>
        <p:nvSpPr>
          <p:cNvPr id="17" name="Rounded Rectangle 16"/>
          <p:cNvSpPr/>
          <p:nvPr/>
        </p:nvSpPr>
        <p:spPr>
          <a:xfrm>
            <a:off x="548640" y="4681728"/>
            <a:ext cx="5394960" cy="155448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4818888"/>
            <a:ext cx="4937760" cy="274320"/>
          </a:xfrm>
          <a:prstGeom prst="rect">
            <a:avLst/>
          </a:prstGeom>
          <a:noFill/>
        </p:spPr>
        <p:txBody>
          <a:bodyPr wrap="square" lIns="0" rIns="0" tIns="0" bIns="0" anchor="t">
            <a:spAutoFit/>
          </a:bodyPr>
          <a:lstStyle/>
          <a:p>
            <a:pPr algn="l"/>
            <a:r>
              <a:rPr sz="1300" b="1" i="0">
                <a:solidFill>
                  <a:srgbClr val="2E6FBF"/>
                </a:solidFill>
                <a:latin typeface="Arial"/>
              </a:rPr>
              <a:t>Dữ liệu thật: GDP Mỹ</a:t>
            </a:r>
          </a:p>
        </p:txBody>
      </p:sp>
      <p:sp>
        <p:nvSpPr>
          <p:cNvPr id="19" name="TextBox 18"/>
          <p:cNvSpPr txBox="1"/>
          <p:nvPr/>
        </p:nvSpPr>
        <p:spPr>
          <a:xfrm>
            <a:off x="777240" y="5093208"/>
            <a:ext cx="4937760" cy="109728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Log GDP chưa dừng, sai phân một lần ra tăng trưởng. Theo KPSS máy móc thì sai phân lần hai, nhưng lần hai cho r1 = −0,488 và độ lệch chuẩn 1,105 → 1,455: thừa. Dừng ở một lần.</a:t>
            </a:r>
          </a:p>
        </p:txBody>
      </p:sp>
      <p:sp>
        <p:nvSpPr>
          <p:cNvPr id="20" name="TextBox 19"/>
          <p:cNvSpPr txBox="1"/>
          <p:nvPr/>
        </p:nvSpPr>
        <p:spPr>
          <a:xfrm>
            <a:off x="6309360" y="1801368"/>
            <a:ext cx="5330952" cy="320040"/>
          </a:xfrm>
          <a:prstGeom prst="rect">
            <a:avLst/>
          </a:prstGeom>
          <a:noFill/>
        </p:spPr>
        <p:txBody>
          <a:bodyPr wrap="square" lIns="0" rIns="0" tIns="0" bIns="0" anchor="t">
            <a:spAutoFit/>
          </a:bodyPr>
          <a:lstStyle/>
          <a:p>
            <a:pPr algn="l"/>
            <a:r>
              <a:rPr sz="1500" b="1" i="0">
                <a:solidFill>
                  <a:srgbClr val="0F8B8D"/>
                </a:solidFill>
                <a:latin typeface="Arial"/>
              </a:rPr>
              <a:t>Có mùa vụ: sai phân mùa vụ trước</a:t>
            </a:r>
          </a:p>
        </p:txBody>
      </p:sp>
      <p:sp>
        <p:nvSpPr>
          <p:cNvPr id="21" name="Rectangle 20"/>
          <p:cNvSpPr/>
          <p:nvPr/>
        </p:nvSpPr>
        <p:spPr>
          <a:xfrm>
            <a:off x="6309360" y="2185416"/>
            <a:ext cx="2039112" cy="47548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Lượt thuê, log, m = 168</a:t>
            </a:r>
          </a:p>
        </p:txBody>
      </p:sp>
      <p:sp>
        <p:nvSpPr>
          <p:cNvPr id="22" name="Rectangle 21"/>
          <p:cNvSpPr/>
          <p:nvPr/>
        </p:nvSpPr>
        <p:spPr>
          <a:xfrm>
            <a:off x="8348472" y="2185416"/>
            <a:ext cx="777240" cy="47548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r1</a:t>
            </a:r>
          </a:p>
        </p:txBody>
      </p:sp>
      <p:sp>
        <p:nvSpPr>
          <p:cNvPr id="23" name="Rectangle 22"/>
          <p:cNvSpPr/>
          <p:nvPr/>
        </p:nvSpPr>
        <p:spPr>
          <a:xfrm>
            <a:off x="9125712" y="2185416"/>
            <a:ext cx="777240" cy="47548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r24</a:t>
            </a:r>
          </a:p>
        </p:txBody>
      </p:sp>
      <p:sp>
        <p:nvSpPr>
          <p:cNvPr id="24" name="Rectangle 23"/>
          <p:cNvSpPr/>
          <p:nvPr/>
        </p:nvSpPr>
        <p:spPr>
          <a:xfrm>
            <a:off x="9902952" y="2185416"/>
            <a:ext cx="777240" cy="47548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r168</a:t>
            </a:r>
          </a:p>
        </p:txBody>
      </p:sp>
      <p:sp>
        <p:nvSpPr>
          <p:cNvPr id="25" name="Rectangle 24"/>
          <p:cNvSpPr/>
          <p:nvPr/>
        </p:nvSpPr>
        <p:spPr>
          <a:xfrm>
            <a:off x="10680192" y="2185416"/>
            <a:ext cx="960120" cy="47548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Độ lệch chuẩn</a:t>
            </a:r>
          </a:p>
        </p:txBody>
      </p:sp>
      <p:sp>
        <p:nvSpPr>
          <p:cNvPr id="26" name="Rectangle 25"/>
          <p:cNvSpPr/>
          <p:nvPr/>
        </p:nvSpPr>
        <p:spPr>
          <a:xfrm>
            <a:off x="6309360" y="2660904"/>
            <a:ext cx="2039112"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chưa sai phân</a:t>
            </a:r>
          </a:p>
        </p:txBody>
      </p:sp>
      <p:sp>
        <p:nvSpPr>
          <p:cNvPr id="27" name="Rectangle 26"/>
          <p:cNvSpPr/>
          <p:nvPr/>
        </p:nvSpPr>
        <p:spPr>
          <a:xfrm>
            <a:off x="8348472" y="2660904"/>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0,898</a:t>
            </a:r>
          </a:p>
        </p:txBody>
      </p:sp>
      <p:sp>
        <p:nvSpPr>
          <p:cNvPr id="28" name="Rectangle 27"/>
          <p:cNvSpPr/>
          <p:nvPr/>
        </p:nvSpPr>
        <p:spPr>
          <a:xfrm>
            <a:off x="9125712" y="2660904"/>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0,863</a:t>
            </a:r>
          </a:p>
        </p:txBody>
      </p:sp>
      <p:sp>
        <p:nvSpPr>
          <p:cNvPr id="29" name="Rectangle 28"/>
          <p:cNvSpPr/>
          <p:nvPr/>
        </p:nvSpPr>
        <p:spPr>
          <a:xfrm>
            <a:off x="9902952" y="2660904"/>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0,896</a:t>
            </a:r>
          </a:p>
        </p:txBody>
      </p:sp>
      <p:sp>
        <p:nvSpPr>
          <p:cNvPr id="30" name="Rectangle 29"/>
          <p:cNvSpPr/>
          <p:nvPr/>
        </p:nvSpPr>
        <p:spPr>
          <a:xfrm>
            <a:off x="10680192" y="2660904"/>
            <a:ext cx="96012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1,430</a:t>
            </a:r>
          </a:p>
        </p:txBody>
      </p:sp>
      <p:sp>
        <p:nvSpPr>
          <p:cNvPr id="31" name="Rectangle 30"/>
          <p:cNvSpPr/>
          <p:nvPr/>
        </p:nvSpPr>
        <p:spPr>
          <a:xfrm>
            <a:off x="6309360" y="3136392"/>
            <a:ext cx="2039112"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sai phân thường</a:t>
            </a:r>
          </a:p>
        </p:txBody>
      </p:sp>
      <p:sp>
        <p:nvSpPr>
          <p:cNvPr id="32" name="Rectangle 31"/>
          <p:cNvSpPr/>
          <p:nvPr/>
        </p:nvSpPr>
        <p:spPr>
          <a:xfrm>
            <a:off x="8348472" y="3136392"/>
            <a:ext cx="77724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0,493</a:t>
            </a:r>
          </a:p>
        </p:txBody>
      </p:sp>
      <p:sp>
        <p:nvSpPr>
          <p:cNvPr id="33" name="Rectangle 32"/>
          <p:cNvSpPr/>
          <p:nvPr/>
        </p:nvSpPr>
        <p:spPr>
          <a:xfrm>
            <a:off x="9125712" y="3136392"/>
            <a:ext cx="777240" cy="47548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C0392B"/>
                </a:solidFill>
                <a:latin typeface="Arial"/>
              </a:rPr>
              <a:t>0,676</a:t>
            </a:r>
          </a:p>
        </p:txBody>
      </p:sp>
      <p:sp>
        <p:nvSpPr>
          <p:cNvPr id="34" name="Rectangle 33"/>
          <p:cNvSpPr/>
          <p:nvPr/>
        </p:nvSpPr>
        <p:spPr>
          <a:xfrm>
            <a:off x="9902952" y="3136392"/>
            <a:ext cx="777240" cy="47548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C0392B"/>
                </a:solidFill>
                <a:latin typeface="Arial"/>
              </a:rPr>
              <a:t>0,767</a:t>
            </a:r>
          </a:p>
        </p:txBody>
      </p:sp>
      <p:sp>
        <p:nvSpPr>
          <p:cNvPr id="35" name="Rectangle 34"/>
          <p:cNvSpPr/>
          <p:nvPr/>
        </p:nvSpPr>
        <p:spPr>
          <a:xfrm>
            <a:off x="10680192" y="3136392"/>
            <a:ext cx="96012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0,643</a:t>
            </a:r>
          </a:p>
        </p:txBody>
      </p:sp>
      <p:sp>
        <p:nvSpPr>
          <p:cNvPr id="36" name="Rectangle 35"/>
          <p:cNvSpPr/>
          <p:nvPr/>
        </p:nvSpPr>
        <p:spPr>
          <a:xfrm>
            <a:off x="6309360" y="3611880"/>
            <a:ext cx="2039112"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sai phân mùa vụ 168</a:t>
            </a:r>
          </a:p>
        </p:txBody>
      </p:sp>
      <p:sp>
        <p:nvSpPr>
          <p:cNvPr id="37" name="Rectangle 36"/>
          <p:cNvSpPr/>
          <p:nvPr/>
        </p:nvSpPr>
        <p:spPr>
          <a:xfrm>
            <a:off x="8348472" y="3611880"/>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0,732</a:t>
            </a:r>
          </a:p>
        </p:txBody>
      </p:sp>
      <p:sp>
        <p:nvSpPr>
          <p:cNvPr id="38" name="Rectangle 37"/>
          <p:cNvSpPr/>
          <p:nvPr/>
        </p:nvSpPr>
        <p:spPr>
          <a:xfrm>
            <a:off x="9125712" y="3611880"/>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0,161</a:t>
            </a:r>
          </a:p>
        </p:txBody>
      </p:sp>
      <p:sp>
        <p:nvSpPr>
          <p:cNvPr id="39" name="Rectangle 38"/>
          <p:cNvSpPr/>
          <p:nvPr/>
        </p:nvSpPr>
        <p:spPr>
          <a:xfrm>
            <a:off x="9902952" y="3611880"/>
            <a:ext cx="77724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−0,465</a:t>
            </a:r>
          </a:p>
        </p:txBody>
      </p:sp>
      <p:sp>
        <p:nvSpPr>
          <p:cNvPr id="40" name="Rectangle 39"/>
          <p:cNvSpPr/>
          <p:nvPr/>
        </p:nvSpPr>
        <p:spPr>
          <a:xfrm>
            <a:off x="10680192" y="3611880"/>
            <a:ext cx="960120" cy="47548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0,589</a:t>
            </a:r>
          </a:p>
        </p:txBody>
      </p:sp>
      <p:sp>
        <p:nvSpPr>
          <p:cNvPr id="41" name="Rectangle 40"/>
          <p:cNvSpPr/>
          <p:nvPr/>
        </p:nvSpPr>
        <p:spPr>
          <a:xfrm>
            <a:off x="6309360" y="4087368"/>
            <a:ext cx="2039112"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168 rồi thường</a:t>
            </a:r>
          </a:p>
        </p:txBody>
      </p:sp>
      <p:sp>
        <p:nvSpPr>
          <p:cNvPr id="42" name="Rectangle 41"/>
          <p:cNvSpPr/>
          <p:nvPr/>
        </p:nvSpPr>
        <p:spPr>
          <a:xfrm>
            <a:off x="8348472" y="4087368"/>
            <a:ext cx="77724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−0,249</a:t>
            </a:r>
          </a:p>
        </p:txBody>
      </p:sp>
      <p:sp>
        <p:nvSpPr>
          <p:cNvPr id="43" name="Rectangle 42"/>
          <p:cNvSpPr/>
          <p:nvPr/>
        </p:nvSpPr>
        <p:spPr>
          <a:xfrm>
            <a:off x="9125712" y="4087368"/>
            <a:ext cx="77724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0,028</a:t>
            </a:r>
          </a:p>
        </p:txBody>
      </p:sp>
      <p:sp>
        <p:nvSpPr>
          <p:cNvPr id="44" name="Rectangle 43"/>
          <p:cNvSpPr/>
          <p:nvPr/>
        </p:nvSpPr>
        <p:spPr>
          <a:xfrm>
            <a:off x="9902952" y="4087368"/>
            <a:ext cx="77724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−0,498</a:t>
            </a:r>
          </a:p>
        </p:txBody>
      </p:sp>
      <p:sp>
        <p:nvSpPr>
          <p:cNvPr id="45" name="Rectangle 44"/>
          <p:cNvSpPr/>
          <p:nvPr/>
        </p:nvSpPr>
        <p:spPr>
          <a:xfrm>
            <a:off x="10680192" y="4087368"/>
            <a:ext cx="960120" cy="47548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0,427</a:t>
            </a:r>
          </a:p>
        </p:txBody>
      </p:sp>
      <p:sp>
        <p:nvSpPr>
          <p:cNvPr id="46" name="TextBox 45"/>
          <p:cNvSpPr txBox="1"/>
          <p:nvPr/>
        </p:nvSpPr>
        <p:spPr>
          <a:xfrm>
            <a:off x="6309360" y="4681728"/>
            <a:ext cx="5330952" cy="1554480"/>
          </a:xfrm>
          <a:prstGeom prst="rect">
            <a:avLst/>
          </a:prstGeom>
          <a:noFill/>
        </p:spPr>
        <p:txBody>
          <a:bodyPr wrap="square" lIns="0" rIns="0" tIns="0" bIns="0" anchor="t">
            <a:spAutoFit/>
          </a:bodyPr>
          <a:lstStyle/>
          <a:p>
            <a:pPr algn="l"/>
            <a:r>
              <a:rPr sz="1300" b="0" i="0">
                <a:solidFill>
                  <a:srgbClr val="1B2A41"/>
                </a:solidFill>
                <a:latin typeface="Arial"/>
              </a:rPr>
              <a:t>Chỉ sai phân thường thì r24, r168 vẫn lớn: mùa vụ còn nguyên. Sai phân mùa vụ bỏ được nhịp ngày và tuần; thêm sai phân thường thì độ lệch chuẩn giảm tiếp và r1 chưa tới −0,5, nên cả hai lần đều đáng.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Gặp một chuỗi lạ: bảy bước của buổi 7</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“Nhìn trước, kiểm bằng số sau; chữa xong thì kiểm xem có chữa quá tay không.”</a:t>
            </a:r>
          </a:p>
        </p:txBody>
      </p:sp>
      <p:sp>
        <p:nvSpPr>
          <p:cNvPr id="6" name="Rounded Rectangle 5"/>
          <p:cNvSpPr/>
          <p:nvPr/>
        </p:nvSpPr>
        <p:spPr>
          <a:xfrm>
            <a:off x="54864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1</a:t>
            </a:r>
          </a:p>
        </p:txBody>
      </p:sp>
      <p:sp>
        <p:nvSpPr>
          <p:cNvPr id="8" name="TextBox 7"/>
          <p:cNvSpPr txBox="1"/>
          <p:nvPr/>
        </p:nvSpPr>
        <p:spPr>
          <a:xfrm>
            <a:off x="1161288" y="1892807"/>
            <a:ext cx="1849374" cy="475488"/>
          </a:xfrm>
          <a:prstGeom prst="rect">
            <a:avLst/>
          </a:prstGeom>
          <a:noFill/>
        </p:spPr>
        <p:txBody>
          <a:bodyPr wrap="square" lIns="0" rIns="0" tIns="0" bIns="0" anchor="ctr">
            <a:spAutoFit/>
          </a:bodyPr>
          <a:lstStyle/>
          <a:p>
            <a:pPr algn="l"/>
            <a:r>
              <a:rPr sz="1700" b="1" i="0">
                <a:solidFill>
                  <a:srgbClr val="0F8B8D"/>
                </a:solidFill>
                <a:latin typeface="Arial"/>
              </a:rPr>
              <a:t>Nhìn ACF</a:t>
            </a:r>
          </a:p>
        </p:txBody>
      </p:sp>
      <p:sp>
        <p:nvSpPr>
          <p:cNvPr id="9" name="TextBox 8"/>
          <p:cNvSpPr txBox="1"/>
          <p:nvPr/>
        </p:nvSpPr>
        <p:spPr>
          <a:xfrm>
            <a:off x="731520" y="2459736"/>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Quanh 0: nhiễu trắng. Giảm rất chậm: chưa dừng. Có đỉnh đều: mùa vụ.</a:t>
            </a:r>
          </a:p>
        </p:txBody>
      </p:sp>
      <p:cxnSp>
        <p:nvCxnSpPr>
          <p:cNvPr id="10" name="Connector 9"/>
          <p:cNvCxnSpPr/>
          <p:nvPr/>
        </p:nvCxnSpPr>
        <p:spPr>
          <a:xfrm>
            <a:off x="3138678" y="2939796"/>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9471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3187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2</a:t>
            </a:r>
          </a:p>
        </p:txBody>
      </p:sp>
      <p:sp>
        <p:nvSpPr>
          <p:cNvPr id="13" name="TextBox 12"/>
          <p:cNvSpPr txBox="1"/>
          <p:nvPr/>
        </p:nvSpPr>
        <p:spPr>
          <a:xfrm>
            <a:off x="4007358" y="1892807"/>
            <a:ext cx="1849374" cy="475488"/>
          </a:xfrm>
          <a:prstGeom prst="rect">
            <a:avLst/>
          </a:prstGeom>
          <a:noFill/>
        </p:spPr>
        <p:txBody>
          <a:bodyPr wrap="square" lIns="0" rIns="0" tIns="0" bIns="0" anchor="ctr">
            <a:spAutoFit/>
          </a:bodyPr>
          <a:lstStyle/>
          <a:p>
            <a:pPr algn="l"/>
            <a:r>
              <a:rPr sz="1700" b="1" i="0">
                <a:solidFill>
                  <a:srgbClr val="0F8B8D"/>
                </a:solidFill>
                <a:latin typeface="Arial"/>
              </a:rPr>
              <a:t>Nhìn PACF</a:t>
            </a:r>
          </a:p>
        </p:txBody>
      </p:sp>
      <p:sp>
        <p:nvSpPr>
          <p:cNvPr id="14" name="TextBox 13"/>
          <p:cNvSpPr txBox="1"/>
          <p:nvPr/>
        </p:nvSpPr>
        <p:spPr>
          <a:xfrm>
            <a:off x="3577590" y="2459736"/>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Cao ở vài trễ đầu rồi tắt hẳn sau trễ p: giống AR(p).</a:t>
            </a:r>
          </a:p>
        </p:txBody>
      </p:sp>
      <p:cxnSp>
        <p:nvCxnSpPr>
          <p:cNvPr id="15" name="Connector 14"/>
          <p:cNvCxnSpPr/>
          <p:nvPr/>
        </p:nvCxnSpPr>
        <p:spPr>
          <a:xfrm>
            <a:off x="5984748" y="2939796"/>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4078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3</a:t>
            </a:r>
          </a:p>
        </p:txBody>
      </p:sp>
      <p:sp>
        <p:nvSpPr>
          <p:cNvPr id="18" name="TextBox 17"/>
          <p:cNvSpPr txBox="1"/>
          <p:nvPr/>
        </p:nvSpPr>
        <p:spPr>
          <a:xfrm>
            <a:off x="6853428" y="1892807"/>
            <a:ext cx="1849374" cy="475488"/>
          </a:xfrm>
          <a:prstGeom prst="rect">
            <a:avLst/>
          </a:prstGeom>
          <a:noFill/>
        </p:spPr>
        <p:txBody>
          <a:bodyPr wrap="square" lIns="0" rIns="0" tIns="0" bIns="0" anchor="ctr">
            <a:spAutoFit/>
          </a:bodyPr>
          <a:lstStyle/>
          <a:p>
            <a:pPr algn="l"/>
            <a:r>
              <a:rPr sz="1700" b="1" i="0">
                <a:solidFill>
                  <a:srgbClr val="0F8B8D"/>
                </a:solidFill>
                <a:latin typeface="Arial"/>
              </a:rPr>
              <a:t>Ljung-Box</a:t>
            </a:r>
          </a:p>
        </p:txBody>
      </p:sp>
      <p:sp>
        <p:nvSpPr>
          <p:cNvPr id="19" name="TextBox 18"/>
          <p:cNvSpPr txBox="1"/>
          <p:nvPr/>
        </p:nvSpPr>
        <p:spPr>
          <a:xfrm>
            <a:off x="6423660" y="2459736"/>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Một p-value cho nhiều trễ. p &lt; 0,05 là còn quy luật. Đừng đếm cột vượt dải.</a:t>
            </a:r>
          </a:p>
        </p:txBody>
      </p:sp>
      <p:cxnSp>
        <p:nvCxnSpPr>
          <p:cNvPr id="20" name="Connector 19"/>
          <p:cNvCxnSpPr/>
          <p:nvPr/>
        </p:nvCxnSpPr>
        <p:spPr>
          <a:xfrm>
            <a:off x="8830817" y="2939796"/>
            <a:ext cx="219457"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8685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2401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4</a:t>
            </a:r>
          </a:p>
        </p:txBody>
      </p:sp>
      <p:sp>
        <p:nvSpPr>
          <p:cNvPr id="23" name="TextBox 22"/>
          <p:cNvSpPr txBox="1"/>
          <p:nvPr/>
        </p:nvSpPr>
        <p:spPr>
          <a:xfrm>
            <a:off x="9699498" y="1892807"/>
            <a:ext cx="1849374" cy="475488"/>
          </a:xfrm>
          <a:prstGeom prst="rect">
            <a:avLst/>
          </a:prstGeom>
          <a:noFill/>
        </p:spPr>
        <p:txBody>
          <a:bodyPr wrap="square" lIns="0" rIns="0" tIns="0" bIns="0" anchor="ctr">
            <a:spAutoFit/>
          </a:bodyPr>
          <a:lstStyle/>
          <a:p>
            <a:pPr algn="l"/>
            <a:r>
              <a:rPr sz="1700" b="1" i="0">
                <a:solidFill>
                  <a:srgbClr val="0F8B8D"/>
                </a:solidFill>
                <a:latin typeface="Arial"/>
              </a:rPr>
              <a:t>ADF và KPSS</a:t>
            </a:r>
          </a:p>
        </p:txBody>
      </p:sp>
      <p:sp>
        <p:nvSpPr>
          <p:cNvPr id="24" name="TextBox 23"/>
          <p:cNvSpPr txBox="1"/>
          <p:nvPr/>
        </p:nvSpPr>
        <p:spPr>
          <a:xfrm>
            <a:off x="9269730" y="2459736"/>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Chạy cả hai, cùng dạng: “c” nếu quanh một mức, “ct” nếu quanh một đường.</a:t>
            </a:r>
          </a:p>
        </p:txBody>
      </p:sp>
      <p:sp>
        <p:nvSpPr>
          <p:cNvPr id="25" name="Rounded Rectangle 24"/>
          <p:cNvSpPr/>
          <p:nvPr/>
        </p:nvSpPr>
        <p:spPr>
          <a:xfrm>
            <a:off x="54864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5</a:t>
            </a:r>
          </a:p>
        </p:txBody>
      </p:sp>
      <p:sp>
        <p:nvSpPr>
          <p:cNvPr id="27" name="TextBox 26"/>
          <p:cNvSpPr txBox="1"/>
          <p:nvPr/>
        </p:nvSpPr>
        <p:spPr>
          <a:xfrm>
            <a:off x="1161288" y="4352544"/>
            <a:ext cx="1849374" cy="475488"/>
          </a:xfrm>
          <a:prstGeom prst="rect">
            <a:avLst/>
          </a:prstGeom>
          <a:noFill/>
        </p:spPr>
        <p:txBody>
          <a:bodyPr wrap="square" lIns="0" rIns="0" tIns="0" bIns="0" anchor="ctr">
            <a:spAutoFit/>
          </a:bodyPr>
          <a:lstStyle/>
          <a:p>
            <a:pPr algn="l"/>
            <a:r>
              <a:rPr sz="1700" b="1" i="0">
                <a:solidFill>
                  <a:srgbClr val="0F8B8D"/>
                </a:solidFill>
                <a:latin typeface="Arial"/>
              </a:rPr>
              <a:t>Đọc bảng 2 × 2</a:t>
            </a:r>
          </a:p>
        </p:txBody>
      </p:sp>
      <p:sp>
        <p:nvSpPr>
          <p:cNvPr id="28" name="TextBox 27"/>
          <p:cNvSpPr txBox="1"/>
          <p:nvPr/>
        </p:nvSpPr>
        <p:spPr>
          <a:xfrm>
            <a:off x="731520" y="4919472"/>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Hai kiểm định cùng hướng thì tin. Mâu thuẫn thì vẽ chuỗi, tìm cú sốc hay đổi mức.</a:t>
            </a:r>
          </a:p>
        </p:txBody>
      </p:sp>
      <p:cxnSp>
        <p:nvCxnSpPr>
          <p:cNvPr id="29" name="Connector 28"/>
          <p:cNvCxnSpPr/>
          <p:nvPr/>
        </p:nvCxnSpPr>
        <p:spPr>
          <a:xfrm>
            <a:off x="3138678" y="5399532"/>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39471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3187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6</a:t>
            </a:r>
          </a:p>
        </p:txBody>
      </p:sp>
      <p:sp>
        <p:nvSpPr>
          <p:cNvPr id="32" name="TextBox 31"/>
          <p:cNvSpPr txBox="1"/>
          <p:nvPr/>
        </p:nvSpPr>
        <p:spPr>
          <a:xfrm>
            <a:off x="4007358" y="4352544"/>
            <a:ext cx="1849374" cy="475488"/>
          </a:xfrm>
          <a:prstGeom prst="rect">
            <a:avLst/>
          </a:prstGeom>
          <a:noFill/>
        </p:spPr>
        <p:txBody>
          <a:bodyPr wrap="square" lIns="0" rIns="0" tIns="0" bIns="0" anchor="ctr">
            <a:spAutoFit/>
          </a:bodyPr>
          <a:lstStyle/>
          <a:p>
            <a:pPr algn="l"/>
            <a:r>
              <a:rPr sz="1700" b="1" i="0">
                <a:solidFill>
                  <a:srgbClr val="0F8B8D"/>
                </a:solidFill>
                <a:latin typeface="Arial"/>
              </a:rPr>
              <a:t>Chữa</a:t>
            </a:r>
          </a:p>
        </p:txBody>
      </p:sp>
      <p:sp>
        <p:nvSpPr>
          <p:cNvPr id="33" name="TextBox 32"/>
          <p:cNvSpPr txBox="1"/>
          <p:nvPr/>
        </p:nvSpPr>
        <p:spPr>
          <a:xfrm>
            <a:off x="3577590" y="4919472"/>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Random walk: sai phân. Quanh xu hướng: khử xu hướng. Có mùa vụ: sai phân mùa vụ trước.</a:t>
            </a:r>
          </a:p>
        </p:txBody>
      </p:sp>
      <p:cxnSp>
        <p:nvCxnSpPr>
          <p:cNvPr id="34" name="Connector 33"/>
          <p:cNvCxnSpPr/>
          <p:nvPr/>
        </p:nvCxnSpPr>
        <p:spPr>
          <a:xfrm>
            <a:off x="5984748" y="5399532"/>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4078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794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7</a:t>
            </a:r>
          </a:p>
        </p:txBody>
      </p:sp>
      <p:sp>
        <p:nvSpPr>
          <p:cNvPr id="37" name="TextBox 36"/>
          <p:cNvSpPr txBox="1"/>
          <p:nvPr/>
        </p:nvSpPr>
        <p:spPr>
          <a:xfrm>
            <a:off x="6853428" y="4352544"/>
            <a:ext cx="1849374" cy="475488"/>
          </a:xfrm>
          <a:prstGeom prst="rect">
            <a:avLst/>
          </a:prstGeom>
          <a:noFill/>
        </p:spPr>
        <p:txBody>
          <a:bodyPr wrap="square" lIns="0" rIns="0" tIns="0" bIns="0" anchor="ctr">
            <a:spAutoFit/>
          </a:bodyPr>
          <a:lstStyle/>
          <a:p>
            <a:pPr algn="l"/>
            <a:r>
              <a:rPr sz="1700" b="1" i="0">
                <a:solidFill>
                  <a:srgbClr val="0F8B8D"/>
                </a:solidFill>
                <a:latin typeface="Arial"/>
              </a:rPr>
              <a:t>Kiểm chữa quá tay</a:t>
            </a:r>
          </a:p>
        </p:txBody>
      </p:sp>
      <p:sp>
        <p:nvSpPr>
          <p:cNvPr id="38" name="TextBox 37"/>
          <p:cNvSpPr txBox="1"/>
          <p:nvPr/>
        </p:nvSpPr>
        <p:spPr>
          <a:xfrm>
            <a:off x="6423660" y="4919472"/>
            <a:ext cx="2187702" cy="1545336"/>
          </a:xfrm>
          <a:prstGeom prst="rect">
            <a:avLst/>
          </a:prstGeom>
          <a:noFill/>
        </p:spPr>
        <p:txBody>
          <a:bodyPr wrap="square" lIns="0" rIns="0" tIns="0" bIns="0" anchor="t">
            <a:spAutoFit/>
          </a:bodyPr>
          <a:lstStyle/>
          <a:p>
            <a:pPr algn="l">
              <a:spcAft>
                <a:spcPts val="200"/>
              </a:spcAft>
            </a:pPr>
            <a:r>
              <a:rPr sz="1600" b="0" i="0">
                <a:solidFill>
                  <a:srgbClr val="1B2A41"/>
                </a:solidFill>
                <a:latin typeface="Arial"/>
              </a:rPr>
              <a:t>Sai phân xong mà r1 về gần −0,5, hoặc độ lệch chuẩn tăng: bớt một lần.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Vẽ scatter trước khi tin r</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scatter plot · Pearson / Spearman correlation · Anscombe's quartet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hai đại lượng đi cùng nhau tới đâu, sau khi đã nhìn hình dạng của quan hệ.</a:t>
            </a:r>
          </a:p>
        </p:txBody>
      </p:sp>
      <p:sp>
        <p:nvSpPr>
          <p:cNvPr id="7" name="Rounded Rectangle 6"/>
          <p:cNvSpPr/>
          <p:nvPr/>
        </p:nvSpPr>
        <p:spPr>
          <a:xfrm>
            <a:off x="548640" y="2066543"/>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93268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cc1c5cfc3668.png"/>
          <p:cNvPicPr>
            <a:picLocks noChangeAspect="1"/>
          </p:cNvPicPr>
          <p:nvPr/>
        </p:nvPicPr>
        <p:blipFill>
          <a:blip r:embed="rId2"/>
          <a:stretch>
            <a:fillRect/>
          </a:stretch>
        </p:blipFill>
        <p:spPr>
          <a:xfrm>
            <a:off x="1783080" y="2121408"/>
            <a:ext cx="2480850" cy="822960"/>
          </a:xfrm>
          <a:prstGeom prst="rect">
            <a:avLst/>
          </a:prstGeom>
        </p:spPr>
      </p:pic>
      <p:sp>
        <p:nvSpPr>
          <p:cNvPr id="10" name="TextBox 9"/>
          <p:cNvSpPr txBox="1"/>
          <p:nvPr/>
        </p:nvSpPr>
        <p:spPr>
          <a:xfrm>
            <a:off x="5602071" y="2066543"/>
            <a:ext cx="5901080" cy="932688"/>
          </a:xfrm>
          <a:prstGeom prst="rect">
            <a:avLst/>
          </a:prstGeom>
          <a:noFill/>
        </p:spPr>
        <p:txBody>
          <a:bodyPr wrap="square" lIns="0" rIns="0" tIns="0" bIns="0" anchor="ctr">
            <a:spAutoFit/>
          </a:bodyPr>
          <a:lstStyle/>
          <a:p>
            <a:pPr algn="l"/>
            <a:r>
              <a:rPr sz="1150" b="0" i="0">
                <a:solidFill>
                  <a:srgbClr val="1B2A41"/>
                </a:solidFill>
                <a:latin typeface="Arial"/>
              </a:rPr>
              <a:t>1, 2, 3 với 2, 4, 6 cho r = 1. Spearman: tính r trên thứ hạng.</a:t>
            </a:r>
          </a:p>
        </p:txBody>
      </p:sp>
      <p:pic>
        <p:nvPicPr>
          <p:cNvPr id="11" name="Picture 10" descr="anscombe.png"/>
          <p:cNvPicPr>
            <a:picLocks noChangeAspect="1"/>
          </p:cNvPicPr>
          <p:nvPr/>
        </p:nvPicPr>
        <p:blipFill>
          <a:blip r:embed="rId3"/>
          <a:stretch>
            <a:fillRect/>
          </a:stretch>
        </p:blipFill>
        <p:spPr>
          <a:xfrm>
            <a:off x="2781579" y="3090672"/>
            <a:ext cx="6625792" cy="184708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Pearson r đo quan hệ đường thẳng. Spearman đo hai biến có cùng tăng theo thứ hạng không. Kendall đếm cặp cùng chiều.</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Cao hay thấp nghĩa là gì</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8" name="Connector 17"/>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1" name="TextBox 20"/>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ngược chiều</a:t>
            </a:r>
          </a:p>
        </p:txBody>
      </p:sp>
      <p:sp>
        <p:nvSpPr>
          <p:cNvPr id="22" name="Oval 21"/>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4" name="TextBox 23"/>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có quan hệ thẳng</a:t>
            </a:r>
          </a:p>
        </p:txBody>
      </p:sp>
      <p:sp>
        <p:nvSpPr>
          <p:cNvPr id="25" name="Oval 24"/>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7" name="TextBox 26"/>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cùng tăng</a:t>
            </a:r>
          </a:p>
        </p:txBody>
      </p:sp>
      <p:sp>
        <p:nvSpPr>
          <p:cNvPr id="28" name="Rounded Rectangle 2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0" name="TextBox 2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Bốn bộ Anscombe khác hẳn nhau mà cùng r = 0,82. Hình chữ U đối xứng thì Pearson và Spearman đều bằng 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Spearman: cùng tăng là đủ, không cần thẳng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Spearman rank correlation · Kendall τ · Pearson 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y luôn tăng khi x tăng, nhưng theo đường cong. Pearson có thấy quan hệ đó là hoàn hảo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hai đại lượng có cùng tăng (hay cùng giảm) không, kể cả khi quan hệ là đường cong.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8c094a12a72.png"/>
          <p:cNvPicPr>
            <a:picLocks noChangeAspect="1"/>
          </p:cNvPicPr>
          <p:nvPr/>
        </p:nvPicPr>
        <p:blipFill>
          <a:blip r:embed="rId2"/>
          <a:stretch>
            <a:fillRect/>
          </a:stretch>
        </p:blipFill>
        <p:spPr>
          <a:xfrm>
            <a:off x="2186940" y="2628899"/>
            <a:ext cx="3032760" cy="265176"/>
          </a:xfrm>
          <a:prstGeom prst="rect">
            <a:avLst/>
          </a:prstGeom>
        </p:spPr>
      </p:pic>
      <p:pic>
        <p:nvPicPr>
          <p:cNvPr id="10" name="Picture 9" descr="kn-spearman.png"/>
          <p:cNvPicPr>
            <a:picLocks noChangeAspect="1"/>
          </p:cNvPicPr>
          <p:nvPr/>
        </p:nvPicPr>
        <p:blipFill>
          <a:blip r:embed="rId3"/>
          <a:stretch>
            <a:fillRect/>
          </a:stretch>
        </p:blipFill>
        <p:spPr>
          <a:xfrm>
            <a:off x="548640" y="3292742"/>
            <a:ext cx="6309360" cy="3088866"/>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Spearman xếp hạng từng biến (nhỏ nhất là hạng 1) rồi tính Pearson trên các hạng. Kendall cũng dùng hạng, đếm số cặp cùng chiều.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So với Pearson</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Pearson</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đo mức thẳng hàng</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Spearman</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đo mức cùng tăng theo thứ hạng</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cả hai = 0</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vẫn có thể là chữ U</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y = x² với x = 1…5: Pearson 0,981, Spearman 1. Với x = −2…2 (chữ U): cả hai bằng 0 dù y hoàn toàn theo x.</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Durbin–Watson: phần dư đổi chậm là đáng ngờ</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Durbin–Watson statistic · regression residuals · spurious regression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CPI và dân số Mỹ có R² = 0,95 và t = 88,6. Hai thứ đó liên quan mạnh tới vậy thật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đường hồi quy có bỏ sót cấu trúc thời gian không, trước khi tin R² và t.</a:t>
            </a:r>
          </a:p>
        </p:txBody>
      </p:sp>
      <p:sp>
        <p:nvSpPr>
          <p:cNvPr id="8" name="Rounded Rectangle 7"/>
          <p:cNvSpPr/>
          <p:nvPr/>
        </p:nvSpPr>
        <p:spPr>
          <a:xfrm>
            <a:off x="548640" y="2432303"/>
            <a:ext cx="6309360"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9fcb2f19c9c.png"/>
          <p:cNvPicPr>
            <a:picLocks noChangeAspect="1"/>
          </p:cNvPicPr>
          <p:nvPr/>
        </p:nvPicPr>
        <p:blipFill>
          <a:blip r:embed="rId2"/>
          <a:stretch>
            <a:fillRect/>
          </a:stretch>
        </p:blipFill>
        <p:spPr>
          <a:xfrm>
            <a:off x="2859353" y="2487168"/>
            <a:ext cx="1687932" cy="822960"/>
          </a:xfrm>
          <a:prstGeom prst="rect">
            <a:avLst/>
          </a:prstGeom>
        </p:spPr>
      </p:pic>
      <p:pic>
        <p:nvPicPr>
          <p:cNvPr id="10" name="Picture 9" descr="kn-durbin-watson.png"/>
          <p:cNvPicPr>
            <a:picLocks noChangeAspect="1"/>
          </p:cNvPicPr>
          <p:nvPr/>
        </p:nvPicPr>
        <p:blipFill>
          <a:blip r:embed="rId3"/>
          <a:stretch>
            <a:fillRect/>
          </a:stretch>
        </p:blipFill>
        <p:spPr>
          <a:xfrm>
            <a:off x="548640" y="3552809"/>
            <a:ext cx="6309360" cy="2843053"/>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Hồi quy chuỗi này theo chuỗi kia rồi xem phần dư, tức phần đường thẳng không giải thích được. DW so bước nhảy giữa hai phần dư liền nhau với độ lớn phần dư.</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DW lớn hay nhỏ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gần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đổi rất chậm: nghi tương quan giả</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gần 2</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lộn xộn: ổn</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trên 2</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đổi dấu liên tục</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Phần dư 1, 1, 1, −1, −1, −1: DW = 4 / 6 ≈ 0,67. CPI theo dân số Mỹ: R² 0,95 mà DW chỉ 0,0051.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CDD, HDD: tách chữ U thành hai nhánh thẳng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cooling / heating degree days (CDD / HDD) · base temperature 65 °F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Lạnh bật sưởi, nóng bật điều hoà. Một đường thẳng theo nhiệt độ có tả được tải điện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quan hệ “lạnh cũng tăng, nóng cũng tăng” vào một mô hình đường thẳng.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6389da89fc7.png"/>
          <p:cNvPicPr>
            <a:picLocks noChangeAspect="1"/>
          </p:cNvPicPr>
          <p:nvPr/>
        </p:nvPicPr>
        <p:blipFill>
          <a:blip r:embed="rId2"/>
          <a:stretch>
            <a:fillRect/>
          </a:stretch>
        </p:blipFill>
        <p:spPr>
          <a:xfrm>
            <a:off x="640080" y="2656818"/>
            <a:ext cx="6126480" cy="209339"/>
          </a:xfrm>
          <a:prstGeom prst="rect">
            <a:avLst/>
          </a:prstGeom>
        </p:spPr>
      </p:pic>
      <p:pic>
        <p:nvPicPr>
          <p:cNvPr id="10" name="Picture 9" descr="kn-cdd-hdd.png"/>
          <p:cNvPicPr>
            <a:picLocks noChangeAspect="1"/>
          </p:cNvPicPr>
          <p:nvPr/>
        </p:nvPicPr>
        <p:blipFill>
          <a:blip r:embed="rId3"/>
          <a:stretch>
            <a:fillRect/>
          </a:stretch>
        </p:blipFill>
        <p:spPr>
          <a:xfrm>
            <a:off x="548640" y="3212312"/>
            <a:ext cx="6309360" cy="32497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CDD là số độ nóng hơn mốc, HDD là số độ lạnh hơn mốc; phía còn lại bằng 0. Mốc 18,33 °C (65 °F) theo quy ước của cơ quan năng lượng Mỹ EIA.</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Dùng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Hồi quy tải theo cả CDD và HDD: phía nóng một độ dốc, phía lạnh một độ dốc, thành hình chữ V. Không cần chia dữ liệu làm hai nhóm.</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18,33; 25; 30 °C cho CDD = 0; 0; 6,67; 11,67 và HDD = 8,33; 0; 0; 0. Tải điện ERCOT: R² tăng từ 0,379 lên 0,812.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Mutual information: biết x có giúp đoán 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mutual information (MI) · nat · nonlinear dependence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Pearson giữa nhiệt độ và tải là 0,616. Con số nào đo được cả nhánh lạnh lẫn nhánh nóng?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mọi kiểu phụ thuộc, kể cả chữ U mà Pearson và Spearman đều bỏ sót.</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237eb5d210d.png"/>
          <p:cNvPicPr>
            <a:picLocks noChangeAspect="1"/>
          </p:cNvPicPr>
          <p:nvPr/>
        </p:nvPicPr>
        <p:blipFill>
          <a:blip r:embed="rId2"/>
          <a:stretch>
            <a:fillRect/>
          </a:stretch>
        </p:blipFill>
        <p:spPr>
          <a:xfrm>
            <a:off x="1783080" y="2502407"/>
            <a:ext cx="3236976" cy="518160"/>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Ô (vừa, thấp): tỷ lệ thật 1/3 gấp 3 lần 1/9, góp 1/3 × ln 3 ≈ 0,366.</a:t>
            </a:r>
          </a:p>
        </p:txBody>
      </p:sp>
      <p:pic>
        <p:nvPicPr>
          <p:cNvPr id="12" name="Picture 11" descr="chu-u.png"/>
          <p:cNvPicPr>
            <a:picLocks noChangeAspect="1"/>
          </p:cNvPicPr>
          <p:nvPr/>
        </p:nvPicPr>
        <p:blipFill>
          <a:blip r:embed="rId3"/>
          <a:stretch>
            <a:fillRect/>
          </a:stretch>
        </p:blipFill>
        <p:spPr>
          <a:xfrm>
            <a:off x="3484368" y="3182112"/>
            <a:ext cx="5220215"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MI so tỷ lệ thật của mỗi cặp (x, y) với tỷ lệ nếu x và y độc lập. Độc lập thì MI = 0; biết x càng giúp đoán y thì MI càng lớn. Đơn vị: nat.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MI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độc lập: biết x không giúp gì</a:t>
            </a:r>
          </a:p>
        </p:txBody>
      </p:sp>
      <p:sp>
        <p:nvSpPr>
          <p:cNvPr id="23" name="Oval 22"/>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lớn</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biết x đoán được y, theo bất kỳ hình dạng nào</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Ngày lạnh → tải cao, vừa → thấp, nóng → cao, mỗi loại 1/3: Pearson = 0 mà MI ≈ 0,637 nat. Nhiệt độ × tải ERCOT: MI = 0,862.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Hoán vị theo khối: MI có lớn thật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block permutation test · autocorrelation · null distribution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MI giữa nhiệt độ và tải là 0,862 nat. Lớn thật, hay hai chuỗi trơn nào cũng cho con số cỡ đó?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một giá trị MI là quan hệ thật, hay chỉ vì hai chuỗi trơn tình cờ cùng lên xuống.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bd38e8283f1.png"/>
          <p:cNvPicPr>
            <a:picLocks noChangeAspect="1"/>
          </p:cNvPicPr>
          <p:nvPr/>
        </p:nvPicPr>
        <p:blipFill>
          <a:blip r:embed="rId2"/>
          <a:stretch>
            <a:fillRect/>
          </a:stretch>
        </p:blipFill>
        <p:spPr>
          <a:xfrm>
            <a:off x="3221736" y="2596896"/>
            <a:ext cx="963167" cy="329184"/>
          </a:xfrm>
          <a:prstGeom prst="rect">
            <a:avLst/>
          </a:prstGeom>
        </p:spPr>
      </p:pic>
      <p:pic>
        <p:nvPicPr>
          <p:cNvPr id="10" name="Picture 9" descr="kn-hoan-vi-theo-khoi.png"/>
          <p:cNvPicPr>
            <a:picLocks noChangeAspect="1"/>
          </p:cNvPicPr>
          <p:nvPr/>
        </p:nvPicPr>
        <p:blipFill>
          <a:blip r:embed="rId3"/>
          <a:stretch>
            <a:fillRect/>
          </a:stretch>
        </p:blipFill>
        <p:spPr>
          <a:xfrm>
            <a:off x="707495" y="3182112"/>
            <a:ext cx="5991649"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Xáo trộn y nhiều lần để phá quan hệ, rồi xem MI của dữ liệu xáo dao động cỡ nào. Với chuỗi thời gian phải xáo cả khối liền nhau để giữ độ trơn.</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Xáo kiểu nào</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từng điểm</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phá cả độ trơn, MI xáo quá nhỏ: dễ kết luận nhầm</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theo khối</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giữ độ trơn: so sánh công bằng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Hai chuỗi AR độc lập: xáo từng điểm cho p = 0,005 (nhầm là có quan hệ), xáo khối 200 điểm cho p = 0,055. ERCOT: 0,862 so với ngưỡng 0,124.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Ai đi trước? Prewhiten rồi mới đọc CCF</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cross-correlation function (CCF) · prewhitening · lead /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Nhiệt độ tăng thì bao lâu sau tải điện mới tăng?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biến nào đi trước biến nào, trước bao nhiêu bước, để chọn độ trễ cho feature.</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“Tưởng tải điện theo nhịp ngày của nắng; lọc xong mới thấy trời nóng lên là tải tăng ngay.”</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72cc300bc49e.png"/>
          <p:cNvPicPr>
            <a:picLocks noChangeAspect="1"/>
          </p:cNvPicPr>
          <p:nvPr/>
        </p:nvPicPr>
        <p:blipFill>
          <a:blip r:embed="rId2"/>
          <a:stretch>
            <a:fillRect/>
          </a:stretch>
        </p:blipFill>
        <p:spPr>
          <a:xfrm>
            <a:off x="1783080" y="3006852"/>
            <a:ext cx="2679192" cy="277368"/>
          </a:xfrm>
          <a:prstGeom prst="rect">
            <a:avLst/>
          </a:prstGeom>
        </p:spPr>
      </p:pic>
      <p:sp>
        <p:nvSpPr>
          <p:cNvPr id="12" name="TextBox 11"/>
          <p:cNvSpPr txBox="1"/>
          <p:nvPr/>
        </p:nvSpPr>
        <p:spPr>
          <a:xfrm>
            <a:off x="5602071" y="2816351"/>
            <a:ext cx="5901080" cy="658368"/>
          </a:xfrm>
          <a:prstGeom prst="rect">
            <a:avLst/>
          </a:prstGeom>
          <a:noFill/>
        </p:spPr>
        <p:txBody>
          <a:bodyPr wrap="square" lIns="0" rIns="0" tIns="0" bIns="0" anchor="ctr">
            <a:spAutoFit/>
          </a:bodyPr>
          <a:lstStyle/>
          <a:p>
            <a:pPr algn="l"/>
            <a:r>
              <a:rPr sz="1150" b="0" i="0">
                <a:solidFill>
                  <a:srgbClr val="1B2A41"/>
                </a:solidFill>
                <a:latin typeface="Arial"/>
              </a:rPr>
              <a:t>Đỉnh ở k &gt; 0: x đi trước y k bước.</a:t>
            </a:r>
          </a:p>
        </p:txBody>
      </p:sp>
      <p:pic>
        <p:nvPicPr>
          <p:cNvPr id="13" name="Picture 12" descr="ccf.png"/>
          <p:cNvPicPr>
            <a:picLocks noChangeAspect="1"/>
          </p:cNvPicPr>
          <p:nvPr/>
        </p:nvPicPr>
        <p:blipFill>
          <a:blip r:embed="rId3"/>
          <a:stretch>
            <a:fillRect/>
          </a:stretch>
        </p:blipFill>
        <p:spPr>
          <a:xfrm>
            <a:off x="3859541" y="3566160"/>
            <a:ext cx="4469869"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chéo đo x lúc này giống y sau k bước tới đâu. Prewhitening lọc x bằng mô hình AR của chính nó, rồi lọc y bằng đúng bộ lọc đó.</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Đỉnh ở trễ k dương nghĩa là x đi trước y k bước. CCF thô cao ở mọi trễ thường chỉ là nhịp riêng, chưa phải quan hệ.</a:t>
            </a:r>
          </a:p>
        </p:txBody>
      </p:sp>
      <p:sp>
        <p:nvSpPr>
          <p:cNvPr id="20" name="Rounded Rectangle 1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2" name="TextBox 2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CDD và tải điện: thô là 0,848 ở trễ 0 và vẫn 0,828 ở trễ 24; sau prewhitening chỉ còn 0,205 và 0,061.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Prewhitening: lọc nhịp riêng rồi mới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prewhitening · AR filter · cross-correlation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đúng độ trễ giữa hai chuỗi, không nhầm nhịp riêng của từng chuỗi thành quan hệ giữa hai chuỗi.</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“Nhịp ngày có sẵn trong cả hai chuỗi làm tương quan chéo cao ở mọi trễ.”</a:t>
            </a:r>
          </a:p>
        </p:txBody>
      </p:sp>
      <p:pic>
        <p:nvPicPr>
          <p:cNvPr id="8" name="Picture 7" descr="ccf.png"/>
          <p:cNvPicPr>
            <a:picLocks noChangeAspect="1"/>
          </p:cNvPicPr>
          <p:nvPr/>
        </p:nvPicPr>
        <p:blipFill>
          <a:blip r:embed="rId2"/>
          <a:stretch>
            <a:fillRect/>
          </a:stretch>
        </p:blipFill>
        <p:spPr>
          <a:xfrm>
            <a:off x="1997095" y="2450591"/>
            <a:ext cx="8194761" cy="2514600"/>
          </a:xfrm>
          <a:prstGeom prst="rect">
            <a:avLst/>
          </a:prstGeom>
        </p:spPr>
      </p:pic>
      <p:sp>
        <p:nvSpPr>
          <p:cNvPr id="9" name="Oval 8"/>
          <p:cNvSpPr/>
          <p:nvPr/>
        </p:nvSpPr>
        <p:spPr>
          <a:xfrm>
            <a:off x="548640"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1</a:t>
            </a:r>
          </a:p>
        </p:txBody>
      </p:sp>
      <p:sp>
        <p:nvSpPr>
          <p:cNvPr id="10" name="TextBox 9"/>
          <p:cNvSpPr txBox="1"/>
          <p:nvPr/>
        </p:nvSpPr>
        <p:spPr>
          <a:xfrm>
            <a:off x="1078992"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Dựng AR cho x</a:t>
            </a:r>
          </a:p>
        </p:txBody>
      </p:sp>
      <p:sp>
        <p:nvSpPr>
          <p:cNvPr id="11" name="TextBox 10"/>
          <p:cNvSpPr txBox="1"/>
          <p:nvPr/>
        </p:nvSpPr>
        <p:spPr>
          <a:xfrm>
            <a:off x="548640"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Tìm phần x tự đoán được từ quá khứ của chính nó (ở đây AR(48)).</a:t>
            </a:r>
          </a:p>
        </p:txBody>
      </p:sp>
      <p:sp>
        <p:nvSpPr>
          <p:cNvPr id="12" name="Oval 11"/>
          <p:cNvSpPr/>
          <p:nvPr/>
        </p:nvSpPr>
        <p:spPr>
          <a:xfrm>
            <a:off x="3364992"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2</a:t>
            </a:r>
          </a:p>
        </p:txBody>
      </p:sp>
      <p:sp>
        <p:nvSpPr>
          <p:cNvPr id="13" name="TextBox 12"/>
          <p:cNvSpPr txBox="1"/>
          <p:nvPr/>
        </p:nvSpPr>
        <p:spPr>
          <a:xfrm>
            <a:off x="3895344"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Lọc x</a:t>
            </a:r>
          </a:p>
        </p:txBody>
      </p:sp>
      <p:sp>
        <p:nvSpPr>
          <p:cNvPr id="14" name="TextBox 13"/>
          <p:cNvSpPr txBox="1"/>
          <p:nvPr/>
        </p:nvSpPr>
        <p:spPr>
          <a:xfrm>
            <a:off x="3364992"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Trừ phần tự đoán được, còn lại phần “bất ngờ” của x.</a:t>
            </a:r>
          </a:p>
        </p:txBody>
      </p:sp>
      <p:sp>
        <p:nvSpPr>
          <p:cNvPr id="15" name="Oval 14"/>
          <p:cNvSpPr/>
          <p:nvPr/>
        </p:nvSpPr>
        <p:spPr>
          <a:xfrm>
            <a:off x="6181344"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a:t>
            </a:r>
          </a:p>
        </p:txBody>
      </p:sp>
      <p:sp>
        <p:nvSpPr>
          <p:cNvPr id="16" name="TextBox 15"/>
          <p:cNvSpPr txBox="1"/>
          <p:nvPr/>
        </p:nvSpPr>
        <p:spPr>
          <a:xfrm>
            <a:off x="6711696"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Lọc y cùng bộ lọc</a:t>
            </a:r>
          </a:p>
        </p:txBody>
      </p:sp>
      <p:sp>
        <p:nvSpPr>
          <p:cNvPr id="17" name="TextBox 16"/>
          <p:cNvSpPr txBox="1"/>
          <p:nvPr/>
        </p:nvSpPr>
        <p:spPr>
          <a:xfrm>
            <a:off x="6181344"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Dùng đúng hệ số của x để lọc y, không dựng mô hình riêng.</a:t>
            </a:r>
          </a:p>
        </p:txBody>
      </p:sp>
      <p:sp>
        <p:nvSpPr>
          <p:cNvPr id="18" name="Oval 17"/>
          <p:cNvSpPr/>
          <p:nvPr/>
        </p:nvSpPr>
        <p:spPr>
          <a:xfrm>
            <a:off x="8997696"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4</a:t>
            </a:r>
          </a:p>
        </p:txBody>
      </p:sp>
      <p:sp>
        <p:nvSpPr>
          <p:cNvPr id="19" name="TextBox 18"/>
          <p:cNvSpPr txBox="1"/>
          <p:nvPr/>
        </p:nvSpPr>
        <p:spPr>
          <a:xfrm>
            <a:off x="9528048"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Tính CCF</a:t>
            </a:r>
          </a:p>
        </p:txBody>
      </p:sp>
      <p:sp>
        <p:nvSpPr>
          <p:cNvPr id="20" name="TextBox 19"/>
          <p:cNvSpPr txBox="1"/>
          <p:nvPr/>
        </p:nvSpPr>
        <p:spPr>
          <a:xfrm>
            <a:off x="8997696"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Đỉnh còn lại ở trễ nào thì x đi trước y chừng ấy bước.</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Một hệ số cho cả năm che mất các mùa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correlation · regime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Quan hệ giữa nhiệt độ và tải điện có giữ nguyên suốt năm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quan hệ có ổn định theo thời gian không, trước khi dùng một con số cho cả năm.</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afb0bbca1b0a.png"/>
          <p:cNvPicPr>
            <a:picLocks noChangeAspect="1"/>
          </p:cNvPicPr>
          <p:nvPr/>
        </p:nvPicPr>
        <p:blipFill>
          <a:blip r:embed="rId2"/>
          <a:stretch>
            <a:fillRect/>
          </a:stretch>
        </p:blipFill>
        <p:spPr>
          <a:xfrm>
            <a:off x="1783080" y="2628899"/>
            <a:ext cx="3846576" cy="265176"/>
          </a:xfrm>
          <a:prstGeom prst="rect">
            <a:avLst/>
          </a:prstGeom>
        </p:spPr>
      </p:pic>
      <p:sp>
        <p:nvSpPr>
          <p:cNvPr id="11" name="TextBox 10"/>
          <p:cNvSpPr txBox="1"/>
          <p:nvPr/>
        </p:nvSpPr>
        <p:spPr>
          <a:xfrm>
            <a:off x="5812536" y="2432303"/>
            <a:ext cx="5690615" cy="658368"/>
          </a:xfrm>
          <a:prstGeom prst="rect">
            <a:avLst/>
          </a:prstGeom>
          <a:noFill/>
        </p:spPr>
        <p:txBody>
          <a:bodyPr wrap="square" lIns="0" rIns="0" tIns="0" bIns="0" anchor="ctr">
            <a:spAutoFit/>
          </a:bodyPr>
          <a:lstStyle/>
          <a:p>
            <a:pPr algn="l"/>
            <a:r>
              <a:rPr sz="1150" b="0" i="0">
                <a:solidFill>
                  <a:srgbClr val="1B2A41"/>
                </a:solidFill>
                <a:latin typeface="Arial"/>
              </a:rPr>
              <a:t>Mỗi ngày một r, tính trên w ngày gần nhất.</a:t>
            </a:r>
          </a:p>
        </p:txBody>
      </p:sp>
      <p:pic>
        <p:nvPicPr>
          <p:cNvPr id="12" name="Picture 11" descr="truot.png"/>
          <p:cNvPicPr>
            <a:picLocks noChangeAspect="1"/>
          </p:cNvPicPr>
          <p:nvPr/>
        </p:nvPicPr>
        <p:blipFill>
          <a:blip r:embed="rId3"/>
          <a:stretch>
            <a:fillRect/>
          </a:stretch>
        </p:blipFill>
        <p:spPr>
          <a:xfrm>
            <a:off x="3576364" y="3182112"/>
            <a:ext cx="5036222"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trượt tính r trên từng cửa sổ thời gian, ví dụ 90 ngày, rồi trượt dần cửa sổ đi.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Đường r đổi dấu theo mùa nghĩa là có nhiều chế độ, phải tách riêng. Đường gần như phẳng thì quan hệ ổn định.</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Nhiệt độ và tải điện: −0,801 với cửa sổ tới 31/3, +0,968 với cửa sổ tới 14/10, còn cả năm chỉ 0,616.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Granger: “giúp dự báo”, không phải “gây ra”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Granger causality test · confounder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Nhiệt độ có “gây ra” tải điện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quá khứ của một biến có giúp dự báo biến kia không.</a:t>
            </a:r>
          </a:p>
        </p:txBody>
      </p:sp>
      <p:sp>
        <p:nvSpPr>
          <p:cNvPr id="8" name="Rounded Rectangle 7"/>
          <p:cNvSpPr/>
          <p:nvPr/>
        </p:nvSpPr>
        <p:spPr>
          <a:xfrm>
            <a:off x="548640" y="2432303"/>
            <a:ext cx="11091672"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82600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8095d5b1ea1b.png"/>
          <p:cNvPicPr>
            <a:picLocks noChangeAspect="1"/>
          </p:cNvPicPr>
          <p:nvPr/>
        </p:nvPicPr>
        <p:blipFill>
          <a:blip r:embed="rId2"/>
          <a:stretch>
            <a:fillRect/>
          </a:stretch>
        </p:blipFill>
        <p:spPr>
          <a:xfrm>
            <a:off x="1783080" y="2528715"/>
            <a:ext cx="6611112" cy="633184"/>
          </a:xfrm>
          <a:prstGeom prst="rect">
            <a:avLst/>
          </a:prstGeom>
        </p:spPr>
      </p:pic>
      <p:sp>
        <p:nvSpPr>
          <p:cNvPr id="11" name="TextBox 10"/>
          <p:cNvSpPr txBox="1"/>
          <p:nvPr/>
        </p:nvSpPr>
        <p:spPr>
          <a:xfrm>
            <a:off x="8577072" y="2432303"/>
            <a:ext cx="2926080" cy="826008"/>
          </a:xfrm>
          <a:prstGeom prst="rect">
            <a:avLst/>
          </a:prstGeom>
          <a:noFill/>
        </p:spPr>
        <p:txBody>
          <a:bodyPr wrap="square" lIns="0" rIns="0" tIns="0" bIns="0" anchor="ctr">
            <a:spAutoFit/>
          </a:bodyPr>
          <a:lstStyle/>
          <a:p>
            <a:pPr algn="l"/>
            <a:r>
              <a:rPr sz="1150" b="0" i="0">
                <a:solidFill>
                  <a:srgbClr val="1B2A41"/>
                </a:solidFill>
                <a:latin typeface="Arial"/>
              </a:rPr>
              <a:t>p nhỏ: quá khứ của x giúp dự báo y, chưa nói x gây ra y.</a:t>
            </a:r>
          </a:p>
        </p:txBody>
      </p:sp>
      <p:pic>
        <p:nvPicPr>
          <p:cNvPr id="12" name="Picture 11" descr="granger.png"/>
          <p:cNvPicPr>
            <a:picLocks noChangeAspect="1"/>
          </p:cNvPicPr>
          <p:nvPr/>
        </p:nvPicPr>
        <p:blipFill>
          <a:blip r:embed="rId3"/>
          <a:stretch>
            <a:fillRect/>
          </a:stretch>
        </p:blipFill>
        <p:spPr>
          <a:xfrm>
            <a:off x="3498182" y="3349752"/>
            <a:ext cx="5192586" cy="158800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Granger so sai số dự báo Y khi có và khi không có quá khứ của X. Biến gây nhiễu là thứ thứ ba điều khiển cả hai.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Kết quả nói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 nhỏ chỉ nói quá khứ X giúp dự báo Y, không nói X gây ra Y. Có ý nghĩa ở cả hai chiều thì nghĩ tới biến gây nhiễu.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Tải điện và nhiệt độ “Granger” lẫn nhau ở cả hai chiều, vì cả hai cùng chạy theo nhịp ngày.</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Đo quan hệ hai chuỗi: tám câu hỏi của buổi 8</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0F8B8D"/>
                </a:solidFill>
                <a:latin typeface="Arial"/>
              </a:rPr>
              <a:t>“Đừng tin hệ số tương quan ngay: vẽ scatter trước, rồi đi qua từng câu hỏi.”</a:t>
            </a:r>
          </a:p>
        </p:txBody>
      </p:sp>
      <p:sp>
        <p:nvSpPr>
          <p:cNvPr id="6" name="Rounded Rectangle 5"/>
          <p:cNvSpPr/>
          <p:nvPr/>
        </p:nvSpPr>
        <p:spPr>
          <a:xfrm>
            <a:off x="54864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8580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1</a:t>
            </a:r>
          </a:p>
        </p:txBody>
      </p:sp>
      <p:sp>
        <p:nvSpPr>
          <p:cNvPr id="8" name="TextBox 7"/>
          <p:cNvSpPr txBox="1"/>
          <p:nvPr/>
        </p:nvSpPr>
        <p:spPr>
          <a:xfrm>
            <a:off x="1161288" y="1892807"/>
            <a:ext cx="1849374" cy="475488"/>
          </a:xfrm>
          <a:prstGeom prst="rect">
            <a:avLst/>
          </a:prstGeom>
          <a:noFill/>
        </p:spPr>
        <p:txBody>
          <a:bodyPr wrap="square" lIns="0" rIns="0" tIns="0" bIns="0" anchor="ctr">
            <a:spAutoFit/>
          </a:bodyPr>
          <a:lstStyle/>
          <a:p>
            <a:pPr algn="l"/>
            <a:r>
              <a:rPr sz="1600" b="1" i="0">
                <a:solidFill>
                  <a:srgbClr val="0F8B8D"/>
                </a:solidFill>
                <a:latin typeface="Arial"/>
              </a:rPr>
              <a:t>Trông ra sao?</a:t>
            </a:r>
          </a:p>
        </p:txBody>
      </p:sp>
      <p:sp>
        <p:nvSpPr>
          <p:cNvPr id="9" name="TextBox 8"/>
          <p:cNvSpPr txBox="1"/>
          <p:nvPr/>
        </p:nvSpPr>
        <p:spPr>
          <a:xfrm>
            <a:off x="731520" y="2459736"/>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Vẽ scatter: thẳng, cong, chữ U, hay có điểm lạ.</a:t>
            </a:r>
          </a:p>
        </p:txBody>
      </p:sp>
      <p:cxnSp>
        <p:nvCxnSpPr>
          <p:cNvPr id="10" name="Connector 9"/>
          <p:cNvCxnSpPr/>
          <p:nvPr/>
        </p:nvCxnSpPr>
        <p:spPr>
          <a:xfrm>
            <a:off x="3138678" y="2939796"/>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9471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53187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2</a:t>
            </a:r>
          </a:p>
        </p:txBody>
      </p:sp>
      <p:sp>
        <p:nvSpPr>
          <p:cNvPr id="13" name="TextBox 12"/>
          <p:cNvSpPr txBox="1"/>
          <p:nvPr/>
        </p:nvSpPr>
        <p:spPr>
          <a:xfrm>
            <a:off x="4007358" y="1892807"/>
            <a:ext cx="1849374" cy="475488"/>
          </a:xfrm>
          <a:prstGeom prst="rect">
            <a:avLst/>
          </a:prstGeom>
          <a:noFill/>
        </p:spPr>
        <p:txBody>
          <a:bodyPr wrap="square" lIns="0" rIns="0" tIns="0" bIns="0" anchor="ctr">
            <a:spAutoFit/>
          </a:bodyPr>
          <a:lstStyle/>
          <a:p>
            <a:pPr algn="l"/>
            <a:r>
              <a:rPr sz="1600" b="1" i="0">
                <a:solidFill>
                  <a:srgbClr val="0F8B8D"/>
                </a:solidFill>
                <a:latin typeface="Arial"/>
              </a:rPr>
              <a:t>Thẳng hàng hay chỉ cùng tăng?</a:t>
            </a:r>
          </a:p>
        </p:txBody>
      </p:sp>
      <p:sp>
        <p:nvSpPr>
          <p:cNvPr id="14" name="TextBox 13"/>
          <p:cNvSpPr txBox="1"/>
          <p:nvPr/>
        </p:nvSpPr>
        <p:spPr>
          <a:xfrm>
            <a:off x="3577590" y="2459736"/>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Pearson đo mức thẳng hàng; Spearman đo cùng tăng theo thứ hạng.</a:t>
            </a:r>
          </a:p>
        </p:txBody>
      </p:sp>
      <p:cxnSp>
        <p:nvCxnSpPr>
          <p:cNvPr id="15" name="Connector 14"/>
          <p:cNvCxnSpPr/>
          <p:nvPr/>
        </p:nvCxnSpPr>
        <p:spPr>
          <a:xfrm>
            <a:off x="5984748" y="2939796"/>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4078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7794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3</a:t>
            </a:r>
          </a:p>
        </p:txBody>
      </p:sp>
      <p:sp>
        <p:nvSpPr>
          <p:cNvPr id="18" name="TextBox 17"/>
          <p:cNvSpPr txBox="1"/>
          <p:nvPr/>
        </p:nvSpPr>
        <p:spPr>
          <a:xfrm>
            <a:off x="6853428" y="1892807"/>
            <a:ext cx="1849374" cy="475488"/>
          </a:xfrm>
          <a:prstGeom prst="rect">
            <a:avLst/>
          </a:prstGeom>
          <a:noFill/>
        </p:spPr>
        <p:txBody>
          <a:bodyPr wrap="square" lIns="0" rIns="0" tIns="0" bIns="0" anchor="ctr">
            <a:spAutoFit/>
          </a:bodyPr>
          <a:lstStyle/>
          <a:p>
            <a:pPr algn="l"/>
            <a:r>
              <a:rPr sz="1600" b="1" i="0">
                <a:solidFill>
                  <a:srgbClr val="0F8B8D"/>
                </a:solidFill>
                <a:latin typeface="Arial"/>
              </a:rPr>
              <a:t>Hai chuỗi cùng trôi?</a:t>
            </a:r>
          </a:p>
        </p:txBody>
      </p:sp>
      <p:sp>
        <p:nvSpPr>
          <p:cNvPr id="19" name="TextBox 18"/>
          <p:cNvSpPr txBox="1"/>
          <p:nvPr/>
        </p:nvSpPr>
        <p:spPr>
          <a:xfrm>
            <a:off x="6423660" y="2459736"/>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Đo lại trên sai phân, xem Durbin–Watson. CPI và dân số: r từ 0,97 còn −0,21.</a:t>
            </a:r>
          </a:p>
        </p:txBody>
      </p:sp>
      <p:cxnSp>
        <p:nvCxnSpPr>
          <p:cNvPr id="20" name="Connector 19"/>
          <p:cNvCxnSpPr/>
          <p:nvPr/>
        </p:nvCxnSpPr>
        <p:spPr>
          <a:xfrm>
            <a:off x="8830817" y="2939796"/>
            <a:ext cx="219457"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086850" y="1801368"/>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224010" y="1938528"/>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4</a:t>
            </a:r>
          </a:p>
        </p:txBody>
      </p:sp>
      <p:sp>
        <p:nvSpPr>
          <p:cNvPr id="23" name="TextBox 22"/>
          <p:cNvSpPr txBox="1"/>
          <p:nvPr/>
        </p:nvSpPr>
        <p:spPr>
          <a:xfrm>
            <a:off x="9699498" y="1892807"/>
            <a:ext cx="1849374" cy="475488"/>
          </a:xfrm>
          <a:prstGeom prst="rect">
            <a:avLst/>
          </a:prstGeom>
          <a:noFill/>
        </p:spPr>
        <p:txBody>
          <a:bodyPr wrap="square" lIns="0" rIns="0" tIns="0" bIns="0" anchor="ctr">
            <a:spAutoFit/>
          </a:bodyPr>
          <a:lstStyle/>
          <a:p>
            <a:pPr algn="l"/>
            <a:r>
              <a:rPr sz="1600" b="1" i="0">
                <a:solidFill>
                  <a:srgbClr val="0F8B8D"/>
                </a:solidFill>
                <a:latin typeface="Arial"/>
              </a:rPr>
              <a:t>Cong, đổi dấu?</a:t>
            </a:r>
          </a:p>
        </p:txBody>
      </p:sp>
      <p:sp>
        <p:nvSpPr>
          <p:cNvPr id="24" name="TextBox 23"/>
          <p:cNvSpPr txBox="1"/>
          <p:nvPr/>
        </p:nvSpPr>
        <p:spPr>
          <a:xfrm>
            <a:off x="9269730" y="2459736"/>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Tách CDD / HDD, hoặc đo MI; kiểm MI bằng hoán vị theo khối.</a:t>
            </a:r>
          </a:p>
        </p:txBody>
      </p:sp>
      <p:sp>
        <p:nvSpPr>
          <p:cNvPr id="25" name="Rounded Rectangle 24"/>
          <p:cNvSpPr/>
          <p:nvPr/>
        </p:nvSpPr>
        <p:spPr>
          <a:xfrm>
            <a:off x="54864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8580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5</a:t>
            </a:r>
          </a:p>
        </p:txBody>
      </p:sp>
      <p:sp>
        <p:nvSpPr>
          <p:cNvPr id="27" name="TextBox 26"/>
          <p:cNvSpPr txBox="1"/>
          <p:nvPr/>
        </p:nvSpPr>
        <p:spPr>
          <a:xfrm>
            <a:off x="1161288" y="4352544"/>
            <a:ext cx="1849374" cy="475488"/>
          </a:xfrm>
          <a:prstGeom prst="rect">
            <a:avLst/>
          </a:prstGeom>
          <a:noFill/>
        </p:spPr>
        <p:txBody>
          <a:bodyPr wrap="square" lIns="0" rIns="0" tIns="0" bIns="0" anchor="ctr">
            <a:spAutoFit/>
          </a:bodyPr>
          <a:lstStyle/>
          <a:p>
            <a:pPr algn="l"/>
            <a:r>
              <a:rPr sz="1600" b="1" i="0">
                <a:solidFill>
                  <a:srgbClr val="0F8B8D"/>
                </a:solidFill>
                <a:latin typeface="Arial"/>
              </a:rPr>
              <a:t>Ai đi trước, bao lâu?</a:t>
            </a:r>
          </a:p>
        </p:txBody>
      </p:sp>
      <p:sp>
        <p:nvSpPr>
          <p:cNvPr id="28" name="TextBox 27"/>
          <p:cNvSpPr txBox="1"/>
          <p:nvPr/>
        </p:nvSpPr>
        <p:spPr>
          <a:xfrm>
            <a:off x="731520" y="4919472"/>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Prewhiten cả hai chuỗi bằng cùng một bộ lọc, rồi đọc tương quan chéo.</a:t>
            </a:r>
          </a:p>
        </p:txBody>
      </p:sp>
      <p:cxnSp>
        <p:nvCxnSpPr>
          <p:cNvPr id="29" name="Connector 28"/>
          <p:cNvCxnSpPr/>
          <p:nvPr/>
        </p:nvCxnSpPr>
        <p:spPr>
          <a:xfrm>
            <a:off x="3138678" y="5399532"/>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339471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53187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6</a:t>
            </a:r>
          </a:p>
        </p:txBody>
      </p:sp>
      <p:sp>
        <p:nvSpPr>
          <p:cNvPr id="32" name="TextBox 31"/>
          <p:cNvSpPr txBox="1"/>
          <p:nvPr/>
        </p:nvSpPr>
        <p:spPr>
          <a:xfrm>
            <a:off x="4007358" y="4352544"/>
            <a:ext cx="1849374" cy="475488"/>
          </a:xfrm>
          <a:prstGeom prst="rect">
            <a:avLst/>
          </a:prstGeom>
          <a:noFill/>
        </p:spPr>
        <p:txBody>
          <a:bodyPr wrap="square" lIns="0" rIns="0" tIns="0" bIns="0" anchor="ctr">
            <a:spAutoFit/>
          </a:bodyPr>
          <a:lstStyle/>
          <a:p>
            <a:pPr algn="l"/>
            <a:r>
              <a:rPr sz="1600" b="1" i="0">
                <a:solidFill>
                  <a:srgbClr val="0F8B8D"/>
                </a:solidFill>
                <a:latin typeface="Arial"/>
              </a:rPr>
              <a:t>Giữ nguyên cả năm?</a:t>
            </a:r>
          </a:p>
        </p:txBody>
      </p:sp>
      <p:sp>
        <p:nvSpPr>
          <p:cNvPr id="33" name="TextBox 32"/>
          <p:cNvSpPr txBox="1"/>
          <p:nvPr/>
        </p:nvSpPr>
        <p:spPr>
          <a:xfrm>
            <a:off x="3577590" y="4919472"/>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Tương quan trượt 30, 90 ngày; đổi dấu theo mùa thì tách riêng từng mùa.</a:t>
            </a:r>
          </a:p>
        </p:txBody>
      </p:sp>
      <p:cxnSp>
        <p:nvCxnSpPr>
          <p:cNvPr id="34" name="Connector 33"/>
          <p:cNvCxnSpPr/>
          <p:nvPr/>
        </p:nvCxnSpPr>
        <p:spPr>
          <a:xfrm>
            <a:off x="5984748" y="5399532"/>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24078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37794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7</a:t>
            </a:r>
          </a:p>
        </p:txBody>
      </p:sp>
      <p:sp>
        <p:nvSpPr>
          <p:cNvPr id="37" name="TextBox 36"/>
          <p:cNvSpPr txBox="1"/>
          <p:nvPr/>
        </p:nvSpPr>
        <p:spPr>
          <a:xfrm>
            <a:off x="6853428" y="4352544"/>
            <a:ext cx="1849374" cy="475488"/>
          </a:xfrm>
          <a:prstGeom prst="rect">
            <a:avLst/>
          </a:prstGeom>
          <a:noFill/>
        </p:spPr>
        <p:txBody>
          <a:bodyPr wrap="square" lIns="0" rIns="0" tIns="0" bIns="0" anchor="ctr">
            <a:spAutoFit/>
          </a:bodyPr>
          <a:lstStyle/>
          <a:p>
            <a:pPr algn="l"/>
            <a:r>
              <a:rPr sz="1600" b="1" i="0">
                <a:solidFill>
                  <a:srgbClr val="0F8B8D"/>
                </a:solidFill>
                <a:latin typeface="Arial"/>
              </a:rPr>
              <a:t>Quá khứ x giúp đoán y?</a:t>
            </a:r>
          </a:p>
        </p:txBody>
      </p:sp>
      <p:sp>
        <p:nvSpPr>
          <p:cNvPr id="38" name="TextBox 37"/>
          <p:cNvSpPr txBox="1"/>
          <p:nvPr/>
        </p:nvSpPr>
        <p:spPr>
          <a:xfrm>
            <a:off x="6423660" y="4919472"/>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Granger, chạy cả hai chiều. p nhỏ là “giúp dự báo”, chưa phải “gây ra”.</a:t>
            </a:r>
          </a:p>
        </p:txBody>
      </p:sp>
      <p:cxnSp>
        <p:nvCxnSpPr>
          <p:cNvPr id="39" name="Connector 38"/>
          <p:cNvCxnSpPr/>
          <p:nvPr/>
        </p:nvCxnSpPr>
        <p:spPr>
          <a:xfrm>
            <a:off x="8830817" y="5399532"/>
            <a:ext cx="219457"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9086850" y="4261104"/>
            <a:ext cx="2553462" cy="2276856"/>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224010" y="4398264"/>
            <a:ext cx="384048" cy="38404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8</a:t>
            </a:r>
          </a:p>
        </p:txBody>
      </p:sp>
      <p:sp>
        <p:nvSpPr>
          <p:cNvPr id="42" name="TextBox 41"/>
          <p:cNvSpPr txBox="1"/>
          <p:nvPr/>
        </p:nvSpPr>
        <p:spPr>
          <a:xfrm>
            <a:off x="9699498" y="4352544"/>
            <a:ext cx="1849374" cy="475488"/>
          </a:xfrm>
          <a:prstGeom prst="rect">
            <a:avLst/>
          </a:prstGeom>
          <a:noFill/>
        </p:spPr>
        <p:txBody>
          <a:bodyPr wrap="square" lIns="0" rIns="0" tIns="0" bIns="0" anchor="ctr">
            <a:spAutoFit/>
          </a:bodyPr>
          <a:lstStyle/>
          <a:p>
            <a:pPr algn="l"/>
            <a:r>
              <a:rPr sz="1600" b="1" i="0">
                <a:solidFill>
                  <a:srgbClr val="0F8B8D"/>
                </a:solidFill>
                <a:latin typeface="Arial"/>
              </a:rPr>
              <a:t>Lúc dự báo có x chưa?</a:t>
            </a:r>
          </a:p>
        </p:txBody>
      </p:sp>
      <p:sp>
        <p:nvSpPr>
          <p:cNvPr id="43" name="TextBox 42"/>
          <p:cNvSpPr txBox="1"/>
          <p:nvPr/>
        </p:nvSpPr>
        <p:spPr>
          <a:xfrm>
            <a:off x="9269730" y="4919472"/>
            <a:ext cx="2187702" cy="1545336"/>
          </a:xfrm>
          <a:prstGeom prst="rect">
            <a:avLst/>
          </a:prstGeom>
          <a:noFill/>
        </p:spPr>
        <p:txBody>
          <a:bodyPr wrap="square" lIns="0" rIns="0" tIns="0" bIns="0" anchor="t">
            <a:spAutoFit/>
          </a:bodyPr>
          <a:lstStyle/>
          <a:p>
            <a:pPr algn="l">
              <a:spcAft>
                <a:spcPts val="200"/>
              </a:spcAft>
            </a:pPr>
            <a:r>
              <a:rPr sz="1500" b="0" i="0">
                <a:solidFill>
                  <a:srgbClr val="1B2A41"/>
                </a:solidFill>
                <a:latin typeface="Arial"/>
              </a:rPr>
              <a:t>Chỉ dùng bản có trong tay lúc đó, như nhiệt độ dự báo (buổi 13).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Đặc trưng: tóm cả chuỗi thành vài con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time series features · scale-free · feature table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48.000 chuỗi thì không ai xem từng hình. Chuỗi nào khó, chuỗi nào giống nhau?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và phân loại hàng nghìn chuỗi mà không phải xem từng hình.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413e64fdf766.png"/>
          <p:cNvPicPr>
            <a:picLocks noChangeAspect="1"/>
          </p:cNvPicPr>
          <p:nvPr/>
        </p:nvPicPr>
        <p:blipFill>
          <a:blip r:embed="rId2"/>
          <a:stretch>
            <a:fillRect/>
          </a:stretch>
        </p:blipFill>
        <p:spPr>
          <a:xfrm>
            <a:off x="1783080" y="2596896"/>
            <a:ext cx="3352800" cy="329184"/>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1,51 / 4 = 1.512 / 4.000 = 0,378.</a:t>
            </a:r>
          </a:p>
        </p:txBody>
      </p:sp>
      <p:pic>
        <p:nvPicPr>
          <p:cNvPr id="12" name="Picture 11" descr="kn-z-score-chuan-hoa.png"/>
          <p:cNvPicPr>
            <a:picLocks noChangeAspect="1"/>
          </p:cNvPicPr>
          <p:nvPr/>
        </p:nvPicPr>
        <p:blipFill>
          <a:blip r:embed="rId3"/>
          <a:stretch>
            <a:fillRect/>
          </a:stretch>
        </p:blipFill>
        <p:spPr>
          <a:xfrm>
            <a:off x="3801610" y="3182112"/>
            <a:ext cx="458573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con số tóm một tính chất của cả chuỗi: CV, r1, F_S, entropy… Mỗi chuỗi thành một hàng số, cả tập thành một bảng.</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Đặc trưng tốt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Không đổi theo đơn vị và tính trên cùng độ dài. Nhân chuỗi với 1.000 mà đặc trưng đổi theo thì nó đang đo độ lớn, không đo hình dạng.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a và 1.000 × a có CV cùng bằng 0,378. Nhân một chuỗi 120 tháng với 1.000: chỉ trung bình và độ lệch chuẩn đổi, mọi đặc trưng khác giữ nguyên.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Tần số và phổ: chuỗi rung ở nhịp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frequency · spectrum · periodogram · energy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Trước khi lọc, cần biết chuỗi có những nhịp nào: nhịp nào phải giữ, phần nào là nhiễu?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Nhìn chuỗi theo nhịp lặp để biết nhịp nào là tín hiệu cần giữ, nhịp nào là nhiễu có thể lọc.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b6388b235e6.png"/>
          <p:cNvPicPr>
            <a:picLocks noChangeAspect="1"/>
          </p:cNvPicPr>
          <p:nvPr/>
        </p:nvPicPr>
        <p:blipFill>
          <a:blip r:embed="rId2"/>
          <a:stretch>
            <a:fillRect/>
          </a:stretch>
        </p:blipFill>
        <p:spPr>
          <a:xfrm>
            <a:off x="3189732" y="2570988"/>
            <a:ext cx="1027176" cy="381000"/>
          </a:xfrm>
          <a:prstGeom prst="rect">
            <a:avLst/>
          </a:prstGeom>
        </p:spPr>
      </p:pic>
      <p:pic>
        <p:nvPicPr>
          <p:cNvPr id="10" name="Picture 9" descr="kn-tan-so.png"/>
          <p:cNvPicPr>
            <a:picLocks noChangeAspect="1"/>
          </p:cNvPicPr>
          <p:nvPr/>
        </p:nvPicPr>
        <p:blipFill>
          <a:blip r:embed="rId3"/>
          <a:stretch>
            <a:fillRect/>
          </a:stretch>
        </p:blipFill>
        <p:spPr>
          <a:xfrm>
            <a:off x="548640" y="3344937"/>
            <a:ext cx="6309360" cy="298447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Tần số: số vòng lặp mỗi bước, bằng 1 / chu kỳ. Phổ (periodogram): mỗi tần số góp bao nhiêu phần dao động (năng lượng) vào chuỗi.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Tần số thấp hay cao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thấp</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dao động chậm: xu hướng, mùa năm</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trung bình</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nhịp ngày, nhịp tuần</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cao</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dao động rất nhanh, thường là nhiễu</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Lặp mỗi 12 tháng thì tần số 1/12 ≈ 0,083. Điện thiết bị có đỉnh phổ ở 1 vòng/ngày, và 17,8% năng lượng nhanh hơn 1 giờ.</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Spectral entropy: năng lượng dồn hay trải đều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spectral entropy · normalized power spectrum</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Chuỗi này có nhịp đều để khai thác, hay gần như ngẫu nhiên?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Xếp hạng độ khó của hàng nghìn chuỗi trước khi chạy bất kỳ mô hình nào.</a:t>
            </a:r>
          </a:p>
        </p:txBody>
      </p:sp>
      <p:sp>
        <p:nvSpPr>
          <p:cNvPr id="8" name="Rounded Rectangle 7"/>
          <p:cNvSpPr/>
          <p:nvPr/>
        </p:nvSpPr>
        <p:spPr>
          <a:xfrm>
            <a:off x="548640" y="2432303"/>
            <a:ext cx="6309360"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d5485388892.png"/>
          <p:cNvPicPr>
            <a:picLocks noChangeAspect="1"/>
          </p:cNvPicPr>
          <p:nvPr/>
        </p:nvPicPr>
        <p:blipFill>
          <a:blip r:embed="rId2"/>
          <a:stretch>
            <a:fillRect/>
          </a:stretch>
        </p:blipFill>
        <p:spPr>
          <a:xfrm>
            <a:off x="2395788" y="2487168"/>
            <a:ext cx="2615063" cy="822960"/>
          </a:xfrm>
          <a:prstGeom prst="rect">
            <a:avLst/>
          </a:prstGeom>
        </p:spPr>
      </p:pic>
      <p:pic>
        <p:nvPicPr>
          <p:cNvPr id="10" name="Picture 9" descr="entropy-hai-chuoi.png"/>
          <p:cNvPicPr>
            <a:picLocks noChangeAspect="1"/>
          </p:cNvPicPr>
          <p:nvPr/>
        </p:nvPicPr>
        <p:blipFill>
          <a:blip r:embed="rId3"/>
          <a:stretch>
            <a:fillRect/>
          </a:stretch>
        </p:blipFill>
        <p:spPr>
          <a:xfrm>
            <a:off x="692027" y="3456432"/>
            <a:ext cx="6022585" cy="303580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phổ thành các phần năng lượng cộng lại bằng 1, như chia một chiếc bánh. Entropy đo bánh chia đều tới đâu: 0 là dồn một đĩa, 1 là chia đều.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 phổ 4 tần số</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sóng đều: 0; 1; 0; 0</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0,5</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hai nhịp: 0,5; 0,5; 0; 0</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nhiễu: 0,25 mỗi tần số</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mùa vụ 12 tháng: 0,33. Nhiễu thuần: 0,94. Trên 4.000 chuỗi M4: trung vị 0,462; một phần năm số chuỗi từ 0,666 trở lên.</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Đo độ khó bằng sMAPE, không bằng MASE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forecastability · sMAPE · MASE · scale-free error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độ khó của từng chuỗi bằng một thước đo không tự triệt tiêu độ khó.</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“MASE so các mô hình trên cùng một chuỗi; muốn so độ khó giữa các chuỗi thì dùng sMAPE.”</a:t>
            </a:r>
          </a:p>
        </p:txBody>
      </p:sp>
      <p:sp>
        <p:nvSpPr>
          <p:cNvPr id="8" name="Rounded Rectangle 7"/>
          <p:cNvSpPr/>
          <p:nvPr/>
        </p:nvSpPr>
        <p:spPr>
          <a:xfrm>
            <a:off x="548640" y="2450591"/>
            <a:ext cx="11091672" cy="6858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50591"/>
            <a:ext cx="1097280" cy="685800"/>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70408fec0a41.png"/>
          <p:cNvPicPr>
            <a:picLocks noChangeAspect="1"/>
          </p:cNvPicPr>
          <p:nvPr/>
        </p:nvPicPr>
        <p:blipFill>
          <a:blip r:embed="rId2"/>
          <a:stretch>
            <a:fillRect/>
          </a:stretch>
        </p:blipFill>
        <p:spPr>
          <a:xfrm>
            <a:off x="1783080" y="2514600"/>
            <a:ext cx="2575560" cy="557784"/>
          </a:xfrm>
          <a:prstGeom prst="rect">
            <a:avLst/>
          </a:prstGeom>
        </p:spPr>
      </p:pic>
      <p:sp>
        <p:nvSpPr>
          <p:cNvPr id="11" name="TextBox 10"/>
          <p:cNvSpPr txBox="1"/>
          <p:nvPr/>
        </p:nvSpPr>
        <p:spPr>
          <a:xfrm>
            <a:off x="5602071" y="2450591"/>
            <a:ext cx="5901080" cy="685800"/>
          </a:xfrm>
          <a:prstGeom prst="rect">
            <a:avLst/>
          </a:prstGeom>
          <a:noFill/>
        </p:spPr>
        <p:txBody>
          <a:bodyPr wrap="square" lIns="0" rIns="0" tIns="0" bIns="0" anchor="ctr">
            <a:spAutoFit/>
          </a:bodyPr>
          <a:lstStyle/>
          <a:p>
            <a:pPr algn="l"/>
            <a:r>
              <a:rPr sz="1150" b="0" i="0">
                <a:solidFill>
                  <a:srgbClr val="1B2A41"/>
                </a:solidFill>
                <a:latin typeface="Arial"/>
              </a:rPr>
              <a:t>Chia cho mức của chuỗi, không chia cho độ khó của chuỗi như MASE.</a:t>
            </a:r>
          </a:p>
        </p:txBody>
      </p:sp>
      <p:pic>
        <p:nvPicPr>
          <p:cNvPr id="12" name="Picture 11" descr="entropy-sai-so.png"/>
          <p:cNvPicPr>
            <a:picLocks noChangeAspect="1"/>
          </p:cNvPicPr>
          <p:nvPr/>
        </p:nvPicPr>
        <p:blipFill>
          <a:blip r:embed="rId3"/>
          <a:stretch>
            <a:fillRect/>
          </a:stretch>
        </p:blipFill>
        <p:spPr>
          <a:xfrm>
            <a:off x="3609189" y="3227832"/>
            <a:ext cx="4970572" cy="170992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MASE chia sai số cho sai số naive của chính chuỗi đó; sMAPE chia cho mức của chuỗi.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khó thì mẫu số của MASE cũng lớn, nên MASE của seasonal naive nằm ngang quanh 1 dù chuỗi dễ hay khó. sMAPE mới tăng theo độ khó.</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với entropy: sMAPE +0,245, còn MASE chia seasonal naive chỉ −0,048.</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Bản đồ 4.000 chuỗi: vùng nào khó</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PCA · principal component (PC1, PC2) · feature space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15 đặc trưng là 15 chiều, không vẽ được. Làm sao thấy cả 4.000 chuỗi trên một hình?</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Nhìn cả tập hàng nghìn chuỗi trên một hình, khoanh vùng chuỗi khó và chuỗi lạ.</a:t>
            </a:r>
          </a:p>
        </p:txBody>
      </p:sp>
      <p:pic>
        <p:nvPicPr>
          <p:cNvPr id="8" name="Picture 7" descr="khong-gian-dac-trung.png"/>
          <p:cNvPicPr>
            <a:picLocks noChangeAspect="1"/>
          </p:cNvPicPr>
          <p:nvPr/>
        </p:nvPicPr>
        <p:blipFill>
          <a:blip r:embed="rId2"/>
          <a:stretch>
            <a:fillRect/>
          </a:stretch>
        </p:blipFill>
        <p:spPr>
          <a:xfrm>
            <a:off x="1632401" y="2432303"/>
            <a:ext cx="8924148"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PCA chiếu nhiều đặc trưng xuống hai trục giữ được nhiều khác biệt nhất. Mỗi chuỗi thành một chấm.</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Trục ngang (PC1) là độ lởm chởm: phải là chuỗi gần nhiễu, khó. Trục dọc (PC2) là mức xu hướng và mùa vụ. Chấm đứng lẻ là chuỗi lạ, cần xem tận mắt.</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4.000 chuỗi M4: trục ngang giữ 41% khác biệt. Entropy từ 0,666 trở lên và F_S dưới 0,4 thì chỉ cần baseline.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DTW: gom chuỗi theo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dynamic time warping (DTW) · z-score normalization · Ward clustering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Hai chuỗi cùng hình dạng có thể lệch nhau một hai bước và khác hẳn độ lớn. Gom chúng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Gom các chuỗi cùng hình dạng để dùng chung cách xử lý hay cùng một mô hình.</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“Chuỗi ‘tăng, giảm, tăng’ và cùng hình đó nhưng chậm vài bước vẫn được coi là giống nhau.”</a:t>
            </a:r>
          </a:p>
        </p:txBody>
      </p:sp>
      <p:sp>
        <p:nvSpPr>
          <p:cNvPr id="9" name="Rounded Rectangle 8"/>
          <p:cNvSpPr/>
          <p:nvPr/>
        </p:nvSpPr>
        <p:spPr>
          <a:xfrm>
            <a:off x="548640" y="281635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38bfc46aaeb7.png"/>
          <p:cNvPicPr>
            <a:picLocks noChangeAspect="1"/>
          </p:cNvPicPr>
          <p:nvPr/>
        </p:nvPicPr>
        <p:blipFill>
          <a:blip r:embed="rId2"/>
          <a:stretch>
            <a:fillRect/>
          </a:stretch>
        </p:blipFill>
        <p:spPr>
          <a:xfrm>
            <a:off x="640080" y="3015927"/>
            <a:ext cx="6126480" cy="259216"/>
          </a:xfrm>
          <a:prstGeom prst="rect">
            <a:avLst/>
          </a:prstGeom>
        </p:spPr>
      </p:pic>
      <p:pic>
        <p:nvPicPr>
          <p:cNvPr id="11" name="Picture 10" descr="phan-cum-dtw.png"/>
          <p:cNvPicPr>
            <a:picLocks noChangeAspect="1"/>
          </p:cNvPicPr>
          <p:nvPr/>
        </p:nvPicPr>
        <p:blipFill>
          <a:blip r:embed="rId3"/>
          <a:stretch>
            <a:fillRect/>
          </a:stretch>
        </p:blipFill>
        <p:spPr>
          <a:xfrm>
            <a:off x="548640" y="3594553"/>
            <a:ext cx="6309360" cy="2869293"/>
          </a:xfrm>
          <a:prstGeom prst="rect">
            <a:avLst/>
          </a:prstGeom>
        </p:spPr>
      </p:pic>
      <p:sp>
        <p:nvSpPr>
          <p:cNvPr id="12" name="TextBox 11"/>
          <p:cNvSpPr txBox="1"/>
          <p:nvPr/>
        </p:nvSpPr>
        <p:spPr>
          <a:xfrm>
            <a:off x="7223760" y="281635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3" name="TextBox 12"/>
          <p:cNvSpPr txBox="1"/>
          <p:nvPr/>
        </p:nvSpPr>
        <p:spPr>
          <a:xfrm>
            <a:off x="7223760" y="3136391"/>
            <a:ext cx="4416552" cy="877823"/>
          </a:xfrm>
          <a:prstGeom prst="rect">
            <a:avLst/>
          </a:prstGeom>
          <a:noFill/>
        </p:spPr>
        <p:txBody>
          <a:bodyPr wrap="square" lIns="0" rIns="0" tIns="0" bIns="0" anchor="t">
            <a:spAutoFit/>
          </a:bodyPr>
          <a:lstStyle/>
          <a:p>
            <a:pPr algn="l"/>
            <a:r>
              <a:rPr sz="1500" b="0" i="0">
                <a:solidFill>
                  <a:srgbClr val="1B2A41"/>
                </a:solidFill>
                <a:latin typeface="Arial"/>
              </a:rPr>
              <a:t>DTW đo khoảng cách hai chuỗi mà cho phép lệch thời gian đôi chút. Ward gộp dần các chuỗi gần nhau thành cụm.</a:t>
            </a:r>
          </a:p>
        </p:txBody>
      </p:sp>
      <p:sp>
        <p:nvSpPr>
          <p:cNvPr id="14" name="TextBox 13"/>
          <p:cNvSpPr txBox="1"/>
          <p:nvPr/>
        </p:nvSpPr>
        <p:spPr>
          <a:xfrm>
            <a:off x="7223760" y="404164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5" name="TextBox 14"/>
          <p:cNvSpPr txBox="1"/>
          <p:nvPr/>
        </p:nvSpPr>
        <p:spPr>
          <a:xfrm>
            <a:off x="7223760" y="4361688"/>
            <a:ext cx="4416552" cy="877823"/>
          </a:xfrm>
          <a:prstGeom prst="rect">
            <a:avLst/>
          </a:prstGeom>
          <a:noFill/>
        </p:spPr>
        <p:txBody>
          <a:bodyPr wrap="square" lIns="0" rIns="0" tIns="0" bIns="0" anchor="t">
            <a:spAutoFit/>
          </a:bodyPr>
          <a:lstStyle/>
          <a:p>
            <a:pPr algn="l"/>
            <a:r>
              <a:rPr sz="1500" b="0" i="0">
                <a:solidFill>
                  <a:srgbClr val="1B2A41"/>
                </a:solidFill>
                <a:latin typeface="Arial"/>
              </a:rPr>
              <a:t>DTW nhỏ là cùng hình dạng. Mức trung vị của các cụm tăng đều nghĩa là đang gom theo độ lớn: đã quên chuẩn hoá.</a:t>
            </a:r>
          </a:p>
        </p:txBody>
      </p:sp>
      <p:sp>
        <p:nvSpPr>
          <p:cNvPr id="16" name="TextBox 15"/>
          <p:cNvSpPr txBox="1"/>
          <p:nvPr/>
        </p:nvSpPr>
        <p:spPr>
          <a:xfrm>
            <a:off x="7223760" y="526694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7" name="TextBox 16"/>
          <p:cNvSpPr txBox="1"/>
          <p:nvPr/>
        </p:nvSpPr>
        <p:spPr>
          <a:xfrm>
            <a:off x="7223760" y="5586983"/>
            <a:ext cx="4416552" cy="877823"/>
          </a:xfrm>
          <a:prstGeom prst="rect">
            <a:avLst/>
          </a:prstGeom>
          <a:noFill/>
        </p:spPr>
        <p:txBody>
          <a:bodyPr wrap="square" lIns="0" rIns="0" tIns="0" bIns="0" anchor="t">
            <a:spAutoFit/>
          </a:bodyPr>
          <a:lstStyle/>
          <a:p>
            <a:pPr algn="l"/>
            <a:r>
              <a:rPr sz="1500" b="0" i="0">
                <a:solidFill>
                  <a:srgbClr val="1B2A41"/>
                </a:solidFill>
                <a:latin typeface="Arial"/>
              </a:rPr>
              <a:t>Không chuẩn hoá, 4 cụm chỉ khác độ lớn (trung vị 1.585 lên tới 9.832). Chuẩn hoá z-score thì gom đúng theo hình dạng.</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ABC hỏi quan trọng, XYZ hỏi dao động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ABC–XYZ classification · coefficient of variation (CV)</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Hàng nghìn mã hàng mà ít người. Dồn công sức vào mã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nơi đặt công sức: mã hàng nào đáng làm mô hình kỹ nhất.</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“ABC hỏi cái nào quan trọng, CV hỏi cái nào dao động, sai số baseline mới hỏi cái nào khó.”</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c9a3d42fbb75.png"/>
          <p:cNvPicPr>
            <a:picLocks noChangeAspect="1"/>
          </p:cNvPicPr>
          <p:nvPr/>
        </p:nvPicPr>
        <p:blipFill>
          <a:blip r:embed="rId2"/>
          <a:stretch>
            <a:fillRect/>
          </a:stretch>
        </p:blipFill>
        <p:spPr>
          <a:xfrm>
            <a:off x="1783080" y="2980944"/>
            <a:ext cx="810768" cy="329184"/>
          </a:xfrm>
          <a:prstGeom prst="rect">
            <a:avLst/>
          </a:prstGeom>
        </p:spPr>
      </p:pic>
      <p:sp>
        <p:nvSpPr>
          <p:cNvPr id="12" name="TextBox 11"/>
          <p:cNvSpPr txBox="1"/>
          <p:nvPr/>
        </p:nvSpPr>
        <p:spPr>
          <a:xfrm>
            <a:off x="5602071" y="2816351"/>
            <a:ext cx="5901080" cy="658368"/>
          </a:xfrm>
          <a:prstGeom prst="rect">
            <a:avLst/>
          </a:prstGeom>
          <a:noFill/>
        </p:spPr>
        <p:txBody>
          <a:bodyPr wrap="square" lIns="0" rIns="0" tIns="0" bIns="0" anchor="ctr">
            <a:spAutoFit/>
          </a:bodyPr>
          <a:lstStyle/>
          <a:p>
            <a:pPr algn="l"/>
            <a:r>
              <a:rPr sz="1150" b="0" i="0">
                <a:solidFill>
                  <a:srgbClr val="1B2A41"/>
                </a:solidFill>
                <a:latin typeface="Arial"/>
              </a:rPr>
              <a:t>Trung bình 100, s = 10 → CV = 0,1.</a:t>
            </a:r>
          </a:p>
        </p:txBody>
      </p:sp>
      <p:pic>
        <p:nvPicPr>
          <p:cNvPr id="13" name="Picture 12" descr="abc-xyz.png"/>
          <p:cNvPicPr>
            <a:picLocks noChangeAspect="1"/>
          </p:cNvPicPr>
          <p:nvPr/>
        </p:nvPicPr>
        <p:blipFill>
          <a:blip r:embed="rId3"/>
          <a:stretch>
            <a:fillRect/>
          </a:stretch>
        </p:blipFill>
        <p:spPr>
          <a:xfrm>
            <a:off x="4206841" y="3566160"/>
            <a:ext cx="3775268"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ABC xếp mã hàng theo doanh thu. XYZ xếp theo CV, tức độ lệch chuẩn chia trung bình.</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CV 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CV thấp</a:t>
            </a:r>
          </a:p>
        </p:txBody>
      </p:sp>
      <p:sp>
        <p:nvSpPr>
          <p:cNvPr id="23" name="TextBox 22"/>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bán đều</a:t>
            </a:r>
          </a:p>
        </p:txBody>
      </p:sp>
      <p:sp>
        <p:nvSpPr>
          <p:cNvPr id="24" name="Oval 23"/>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CV cao</a:t>
            </a:r>
          </a:p>
        </p:txBody>
      </p:sp>
      <p:sp>
        <p:nvSpPr>
          <p:cNvPr id="26" name="TextBox 25"/>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dao động nhiều, chưa chắc khó đoán</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Online Retail II: nhóm A (một phần năm số mã) mang 74,7% doanh thu. Chuỗi 10, 30, 10, 30 có CV 0,58 mà rất dễ đoán.</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Mỗi feature: biết trước bao lâu?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feature · calendar feature · lag feature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Lúc học, mọi con số đều đã có. Lúc dự báo thật thì chưa. Cột nào thật sự có trong tay lúc đó?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Mỗi cột đầu vào của mô hình chỉ chứa thông tin thật sự có trong tay lúc ra dự báo.</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afb2fe38f7f8.png"/>
          <p:cNvPicPr>
            <a:picLocks noChangeAspect="1"/>
          </p:cNvPicPr>
          <p:nvPr/>
        </p:nvPicPr>
        <p:blipFill>
          <a:blip r:embed="rId2"/>
          <a:stretch>
            <a:fillRect/>
          </a:stretch>
        </p:blipFill>
        <p:spPr>
          <a:xfrm>
            <a:off x="1783080" y="2628899"/>
            <a:ext cx="4419600" cy="265176"/>
          </a:xfrm>
          <a:prstGeom prst="rect">
            <a:avLst/>
          </a:prstGeom>
        </p:spPr>
      </p:pic>
      <p:sp>
        <p:nvSpPr>
          <p:cNvPr id="11" name="TextBox 10"/>
          <p:cNvSpPr txBox="1"/>
          <p:nvPr/>
        </p:nvSpPr>
        <p:spPr>
          <a:xfrm>
            <a:off x="6385560" y="2432303"/>
            <a:ext cx="5117592" cy="658368"/>
          </a:xfrm>
          <a:prstGeom prst="rect">
            <a:avLst/>
          </a:prstGeom>
          <a:noFill/>
        </p:spPr>
        <p:txBody>
          <a:bodyPr wrap="square" lIns="0" rIns="0" tIns="0" bIns="0" anchor="ctr">
            <a:spAutoFit/>
          </a:bodyPr>
          <a:lstStyle/>
          <a:p>
            <a:pPr algn="l"/>
            <a:r>
              <a:rPr sz="1150" b="0" i="0">
                <a:solidFill>
                  <a:srgbClr val="1B2A41"/>
                </a:solidFill>
                <a:latin typeface="Arial"/>
              </a:rPr>
              <a:t>Dự báo trước 24 giờ thì lag nhỏ nhất là 24.</a:t>
            </a:r>
          </a:p>
        </p:txBody>
      </p:sp>
      <p:pic>
        <p:nvPicPr>
          <p:cNvPr id="12" name="Picture 11" descr="biet-truoc.png"/>
          <p:cNvPicPr>
            <a:picLocks noChangeAspect="1"/>
          </p:cNvPicPr>
          <p:nvPr/>
        </p:nvPicPr>
        <p:blipFill>
          <a:blip r:embed="rId3"/>
          <a:stretch>
            <a:fillRect/>
          </a:stretch>
        </p:blipFill>
        <p:spPr>
          <a:xfrm>
            <a:off x="3858736" y="3182112"/>
            <a:ext cx="4471478"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là một cột đầu vào. Ba nhóm hợp lệ: lịch (biết mãi mãi), kế hoạch đã công bố, và quá khứ của chuỗi.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không xếp được vào ba nhóm là đáng nghi rò rỉ. Số quá khứ phải cách thời điểm cần dự báo ít nhất h bước.</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41 feature của buổi 13: 23 cột là lịch, 18 cột lấy từ quá khứ của chuỗi.</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trước h bước: shift h trước, rolling sau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lag feature · rolling feature · shift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Tạo feature từ quá khứ mà không vô tình chứa chính ngày đang cần dự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“Lag nhìn về một điểm quá khứ; rolling lấy trung bình một vùng gần đây.”</a:t>
            </a:r>
          </a:p>
        </p:txBody>
      </p:sp>
      <p:sp>
        <p:nvSpPr>
          <p:cNvPr id="8" name="Rectangle 7"/>
          <p:cNvSpPr/>
          <p:nvPr/>
        </p:nvSpPr>
        <p:spPr>
          <a:xfrm>
            <a:off x="548640" y="2148840"/>
            <a:ext cx="310896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ngày</a:t>
            </a:r>
          </a:p>
        </p:txBody>
      </p:sp>
      <p:sp>
        <p:nvSpPr>
          <p:cNvPr id="9" name="Rectangle 8"/>
          <p:cNvSpPr/>
          <p:nvPr/>
        </p:nvSpPr>
        <p:spPr>
          <a:xfrm>
            <a:off x="365760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1</a:t>
            </a:r>
          </a:p>
        </p:txBody>
      </p:sp>
      <p:sp>
        <p:nvSpPr>
          <p:cNvPr id="10" name="Rectangle 9"/>
          <p:cNvSpPr/>
          <p:nvPr/>
        </p:nvSpPr>
        <p:spPr>
          <a:xfrm>
            <a:off x="498348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2</a:t>
            </a:r>
          </a:p>
        </p:txBody>
      </p:sp>
      <p:sp>
        <p:nvSpPr>
          <p:cNvPr id="11" name="Rectangle 10"/>
          <p:cNvSpPr/>
          <p:nvPr/>
        </p:nvSpPr>
        <p:spPr>
          <a:xfrm>
            <a:off x="630936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3</a:t>
            </a:r>
          </a:p>
        </p:txBody>
      </p:sp>
      <p:sp>
        <p:nvSpPr>
          <p:cNvPr id="12" name="Rectangle 11"/>
          <p:cNvSpPr/>
          <p:nvPr/>
        </p:nvSpPr>
        <p:spPr>
          <a:xfrm>
            <a:off x="763524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4</a:t>
            </a:r>
          </a:p>
        </p:txBody>
      </p:sp>
      <p:sp>
        <p:nvSpPr>
          <p:cNvPr id="13" name="Rectangle 12"/>
          <p:cNvSpPr/>
          <p:nvPr/>
        </p:nvSpPr>
        <p:spPr>
          <a:xfrm>
            <a:off x="8961119"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5</a:t>
            </a:r>
          </a:p>
        </p:txBody>
      </p:sp>
      <p:sp>
        <p:nvSpPr>
          <p:cNvPr id="14" name="Rectangle 13"/>
          <p:cNvSpPr/>
          <p:nvPr/>
        </p:nvSpPr>
        <p:spPr>
          <a:xfrm>
            <a:off x="10286999"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6</a:t>
            </a:r>
          </a:p>
        </p:txBody>
      </p:sp>
      <p:sp>
        <p:nvSpPr>
          <p:cNvPr id="15" name="Rectangle 14"/>
          <p:cNvSpPr/>
          <p:nvPr/>
        </p:nvSpPr>
        <p:spPr>
          <a:xfrm>
            <a:off x="548640" y="2697480"/>
            <a:ext cx="31089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y</a:t>
            </a:r>
          </a:p>
        </p:txBody>
      </p:sp>
      <p:sp>
        <p:nvSpPr>
          <p:cNvPr id="16" name="Rectangle 15"/>
          <p:cNvSpPr/>
          <p:nvPr/>
        </p:nvSpPr>
        <p:spPr>
          <a:xfrm>
            <a:off x="365760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10</a:t>
            </a:r>
          </a:p>
        </p:txBody>
      </p:sp>
      <p:sp>
        <p:nvSpPr>
          <p:cNvPr id="17" name="Rectangle 16"/>
          <p:cNvSpPr/>
          <p:nvPr/>
        </p:nvSpPr>
        <p:spPr>
          <a:xfrm>
            <a:off x="498348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20</a:t>
            </a:r>
          </a:p>
        </p:txBody>
      </p:sp>
      <p:sp>
        <p:nvSpPr>
          <p:cNvPr id="18" name="Rectangle 17"/>
          <p:cNvSpPr/>
          <p:nvPr/>
        </p:nvSpPr>
        <p:spPr>
          <a:xfrm>
            <a:off x="630936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30</a:t>
            </a:r>
          </a:p>
        </p:txBody>
      </p:sp>
      <p:sp>
        <p:nvSpPr>
          <p:cNvPr id="19" name="Rectangle 18"/>
          <p:cNvSpPr/>
          <p:nvPr/>
        </p:nvSpPr>
        <p:spPr>
          <a:xfrm>
            <a:off x="763524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40</a:t>
            </a:r>
          </a:p>
        </p:txBody>
      </p:sp>
      <p:sp>
        <p:nvSpPr>
          <p:cNvPr id="20" name="Rectangle 19"/>
          <p:cNvSpPr/>
          <p:nvPr/>
        </p:nvSpPr>
        <p:spPr>
          <a:xfrm>
            <a:off x="8961119"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50</a:t>
            </a:r>
          </a:p>
        </p:txBody>
      </p:sp>
      <p:sp>
        <p:nvSpPr>
          <p:cNvPr id="21" name="Rectangle 20"/>
          <p:cNvSpPr/>
          <p:nvPr/>
        </p:nvSpPr>
        <p:spPr>
          <a:xfrm>
            <a:off x="10286999"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60</a:t>
            </a:r>
          </a:p>
        </p:txBody>
      </p:sp>
      <p:sp>
        <p:nvSpPr>
          <p:cNvPr id="22" name="Rectangle 21"/>
          <p:cNvSpPr/>
          <p:nvPr/>
        </p:nvSpPr>
        <p:spPr>
          <a:xfrm>
            <a:off x="548640" y="3246120"/>
            <a:ext cx="31089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shift(3)</a:t>
            </a:r>
          </a:p>
        </p:txBody>
      </p:sp>
      <p:sp>
        <p:nvSpPr>
          <p:cNvPr id="23" name="Rectangle 22"/>
          <p:cNvSpPr/>
          <p:nvPr/>
        </p:nvSpPr>
        <p:spPr>
          <a:xfrm>
            <a:off x="365760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4" name="Rectangle 23"/>
          <p:cNvSpPr/>
          <p:nvPr/>
        </p:nvSpPr>
        <p:spPr>
          <a:xfrm>
            <a:off x="498348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5" name="Rectangle 24"/>
          <p:cNvSpPr/>
          <p:nvPr/>
        </p:nvSpPr>
        <p:spPr>
          <a:xfrm>
            <a:off x="630936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6" name="Rectangle 25"/>
          <p:cNvSpPr/>
          <p:nvPr/>
        </p:nvSpPr>
        <p:spPr>
          <a:xfrm>
            <a:off x="763524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10</a:t>
            </a:r>
          </a:p>
        </p:txBody>
      </p:sp>
      <p:sp>
        <p:nvSpPr>
          <p:cNvPr id="27" name="Rectangle 26"/>
          <p:cNvSpPr/>
          <p:nvPr/>
        </p:nvSpPr>
        <p:spPr>
          <a:xfrm>
            <a:off x="8961119"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20</a:t>
            </a:r>
          </a:p>
        </p:txBody>
      </p:sp>
      <p:sp>
        <p:nvSpPr>
          <p:cNvPr id="28" name="Rectangle 27"/>
          <p:cNvSpPr/>
          <p:nvPr/>
        </p:nvSpPr>
        <p:spPr>
          <a:xfrm>
            <a:off x="10286999"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30</a:t>
            </a:r>
          </a:p>
        </p:txBody>
      </p:sp>
      <p:sp>
        <p:nvSpPr>
          <p:cNvPr id="29" name="Rectangle 28"/>
          <p:cNvSpPr/>
          <p:nvPr/>
        </p:nvSpPr>
        <p:spPr>
          <a:xfrm>
            <a:off x="548640" y="3794760"/>
            <a:ext cx="31089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shift(3) rồi rolling(2)</a:t>
            </a:r>
          </a:p>
        </p:txBody>
      </p:sp>
      <p:sp>
        <p:nvSpPr>
          <p:cNvPr id="30" name="Rectangle 29"/>
          <p:cNvSpPr/>
          <p:nvPr/>
        </p:nvSpPr>
        <p:spPr>
          <a:xfrm>
            <a:off x="365760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1" name="Rectangle 30"/>
          <p:cNvSpPr/>
          <p:nvPr/>
        </p:nvSpPr>
        <p:spPr>
          <a:xfrm>
            <a:off x="498348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2" name="Rectangle 31"/>
          <p:cNvSpPr/>
          <p:nvPr/>
        </p:nvSpPr>
        <p:spPr>
          <a:xfrm>
            <a:off x="630936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3" name="Rectangle 32"/>
          <p:cNvSpPr/>
          <p:nvPr/>
        </p:nvSpPr>
        <p:spPr>
          <a:xfrm>
            <a:off x="763524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4" name="Rectangle 33"/>
          <p:cNvSpPr/>
          <p:nvPr/>
        </p:nvSpPr>
        <p:spPr>
          <a:xfrm>
            <a:off x="8961119" y="3794760"/>
            <a:ext cx="1325880" cy="54864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E8449"/>
                </a:solidFill>
                <a:latin typeface="Arial"/>
              </a:rPr>
              <a:t>15</a:t>
            </a:r>
          </a:p>
        </p:txBody>
      </p:sp>
      <p:sp>
        <p:nvSpPr>
          <p:cNvPr id="35" name="Rectangle 34"/>
          <p:cNvSpPr/>
          <p:nvPr/>
        </p:nvSpPr>
        <p:spPr>
          <a:xfrm>
            <a:off x="10286999" y="3794760"/>
            <a:ext cx="1325880" cy="54864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E8449"/>
                </a:solidFill>
                <a:latin typeface="Arial"/>
              </a:rPr>
              <a:t>25</a:t>
            </a:r>
          </a:p>
        </p:txBody>
      </p:sp>
      <p:sp>
        <p:nvSpPr>
          <p:cNvPr id="36" name="Rectangle 35"/>
          <p:cNvSpPr/>
          <p:nvPr/>
        </p:nvSpPr>
        <p:spPr>
          <a:xfrm>
            <a:off x="548640" y="4343400"/>
            <a:ext cx="31089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rolling(2), quên shift</a:t>
            </a:r>
          </a:p>
        </p:txBody>
      </p:sp>
      <p:sp>
        <p:nvSpPr>
          <p:cNvPr id="37" name="Rectangle 36"/>
          <p:cNvSpPr/>
          <p:nvPr/>
        </p:nvSpPr>
        <p:spPr>
          <a:xfrm>
            <a:off x="3657600" y="434340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8" name="Rectangle 37"/>
          <p:cNvSpPr/>
          <p:nvPr/>
        </p:nvSpPr>
        <p:spPr>
          <a:xfrm>
            <a:off x="498348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15</a:t>
            </a:r>
          </a:p>
        </p:txBody>
      </p:sp>
      <p:sp>
        <p:nvSpPr>
          <p:cNvPr id="39" name="Rectangle 38"/>
          <p:cNvSpPr/>
          <p:nvPr/>
        </p:nvSpPr>
        <p:spPr>
          <a:xfrm>
            <a:off x="630936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25</a:t>
            </a:r>
          </a:p>
        </p:txBody>
      </p:sp>
      <p:sp>
        <p:nvSpPr>
          <p:cNvPr id="40" name="Rectangle 39"/>
          <p:cNvSpPr/>
          <p:nvPr/>
        </p:nvSpPr>
        <p:spPr>
          <a:xfrm>
            <a:off x="763524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35</a:t>
            </a:r>
          </a:p>
        </p:txBody>
      </p:sp>
      <p:sp>
        <p:nvSpPr>
          <p:cNvPr id="41" name="Rectangle 40"/>
          <p:cNvSpPr/>
          <p:nvPr/>
        </p:nvSpPr>
        <p:spPr>
          <a:xfrm>
            <a:off x="8961119"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45</a:t>
            </a:r>
          </a:p>
        </p:txBody>
      </p:sp>
      <p:sp>
        <p:nvSpPr>
          <p:cNvPr id="42" name="Rectangle 41"/>
          <p:cNvSpPr/>
          <p:nvPr/>
        </p:nvSpPr>
        <p:spPr>
          <a:xfrm>
            <a:off x="10286999"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55</a:t>
            </a:r>
          </a:p>
        </p:txBody>
      </p:sp>
      <p:sp>
        <p:nvSpPr>
          <p:cNvPr id="43" name="Rounded Rectangle 42"/>
          <p:cNvSpPr/>
          <p:nvPr/>
        </p:nvSpPr>
        <p:spPr>
          <a:xfrm>
            <a:off x="548640" y="5120640"/>
            <a:ext cx="5440680" cy="118872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257800"/>
            <a:ext cx="4983480" cy="274320"/>
          </a:xfrm>
          <a:prstGeom prst="rect">
            <a:avLst/>
          </a:prstGeom>
          <a:noFill/>
        </p:spPr>
        <p:txBody>
          <a:bodyPr wrap="square" lIns="0" rIns="0" tIns="0" bIns="0" anchor="t">
            <a:spAutoFit/>
          </a:bodyPr>
          <a:lstStyle/>
          <a:p>
            <a:pPr algn="l"/>
            <a:r>
              <a:rPr sz="1300" b="1" i="0">
                <a:solidFill>
                  <a:srgbClr val="1E8449"/>
                </a:solidFill>
                <a:latin typeface="Arial"/>
              </a:rPr>
              <a:t>Đúng (h = 3)</a:t>
            </a:r>
          </a:p>
        </p:txBody>
      </p:sp>
      <p:sp>
        <p:nvSpPr>
          <p:cNvPr id="45" name="TextBox 44"/>
          <p:cNvSpPr txBox="1"/>
          <p:nvPr/>
        </p:nvSpPr>
        <p:spPr>
          <a:xfrm>
            <a:off x="777240" y="5532120"/>
            <a:ext cx="4983480" cy="73152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Ngày 6 dùng trung bình ngày 2–3: đã biết từ ngày 3.</a:t>
            </a:r>
          </a:p>
        </p:txBody>
      </p:sp>
      <p:sp>
        <p:nvSpPr>
          <p:cNvPr id="46" name="Rounded Rectangle 45"/>
          <p:cNvSpPr/>
          <p:nvPr/>
        </p:nvSpPr>
        <p:spPr>
          <a:xfrm>
            <a:off x="6199632" y="5120640"/>
            <a:ext cx="5440680" cy="118872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257800"/>
            <a:ext cx="4983480" cy="274320"/>
          </a:xfrm>
          <a:prstGeom prst="rect">
            <a:avLst/>
          </a:prstGeom>
          <a:noFill/>
        </p:spPr>
        <p:txBody>
          <a:bodyPr wrap="square" lIns="0" rIns="0" tIns="0" bIns="0" anchor="t">
            <a:spAutoFit/>
          </a:bodyPr>
          <a:lstStyle/>
          <a:p>
            <a:pPr algn="l"/>
            <a:r>
              <a:rPr sz="1300" b="1" i="0">
                <a:solidFill>
                  <a:srgbClr val="C0392B"/>
                </a:solidFill>
                <a:latin typeface="Arial"/>
              </a:rPr>
              <a:t>Rò rỉ</a:t>
            </a:r>
          </a:p>
        </p:txBody>
      </p:sp>
      <p:sp>
        <p:nvSpPr>
          <p:cNvPr id="48" name="TextBox 47"/>
          <p:cNvSpPr txBox="1"/>
          <p:nvPr/>
        </p:nvSpPr>
        <p:spPr>
          <a:xfrm>
            <a:off x="6428232" y="5532120"/>
            <a:ext cx="4983480" cy="73152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Ngày 6 dùng ngày 5–6: lúc dự báo (ngày 3) chưa có.</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Feature lịch: sin/cos, Fourier, Tết âm lịch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cyclical encoding (sin/cos) · Fourier terms · moving holiday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lịch (thứ, tháng, ngày lễ) vào mô hình theo cách mô hình hiểu được.</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8b7077e2d35d.png"/>
          <p:cNvPicPr>
            <a:picLocks noChangeAspect="1"/>
          </p:cNvPicPr>
          <p:nvPr/>
        </p:nvPicPr>
        <p:blipFill>
          <a:blip r:embed="rId2"/>
          <a:stretch>
            <a:fillRect/>
          </a:stretch>
        </p:blipFill>
        <p:spPr>
          <a:xfrm>
            <a:off x="1783080" y="2234411"/>
            <a:ext cx="6611112" cy="322633"/>
          </a:xfrm>
          <a:prstGeom prst="rect">
            <a:avLst/>
          </a:prstGeom>
        </p:spPr>
      </p:pic>
      <p:sp>
        <p:nvSpPr>
          <p:cNvPr id="10" name="TextBox 9"/>
          <p:cNvSpPr txBox="1"/>
          <p:nvPr/>
        </p:nvSpPr>
        <p:spPr>
          <a:xfrm>
            <a:off x="8577072" y="2066543"/>
            <a:ext cx="2926080" cy="658368"/>
          </a:xfrm>
          <a:prstGeom prst="rect">
            <a:avLst/>
          </a:prstGeom>
          <a:noFill/>
        </p:spPr>
        <p:txBody>
          <a:bodyPr wrap="square" lIns="0" rIns="0" tIns="0" bIns="0" anchor="ctr">
            <a:spAutoFit/>
          </a:bodyPr>
          <a:lstStyle/>
          <a:p>
            <a:pPr algn="l"/>
            <a:r>
              <a:rPr sz="1150" b="0" i="0">
                <a:solidFill>
                  <a:srgbClr val="1B2A41"/>
                </a:solidFill>
                <a:latin typeface="Arial"/>
              </a:rPr>
              <a:t>Ngày 31/12 và 1/1 nằm cạnh nhau trên vòng tròn.</a:t>
            </a:r>
          </a:p>
        </p:txBody>
      </p:sp>
      <p:pic>
        <p:nvPicPr>
          <p:cNvPr id="11" name="Picture 10" descr="tet-di-dong.png"/>
          <p:cNvPicPr>
            <a:picLocks noChangeAspect="1"/>
          </p:cNvPicPr>
          <p:nvPr/>
        </p:nvPicPr>
        <p:blipFill>
          <a:blip r:embed="rId3"/>
          <a:stretch>
            <a:fillRect/>
          </a:stretch>
        </p:blipFill>
        <p:spPr>
          <a:xfrm>
            <a:off x="2768091" y="2816351"/>
            <a:ext cx="6652768" cy="212140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Mã hoá tuần hoàn dùng một cặp sin/cos cho thứ hay tháng. Fourier term dùng vài cặp sin/cos cho mùa vụ dài.</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Vì sao không ghi thẳng số</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Ghi thứ là 1–7 thì Chủ nhật cách thứ Hai rất xa; sin/cos đặt chúng cạnh nhau. Tết theo lịch âm nên tính số ngày tới Tết.</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Tết xê dịch gần một tháng giữa các năm; vào mùng 1, lượt xem Wikipedia chỉ còn 0,62 lần mức thường.</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Số tính trên cả chuỗi mang tương lai vào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full-sample leakage · scaler fit · target encoding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Chuẩn hoá cả tập dữ liệu rồi mới chia học và kiểm. Tương lai lọt vào ở đâu?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Nhận ra rò rỉ không chỉ ở lag hay rolling, mà ở mọi con số tính trên toàn bộ dữ liệu.</a:t>
            </a:r>
          </a:p>
        </p:txBody>
      </p:sp>
      <p:pic>
        <p:nvPicPr>
          <p:cNvPr id="8" name="Picture 7" descr="kn-nhan-qua-cach-dien.png"/>
          <p:cNvPicPr>
            <a:picLocks noChangeAspect="1"/>
          </p:cNvPicPr>
          <p:nvPr/>
        </p:nvPicPr>
        <p:blipFill>
          <a:blip r:embed="rId2"/>
          <a:stretch>
            <a:fillRect/>
          </a:stretch>
        </p:blipFill>
        <p:spPr>
          <a:xfrm>
            <a:off x="548640" y="2869446"/>
            <a:ext cx="6309360" cy="318565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Một con số tính trên cả dữ liệu, kể cả phần tương lai, rồi đưa vào feature từng ngày: trung bình, độ lệch chuẩn, trung bình nhóm, nội suy hai phía.</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Ba kiểu và cách sửa</a:t>
            </a:r>
          </a:p>
        </p:txBody>
      </p:sp>
      <p:cxnSp>
        <p:nvCxnSpPr>
          <p:cNvPr id="12" name="Connector 11"/>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chuẩn hoá cả chuỗi</a:t>
            </a:r>
          </a:p>
        </p:txBody>
      </p:sp>
      <p:sp>
        <p:nvSpPr>
          <p:cNvPr id="15" name="TextBox 14"/>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fit scaler chỉ trên phần học</a:t>
            </a:r>
          </a:p>
        </p:txBody>
      </p:sp>
      <p:sp>
        <p:nvSpPr>
          <p:cNvPr id="16" name="Oval 15"/>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target encoding</a:t>
            </a:r>
          </a:p>
        </p:txBody>
      </p:sp>
      <p:sp>
        <p:nvSpPr>
          <p:cNvPr id="18" name="TextBox 17"/>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chỉ dùng các ngày trước t</a:t>
            </a:r>
          </a:p>
        </p:txBody>
      </p:sp>
      <p:sp>
        <p:nvSpPr>
          <p:cNvPr id="19" name="Oval 18"/>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nội suy hai phía</a:t>
            </a:r>
          </a:p>
        </p:txBody>
      </p:sp>
      <p:sp>
        <p:nvSpPr>
          <p:cNvPr id="21" name="TextBox 20"/>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ffill: chỉ dùng số đã có</a:t>
            </a:r>
          </a:p>
        </p:txBody>
      </p:sp>
      <p:sp>
        <p:nvSpPr>
          <p:cNvPr id="22" name="TextBox 21"/>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3" name="TextBox 22"/>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8, 14, 20, 16: trung bình 13,33 đã chứa hai ngày cuối. Nhóm A (10, 8, 20) = 12,67: ngày 1 đã “biết” số 20 của ngày 5.</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Kiểm rò rỉ: cắt tương lai và nhiễu mục tiêu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leakage test · truncation test · target perturbation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41 feature, không ai đọc hết từng dòng code. Máy kiểm rò rỉ giúp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Bắt rò rỉ bằng máy trên mọi hàm tạo feature, không phải đọc từng dòng code.</a:t>
            </a:r>
          </a:p>
        </p:txBody>
      </p:sp>
      <p:pic>
        <p:nvPicPr>
          <p:cNvPr id="8" name="Picture 7" descr="kn-kiem-nhieu-muc-tieu.png"/>
          <p:cNvPicPr>
            <a:picLocks noChangeAspect="1"/>
          </p:cNvPicPr>
          <p:nvPr/>
        </p:nvPicPr>
        <p:blipFill>
          <a:blip r:embed="rId2"/>
          <a:stretch>
            <a:fillRect/>
          </a:stretch>
        </p:blipFill>
        <p:spPr>
          <a:xfrm>
            <a:off x="548640" y="2713014"/>
            <a:ext cx="6309360" cy="3498514"/>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Cắt tương lai: cắt dữ liệu, tính lại feature, so mọi dòng trước mốc cắt. Nhiễu mục tiêu: đổi y từ một mốc, xem feature lẽ ra đã biết có đổi không.</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Mỗi bài bắt gì</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cắt tương lai</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rolling không shift, số tính trên cả chuỗi</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nhiễu mục tiêu</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lag nhỏ hơn tầm dự báo h</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Cắt sau ngày 4: cột có tâm đổi từ 14 thành NaN, cột đã shift giữ nguyên. Với h = 24, lag_1 đổi ở 23 dòng ngay sau mốc: bị bắt.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Ngoại sinh: dùng bản dự báo, không số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exogenous variable · ex-ante vs ex-post · point-in-time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Tối nay dự báo tải điện trưa mai. Nhiệt độ trưa mai trong tay ta là số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nhiệt độ hay số liệu công bố vào mô hình đúng dạng sẽ có trong tay lúc chạy thật.</a:t>
            </a:r>
          </a:p>
        </p:txBody>
      </p:sp>
      <p:pic>
        <p:nvPicPr>
          <p:cNvPr id="8" name="Picture 7" descr="du-bao-vs-that.png"/>
          <p:cNvPicPr>
            <a:picLocks noChangeAspect="1"/>
          </p:cNvPicPr>
          <p:nvPr/>
        </p:nvPicPr>
        <p:blipFill>
          <a:blip r:embed="rId2"/>
          <a:stretch>
            <a:fillRect/>
          </a:stretch>
        </p:blipFill>
        <p:spPr>
          <a:xfrm>
            <a:off x="2089205" y="2432303"/>
            <a:ext cx="8010540"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Biến ngoại sinh là biến ngoài chuỗi dùng làm feature. Ex-ante: chỉ dùng bản có lúc dự báo. Ex-post: dùng cả số thật về sau, tức rò rỉ.</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Hỏi với từng biến: lúc ra dự báo đã có con số này chưa? Số bị sửa sau công bố (GDP) thì dùng bản point-in-time, đúng như lúc đó.</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Trưa mai thật 35 °C, bản dự báo có tối nay 33 °C: feature phải là 33. Dự báo trước 1 ngày sai trung bình 1,32 °C, trước 3 ngày 2,07 °C.</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B</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Vấn đề dữ liệu</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D9642B"/>
                </a:solidFill>
                <a:latin typeface="Arial"/>
              </a:rPr>
              <a:t>Buổi 3–13</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Mỗi vấn đề: thấy gì thì nghi, kiểm bằng gì, và sửa ra sao.</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D9642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Rò rỉ tương lai gặp ở 8 buổi</a:t>
            </a:r>
          </a:p>
        </p:txBody>
      </p:sp>
      <p:sp>
        <p:nvSpPr>
          <p:cNvPr id="4" name="TextBox 3"/>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data leakage · look-ahead bias</a:t>
            </a:r>
          </a:p>
        </p:txBody>
      </p:sp>
      <p:sp>
        <p:nvSpPr>
          <p:cNvPr id="5" name="TextBox 4"/>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cùng một lỗi quay lại ở nhiều buổi, dưới những dạng khác nhau.</a:t>
            </a:r>
          </a:p>
        </p:txBody>
      </p:sp>
      <p:sp>
        <p:nvSpPr>
          <p:cNvPr id="6" name="TextBox 5"/>
          <p:cNvSpPr txBox="1"/>
          <p:nvPr/>
        </p:nvSpPr>
        <p:spPr>
          <a:xfrm>
            <a:off x="374903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a:t>
            </a:r>
          </a:p>
        </p:txBody>
      </p:sp>
      <p:sp>
        <p:nvSpPr>
          <p:cNvPr id="7" name="TextBox 6"/>
          <p:cNvSpPr txBox="1"/>
          <p:nvPr/>
        </p:nvSpPr>
        <p:spPr>
          <a:xfrm>
            <a:off x="427024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2</a:t>
            </a:r>
          </a:p>
        </p:txBody>
      </p:sp>
      <p:sp>
        <p:nvSpPr>
          <p:cNvPr id="8" name="TextBox 7"/>
          <p:cNvSpPr txBox="1"/>
          <p:nvPr/>
        </p:nvSpPr>
        <p:spPr>
          <a:xfrm>
            <a:off x="4791455"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3</a:t>
            </a:r>
          </a:p>
        </p:txBody>
      </p:sp>
      <p:sp>
        <p:nvSpPr>
          <p:cNvPr id="9" name="TextBox 8"/>
          <p:cNvSpPr txBox="1"/>
          <p:nvPr/>
        </p:nvSpPr>
        <p:spPr>
          <a:xfrm>
            <a:off x="5312664"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4</a:t>
            </a:r>
          </a:p>
        </p:txBody>
      </p:sp>
      <p:sp>
        <p:nvSpPr>
          <p:cNvPr id="10" name="TextBox 9"/>
          <p:cNvSpPr txBox="1"/>
          <p:nvPr/>
        </p:nvSpPr>
        <p:spPr>
          <a:xfrm>
            <a:off x="5833871"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5</a:t>
            </a:r>
          </a:p>
        </p:txBody>
      </p:sp>
      <p:sp>
        <p:nvSpPr>
          <p:cNvPr id="11" name="TextBox 10"/>
          <p:cNvSpPr txBox="1"/>
          <p:nvPr/>
        </p:nvSpPr>
        <p:spPr>
          <a:xfrm>
            <a:off x="635507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6</a:t>
            </a:r>
          </a:p>
        </p:txBody>
      </p:sp>
      <p:sp>
        <p:nvSpPr>
          <p:cNvPr id="12" name="TextBox 11"/>
          <p:cNvSpPr txBox="1"/>
          <p:nvPr/>
        </p:nvSpPr>
        <p:spPr>
          <a:xfrm>
            <a:off x="687628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7</a:t>
            </a:r>
          </a:p>
        </p:txBody>
      </p:sp>
      <p:sp>
        <p:nvSpPr>
          <p:cNvPr id="13" name="TextBox 12"/>
          <p:cNvSpPr txBox="1"/>
          <p:nvPr/>
        </p:nvSpPr>
        <p:spPr>
          <a:xfrm>
            <a:off x="7397496"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8</a:t>
            </a:r>
          </a:p>
        </p:txBody>
      </p:sp>
      <p:sp>
        <p:nvSpPr>
          <p:cNvPr id="14" name="TextBox 13"/>
          <p:cNvSpPr txBox="1"/>
          <p:nvPr/>
        </p:nvSpPr>
        <p:spPr>
          <a:xfrm>
            <a:off x="7918704"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9</a:t>
            </a:r>
          </a:p>
        </p:txBody>
      </p:sp>
      <p:sp>
        <p:nvSpPr>
          <p:cNvPr id="15" name="TextBox 14"/>
          <p:cNvSpPr txBox="1"/>
          <p:nvPr/>
        </p:nvSpPr>
        <p:spPr>
          <a:xfrm>
            <a:off x="8439912"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10</a:t>
            </a:r>
          </a:p>
        </p:txBody>
      </p:sp>
      <p:sp>
        <p:nvSpPr>
          <p:cNvPr id="16" name="TextBox 15"/>
          <p:cNvSpPr txBox="1"/>
          <p:nvPr/>
        </p:nvSpPr>
        <p:spPr>
          <a:xfrm>
            <a:off x="896111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11</a:t>
            </a:r>
          </a:p>
        </p:txBody>
      </p:sp>
      <p:sp>
        <p:nvSpPr>
          <p:cNvPr id="17" name="TextBox 16"/>
          <p:cNvSpPr txBox="1"/>
          <p:nvPr/>
        </p:nvSpPr>
        <p:spPr>
          <a:xfrm>
            <a:off x="948232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12</a:t>
            </a:r>
          </a:p>
        </p:txBody>
      </p:sp>
      <p:sp>
        <p:nvSpPr>
          <p:cNvPr id="18" name="TextBox 17"/>
          <p:cNvSpPr txBox="1"/>
          <p:nvPr/>
        </p:nvSpPr>
        <p:spPr>
          <a:xfrm>
            <a:off x="10003536"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13</a:t>
            </a:r>
          </a:p>
        </p:txBody>
      </p:sp>
      <p:sp>
        <p:nvSpPr>
          <p:cNvPr id="19" name="TextBox 18"/>
          <p:cNvSpPr txBox="1"/>
          <p:nvPr/>
        </p:nvSpPr>
        <p:spPr>
          <a:xfrm>
            <a:off x="10524743"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14</a:t>
            </a:r>
          </a:p>
        </p:txBody>
      </p:sp>
      <p:sp>
        <p:nvSpPr>
          <p:cNvPr id="20" name="TextBox 19"/>
          <p:cNvSpPr txBox="1"/>
          <p:nvPr/>
        </p:nvSpPr>
        <p:spPr>
          <a:xfrm>
            <a:off x="11045951"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15</a:t>
            </a:r>
          </a:p>
        </p:txBody>
      </p:sp>
      <p:sp>
        <p:nvSpPr>
          <p:cNvPr id="21" name="TextBox 20"/>
          <p:cNvSpPr txBox="1"/>
          <p:nvPr/>
        </p:nvSpPr>
        <p:spPr>
          <a:xfrm>
            <a:off x="731520" y="2194560"/>
            <a:ext cx="2926080" cy="402336"/>
          </a:xfrm>
          <a:prstGeom prst="rect">
            <a:avLst/>
          </a:prstGeom>
          <a:noFill/>
        </p:spPr>
        <p:txBody>
          <a:bodyPr wrap="square" lIns="0" rIns="0" tIns="0" bIns="0" anchor="ctr">
            <a:spAutoFit/>
          </a:bodyPr>
          <a:lstStyle/>
          <a:p>
            <a:pPr algn="l"/>
            <a:r>
              <a:rPr sz="1600" b="0" i="0">
                <a:solidFill>
                  <a:srgbClr val="1B2A41"/>
                </a:solidFill>
                <a:latin typeface="Arial"/>
              </a:rPr>
              <a:t>Múi giờ / DST</a:t>
            </a:r>
          </a:p>
        </p:txBody>
      </p:sp>
      <p:sp>
        <p:nvSpPr>
          <p:cNvPr id="22" name="Oval 21"/>
          <p:cNvSpPr/>
          <p:nvPr/>
        </p:nvSpPr>
        <p:spPr>
          <a:xfrm>
            <a:off x="3973068"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9427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924044"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3669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57899"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0031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1524"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4273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72500"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85148"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0635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27564"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74877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269980"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2670048"/>
            <a:ext cx="2926080" cy="402336"/>
          </a:xfrm>
          <a:prstGeom prst="rect">
            <a:avLst/>
          </a:prstGeom>
          <a:noFill/>
        </p:spPr>
        <p:txBody>
          <a:bodyPr wrap="square" lIns="0" rIns="0" tIns="0" bIns="0" anchor="ctr">
            <a:spAutoFit/>
          </a:bodyPr>
          <a:lstStyle/>
          <a:p>
            <a:pPr algn="l"/>
            <a:r>
              <a:rPr sz="1600" b="0" i="0">
                <a:solidFill>
                  <a:srgbClr val="1B2A41"/>
                </a:solidFill>
                <a:latin typeface="Arial"/>
              </a:rPr>
              <a:t>Thiếu dữ liệu</a:t>
            </a:r>
          </a:p>
        </p:txBody>
      </p:sp>
      <p:sp>
        <p:nvSpPr>
          <p:cNvPr id="38" name="Oval 37"/>
          <p:cNvSpPr/>
          <p:nvPr/>
        </p:nvSpPr>
        <p:spPr>
          <a:xfrm>
            <a:off x="3881628"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494276"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015483"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45252"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057899"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87668"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08876"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621524"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142732"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572500"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85148"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06356"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227564"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748772"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269980"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3145536"/>
            <a:ext cx="2926080" cy="402336"/>
          </a:xfrm>
          <a:prstGeom prst="rect">
            <a:avLst/>
          </a:prstGeom>
          <a:noFill/>
        </p:spPr>
        <p:txBody>
          <a:bodyPr wrap="square" lIns="0" rIns="0" tIns="0" bIns="0" anchor="ctr">
            <a:spAutoFit/>
          </a:bodyPr>
          <a:lstStyle/>
          <a:p>
            <a:pPr algn="l"/>
            <a:r>
              <a:rPr sz="1600" b="0" i="0">
                <a:solidFill>
                  <a:srgbClr val="1B2A41"/>
                </a:solidFill>
                <a:latin typeface="Arial"/>
              </a:rPr>
              <a:t>Mốc trùng, mã trá hình</a:t>
            </a:r>
          </a:p>
        </p:txBody>
      </p:sp>
      <p:sp>
        <p:nvSpPr>
          <p:cNvPr id="54" name="Oval 53"/>
          <p:cNvSpPr/>
          <p:nvPr/>
        </p:nvSpPr>
        <p:spPr>
          <a:xfrm>
            <a:off x="3973068"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49427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24044" y="322783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53669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057899"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579107"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10031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621524"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14273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572500" y="322783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185148"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70635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227564"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74877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269980"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3621024"/>
            <a:ext cx="2926080" cy="402336"/>
          </a:xfrm>
          <a:prstGeom prst="rect">
            <a:avLst/>
          </a:prstGeom>
          <a:noFill/>
        </p:spPr>
        <p:txBody>
          <a:bodyPr wrap="square" lIns="0" rIns="0" tIns="0" bIns="0" anchor="ctr">
            <a:spAutoFit/>
          </a:bodyPr>
          <a:lstStyle/>
          <a:p>
            <a:pPr algn="l"/>
            <a:r>
              <a:rPr sz="1600" b="0" i="0">
                <a:solidFill>
                  <a:srgbClr val="1B2A41"/>
                </a:solidFill>
                <a:latin typeface="Arial"/>
              </a:rPr>
              <a:t>Ngoại lai</a:t>
            </a:r>
          </a:p>
        </p:txBody>
      </p:sp>
      <p:sp>
        <p:nvSpPr>
          <p:cNvPr id="70" name="Oval 69"/>
          <p:cNvSpPr/>
          <p:nvPr/>
        </p:nvSpPr>
        <p:spPr>
          <a:xfrm>
            <a:off x="3973068"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49427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015483"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53669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057899"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487668" y="3703320"/>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10031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621524"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14273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663940"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093707" y="3703320"/>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70635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227564"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74877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269980"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 y="4096512"/>
            <a:ext cx="2926080" cy="402336"/>
          </a:xfrm>
          <a:prstGeom prst="rect">
            <a:avLst/>
          </a:prstGeom>
          <a:noFill/>
        </p:spPr>
        <p:txBody>
          <a:bodyPr wrap="square" lIns="0" rIns="0" tIns="0" bIns="0" anchor="ctr">
            <a:spAutoFit/>
          </a:bodyPr>
          <a:lstStyle/>
          <a:p>
            <a:pPr algn="l"/>
            <a:r>
              <a:rPr sz="1600" b="0" i="0">
                <a:solidFill>
                  <a:srgbClr val="1B2A41"/>
                </a:solidFill>
                <a:latin typeface="Arial"/>
              </a:rPr>
              <a:t>Điểm gãy, dịch mức</a:t>
            </a:r>
          </a:p>
        </p:txBody>
      </p:sp>
      <p:sp>
        <p:nvSpPr>
          <p:cNvPr id="86" name="Oval 85"/>
          <p:cNvSpPr/>
          <p:nvPr/>
        </p:nvSpPr>
        <p:spPr>
          <a:xfrm>
            <a:off x="3973068"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402836"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015483"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53669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966459"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579107"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008876"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621524"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14273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663940"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093707"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706356"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227564"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74877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1269980"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31520" y="4572000"/>
            <a:ext cx="2926080" cy="402336"/>
          </a:xfrm>
          <a:prstGeom prst="rect">
            <a:avLst/>
          </a:prstGeom>
          <a:noFill/>
        </p:spPr>
        <p:txBody>
          <a:bodyPr wrap="square" lIns="0" rIns="0" tIns="0" bIns="0" anchor="ctr">
            <a:spAutoFit/>
          </a:bodyPr>
          <a:lstStyle/>
          <a:p>
            <a:pPr algn="l"/>
            <a:r>
              <a:rPr sz="1600" b="0" i="0">
                <a:solidFill>
                  <a:srgbClr val="1B2A41"/>
                </a:solidFill>
                <a:latin typeface="Arial"/>
              </a:rPr>
              <a:t>Nhiễu</a:t>
            </a:r>
          </a:p>
        </p:txBody>
      </p:sp>
      <p:sp>
        <p:nvSpPr>
          <p:cNvPr id="102" name="Oval 101"/>
          <p:cNvSpPr/>
          <p:nvPr/>
        </p:nvSpPr>
        <p:spPr>
          <a:xfrm>
            <a:off x="3973068"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494276"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5015483"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553669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057899"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6579107"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100316"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7621524"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814273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663940"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185148"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614915" y="465429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227564"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74877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1269980"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548640" y="5020055"/>
            <a:ext cx="11091672" cy="457200"/>
          </a:xfrm>
          <a:prstGeom prst="roundRect">
            <a:avLst>
              <a:gd name="adj" fmla="val 30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31520" y="5047488"/>
            <a:ext cx="2926080" cy="402336"/>
          </a:xfrm>
          <a:prstGeom prst="rect">
            <a:avLst/>
          </a:prstGeom>
          <a:noFill/>
        </p:spPr>
        <p:txBody>
          <a:bodyPr wrap="square" lIns="0" rIns="0" tIns="0" bIns="0" anchor="ctr">
            <a:spAutoFit/>
          </a:bodyPr>
          <a:lstStyle/>
          <a:p>
            <a:pPr algn="l"/>
            <a:r>
              <a:rPr sz="1600" b="1" i="0">
                <a:solidFill>
                  <a:srgbClr val="1B2A41"/>
                </a:solidFill>
                <a:latin typeface="Arial"/>
              </a:rPr>
              <a:t>Rò rỉ tương lai</a:t>
            </a:r>
          </a:p>
        </p:txBody>
      </p:sp>
      <p:sp>
        <p:nvSpPr>
          <p:cNvPr id="119" name="Oval 118"/>
          <p:cNvSpPr/>
          <p:nvPr/>
        </p:nvSpPr>
        <p:spPr>
          <a:xfrm>
            <a:off x="3881628"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494276"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015483"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536692"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66459"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579107"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100316"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7530083"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051292"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572500"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185148"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614915"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136124"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748772"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1178539"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31520" y="5522976"/>
            <a:ext cx="2926080" cy="402336"/>
          </a:xfrm>
          <a:prstGeom prst="rect">
            <a:avLst/>
          </a:prstGeom>
          <a:noFill/>
        </p:spPr>
        <p:txBody>
          <a:bodyPr wrap="square" lIns="0" rIns="0" tIns="0" bIns="0" anchor="ctr">
            <a:spAutoFit/>
          </a:bodyPr>
          <a:lstStyle/>
          <a:p>
            <a:pPr algn="l"/>
            <a:r>
              <a:rPr sz="1600" b="0" i="0">
                <a:solidFill>
                  <a:srgbClr val="1B2A41"/>
                </a:solidFill>
                <a:latin typeface="Arial"/>
              </a:rPr>
              <a:t>Số 0 làm hỏng chỉ số</a:t>
            </a:r>
          </a:p>
        </p:txBody>
      </p:sp>
      <p:sp>
        <p:nvSpPr>
          <p:cNvPr id="135" name="Oval 134"/>
          <p:cNvSpPr/>
          <p:nvPr/>
        </p:nvSpPr>
        <p:spPr>
          <a:xfrm>
            <a:off x="3973068"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449427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5015483"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5536692"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6057899"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6579107"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710031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7621524"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142732"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8572500" y="560527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185148"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70635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0227564"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657331" y="560527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1269980"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48640" y="6144768"/>
            <a:ext cx="11091672" cy="320040"/>
          </a:xfrm>
          <a:prstGeom prst="rect">
            <a:avLst/>
          </a:prstGeom>
          <a:noFill/>
        </p:spPr>
        <p:txBody>
          <a:bodyPr wrap="square" lIns="0" rIns="0" tIns="0" bIns="0" anchor="t">
            <a:spAutoFit/>
          </a:bodyPr>
          <a:lstStyle/>
          <a:p>
            <a:pPr algn="l"/>
            <a:r>
              <a:rPr sz="1300" b="0" i="0">
                <a:solidFill>
                  <a:srgbClr val="5B6778"/>
                </a:solidFill>
                <a:latin typeface="Arial"/>
              </a:rPr>
              <a:t>Cột = buổi · chấm cam = buổi dạy cách nhận ra và sửa</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múi giờ: giờ giả, nóng lúc 20h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time zone · DST transition · UTC conversion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có giờ 0 chuyến giả, và ghép thời tiết lệch giờ làm quan hệ sai hẳn.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“Khi làm dữ liệu, lưu tâm múi giờ trước tiên.”</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Đổi giờ mùa hè: giờ 0 chuyến giả</a:t>
            </a:r>
          </a:p>
        </p:txBody>
      </p:sp>
      <p:pic>
        <p:nvPicPr>
          <p:cNvPr id="9" name="Picture 8" descr="dst-hai-ngay.png"/>
          <p:cNvPicPr>
            <a:picLocks noChangeAspect="1"/>
          </p:cNvPicPr>
          <p:nvPr/>
        </p:nvPicPr>
        <p:blipFill>
          <a:blip r:embed="rId2"/>
          <a:stretch>
            <a:fillRect/>
          </a:stretch>
        </p:blipFill>
        <p:spPr>
          <a:xfrm>
            <a:off x="1414083" y="2770632"/>
            <a:ext cx="3709793"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Ghép lệch múi giờ</a:t>
            </a:r>
          </a:p>
        </p:txBody>
      </p:sp>
      <p:pic>
        <p:nvPicPr>
          <p:cNvPr id="11" name="Picture 10" descr="gio-nong-nhat.png"/>
          <p:cNvPicPr>
            <a:picLocks noChangeAspect="1"/>
          </p:cNvPicPr>
          <p:nvPr/>
        </p:nvPicPr>
        <p:blipFill>
          <a:blip r:embed="rId3"/>
          <a:stretch>
            <a:fillRect/>
          </a:stretch>
        </p:blipFill>
        <p:spPr>
          <a:xfrm>
            <a:off x="6848322" y="2770632"/>
            <a:ext cx="4143299" cy="2075688"/>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giờ bằng 0 lúc rạng sáng Chủ nhật tháng 3, và giờ nóng nhất trong ngày rơi vào 20h.</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In các giờ 00:00–05:00 của ngày đổi giờ, rồi xem giờ nóng nhất trung bình có rơi vào buổi chiều không.</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Gắn đúng múi giờ, đổi sang UTC, rồi mới gộp và ghép.</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Gộp thô quá thì mất mùa vụ</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aggregation · resample · missing values as zero</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kết luận nhầm “không có mùa vụ tuần”; giờ thiếu thành 0 kéo tổng xuống.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“Gộp theo tháng thì nhịp ngày, nhịp tuần và những ngày bất thường đều biến mất.”</a:t>
            </a:r>
          </a:p>
        </p:txBody>
      </p:sp>
      <p:pic>
        <p:nvPicPr>
          <p:cNvPr id="8" name="Picture 7" descr="gop-tan-suat.png"/>
          <p:cNvPicPr>
            <a:picLocks noChangeAspect="1"/>
          </p:cNvPicPr>
          <p:nvPr/>
        </p:nvPicPr>
        <p:blipFill>
          <a:blip r:embed="rId2"/>
          <a:stretch>
            <a:fillRect/>
          </a:stretch>
        </p:blipFill>
        <p:spPr>
          <a:xfrm>
            <a:off x="922529" y="2450591"/>
            <a:ext cx="6018781"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Kết luận “không có mùa vụ tuần”, hoặc giờ thiếu hiện thành số 0.</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heatmap giờ × thứ và ACF tới trễ 168; đếm NaN trên lưới giờ đầy đủ.</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ở nhiều mức gộp. Khi cộng, dùng sum(min_count=1) để giờ thiếu vẫn là NaN.</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Hai đường trùng khít vì chọn thang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dual axis · truncated y-axis · misleading chart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đọc ra quan hệ không có thật, hoặc phóng to một chênh lệch nhỏ.</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“Biểu đồ đẹp chưa chắc đúng: đọc thang trước khi đọc đường.”</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Trước: trục kép, trục trái cắt ở 90.000</a:t>
            </a:r>
          </a:p>
        </p:txBody>
      </p:sp>
      <p:pic>
        <p:nvPicPr>
          <p:cNvPr id="9" name="Picture 8" descr="gay-hieu-nham.png"/>
          <p:cNvPicPr>
            <a:picLocks noChangeAspect="1"/>
          </p:cNvPicPr>
          <p:nvPr/>
        </p:nvPicPr>
        <p:blipFill>
          <a:blip r:embed="rId2"/>
          <a:stretch>
            <a:fillRect/>
          </a:stretch>
        </p:blipFill>
        <p:spPr>
          <a:xfrm>
            <a:off x="1009291" y="2770632"/>
            <a:ext cx="4519376"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Sau: tách hình, vẽ từ 0</a:t>
            </a:r>
          </a:p>
        </p:txBody>
      </p:sp>
      <p:pic>
        <p:nvPicPr>
          <p:cNvPr id="11" name="Picture 10" descr="ve-lai.png"/>
          <p:cNvPicPr>
            <a:picLocks noChangeAspect="1"/>
          </p:cNvPicPr>
          <p:nvPr/>
        </p:nvPicPr>
        <p:blipFill>
          <a:blip r:embed="rId3"/>
          <a:stretch>
            <a:fillRect/>
          </a:stretch>
        </p:blipFill>
        <p:spPr>
          <a:xfrm>
            <a:off x="6199631" y="3059311"/>
            <a:ext cx="5440680" cy="1498329"/>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Hai trục dọc trên cùng một hình, hoặc trục y không bắt đầu từ 0.</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Đọc thang của từng trục, và xem tháng thấp nhất có bị vẽ sát đáy như gần bằng 0 không.</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Tách thành hai hình, số đếm vẽ từ 0, và nói về quan hệ bằng scatter.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Doanh thu tăng chưa chắc bán nhiều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nominal vs real value · inflation adjustment · per capita · Box-Cox</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tưởng tăng trưởng thật trong khi chỉ là giá và dân số tăng.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“Doanh thu tăng có thể vì giá tăng, dân số tăng, hay mỗi người mua nhiều hơn thật.”</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Dao động lớn dần theo mức</a:t>
            </a:r>
          </a:p>
        </p:txBody>
      </p:sp>
      <p:pic>
        <p:nvPicPr>
          <p:cNvPr id="9" name="Picture 8" descr="dao-dong-theo-muc.png"/>
          <p:cNvPicPr>
            <a:picLocks noChangeAspect="1"/>
          </p:cNvPicPr>
          <p:nvPr/>
        </p:nvPicPr>
        <p:blipFill>
          <a:blip r:embed="rId2"/>
          <a:stretch>
            <a:fillRect/>
          </a:stretch>
        </p:blipFill>
        <p:spPr>
          <a:xfrm>
            <a:off x="1431089" y="2770632"/>
            <a:ext cx="3675781"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Danh nghĩa gấp 4, thực chỉ +42%</a:t>
            </a:r>
          </a:p>
        </p:txBody>
      </p:sp>
      <p:pic>
        <p:nvPicPr>
          <p:cNvPr id="11" name="Picture 10" descr="danh-nghia-thuc.png"/>
          <p:cNvPicPr>
            <a:picLocks noChangeAspect="1"/>
          </p:cNvPicPr>
          <p:nvPr/>
        </p:nvPicPr>
        <p:blipFill>
          <a:blip r:embed="rId3"/>
          <a:stretch>
            <a:fillRect/>
          </a:stretch>
        </p:blipFill>
        <p:spPr>
          <a:xfrm>
            <a:off x="6405346" y="2770632"/>
            <a:ext cx="5029251" cy="2075688"/>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Biên độ dao động lớn dần theo mức, hoặc câu kiểu “doanh số tăng gấp 4 lần”.</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độ lệch chuẩn từng năm với mức của năm đó; vẽ cạnh nhau chuỗi danh nghĩa và chuỗi đã trừ lạm phát.</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Lấy log hoặc Box-Cox; chia cho CPI, cho dân số, và cho số ngày trong tháng.</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Log rồi exp ngược thì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back-transformation bias · bias adjustment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cộng dự báo nhiều cửa hàng ra tổng thấp hơn thật.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Đổi ngược</a:t>
            </a:r>
            <a:r>
              <a:rPr sz="1700" b="0" i="0">
                <a:solidFill>
                  <a:srgbClr val="1B2A41"/>
                </a:solidFill>
                <a:latin typeface="Arial"/>
              </a:rPr>
              <a:t> từ thang log bằng exp cho ra trung vị, thấp hơn trung bình.</a:t>
            </a:r>
          </a:p>
        </p:txBody>
      </p:sp>
      <p:sp>
        <p:nvSpPr>
          <p:cNvPr id="8" name="Rounded Rectangle 7"/>
          <p:cNvSpPr/>
          <p:nvPr/>
        </p:nvSpPr>
        <p:spPr>
          <a:xfrm>
            <a:off x="548640" y="245059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50591"/>
            <a:ext cx="1097280" cy="658368"/>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ace2e476819c.png"/>
          <p:cNvPicPr>
            <a:picLocks noChangeAspect="1"/>
          </p:cNvPicPr>
          <p:nvPr/>
        </p:nvPicPr>
        <p:blipFill>
          <a:blip r:embed="rId2"/>
          <a:stretch>
            <a:fillRect/>
          </a:stretch>
        </p:blipFill>
        <p:spPr>
          <a:xfrm>
            <a:off x="1783080" y="2589276"/>
            <a:ext cx="6373368" cy="381000"/>
          </a:xfrm>
          <a:prstGeom prst="rect">
            <a:avLst/>
          </a:prstGeom>
        </p:spPr>
      </p:pic>
      <p:pic>
        <p:nvPicPr>
          <p:cNvPr id="11" name="Picture 10" descr="bias-log-normal.png"/>
          <p:cNvPicPr>
            <a:picLocks noChangeAspect="1"/>
          </p:cNvPicPr>
          <p:nvPr/>
        </p:nvPicPr>
        <p:blipFill>
          <a:blip r:embed="rId3"/>
          <a:stretch>
            <a:fillRect/>
          </a:stretch>
        </p:blipFill>
        <p:spPr>
          <a:xfrm>
            <a:off x="4096322" y="3200399"/>
            <a:ext cx="3996306" cy="1645920"/>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Cộng dự báo của nhiều cửa hàng thì ra một tổng thấp hơn tổng thật.</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tổng các dự báo với tổng thực tế trên kỳ chấm.</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Cần tổng hay trung bình thì nhân 1 + σ²/2 (σ đo trên thang log). Chấm bằng MAE, vốn ưa trung vị, thì không cần.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Khai sai chu kỳ: nhịp tuần chui vào xu hướng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classical decomposition · MSTL · robust decomposition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nhịp tuần lẫn vào xu hướng, mùa vụ ngày bị ép giống nhau cả năm.</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“Khai chu kỳ 24 cho chuỗi có nhịp tuần thì nhịp tuần chạy vào xu hướng.”</a:t>
            </a:r>
          </a:p>
        </p:txBody>
      </p:sp>
      <p:pic>
        <p:nvPicPr>
          <p:cNvPr id="8" name="Picture 7" descr="co-dien-24.png"/>
          <p:cNvPicPr>
            <a:picLocks noChangeAspect="1"/>
          </p:cNvPicPr>
          <p:nvPr/>
        </p:nvPicPr>
        <p:blipFill>
          <a:blip r:embed="rId2"/>
          <a:stretch>
            <a:fillRect/>
          </a:stretch>
        </p:blipFill>
        <p:spPr>
          <a:xfrm>
            <a:off x="1256588" y="2450591"/>
            <a:ext cx="5350662"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Đường xu hướng lõm xuống mỗi cuối tuần.</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Tính trung bình của đường xu hướng theo từng thứ; cuối tuần thấp hẳn là có vấn đề.</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MSTL(24, 168). Giờ hỏng lẻ thì bật robust=True; đợt nóng nhiều ngày thì cần thêm biến nhiệt độ.</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phân thừa làm chuỗi tệ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over-differencing · ADF / KPSS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chuỗi đã dừng mà sai phân thêm thì nhiễu to ra, dự báo tệ hơn.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“Sai phân như thuốc: đúng liều thì khỏi, quá liều thì hại.”</a:t>
            </a:r>
          </a:p>
        </p:txBody>
      </p:sp>
      <p:pic>
        <p:nvPicPr>
          <p:cNvPr id="8" name="Picture 7" descr="sai-phan-thua.png"/>
          <p:cNvPicPr>
            <a:picLocks noChangeAspect="1"/>
          </p:cNvPicPr>
          <p:nvPr/>
        </p:nvPicPr>
        <p:blipFill>
          <a:blip r:embed="rId2"/>
          <a:stretch>
            <a:fillRect/>
          </a:stretch>
        </p:blipFill>
        <p:spPr>
          <a:xfrm>
            <a:off x="548640" y="2595482"/>
            <a:ext cx="6766560" cy="3706146"/>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Sau khi sai phân, r1 về gần −0,5 và độ lệch chuẩn lại tăng (0,96 lên 1,29).</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ADF và KPSS trước khi sai phân, và xem ACF sau khi sai phân.</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Bớt một lần sai phân. Xu hướng thẳng thì khử xu hướng. Có mùa vụ thì sai phân mùa vụ (trừ mùa trước) trước.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 = 0,97 chưa chắc là quan hệ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spurious correlation · Durbin–Watson statistic</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một biến giải thích vô dụng vì tưởng nó liên quan.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Tương quan giả</a:t>
            </a:r>
            <a:r>
              <a:rPr sz="1700" b="0" i="0">
                <a:solidFill>
                  <a:srgbClr val="1B2A41"/>
                </a:solidFill>
                <a:latin typeface="Arial"/>
              </a:rPr>
              <a:t> là r rất cao chỉ vì hai chuỗi cùng tăng theo thời gian.</a:t>
            </a:r>
          </a:p>
        </p:txBody>
      </p:sp>
      <p:pic>
        <p:nvPicPr>
          <p:cNvPr id="8" name="Picture 7" descr="tuong-quan-gia.png"/>
          <p:cNvPicPr>
            <a:picLocks noChangeAspect="1"/>
          </p:cNvPicPr>
          <p:nvPr/>
        </p:nvPicPr>
        <p:blipFill>
          <a:blip r:embed="rId2"/>
          <a:stretch>
            <a:fillRect/>
          </a:stretch>
        </p:blipFill>
        <p:spPr>
          <a:xfrm>
            <a:off x="2188289" y="2450591"/>
            <a:ext cx="7812373"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CPI và dân số Mỹ có r = 0,97.</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Tính lại r trên phần thay đổi (sai phân): chỉ còn −0,21. Durbin–Watson gần 0 cũng là một dấu hiệu.</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phân rồi đo lại. Khi viết kết luận, nói “đi cùng”, đừng nói “gây ra”.</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Lạnh cũng tăng, nóng cũng tăng: hình chữ 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nonlinear relationship · CDD / HDD (degree days) · mutual information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dùng một đường thẳng cho nhiệt độ thì bỏ sót hẳn nhánh trời lạnh.</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“Trời nóng bật điều hoà, trời lạnh bật sưởi: tải điện tăng ở cả hai phía.”</a:t>
            </a:r>
          </a:p>
        </p:txBody>
      </p:sp>
      <p:pic>
        <p:nvPicPr>
          <p:cNvPr id="8" name="Picture 7" descr="chu-u.png"/>
          <p:cNvPicPr>
            <a:picLocks noChangeAspect="1"/>
          </p:cNvPicPr>
          <p:nvPr/>
        </p:nvPicPr>
        <p:blipFill>
          <a:blip r:embed="rId2"/>
          <a:stretch>
            <a:fillRect/>
          </a:stretch>
        </p:blipFill>
        <p:spPr>
          <a:xfrm>
            <a:off x="2532766" y="2450591"/>
            <a:ext cx="7123419"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Pearson 0,616 trông khá mạnh, nhưng là trộn nhánh lạnh (−0,649) với nhánh nóng (+0,910); scatter có hình chữ U.</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scatter trước; đo thêm mutual information, thứ bắt được cả quan hệ cong.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Tách nhiệt độ thành CDD (độ nóng) và HDD (độ lạnh) quanh 18,33 °C: R² tăng từ 0,379 lên 0,812.</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isna() không thấy dòng bị mất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timestamps vs missing values · reindex</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chuỗi trông đủ nhưng thiếu cả dòng; lag và rolling tính sai số bước.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Thiếu mốc</a:t>
            </a:r>
            <a:r>
              <a:rPr sz="1700" b="0" i="0">
                <a:solidFill>
                  <a:srgbClr val="1B2A41"/>
                </a:solidFill>
                <a:latin typeface="Arial"/>
              </a:rPr>
              <a:t> là mất cả dòng; thiếu giá trị là còn dòng nhưng ô rỗng. isna() chỉ thấy loại sau.</a:t>
            </a:r>
          </a:p>
        </p:txBody>
      </p:sp>
      <p:pic>
        <p:nvPicPr>
          <p:cNvPr id="8" name="Picture 7" descr="hai-loai-thieu.png"/>
          <p:cNvPicPr>
            <a:picLocks noChangeAspect="1"/>
          </p:cNvPicPr>
          <p:nvPr/>
        </p:nvPicPr>
        <p:blipFill>
          <a:blip r:embed="rId2"/>
          <a:stretch>
            <a:fillRect/>
          </a:stretch>
        </p:blipFill>
        <p:spPr>
          <a:xfrm>
            <a:off x="2411280" y="2450591"/>
            <a:ext cx="736639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Từ 00:00 tới 02:30 phải có 6 mốc 30 phút, nhưng tệp chỉ có 5 dòng.</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số dòng với số mốc của lưới thời gian đầy đủ, và đếm mốc trùng.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reindex lên lưới đầy đủ trước mọi việc khác, để mốc bị mất hiện ra thành NaN.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Vì sao số bị mất quyết định có điền được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data mechanism · MCAR / MAR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trước khi điền: phần dữ liệu còn lại có còn đại diện cho cái đã mất không.</a:t>
            </a:r>
          </a:p>
        </p:txBody>
      </p:sp>
      <p:pic>
        <p:nvPicPr>
          <p:cNvPr id="7" name="Picture 6" descr="kn-mcar-mar-mnar.png"/>
          <p:cNvPicPr>
            <a:picLocks noChangeAspect="1"/>
          </p:cNvPicPr>
          <p:nvPr/>
        </p:nvPicPr>
        <p:blipFill>
          <a:blip r:embed="rId2"/>
          <a:stretch>
            <a:fillRect/>
          </a:stretch>
        </p:blipFill>
        <p:spPr>
          <a:xfrm>
            <a:off x="548640" y="2715123"/>
            <a:ext cx="6309360" cy="3128536"/>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Ba cơ chế thiếu: MCAR thiếu hoàn toàn ngẫu nhiên; MAR thiếu vì một thứ khác đã đo được; MNAR thiếu vì chính giá trị bị mất.</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Điền được tới đâu</a:t>
            </a:r>
          </a:p>
        </p:txBody>
      </p:sp>
      <p:cxnSp>
        <p:nvCxnSpPr>
          <p:cNvPr id="11" name="Connector 10"/>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877556"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MCAR</a:t>
            </a:r>
          </a:p>
        </p:txBody>
      </p:sp>
      <p:sp>
        <p:nvSpPr>
          <p:cNvPr id="14" name="TextBox 13"/>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mất mạng vài phút: điền thoải mái</a:t>
            </a:r>
          </a:p>
        </p:txBody>
      </p:sp>
      <p:sp>
        <p:nvSpPr>
          <p:cNvPr id="15" name="Oval 14"/>
          <p:cNvSpPr/>
          <p:nvPr/>
        </p:nvSpPr>
        <p:spPr>
          <a:xfrm>
            <a:off x="9349740"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MAR</a:t>
            </a:r>
          </a:p>
        </p:txBody>
      </p:sp>
      <p:sp>
        <p:nvSpPr>
          <p:cNvPr id="17" name="TextBox 16"/>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trạm hay hỏng mùa mưa: điền, có dùng mùa</a:t>
            </a:r>
          </a:p>
        </p:txBody>
      </p:sp>
      <p:sp>
        <p:nvSpPr>
          <p:cNvPr id="18" name="Oval 17"/>
          <p:cNvSpPr/>
          <p:nvPr/>
        </p:nvSpPr>
        <p:spPr>
          <a:xfrm>
            <a:off x="10821924"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MNAR</a:t>
            </a:r>
          </a:p>
        </p:txBody>
      </p:sp>
      <p:sp>
        <p:nvSpPr>
          <p:cNvPr id="20" name="TextBox 19"/>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cảm biến tắt khi quá tải: đừng điền</a:t>
            </a:r>
          </a:p>
        </p:txBody>
      </p:sp>
      <p:sp>
        <p:nvSpPr>
          <p:cNvPr id="21" name="TextBox 20"/>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PM2.5 thật 10, 20, 30, 40 (trung bình 25); cảm biến tắt khi trên 30 thì chỉ còn 10, 20, 30, trung bình 20: lệch 5 dù chưa điền gì.</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Thiếu vì chính giá trị: điền kiểu gì cũng lệch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data mechanism · MCAR / MAR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điền xong trung bình vẫn lệch, và dự báo lệch theo.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MNAR</a:t>
            </a:r>
            <a:r>
              <a:rPr sz="1700" b="0" i="0">
                <a:solidFill>
                  <a:srgbClr val="1B2A41"/>
                </a:solidFill>
                <a:latin typeface="Arial"/>
              </a:rPr>
              <a:t> là thiếu vì chính giá trị, như cảm biến tắt đúng lúc ô nhiễm quá cao.</a:t>
            </a:r>
          </a:p>
        </p:txBody>
      </p:sp>
      <p:pic>
        <p:nvPicPr>
          <p:cNvPr id="8" name="Picture 7" descr="mnar.png"/>
          <p:cNvPicPr>
            <a:picLocks noChangeAspect="1"/>
          </p:cNvPicPr>
          <p:nvPr/>
        </p:nvPicPr>
        <p:blipFill>
          <a:blip r:embed="rId2"/>
          <a:stretch>
            <a:fillRect/>
          </a:stretch>
        </p:blipFill>
        <p:spPr>
          <a:xfrm>
            <a:off x="2576488" y="2450591"/>
            <a:ext cx="703597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Điền xong mà trung bình vẫn lệch: mất 16,2% số điểm ở phía cao thì trung bình còn −0,30 thay vì −0,005.</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trạm hàng xóm lúc trạm này thiếu và lúc có số. Dongsi thiếu thì trạm khác còn thấp hơn 3%: không phải MNAR.</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Thiếu do may rủi (MCAR) hay do thứ đã đo được (MAR) thì còn điền được. MNAR thì đừng điền.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9,999 km không phải số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sentinel value · flag column · quality flag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mô hình học trên 35% số dòng là số quy ước, không phải số đo.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Mã trá hình</a:t>
            </a:r>
            <a:r>
              <a:rPr sz="1700" b="0" i="0">
                <a:solidFill>
                  <a:srgbClr val="1B2A41"/>
                </a:solidFill>
                <a:latin typeface="Arial"/>
              </a:rPr>
              <a:t> là con số quy ước của nguồn, như 9,999 nghĩa là “tầm nhìn từ 10 km trở lên”.</a:t>
            </a:r>
          </a:p>
        </p:txBody>
      </p:sp>
      <p:pic>
        <p:nvPicPr>
          <p:cNvPr id="8" name="Picture 7" descr="gia-tri-tra-hinh.png"/>
          <p:cNvPicPr>
            <a:picLocks noChangeAspect="1"/>
          </p:cNvPicPr>
          <p:nvPr/>
        </p:nvPicPr>
        <p:blipFill>
          <a:blip r:embed="rId2"/>
          <a:stretch>
            <a:fillRect/>
          </a:stretch>
        </p:blipFill>
        <p:spPr>
          <a:xfrm>
            <a:off x="1983567" y="2450591"/>
            <a:ext cx="8221817"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giá trị chiếm tới 35% số dòng; hoặc số 0 rơi đúng những ngày hết hàng.</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value_counts().head(), đọc tài liệu nguồn; đo độ phân giải trước khi gọi đoạn lặp là cảm biến kẹt.</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Đổi thành NaN kèm cột cờ; số 0 do hết hàng cũng là thiếu. Đừng xoá cả dòng, các cột khác vẫn dùng được.</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Đo độ phân giải trước khi gọi cảm biến kẹt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measurement resolution · stuck sensor · flat-line detection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Nhiệt độ ghi đúng 26,0 °C suốt nhiều giờ: cảm biến hỏng, hay trời đổi quá ít?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Phân biệt số lặp vì cảm biến làm tròn với số lặp vì cảm biến hỏng.</a:t>
            </a:r>
          </a:p>
        </p:txBody>
      </p:sp>
      <p:pic>
        <p:nvPicPr>
          <p:cNvPr id="8" name="Picture 7" descr="kn-cam-bien-dung-yen-stuck-sensor.png"/>
          <p:cNvPicPr>
            <a:picLocks noChangeAspect="1"/>
          </p:cNvPicPr>
          <p:nvPr/>
        </p:nvPicPr>
        <p:blipFill>
          <a:blip r:embed="rId2"/>
          <a:stretch>
            <a:fillRect/>
          </a:stretch>
        </p:blipFill>
        <p:spPr>
          <a:xfrm>
            <a:off x="548640" y="2925706"/>
            <a:ext cx="6309360" cy="3073130"/>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Độ phân giải: bước nhỏ nhất cảm biến ghi được. Cảm biến đứng yên (kẹt): ghi lặp một giá trị nhiều giờ liền dù thực tế đã đổi.</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Nhận ra thế nào</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Thực tế đổi chưa tới một bước phân giải thì số ghi vẫn lặp: bình thường. Thực tế đổi vài độ, cả ngày lẫn đêm, mà số không đổi: kẹt.</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Thật 25,6; 25,8; 26,1; 26,3; 26,4 °C, ghi tới 1 °C thành năm số 26. Nội Bài: ngưỡng 12 giờ ra 24 đoạn lặp, nên buổi này dùng 18 giờ.</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Bảy cách điền: lỗ dài cần giữ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 forward fill · linear / spline interpolation · seasonal · neighbour station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điền theo độ dài lỗ, nhịp của chuỗi, và có được dùng số tương lai không.</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95f8bcb0eb18.png"/>
          <p:cNvPicPr>
            <a:picLocks noChangeAspect="1"/>
          </p:cNvPicPr>
          <p:nvPr/>
        </p:nvPicPr>
        <p:blipFill>
          <a:blip r:embed="rId2"/>
          <a:stretch>
            <a:fillRect/>
          </a:stretch>
        </p:blipFill>
        <p:spPr>
          <a:xfrm>
            <a:off x="2357628" y="2225040"/>
            <a:ext cx="2691384" cy="341376"/>
          </a:xfrm>
          <a:prstGeom prst="rect">
            <a:avLst/>
          </a:prstGeom>
        </p:spPr>
      </p:pic>
      <p:pic>
        <p:nvPicPr>
          <p:cNvPr id="9" name="Picture 8" descr="kn-dien-du-lieu-imputation.png"/>
          <p:cNvPicPr>
            <a:picLocks noChangeAspect="1"/>
          </p:cNvPicPr>
          <p:nvPr/>
        </p:nvPicPr>
        <p:blipFill>
          <a:blip r:embed="rId3"/>
          <a:stretch>
            <a:fillRect/>
          </a:stretch>
        </p:blipFill>
        <p:spPr>
          <a:xfrm>
            <a:off x="548640" y="3027097"/>
            <a:ext cx="6309360" cy="3254396"/>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ffill giữ số gần nhất; tuyến tính, spline nối hai đầu lỗ; mùa vụ lấy cùng giờ hôm trước; trung bình theo giờ; Kalman smoother; trạm hàng xóm.</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Chọn theo độ dài lỗ</a:t>
            </a:r>
          </a:p>
        </p:txBody>
      </p:sp>
      <p:cxnSp>
        <p:nvCxnSpPr>
          <p:cNvPr id="13" name="Connector 12"/>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45602"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lỗ ngắn</a:t>
            </a:r>
          </a:p>
        </p:txBody>
      </p:sp>
      <p:sp>
        <p:nvSpPr>
          <p:cNvPr id="16" name="TextBox 15"/>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ffill hay tuyến tính đều ổn</a:t>
            </a:r>
          </a:p>
        </p:txBody>
      </p:sp>
      <p:sp>
        <p:nvSpPr>
          <p:cNvPr id="17" name="Oval 16"/>
          <p:cNvSpPr/>
          <p:nvPr/>
        </p:nvSpPr>
        <p:spPr>
          <a:xfrm>
            <a:off x="10453878"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lỗ dài</a:t>
            </a:r>
          </a:p>
        </p:txBody>
      </p:sp>
      <p:sp>
        <p:nvSpPr>
          <p:cNvPr id="19" name="TextBox 18"/>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mùa vụ, hàng xóm: mang theo hình dạng</a:t>
            </a:r>
          </a:p>
        </p:txBody>
      </p:sp>
      <p:sp>
        <p:nvSpPr>
          <p:cNvPr id="20" name="TextBox 19"/>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1" name="TextBox 20"/>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Hai ô thiếu, thật là 26 và 28: ffill điền 23, 23; tuyến tính 24,33, 25,67; hàng xóm cộng 1 °C ra đúng 26, 28.</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Chấm cách điền: che thử, và che hai kiểu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evaluation · artificial masking · point vs block masking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cách điền giỏi ở lỗ ngắn nhưng tệ ở lỗ dài.</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Che nhân tạo</a:t>
            </a:r>
            <a:r>
              <a:rPr sz="1700" b="0" i="0">
                <a:solidFill>
                  <a:srgbClr val="1B2A41"/>
                </a:solidFill>
                <a:latin typeface="Arial"/>
              </a:rPr>
              <a:t> là giấu bớt những ô đang có số, điền lại, rồi so với số thật.</a:t>
            </a:r>
          </a:p>
        </p:txBody>
      </p:sp>
      <p:pic>
        <p:nvPicPr>
          <p:cNvPr id="8" name="Picture 7" descr="so-sanh-dien.png"/>
          <p:cNvPicPr>
            <a:picLocks noChangeAspect="1"/>
          </p:cNvPicPr>
          <p:nvPr/>
        </p:nvPicPr>
        <p:blipFill>
          <a:blip r:embed="rId2"/>
          <a:stretch>
            <a:fillRect/>
          </a:stretch>
        </p:blipFill>
        <p:spPr>
          <a:xfrm>
            <a:off x="2507058" y="2450591"/>
            <a:ext cx="717483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Nội suy tuyến tính đứng hạng 1 khi che từng điểm, nhưng tụt xuống hạng 5 khi che cả khối 48 giờ.</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Che 10% số điểm và che nguyên khối 48 giờ, rồi chấm cả hai.</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Lỗ ngắn: tuyến tính hay ffill đều ổn. Lỗ dài: trạm hàng xóm, mùa vụ hôm trước, hoặc để trống.</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Điền nhân quả: có số mới, số cũ không đổi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 imputation · two-sided interpolation · cutoff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Điền xong thì backtest đẹp hẳn. Cách điền có dùng số của tập kiểm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cách điền nào dùng được khi dự báo thật, và kiểm điều đó bằng máy.</a:t>
            </a:r>
          </a:p>
        </p:txBody>
      </p:sp>
      <p:pic>
        <p:nvPicPr>
          <p:cNvPr id="8" name="Picture 7" descr="kn-nhan-qua-cach-dien.png"/>
          <p:cNvPicPr>
            <a:picLocks noChangeAspect="1"/>
          </p:cNvPicPr>
          <p:nvPr/>
        </p:nvPicPr>
        <p:blipFill>
          <a:blip r:embed="rId2"/>
          <a:stretch>
            <a:fillRect/>
          </a:stretch>
        </p:blipFill>
        <p:spPr>
          <a:xfrm>
            <a:off x="548640" y="2869446"/>
            <a:ext cx="6309360" cy="318565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Cách điền nhân quả chỉ dùng dữ liệu trước ô đang điền. Nội suy hai phía nhìn cả số phía sau; nếu số đó thuộc tập kiểm thì là rò rỉ.</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Kiểm bằng cắt dữ liệu</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Làm sạch dữ liệu đầy đủ và dữ liệu cắt tại một mốc, so phần trước mốc. Mốc cắt phải nằm trong một lỗ, nếu không bài kiểm luôn báo sạch.</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20, NaN, 30: ffill điền 20, cắt hay không cũng 20. Tuyến tính điền 25 nhờ số 30; cắt tại mốc thứ hai thì không điền được, hoặc điền khác.</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Lỗ dài: đừng lấp bằng đường phẳng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 forward fill · causal imputation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có đoạn phẳng giả, và tương lai rò vào dữ liệu học.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“Không dùng tương lai để điền quá khứ; lỗ dài thì để trống.”</a:t>
            </a:r>
          </a:p>
        </p:txBody>
      </p:sp>
      <p:pic>
        <p:nvPicPr>
          <p:cNvPr id="8" name="Picture 7" descr="mot-lo-dai.png"/>
          <p:cNvPicPr>
            <a:picLocks noChangeAspect="1"/>
          </p:cNvPicPr>
          <p:nvPr/>
        </p:nvPicPr>
        <p:blipFill>
          <a:blip r:embed="rId2"/>
          <a:stretch>
            <a:fillRect/>
          </a:stretch>
        </p:blipFill>
        <p:spPr>
          <a:xfrm>
            <a:off x="2124994" y="2450591"/>
            <a:ext cx="793896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Có đoạn phẳng dài bất thường, hoặc backtest đẹp hẳn lên sau khi làm sạch.</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chuỗi quanh chỗ lỗ; chạy kiem_ro_ri với mốc cắt đặt ngay trong lỗ.</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tập trước rồi mới điền, chỉ dùng cách điền nhân quả, và giới hạn độ dài lỗ được điền.</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Bốn kiểu bất thường, bốn cách bắt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additive outlier (AO) · level shift (LS) · temporary change (TC) · variance change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Gọi đúng tên kiểu bất thường, vì mỗi kiểu cần một cách bắt và một cách sửa riêng.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“Hỏi trước: đây là lỗi, giai đoạn tạm thời, hay một trạng thái mới?”</a:t>
            </a:r>
          </a:p>
        </p:txBody>
      </p:sp>
      <p:pic>
        <p:nvPicPr>
          <p:cNvPr id="8" name="Picture 7" descr="bon-loai-bat-thuong.png"/>
          <p:cNvPicPr>
            <a:picLocks noChangeAspect="1"/>
          </p:cNvPicPr>
          <p:nvPr/>
        </p:nvPicPr>
        <p:blipFill>
          <a:blip r:embed="rId2"/>
          <a:stretch>
            <a:fillRect/>
          </a:stretch>
        </p:blipFill>
        <p:spPr>
          <a:xfrm>
            <a:off x="2608874" y="2450591"/>
            <a:ext cx="6971202" cy="2487168"/>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Điểm đơn (AO), dịch mức (LS), thay đổi tạm (TC) và đổi phương sai.</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Lệch rồi về ngay là AO. Nhảy bậc rồi ở lại là LS. Nhảy rồi tắt dần là TC. Mức giữ nguyên mà dao động to ra là đổi phương sai.</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Quanh mức 10: AO là 10, 25, 10; LS là 10, 20, 20, 20; TC là 20, 15, 12, 11, 10.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z-score: ngoại lai kéo cả ngưỡng lên theo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z-score · 3σ rule · masking / swamping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Mười số quanh 12 có một số 50. Vì sao ngưỡng 3σ không gắn cờ nó?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vì sao ngưỡng 3σ bỏ sót ngoại lai, để không đọc “không vượt 3σ” thành “dữ liệu sạch”.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468f392e87f5.png"/>
          <p:cNvPicPr>
            <a:picLocks noChangeAspect="1"/>
          </p:cNvPicPr>
          <p:nvPr/>
        </p:nvPicPr>
        <p:blipFill>
          <a:blip r:embed="rId2"/>
          <a:stretch>
            <a:fillRect/>
          </a:stretch>
        </p:blipFill>
        <p:spPr>
          <a:xfrm>
            <a:off x="1783080" y="2590799"/>
            <a:ext cx="3858768" cy="341376"/>
          </a:xfrm>
          <a:prstGeom prst="rect">
            <a:avLst/>
          </a:prstGeom>
        </p:spPr>
      </p:pic>
      <p:sp>
        <p:nvSpPr>
          <p:cNvPr id="11" name="TextBox 10"/>
          <p:cNvSpPr txBox="1"/>
          <p:nvPr/>
        </p:nvSpPr>
        <p:spPr>
          <a:xfrm>
            <a:off x="5824728" y="2432303"/>
            <a:ext cx="5678424" cy="658368"/>
          </a:xfrm>
          <a:prstGeom prst="rect">
            <a:avLst/>
          </a:prstGeom>
          <a:noFill/>
        </p:spPr>
        <p:txBody>
          <a:bodyPr wrap="square" lIns="0" rIns="0" tIns="0" bIns="0" anchor="ctr">
            <a:spAutoFit/>
          </a:bodyPr>
          <a:lstStyle/>
          <a:p>
            <a:pPr algn="l"/>
            <a:r>
              <a:rPr sz="1150" b="0" i="0">
                <a:solidFill>
                  <a:srgbClr val="1B2A41"/>
                </a:solidFill>
                <a:latin typeface="Arial"/>
              </a:rPr>
              <a:t>(50 − 15,6) / 12,1 ≈ 2,84: không vượt 3.</a:t>
            </a:r>
          </a:p>
        </p:txBody>
      </p:sp>
      <p:pic>
        <p:nvPicPr>
          <p:cNvPr id="12" name="Picture 11" descr="masking-10-so.png"/>
          <p:cNvPicPr>
            <a:picLocks noChangeAspect="1"/>
          </p:cNvPicPr>
          <p:nvPr/>
        </p:nvPicPr>
        <p:blipFill>
          <a:blip r:embed="rId3"/>
          <a:stretch>
            <a:fillRect/>
          </a:stretch>
        </p:blipFill>
        <p:spPr>
          <a:xfrm>
            <a:off x="3526538" y="3182112"/>
            <a:ext cx="513587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z-score đo một điểm cách trung bình bao nhiêu lần độ lệch chuẩn. Masking: ngoại lai kéo cả trung bình lẫn độ lệch chuẩn lên, nên tự che mình và che nhau.</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một điểm cực lớn mà số điểm bị gắn cờ lại giảm là đang bị che. Cách chữa: đo bằng trung vị (slide sau).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 12, 11, 13, 12, 50, 11, 12, 13, 12: trung bình 15,6, s ≈ 12,1, nên z của 50 chỉ 2,84, không vượt 3.</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3σ bỏ sót chính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outlier · z-score · masking · MAD · Hampel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ngoại lai thật lọt qua, trong khi báo cáo nói “dữ liệu sạch”.</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“Z-score dùng để bắt ngoại lai, nhưng chính ngoại lai làm nó ‘mù’.”</a:t>
            </a:r>
          </a:p>
        </p:txBody>
      </p:sp>
      <p:pic>
        <p:nvPicPr>
          <p:cNvPr id="8" name="Picture 7" descr="masking.png"/>
          <p:cNvPicPr>
            <a:picLocks noChangeAspect="1"/>
          </p:cNvPicPr>
          <p:nvPr/>
        </p:nvPicPr>
        <p:blipFill>
          <a:blip r:embed="rId2"/>
          <a:stretch>
            <a:fillRect/>
          </a:stretch>
        </p:blipFill>
        <p:spPr>
          <a:xfrm>
            <a:off x="2239660" y="2450591"/>
            <a:ext cx="770963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Năm số 5, 5, 5, 5, 100: điểm 100 chỉ có z = 1,79 nên không bị gắn cờ.</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một điểm cực lớn rồi đếm lại: số ngày bị gắn cờ giảm từ 16 còn 5 là đang bị che.</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MAD hoặc bộ lọc Hampel. Cả hai dựa trên trung vị nên ngoại lai không kéo được.</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MAD và Hampel: đo bằng trung vị, so tại chỗ</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median absolute deviation (MAD) · 1.4826 · Hampel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Lượt xem tăng suốt mười năm. So mỗi ngày với trung bình cả chuỗi còn có nghĩa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thước đo độ dao động mà ngoại lai không kéo được, và so mỗi điểm với mức quanh nó.</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3007b40b47c.png"/>
          <p:cNvPicPr>
            <a:picLocks noChangeAspect="1"/>
          </p:cNvPicPr>
          <p:nvPr/>
        </p:nvPicPr>
        <p:blipFill>
          <a:blip r:embed="rId2"/>
          <a:stretch>
            <a:fillRect/>
          </a:stretch>
        </p:blipFill>
        <p:spPr>
          <a:xfrm>
            <a:off x="1773936" y="2558795"/>
            <a:ext cx="3858768" cy="405384"/>
          </a:xfrm>
          <a:prstGeom prst="rect">
            <a:avLst/>
          </a:prstGeom>
        </p:spPr>
      </p:pic>
      <p:pic>
        <p:nvPicPr>
          <p:cNvPr id="10" name="Picture 9" descr="kn-bo-loc-hampel.png"/>
          <p:cNvPicPr>
            <a:picLocks noChangeAspect="1"/>
          </p:cNvPicPr>
          <p:nvPr/>
        </p:nvPicPr>
        <p:blipFill>
          <a:blip r:embed="rId3"/>
          <a:stretch>
            <a:fillRect/>
          </a:stretch>
        </p:blipFill>
        <p:spPr>
          <a:xfrm>
            <a:off x="548640" y="3237557"/>
            <a:ext cx="6309360" cy="319923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MAD là trung vị của khoảng cách tới trung vị, nhân 1,4826 để cùng thang với độ lệch chuẩn. Hampel tính MAD trên cửa sổ quanh mỗi điểm.</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Điểm MAD lớn hay nhỏ nghĩa là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 3</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bình thường so với mức quanh nó</a:t>
            </a:r>
          </a:p>
        </p:txBody>
      </p:sp>
      <p:sp>
        <p:nvSpPr>
          <p:cNvPr id="18" name="Oval 17"/>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&gt; 3</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gắn cờ ngoại lai</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Cùng 10 số: trung vị 12, MAD = 1,4826 × 1 ≈ 1,48. Điểm của 50 là 38 / 1,48 ≈ 25,6: bị gắn cờ. Điểm của 10 chỉ 1,35.</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Hampel: so với mức địa phương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MAD · Hampel filter · winsorize · IQR rule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chỉ gắn cờ những ngày đông, bỏ sót bất thường ở vùng mức thấp.</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MAD</a:t>
            </a:r>
            <a:r>
              <a:rPr sz="1700" b="0" i="0">
                <a:solidFill>
                  <a:srgbClr val="1B2A41"/>
                </a:solidFill>
                <a:latin typeface="Arial"/>
              </a:rPr>
              <a:t> đo độ dao động bằng trung vị; Hampel dùng MAD trên một cửa sổ trượt quanh từng điểm.</a:t>
            </a:r>
          </a:p>
        </p:txBody>
      </p:sp>
      <p:pic>
        <p:nvPicPr>
          <p:cNvPr id="8" name="Picture 7" descr="nguong-toan-chuoi.png"/>
          <p:cNvPicPr>
            <a:picLocks noChangeAspect="1"/>
          </p:cNvPicPr>
          <p:nvPr/>
        </p:nvPicPr>
        <p:blipFill>
          <a:blip r:embed="rId2"/>
          <a:stretch>
            <a:fillRect/>
          </a:stretch>
        </p:blipFill>
        <p:spPr>
          <a:xfrm>
            <a:off x="3361247" y="2450591"/>
            <a:ext cx="5466456"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3σ toàn chuỗi chỉ gắn cờ 16 ngày, và toàn là những ngày mức cao.</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Xem mỗi cách gắn cờ bao nhiêu phần trăm dữ liệu: Hampel 3,31%, STL robust tới 16,86%.</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Hampel ±15 ngày, sửa bằng winsorize (kéo về trung vị địa phương). Bản center=True chỉ để làm sạch, không làm feature.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Gắn cờ xong: giữ, winsorize hay biến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winsorizing · event log · dummy variable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Điểm 90 bị gắn cờ giữa các số quanh 12: xoá, kéo về 12, hay giữ nguyên?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sửa theo loại bất thường và theo nhật ký sự kiện, mà vẫn giữ đủ số mốc.</a:t>
            </a:r>
          </a:p>
        </p:txBody>
      </p:sp>
      <p:pic>
        <p:nvPicPr>
          <p:cNvPr id="8" name="Picture 7" descr="kn-winsorize.png"/>
          <p:cNvPicPr>
            <a:picLocks noChangeAspect="1"/>
          </p:cNvPicPr>
          <p:nvPr/>
        </p:nvPicPr>
        <p:blipFill>
          <a:blip r:embed="rId2"/>
          <a:stretch>
            <a:fillRect/>
          </a:stretch>
        </p:blipFill>
        <p:spPr>
          <a:xfrm>
            <a:off x="2602158" y="2432303"/>
            <a:ext cx="6984634"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Winsorize kéo điểm bị gắn cờ về trung vị địa phương, không xoá. Nhật ký sự kiện: danh sách mốc có sự kiện thật. Biến giả: cột 0/1 đánh dấu sự kiện.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Chọn theo loại</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5" name="Connector 14"/>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81372"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lỗi đo</a:t>
            </a:r>
          </a:p>
        </p:txBody>
      </p:sp>
      <p:sp>
        <p:nvSpPr>
          <p:cNvPr id="18" name="TextBox 17"/>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winsorize</a:t>
            </a:r>
          </a:p>
        </p:txBody>
      </p:sp>
      <p:sp>
        <p:nvSpPr>
          <p:cNvPr id="19" name="Oval 18"/>
          <p:cNvSpPr/>
          <p:nvPr/>
        </p:nvSpPr>
        <p:spPr>
          <a:xfrm>
            <a:off x="6012179"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5647" y="5669280"/>
            <a:ext cx="1057655" cy="274320"/>
          </a:xfrm>
          <a:prstGeom prst="rect">
            <a:avLst/>
          </a:prstGeom>
          <a:noFill/>
        </p:spPr>
        <p:txBody>
          <a:bodyPr wrap="square" lIns="0" rIns="0" tIns="0" bIns="0" anchor="t">
            <a:spAutoFit/>
          </a:bodyPr>
          <a:lstStyle/>
          <a:p>
            <a:pPr algn="ctr"/>
            <a:r>
              <a:rPr sz="1200" b="1" i="0">
                <a:solidFill>
                  <a:srgbClr val="D9642B"/>
                </a:solidFill>
                <a:latin typeface="Arial"/>
              </a:rPr>
              <a:t>sự kiện thật</a:t>
            </a:r>
          </a:p>
        </p:txBody>
      </p:sp>
      <p:sp>
        <p:nvSpPr>
          <p:cNvPr id="21" name="TextBox 20"/>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giữ, ghi nhật ký</a:t>
            </a:r>
          </a:p>
        </p:txBody>
      </p:sp>
      <p:sp>
        <p:nvSpPr>
          <p:cNvPr id="22" name="Oval 21"/>
          <p:cNvSpPr/>
          <p:nvPr/>
        </p:nvSpPr>
        <p:spPr>
          <a:xfrm>
            <a:off x="7142987"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dịch mức</a:t>
            </a:r>
          </a:p>
        </p:txBody>
      </p:sp>
      <p:sp>
        <p:nvSpPr>
          <p:cNvPr id="24" name="TextBox 23"/>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thêm biến giả</a:t>
            </a:r>
          </a:p>
        </p:txBody>
      </p:sp>
      <p:sp>
        <p:nvSpPr>
          <p:cNvPr id="25" name="Rounded Rectangle 2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27" name="TextBox 2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12, 11, 13, 90, 12: xoá thì lưới thủng một mốc; winsorize ra 12, 11, 13, 12, 12 kèm cột da_sua = 1; nếu ngày đó là Tết thì giữ 90.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Tết không phải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event log · dummy variable · moving holiday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xoá mất đỉnh Tết, thứ đáng dự báo nhất trong năm.</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“Outlier không đồng nghĩa với lỗi; Tết là bất thường, nhưng là bất thường thật.”</a:t>
            </a:r>
          </a:p>
        </p:txBody>
      </p:sp>
      <p:pic>
        <p:nvPicPr>
          <p:cNvPr id="8" name="Picture 7" descr="tet-khong-phai-ngoai-lai.png"/>
          <p:cNvPicPr>
            <a:picLocks noChangeAspect="1"/>
          </p:cNvPicPr>
          <p:nvPr/>
        </p:nvPicPr>
        <p:blipFill>
          <a:blip r:embed="rId2"/>
          <a:stretch>
            <a:fillRect/>
          </a:stretch>
        </p:blipFill>
        <p:spPr>
          <a:xfrm>
            <a:off x="2239660" y="2450591"/>
            <a:ext cx="770963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Cả 10/10 đỉnh Tết bị gắn cờ ngoại lai, và đỉnh xê dịch tới 25 ngày giữa các năm.</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chuỗi quanh những mốc bị sửa, rồi đối chiếu với lịch lễ.</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Giữ nguyên, ghi vào nhật ký sự kiện, và thêm biến giả tính theo lịch âm.</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PELT: mỗi điểm gãy phải trả một penalty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changepoint · cost function · PELT · penalty β</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Mức đổi đột ngột mà từng điểm riêng lẻ trông vẫn bình thường. Tìm mốc đổi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mốc mà chuỗi trước và sau khác nhau, không cắt vụn chuỗi ra từng điểm.</a:t>
            </a:r>
          </a:p>
        </p:txBody>
      </p:sp>
      <p:sp>
        <p:nvSpPr>
          <p:cNvPr id="8" name="Rounded Rectangle 7"/>
          <p:cNvSpPr/>
          <p:nvPr/>
        </p:nvSpPr>
        <p:spPr>
          <a:xfrm>
            <a:off x="548640" y="2432303"/>
            <a:ext cx="11091672" cy="8382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838200"/>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b09068cc5c5a.png"/>
          <p:cNvPicPr>
            <a:picLocks noChangeAspect="1"/>
          </p:cNvPicPr>
          <p:nvPr/>
        </p:nvPicPr>
        <p:blipFill>
          <a:blip r:embed="rId2"/>
          <a:stretch>
            <a:fillRect/>
          </a:stretch>
        </p:blipFill>
        <p:spPr>
          <a:xfrm>
            <a:off x="1783080" y="2496311"/>
            <a:ext cx="3745992" cy="710184"/>
          </a:xfrm>
          <a:prstGeom prst="rect">
            <a:avLst/>
          </a:prstGeom>
        </p:spPr>
      </p:pic>
      <p:sp>
        <p:nvSpPr>
          <p:cNvPr id="11" name="TextBox 10"/>
          <p:cNvSpPr txBox="1"/>
          <p:nvPr/>
        </p:nvSpPr>
        <p:spPr>
          <a:xfrm>
            <a:off x="5711952" y="2432303"/>
            <a:ext cx="5791200" cy="838200"/>
          </a:xfrm>
          <a:prstGeom prst="rect">
            <a:avLst/>
          </a:prstGeom>
          <a:noFill/>
        </p:spPr>
        <p:txBody>
          <a:bodyPr wrap="square" lIns="0" rIns="0" tIns="0" bIns="0" anchor="ctr">
            <a:spAutoFit/>
          </a:bodyPr>
          <a:lstStyle/>
          <a:p>
            <a:pPr algn="l"/>
            <a:r>
              <a:rPr sz="1150" b="0" i="0">
                <a:solidFill>
                  <a:srgbClr val="1B2A41"/>
                </a:solidFill>
                <a:latin typeface="Arial"/>
              </a:rPr>
              <a:t>Tổng chi phí các đoạn, cộng β cho mỗi điểm gãy. β lớn thì ít điểm gãy.</a:t>
            </a:r>
          </a:p>
        </p:txBody>
      </p:sp>
      <p:pic>
        <p:nvPicPr>
          <p:cNvPr id="12" name="Picture 11" descr="kn-penalty-phat.png"/>
          <p:cNvPicPr>
            <a:picLocks noChangeAspect="1"/>
          </p:cNvPicPr>
          <p:nvPr/>
        </p:nvPicPr>
        <p:blipFill>
          <a:blip r:embed="rId3"/>
          <a:stretch>
            <a:fillRect/>
          </a:stretch>
        </p:blipFill>
        <p:spPr>
          <a:xfrm>
            <a:off x="4028463" y="3361943"/>
            <a:ext cx="4132025" cy="1575816"/>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 phí một đoạn là tổng bình phương khoảng cách tới trung bình đoạn. PELT chọn điểm gãy sao cho tổng chi phí cộng penalty nhỏ nhất.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Penalty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nhỏ</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cắt nhiều, dễ ra điểm gãy giả</a:t>
            </a:r>
          </a:p>
        </p:txBody>
      </p:sp>
      <p:sp>
        <p:nvSpPr>
          <p:cNvPr id="23" name="Oval 22"/>
          <p:cNvSpPr/>
          <p:nvPr/>
        </p:nvSpPr>
        <p:spPr>
          <a:xfrm>
            <a:off x="6012179"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vừa</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quét nhiều mức, giữ kết quả ổn định</a:t>
            </a:r>
          </a:p>
        </p:txBody>
      </p:sp>
      <p:sp>
        <p:nvSpPr>
          <p:cNvPr id="26" name="Oval 25"/>
          <p:cNvSpPr/>
          <p:nvPr/>
        </p:nvSpPr>
        <p:spPr>
          <a:xfrm>
            <a:off x="7142987"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lớn</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ít hoặc không còn điểm gãy</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 11, 10, 9, 10, 20, 21, 19, 20, 20, penalty ≈ 6,9: không cắt tốn 254; cắt một lần 4 + 6,9 = 10,9; cắt hai lần 3,17 + 13,8 = 17,0.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Lấy log trước: 43 điểm gãy còn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changepoint detection · PELT · penalty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hàng chục điểm gãy giả, chuỗi bị cắt vụn vô nghĩa.</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Điểm gãy</a:t>
            </a:r>
            <a:r>
              <a:rPr sz="1700" b="0" i="0">
                <a:solidFill>
                  <a:srgbClr val="1B2A41"/>
                </a:solidFill>
                <a:latin typeface="Arial"/>
              </a:rPr>
              <a:t> là mốc mà trước và sau khác hẳn nhau. PELT tìm chúng, mỗi điểm phải trả một penalty.</a:t>
            </a:r>
          </a:p>
        </p:txBody>
      </p:sp>
      <p:pic>
        <p:nvPicPr>
          <p:cNvPr id="8" name="Picture 7" descr="diem-gay-pelt.png"/>
          <p:cNvPicPr>
            <a:picLocks noChangeAspect="1"/>
          </p:cNvPicPr>
          <p:nvPr/>
        </p:nvPicPr>
        <p:blipFill>
          <a:blip r:embed="rId2"/>
          <a:stretch>
            <a:fillRect/>
          </a:stretch>
        </p:blipFill>
        <p:spPr>
          <a:xfrm>
            <a:off x="2328446" y="2450591"/>
            <a:ext cx="7532058"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trên một chuỗi tăng trưởng ra tới 43 điểm gãy.</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số điểm gãy khi chạy trên log và trên mức gốc; quét nhiều mức penalty.</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Lấy log trước: còn 2 điểm, đúng quanh COVID. Chọn penalty trong khoảng mà kết quả ổn định.</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COVID: cách xử lý đổi sai số gần 3 lần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structural break · changepoint · PELT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sai số chênh gần 3 lần tuỳ cách xử lý mà không ai biết.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“Cách xử lý COVID là một giả định về tương lai, nên phải kiểm bằng dự báo.”</a:t>
            </a:r>
          </a:p>
        </p:txBody>
      </p:sp>
      <p:pic>
        <p:nvPicPr>
          <p:cNvPr id="8" name="Picture 7" descr="ba-cach-covid.png"/>
          <p:cNvPicPr>
            <a:picLocks noChangeAspect="1"/>
          </p:cNvPicPr>
          <p:nvPr/>
        </p:nvPicPr>
        <p:blipFill>
          <a:blip r:embed="rId2"/>
          <a:stretch>
            <a:fillRect/>
          </a:stretch>
        </p:blipFill>
        <p:spPr>
          <a:xfrm>
            <a:off x="2229713" y="2450591"/>
            <a:ext cx="772952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năm 2023 chênh gần 3 lần: giữ nguyên 24,01%, nội suy 8,71%, cắt bỏ 18,11%.</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Thử từng cách, rồi chấm dự báo trên năm sau đó.</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Nội suy nếu hành vi quay về như cũ; dịch mức kéo dài thì thêm biến giả. Ghi rõ giả định vào báo cáo.</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Khử nhiễu: trailing nhân quả nhưng trễ</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signal + noise · trailing / centered moving average · causal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Đường làm trơn đẹp nhất thường mượn số của giờ sau. Dùng nó để dự báo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Ước lượng phần tín hiệu mà không dùng số của tương lai, khi đầu ra làm feature dự báo.</a:t>
            </a:r>
          </a:p>
        </p:txBody>
      </p:sp>
      <p:sp>
        <p:nvSpPr>
          <p:cNvPr id="8" name="Rounded Rectangle 7"/>
          <p:cNvSpPr/>
          <p:nvPr/>
        </p:nvSpPr>
        <p:spPr>
          <a:xfrm>
            <a:off x="548640" y="2432303"/>
            <a:ext cx="6309360"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48130cf4226.png"/>
          <p:cNvPicPr>
            <a:picLocks noChangeAspect="1"/>
          </p:cNvPicPr>
          <p:nvPr/>
        </p:nvPicPr>
        <p:blipFill>
          <a:blip r:embed="rId2"/>
          <a:stretch>
            <a:fillRect/>
          </a:stretch>
        </p:blipFill>
        <p:spPr>
          <a:xfrm>
            <a:off x="640080" y="2574500"/>
            <a:ext cx="6126479" cy="605622"/>
          </a:xfrm>
          <a:prstGeom prst="rect">
            <a:avLst/>
          </a:prstGeom>
        </p:spPr>
      </p:pic>
      <p:pic>
        <p:nvPicPr>
          <p:cNvPr id="10" name="Picture 9" descr="kn-bo-loc-nhan-qua.png"/>
          <p:cNvPicPr>
            <a:picLocks noChangeAspect="1"/>
          </p:cNvPicPr>
          <p:nvPr/>
        </p:nvPicPr>
        <p:blipFill>
          <a:blip r:embed="rId3"/>
          <a:stretch>
            <a:fillRect/>
          </a:stretch>
        </p:blipFill>
        <p:spPr>
          <a:xfrm>
            <a:off x="714879" y="3413759"/>
            <a:ext cx="5976881" cy="3078480"/>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 tín hiệu + nhiễu; bộ lọc ước lượng phần tín hiệu. Trailing lấy k điểm gần nhất; centered lấy cả điểm trước lẫn sau.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Dùng kiểu nào</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trailing</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làm feature dự báo; đổi lại bị trễ</a:t>
            </a:r>
          </a:p>
        </p:txBody>
      </p:sp>
      <p:sp>
        <p:nvSpPr>
          <p:cNvPr id="18" name="Oval 17"/>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centered</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chỉ để mô tả, vẽ, tách xu hướng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14, 30, 16, tại giờ 3: trailing (10 + 12 + 14) / 3 = 12; centered (12 + 14 + 30) / 3 = 18,67, đã chứa số 30 của giờ sau.</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Nyquist: lấy mẫu thưa thì sinh nhịp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Nyquist frequency · sampling frequency f_s · aliasing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Hạ dữ liệu 10 phút xuống 1 giờ thì hiện ra một chu kỳ 2,5 giờ. Nó từ đâu ra?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Hạ mẫu mà không tạo ra một chu kỳ không có thật trong dữ liệu.</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90b78e034ca.png"/>
          <p:cNvPicPr>
            <a:picLocks noChangeAspect="1"/>
          </p:cNvPicPr>
          <p:nvPr/>
        </p:nvPicPr>
        <p:blipFill>
          <a:blip r:embed="rId2"/>
          <a:stretch>
            <a:fillRect/>
          </a:stretch>
        </p:blipFill>
        <p:spPr>
          <a:xfrm>
            <a:off x="897636" y="2584703"/>
            <a:ext cx="5611368" cy="353568"/>
          </a:xfrm>
          <a:prstGeom prst="rect">
            <a:avLst/>
          </a:prstGeom>
        </p:spPr>
      </p:pic>
      <p:pic>
        <p:nvPicPr>
          <p:cNvPr id="10" name="Picture 9" descr="kn-aliasing.png"/>
          <p:cNvPicPr>
            <a:picLocks noChangeAspect="1"/>
          </p:cNvPicPr>
          <p:nvPr/>
        </p:nvPicPr>
        <p:blipFill>
          <a:blip r:embed="rId3"/>
          <a:stretch>
            <a:fillRect/>
          </a:stretch>
        </p:blipFill>
        <p:spPr>
          <a:xfrm>
            <a:off x="596041" y="3182112"/>
            <a:ext cx="621455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Tần số Nyquist bằng nửa tần số lấy mẫu f_s. Dao động nhanh hơn Nyquist bị gập thành dao động chậm giả: đó là aliasing.</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Tính nhịp giả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Lấy tần số thật trừ bội số gần nhất của f_s. Muốn tránh: lọc thông thấp, tức bỏ dao động nhanh, trước khi hạ mẫu.</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Sóng lặp mỗi 4 bước, lấy mẫu mỗi 3 bước: |1/4 − 1/3| = 1/12, ra sóng giả lặp mỗi 12 bước. Dao động 43 phút thành chu kỳ giả 2,5 giờ.</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Đọc phổ trước khi lọc và hạ mẫu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periodogram · aliasing · Nyquist frequency · low-pass filter · downsampling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thấy một chu kỳ không có thật, rồi dựng feature theo nhịp giả.</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Aliasing</a:t>
            </a:r>
            <a:r>
              <a:rPr sz="1700" b="0" i="0">
                <a:solidFill>
                  <a:srgbClr val="1B2A41"/>
                </a:solidFill>
                <a:latin typeface="Arial"/>
              </a:rPr>
              <a:t> là khi lấy mẫu quá thưa, một dao động nhanh hoá thành nhịp chậm không có thật.</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Phổ: nhịp nào mạnh, nhiễu nằm ở đâu</a:t>
            </a:r>
          </a:p>
        </p:txBody>
      </p:sp>
      <p:pic>
        <p:nvPicPr>
          <p:cNvPr id="9" name="Picture 8" descr="pho-cam-bien.png"/>
          <p:cNvPicPr>
            <a:picLocks noChangeAspect="1"/>
          </p:cNvPicPr>
          <p:nvPr/>
        </p:nvPicPr>
        <p:blipFill>
          <a:blip r:embed="rId2"/>
          <a:stretch>
            <a:fillRect/>
          </a:stretch>
        </p:blipFill>
        <p:spPr>
          <a:xfrm>
            <a:off x="548640" y="2926062"/>
            <a:ext cx="5440680" cy="1764827"/>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Hạ mẫu thô: chu kỳ giả 2,5 giờ</a:t>
            </a:r>
          </a:p>
        </p:txBody>
      </p:sp>
      <p:pic>
        <p:nvPicPr>
          <p:cNvPr id="11" name="Picture 10" descr="aliasing.png"/>
          <p:cNvPicPr>
            <a:picLocks noChangeAspect="1"/>
          </p:cNvPicPr>
          <p:nvPr/>
        </p:nvPicPr>
        <p:blipFill>
          <a:blip r:embed="rId3"/>
          <a:stretch>
            <a:fillRect/>
          </a:stretch>
        </p:blipFill>
        <p:spPr>
          <a:xfrm>
            <a:off x="6199631" y="2915177"/>
            <a:ext cx="5440680" cy="1786596"/>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Sau khi resample xuất hiện một chu kỳ lạ, chẳng hạn 2,5 giờ.</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Đọc phổ trước và sau khi hạ mẫu; chu kỳ giả tính được: f_giả = |f − k·f_s|, f_s là tần số lấy mẫu.</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Lọc thông thấp, tức bỏ dao động nhanh, trước khi hạ mẫu.</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EWMA: điểm mới nặng hơn, trễ ít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exponentially weighted moving average (EWMA) · α, span, com · phase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trơn nhân quả mà trễ ít hơn trung bình trượt có cùng độ trơn.</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01928a583dc.png"/>
          <p:cNvPicPr>
            <a:picLocks noChangeAspect="1"/>
          </p:cNvPicPr>
          <p:nvPr/>
        </p:nvPicPr>
        <p:blipFill>
          <a:blip r:embed="rId2"/>
          <a:stretch>
            <a:fillRect/>
          </a:stretch>
        </p:blipFill>
        <p:spPr>
          <a:xfrm>
            <a:off x="640080" y="2256380"/>
            <a:ext cx="6126480" cy="278694"/>
          </a:xfrm>
          <a:prstGeom prst="rect">
            <a:avLst/>
          </a:prstGeom>
        </p:spPr>
      </p:pic>
      <p:pic>
        <p:nvPicPr>
          <p:cNvPr id="9" name="Picture 8" descr="kn-ewma.png"/>
          <p:cNvPicPr>
            <a:picLocks noChangeAspect="1"/>
          </p:cNvPicPr>
          <p:nvPr/>
        </p:nvPicPr>
        <p:blipFill>
          <a:blip r:embed="rId3"/>
          <a:stretch>
            <a:fillRect/>
          </a:stretch>
        </p:blipFill>
        <p:spPr>
          <a:xfrm>
            <a:off x="548640" y="3102884"/>
            <a:ext cx="6309360" cy="3102822"/>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EWMA trộn số mới với đầu ra trước theo tỷ lệ α và 1 − α, nên trọng số giảm dần về quá khứ. Trung bình trượt k điểm trễ (k − 1) / 2 bước.</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α lớn hay nhỏ nghĩa là gì</a:t>
            </a:r>
          </a:p>
        </p:txBody>
      </p:sp>
      <p:cxnSp>
        <p:nvCxnSpPr>
          <p:cNvPr id="13" name="Connector 12"/>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45602"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α nhỏ</a:t>
            </a:r>
          </a:p>
        </p:txBody>
      </p:sp>
      <p:sp>
        <p:nvSpPr>
          <p:cNvPr id="16" name="TextBox 15"/>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rất trơn, trễ nhiều</a:t>
            </a:r>
          </a:p>
        </p:txBody>
      </p:sp>
      <p:sp>
        <p:nvSpPr>
          <p:cNvPr id="17" name="Oval 16"/>
          <p:cNvSpPr/>
          <p:nvPr/>
        </p:nvSpPr>
        <p:spPr>
          <a:xfrm>
            <a:off x="10453878"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α lớn</a:t>
            </a:r>
          </a:p>
        </p:txBody>
      </p:sp>
      <p:sp>
        <p:nvSpPr>
          <p:cNvPr id="19" name="TextBox 18"/>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bám sát số mới, ít trơn</a:t>
            </a:r>
          </a:p>
        </p:txBody>
      </p:sp>
      <p:sp>
        <p:nvSpPr>
          <p:cNvPr id="20" name="TextBox 19"/>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1" name="TextBox 20"/>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α = 0,5, chuỗi 10, 20, 10: z = 10; 15; 12,5. Đo được: trung bình 13 điểm trễ 6 bước, EWMA α = 0,15 trễ 4.</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Lọc hai chiều không trễ vì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Savitzky–Golay · Butterworth sosfilt / sosfiltfilt · Kalman filter / smoother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Sáu họ bộ lọc, mười cấu hình. Cái nào dùng được làm feature dự báo?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họ bộ lọc nào dùng được làm feature dự báo, họ nào chỉ để mô tả lịch sử.</a:t>
            </a:r>
          </a:p>
        </p:txBody>
      </p:sp>
      <p:pic>
        <p:nvPicPr>
          <p:cNvPr id="8" name="Picture 7" descr="kn-sosfilt-sosfiltfilt.png"/>
          <p:cNvPicPr>
            <a:picLocks noChangeAspect="1"/>
          </p:cNvPicPr>
          <p:nvPr/>
        </p:nvPicPr>
        <p:blipFill>
          <a:blip r:embed="rId2"/>
          <a:stretch>
            <a:fillRect/>
          </a:stretch>
        </p:blipFill>
        <p:spPr>
          <a:xfrm>
            <a:off x="548640" y="2791598"/>
            <a:ext cx="6309360" cy="3341347"/>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Savitzky–Golay khớp đa thức quanh mỗi điểm. Butterworth cắt tần số theo ngưỡng. Kalman ước lượng tín hiệu ẩn. Bản hai chiều chạy xuôi rồi ngược.</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Nhân quả hay không</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nhân quả</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trailing, EWMA, sosfilt, Kalman filter (tham số cố định)</a:t>
            </a:r>
          </a:p>
        </p:txBody>
      </p:sp>
      <p:sp>
        <p:nvSpPr>
          <p:cNvPr id="16" name="Oval 15"/>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D9642B"/>
                </a:solidFill>
                <a:latin typeface="Arial"/>
              </a:rPr>
              <a:t>nhìn tương lai</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centered, Savitzky–Golay, sosfiltfilt, Kalman smoother</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10 số cuối: sosfilt giữ nguyên quá khứ; filtfilt đổi tới 23,615 và kéo ngược 274 bước. Butterworth nhân quả trễ 19 bước.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Sáu họ bộ lọc trong một bảng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D9642B"/>
                </a:solidFill>
                <a:latin typeface="Arial"/>
              </a:rPr>
              <a:t>“Làm feature dự báo thì chỉ chọn trong những dòng nhân quả ‘có’.”</a:t>
            </a:r>
          </a:p>
        </p:txBody>
      </p:sp>
      <p:sp>
        <p:nvSpPr>
          <p:cNvPr id="6" name="Rectangle 5"/>
          <p:cNvSpPr/>
          <p:nvPr/>
        </p:nvSpPr>
        <p:spPr>
          <a:xfrm>
            <a:off x="548640" y="1801368"/>
            <a:ext cx="2148840" cy="60350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Họ bộ lọc</a:t>
            </a:r>
          </a:p>
        </p:txBody>
      </p:sp>
      <p:sp>
        <p:nvSpPr>
          <p:cNvPr id="7" name="Rectangle 6"/>
          <p:cNvSpPr/>
          <p:nvPr/>
        </p:nvSpPr>
        <p:spPr>
          <a:xfrm>
            <a:off x="2697480" y="1801368"/>
            <a:ext cx="3154680" cy="60350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Hiểu đơn giản</a:t>
            </a:r>
          </a:p>
        </p:txBody>
      </p:sp>
      <p:sp>
        <p:nvSpPr>
          <p:cNvPr id="8" name="Rectangle 7"/>
          <p:cNvSpPr/>
          <p:nvPr/>
        </p:nvSpPr>
        <p:spPr>
          <a:xfrm>
            <a:off x="5852160" y="1801368"/>
            <a:ext cx="2331720" cy="60350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Dùng khi</a:t>
            </a:r>
          </a:p>
        </p:txBody>
      </p:sp>
      <p:sp>
        <p:nvSpPr>
          <p:cNvPr id="9" name="Rectangle 8"/>
          <p:cNvSpPr/>
          <p:nvPr/>
        </p:nvSpPr>
        <p:spPr>
          <a:xfrm>
            <a:off x="8183879" y="1801368"/>
            <a:ext cx="2331720" cy="60350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Không dùng khi</a:t>
            </a:r>
          </a:p>
        </p:txBody>
      </p:sp>
      <p:sp>
        <p:nvSpPr>
          <p:cNvPr id="10" name="Rectangle 9"/>
          <p:cNvSpPr/>
          <p:nvPr/>
        </p:nvSpPr>
        <p:spPr>
          <a:xfrm>
            <a:off x="10515600" y="1801368"/>
            <a:ext cx="1124712" cy="60350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Nhân quả</a:t>
            </a:r>
          </a:p>
        </p:txBody>
      </p:sp>
      <p:sp>
        <p:nvSpPr>
          <p:cNvPr id="11" name="Rectangle 10"/>
          <p:cNvSpPr/>
          <p:nvPr/>
        </p:nvSpPr>
        <p:spPr>
          <a:xfrm>
            <a:off x="548640" y="2404872"/>
            <a:ext cx="214884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trung bình trượt trailing</a:t>
            </a:r>
          </a:p>
        </p:txBody>
      </p:sp>
      <p:sp>
        <p:nvSpPr>
          <p:cNvPr id="12" name="Rectangle 11"/>
          <p:cNvSpPr/>
          <p:nvPr/>
        </p:nvSpPr>
        <p:spPr>
          <a:xfrm>
            <a:off x="2697480" y="2404872"/>
            <a:ext cx="315468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trung bình k điểm gần nhất</a:t>
            </a:r>
          </a:p>
        </p:txBody>
      </p:sp>
      <p:sp>
        <p:nvSpPr>
          <p:cNvPr id="13" name="Rectangle 12"/>
          <p:cNvSpPr/>
          <p:nvPr/>
        </p:nvSpPr>
        <p:spPr>
          <a:xfrm>
            <a:off x="5852160" y="2404872"/>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feature dự báo, báo cáo vận hành</a:t>
            </a:r>
          </a:p>
        </p:txBody>
      </p:sp>
      <p:sp>
        <p:nvSpPr>
          <p:cNvPr id="14" name="Rectangle 13"/>
          <p:cNvSpPr/>
          <p:nvPr/>
        </p:nvSpPr>
        <p:spPr>
          <a:xfrm>
            <a:off x="8183879" y="2404872"/>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cần biết đúng lúc đỉnh: trễ (k − 1) / 2</a:t>
            </a:r>
          </a:p>
        </p:txBody>
      </p:sp>
      <p:sp>
        <p:nvSpPr>
          <p:cNvPr id="15" name="Rectangle 14"/>
          <p:cNvSpPr/>
          <p:nvPr/>
        </p:nvSpPr>
        <p:spPr>
          <a:xfrm>
            <a:off x="10515600" y="2404872"/>
            <a:ext cx="1124712" cy="603504"/>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16" name="Rectangle 15"/>
          <p:cNvSpPr/>
          <p:nvPr/>
        </p:nvSpPr>
        <p:spPr>
          <a:xfrm>
            <a:off x="548640" y="3008376"/>
            <a:ext cx="214884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trung bình trượt centered</a:t>
            </a:r>
          </a:p>
        </p:txBody>
      </p:sp>
      <p:sp>
        <p:nvSpPr>
          <p:cNvPr id="17" name="Rectangle 16"/>
          <p:cNvSpPr/>
          <p:nvPr/>
        </p:nvSpPr>
        <p:spPr>
          <a:xfrm>
            <a:off x="2697480" y="3008376"/>
            <a:ext cx="315468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trung bình các điểm quanh nó, cả trước lẫn sau</a:t>
            </a:r>
          </a:p>
        </p:txBody>
      </p:sp>
      <p:sp>
        <p:nvSpPr>
          <p:cNvPr id="18" name="Rectangle 17"/>
          <p:cNvSpPr/>
          <p:nvPr/>
        </p:nvSpPr>
        <p:spPr>
          <a:xfrm>
            <a:off x="5852160" y="3008376"/>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mô tả, tách xu hướng</a:t>
            </a:r>
          </a:p>
        </p:txBody>
      </p:sp>
      <p:sp>
        <p:nvSpPr>
          <p:cNvPr id="19" name="Rectangle 18"/>
          <p:cNvSpPr/>
          <p:nvPr/>
        </p:nvSpPr>
        <p:spPr>
          <a:xfrm>
            <a:off x="8183879" y="3008376"/>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mọi feature dự báo</a:t>
            </a:r>
          </a:p>
        </p:txBody>
      </p:sp>
      <p:sp>
        <p:nvSpPr>
          <p:cNvPr id="20" name="Rectangle 19"/>
          <p:cNvSpPr/>
          <p:nvPr/>
        </p:nvSpPr>
        <p:spPr>
          <a:xfrm>
            <a:off x="10515600" y="3008376"/>
            <a:ext cx="1124712" cy="603504"/>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không</a:t>
            </a:r>
          </a:p>
        </p:txBody>
      </p:sp>
      <p:sp>
        <p:nvSpPr>
          <p:cNvPr id="21" name="Rectangle 20"/>
          <p:cNvSpPr/>
          <p:nvPr/>
        </p:nvSpPr>
        <p:spPr>
          <a:xfrm>
            <a:off x="548640" y="3611880"/>
            <a:ext cx="214884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EWMA</a:t>
            </a:r>
          </a:p>
        </p:txBody>
      </p:sp>
      <p:sp>
        <p:nvSpPr>
          <p:cNvPr id="22" name="Rectangle 21"/>
          <p:cNvSpPr/>
          <p:nvPr/>
        </p:nvSpPr>
        <p:spPr>
          <a:xfrm>
            <a:off x="2697480" y="3611880"/>
            <a:ext cx="315468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điểm mới nặng hơn điểm cũ</a:t>
            </a:r>
          </a:p>
        </p:txBody>
      </p:sp>
      <p:sp>
        <p:nvSpPr>
          <p:cNvPr id="23" name="Rectangle 22"/>
          <p:cNvSpPr/>
          <p:nvPr/>
        </p:nvSpPr>
        <p:spPr>
          <a:xfrm>
            <a:off x="5852160" y="3611880"/>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dữ liệu đang chảy về, cần trễ nhỏ</a:t>
            </a:r>
          </a:p>
        </p:txBody>
      </p:sp>
      <p:sp>
        <p:nvSpPr>
          <p:cNvPr id="24" name="Rectangle 23"/>
          <p:cNvSpPr/>
          <p:nvPr/>
        </p:nvSpPr>
        <p:spPr>
          <a:xfrm>
            <a:off x="8183879" y="3611880"/>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cần cắt đúng một dải tần số</a:t>
            </a:r>
          </a:p>
        </p:txBody>
      </p:sp>
      <p:sp>
        <p:nvSpPr>
          <p:cNvPr id="25" name="Rectangle 24"/>
          <p:cNvSpPr/>
          <p:nvPr/>
        </p:nvSpPr>
        <p:spPr>
          <a:xfrm>
            <a:off x="10515600" y="3611880"/>
            <a:ext cx="1124712" cy="603504"/>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26" name="Rectangle 25"/>
          <p:cNvSpPr/>
          <p:nvPr/>
        </p:nvSpPr>
        <p:spPr>
          <a:xfrm>
            <a:off x="548640" y="4215384"/>
            <a:ext cx="214884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Savitzky–Golay</a:t>
            </a:r>
          </a:p>
        </p:txBody>
      </p:sp>
      <p:sp>
        <p:nvSpPr>
          <p:cNvPr id="27" name="Rectangle 26"/>
          <p:cNvSpPr/>
          <p:nvPr/>
        </p:nvSpPr>
        <p:spPr>
          <a:xfrm>
            <a:off x="2697480" y="4215384"/>
            <a:ext cx="315468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khớp đa thức bậc thấp trên cửa sổ quanh điểm</a:t>
            </a:r>
          </a:p>
        </p:txBody>
      </p:sp>
      <p:sp>
        <p:nvSpPr>
          <p:cNvPr id="28" name="Rectangle 27"/>
          <p:cNvSpPr/>
          <p:nvPr/>
        </p:nvSpPr>
        <p:spPr>
          <a:xfrm>
            <a:off x="5852160" y="4215384"/>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giữ chiều cao đỉnh</a:t>
            </a:r>
          </a:p>
        </p:txBody>
      </p:sp>
      <p:sp>
        <p:nvSpPr>
          <p:cNvPr id="29" name="Rectangle 28"/>
          <p:cNvSpPr/>
          <p:nvPr/>
        </p:nvSpPr>
        <p:spPr>
          <a:xfrm>
            <a:off x="8183879" y="4215384"/>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feature dự báo, kể cả ở cuối chuỗi</a:t>
            </a:r>
          </a:p>
        </p:txBody>
      </p:sp>
      <p:sp>
        <p:nvSpPr>
          <p:cNvPr id="30" name="Rectangle 29"/>
          <p:cNvSpPr/>
          <p:nvPr/>
        </p:nvSpPr>
        <p:spPr>
          <a:xfrm>
            <a:off x="10515600" y="4215384"/>
            <a:ext cx="1124712" cy="603504"/>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không</a:t>
            </a:r>
          </a:p>
        </p:txBody>
      </p:sp>
      <p:sp>
        <p:nvSpPr>
          <p:cNvPr id="31" name="Rectangle 30"/>
          <p:cNvSpPr/>
          <p:nvPr/>
        </p:nvSpPr>
        <p:spPr>
          <a:xfrm>
            <a:off x="548640" y="4818888"/>
            <a:ext cx="214884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Butterworth</a:t>
            </a:r>
          </a:p>
        </p:txBody>
      </p:sp>
      <p:sp>
        <p:nvSpPr>
          <p:cNvPr id="32" name="Rectangle 31"/>
          <p:cNvSpPr/>
          <p:nvPr/>
        </p:nvSpPr>
        <p:spPr>
          <a:xfrm>
            <a:off x="2697480" y="4818888"/>
            <a:ext cx="315468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cắt tần số cao theo ngưỡng; sosfilt một chiều, sosfiltfilt xuôi rồi ngược</a:t>
            </a:r>
          </a:p>
        </p:txBody>
      </p:sp>
      <p:sp>
        <p:nvSpPr>
          <p:cNvPr id="33" name="Rectangle 32"/>
          <p:cNvSpPr/>
          <p:nvPr/>
        </p:nvSpPr>
        <p:spPr>
          <a:xfrm>
            <a:off x="5852160" y="4818888"/>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cần bỏ đúng dải tần số cao</a:t>
            </a:r>
          </a:p>
        </p:txBody>
      </p:sp>
      <p:sp>
        <p:nvSpPr>
          <p:cNvPr id="34" name="Rectangle 33"/>
          <p:cNvSpPr/>
          <p:nvPr/>
        </p:nvSpPr>
        <p:spPr>
          <a:xfrm>
            <a:off x="8183879" y="4818888"/>
            <a:ext cx="2331720" cy="60350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bản hai chiều cho feature</a:t>
            </a:r>
          </a:p>
        </p:txBody>
      </p:sp>
      <p:sp>
        <p:nvSpPr>
          <p:cNvPr id="35" name="Rectangle 34"/>
          <p:cNvSpPr/>
          <p:nvPr/>
        </p:nvSpPr>
        <p:spPr>
          <a:xfrm>
            <a:off x="10515600" y="4818888"/>
            <a:ext cx="1124712" cy="603504"/>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B4541B"/>
                </a:solidFill>
                <a:latin typeface="Arial"/>
              </a:rPr>
              <a:t>có / không</a:t>
            </a:r>
          </a:p>
        </p:txBody>
      </p:sp>
      <p:sp>
        <p:nvSpPr>
          <p:cNvPr id="36" name="Rectangle 35"/>
          <p:cNvSpPr/>
          <p:nvPr/>
        </p:nvSpPr>
        <p:spPr>
          <a:xfrm>
            <a:off x="548640" y="5422392"/>
            <a:ext cx="214884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Kalman filter / smoother</a:t>
            </a:r>
          </a:p>
        </p:txBody>
      </p:sp>
      <p:sp>
        <p:nvSpPr>
          <p:cNvPr id="37" name="Rectangle 36"/>
          <p:cNvSpPr/>
          <p:nvPr/>
        </p:nvSpPr>
        <p:spPr>
          <a:xfrm>
            <a:off x="2697480" y="5422392"/>
            <a:ext cx="315468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ước lượng tín hiệu ẩn: mức đổi dần cộng nhiễu</a:t>
            </a:r>
          </a:p>
        </p:txBody>
      </p:sp>
      <p:sp>
        <p:nvSpPr>
          <p:cNvPr id="38" name="Rectangle 37"/>
          <p:cNvSpPr/>
          <p:nvPr/>
        </p:nvSpPr>
        <p:spPr>
          <a:xfrm>
            <a:off x="5852160" y="5422392"/>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có mô hình hợp; dữ liệu có lỗ</a:t>
            </a:r>
          </a:p>
        </p:txBody>
      </p:sp>
      <p:sp>
        <p:nvSpPr>
          <p:cNvPr id="39" name="Rectangle 38"/>
          <p:cNvSpPr/>
          <p:nvPr/>
        </p:nvSpPr>
        <p:spPr>
          <a:xfrm>
            <a:off x="8183879" y="5422392"/>
            <a:ext cx="2331720" cy="60350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smoother cho feature</a:t>
            </a:r>
          </a:p>
        </p:txBody>
      </p:sp>
      <p:sp>
        <p:nvSpPr>
          <p:cNvPr id="40" name="Rectangle 39"/>
          <p:cNvSpPr/>
          <p:nvPr/>
        </p:nvSpPr>
        <p:spPr>
          <a:xfrm>
            <a:off x="10515600" y="5422392"/>
            <a:ext cx="1124712" cy="603504"/>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B4541B"/>
                </a:solidFill>
                <a:latin typeface="Arial"/>
              </a:rPr>
              <a:t>có / không</a:t>
            </a:r>
          </a:p>
        </p:txBody>
      </p:sp>
      <p:sp>
        <p:nvSpPr>
          <p:cNvPr id="41" name="TextBox 40"/>
          <p:cNvSpPr txBox="1"/>
          <p:nvPr/>
        </p:nvSpPr>
        <p:spPr>
          <a:xfrm>
            <a:off x="548640" y="6144768"/>
            <a:ext cx="11091672" cy="640080"/>
          </a:xfrm>
          <a:prstGeom prst="rect">
            <a:avLst/>
          </a:prstGeom>
          <a:noFill/>
        </p:spPr>
        <p:txBody>
          <a:bodyPr wrap="square" lIns="0" rIns="0" tIns="0" bIns="0" anchor="t">
            <a:spAutoFit/>
          </a:bodyPr>
          <a:lstStyle/>
          <a:p>
            <a:pPr algn="l"/>
            <a:r>
              <a:rPr sz="1200" b="0" i="0">
                <a:solidFill>
                  <a:srgbClr val="5B6778"/>
                </a:solidFill>
                <a:latin typeface="Arial"/>
              </a:rPr>
              <a:t>“Có / không”: bản một chiều (sosfilt, Kalman filter) nhân quả, bản hai chiều thì không. Kalman filter chỉ nhân quả khi tham số ước lượng trên phần học rồi cố định; khớp lại trên cả chuỗi thì quá khứ đổi tới 1,134.</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Bộ lọc trơn nhất lại là bộ lọc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moving average · EWMA · Savitzky–Golay · Butterworth · Kalman filter · phase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bộ lọc “tốt nhất” mà không dùng được lúc dự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“Độ trơn phải trả bằng trễ, hoặc bằng việc nhìn tương lai.”</a:t>
            </a:r>
          </a:p>
        </p:txBody>
      </p:sp>
      <p:pic>
        <p:nvPicPr>
          <p:cNvPr id="8" name="Picture 7" descr="bo-loc.png"/>
          <p:cNvPicPr>
            <a:picLocks noChangeAspect="1"/>
          </p:cNvPicPr>
          <p:nvPr/>
        </p:nvPicPr>
        <p:blipFill>
          <a:blip r:embed="rId2"/>
          <a:stretch>
            <a:fillRect/>
          </a:stretch>
        </p:blipFill>
        <p:spPr>
          <a:xfrm>
            <a:off x="973740" y="2450591"/>
            <a:ext cx="5916359"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Ba bộ lọc có RMSE thấp nhất (centered, Kalman smoother, Savitzky–Golay) đều nhìn tương lai.</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cột “nhân quả” vào bảng xếp hạng; đo độ trễ bằng tương quan chéo.</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Chỉ so các bộ lọc nhân quả với nhau. Trong nhóm này Kalman filter tốt nhất, RMSE 0,584.</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Đổi số cuối: nhân quả thì quá khứ đứng yên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causality test · perturb the tail · tolerance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Tài liệu thư viện không nói bộ lọc có dùng số của giờ sau không. Kiểm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phép thử chạy được trên mọi hàm làm trơn, kể cả khi tài liệu thư viện không nói rõ.</a:t>
            </a:r>
          </a:p>
        </p:txBody>
      </p:sp>
      <p:pic>
        <p:nvPicPr>
          <p:cNvPr id="8" name="Picture 7" descr="kiem-nhan-qua.png"/>
          <p:cNvPicPr>
            <a:picLocks noChangeAspect="1"/>
          </p:cNvPicPr>
          <p:nvPr/>
        </p:nvPicPr>
        <p:blipFill>
          <a:blip r:embed="rId2"/>
          <a:stretch>
            <a:fillRect/>
          </a:stretch>
        </p:blipFill>
        <p:spPr>
          <a:xfrm>
            <a:off x="548640" y="2899772"/>
            <a:ext cx="6309360" cy="3124998"/>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vài giá trị cuối chuỗi, chạy lại bộ lọc, so đầu ra ở mọi mốc trước đó. Nhân quả thì quá khứ không đổi, chỉ lệch cỡ sai số tính toán.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Ba chỗ hay làm sai</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So mọi mốc trước điểm đổi, không bỏ đoạn cuối. Dung sai theo thang dữ liệu. Tham số ước lượng trên cả chuỗi cũng làm quá khứ đổi.</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14, 30, 16, đổi 16 thành 40: centered ở giờ 4 từ 20 thành 28, trailing vẫn 18,67. Kalman khớp lại trên cả chuỗi đổi quá khứ 1,134.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Đổi số cuối mà số cũ đổi theo: đã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 filter · trailing / centered moving average · EWMA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backtest đẹp, dùng thật thì mất sạch phần cải thiện.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Bộ lọc nhân quả</a:t>
            </a:r>
            <a:r>
              <a:rPr sz="1700" b="0" i="0">
                <a:solidFill>
                  <a:srgbClr val="1B2A41"/>
                </a:solidFill>
                <a:latin typeface="Arial"/>
              </a:rPr>
              <a:t> chỉ dùng dữ liệu tới thời điểm đang xét, không dùng số của các giờ sau.</a:t>
            </a:r>
          </a:p>
        </p:txBody>
      </p:sp>
      <p:pic>
        <p:nvPicPr>
          <p:cNvPr id="8" name="Picture 7" descr="gia-ro-ri.png"/>
          <p:cNvPicPr>
            <a:picLocks noChangeAspect="1"/>
          </p:cNvPicPr>
          <p:nvPr/>
        </p:nvPicPr>
        <p:blipFill>
          <a:blip r:embed="rId2"/>
          <a:stretch>
            <a:fillRect/>
          </a:stretch>
        </p:blipFill>
        <p:spPr>
          <a:xfrm>
            <a:off x="548640" y="2803403"/>
            <a:ext cx="6766560" cy="3290304"/>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làm trơn kiểu centered hứa giảm MAE 24–28%, còn feature nhân quả chỉ giúp 1–6%.</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Đổi 10 giá trị cuối rồi chạy lại: đầu ra ở các mốc trước mà đổi theo là bộ lọc nhìn tương lai.</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trailing, EWMA hay sosfilt, tham số ước lượng trên phần học rồi cố định. Luôn chấm trên chuỗi gốc.</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Làm trơn mục tiêu là chấm trên đề dễ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target smoothing · evaluation on the raw series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báo sai số đẹp giả, và giấu đúng những đỉnh nhọn mô hình sai nhiều nhất.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“Không ai trả tiền điện ‘đã làm trơn’: luôn chấm trên chuỗi gốc.”</a:t>
            </a:r>
          </a:p>
        </p:txBody>
      </p:sp>
      <p:pic>
        <p:nvPicPr>
          <p:cNvPr id="8" name="Picture 7" descr="muc-tieu-lam-tron.png"/>
          <p:cNvPicPr>
            <a:picLocks noChangeAspect="1"/>
          </p:cNvPicPr>
          <p:nvPr/>
        </p:nvPicPr>
        <p:blipFill>
          <a:blip r:embed="rId2"/>
          <a:stretch>
            <a:fillRect/>
          </a:stretch>
        </p:blipFill>
        <p:spPr>
          <a:xfrm>
            <a:off x="2815839" y="2450591"/>
            <a:ext cx="655727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Chấm trên điện đã làm trơn (centered 13 điểm), MAE giảm từ 46,84 xuống 35,78 Wh (−23,6%) mà mô hình không đổi.</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Chấm lại cùng mô hình trên chuỗi gốc; nhìn các đỉnh nhọn mà đường làm trơn đã cắt đi.</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Không làm trơn mục tiêu dùng để chấm. Cần “trung bình 3 giờ tới” thì định nghĩa lại mục tiêu và ghi rõ.</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Rò rỉ: backtest đẹp, dùng thật tệ</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data leakage · target encoding · fit on training data only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backtest đẹp, dùng thật tệ, mà không có lỗi nào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Rò rỉ tương lai</a:t>
            </a:r>
            <a:r>
              <a:rPr sz="1700" b="0" i="0">
                <a:solidFill>
                  <a:srgbClr val="1B2A41"/>
                </a:solidFill>
                <a:latin typeface="Arial"/>
              </a:rPr>
              <a:t> là dùng thông tin chưa có lúc ra dự báo. Nó không báo lỗi, chỉ làm backtest đẹp giả.</a:t>
            </a:r>
          </a:p>
        </p:txBody>
      </p:sp>
      <p:pic>
        <p:nvPicPr>
          <p:cNvPr id="8" name="Picture 7" descr="kiem-ro-ri.png"/>
          <p:cNvPicPr>
            <a:picLocks noChangeAspect="1"/>
          </p:cNvPicPr>
          <p:nvPr/>
        </p:nvPicPr>
        <p:blipFill>
          <a:blip r:embed="rId2"/>
          <a:stretch>
            <a:fillRect/>
          </a:stretch>
        </p:blipFill>
        <p:spPr>
          <a:xfrm>
            <a:off x="2251427" y="2450591"/>
            <a:ext cx="7686097"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backtest đẹp hơn hẳn sai số khi chạy thật.</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kiem_ro_ri: cắt ở nhiều mốc, tính lại, so từng dòng. Thêm kiểm nhiễu mục tiêu để bắt lag nhỏ hơn h.</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shift(h) rồi mới rolling; scaler và target encoding chỉ fit trên phần học.</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Học bằng nhiệt độ thật, chạy thật lại tệ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exogenous variable · ex-ante vs ex-post · archived forecasts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mô hình tin nhiệt độ quá mức, chạy thật còn tệ hơn không dùng.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“Train bằng bản dự báo thì lúc chạy cũng dùng bản dự báo; đừng train bằng số thật.”</a:t>
            </a:r>
          </a:p>
        </p:txBody>
      </p:sp>
      <p:pic>
        <p:nvPicPr>
          <p:cNvPr id="8" name="Picture 7" descr="gia-ro-ri.png"/>
          <p:cNvPicPr>
            <a:picLocks noChangeAspect="1"/>
          </p:cNvPicPr>
          <p:nvPr/>
        </p:nvPicPr>
        <p:blipFill>
          <a:blip r:embed="rId2"/>
          <a:stretch>
            <a:fillRect/>
          </a:stretch>
        </p:blipFill>
        <p:spPr>
          <a:xfrm>
            <a:off x="2232545" y="2450591"/>
            <a:ext cx="772386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Backtest hứa giảm 3,85% sai số, nhưng chạy bằng dự báo trước 3 ngày thì sai số lại tăng 2,20%.</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Hỏi với từng biến: lúc ra dự báo, con số này đã có trong tay chưa?</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Huấn luyện bằng các bản dự báo đã lưu lại; ghép bằng merge_asof có tolerance.</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C</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Bảng tra &amp; từ điển</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A77B06"/>
                </a:solidFill>
                <a:latin typeface="Arial"/>
              </a:rPr>
              <a:t>24 lỗi · 10 chỗ nhầm · 100 từ</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Gom lại để tra nhanh khi làm thật, kèm từ điển Việt – Anh để đọc tài liệu gốc.</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A77B0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1/3: thời gian, biểu đồ, biến đổi</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Giờ = 0 rạng sáng CN tháng 3</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In 00:00–05:00 ngày đổi giờ</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Gắn múi giờ → UTC rồi gộp</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3</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Nóng nhất lúc 20h</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Giờ nóng nhất trung bình</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Mọi nguồn về UTC</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3, 10</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“Không có mùa vụ tuần”</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Heatmap giờ × thứ, ACF 168</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Vẽ đủ bộ biểu đồ</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4</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Giờ thiếu hiện thành 0</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Đếm NaN trên lưới đủ</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sum(min_count=1)</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4</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Tháng 2 sụt năm nào cũng vậy</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Tổng tháng vs trung bình ngày</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Chia số ngày</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Data must be positive</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y.min()</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Yeo-Johnson</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Tổng dự báo thấp hơn thật</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So tổng dự báo với tổng thực</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Hiệu chỉnh bias</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Xu hướng lõm cuối tuần</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Xu hướng trung bình theo thứ</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MSTL(24, 168)</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2/3: dừng, tương quan, thiếu</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r1 ≈ −0,5 sau sai phân</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ACF, độ lệch chuẩn trước/sau</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Bớt một lần sai phân</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7</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ADF và KPSS cùng bác bỏ</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chuỗi, tìm cú sốc</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Tách đoạn</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7</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r = 0,97 giữa hai chuỗi lạ</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DW; r sau sai phân</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Sai phân</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8</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r nhỏ, scatter chữ U</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scatter; MI</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CDD / HDD</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8</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Bản đồ chỉ xếp theo độ lớn</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Trọng số của PC1</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StandardScaler</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9</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Số dòng &lt; số mốc</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So với lưới đầy đủ</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reindex</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min lớn hơn max</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df.dtypes</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to_numeric(errors="coerce")</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Một giá trị chiếm 35%</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value_counts().head()</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NaN + cột cờ</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3/3: ngoại lai, nhiễu, rò rỉ, đánh giá</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Đoạn phẳng dài</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quanh lỗ</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Giới hạn độ dài điền</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3σ không bắt được gì</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Thêm một điểm cực lớn</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MAD, Hampel</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11</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PELT ra hàng chục điểm gãy</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So trên log và mức gốc</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Lấy log trước</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11</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Chu kỳ lạ sau resample</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So phổ trước / sau</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Lọc trước khi hạ mẫu</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12</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Backtest đẹp, dùng thật tệ</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kiem_ro_ri nhiều mốc cắt</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Lag ≥ h, fit trên phần học</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13</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MAPE ra inf</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Đếm số 0 trong kỳ chấm</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WAPE, MASE</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14</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Sai số kiểm quá đẹp</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Điểm kiểm nằm giữa điểm học?</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Rolling origin</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15</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Thấy số liệu chưa về</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Độ trễ dữ liệu so với gap</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gap = độ trễ</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15</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Mười chỗ hay hiểu nhầm</a:t>
            </a:r>
          </a:p>
        </p:txBody>
      </p:sp>
      <p:sp>
        <p:nvSpPr>
          <p:cNvPr id="4" name="TextBox 3"/>
          <p:cNvSpPr txBox="1"/>
          <p:nvPr/>
        </p:nvSpPr>
        <p:spPr>
          <a:xfrm>
            <a:off x="685800" y="1417320"/>
            <a:ext cx="3931920" cy="365760"/>
          </a:xfrm>
          <a:prstGeom prst="rect">
            <a:avLst/>
          </a:prstGeom>
          <a:noFill/>
        </p:spPr>
        <p:txBody>
          <a:bodyPr wrap="square" lIns="0" rIns="0" tIns="0" bIns="0" anchor="t">
            <a:spAutoFit/>
          </a:bodyPr>
          <a:lstStyle/>
          <a:p>
            <a:pPr algn="l"/>
            <a:r>
              <a:rPr sz="1100" b="1" i="0">
                <a:solidFill>
                  <a:srgbClr val="C0392B"/>
                </a:solidFill>
                <a:latin typeface="Arial"/>
              </a:rPr>
              <a:t>HAY NGHĨ</a:t>
            </a:r>
          </a:p>
        </p:txBody>
      </p:sp>
      <p:sp>
        <p:nvSpPr>
          <p:cNvPr id="5" name="TextBox 4"/>
          <p:cNvSpPr txBox="1"/>
          <p:nvPr/>
        </p:nvSpPr>
        <p:spPr>
          <a:xfrm>
            <a:off x="4892040" y="1417320"/>
            <a:ext cx="5696712" cy="365760"/>
          </a:xfrm>
          <a:prstGeom prst="rect">
            <a:avLst/>
          </a:prstGeom>
          <a:noFill/>
        </p:spPr>
        <p:txBody>
          <a:bodyPr wrap="square" lIns="0" rIns="0" tIns="0" bIns="0" anchor="t">
            <a:spAutoFit/>
          </a:bodyPr>
          <a:lstStyle/>
          <a:p>
            <a:pPr algn="l"/>
            <a:r>
              <a:rPr sz="1100" b="1" i="0">
                <a:solidFill>
                  <a:srgbClr val="1E8449"/>
                </a:solidFill>
                <a:latin typeface="Arial"/>
              </a:rPr>
              <a:t>THẬT RA</a:t>
            </a:r>
          </a:p>
        </p:txBody>
      </p:sp>
      <p:sp>
        <p:nvSpPr>
          <p:cNvPr id="6" name="TextBox 5"/>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828800"/>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28800"/>
            <a:ext cx="3931920" cy="438912"/>
          </a:xfrm>
          <a:prstGeom prst="rect">
            <a:avLst/>
          </a:prstGeom>
          <a:noFill/>
        </p:spPr>
        <p:txBody>
          <a:bodyPr wrap="square" lIns="0" rIns="0" tIns="0" bIns="0" anchor="ctr">
            <a:spAutoFit/>
          </a:bodyPr>
          <a:lstStyle/>
          <a:p>
            <a:pPr algn="l"/>
            <a:r>
              <a:rPr sz="1300" b="1" i="0">
                <a:solidFill>
                  <a:srgbClr val="1B2A41"/>
                </a:solidFill>
                <a:latin typeface="Arial"/>
              </a:rPr>
              <a:t>Outlier là lỗi, xoá đi</a:t>
            </a:r>
          </a:p>
        </p:txBody>
      </p:sp>
      <p:sp>
        <p:nvSpPr>
          <p:cNvPr id="9" name="TextBox 8"/>
          <p:cNvSpPr txBox="1"/>
          <p:nvPr/>
        </p:nvSpPr>
        <p:spPr>
          <a:xfrm>
            <a:off x="4892040" y="1828800"/>
            <a:ext cx="5696712" cy="438912"/>
          </a:xfrm>
          <a:prstGeom prst="rect">
            <a:avLst/>
          </a:prstGeom>
          <a:noFill/>
        </p:spPr>
        <p:txBody>
          <a:bodyPr wrap="square" lIns="0" rIns="0" tIns="0" bIns="0" anchor="ctr">
            <a:spAutoFit/>
          </a:bodyPr>
          <a:lstStyle/>
          <a:p>
            <a:pPr algn="l"/>
            <a:r>
              <a:rPr sz="1300" b="0" i="0">
                <a:solidFill>
                  <a:srgbClr val="1B2A41"/>
                </a:solidFill>
                <a:latin typeface="Arial"/>
              </a:rPr>
              <a:t>Tết là bất thường thật: giữ, ghi nhật ký sự kiện</a:t>
            </a:r>
          </a:p>
        </p:txBody>
      </p:sp>
      <p:sp>
        <p:nvSpPr>
          <p:cNvPr id="10" name="TextBox 9"/>
          <p:cNvSpPr txBox="1"/>
          <p:nvPr/>
        </p:nvSpPr>
        <p:spPr>
          <a:xfrm>
            <a:off x="10863072" y="1828800"/>
            <a:ext cx="64008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1" name="TextBox 10"/>
          <p:cNvSpPr txBox="1"/>
          <p:nvPr/>
        </p:nvSpPr>
        <p:spPr>
          <a:xfrm>
            <a:off x="685800" y="2304288"/>
            <a:ext cx="3931920" cy="438912"/>
          </a:xfrm>
          <a:prstGeom prst="rect">
            <a:avLst/>
          </a:prstGeom>
          <a:noFill/>
        </p:spPr>
        <p:txBody>
          <a:bodyPr wrap="square" lIns="0" rIns="0" tIns="0" bIns="0" anchor="ctr">
            <a:spAutoFit/>
          </a:bodyPr>
          <a:lstStyle/>
          <a:p>
            <a:pPr algn="l"/>
            <a:r>
              <a:rPr sz="1300" b="1" i="0">
                <a:solidFill>
                  <a:srgbClr val="1B2A41"/>
                </a:solidFill>
                <a:latin typeface="Arial"/>
              </a:rPr>
              <a:t>Cắt bỏ giai đoạn COVID là an toàn</a:t>
            </a:r>
          </a:p>
        </p:txBody>
      </p:sp>
      <p:sp>
        <p:nvSpPr>
          <p:cNvPr id="12" name="TextBox 11"/>
          <p:cNvSpPr txBox="1"/>
          <p:nvPr/>
        </p:nvSpPr>
        <p:spPr>
          <a:xfrm>
            <a:off x="4892040" y="2304288"/>
            <a:ext cx="5696712" cy="438912"/>
          </a:xfrm>
          <a:prstGeom prst="rect">
            <a:avLst/>
          </a:prstGeom>
          <a:noFill/>
        </p:spPr>
        <p:txBody>
          <a:bodyPr wrap="square" lIns="0" rIns="0" tIns="0" bIns="0" anchor="ctr">
            <a:spAutoFit/>
          </a:bodyPr>
          <a:lstStyle/>
          <a:p>
            <a:pPr algn="l"/>
            <a:r>
              <a:rPr sz="1300" b="0" i="0">
                <a:solidFill>
                  <a:srgbClr val="1B2A41"/>
                </a:solidFill>
                <a:latin typeface="Arial"/>
              </a:rPr>
              <a:t>Cắt còn 18 tháng: MAPE 18,11%, tệ hơn nội suy (8,71%)</a:t>
            </a:r>
          </a:p>
        </p:txBody>
      </p:sp>
      <p:sp>
        <p:nvSpPr>
          <p:cNvPr id="13" name="TextBox 12"/>
          <p:cNvSpPr txBox="1"/>
          <p:nvPr/>
        </p:nvSpPr>
        <p:spPr>
          <a:xfrm>
            <a:off x="10863072" y="2304288"/>
            <a:ext cx="64008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4" name="Rounded Rectangle 13"/>
          <p:cNvSpPr/>
          <p:nvPr/>
        </p:nvSpPr>
        <p:spPr>
          <a:xfrm>
            <a:off x="548640" y="2779776"/>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79776"/>
            <a:ext cx="3931920" cy="438912"/>
          </a:xfrm>
          <a:prstGeom prst="rect">
            <a:avLst/>
          </a:prstGeom>
          <a:noFill/>
        </p:spPr>
        <p:txBody>
          <a:bodyPr wrap="square" lIns="0" rIns="0" tIns="0" bIns="0" anchor="ctr">
            <a:spAutoFit/>
          </a:bodyPr>
          <a:lstStyle/>
          <a:p>
            <a:pPr algn="l"/>
            <a:r>
              <a:rPr sz="1300" b="1" i="0">
                <a:solidFill>
                  <a:srgbClr val="1B2A41"/>
                </a:solidFill>
                <a:latin typeface="Arial"/>
              </a:rPr>
              <a:t>Khoảng bootstrap = trung bình ± 1,96</a:t>
            </a:r>
          </a:p>
        </p:txBody>
      </p:sp>
      <p:sp>
        <p:nvSpPr>
          <p:cNvPr id="16" name="TextBox 15"/>
          <p:cNvSpPr txBox="1"/>
          <p:nvPr/>
        </p:nvSpPr>
        <p:spPr>
          <a:xfrm>
            <a:off x="4892040" y="2779776"/>
            <a:ext cx="5696712" cy="438912"/>
          </a:xfrm>
          <a:prstGeom prst="rect">
            <a:avLst/>
          </a:prstGeom>
          <a:noFill/>
        </p:spPr>
        <p:txBody>
          <a:bodyPr wrap="square" lIns="0" rIns="0" tIns="0" bIns="0" anchor="ctr">
            <a:spAutoFit/>
          </a:bodyPr>
          <a:lstStyle/>
          <a:p>
            <a:pPr algn="l"/>
            <a:r>
              <a:rPr sz="1300" b="0" i="0">
                <a:solidFill>
                  <a:srgbClr val="1B2A41"/>
                </a:solidFill>
                <a:latin typeface="Arial"/>
              </a:rPr>
              <a:t>Lấy quantile 0,025 và 0,975 của vài nghìn trung bình</a:t>
            </a:r>
          </a:p>
        </p:txBody>
      </p:sp>
      <p:sp>
        <p:nvSpPr>
          <p:cNvPr id="17" name="TextBox 16"/>
          <p:cNvSpPr txBox="1"/>
          <p:nvPr/>
        </p:nvSpPr>
        <p:spPr>
          <a:xfrm>
            <a:off x="10863072" y="2779776"/>
            <a:ext cx="64008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18" name="TextBox 17"/>
          <p:cNvSpPr txBox="1"/>
          <p:nvPr/>
        </p:nvSpPr>
        <p:spPr>
          <a:xfrm>
            <a:off x="685800" y="3255264"/>
            <a:ext cx="3931920" cy="438912"/>
          </a:xfrm>
          <a:prstGeom prst="rect">
            <a:avLst/>
          </a:prstGeom>
          <a:noFill/>
        </p:spPr>
        <p:txBody>
          <a:bodyPr wrap="square" lIns="0" rIns="0" tIns="0" bIns="0" anchor="ctr">
            <a:spAutoFit/>
          </a:bodyPr>
          <a:lstStyle/>
          <a:p>
            <a:pPr algn="l"/>
            <a:r>
              <a:rPr sz="1300" b="1" i="0">
                <a:solidFill>
                  <a:srgbClr val="1B2A41"/>
                </a:solidFill>
                <a:latin typeface="Arial"/>
              </a:rPr>
              <a:t>closed, label là hai dấu ngoặc</a:t>
            </a:r>
          </a:p>
        </p:txBody>
      </p:sp>
      <p:sp>
        <p:nvSpPr>
          <p:cNvPr id="19" name="TextBox 18"/>
          <p:cNvSpPr txBox="1"/>
          <p:nvPr/>
        </p:nvSpPr>
        <p:spPr>
          <a:xfrm>
            <a:off x="4892040" y="3255264"/>
            <a:ext cx="5696712" cy="438912"/>
          </a:xfrm>
          <a:prstGeom prst="rect">
            <a:avLst/>
          </a:prstGeom>
          <a:noFill/>
        </p:spPr>
        <p:txBody>
          <a:bodyPr wrap="square" lIns="0" rIns="0" tIns="0" bIns="0" anchor="ctr">
            <a:spAutoFit/>
          </a:bodyPr>
          <a:lstStyle/>
          <a:p>
            <a:pPr algn="l"/>
            <a:r>
              <a:rPr sz="1300" b="0" i="0">
                <a:solidFill>
                  <a:srgbClr val="1B2A41"/>
                </a:solidFill>
                <a:latin typeface="Arial"/>
              </a:rPr>
              <a:t>closed: mốc biên thuộc khoảng nào; label: tên theo mốc đầu hay cuối</a:t>
            </a:r>
          </a:p>
        </p:txBody>
      </p:sp>
      <p:sp>
        <p:nvSpPr>
          <p:cNvPr id="20" name="TextBox 19"/>
          <p:cNvSpPr txBox="1"/>
          <p:nvPr/>
        </p:nvSpPr>
        <p:spPr>
          <a:xfrm>
            <a:off x="10863072" y="3255264"/>
            <a:ext cx="64008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21" name="Rounded Rectangle 20"/>
          <p:cNvSpPr/>
          <p:nvPr/>
        </p:nvSpPr>
        <p:spPr>
          <a:xfrm>
            <a:off x="548640" y="3730752"/>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30752"/>
            <a:ext cx="3931920" cy="438912"/>
          </a:xfrm>
          <a:prstGeom prst="rect">
            <a:avLst/>
          </a:prstGeom>
          <a:noFill/>
        </p:spPr>
        <p:txBody>
          <a:bodyPr wrap="square" lIns="0" rIns="0" tIns="0" bIns="0" anchor="ctr">
            <a:spAutoFit/>
          </a:bodyPr>
          <a:lstStyle/>
          <a:p>
            <a:pPr algn="l"/>
            <a:r>
              <a:rPr sz="1300" b="1" i="0">
                <a:solidFill>
                  <a:srgbClr val="1B2A41"/>
                </a:solidFill>
                <a:latin typeface="Arial"/>
              </a:rPr>
              <a:t>ADF dừng, KPSS không dừng → dừng quanh xu hướng</a:t>
            </a:r>
          </a:p>
        </p:txBody>
      </p:sp>
      <p:sp>
        <p:nvSpPr>
          <p:cNvPr id="23" name="TextBox 22"/>
          <p:cNvSpPr txBox="1"/>
          <p:nvPr/>
        </p:nvSpPr>
        <p:spPr>
          <a:xfrm>
            <a:off x="4892040" y="3730752"/>
            <a:ext cx="5696712" cy="438912"/>
          </a:xfrm>
          <a:prstGeom prst="rect">
            <a:avLst/>
          </a:prstGeom>
          <a:noFill/>
        </p:spPr>
        <p:txBody>
          <a:bodyPr wrap="square" lIns="0" rIns="0" tIns="0" bIns="0" anchor="ctr">
            <a:spAutoFit/>
          </a:bodyPr>
          <a:lstStyle/>
          <a:p>
            <a:pPr algn="l"/>
            <a:r>
              <a:rPr sz="1300" b="0" i="0">
                <a:solidFill>
                  <a:srgbClr val="1B2A41"/>
                </a:solidFill>
                <a:latin typeface="Arial"/>
              </a:rPr>
              <a:t>Mâu thuẫn: vẽ chuỗi, tìm cú sốc, đổi mức</a:t>
            </a:r>
          </a:p>
        </p:txBody>
      </p:sp>
      <p:sp>
        <p:nvSpPr>
          <p:cNvPr id="24" name="TextBox 23"/>
          <p:cNvSpPr txBox="1"/>
          <p:nvPr/>
        </p:nvSpPr>
        <p:spPr>
          <a:xfrm>
            <a:off x="10863072" y="3730752"/>
            <a:ext cx="64008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5" name="TextBox 24"/>
          <p:cNvSpPr txBox="1"/>
          <p:nvPr/>
        </p:nvSpPr>
        <p:spPr>
          <a:xfrm>
            <a:off x="685800" y="4206240"/>
            <a:ext cx="3931920" cy="438912"/>
          </a:xfrm>
          <a:prstGeom prst="rect">
            <a:avLst/>
          </a:prstGeom>
          <a:noFill/>
        </p:spPr>
        <p:txBody>
          <a:bodyPr wrap="square" lIns="0" rIns="0" tIns="0" bIns="0" anchor="ctr">
            <a:spAutoFit/>
          </a:bodyPr>
          <a:lstStyle/>
          <a:p>
            <a:pPr algn="l"/>
            <a:r>
              <a:rPr sz="1300" b="1" i="0">
                <a:solidFill>
                  <a:srgbClr val="1B2A41"/>
                </a:solidFill>
                <a:latin typeface="Arial"/>
              </a:rPr>
              <a:t>MASE so được độ khó giữa các chuỗi</a:t>
            </a:r>
          </a:p>
        </p:txBody>
      </p:sp>
      <p:sp>
        <p:nvSpPr>
          <p:cNvPr id="26" name="TextBox 25"/>
          <p:cNvSpPr txBox="1"/>
          <p:nvPr/>
        </p:nvSpPr>
        <p:spPr>
          <a:xfrm>
            <a:off x="4892040" y="4206240"/>
            <a:ext cx="5696712" cy="438912"/>
          </a:xfrm>
          <a:prstGeom prst="rect">
            <a:avLst/>
          </a:prstGeom>
          <a:noFill/>
        </p:spPr>
        <p:txBody>
          <a:bodyPr wrap="square" lIns="0" rIns="0" tIns="0" bIns="0" anchor="ctr">
            <a:spAutoFit/>
          </a:bodyPr>
          <a:lstStyle/>
          <a:p>
            <a:pPr algn="l"/>
            <a:r>
              <a:rPr sz="1300" b="0" i="0">
                <a:solidFill>
                  <a:srgbClr val="1B2A41"/>
                </a:solidFill>
                <a:latin typeface="Arial"/>
              </a:rPr>
              <a:t>MASE chia cho naive của chính chuỗi: độ khó bị triệt tiêu</a:t>
            </a:r>
          </a:p>
        </p:txBody>
      </p:sp>
      <p:sp>
        <p:nvSpPr>
          <p:cNvPr id="27" name="TextBox 26"/>
          <p:cNvSpPr txBox="1"/>
          <p:nvPr/>
        </p:nvSpPr>
        <p:spPr>
          <a:xfrm>
            <a:off x="10863072" y="4206240"/>
            <a:ext cx="64008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28" name="Rounded Rectangle 27"/>
          <p:cNvSpPr/>
          <p:nvPr/>
        </p:nvSpPr>
        <p:spPr>
          <a:xfrm>
            <a:off x="548640" y="4681728"/>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681728"/>
            <a:ext cx="3931920" cy="438912"/>
          </a:xfrm>
          <a:prstGeom prst="rect">
            <a:avLst/>
          </a:prstGeom>
          <a:noFill/>
        </p:spPr>
        <p:txBody>
          <a:bodyPr wrap="square" lIns="0" rIns="0" tIns="0" bIns="0" anchor="ctr">
            <a:spAutoFit/>
          </a:bodyPr>
          <a:lstStyle/>
          <a:p>
            <a:pPr algn="l"/>
            <a:r>
              <a:rPr sz="1300" b="1" i="0">
                <a:solidFill>
                  <a:srgbClr val="1B2A41"/>
                </a:solidFill>
                <a:latin typeface="Arial"/>
              </a:rPr>
              <a:t>CV cao = khó dự báo</a:t>
            </a:r>
          </a:p>
        </p:txBody>
      </p:sp>
      <p:sp>
        <p:nvSpPr>
          <p:cNvPr id="30" name="TextBox 29"/>
          <p:cNvSpPr txBox="1"/>
          <p:nvPr/>
        </p:nvSpPr>
        <p:spPr>
          <a:xfrm>
            <a:off x="4892040" y="4681728"/>
            <a:ext cx="5696712" cy="438912"/>
          </a:xfrm>
          <a:prstGeom prst="rect">
            <a:avLst/>
          </a:prstGeom>
          <a:noFill/>
        </p:spPr>
        <p:txBody>
          <a:bodyPr wrap="square" lIns="0" rIns="0" tIns="0" bIns="0" anchor="ctr">
            <a:spAutoFit/>
          </a:bodyPr>
          <a:lstStyle/>
          <a:p>
            <a:pPr algn="l"/>
            <a:r>
              <a:rPr sz="1300" b="0" i="0">
                <a:solidFill>
                  <a:srgbClr val="1B2A41"/>
                </a:solidFill>
                <a:latin typeface="Arial"/>
              </a:rPr>
              <a:t>10, 30, 10, 30: CV 0,58 mà dễ đoán; đo bằng sai số baseline</a:t>
            </a:r>
          </a:p>
        </p:txBody>
      </p:sp>
      <p:sp>
        <p:nvSpPr>
          <p:cNvPr id="31" name="TextBox 30"/>
          <p:cNvSpPr txBox="1"/>
          <p:nvPr/>
        </p:nvSpPr>
        <p:spPr>
          <a:xfrm>
            <a:off x="10863072" y="4681728"/>
            <a:ext cx="64008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32" name="TextBox 31"/>
          <p:cNvSpPr txBox="1"/>
          <p:nvPr/>
        </p:nvSpPr>
        <p:spPr>
          <a:xfrm>
            <a:off x="685800" y="5157216"/>
            <a:ext cx="3931920" cy="438912"/>
          </a:xfrm>
          <a:prstGeom prst="rect">
            <a:avLst/>
          </a:prstGeom>
          <a:noFill/>
        </p:spPr>
        <p:txBody>
          <a:bodyPr wrap="square" lIns="0" rIns="0" tIns="0" bIns="0" anchor="ctr">
            <a:spAutoFit/>
          </a:bodyPr>
          <a:lstStyle/>
          <a:p>
            <a:pPr algn="l"/>
            <a:r>
              <a:rPr sz="1300" b="1" i="0">
                <a:solidFill>
                  <a:srgbClr val="1B2A41"/>
                </a:solidFill>
                <a:latin typeface="Arial"/>
              </a:rPr>
              <a:t>Kiểm bộ lọc = chia train / val</a:t>
            </a:r>
          </a:p>
        </p:txBody>
      </p:sp>
      <p:sp>
        <p:nvSpPr>
          <p:cNvPr id="33" name="TextBox 32"/>
          <p:cNvSpPr txBox="1"/>
          <p:nvPr/>
        </p:nvSpPr>
        <p:spPr>
          <a:xfrm>
            <a:off x="4892040" y="5157216"/>
            <a:ext cx="5696712" cy="438912"/>
          </a:xfrm>
          <a:prstGeom prst="rect">
            <a:avLst/>
          </a:prstGeom>
          <a:noFill/>
        </p:spPr>
        <p:txBody>
          <a:bodyPr wrap="square" lIns="0" rIns="0" tIns="0" bIns="0" anchor="ctr">
            <a:spAutoFit/>
          </a:bodyPr>
          <a:lstStyle/>
          <a:p>
            <a:pPr algn="l"/>
            <a:r>
              <a:rPr sz="1300" b="0" i="0">
                <a:solidFill>
                  <a:srgbClr val="1B2A41"/>
                </a:solidFill>
                <a:latin typeface="Arial"/>
              </a:rPr>
              <a:t>Đổi vài điểm cuối rồi chạy lại: quá khứ không được đổi</a:t>
            </a:r>
          </a:p>
        </p:txBody>
      </p:sp>
      <p:sp>
        <p:nvSpPr>
          <p:cNvPr id="34" name="TextBox 33"/>
          <p:cNvSpPr txBox="1"/>
          <p:nvPr/>
        </p:nvSpPr>
        <p:spPr>
          <a:xfrm>
            <a:off x="10863072" y="5157216"/>
            <a:ext cx="64008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35" name="Rounded Rectangle 34"/>
          <p:cNvSpPr/>
          <p:nvPr/>
        </p:nvSpPr>
        <p:spPr>
          <a:xfrm>
            <a:off x="548640" y="5632704"/>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632704"/>
            <a:ext cx="3931920" cy="438912"/>
          </a:xfrm>
          <a:prstGeom prst="rect">
            <a:avLst/>
          </a:prstGeom>
          <a:noFill/>
        </p:spPr>
        <p:txBody>
          <a:bodyPr wrap="square" lIns="0" rIns="0" tIns="0" bIns="0" anchor="ctr">
            <a:spAutoFit/>
          </a:bodyPr>
          <a:lstStyle/>
          <a:p>
            <a:pPr algn="l"/>
            <a:r>
              <a:rPr sz="1300" b="1" i="0">
                <a:solidFill>
                  <a:srgbClr val="1B2A41"/>
                </a:solidFill>
                <a:latin typeface="Arial"/>
              </a:rPr>
              <a:t>MASE &lt; 1 là thắng seasonal naive</a:t>
            </a:r>
          </a:p>
        </p:txBody>
      </p:sp>
      <p:sp>
        <p:nvSpPr>
          <p:cNvPr id="37" name="TextBox 36"/>
          <p:cNvSpPr txBox="1"/>
          <p:nvPr/>
        </p:nvSpPr>
        <p:spPr>
          <a:xfrm>
            <a:off x="4892040" y="5632704"/>
            <a:ext cx="5696712" cy="438912"/>
          </a:xfrm>
          <a:prstGeom prst="rect">
            <a:avLst/>
          </a:prstGeom>
          <a:noFill/>
        </p:spPr>
        <p:txBody>
          <a:bodyPr wrap="square" lIns="0" rIns="0" tIns="0" bIns="0" anchor="ctr">
            <a:spAutoFit/>
          </a:bodyPr>
          <a:lstStyle/>
          <a:p>
            <a:pPr algn="l"/>
            <a:r>
              <a:rPr sz="1300" b="0" i="0">
                <a:solidFill>
                  <a:srgbClr val="1B2A41"/>
                </a:solidFill>
                <a:latin typeface="Arial"/>
              </a:rPr>
              <a:t>Mẫu số đo trên phần học; muốn biết thì chạy baseline trên cùng kỳ chấm</a:t>
            </a:r>
          </a:p>
        </p:txBody>
      </p:sp>
      <p:sp>
        <p:nvSpPr>
          <p:cNvPr id="38" name="TextBox 37"/>
          <p:cNvSpPr txBox="1"/>
          <p:nvPr/>
        </p:nvSpPr>
        <p:spPr>
          <a:xfrm>
            <a:off x="10863072" y="5632704"/>
            <a:ext cx="64008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39" name="TextBox 38"/>
          <p:cNvSpPr txBox="1"/>
          <p:nvPr/>
        </p:nvSpPr>
        <p:spPr>
          <a:xfrm>
            <a:off x="685800" y="6108192"/>
            <a:ext cx="3931920" cy="438912"/>
          </a:xfrm>
          <a:prstGeom prst="rect">
            <a:avLst/>
          </a:prstGeom>
          <a:noFill/>
        </p:spPr>
        <p:txBody>
          <a:bodyPr wrap="square" lIns="0" rIns="0" tIns="0" bIns="0" anchor="ctr">
            <a:spAutoFit/>
          </a:bodyPr>
          <a:lstStyle/>
          <a:p>
            <a:pPr algn="l"/>
            <a:r>
              <a:rPr sz="1300" b="1" i="0">
                <a:solidFill>
                  <a:srgbClr val="1B2A41"/>
                </a:solidFill>
                <a:latin typeface="Arial"/>
              </a:rPr>
              <a:t>Chỉ cần thắng seasonal naive</a:t>
            </a:r>
          </a:p>
        </p:txBody>
      </p:sp>
      <p:sp>
        <p:nvSpPr>
          <p:cNvPr id="40" name="TextBox 39"/>
          <p:cNvSpPr txBox="1"/>
          <p:nvPr/>
        </p:nvSpPr>
        <p:spPr>
          <a:xfrm>
            <a:off x="4892040" y="6108192"/>
            <a:ext cx="5696712" cy="438912"/>
          </a:xfrm>
          <a:prstGeom prst="rect">
            <a:avLst/>
          </a:prstGeom>
          <a:noFill/>
        </p:spPr>
        <p:txBody>
          <a:bodyPr wrap="square" lIns="0" rIns="0" tIns="0" bIns="0" anchor="ctr">
            <a:spAutoFit/>
          </a:bodyPr>
          <a:lstStyle/>
          <a:p>
            <a:pPr algn="l"/>
            <a:r>
              <a:rPr sz="1300" b="0" i="0">
                <a:solidFill>
                  <a:srgbClr val="1B2A41"/>
                </a:solidFill>
                <a:latin typeface="Arial"/>
              </a:rPr>
              <a:t>Phải thắng cả bốn baseline: trên M4 ngày, naive và drift thắng seasonal naive</a:t>
            </a:r>
          </a:p>
        </p:txBody>
      </p:sp>
      <p:sp>
        <p:nvSpPr>
          <p:cNvPr id="41" name="TextBox 40"/>
          <p:cNvSpPr txBox="1"/>
          <p:nvPr/>
        </p:nvSpPr>
        <p:spPr>
          <a:xfrm>
            <a:off x="10863072" y="6108192"/>
            <a:ext cx="64008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1/5: nền móng, hiểu dữ liệu</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gốc dự báo, mốc cắt</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forecast origin, cutoff</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tầm dự báo h</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forecast horizon</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dự báo cuốn</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rolling forecast</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ảo</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in-sample error</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quantile, trung vị</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quantile, median</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pinball loss</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pinball / quantile loss</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tỷ lệ phủ</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coverage</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block bootstrap</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block bootstrap</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giờ mùa hè</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daylight saving time (DST)</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timestamp naive / aware</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naive / aware timestamp</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định dạng dài / rộng</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long / wide format</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gộp tần suất</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resample, aggregate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xu hướng</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trend</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mùa vụ, mùa vụ kép</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seasonality, multiple seasonality</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chu kỳ</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cycle</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tương quan</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autocorrelation (ACF)</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điều chỉnh lịch</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calendar adjustment</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giá thực / danh nghĩa</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real / nominal value</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hiệu chỉnh bias</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bias adjustment (back-transform)</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rã cộng / nhân</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additive / multiplicative decomposition</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2/5: dừng, làm sạch</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phần dư</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residual, remainder</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tương quan riêng</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partial autocorrelation (PACF)</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nhiễu trắng</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white noise</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tính dừng</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stationarity</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bước ngẫu nhiên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random walk</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sai phân</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differencing</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định nghiệm đơn vị</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unit root test (ADF, KPSS)</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tương quan giả</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spurious correlation</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tương quan chéo</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cross-correlation (CCF)</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prewhitening</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prewhitening</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biến ngoại sinh</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exogenous variable, covariate</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đặc trưng chuỗi</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time series feature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hệ số biến thiên</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coefficient of variation (CV)</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thiếu mốc / thiếu giá trị</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missing timestamp / value</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điền dữ liệu</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imputation</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mã trá hình</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sentinel value</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cột cờ</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flag column</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cảm biến đứng yên</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stuck sensor</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thiếu MCAR / MAR / MNAR</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missing completely at random / at random / not at random</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ngoại lai</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outlier</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3/5: rò rỉ, đánh giá</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che khuất / gắn cờ oan</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masking / swamping</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lệch tuyệt đối trung vị</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median absolute deviation (MAD)</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điểm gãy</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structural break, changepoint</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nhật ký sự kiện, biến giả</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event log, dummy variable</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bộ lọc nhân quả</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causal filter</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tần số Nyquist</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Nyquist frequency</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rò rỉ tương lai</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data leakage, look-ahead bias</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feature trễ / cửa sổ trượt</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lag / rolling feature</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point-in-time</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point-in-time</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trong mẫu / ngoài mẫu</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in-sample / out-of-sample</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tuyệt đối trung bình</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mean absolute error (MAE)</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căn sai số bình phương TB</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root mean squared error (RMSE)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chệch</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mean error (bias)</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có chia thang</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scaled error (MASE, RMSSE)</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backtest</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backtest</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rolling origin</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rolling origin, time series cross-validation</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cửa sổ mở rộng / trượt</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expanding / sliding window</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khoảng đệm</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gap</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tập giữ lại</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hold-out set</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định Diebold–Mariano</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Diebold–Mariano test</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4/5: xác suất, biểu đồ, biến đổi</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dự báo điểm / phân phối</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point / probabilistic forecast</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bài toán newsvendor</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newsvendor problem</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hàm phân phối tích luỹ</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cumulative distribution function (CDF)</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chuẩn</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normal distribution</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hệ số lệch / độ nhọn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skewness / kurtosis</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2, 9</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khoảng tin cậy</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confidence interval</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mức ý nghĩa α</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significance level</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định lý giới hạn trung tâm</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central limit theorem (CLT)</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hồi quy bậc một</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autoregressive model AR(1)</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2, 7</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cỡ mẫu hiệu dụng</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effective sample size</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hạt giống ngẫu nhiên</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random seed</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chuỗi đều / không đều</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regular / irregular time series</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chu kỳ mùa vụ m</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seasonal period</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trục kép / trục y cắt</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dual axis / truncated y-axis</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thang log</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log scale</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năm gốc</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base year (CPI)</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trên đầu người</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per capita</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log-normal</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log-normal distribution</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trung bình trượt 2×m</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2×m moving average (2×m-MA)</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mạnh mùa vụ</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strength of seasonality F_S</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5/5: tương quan, làm sạch, bộ lọc</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hồi quy đơn, R²</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simple regression, R-squared</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hoán vị theo khối</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block permutation</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biến gây nhiễu</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confounder</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2, 8</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cụm Ward</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Ward hierarchical clustering</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nhu cầu gián đoạn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intermittent demand</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9, 19</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trần cảm biến</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sensor ceiling / saturation</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phân giải</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measurement resolution</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nội suy spline</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spline interpolation</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che nhân tạo</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artificial masking</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Kalman filter / smoother</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Kalman filter / smoother</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10, 12</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winsorize</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winsorizing</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CUSUM, CROPS</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CUSUM, CROPS (penalty scan)</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hàm chi phí</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cost function</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tần số lấy mẫu</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sampling frequency f_s</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periodogram, Welch</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periodogram, Welch method</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wavelet</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wavelet denoising</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nhiễu mục tiêu</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target-noise test</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mã hoá target</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target encoding</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hiệp phương sai</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autocovariance</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t</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Student's t-distribution</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Thư viện dùng trong 15 buổi</a:t>
            </a:r>
          </a:p>
        </p:txBody>
      </p:sp>
      <p:sp>
        <p:nvSpPr>
          <p:cNvPr id="4" name="TextBox 3"/>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mỗi thư viện là gì và lo phần nào, trước khi đọc code của từng buổi.</a:t>
            </a:r>
          </a:p>
        </p:txBody>
      </p:sp>
      <p:sp>
        <p:nvSpPr>
          <p:cNvPr id="5" name="TextBox 4"/>
          <p:cNvSpPr txBox="1"/>
          <p:nvPr/>
        </p:nvSpPr>
        <p:spPr>
          <a:xfrm>
            <a:off x="685800" y="1188720"/>
            <a:ext cx="1737360" cy="365760"/>
          </a:xfrm>
          <a:prstGeom prst="rect">
            <a:avLst/>
          </a:prstGeom>
          <a:noFill/>
        </p:spPr>
        <p:txBody>
          <a:bodyPr wrap="square" lIns="0" rIns="0" tIns="0" bIns="0" anchor="t">
            <a:spAutoFit/>
          </a:bodyPr>
          <a:lstStyle/>
          <a:p>
            <a:pPr algn="l"/>
            <a:r>
              <a:rPr sz="1100" b="1" i="0">
                <a:solidFill>
                  <a:srgbClr val="A77B06"/>
                </a:solidFill>
                <a:latin typeface="Arial"/>
              </a:rPr>
              <a:t>THƯ VIỆN</a:t>
            </a:r>
          </a:p>
        </p:txBody>
      </p:sp>
      <p:sp>
        <p:nvSpPr>
          <p:cNvPr id="6" name="TextBox 5"/>
          <p:cNvSpPr txBox="1"/>
          <p:nvPr/>
        </p:nvSpPr>
        <p:spPr>
          <a:xfrm>
            <a:off x="2697480" y="1188720"/>
            <a:ext cx="32918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7" name="TextBox 6"/>
          <p:cNvSpPr txBox="1"/>
          <p:nvPr/>
        </p:nvSpPr>
        <p:spPr>
          <a:xfrm>
            <a:off x="6263640" y="1188720"/>
            <a:ext cx="4297680" cy="365760"/>
          </a:xfrm>
          <a:prstGeom prst="rect">
            <a:avLst/>
          </a:prstGeom>
          <a:noFill/>
        </p:spPr>
        <p:txBody>
          <a:bodyPr wrap="square" lIns="0" rIns="0" tIns="0" bIns="0" anchor="t">
            <a:spAutoFit/>
          </a:bodyPr>
          <a:lstStyle/>
          <a:p>
            <a:pPr algn="l"/>
            <a:r>
              <a:rPr sz="1100" b="1" i="0">
                <a:solidFill>
                  <a:srgbClr val="5B6778"/>
                </a:solidFill>
                <a:latin typeface="Arial"/>
              </a:rPr>
              <a:t>HÀM HAY GẶP</a:t>
            </a:r>
          </a:p>
        </p:txBody>
      </p:sp>
      <p:sp>
        <p:nvSpPr>
          <p:cNvPr id="8" name="TextBox 7"/>
          <p:cNvSpPr txBox="1"/>
          <p:nvPr/>
        </p:nvSpPr>
        <p:spPr>
          <a:xfrm>
            <a:off x="10835640" y="1188720"/>
            <a:ext cx="667512"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9" name="Rounded Rectangle 8"/>
          <p:cNvSpPr/>
          <p:nvPr/>
        </p:nvSpPr>
        <p:spPr>
          <a:xfrm>
            <a:off x="548639" y="1600200"/>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1600200"/>
            <a:ext cx="1737360" cy="530352"/>
          </a:xfrm>
          <a:prstGeom prst="rect">
            <a:avLst/>
          </a:prstGeom>
          <a:noFill/>
        </p:spPr>
        <p:txBody>
          <a:bodyPr wrap="square" lIns="0" rIns="0" tIns="0" bIns="0" anchor="ctr">
            <a:spAutoFit/>
          </a:bodyPr>
          <a:lstStyle/>
          <a:p>
            <a:pPr algn="l"/>
            <a:r>
              <a:rPr sz="1200" b="1" i="0">
                <a:solidFill>
                  <a:srgbClr val="1B2A41"/>
                </a:solidFill>
                <a:latin typeface="Arial"/>
              </a:rPr>
              <a:t>pandas</a:t>
            </a:r>
          </a:p>
        </p:txBody>
      </p:sp>
      <p:sp>
        <p:nvSpPr>
          <p:cNvPr id="11" name="TextBox 10"/>
          <p:cNvSpPr txBox="1"/>
          <p:nvPr/>
        </p:nvSpPr>
        <p:spPr>
          <a:xfrm>
            <a:off x="2697479" y="1600200"/>
            <a:ext cx="3291840" cy="530352"/>
          </a:xfrm>
          <a:prstGeom prst="rect">
            <a:avLst/>
          </a:prstGeom>
          <a:noFill/>
        </p:spPr>
        <p:txBody>
          <a:bodyPr wrap="square" lIns="0" rIns="0" tIns="0" bIns="0" anchor="ctr">
            <a:spAutoFit/>
          </a:bodyPr>
          <a:lstStyle/>
          <a:p>
            <a:pPr algn="l"/>
            <a:r>
              <a:rPr sz="1200" b="0" i="0">
                <a:solidFill>
                  <a:srgbClr val="1B2A41"/>
                </a:solidFill>
                <a:latin typeface="Arial"/>
              </a:rPr>
              <a:t>Bảng dữ liệu theo thời gian: đọc, lọc, gộp, dời</a:t>
            </a:r>
          </a:p>
        </p:txBody>
      </p:sp>
      <p:sp>
        <p:nvSpPr>
          <p:cNvPr id="12" name="TextBox 11"/>
          <p:cNvSpPr txBox="1"/>
          <p:nvPr/>
        </p:nvSpPr>
        <p:spPr>
          <a:xfrm>
            <a:off x="6263639" y="1600200"/>
            <a:ext cx="4297680" cy="530352"/>
          </a:xfrm>
          <a:prstGeom prst="rect">
            <a:avLst/>
          </a:prstGeom>
          <a:noFill/>
        </p:spPr>
        <p:txBody>
          <a:bodyPr wrap="square" lIns="0" rIns="0" tIns="0" bIns="0" anchor="ctr">
            <a:spAutoFit/>
          </a:bodyPr>
          <a:lstStyle/>
          <a:p>
            <a:pPr algn="l"/>
            <a:r>
              <a:rPr sz="1200" b="0" i="0">
                <a:solidFill>
                  <a:srgbClr val="1B2A41"/>
                </a:solidFill>
                <a:latin typeface="Arial"/>
              </a:rPr>
              <a:t>date_range, reindex, resample, shift, rolling, merge_asof</a:t>
            </a:r>
          </a:p>
        </p:txBody>
      </p:sp>
      <p:sp>
        <p:nvSpPr>
          <p:cNvPr id="13" name="TextBox 12"/>
          <p:cNvSpPr txBox="1"/>
          <p:nvPr/>
        </p:nvSpPr>
        <p:spPr>
          <a:xfrm>
            <a:off x="10835639" y="1600200"/>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
        <p:nvSpPr>
          <p:cNvPr id="14" name="TextBox 13"/>
          <p:cNvSpPr txBox="1"/>
          <p:nvPr/>
        </p:nvSpPr>
        <p:spPr>
          <a:xfrm>
            <a:off x="685799" y="2167128"/>
            <a:ext cx="1737360" cy="530352"/>
          </a:xfrm>
          <a:prstGeom prst="rect">
            <a:avLst/>
          </a:prstGeom>
          <a:noFill/>
        </p:spPr>
        <p:txBody>
          <a:bodyPr wrap="square" lIns="0" rIns="0" tIns="0" bIns="0" anchor="ctr">
            <a:spAutoFit/>
          </a:bodyPr>
          <a:lstStyle/>
          <a:p>
            <a:pPr algn="l"/>
            <a:r>
              <a:rPr sz="1200" b="1" i="0">
                <a:solidFill>
                  <a:srgbClr val="1B2A41"/>
                </a:solidFill>
                <a:latin typeface="Arial"/>
              </a:rPr>
              <a:t>NumPy</a:t>
            </a:r>
          </a:p>
        </p:txBody>
      </p:sp>
      <p:sp>
        <p:nvSpPr>
          <p:cNvPr id="15" name="TextBox 14"/>
          <p:cNvSpPr txBox="1"/>
          <p:nvPr/>
        </p:nvSpPr>
        <p:spPr>
          <a:xfrm>
            <a:off x="2697479" y="2167128"/>
            <a:ext cx="3291840" cy="530352"/>
          </a:xfrm>
          <a:prstGeom prst="rect">
            <a:avLst/>
          </a:prstGeom>
          <a:noFill/>
        </p:spPr>
        <p:txBody>
          <a:bodyPr wrap="square" lIns="0" rIns="0" tIns="0" bIns="0" anchor="ctr">
            <a:spAutoFit/>
          </a:bodyPr>
          <a:lstStyle/>
          <a:p>
            <a:pPr algn="l"/>
            <a:r>
              <a:rPr sz="1200" b="0" i="0">
                <a:solidFill>
                  <a:srgbClr val="1B2A41"/>
                </a:solidFill>
                <a:latin typeface="Arial"/>
              </a:rPr>
              <a:t>Tính toán trên mảng số</a:t>
            </a:r>
          </a:p>
        </p:txBody>
      </p:sp>
      <p:sp>
        <p:nvSpPr>
          <p:cNvPr id="16" name="TextBox 15"/>
          <p:cNvSpPr txBox="1"/>
          <p:nvPr/>
        </p:nvSpPr>
        <p:spPr>
          <a:xfrm>
            <a:off x="6263639" y="2167128"/>
            <a:ext cx="4297680" cy="530352"/>
          </a:xfrm>
          <a:prstGeom prst="rect">
            <a:avLst/>
          </a:prstGeom>
          <a:noFill/>
        </p:spPr>
        <p:txBody>
          <a:bodyPr wrap="square" lIns="0" rIns="0" tIns="0" bIns="0" anchor="ctr">
            <a:spAutoFit/>
          </a:bodyPr>
          <a:lstStyle/>
          <a:p>
            <a:pPr algn="l"/>
            <a:r>
              <a:rPr sz="1200" b="0" i="0">
                <a:solidFill>
                  <a:srgbClr val="1B2A41"/>
                </a:solidFill>
                <a:latin typeface="Arial"/>
              </a:rPr>
              <a:t>quantile, log, sqrt, abs, mean</a:t>
            </a:r>
          </a:p>
        </p:txBody>
      </p:sp>
      <p:sp>
        <p:nvSpPr>
          <p:cNvPr id="17" name="TextBox 16"/>
          <p:cNvSpPr txBox="1"/>
          <p:nvPr/>
        </p:nvSpPr>
        <p:spPr>
          <a:xfrm>
            <a:off x="10835639" y="2167128"/>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
        <p:nvSpPr>
          <p:cNvPr id="18" name="Rounded Rectangle 17"/>
          <p:cNvSpPr/>
          <p:nvPr/>
        </p:nvSpPr>
        <p:spPr>
          <a:xfrm>
            <a:off x="548639" y="2734056"/>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 y="2734056"/>
            <a:ext cx="1737360" cy="530352"/>
          </a:xfrm>
          <a:prstGeom prst="rect">
            <a:avLst/>
          </a:prstGeom>
          <a:noFill/>
        </p:spPr>
        <p:txBody>
          <a:bodyPr wrap="square" lIns="0" rIns="0" tIns="0" bIns="0" anchor="ctr">
            <a:spAutoFit/>
          </a:bodyPr>
          <a:lstStyle/>
          <a:p>
            <a:pPr algn="l"/>
            <a:r>
              <a:rPr sz="1200" b="1" i="0">
                <a:solidFill>
                  <a:srgbClr val="1B2A41"/>
                </a:solidFill>
                <a:latin typeface="Arial"/>
              </a:rPr>
              <a:t>statsmodels</a:t>
            </a:r>
          </a:p>
        </p:txBody>
      </p:sp>
      <p:sp>
        <p:nvSpPr>
          <p:cNvPr id="20" name="TextBox 19"/>
          <p:cNvSpPr txBox="1"/>
          <p:nvPr/>
        </p:nvSpPr>
        <p:spPr>
          <a:xfrm>
            <a:off x="2697479" y="2734056"/>
            <a:ext cx="3291840" cy="530352"/>
          </a:xfrm>
          <a:prstGeom prst="rect">
            <a:avLst/>
          </a:prstGeom>
          <a:noFill/>
        </p:spPr>
        <p:txBody>
          <a:bodyPr wrap="square" lIns="0" rIns="0" tIns="0" bIns="0" anchor="ctr">
            <a:spAutoFit/>
          </a:bodyPr>
          <a:lstStyle/>
          <a:p>
            <a:pPr algn="l"/>
            <a:r>
              <a:rPr sz="1200" b="0" i="0">
                <a:solidFill>
                  <a:srgbClr val="1B2A41"/>
                </a:solidFill>
                <a:latin typeface="Arial"/>
              </a:rPr>
              <a:t>Thống kê và chuỗi thời gian</a:t>
            </a:r>
          </a:p>
        </p:txBody>
      </p:sp>
      <p:sp>
        <p:nvSpPr>
          <p:cNvPr id="21" name="TextBox 20"/>
          <p:cNvSpPr txBox="1"/>
          <p:nvPr/>
        </p:nvSpPr>
        <p:spPr>
          <a:xfrm>
            <a:off x="6263639" y="2734056"/>
            <a:ext cx="4297680" cy="530352"/>
          </a:xfrm>
          <a:prstGeom prst="rect">
            <a:avLst/>
          </a:prstGeom>
          <a:noFill/>
        </p:spPr>
        <p:txBody>
          <a:bodyPr wrap="square" lIns="0" rIns="0" tIns="0" bIns="0" anchor="ctr">
            <a:spAutoFit/>
          </a:bodyPr>
          <a:lstStyle/>
          <a:p>
            <a:pPr algn="l"/>
            <a:r>
              <a:rPr sz="1200" b="0" i="0">
                <a:solidFill>
                  <a:srgbClr val="1B2A41"/>
                </a:solidFill>
                <a:latin typeface="Arial"/>
              </a:rPr>
              <a:t>acf, pacf, adfuller, kpss, STL, MSTL</a:t>
            </a:r>
          </a:p>
        </p:txBody>
      </p:sp>
      <p:sp>
        <p:nvSpPr>
          <p:cNvPr id="22" name="TextBox 21"/>
          <p:cNvSpPr txBox="1"/>
          <p:nvPr/>
        </p:nvSpPr>
        <p:spPr>
          <a:xfrm>
            <a:off x="10835639" y="2734056"/>
            <a:ext cx="667512" cy="530352"/>
          </a:xfrm>
          <a:prstGeom prst="rect">
            <a:avLst/>
          </a:prstGeom>
          <a:noFill/>
        </p:spPr>
        <p:txBody>
          <a:bodyPr wrap="square" lIns="0" rIns="0" tIns="0" bIns="0" anchor="ctr">
            <a:spAutoFit/>
          </a:bodyPr>
          <a:lstStyle/>
          <a:p>
            <a:pPr algn="l"/>
            <a:r>
              <a:rPr sz="1200" b="0" i="0">
                <a:solidFill>
                  <a:srgbClr val="5B6778"/>
                </a:solidFill>
                <a:latin typeface="Arial"/>
              </a:rPr>
              <a:t>6–10, 12</a:t>
            </a:r>
          </a:p>
        </p:txBody>
      </p:sp>
      <p:sp>
        <p:nvSpPr>
          <p:cNvPr id="23" name="TextBox 22"/>
          <p:cNvSpPr txBox="1"/>
          <p:nvPr/>
        </p:nvSpPr>
        <p:spPr>
          <a:xfrm>
            <a:off x="685799" y="3300984"/>
            <a:ext cx="1737360" cy="530352"/>
          </a:xfrm>
          <a:prstGeom prst="rect">
            <a:avLst/>
          </a:prstGeom>
          <a:noFill/>
        </p:spPr>
        <p:txBody>
          <a:bodyPr wrap="square" lIns="0" rIns="0" tIns="0" bIns="0" anchor="ctr">
            <a:spAutoFit/>
          </a:bodyPr>
          <a:lstStyle/>
          <a:p>
            <a:pPr algn="l"/>
            <a:r>
              <a:rPr sz="1200" b="1" i="0">
                <a:solidFill>
                  <a:srgbClr val="1B2A41"/>
                </a:solidFill>
                <a:latin typeface="Arial"/>
              </a:rPr>
              <a:t>SciPy</a:t>
            </a:r>
          </a:p>
        </p:txBody>
      </p:sp>
      <p:sp>
        <p:nvSpPr>
          <p:cNvPr id="24" name="TextBox 23"/>
          <p:cNvSpPr txBox="1"/>
          <p:nvPr/>
        </p:nvSpPr>
        <p:spPr>
          <a:xfrm>
            <a:off x="2697479" y="3300984"/>
            <a:ext cx="3291840" cy="530352"/>
          </a:xfrm>
          <a:prstGeom prst="rect">
            <a:avLst/>
          </a:prstGeom>
          <a:noFill/>
        </p:spPr>
        <p:txBody>
          <a:bodyPr wrap="square" lIns="0" rIns="0" tIns="0" bIns="0" anchor="ctr">
            <a:spAutoFit/>
          </a:bodyPr>
          <a:lstStyle/>
          <a:p>
            <a:pPr algn="l"/>
            <a:r>
              <a:rPr sz="1200" b="0" i="0">
                <a:solidFill>
                  <a:srgbClr val="1B2A41"/>
                </a:solidFill>
                <a:latin typeface="Arial"/>
              </a:rPr>
              <a:t>Tính toán khoa học: phân phối, bộ lọc</a:t>
            </a:r>
          </a:p>
        </p:txBody>
      </p:sp>
      <p:sp>
        <p:nvSpPr>
          <p:cNvPr id="25" name="TextBox 24"/>
          <p:cNvSpPr txBox="1"/>
          <p:nvPr/>
        </p:nvSpPr>
        <p:spPr>
          <a:xfrm>
            <a:off x="6263639" y="3300984"/>
            <a:ext cx="4297680" cy="530352"/>
          </a:xfrm>
          <a:prstGeom prst="rect">
            <a:avLst/>
          </a:prstGeom>
          <a:noFill/>
        </p:spPr>
        <p:txBody>
          <a:bodyPr wrap="square" lIns="0" rIns="0" tIns="0" bIns="0" anchor="ctr">
            <a:spAutoFit/>
          </a:bodyPr>
          <a:lstStyle/>
          <a:p>
            <a:pPr algn="l"/>
            <a:r>
              <a:rPr sz="1200" b="0" i="0">
                <a:solidFill>
                  <a:srgbClr val="1B2A41"/>
                </a:solidFill>
                <a:latin typeface="Arial"/>
              </a:rPr>
              <a:t>stats.boxcox, pearsonr, spearmanr, signal.welch, sosfilt</a:t>
            </a:r>
          </a:p>
        </p:txBody>
      </p:sp>
      <p:sp>
        <p:nvSpPr>
          <p:cNvPr id="26" name="TextBox 25"/>
          <p:cNvSpPr txBox="1"/>
          <p:nvPr/>
        </p:nvSpPr>
        <p:spPr>
          <a:xfrm>
            <a:off x="10835639" y="3300984"/>
            <a:ext cx="667512" cy="530352"/>
          </a:xfrm>
          <a:prstGeom prst="rect">
            <a:avLst/>
          </a:prstGeom>
          <a:noFill/>
        </p:spPr>
        <p:txBody>
          <a:bodyPr wrap="square" lIns="0" rIns="0" tIns="0" bIns="0" anchor="ctr">
            <a:spAutoFit/>
          </a:bodyPr>
          <a:lstStyle/>
          <a:p>
            <a:pPr algn="l"/>
            <a:r>
              <a:rPr sz="1200" b="0" i="0">
                <a:solidFill>
                  <a:srgbClr val="5B6778"/>
                </a:solidFill>
                <a:latin typeface="Arial"/>
              </a:rPr>
              <a:t>5, 7–9, 12</a:t>
            </a:r>
          </a:p>
        </p:txBody>
      </p:sp>
      <p:sp>
        <p:nvSpPr>
          <p:cNvPr id="27" name="Rounded Rectangle 26"/>
          <p:cNvSpPr/>
          <p:nvPr/>
        </p:nvSpPr>
        <p:spPr>
          <a:xfrm>
            <a:off x="548639" y="3867912"/>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799" y="3867912"/>
            <a:ext cx="1737360" cy="530352"/>
          </a:xfrm>
          <a:prstGeom prst="rect">
            <a:avLst/>
          </a:prstGeom>
          <a:noFill/>
        </p:spPr>
        <p:txBody>
          <a:bodyPr wrap="square" lIns="0" rIns="0" tIns="0" bIns="0" anchor="ctr">
            <a:spAutoFit/>
          </a:bodyPr>
          <a:lstStyle/>
          <a:p>
            <a:pPr algn="l"/>
            <a:r>
              <a:rPr sz="1200" b="1" i="0">
                <a:solidFill>
                  <a:srgbClr val="1B2A41"/>
                </a:solidFill>
                <a:latin typeface="Arial"/>
              </a:rPr>
              <a:t>scikit-learn</a:t>
            </a:r>
          </a:p>
        </p:txBody>
      </p:sp>
      <p:sp>
        <p:nvSpPr>
          <p:cNvPr id="29" name="TextBox 28"/>
          <p:cNvSpPr txBox="1"/>
          <p:nvPr/>
        </p:nvSpPr>
        <p:spPr>
          <a:xfrm>
            <a:off x="2697479" y="3867912"/>
            <a:ext cx="3291840" cy="530352"/>
          </a:xfrm>
          <a:prstGeom prst="rect">
            <a:avLst/>
          </a:prstGeom>
          <a:noFill/>
        </p:spPr>
        <p:txBody>
          <a:bodyPr wrap="square" lIns="0" rIns="0" tIns="0" bIns="0" anchor="ctr">
            <a:spAutoFit/>
          </a:bodyPr>
          <a:lstStyle/>
          <a:p>
            <a:pPr algn="l"/>
            <a:r>
              <a:rPr sz="1200" b="0" i="0">
                <a:solidFill>
                  <a:srgbClr val="1B2A41"/>
                </a:solidFill>
                <a:latin typeface="Arial"/>
              </a:rPr>
              <a:t>Học máy: chuẩn hoá, nén chiều, chia tập</a:t>
            </a:r>
          </a:p>
        </p:txBody>
      </p:sp>
      <p:sp>
        <p:nvSpPr>
          <p:cNvPr id="30" name="TextBox 29"/>
          <p:cNvSpPr txBox="1"/>
          <p:nvPr/>
        </p:nvSpPr>
        <p:spPr>
          <a:xfrm>
            <a:off x="6263639" y="3867912"/>
            <a:ext cx="4297680" cy="530352"/>
          </a:xfrm>
          <a:prstGeom prst="rect">
            <a:avLst/>
          </a:prstGeom>
          <a:noFill/>
        </p:spPr>
        <p:txBody>
          <a:bodyPr wrap="square" lIns="0" rIns="0" tIns="0" bIns="0" anchor="ctr">
            <a:spAutoFit/>
          </a:bodyPr>
          <a:lstStyle/>
          <a:p>
            <a:pPr algn="l"/>
            <a:r>
              <a:rPr sz="1200" b="0" i="0">
                <a:solidFill>
                  <a:srgbClr val="1B2A41"/>
                </a:solidFill>
                <a:latin typeface="Arial"/>
              </a:rPr>
              <a:t>StandardScaler, PCA, KFold, mutual_info_regression</a:t>
            </a:r>
          </a:p>
        </p:txBody>
      </p:sp>
      <p:sp>
        <p:nvSpPr>
          <p:cNvPr id="31" name="TextBox 30"/>
          <p:cNvSpPr txBox="1"/>
          <p:nvPr/>
        </p:nvSpPr>
        <p:spPr>
          <a:xfrm>
            <a:off x="10835639" y="3867912"/>
            <a:ext cx="667512" cy="530352"/>
          </a:xfrm>
          <a:prstGeom prst="rect">
            <a:avLst/>
          </a:prstGeom>
          <a:noFill/>
        </p:spPr>
        <p:txBody>
          <a:bodyPr wrap="square" lIns="0" rIns="0" tIns="0" bIns="0" anchor="ctr">
            <a:spAutoFit/>
          </a:bodyPr>
          <a:lstStyle/>
          <a:p>
            <a:pPr algn="l"/>
            <a:r>
              <a:rPr sz="1200" b="0" i="0">
                <a:solidFill>
                  <a:srgbClr val="5B6778"/>
                </a:solidFill>
                <a:latin typeface="Arial"/>
              </a:rPr>
              <a:t>8, 9, 15</a:t>
            </a:r>
          </a:p>
        </p:txBody>
      </p:sp>
      <p:sp>
        <p:nvSpPr>
          <p:cNvPr id="32" name="TextBox 31"/>
          <p:cNvSpPr txBox="1"/>
          <p:nvPr/>
        </p:nvSpPr>
        <p:spPr>
          <a:xfrm>
            <a:off x="685799" y="4434840"/>
            <a:ext cx="1737360" cy="530352"/>
          </a:xfrm>
          <a:prstGeom prst="rect">
            <a:avLst/>
          </a:prstGeom>
          <a:noFill/>
        </p:spPr>
        <p:txBody>
          <a:bodyPr wrap="square" lIns="0" rIns="0" tIns="0" bIns="0" anchor="ctr">
            <a:spAutoFit/>
          </a:bodyPr>
          <a:lstStyle/>
          <a:p>
            <a:pPr algn="l"/>
            <a:r>
              <a:rPr sz="1200" b="1" i="0">
                <a:solidFill>
                  <a:srgbClr val="1B2A41"/>
                </a:solidFill>
                <a:latin typeface="Arial"/>
              </a:rPr>
              <a:t>ruptures</a:t>
            </a:r>
          </a:p>
        </p:txBody>
      </p:sp>
      <p:sp>
        <p:nvSpPr>
          <p:cNvPr id="33" name="TextBox 32"/>
          <p:cNvSpPr txBox="1"/>
          <p:nvPr/>
        </p:nvSpPr>
        <p:spPr>
          <a:xfrm>
            <a:off x="2697479" y="4434840"/>
            <a:ext cx="3291840" cy="530352"/>
          </a:xfrm>
          <a:prstGeom prst="rect">
            <a:avLst/>
          </a:prstGeom>
          <a:noFill/>
        </p:spPr>
        <p:txBody>
          <a:bodyPr wrap="square" lIns="0" rIns="0" tIns="0" bIns="0" anchor="ctr">
            <a:spAutoFit/>
          </a:bodyPr>
          <a:lstStyle/>
          <a:p>
            <a:pPr algn="l"/>
            <a:r>
              <a:rPr sz="1200" b="0" i="0">
                <a:solidFill>
                  <a:srgbClr val="1B2A41"/>
                </a:solidFill>
                <a:latin typeface="Arial"/>
              </a:rPr>
              <a:t>Tìm điểm gãy trong chuỗi</a:t>
            </a:r>
          </a:p>
        </p:txBody>
      </p:sp>
      <p:sp>
        <p:nvSpPr>
          <p:cNvPr id="34" name="TextBox 33"/>
          <p:cNvSpPr txBox="1"/>
          <p:nvPr/>
        </p:nvSpPr>
        <p:spPr>
          <a:xfrm>
            <a:off x="6263639" y="4434840"/>
            <a:ext cx="4297680" cy="530352"/>
          </a:xfrm>
          <a:prstGeom prst="rect">
            <a:avLst/>
          </a:prstGeom>
          <a:noFill/>
        </p:spPr>
        <p:txBody>
          <a:bodyPr wrap="square" lIns="0" rIns="0" tIns="0" bIns="0" anchor="ctr">
            <a:spAutoFit/>
          </a:bodyPr>
          <a:lstStyle/>
          <a:p>
            <a:pPr algn="l"/>
            <a:r>
              <a:rPr sz="1200" b="0" i="0">
                <a:solidFill>
                  <a:srgbClr val="1B2A41"/>
                </a:solidFill>
                <a:latin typeface="Arial"/>
              </a:rPr>
              <a:t>Pelt, predict(pen=…)</a:t>
            </a:r>
          </a:p>
        </p:txBody>
      </p:sp>
      <p:sp>
        <p:nvSpPr>
          <p:cNvPr id="35" name="TextBox 34"/>
          <p:cNvSpPr txBox="1"/>
          <p:nvPr/>
        </p:nvSpPr>
        <p:spPr>
          <a:xfrm>
            <a:off x="10835639" y="4434840"/>
            <a:ext cx="667512" cy="530352"/>
          </a:xfrm>
          <a:prstGeom prst="rect">
            <a:avLst/>
          </a:prstGeom>
          <a:noFill/>
        </p:spPr>
        <p:txBody>
          <a:bodyPr wrap="square" lIns="0" rIns="0" tIns="0" bIns="0" anchor="ctr">
            <a:spAutoFit/>
          </a:bodyPr>
          <a:lstStyle/>
          <a:p>
            <a:pPr algn="l"/>
            <a:r>
              <a:rPr sz="1200" b="0" i="0">
                <a:solidFill>
                  <a:srgbClr val="5B6778"/>
                </a:solidFill>
                <a:latin typeface="Arial"/>
              </a:rPr>
              <a:t>11</a:t>
            </a:r>
          </a:p>
        </p:txBody>
      </p:sp>
      <p:sp>
        <p:nvSpPr>
          <p:cNvPr id="36" name="Rounded Rectangle 35"/>
          <p:cNvSpPr/>
          <p:nvPr/>
        </p:nvSpPr>
        <p:spPr>
          <a:xfrm>
            <a:off x="548639" y="5001768"/>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799" y="5001768"/>
            <a:ext cx="1737360" cy="530352"/>
          </a:xfrm>
          <a:prstGeom prst="rect">
            <a:avLst/>
          </a:prstGeom>
          <a:noFill/>
        </p:spPr>
        <p:txBody>
          <a:bodyPr wrap="square" lIns="0" rIns="0" tIns="0" bIns="0" anchor="ctr">
            <a:spAutoFit/>
          </a:bodyPr>
          <a:lstStyle/>
          <a:p>
            <a:pPr algn="l"/>
            <a:r>
              <a:rPr sz="1200" b="1" i="0">
                <a:solidFill>
                  <a:srgbClr val="1B2A41"/>
                </a:solidFill>
                <a:latin typeface="Arial"/>
              </a:rPr>
              <a:t>Nixtla</a:t>
            </a:r>
          </a:p>
        </p:txBody>
      </p:sp>
      <p:sp>
        <p:nvSpPr>
          <p:cNvPr id="38" name="TextBox 37"/>
          <p:cNvSpPr txBox="1"/>
          <p:nvPr/>
        </p:nvSpPr>
        <p:spPr>
          <a:xfrm>
            <a:off x="2697479" y="5001768"/>
            <a:ext cx="3291840" cy="530352"/>
          </a:xfrm>
          <a:prstGeom prst="rect">
            <a:avLst/>
          </a:prstGeom>
          <a:noFill/>
        </p:spPr>
        <p:txBody>
          <a:bodyPr wrap="square" lIns="0" rIns="0" tIns="0" bIns="0" anchor="ctr">
            <a:spAutoFit/>
          </a:bodyPr>
          <a:lstStyle/>
          <a:p>
            <a:pPr algn="l"/>
            <a:r>
              <a:rPr sz="1200" b="0" i="0">
                <a:solidFill>
                  <a:srgbClr val="1B2A41"/>
                </a:solidFill>
                <a:latin typeface="Arial"/>
              </a:rPr>
              <a:t>statsforecast (dự báo nhanh), utilsforecast (chỉ số)</a:t>
            </a:r>
          </a:p>
        </p:txBody>
      </p:sp>
      <p:sp>
        <p:nvSpPr>
          <p:cNvPr id="39" name="TextBox 38"/>
          <p:cNvSpPr txBox="1"/>
          <p:nvPr/>
        </p:nvSpPr>
        <p:spPr>
          <a:xfrm>
            <a:off x="6263639" y="5001768"/>
            <a:ext cx="4297680" cy="530352"/>
          </a:xfrm>
          <a:prstGeom prst="rect">
            <a:avLst/>
          </a:prstGeom>
          <a:noFill/>
        </p:spPr>
        <p:txBody>
          <a:bodyPr wrap="square" lIns="0" rIns="0" tIns="0" bIns="0" anchor="ctr">
            <a:spAutoFit/>
          </a:bodyPr>
          <a:lstStyle/>
          <a:p>
            <a:pPr algn="l"/>
            <a:r>
              <a:rPr sz="1200" b="0" i="0">
                <a:solidFill>
                  <a:srgbClr val="1B2A41"/>
                </a:solidFill>
                <a:latin typeface="Arial"/>
              </a:rPr>
              <a:t>cross_validation, mase, smape</a:t>
            </a:r>
          </a:p>
        </p:txBody>
      </p:sp>
      <p:sp>
        <p:nvSpPr>
          <p:cNvPr id="40" name="TextBox 39"/>
          <p:cNvSpPr txBox="1"/>
          <p:nvPr/>
        </p:nvSpPr>
        <p:spPr>
          <a:xfrm>
            <a:off x="10835639" y="5001768"/>
            <a:ext cx="667512" cy="530352"/>
          </a:xfrm>
          <a:prstGeom prst="rect">
            <a:avLst/>
          </a:prstGeom>
          <a:noFill/>
        </p:spPr>
        <p:txBody>
          <a:bodyPr wrap="square" lIns="0" rIns="0" tIns="0" bIns="0" anchor="ctr">
            <a:spAutoFit/>
          </a:bodyPr>
          <a:lstStyle/>
          <a:p>
            <a:pPr algn="l"/>
            <a:r>
              <a:rPr sz="1200" b="0" i="0">
                <a:solidFill>
                  <a:srgbClr val="5B6778"/>
                </a:solidFill>
                <a:latin typeface="Arial"/>
              </a:rPr>
              <a:t>14, 15</a:t>
            </a:r>
          </a:p>
        </p:txBody>
      </p:sp>
      <p:sp>
        <p:nvSpPr>
          <p:cNvPr id="41" name="TextBox 40"/>
          <p:cNvSpPr txBox="1"/>
          <p:nvPr/>
        </p:nvSpPr>
        <p:spPr>
          <a:xfrm>
            <a:off x="685799" y="5568696"/>
            <a:ext cx="1737360" cy="530352"/>
          </a:xfrm>
          <a:prstGeom prst="rect">
            <a:avLst/>
          </a:prstGeom>
          <a:noFill/>
        </p:spPr>
        <p:txBody>
          <a:bodyPr wrap="square" lIns="0" rIns="0" tIns="0" bIns="0" anchor="ctr">
            <a:spAutoFit/>
          </a:bodyPr>
          <a:lstStyle/>
          <a:p>
            <a:pPr algn="l"/>
            <a:r>
              <a:rPr sz="1200" b="1" i="0">
                <a:solidFill>
                  <a:srgbClr val="1B2A41"/>
                </a:solidFill>
                <a:latin typeface="Arial"/>
              </a:rPr>
              <a:t>tự viết</a:t>
            </a:r>
          </a:p>
        </p:txBody>
      </p:sp>
      <p:sp>
        <p:nvSpPr>
          <p:cNvPr id="42" name="TextBox 41"/>
          <p:cNvSpPr txBox="1"/>
          <p:nvPr/>
        </p:nvSpPr>
        <p:spPr>
          <a:xfrm>
            <a:off x="2697479" y="5568696"/>
            <a:ext cx="3291840" cy="530352"/>
          </a:xfrm>
          <a:prstGeom prst="rect">
            <a:avLst/>
          </a:prstGeom>
          <a:noFill/>
        </p:spPr>
        <p:txBody>
          <a:bodyPr wrap="square" lIns="0" rIns="0" tIns="0" bIns="0" anchor="ctr">
            <a:spAutoFit/>
          </a:bodyPr>
          <a:lstStyle/>
          <a:p>
            <a:pPr algn="l"/>
            <a:r>
              <a:rPr sz="1200" b="0" i="0">
                <a:solidFill>
                  <a:srgbClr val="1B2A41"/>
                </a:solidFill>
                <a:latin typeface="Arial"/>
              </a:rPr>
              <a:t>Hàm viết trong buổi học để hiểu từng bước</a:t>
            </a:r>
          </a:p>
        </p:txBody>
      </p:sp>
      <p:sp>
        <p:nvSpPr>
          <p:cNvPr id="43" name="TextBox 42"/>
          <p:cNvSpPr txBox="1"/>
          <p:nvPr/>
        </p:nvSpPr>
        <p:spPr>
          <a:xfrm>
            <a:off x="6263639" y="5568696"/>
            <a:ext cx="4297680" cy="530352"/>
          </a:xfrm>
          <a:prstGeom prst="rect">
            <a:avLst/>
          </a:prstGeom>
          <a:noFill/>
        </p:spPr>
        <p:txBody>
          <a:bodyPr wrap="square" lIns="0" rIns="0" tIns="0" bIns="0" anchor="ctr">
            <a:spAutoFit/>
          </a:bodyPr>
          <a:lstStyle/>
          <a:p>
            <a:pPr algn="l"/>
            <a:r>
              <a:rPr sz="1200" b="0" i="0">
                <a:solidFill>
                  <a:srgbClr val="1B2A41"/>
                </a:solidFill>
                <a:latin typeface="Arial"/>
              </a:rPr>
              <a:t>du_bao_cuon, guerrero, o_bang, kiem_ro_ri</a:t>
            </a:r>
          </a:p>
        </p:txBody>
      </p:sp>
      <p:sp>
        <p:nvSpPr>
          <p:cNvPr id="44" name="TextBox 43"/>
          <p:cNvSpPr txBox="1"/>
          <p:nvPr/>
        </p:nvSpPr>
        <p:spPr>
          <a:xfrm>
            <a:off x="10835639" y="5568696"/>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Lý thuyết nào, hàm nào</a:t>
            </a:r>
          </a:p>
        </p:txBody>
      </p:sp>
      <p:sp>
        <p:nvSpPr>
          <p:cNvPr id="4" name="TextBox 3"/>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Tra nhanh: lý thuyết này làm bằng hàm nào, của thư viện nào.</a:t>
            </a:r>
          </a:p>
        </p:txBody>
      </p:sp>
      <p:sp>
        <p:nvSpPr>
          <p:cNvPr id="5" name="TextBox 4"/>
          <p:cNvSpPr txBox="1"/>
          <p:nvPr/>
        </p:nvSpPr>
        <p:spPr>
          <a:xfrm>
            <a:off x="685800" y="1188720"/>
            <a:ext cx="2468880" cy="365760"/>
          </a:xfrm>
          <a:prstGeom prst="rect">
            <a:avLst/>
          </a:prstGeom>
          <a:noFill/>
        </p:spPr>
        <p:txBody>
          <a:bodyPr wrap="square" lIns="0" rIns="0" tIns="0" bIns="0" anchor="t">
            <a:spAutoFit/>
          </a:bodyPr>
          <a:lstStyle/>
          <a:p>
            <a:pPr algn="l"/>
            <a:r>
              <a:rPr sz="1100" b="1" i="0">
                <a:solidFill>
                  <a:srgbClr val="A77B06"/>
                </a:solidFill>
                <a:latin typeface="Arial"/>
              </a:rPr>
              <a:t>LÝ THUYẾT</a:t>
            </a:r>
          </a:p>
        </p:txBody>
      </p:sp>
      <p:sp>
        <p:nvSpPr>
          <p:cNvPr id="6" name="TextBox 5"/>
          <p:cNvSpPr txBox="1"/>
          <p:nvPr/>
        </p:nvSpPr>
        <p:spPr>
          <a:xfrm>
            <a:off x="3429000" y="1188720"/>
            <a:ext cx="4206240" cy="365760"/>
          </a:xfrm>
          <a:prstGeom prst="rect">
            <a:avLst/>
          </a:prstGeom>
          <a:noFill/>
        </p:spPr>
        <p:txBody>
          <a:bodyPr wrap="square" lIns="0" rIns="0" tIns="0" bIns="0" anchor="t">
            <a:spAutoFit/>
          </a:bodyPr>
          <a:lstStyle/>
          <a:p>
            <a:pPr algn="l"/>
            <a:r>
              <a:rPr sz="1100" b="1" i="0">
                <a:solidFill>
                  <a:srgbClr val="5B6778"/>
                </a:solidFill>
                <a:latin typeface="Arial"/>
              </a:rPr>
              <a:t>HÀM</a:t>
            </a:r>
          </a:p>
        </p:txBody>
      </p:sp>
      <p:sp>
        <p:nvSpPr>
          <p:cNvPr id="7" name="TextBox 6"/>
          <p:cNvSpPr txBox="1"/>
          <p:nvPr/>
        </p:nvSpPr>
        <p:spPr>
          <a:xfrm>
            <a:off x="7909560" y="1188720"/>
            <a:ext cx="2651760" cy="365760"/>
          </a:xfrm>
          <a:prstGeom prst="rect">
            <a:avLst/>
          </a:prstGeom>
          <a:noFill/>
        </p:spPr>
        <p:txBody>
          <a:bodyPr wrap="square" lIns="0" rIns="0" tIns="0" bIns="0" anchor="t">
            <a:spAutoFit/>
          </a:bodyPr>
          <a:lstStyle/>
          <a:p>
            <a:pPr algn="l"/>
            <a:r>
              <a:rPr sz="1100" b="1" i="0">
                <a:solidFill>
                  <a:srgbClr val="5B6778"/>
                </a:solidFill>
                <a:latin typeface="Arial"/>
              </a:rPr>
              <a:t>THƯ VIỆN</a:t>
            </a:r>
          </a:p>
        </p:txBody>
      </p:sp>
      <p:sp>
        <p:nvSpPr>
          <p:cNvPr id="8" name="TextBox 7"/>
          <p:cNvSpPr txBox="1"/>
          <p:nvPr/>
        </p:nvSpPr>
        <p:spPr>
          <a:xfrm>
            <a:off x="10835640" y="1188720"/>
            <a:ext cx="667512"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9" name="Rounded Rectangle 8"/>
          <p:cNvSpPr/>
          <p:nvPr/>
        </p:nvSpPr>
        <p:spPr>
          <a:xfrm>
            <a:off x="548639" y="1600200"/>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1600200"/>
            <a:ext cx="2468880" cy="310896"/>
          </a:xfrm>
          <a:prstGeom prst="rect">
            <a:avLst/>
          </a:prstGeom>
          <a:noFill/>
        </p:spPr>
        <p:txBody>
          <a:bodyPr wrap="square" lIns="0" rIns="0" tIns="0" bIns="0" anchor="ctr">
            <a:spAutoFit/>
          </a:bodyPr>
          <a:lstStyle/>
          <a:p>
            <a:pPr algn="l"/>
            <a:r>
              <a:rPr sz="1100" b="1" i="0">
                <a:solidFill>
                  <a:srgbClr val="1B2A41"/>
                </a:solidFill>
                <a:latin typeface="Arial"/>
              </a:rPr>
              <a:t>Dự báo cuốn, backtest</a:t>
            </a:r>
          </a:p>
        </p:txBody>
      </p:sp>
      <p:sp>
        <p:nvSpPr>
          <p:cNvPr id="11" name="TextBox 10"/>
          <p:cNvSpPr txBox="1"/>
          <p:nvPr/>
        </p:nvSpPr>
        <p:spPr>
          <a:xfrm>
            <a:off x="3428999" y="1600200"/>
            <a:ext cx="4206240" cy="310896"/>
          </a:xfrm>
          <a:prstGeom prst="rect">
            <a:avLst/>
          </a:prstGeom>
          <a:noFill/>
        </p:spPr>
        <p:txBody>
          <a:bodyPr wrap="square" lIns="0" rIns="0" tIns="0" bIns="0" anchor="ctr">
            <a:spAutoFit/>
          </a:bodyPr>
          <a:lstStyle/>
          <a:p>
            <a:pPr algn="l"/>
            <a:r>
              <a:rPr sz="1100" b="0" i="0">
                <a:solidFill>
                  <a:srgbClr val="1B2A41"/>
                </a:solidFill>
                <a:latin typeface="Arial"/>
              </a:rPr>
              <a:t>lọc index &lt; gốc; cross_validation</a:t>
            </a:r>
          </a:p>
        </p:txBody>
      </p:sp>
      <p:sp>
        <p:nvSpPr>
          <p:cNvPr id="12" name="TextBox 11"/>
          <p:cNvSpPr txBox="1"/>
          <p:nvPr/>
        </p:nvSpPr>
        <p:spPr>
          <a:xfrm>
            <a:off x="7909559" y="1600200"/>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 statsforecast</a:t>
            </a:r>
          </a:p>
        </p:txBody>
      </p:sp>
      <p:sp>
        <p:nvSpPr>
          <p:cNvPr id="13" name="TextBox 12"/>
          <p:cNvSpPr txBox="1"/>
          <p:nvPr/>
        </p:nvSpPr>
        <p:spPr>
          <a:xfrm>
            <a:off x="10835640" y="1600200"/>
            <a:ext cx="667512" cy="310896"/>
          </a:xfrm>
          <a:prstGeom prst="rect">
            <a:avLst/>
          </a:prstGeom>
          <a:noFill/>
        </p:spPr>
        <p:txBody>
          <a:bodyPr wrap="square" lIns="0" rIns="0" tIns="0" bIns="0" anchor="ctr">
            <a:spAutoFit/>
          </a:bodyPr>
          <a:lstStyle/>
          <a:p>
            <a:pPr algn="l"/>
            <a:r>
              <a:rPr sz="1100" b="0" i="0">
                <a:solidFill>
                  <a:srgbClr val="5B6778"/>
                </a:solidFill>
                <a:latin typeface="Arial"/>
              </a:rPr>
              <a:t>1, 15</a:t>
            </a:r>
          </a:p>
        </p:txBody>
      </p:sp>
      <p:sp>
        <p:nvSpPr>
          <p:cNvPr id="14" name="TextBox 13"/>
          <p:cNvSpPr txBox="1"/>
          <p:nvPr/>
        </p:nvSpPr>
        <p:spPr>
          <a:xfrm>
            <a:off x="685799" y="1947672"/>
            <a:ext cx="2468880" cy="310896"/>
          </a:xfrm>
          <a:prstGeom prst="rect">
            <a:avLst/>
          </a:prstGeom>
          <a:noFill/>
        </p:spPr>
        <p:txBody>
          <a:bodyPr wrap="square" lIns="0" rIns="0" tIns="0" bIns="0" anchor="ctr">
            <a:spAutoFit/>
          </a:bodyPr>
          <a:lstStyle/>
          <a:p>
            <a:pPr algn="l"/>
            <a:r>
              <a:rPr sz="1100" b="1" i="0">
                <a:solidFill>
                  <a:srgbClr val="1B2A41"/>
                </a:solidFill>
                <a:latin typeface="Arial"/>
              </a:rPr>
              <a:t>Quantile</a:t>
            </a:r>
          </a:p>
        </p:txBody>
      </p:sp>
      <p:sp>
        <p:nvSpPr>
          <p:cNvPr id="15" name="TextBox 14"/>
          <p:cNvSpPr txBox="1"/>
          <p:nvPr/>
        </p:nvSpPr>
        <p:spPr>
          <a:xfrm>
            <a:off x="3428999" y="1947672"/>
            <a:ext cx="4206240" cy="310896"/>
          </a:xfrm>
          <a:prstGeom prst="rect">
            <a:avLst/>
          </a:prstGeom>
          <a:noFill/>
        </p:spPr>
        <p:txBody>
          <a:bodyPr wrap="square" lIns="0" rIns="0" tIns="0" bIns="0" anchor="ctr">
            <a:spAutoFit/>
          </a:bodyPr>
          <a:lstStyle/>
          <a:p>
            <a:pPr algn="l"/>
            <a:r>
              <a:rPr sz="1100" b="0" i="0">
                <a:solidFill>
                  <a:srgbClr val="1B2A41"/>
                </a:solidFill>
                <a:latin typeface="Arial"/>
              </a:rPr>
              <a:t>np.quantile</a:t>
            </a:r>
          </a:p>
        </p:txBody>
      </p:sp>
      <p:sp>
        <p:nvSpPr>
          <p:cNvPr id="16" name="TextBox 15"/>
          <p:cNvSpPr txBox="1"/>
          <p:nvPr/>
        </p:nvSpPr>
        <p:spPr>
          <a:xfrm>
            <a:off x="7909559" y="1947672"/>
            <a:ext cx="2651760" cy="310896"/>
          </a:xfrm>
          <a:prstGeom prst="rect">
            <a:avLst/>
          </a:prstGeom>
          <a:noFill/>
        </p:spPr>
        <p:txBody>
          <a:bodyPr wrap="square" lIns="0" rIns="0" tIns="0" bIns="0" anchor="ctr">
            <a:spAutoFit/>
          </a:bodyPr>
          <a:lstStyle/>
          <a:p>
            <a:pPr algn="l"/>
            <a:r>
              <a:rPr sz="1100" b="0" i="0">
                <a:solidFill>
                  <a:srgbClr val="1B2A41"/>
                </a:solidFill>
                <a:latin typeface="Arial"/>
              </a:rPr>
              <a:t>NumPy</a:t>
            </a:r>
          </a:p>
        </p:txBody>
      </p:sp>
      <p:sp>
        <p:nvSpPr>
          <p:cNvPr id="17" name="TextBox 16"/>
          <p:cNvSpPr txBox="1"/>
          <p:nvPr/>
        </p:nvSpPr>
        <p:spPr>
          <a:xfrm>
            <a:off x="10835640" y="1947672"/>
            <a:ext cx="667512" cy="310896"/>
          </a:xfrm>
          <a:prstGeom prst="rect">
            <a:avLst/>
          </a:prstGeom>
          <a:noFill/>
        </p:spPr>
        <p:txBody>
          <a:bodyPr wrap="square" lIns="0" rIns="0" tIns="0" bIns="0" anchor="ctr">
            <a:spAutoFit/>
          </a:bodyPr>
          <a:lstStyle/>
          <a:p>
            <a:pPr algn="l"/>
            <a:r>
              <a:rPr sz="1100" b="0" i="0">
                <a:solidFill>
                  <a:srgbClr val="5B6778"/>
                </a:solidFill>
                <a:latin typeface="Arial"/>
              </a:rPr>
              <a:t>1–2</a:t>
            </a:r>
          </a:p>
        </p:txBody>
      </p:sp>
      <p:sp>
        <p:nvSpPr>
          <p:cNvPr id="18" name="Rounded Rectangle 17"/>
          <p:cNvSpPr/>
          <p:nvPr/>
        </p:nvSpPr>
        <p:spPr>
          <a:xfrm>
            <a:off x="548639" y="2295144"/>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 y="2295144"/>
            <a:ext cx="2468880" cy="310896"/>
          </a:xfrm>
          <a:prstGeom prst="rect">
            <a:avLst/>
          </a:prstGeom>
          <a:noFill/>
        </p:spPr>
        <p:txBody>
          <a:bodyPr wrap="square" lIns="0" rIns="0" tIns="0" bIns="0" anchor="ctr">
            <a:spAutoFit/>
          </a:bodyPr>
          <a:lstStyle/>
          <a:p>
            <a:pPr algn="l"/>
            <a:r>
              <a:rPr sz="1100" b="1" i="0">
                <a:solidFill>
                  <a:srgbClr val="1B2A41"/>
                </a:solidFill>
                <a:latin typeface="Arial"/>
              </a:rPr>
              <a:t>Múi giờ</a:t>
            </a:r>
          </a:p>
        </p:txBody>
      </p:sp>
      <p:sp>
        <p:nvSpPr>
          <p:cNvPr id="20" name="TextBox 19"/>
          <p:cNvSpPr txBox="1"/>
          <p:nvPr/>
        </p:nvSpPr>
        <p:spPr>
          <a:xfrm>
            <a:off x="3428999" y="2295144"/>
            <a:ext cx="4206240" cy="310896"/>
          </a:xfrm>
          <a:prstGeom prst="rect">
            <a:avLst/>
          </a:prstGeom>
          <a:noFill/>
        </p:spPr>
        <p:txBody>
          <a:bodyPr wrap="square" lIns="0" rIns="0" tIns="0" bIns="0" anchor="ctr">
            <a:spAutoFit/>
          </a:bodyPr>
          <a:lstStyle/>
          <a:p>
            <a:pPr algn="l"/>
            <a:r>
              <a:rPr sz="1100" b="0" i="0">
                <a:solidFill>
                  <a:srgbClr val="1B2A41"/>
                </a:solidFill>
                <a:latin typeface="Arial"/>
              </a:rPr>
              <a:t>tz_localize, tz_convert</a:t>
            </a:r>
          </a:p>
        </p:txBody>
      </p:sp>
      <p:sp>
        <p:nvSpPr>
          <p:cNvPr id="21" name="TextBox 20"/>
          <p:cNvSpPr txBox="1"/>
          <p:nvPr/>
        </p:nvSpPr>
        <p:spPr>
          <a:xfrm>
            <a:off x="7909559" y="2295144"/>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22" name="TextBox 21"/>
          <p:cNvSpPr txBox="1"/>
          <p:nvPr/>
        </p:nvSpPr>
        <p:spPr>
          <a:xfrm>
            <a:off x="10835640" y="2295144"/>
            <a:ext cx="667512" cy="310896"/>
          </a:xfrm>
          <a:prstGeom prst="rect">
            <a:avLst/>
          </a:prstGeom>
          <a:noFill/>
        </p:spPr>
        <p:txBody>
          <a:bodyPr wrap="square" lIns="0" rIns="0" tIns="0" bIns="0" anchor="ctr">
            <a:spAutoFit/>
          </a:bodyPr>
          <a:lstStyle/>
          <a:p>
            <a:pPr algn="l"/>
            <a:r>
              <a:rPr sz="1100" b="0" i="0">
                <a:solidFill>
                  <a:srgbClr val="5B6778"/>
                </a:solidFill>
                <a:latin typeface="Arial"/>
              </a:rPr>
              <a:t>3</a:t>
            </a:r>
          </a:p>
        </p:txBody>
      </p:sp>
      <p:sp>
        <p:nvSpPr>
          <p:cNvPr id="23" name="TextBox 22"/>
          <p:cNvSpPr txBox="1"/>
          <p:nvPr/>
        </p:nvSpPr>
        <p:spPr>
          <a:xfrm>
            <a:off x="685799" y="2642616"/>
            <a:ext cx="2468880" cy="310896"/>
          </a:xfrm>
          <a:prstGeom prst="rect">
            <a:avLst/>
          </a:prstGeom>
          <a:noFill/>
        </p:spPr>
        <p:txBody>
          <a:bodyPr wrap="square" lIns="0" rIns="0" tIns="0" bIns="0" anchor="ctr">
            <a:spAutoFit/>
          </a:bodyPr>
          <a:lstStyle/>
          <a:p>
            <a:pPr algn="l"/>
            <a:r>
              <a:rPr sz="1100" b="1" i="0">
                <a:solidFill>
                  <a:srgbClr val="1B2A41"/>
                </a:solidFill>
                <a:latin typeface="Arial"/>
              </a:rPr>
              <a:t>Gộp tần suất</a:t>
            </a:r>
          </a:p>
        </p:txBody>
      </p:sp>
      <p:sp>
        <p:nvSpPr>
          <p:cNvPr id="24" name="TextBox 23"/>
          <p:cNvSpPr txBox="1"/>
          <p:nvPr/>
        </p:nvSpPr>
        <p:spPr>
          <a:xfrm>
            <a:off x="3428999" y="2642616"/>
            <a:ext cx="4206240" cy="310896"/>
          </a:xfrm>
          <a:prstGeom prst="rect">
            <a:avLst/>
          </a:prstGeom>
          <a:noFill/>
        </p:spPr>
        <p:txBody>
          <a:bodyPr wrap="square" lIns="0" rIns="0" tIns="0" bIns="0" anchor="ctr">
            <a:spAutoFit/>
          </a:bodyPr>
          <a:lstStyle/>
          <a:p>
            <a:pPr algn="l"/>
            <a:r>
              <a:rPr sz="1100" b="0" i="0">
                <a:solidFill>
                  <a:srgbClr val="1B2A41"/>
                </a:solidFill>
                <a:latin typeface="Arial"/>
              </a:rPr>
              <a:t>resample(...).sum(min_count=1)</a:t>
            </a:r>
          </a:p>
        </p:txBody>
      </p:sp>
      <p:sp>
        <p:nvSpPr>
          <p:cNvPr id="25" name="TextBox 24"/>
          <p:cNvSpPr txBox="1"/>
          <p:nvPr/>
        </p:nvSpPr>
        <p:spPr>
          <a:xfrm>
            <a:off x="7909559" y="2642616"/>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26" name="TextBox 25"/>
          <p:cNvSpPr txBox="1"/>
          <p:nvPr/>
        </p:nvSpPr>
        <p:spPr>
          <a:xfrm>
            <a:off x="10835640" y="2642616"/>
            <a:ext cx="667512" cy="310896"/>
          </a:xfrm>
          <a:prstGeom prst="rect">
            <a:avLst/>
          </a:prstGeom>
          <a:noFill/>
        </p:spPr>
        <p:txBody>
          <a:bodyPr wrap="square" lIns="0" rIns="0" tIns="0" bIns="0" anchor="ctr">
            <a:spAutoFit/>
          </a:bodyPr>
          <a:lstStyle/>
          <a:p>
            <a:pPr algn="l"/>
            <a:r>
              <a:rPr sz="1100" b="0" i="0">
                <a:solidFill>
                  <a:srgbClr val="5B6778"/>
                </a:solidFill>
                <a:latin typeface="Arial"/>
              </a:rPr>
              <a:t>3–4</a:t>
            </a:r>
          </a:p>
        </p:txBody>
      </p:sp>
      <p:sp>
        <p:nvSpPr>
          <p:cNvPr id="27" name="Rounded Rectangle 26"/>
          <p:cNvSpPr/>
          <p:nvPr/>
        </p:nvSpPr>
        <p:spPr>
          <a:xfrm>
            <a:off x="548639" y="2990088"/>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799" y="2990088"/>
            <a:ext cx="2468880" cy="310896"/>
          </a:xfrm>
          <a:prstGeom prst="rect">
            <a:avLst/>
          </a:prstGeom>
          <a:noFill/>
        </p:spPr>
        <p:txBody>
          <a:bodyPr wrap="square" lIns="0" rIns="0" tIns="0" bIns="0" anchor="ctr">
            <a:spAutoFit/>
          </a:bodyPr>
          <a:lstStyle/>
          <a:p>
            <a:pPr algn="l"/>
            <a:r>
              <a:rPr sz="1100" b="1" i="0">
                <a:solidFill>
                  <a:srgbClr val="1B2A41"/>
                </a:solidFill>
                <a:latin typeface="Arial"/>
              </a:rPr>
              <a:t>Ghép theo thời gian</a:t>
            </a:r>
          </a:p>
        </p:txBody>
      </p:sp>
      <p:sp>
        <p:nvSpPr>
          <p:cNvPr id="29" name="TextBox 28"/>
          <p:cNvSpPr txBox="1"/>
          <p:nvPr/>
        </p:nvSpPr>
        <p:spPr>
          <a:xfrm>
            <a:off x="3428999" y="2990088"/>
            <a:ext cx="4206240" cy="310896"/>
          </a:xfrm>
          <a:prstGeom prst="rect">
            <a:avLst/>
          </a:prstGeom>
          <a:noFill/>
        </p:spPr>
        <p:txBody>
          <a:bodyPr wrap="square" lIns="0" rIns="0" tIns="0" bIns="0" anchor="ctr">
            <a:spAutoFit/>
          </a:bodyPr>
          <a:lstStyle/>
          <a:p>
            <a:pPr algn="l"/>
            <a:r>
              <a:rPr sz="1100" b="0" i="0">
                <a:solidFill>
                  <a:srgbClr val="1B2A41"/>
                </a:solidFill>
                <a:latin typeface="Arial"/>
              </a:rPr>
              <a:t>merge_asof(direction="backward")</a:t>
            </a:r>
          </a:p>
        </p:txBody>
      </p:sp>
      <p:sp>
        <p:nvSpPr>
          <p:cNvPr id="30" name="TextBox 29"/>
          <p:cNvSpPr txBox="1"/>
          <p:nvPr/>
        </p:nvSpPr>
        <p:spPr>
          <a:xfrm>
            <a:off x="7909559" y="2990088"/>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31" name="TextBox 30"/>
          <p:cNvSpPr txBox="1"/>
          <p:nvPr/>
        </p:nvSpPr>
        <p:spPr>
          <a:xfrm>
            <a:off x="10835640" y="2990088"/>
            <a:ext cx="667512" cy="310896"/>
          </a:xfrm>
          <a:prstGeom prst="rect">
            <a:avLst/>
          </a:prstGeom>
          <a:noFill/>
        </p:spPr>
        <p:txBody>
          <a:bodyPr wrap="square" lIns="0" rIns="0" tIns="0" bIns="0" anchor="ctr">
            <a:spAutoFit/>
          </a:bodyPr>
          <a:lstStyle/>
          <a:p>
            <a:pPr algn="l"/>
            <a:r>
              <a:rPr sz="1100" b="0" i="0">
                <a:solidFill>
                  <a:srgbClr val="5B6778"/>
                </a:solidFill>
                <a:latin typeface="Arial"/>
              </a:rPr>
              <a:t>3, 13</a:t>
            </a:r>
          </a:p>
        </p:txBody>
      </p:sp>
      <p:sp>
        <p:nvSpPr>
          <p:cNvPr id="32" name="TextBox 31"/>
          <p:cNvSpPr txBox="1"/>
          <p:nvPr/>
        </p:nvSpPr>
        <p:spPr>
          <a:xfrm>
            <a:off x="685799" y="3337560"/>
            <a:ext cx="2468880" cy="310896"/>
          </a:xfrm>
          <a:prstGeom prst="rect">
            <a:avLst/>
          </a:prstGeom>
          <a:noFill/>
        </p:spPr>
        <p:txBody>
          <a:bodyPr wrap="square" lIns="0" rIns="0" tIns="0" bIns="0" anchor="ctr">
            <a:spAutoFit/>
          </a:bodyPr>
          <a:lstStyle/>
          <a:p>
            <a:pPr algn="l"/>
            <a:r>
              <a:rPr sz="1100" b="1" i="0">
                <a:solidFill>
                  <a:srgbClr val="1B2A41"/>
                </a:solidFill>
                <a:latin typeface="Arial"/>
              </a:rPr>
              <a:t>Box-Cox</a:t>
            </a:r>
          </a:p>
        </p:txBody>
      </p:sp>
      <p:sp>
        <p:nvSpPr>
          <p:cNvPr id="33" name="TextBox 32"/>
          <p:cNvSpPr txBox="1"/>
          <p:nvPr/>
        </p:nvSpPr>
        <p:spPr>
          <a:xfrm>
            <a:off x="3428999" y="3337560"/>
            <a:ext cx="4206240" cy="310896"/>
          </a:xfrm>
          <a:prstGeom prst="rect">
            <a:avLst/>
          </a:prstGeom>
          <a:noFill/>
        </p:spPr>
        <p:txBody>
          <a:bodyPr wrap="square" lIns="0" rIns="0" tIns="0" bIns="0" anchor="ctr">
            <a:spAutoFit/>
          </a:bodyPr>
          <a:lstStyle/>
          <a:p>
            <a:pPr algn="l"/>
            <a:r>
              <a:rPr sz="1100" b="0" i="0">
                <a:solidFill>
                  <a:srgbClr val="1B2A41"/>
                </a:solidFill>
                <a:latin typeface="Arial"/>
              </a:rPr>
              <a:t>stats.boxcox, stats.yeojohnson</a:t>
            </a:r>
          </a:p>
        </p:txBody>
      </p:sp>
      <p:sp>
        <p:nvSpPr>
          <p:cNvPr id="34" name="TextBox 33"/>
          <p:cNvSpPr txBox="1"/>
          <p:nvPr/>
        </p:nvSpPr>
        <p:spPr>
          <a:xfrm>
            <a:off x="7909559" y="3337560"/>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a:t>
            </a:r>
          </a:p>
        </p:txBody>
      </p:sp>
      <p:sp>
        <p:nvSpPr>
          <p:cNvPr id="35" name="TextBox 34"/>
          <p:cNvSpPr txBox="1"/>
          <p:nvPr/>
        </p:nvSpPr>
        <p:spPr>
          <a:xfrm>
            <a:off x="10835640" y="3337560"/>
            <a:ext cx="667512" cy="310896"/>
          </a:xfrm>
          <a:prstGeom prst="rect">
            <a:avLst/>
          </a:prstGeom>
          <a:noFill/>
        </p:spPr>
        <p:txBody>
          <a:bodyPr wrap="square" lIns="0" rIns="0" tIns="0" bIns="0" anchor="ctr">
            <a:spAutoFit/>
          </a:bodyPr>
          <a:lstStyle/>
          <a:p>
            <a:pPr algn="l"/>
            <a:r>
              <a:rPr sz="1100" b="0" i="0">
                <a:solidFill>
                  <a:srgbClr val="5B6778"/>
                </a:solidFill>
                <a:latin typeface="Arial"/>
              </a:rPr>
              <a:t>5</a:t>
            </a:r>
          </a:p>
        </p:txBody>
      </p:sp>
      <p:sp>
        <p:nvSpPr>
          <p:cNvPr id="36" name="Rounded Rectangle 35"/>
          <p:cNvSpPr/>
          <p:nvPr/>
        </p:nvSpPr>
        <p:spPr>
          <a:xfrm>
            <a:off x="548639" y="3685032"/>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799" y="3685032"/>
            <a:ext cx="2468880" cy="310896"/>
          </a:xfrm>
          <a:prstGeom prst="rect">
            <a:avLst/>
          </a:prstGeom>
          <a:noFill/>
        </p:spPr>
        <p:txBody>
          <a:bodyPr wrap="square" lIns="0" rIns="0" tIns="0" bIns="0" anchor="ctr">
            <a:spAutoFit/>
          </a:bodyPr>
          <a:lstStyle/>
          <a:p>
            <a:pPr algn="l"/>
            <a:r>
              <a:rPr sz="1100" b="1" i="0">
                <a:solidFill>
                  <a:srgbClr val="1B2A41"/>
                </a:solidFill>
                <a:latin typeface="Arial"/>
              </a:rPr>
              <a:t>Phân rã</a:t>
            </a:r>
          </a:p>
        </p:txBody>
      </p:sp>
      <p:sp>
        <p:nvSpPr>
          <p:cNvPr id="38" name="TextBox 37"/>
          <p:cNvSpPr txBox="1"/>
          <p:nvPr/>
        </p:nvSpPr>
        <p:spPr>
          <a:xfrm>
            <a:off x="3428999" y="3685032"/>
            <a:ext cx="4206240" cy="310896"/>
          </a:xfrm>
          <a:prstGeom prst="rect">
            <a:avLst/>
          </a:prstGeom>
          <a:noFill/>
        </p:spPr>
        <p:txBody>
          <a:bodyPr wrap="square" lIns="0" rIns="0" tIns="0" bIns="0" anchor="ctr">
            <a:spAutoFit/>
          </a:bodyPr>
          <a:lstStyle/>
          <a:p>
            <a:pPr algn="l"/>
            <a:r>
              <a:rPr sz="1100" b="0" i="0">
                <a:solidFill>
                  <a:srgbClr val="1B2A41"/>
                </a:solidFill>
                <a:latin typeface="Arial"/>
              </a:rPr>
              <a:t>seasonal_decompose, STL, MSTL</a:t>
            </a:r>
          </a:p>
        </p:txBody>
      </p:sp>
      <p:sp>
        <p:nvSpPr>
          <p:cNvPr id="39" name="TextBox 38"/>
          <p:cNvSpPr txBox="1"/>
          <p:nvPr/>
        </p:nvSpPr>
        <p:spPr>
          <a:xfrm>
            <a:off x="7909559" y="3685032"/>
            <a:ext cx="2651760" cy="310896"/>
          </a:xfrm>
          <a:prstGeom prst="rect">
            <a:avLst/>
          </a:prstGeom>
          <a:noFill/>
        </p:spPr>
        <p:txBody>
          <a:bodyPr wrap="square" lIns="0" rIns="0" tIns="0" bIns="0" anchor="ctr">
            <a:spAutoFit/>
          </a:bodyPr>
          <a:lstStyle/>
          <a:p>
            <a:pPr algn="l"/>
            <a:r>
              <a:rPr sz="1100" b="0" i="0">
                <a:solidFill>
                  <a:srgbClr val="1B2A41"/>
                </a:solidFill>
                <a:latin typeface="Arial"/>
              </a:rPr>
              <a:t>statsmodels</a:t>
            </a:r>
          </a:p>
        </p:txBody>
      </p:sp>
      <p:sp>
        <p:nvSpPr>
          <p:cNvPr id="40" name="TextBox 39"/>
          <p:cNvSpPr txBox="1"/>
          <p:nvPr/>
        </p:nvSpPr>
        <p:spPr>
          <a:xfrm>
            <a:off x="10835640" y="3685032"/>
            <a:ext cx="667512" cy="310896"/>
          </a:xfrm>
          <a:prstGeom prst="rect">
            <a:avLst/>
          </a:prstGeom>
          <a:noFill/>
        </p:spPr>
        <p:txBody>
          <a:bodyPr wrap="square" lIns="0" rIns="0" tIns="0" bIns="0" anchor="ctr">
            <a:spAutoFit/>
          </a:bodyPr>
          <a:lstStyle/>
          <a:p>
            <a:pPr algn="l"/>
            <a:r>
              <a:rPr sz="1100" b="0" i="0">
                <a:solidFill>
                  <a:srgbClr val="5B6778"/>
                </a:solidFill>
                <a:latin typeface="Arial"/>
              </a:rPr>
              <a:t>6</a:t>
            </a:r>
          </a:p>
        </p:txBody>
      </p:sp>
      <p:sp>
        <p:nvSpPr>
          <p:cNvPr id="41" name="TextBox 40"/>
          <p:cNvSpPr txBox="1"/>
          <p:nvPr/>
        </p:nvSpPr>
        <p:spPr>
          <a:xfrm>
            <a:off x="685799" y="4032504"/>
            <a:ext cx="2468880" cy="310896"/>
          </a:xfrm>
          <a:prstGeom prst="rect">
            <a:avLst/>
          </a:prstGeom>
          <a:noFill/>
        </p:spPr>
        <p:txBody>
          <a:bodyPr wrap="square" lIns="0" rIns="0" tIns="0" bIns="0" anchor="ctr">
            <a:spAutoFit/>
          </a:bodyPr>
          <a:lstStyle/>
          <a:p>
            <a:pPr algn="l"/>
            <a:r>
              <a:rPr sz="1100" b="1" i="0">
                <a:solidFill>
                  <a:srgbClr val="1B2A41"/>
                </a:solidFill>
                <a:latin typeface="Arial"/>
              </a:rPr>
              <a:t>Tự tương quan, dừng</a:t>
            </a:r>
          </a:p>
        </p:txBody>
      </p:sp>
      <p:sp>
        <p:nvSpPr>
          <p:cNvPr id="42" name="TextBox 41"/>
          <p:cNvSpPr txBox="1"/>
          <p:nvPr/>
        </p:nvSpPr>
        <p:spPr>
          <a:xfrm>
            <a:off x="3428999" y="4032504"/>
            <a:ext cx="4206240" cy="310896"/>
          </a:xfrm>
          <a:prstGeom prst="rect">
            <a:avLst/>
          </a:prstGeom>
          <a:noFill/>
        </p:spPr>
        <p:txBody>
          <a:bodyPr wrap="square" lIns="0" rIns="0" tIns="0" bIns="0" anchor="ctr">
            <a:spAutoFit/>
          </a:bodyPr>
          <a:lstStyle/>
          <a:p>
            <a:pPr algn="l"/>
            <a:r>
              <a:rPr sz="1100" b="0" i="0">
                <a:solidFill>
                  <a:srgbClr val="1B2A41"/>
                </a:solidFill>
                <a:latin typeface="Arial"/>
              </a:rPr>
              <a:t>acf, pacf, adfuller, kpss</a:t>
            </a:r>
          </a:p>
        </p:txBody>
      </p:sp>
      <p:sp>
        <p:nvSpPr>
          <p:cNvPr id="43" name="TextBox 42"/>
          <p:cNvSpPr txBox="1"/>
          <p:nvPr/>
        </p:nvSpPr>
        <p:spPr>
          <a:xfrm>
            <a:off x="7909559" y="4032504"/>
            <a:ext cx="2651760" cy="310896"/>
          </a:xfrm>
          <a:prstGeom prst="rect">
            <a:avLst/>
          </a:prstGeom>
          <a:noFill/>
        </p:spPr>
        <p:txBody>
          <a:bodyPr wrap="square" lIns="0" rIns="0" tIns="0" bIns="0" anchor="ctr">
            <a:spAutoFit/>
          </a:bodyPr>
          <a:lstStyle/>
          <a:p>
            <a:pPr algn="l"/>
            <a:r>
              <a:rPr sz="1100" b="0" i="0">
                <a:solidFill>
                  <a:srgbClr val="1B2A41"/>
                </a:solidFill>
                <a:latin typeface="Arial"/>
              </a:rPr>
              <a:t>statsmodels</a:t>
            </a:r>
          </a:p>
        </p:txBody>
      </p:sp>
      <p:sp>
        <p:nvSpPr>
          <p:cNvPr id="44" name="TextBox 43"/>
          <p:cNvSpPr txBox="1"/>
          <p:nvPr/>
        </p:nvSpPr>
        <p:spPr>
          <a:xfrm>
            <a:off x="10835640" y="4032504"/>
            <a:ext cx="667512" cy="310896"/>
          </a:xfrm>
          <a:prstGeom prst="rect">
            <a:avLst/>
          </a:prstGeom>
          <a:noFill/>
        </p:spPr>
        <p:txBody>
          <a:bodyPr wrap="square" lIns="0" rIns="0" tIns="0" bIns="0" anchor="ctr">
            <a:spAutoFit/>
          </a:bodyPr>
          <a:lstStyle/>
          <a:p>
            <a:pPr algn="l"/>
            <a:r>
              <a:rPr sz="1100" b="0" i="0">
                <a:solidFill>
                  <a:srgbClr val="5B6778"/>
                </a:solidFill>
                <a:latin typeface="Arial"/>
              </a:rPr>
              <a:t>4, 7</a:t>
            </a:r>
          </a:p>
        </p:txBody>
      </p:sp>
      <p:sp>
        <p:nvSpPr>
          <p:cNvPr id="45" name="Rounded Rectangle 44"/>
          <p:cNvSpPr/>
          <p:nvPr/>
        </p:nvSpPr>
        <p:spPr>
          <a:xfrm>
            <a:off x="548639" y="4379976"/>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799" y="4379976"/>
            <a:ext cx="2468880" cy="310896"/>
          </a:xfrm>
          <a:prstGeom prst="rect">
            <a:avLst/>
          </a:prstGeom>
          <a:noFill/>
        </p:spPr>
        <p:txBody>
          <a:bodyPr wrap="square" lIns="0" rIns="0" tIns="0" bIns="0" anchor="ctr">
            <a:spAutoFit/>
          </a:bodyPr>
          <a:lstStyle/>
          <a:p>
            <a:pPr algn="l"/>
            <a:r>
              <a:rPr sz="1100" b="1" i="0">
                <a:solidFill>
                  <a:srgbClr val="1B2A41"/>
                </a:solidFill>
                <a:latin typeface="Arial"/>
              </a:rPr>
              <a:t>Tương quan</a:t>
            </a:r>
          </a:p>
        </p:txBody>
      </p:sp>
      <p:sp>
        <p:nvSpPr>
          <p:cNvPr id="47" name="TextBox 46"/>
          <p:cNvSpPr txBox="1"/>
          <p:nvPr/>
        </p:nvSpPr>
        <p:spPr>
          <a:xfrm>
            <a:off x="3428999" y="4379976"/>
            <a:ext cx="4206240" cy="310896"/>
          </a:xfrm>
          <a:prstGeom prst="rect">
            <a:avLst/>
          </a:prstGeom>
          <a:noFill/>
        </p:spPr>
        <p:txBody>
          <a:bodyPr wrap="square" lIns="0" rIns="0" tIns="0" bIns="0" anchor="ctr">
            <a:spAutoFit/>
          </a:bodyPr>
          <a:lstStyle/>
          <a:p>
            <a:pPr algn="l"/>
            <a:r>
              <a:rPr sz="1100" b="0" i="0">
                <a:solidFill>
                  <a:srgbClr val="1B2A41"/>
                </a:solidFill>
                <a:latin typeface="Arial"/>
              </a:rPr>
              <a:t>pearsonr, spearmanr; mutual_info_regression</a:t>
            </a:r>
          </a:p>
        </p:txBody>
      </p:sp>
      <p:sp>
        <p:nvSpPr>
          <p:cNvPr id="48" name="TextBox 47"/>
          <p:cNvSpPr txBox="1"/>
          <p:nvPr/>
        </p:nvSpPr>
        <p:spPr>
          <a:xfrm>
            <a:off x="7909559" y="4379976"/>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 scikit-learn</a:t>
            </a:r>
          </a:p>
        </p:txBody>
      </p:sp>
      <p:sp>
        <p:nvSpPr>
          <p:cNvPr id="49" name="TextBox 48"/>
          <p:cNvSpPr txBox="1"/>
          <p:nvPr/>
        </p:nvSpPr>
        <p:spPr>
          <a:xfrm>
            <a:off x="10835640" y="4379976"/>
            <a:ext cx="667512" cy="310896"/>
          </a:xfrm>
          <a:prstGeom prst="rect">
            <a:avLst/>
          </a:prstGeom>
          <a:noFill/>
        </p:spPr>
        <p:txBody>
          <a:bodyPr wrap="square" lIns="0" rIns="0" tIns="0" bIns="0" anchor="ctr">
            <a:spAutoFit/>
          </a:bodyPr>
          <a:lstStyle/>
          <a:p>
            <a:pPr algn="l"/>
            <a:r>
              <a:rPr sz="1100" b="0" i="0">
                <a:solidFill>
                  <a:srgbClr val="5B6778"/>
                </a:solidFill>
                <a:latin typeface="Arial"/>
              </a:rPr>
              <a:t>8</a:t>
            </a:r>
          </a:p>
        </p:txBody>
      </p:sp>
      <p:sp>
        <p:nvSpPr>
          <p:cNvPr id="50" name="TextBox 49"/>
          <p:cNvSpPr txBox="1"/>
          <p:nvPr/>
        </p:nvSpPr>
        <p:spPr>
          <a:xfrm>
            <a:off x="685799" y="4727448"/>
            <a:ext cx="2468880" cy="310896"/>
          </a:xfrm>
          <a:prstGeom prst="rect">
            <a:avLst/>
          </a:prstGeom>
          <a:noFill/>
        </p:spPr>
        <p:txBody>
          <a:bodyPr wrap="square" lIns="0" rIns="0" tIns="0" bIns="0" anchor="ctr">
            <a:spAutoFit/>
          </a:bodyPr>
          <a:lstStyle/>
          <a:p>
            <a:pPr algn="l"/>
            <a:r>
              <a:rPr sz="1100" b="1" i="0">
                <a:solidFill>
                  <a:srgbClr val="1B2A41"/>
                </a:solidFill>
                <a:latin typeface="Arial"/>
              </a:rPr>
              <a:t>Bản đồ chuỗi</a:t>
            </a:r>
          </a:p>
        </p:txBody>
      </p:sp>
      <p:sp>
        <p:nvSpPr>
          <p:cNvPr id="51" name="TextBox 50"/>
          <p:cNvSpPr txBox="1"/>
          <p:nvPr/>
        </p:nvSpPr>
        <p:spPr>
          <a:xfrm>
            <a:off x="3428999" y="4727448"/>
            <a:ext cx="4206240" cy="310896"/>
          </a:xfrm>
          <a:prstGeom prst="rect">
            <a:avLst/>
          </a:prstGeom>
          <a:noFill/>
        </p:spPr>
        <p:txBody>
          <a:bodyPr wrap="square" lIns="0" rIns="0" tIns="0" bIns="0" anchor="ctr">
            <a:spAutoFit/>
          </a:bodyPr>
          <a:lstStyle/>
          <a:p>
            <a:pPr algn="l"/>
            <a:r>
              <a:rPr sz="1100" b="0" i="0">
                <a:solidFill>
                  <a:srgbClr val="1B2A41"/>
                </a:solidFill>
                <a:latin typeface="Arial"/>
              </a:rPr>
              <a:t>StandardScaler, PCA</a:t>
            </a:r>
          </a:p>
        </p:txBody>
      </p:sp>
      <p:sp>
        <p:nvSpPr>
          <p:cNvPr id="52" name="TextBox 51"/>
          <p:cNvSpPr txBox="1"/>
          <p:nvPr/>
        </p:nvSpPr>
        <p:spPr>
          <a:xfrm>
            <a:off x="7909559" y="4727448"/>
            <a:ext cx="2651760" cy="310896"/>
          </a:xfrm>
          <a:prstGeom prst="rect">
            <a:avLst/>
          </a:prstGeom>
          <a:noFill/>
        </p:spPr>
        <p:txBody>
          <a:bodyPr wrap="square" lIns="0" rIns="0" tIns="0" bIns="0" anchor="ctr">
            <a:spAutoFit/>
          </a:bodyPr>
          <a:lstStyle/>
          <a:p>
            <a:pPr algn="l"/>
            <a:r>
              <a:rPr sz="1100" b="0" i="0">
                <a:solidFill>
                  <a:srgbClr val="1B2A41"/>
                </a:solidFill>
                <a:latin typeface="Arial"/>
              </a:rPr>
              <a:t>scikit-learn</a:t>
            </a:r>
          </a:p>
        </p:txBody>
      </p:sp>
      <p:sp>
        <p:nvSpPr>
          <p:cNvPr id="53" name="TextBox 52"/>
          <p:cNvSpPr txBox="1"/>
          <p:nvPr/>
        </p:nvSpPr>
        <p:spPr>
          <a:xfrm>
            <a:off x="10835640" y="4727448"/>
            <a:ext cx="667512" cy="310896"/>
          </a:xfrm>
          <a:prstGeom prst="rect">
            <a:avLst/>
          </a:prstGeom>
          <a:noFill/>
        </p:spPr>
        <p:txBody>
          <a:bodyPr wrap="square" lIns="0" rIns="0" tIns="0" bIns="0" anchor="ctr">
            <a:spAutoFit/>
          </a:bodyPr>
          <a:lstStyle/>
          <a:p>
            <a:pPr algn="l"/>
            <a:r>
              <a:rPr sz="1100" b="0" i="0">
                <a:solidFill>
                  <a:srgbClr val="5B6778"/>
                </a:solidFill>
                <a:latin typeface="Arial"/>
              </a:rPr>
              <a:t>9</a:t>
            </a:r>
          </a:p>
        </p:txBody>
      </p:sp>
      <p:sp>
        <p:nvSpPr>
          <p:cNvPr id="54" name="Rounded Rectangle 53"/>
          <p:cNvSpPr/>
          <p:nvPr/>
        </p:nvSpPr>
        <p:spPr>
          <a:xfrm>
            <a:off x="548639" y="5074920"/>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799" y="5074920"/>
            <a:ext cx="2468880" cy="310896"/>
          </a:xfrm>
          <a:prstGeom prst="rect">
            <a:avLst/>
          </a:prstGeom>
          <a:noFill/>
        </p:spPr>
        <p:txBody>
          <a:bodyPr wrap="square" lIns="0" rIns="0" tIns="0" bIns="0" anchor="ctr">
            <a:spAutoFit/>
          </a:bodyPr>
          <a:lstStyle/>
          <a:p>
            <a:pPr algn="l"/>
            <a:r>
              <a:rPr sz="1100" b="1" i="0">
                <a:solidFill>
                  <a:srgbClr val="1B2A41"/>
                </a:solidFill>
                <a:latin typeface="Arial"/>
              </a:rPr>
              <a:t>Điền thiếu</a:t>
            </a:r>
          </a:p>
        </p:txBody>
      </p:sp>
      <p:sp>
        <p:nvSpPr>
          <p:cNvPr id="56" name="TextBox 55"/>
          <p:cNvSpPr txBox="1"/>
          <p:nvPr/>
        </p:nvSpPr>
        <p:spPr>
          <a:xfrm>
            <a:off x="3428999" y="5074920"/>
            <a:ext cx="4206240" cy="310896"/>
          </a:xfrm>
          <a:prstGeom prst="rect">
            <a:avLst/>
          </a:prstGeom>
          <a:noFill/>
        </p:spPr>
        <p:txBody>
          <a:bodyPr wrap="square" lIns="0" rIns="0" tIns="0" bIns="0" anchor="ctr">
            <a:spAutoFit/>
          </a:bodyPr>
          <a:lstStyle/>
          <a:p>
            <a:pPr algn="l"/>
            <a:r>
              <a:rPr sz="1100" b="0" i="0">
                <a:solidFill>
                  <a:srgbClr val="1B2A41"/>
                </a:solidFill>
                <a:latin typeface="Arial"/>
              </a:rPr>
              <a:t>interpolate, ffill(limit=…)</a:t>
            </a:r>
          </a:p>
        </p:txBody>
      </p:sp>
      <p:sp>
        <p:nvSpPr>
          <p:cNvPr id="57" name="TextBox 56"/>
          <p:cNvSpPr txBox="1"/>
          <p:nvPr/>
        </p:nvSpPr>
        <p:spPr>
          <a:xfrm>
            <a:off x="7909559" y="5074920"/>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58" name="TextBox 57"/>
          <p:cNvSpPr txBox="1"/>
          <p:nvPr/>
        </p:nvSpPr>
        <p:spPr>
          <a:xfrm>
            <a:off x="10835640" y="5074920"/>
            <a:ext cx="667512" cy="310896"/>
          </a:xfrm>
          <a:prstGeom prst="rect">
            <a:avLst/>
          </a:prstGeom>
          <a:noFill/>
        </p:spPr>
        <p:txBody>
          <a:bodyPr wrap="square" lIns="0" rIns="0" tIns="0" bIns="0" anchor="ctr">
            <a:spAutoFit/>
          </a:bodyPr>
          <a:lstStyle/>
          <a:p>
            <a:pPr algn="l"/>
            <a:r>
              <a:rPr sz="1100" b="0" i="0">
                <a:solidFill>
                  <a:srgbClr val="5B6778"/>
                </a:solidFill>
                <a:latin typeface="Arial"/>
              </a:rPr>
              <a:t>10</a:t>
            </a:r>
          </a:p>
        </p:txBody>
      </p:sp>
      <p:sp>
        <p:nvSpPr>
          <p:cNvPr id="59" name="TextBox 58"/>
          <p:cNvSpPr txBox="1"/>
          <p:nvPr/>
        </p:nvSpPr>
        <p:spPr>
          <a:xfrm>
            <a:off x="685799" y="5422392"/>
            <a:ext cx="2468880" cy="310896"/>
          </a:xfrm>
          <a:prstGeom prst="rect">
            <a:avLst/>
          </a:prstGeom>
          <a:noFill/>
        </p:spPr>
        <p:txBody>
          <a:bodyPr wrap="square" lIns="0" rIns="0" tIns="0" bIns="0" anchor="ctr">
            <a:spAutoFit/>
          </a:bodyPr>
          <a:lstStyle/>
          <a:p>
            <a:pPr algn="l"/>
            <a:r>
              <a:rPr sz="1100" b="1" i="0">
                <a:solidFill>
                  <a:srgbClr val="1B2A41"/>
                </a:solidFill>
                <a:latin typeface="Arial"/>
              </a:rPr>
              <a:t>Điểm gãy</a:t>
            </a:r>
          </a:p>
        </p:txBody>
      </p:sp>
      <p:sp>
        <p:nvSpPr>
          <p:cNvPr id="60" name="TextBox 59"/>
          <p:cNvSpPr txBox="1"/>
          <p:nvPr/>
        </p:nvSpPr>
        <p:spPr>
          <a:xfrm>
            <a:off x="3428999" y="5422392"/>
            <a:ext cx="4206240" cy="310896"/>
          </a:xfrm>
          <a:prstGeom prst="rect">
            <a:avLst/>
          </a:prstGeom>
          <a:noFill/>
        </p:spPr>
        <p:txBody>
          <a:bodyPr wrap="square" lIns="0" rIns="0" tIns="0" bIns="0" anchor="ctr">
            <a:spAutoFit/>
          </a:bodyPr>
          <a:lstStyle/>
          <a:p>
            <a:pPr algn="l"/>
            <a:r>
              <a:rPr sz="1100" b="0" i="0">
                <a:solidFill>
                  <a:srgbClr val="1B2A41"/>
                </a:solidFill>
                <a:latin typeface="Arial"/>
              </a:rPr>
              <a:t>rpt.Pelt</a:t>
            </a:r>
          </a:p>
        </p:txBody>
      </p:sp>
      <p:sp>
        <p:nvSpPr>
          <p:cNvPr id="61" name="TextBox 60"/>
          <p:cNvSpPr txBox="1"/>
          <p:nvPr/>
        </p:nvSpPr>
        <p:spPr>
          <a:xfrm>
            <a:off x="7909559" y="5422392"/>
            <a:ext cx="2651760" cy="310896"/>
          </a:xfrm>
          <a:prstGeom prst="rect">
            <a:avLst/>
          </a:prstGeom>
          <a:noFill/>
        </p:spPr>
        <p:txBody>
          <a:bodyPr wrap="square" lIns="0" rIns="0" tIns="0" bIns="0" anchor="ctr">
            <a:spAutoFit/>
          </a:bodyPr>
          <a:lstStyle/>
          <a:p>
            <a:pPr algn="l"/>
            <a:r>
              <a:rPr sz="1100" b="0" i="0">
                <a:solidFill>
                  <a:srgbClr val="1B2A41"/>
                </a:solidFill>
                <a:latin typeface="Arial"/>
              </a:rPr>
              <a:t>ruptures</a:t>
            </a:r>
          </a:p>
        </p:txBody>
      </p:sp>
      <p:sp>
        <p:nvSpPr>
          <p:cNvPr id="62" name="TextBox 61"/>
          <p:cNvSpPr txBox="1"/>
          <p:nvPr/>
        </p:nvSpPr>
        <p:spPr>
          <a:xfrm>
            <a:off x="10835640" y="5422392"/>
            <a:ext cx="667512" cy="310896"/>
          </a:xfrm>
          <a:prstGeom prst="rect">
            <a:avLst/>
          </a:prstGeom>
          <a:noFill/>
        </p:spPr>
        <p:txBody>
          <a:bodyPr wrap="square" lIns="0" rIns="0" tIns="0" bIns="0" anchor="ctr">
            <a:spAutoFit/>
          </a:bodyPr>
          <a:lstStyle/>
          <a:p>
            <a:pPr algn="l"/>
            <a:r>
              <a:rPr sz="1100" b="0" i="0">
                <a:solidFill>
                  <a:srgbClr val="5B6778"/>
                </a:solidFill>
                <a:latin typeface="Arial"/>
              </a:rPr>
              <a:t>11</a:t>
            </a:r>
          </a:p>
        </p:txBody>
      </p:sp>
      <p:sp>
        <p:nvSpPr>
          <p:cNvPr id="63" name="Rounded Rectangle 62"/>
          <p:cNvSpPr/>
          <p:nvPr/>
        </p:nvSpPr>
        <p:spPr>
          <a:xfrm>
            <a:off x="548639" y="5769864"/>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799" y="5769864"/>
            <a:ext cx="2468880" cy="310896"/>
          </a:xfrm>
          <a:prstGeom prst="rect">
            <a:avLst/>
          </a:prstGeom>
          <a:noFill/>
        </p:spPr>
        <p:txBody>
          <a:bodyPr wrap="square" lIns="0" rIns="0" tIns="0" bIns="0" anchor="ctr">
            <a:spAutoFit/>
          </a:bodyPr>
          <a:lstStyle/>
          <a:p>
            <a:pPr algn="l"/>
            <a:r>
              <a:rPr sz="1100" b="1" i="0">
                <a:solidFill>
                  <a:srgbClr val="1B2A41"/>
                </a:solidFill>
                <a:latin typeface="Arial"/>
              </a:rPr>
              <a:t>Phổ, bộ lọc</a:t>
            </a:r>
          </a:p>
        </p:txBody>
      </p:sp>
      <p:sp>
        <p:nvSpPr>
          <p:cNvPr id="65" name="TextBox 64"/>
          <p:cNvSpPr txBox="1"/>
          <p:nvPr/>
        </p:nvSpPr>
        <p:spPr>
          <a:xfrm>
            <a:off x="3428999" y="5769864"/>
            <a:ext cx="4206240" cy="310896"/>
          </a:xfrm>
          <a:prstGeom prst="rect">
            <a:avLst/>
          </a:prstGeom>
          <a:noFill/>
        </p:spPr>
        <p:txBody>
          <a:bodyPr wrap="square" lIns="0" rIns="0" tIns="0" bIns="0" anchor="ctr">
            <a:spAutoFit/>
          </a:bodyPr>
          <a:lstStyle/>
          <a:p>
            <a:pPr algn="l"/>
            <a:r>
              <a:rPr sz="1100" b="0" i="0">
                <a:solidFill>
                  <a:srgbClr val="1B2A41"/>
                </a:solidFill>
                <a:latin typeface="Arial"/>
              </a:rPr>
              <a:t>signal.welch, sosfilt, ewm</a:t>
            </a:r>
          </a:p>
        </p:txBody>
      </p:sp>
      <p:sp>
        <p:nvSpPr>
          <p:cNvPr id="66" name="TextBox 65"/>
          <p:cNvSpPr txBox="1"/>
          <p:nvPr/>
        </p:nvSpPr>
        <p:spPr>
          <a:xfrm>
            <a:off x="7909559" y="5769864"/>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 pandas</a:t>
            </a:r>
          </a:p>
        </p:txBody>
      </p:sp>
      <p:sp>
        <p:nvSpPr>
          <p:cNvPr id="67" name="TextBox 66"/>
          <p:cNvSpPr txBox="1"/>
          <p:nvPr/>
        </p:nvSpPr>
        <p:spPr>
          <a:xfrm>
            <a:off x="10835640" y="5769864"/>
            <a:ext cx="667512" cy="310896"/>
          </a:xfrm>
          <a:prstGeom prst="rect">
            <a:avLst/>
          </a:prstGeom>
          <a:noFill/>
        </p:spPr>
        <p:txBody>
          <a:bodyPr wrap="square" lIns="0" rIns="0" tIns="0" bIns="0" anchor="ctr">
            <a:spAutoFit/>
          </a:bodyPr>
          <a:lstStyle/>
          <a:p>
            <a:pPr algn="l"/>
            <a:r>
              <a:rPr sz="1100" b="0" i="0">
                <a:solidFill>
                  <a:srgbClr val="5B6778"/>
                </a:solidFill>
                <a:latin typeface="Arial"/>
              </a:rPr>
              <a:t>12</a:t>
            </a:r>
          </a:p>
        </p:txBody>
      </p:sp>
      <p:sp>
        <p:nvSpPr>
          <p:cNvPr id="68" name="TextBox 67"/>
          <p:cNvSpPr txBox="1"/>
          <p:nvPr/>
        </p:nvSpPr>
        <p:spPr>
          <a:xfrm>
            <a:off x="685799" y="6117336"/>
            <a:ext cx="2468880" cy="310896"/>
          </a:xfrm>
          <a:prstGeom prst="rect">
            <a:avLst/>
          </a:prstGeom>
          <a:noFill/>
        </p:spPr>
        <p:txBody>
          <a:bodyPr wrap="square" lIns="0" rIns="0" tIns="0" bIns="0" anchor="ctr">
            <a:spAutoFit/>
          </a:bodyPr>
          <a:lstStyle/>
          <a:p>
            <a:pPr algn="l"/>
            <a:r>
              <a:rPr sz="1100" b="1" i="0">
                <a:solidFill>
                  <a:srgbClr val="1B2A41"/>
                </a:solidFill>
                <a:latin typeface="Arial"/>
              </a:rPr>
              <a:t>Lag, rolling</a:t>
            </a:r>
          </a:p>
        </p:txBody>
      </p:sp>
      <p:sp>
        <p:nvSpPr>
          <p:cNvPr id="69" name="TextBox 68"/>
          <p:cNvSpPr txBox="1"/>
          <p:nvPr/>
        </p:nvSpPr>
        <p:spPr>
          <a:xfrm>
            <a:off x="3428999" y="6117336"/>
            <a:ext cx="4206240" cy="310896"/>
          </a:xfrm>
          <a:prstGeom prst="rect">
            <a:avLst/>
          </a:prstGeom>
          <a:noFill/>
        </p:spPr>
        <p:txBody>
          <a:bodyPr wrap="square" lIns="0" rIns="0" tIns="0" bIns="0" anchor="ctr">
            <a:spAutoFit/>
          </a:bodyPr>
          <a:lstStyle/>
          <a:p>
            <a:pPr algn="l"/>
            <a:r>
              <a:rPr sz="1100" b="0" i="0">
                <a:solidFill>
                  <a:srgbClr val="1B2A41"/>
                </a:solidFill>
                <a:latin typeface="Arial"/>
              </a:rPr>
              <a:t>shift, rolling</a:t>
            </a:r>
          </a:p>
        </p:txBody>
      </p:sp>
      <p:sp>
        <p:nvSpPr>
          <p:cNvPr id="70" name="TextBox 69"/>
          <p:cNvSpPr txBox="1"/>
          <p:nvPr/>
        </p:nvSpPr>
        <p:spPr>
          <a:xfrm>
            <a:off x="7909559" y="6117336"/>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71" name="TextBox 70"/>
          <p:cNvSpPr txBox="1"/>
          <p:nvPr/>
        </p:nvSpPr>
        <p:spPr>
          <a:xfrm>
            <a:off x="10835640" y="6117336"/>
            <a:ext cx="667512" cy="310896"/>
          </a:xfrm>
          <a:prstGeom prst="rect">
            <a:avLst/>
          </a:prstGeom>
          <a:noFill/>
        </p:spPr>
        <p:txBody>
          <a:bodyPr wrap="square" lIns="0" rIns="0" tIns="0" bIns="0" anchor="ctr">
            <a:spAutoFit/>
          </a:bodyPr>
          <a:lstStyle/>
          <a:p>
            <a:pPr algn="l"/>
            <a:r>
              <a:rPr sz="1100" b="0" i="0">
                <a:solidFill>
                  <a:srgbClr val="5B6778"/>
                </a:solidFill>
                <a:latin typeface="Arial"/>
              </a:rPr>
              <a:t>13</a:t>
            </a:r>
          </a:p>
        </p:txBody>
      </p:sp>
      <p:sp>
        <p:nvSpPr>
          <p:cNvPr id="72" name="Rounded Rectangle 71"/>
          <p:cNvSpPr/>
          <p:nvPr/>
        </p:nvSpPr>
        <p:spPr>
          <a:xfrm>
            <a:off x="548639" y="6464808"/>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5799" y="6464808"/>
            <a:ext cx="2468880" cy="310896"/>
          </a:xfrm>
          <a:prstGeom prst="rect">
            <a:avLst/>
          </a:prstGeom>
          <a:noFill/>
        </p:spPr>
        <p:txBody>
          <a:bodyPr wrap="square" lIns="0" rIns="0" tIns="0" bIns="0" anchor="ctr">
            <a:spAutoFit/>
          </a:bodyPr>
          <a:lstStyle/>
          <a:p>
            <a:pPr algn="l"/>
            <a:r>
              <a:rPr sz="1100" b="1" i="0">
                <a:solidFill>
                  <a:srgbClr val="1B2A41"/>
                </a:solidFill>
                <a:latin typeface="Arial"/>
              </a:rPr>
              <a:t>Chỉ số sai số</a:t>
            </a:r>
          </a:p>
        </p:txBody>
      </p:sp>
      <p:sp>
        <p:nvSpPr>
          <p:cNvPr id="74" name="TextBox 73"/>
          <p:cNvSpPr txBox="1"/>
          <p:nvPr/>
        </p:nvSpPr>
        <p:spPr>
          <a:xfrm>
            <a:off x="3428999" y="6464808"/>
            <a:ext cx="4206240" cy="310896"/>
          </a:xfrm>
          <a:prstGeom prst="rect">
            <a:avLst/>
          </a:prstGeom>
          <a:noFill/>
        </p:spPr>
        <p:txBody>
          <a:bodyPr wrap="square" lIns="0" rIns="0" tIns="0" bIns="0" anchor="ctr">
            <a:spAutoFit/>
          </a:bodyPr>
          <a:lstStyle/>
          <a:p>
            <a:pPr algn="l"/>
            <a:r>
              <a:rPr sz="1100" b="0" i="0">
                <a:solidFill>
                  <a:srgbClr val="1B2A41"/>
                </a:solidFill>
                <a:latin typeface="Arial"/>
              </a:rPr>
              <a:t>mase, smape</a:t>
            </a:r>
          </a:p>
        </p:txBody>
      </p:sp>
      <p:sp>
        <p:nvSpPr>
          <p:cNvPr id="75" name="TextBox 74"/>
          <p:cNvSpPr txBox="1"/>
          <p:nvPr/>
        </p:nvSpPr>
        <p:spPr>
          <a:xfrm>
            <a:off x="7909559" y="6464808"/>
            <a:ext cx="2651760" cy="310896"/>
          </a:xfrm>
          <a:prstGeom prst="rect">
            <a:avLst/>
          </a:prstGeom>
          <a:noFill/>
        </p:spPr>
        <p:txBody>
          <a:bodyPr wrap="square" lIns="0" rIns="0" tIns="0" bIns="0" anchor="ctr">
            <a:spAutoFit/>
          </a:bodyPr>
          <a:lstStyle/>
          <a:p>
            <a:pPr algn="l"/>
            <a:r>
              <a:rPr sz="1100" b="0" i="0">
                <a:solidFill>
                  <a:srgbClr val="1B2A41"/>
                </a:solidFill>
                <a:latin typeface="Arial"/>
              </a:rPr>
              <a:t>tự viết, utilsforecast</a:t>
            </a:r>
          </a:p>
        </p:txBody>
      </p:sp>
      <p:sp>
        <p:nvSpPr>
          <p:cNvPr id="76" name="TextBox 75"/>
          <p:cNvSpPr txBox="1"/>
          <p:nvPr/>
        </p:nvSpPr>
        <p:spPr>
          <a:xfrm>
            <a:off x="10835640" y="6464808"/>
            <a:ext cx="667512" cy="310896"/>
          </a:xfrm>
          <a:prstGeom prst="rect">
            <a:avLst/>
          </a:prstGeom>
          <a:noFill/>
        </p:spPr>
        <p:txBody>
          <a:bodyPr wrap="square" lIns="0" rIns="0" tIns="0" bIns="0" anchor="ctr">
            <a:spAutoFit/>
          </a:bodyPr>
          <a:lstStyle/>
          <a:p>
            <a:pPr algn="l"/>
            <a:r>
              <a:rPr sz="1100" b="0" i="0">
                <a:solidFill>
                  <a:srgbClr val="5B6778"/>
                </a:solidFill>
                <a:latin typeface="Arial"/>
              </a:rPr>
              <a:t>14</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D</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Đánh giá trung thực</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6C4AB6"/>
                </a:solidFill>
                <a:latin typeface="Arial"/>
              </a:rPr>
              <a:t>Buổi 14–15</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Tiền xử lý có giúp thật không? Chỉ đo trung thực mới biết.</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Phần dư sạch: không còn gì để khai thác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residual diagnostics · fitted values · Ljung–Box · Jarque–Bera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mô hình đã khai thác hết quy luật trong dữ liệu chưa.</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3b5157be2d7e.png"/>
          <p:cNvPicPr>
            <a:picLocks noChangeAspect="1"/>
          </p:cNvPicPr>
          <p:nvPr/>
        </p:nvPicPr>
        <p:blipFill>
          <a:blip r:embed="rId2"/>
          <a:stretch>
            <a:fillRect/>
          </a:stretch>
        </p:blipFill>
        <p:spPr>
          <a:xfrm>
            <a:off x="1783080" y="2243328"/>
            <a:ext cx="7391400" cy="304800"/>
          </a:xfrm>
          <a:prstGeom prst="rect">
            <a:avLst/>
          </a:prstGeom>
        </p:spPr>
      </p:pic>
      <p:pic>
        <p:nvPicPr>
          <p:cNvPr id="10" name="Picture 9" descr="chan-doan-phan-du.png"/>
          <p:cNvPicPr>
            <a:picLocks noChangeAspect="1"/>
          </p:cNvPicPr>
          <p:nvPr/>
        </p:nvPicPr>
        <p:blipFill>
          <a:blip r:embed="rId3"/>
          <a:stretch>
            <a:fillRect/>
          </a:stretch>
        </p:blipFill>
        <p:spPr>
          <a:xfrm>
            <a:off x="2465052" y="2816351"/>
            <a:ext cx="7258846" cy="2121408"/>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dư là thực tế trừ giá trị khớp (fitted) trên phần học. Sai số dự báo thì đo trên kỳ chấm, phần mô hình chưa thấy.</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Phần dư sạch trông thế nào</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Trung bình gần 0, không còn tự tương quan, độ dao động ổn định, và gần hình chuông (kiểm bằng Jarque–Bera).</a:t>
            </a:r>
          </a:p>
        </p:txBody>
      </p:sp>
      <p:sp>
        <p:nvSpPr>
          <p:cNvPr id="17" name="Rounded Rectangle 1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9" name="TextBox 1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dư của seasonal naive trên một chuỗi M4 có Ljung-Box p = 0,000: vẫn còn quy luật bị bỏ sót.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Mỗi chỉ số thưởng một kiểu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MAE · RMSE · mean error (bias)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thước đo sai số khớp với cái giá thật của sai lệch.</a:t>
            </a:r>
          </a:p>
        </p:txBody>
      </p:sp>
      <p:sp>
        <p:nvSpPr>
          <p:cNvPr id="7" name="Rounded Rectangle 6"/>
          <p:cNvSpPr/>
          <p:nvPr/>
        </p:nvSpPr>
        <p:spPr>
          <a:xfrm>
            <a:off x="548640" y="2066543"/>
            <a:ext cx="11091672" cy="7376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737616"/>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c47b0e1dc8a5.png"/>
          <p:cNvPicPr>
            <a:picLocks noChangeAspect="1"/>
          </p:cNvPicPr>
          <p:nvPr/>
        </p:nvPicPr>
        <p:blipFill>
          <a:blip r:embed="rId2"/>
          <a:stretch>
            <a:fillRect/>
          </a:stretch>
        </p:blipFill>
        <p:spPr>
          <a:xfrm>
            <a:off x="1783080" y="2130552"/>
            <a:ext cx="7427976" cy="609600"/>
          </a:xfrm>
          <a:prstGeom prst="rect">
            <a:avLst/>
          </a:prstGeom>
        </p:spPr>
      </p:pic>
      <p:pic>
        <p:nvPicPr>
          <p:cNvPr id="10" name="Picture 9" descr="chi-so-quyet-dinh.png"/>
          <p:cNvPicPr>
            <a:picLocks noChangeAspect="1"/>
          </p:cNvPicPr>
          <p:nvPr/>
        </p:nvPicPr>
        <p:blipFill>
          <a:blip r:embed="rId3"/>
          <a:stretch>
            <a:fillRect/>
          </a:stretch>
        </p:blipFill>
        <p:spPr>
          <a:xfrm>
            <a:off x="3046854" y="2895600"/>
            <a:ext cx="6095242" cy="2042160"/>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MAE là trung bình độ lớn sai số. RMSE là căn của trung bình sai số bình phương. ME là trung bình sai số có dấu.</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ME dương hay âm nghĩa là gì</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7" name="Connector 16"/>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881372"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&lt; 0</a:t>
            </a:r>
          </a:p>
        </p:txBody>
      </p:sp>
      <p:sp>
        <p:nvSpPr>
          <p:cNvPr id="20" name="TextBox 19"/>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dự báo cao hơn thực tế</a:t>
            </a:r>
          </a:p>
        </p:txBody>
      </p:sp>
      <p:sp>
        <p:nvSpPr>
          <p:cNvPr id="21" name="Oval 20"/>
          <p:cNvSpPr/>
          <p:nvPr/>
        </p:nvSpPr>
        <p:spPr>
          <a:xfrm>
            <a:off x="6012179"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 0</a:t>
            </a:r>
          </a:p>
        </p:txBody>
      </p:sp>
      <p:sp>
        <p:nvSpPr>
          <p:cNvPr id="23" name="TextBox 22"/>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lệch một phía</a:t>
            </a:r>
          </a:p>
        </p:txBody>
      </p:sp>
      <p:sp>
        <p:nvSpPr>
          <p:cNvPr id="24" name="Oval 23"/>
          <p:cNvSpPr/>
          <p:nvPr/>
        </p:nvSpPr>
        <p:spPr>
          <a:xfrm>
            <a:off x="7142987"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&gt; 0</a:t>
            </a:r>
          </a:p>
        </p:txBody>
      </p:sp>
      <p:sp>
        <p:nvSpPr>
          <p:cNvPr id="26" name="TextBox 25"/>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dự báo thấp hơn thực tế</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Thực tế 10, 12, 8, 14, 16 và dự báo 11, 10, 9, 14, 12 cho MAE 1,6, RMSE 2,10 và ME 0,8.</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Có số 0 thì MAPE hỏng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MAPE · sMAPE · WAPE (weighted absolute percentage error)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sai số giữa các chuỗi khác đơn vị, khác cỡ, kể cả chuỗi có số 0.</a:t>
            </a:r>
          </a:p>
        </p:txBody>
      </p:sp>
      <p:sp>
        <p:nvSpPr>
          <p:cNvPr id="7" name="Rounded Rectangle 6"/>
          <p:cNvSpPr/>
          <p:nvPr/>
        </p:nvSpPr>
        <p:spPr>
          <a:xfrm>
            <a:off x="548640" y="2066543"/>
            <a:ext cx="11091672"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890016"/>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2062fbfc3406.png"/>
          <p:cNvPicPr>
            <a:picLocks noChangeAspect="1"/>
          </p:cNvPicPr>
          <p:nvPr/>
        </p:nvPicPr>
        <p:blipFill>
          <a:blip r:embed="rId2"/>
          <a:stretch>
            <a:fillRect/>
          </a:stretch>
        </p:blipFill>
        <p:spPr>
          <a:xfrm>
            <a:off x="1783080" y="2130552"/>
            <a:ext cx="7403591" cy="762000"/>
          </a:xfrm>
          <a:prstGeom prst="rect">
            <a:avLst/>
          </a:prstGeom>
        </p:spPr>
      </p:pic>
      <p:pic>
        <p:nvPicPr>
          <p:cNvPr id="10" name="Picture 9" descr="doi-chi-so-doi-hang.png"/>
          <p:cNvPicPr>
            <a:picLocks noChangeAspect="1"/>
          </p:cNvPicPr>
          <p:nvPr/>
        </p:nvPicPr>
        <p:blipFill>
          <a:blip r:embed="rId3"/>
          <a:stretch>
            <a:fillRect/>
          </a:stretch>
        </p:blipFill>
        <p:spPr>
          <a:xfrm>
            <a:off x="3170527" y="3048000"/>
            <a:ext cx="5847896" cy="1889760"/>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chia sai số cho thực tế. sMAPE chia cho trung bình của |thực tế| và |dự báo|. WAPE chia tổng sai số cho tổng thực tế.</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Có ngày thực tế bằng 0 thì MAPE ra vô hạn. Đổi chỉ số là đổi hạng: trên bán lẻ, mỗi chỉ số chọn một baseline hạng nhất khác.</a:t>
            </a:r>
          </a:p>
        </p:txBody>
      </p:sp>
      <p:sp>
        <p:nvSpPr>
          <p:cNvPr id="17" name="Rounded Rectangle 1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9" name="TextBox 1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Bán lẻ, 300 mã hàng: MAPE không tính được ở cả 300. utilsforecast trả MAPE, sMAPE ở thang 0–1: lệch 100 và 200 lần so với số phần trăm.</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MAPE phạt dự báo cao nặng hơn dự báo thấp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MAPE asymmetry · under-forecast bias · sMAPE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Cùng lệch 50 đơn vị, vì sao dự báo cao bị MAPE phạt nặng hơn dự báo thấp?</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MAPE đẩy dự báo về phía thấp, trước khi dùng nó để chọn mô hình hay đặt hàng.</a:t>
            </a:r>
          </a:p>
        </p:txBody>
      </p:sp>
      <p:pic>
        <p:nvPicPr>
          <p:cNvPr id="8" name="Picture 7" descr="chi-so-quyet-dinh.png"/>
          <p:cNvPicPr>
            <a:picLocks noChangeAspect="1"/>
          </p:cNvPicPr>
          <p:nvPr/>
        </p:nvPicPr>
        <p:blipFill>
          <a:blip r:embed="rId2"/>
          <a:stretch>
            <a:fillRect/>
          </a:stretch>
        </p:blipFill>
        <p:spPr>
          <a:xfrm>
            <a:off x="2355454" y="2432303"/>
            <a:ext cx="7478043"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chia sai số cho thực tế. Dự báo thấp sai nhiều nhất 100% (dự báo 0); dự báo cao thì sai bao nhiêu phần trăm cũng được.</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Tối ưu MAPE thì dự báo thấp hơn cả trung vị. sMAPE mang tên “đối xứng” nhưng cũng không đối xứng.</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Cùng lệch 50: thực tế 100, dự báo 150 cho MAPE 50%; thực tế 150, dự báo 100 chỉ 33,3%. Doanh số mô phỏng: MAE tối ưu ở 20,0, MAPE ở 9,1.</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MASE: chia cho sai số baseline phần học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9,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MASE (mean absolute scaled error) · RMSSE · in-sample scaling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Chuỗi này MAE 98, chuỗi kia MAE 3: không so được. Đổi ra phần trăm thì gặp số 0 là hỏng.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sai số giữa các chuỗi khác đơn vị, kể cả có số 0, không dùng thông tin kỳ chấm.</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6C4AB6"/>
                </a:solidFill>
                <a:latin typeface="Arial"/>
              </a:rPr>
              <a:t>“MASE &lt; 1 chưa chắc thắng seasonal naive trên kỳ chấm: chạy baseline trên cùng kỳ.”</a:t>
            </a:r>
          </a:p>
        </p:txBody>
      </p:sp>
      <p:sp>
        <p:nvSpPr>
          <p:cNvPr id="9" name="Rounded Rectangle 8"/>
          <p:cNvSpPr/>
          <p:nvPr/>
        </p:nvSpPr>
        <p:spPr>
          <a:xfrm>
            <a:off x="548640" y="2816351"/>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93268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1" name="Picture 10" descr="d86423b448ea.png"/>
          <p:cNvPicPr>
            <a:picLocks noChangeAspect="1"/>
          </p:cNvPicPr>
          <p:nvPr/>
        </p:nvPicPr>
        <p:blipFill>
          <a:blip r:embed="rId2"/>
          <a:stretch>
            <a:fillRect/>
          </a:stretch>
        </p:blipFill>
        <p:spPr>
          <a:xfrm>
            <a:off x="1783080" y="2871215"/>
            <a:ext cx="6010179" cy="822960"/>
          </a:xfrm>
          <a:prstGeom prst="rect">
            <a:avLst/>
          </a:prstGeom>
        </p:spPr>
      </p:pic>
      <p:sp>
        <p:nvSpPr>
          <p:cNvPr id="12" name="TextBox 11"/>
          <p:cNvSpPr txBox="1"/>
          <p:nvPr/>
        </p:nvSpPr>
        <p:spPr>
          <a:xfrm>
            <a:off x="7976139" y="2816351"/>
            <a:ext cx="3527012" cy="932688"/>
          </a:xfrm>
          <a:prstGeom prst="rect">
            <a:avLst/>
          </a:prstGeom>
          <a:noFill/>
        </p:spPr>
        <p:txBody>
          <a:bodyPr wrap="square" lIns="0" rIns="0" tIns="0" bIns="0" anchor="ctr">
            <a:spAutoFit/>
          </a:bodyPr>
          <a:lstStyle/>
          <a:p>
            <a:pPr algn="l"/>
            <a:r>
              <a:rPr sz="1150" b="0" i="0">
                <a:solidFill>
                  <a:srgbClr val="1B2A41"/>
                </a:solidFill>
                <a:latin typeface="Arial"/>
              </a:rPr>
              <a:t>T điểm phần học, m là chu kỳ mùa vụ. Mẫu số chỉ lấy từ phần học.</a:t>
            </a:r>
          </a:p>
        </p:txBody>
      </p:sp>
      <p:pic>
        <p:nvPicPr>
          <p:cNvPr id="13" name="Picture 12" descr="entropy-sai-so.png"/>
          <p:cNvPicPr>
            <a:picLocks noChangeAspect="1"/>
          </p:cNvPicPr>
          <p:nvPr/>
        </p:nvPicPr>
        <p:blipFill>
          <a:blip r:embed="rId3"/>
          <a:stretch>
            <a:fillRect/>
          </a:stretch>
        </p:blipFill>
        <p:spPr>
          <a:xfrm>
            <a:off x="4499639" y="3840479"/>
            <a:ext cx="3189672" cy="109728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MASE chia MAE trên kỳ chấm cho MAE của seasonal naive trên phần học. RMSSE làm tương tự với bình phương (cuộc thi M5).</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881372"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dưới 1</a:t>
            </a:r>
          </a:p>
        </p:txBody>
      </p:sp>
      <p:sp>
        <p:nvSpPr>
          <p:cNvPr id="23" name="TextBox 22"/>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sai ít hơn baseline trên phần học</a:t>
            </a:r>
          </a:p>
        </p:txBody>
      </p:sp>
      <p:sp>
        <p:nvSpPr>
          <p:cNvPr id="24" name="Oval 23"/>
          <p:cNvSpPr/>
          <p:nvPr/>
        </p:nvSpPr>
        <p:spPr>
          <a:xfrm>
            <a:off x="6012179"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1</a:t>
            </a:r>
          </a:p>
        </p:txBody>
      </p:sp>
      <p:sp>
        <p:nvSpPr>
          <p:cNvPr id="26" name="TextBox 25"/>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ngang</a:t>
            </a:r>
          </a:p>
        </p:txBody>
      </p:sp>
      <p:sp>
        <p:nvSpPr>
          <p:cNvPr id="27" name="Oval 26"/>
          <p:cNvSpPr/>
          <p:nvPr/>
        </p:nvSpPr>
        <p:spPr>
          <a:xfrm>
            <a:off x="7142987"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trên 1</a:t>
            </a:r>
          </a:p>
        </p:txBody>
      </p:sp>
      <p:sp>
        <p:nvSpPr>
          <p:cNvPr id="29" name="TextBox 28"/>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sai nhiều hơn</a:t>
            </a:r>
          </a:p>
        </p:txBody>
      </p:sp>
      <p:sp>
        <p:nvSpPr>
          <p:cNvPr id="30" name="Rounded Rectangle 2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32" name="TextBox 3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học 9, 11, 10, 12, 13: bước nhảy trung bình 1,5; MAE 1,6 → MASE 1,07. Mẫu số lấy nhầm trên kỳ chấm: naive trên M4 ra 0,972 thay vì 0,835.</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Tám chỉ số: đo gì, ưa gì, hỏng khi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411480"/>
          </a:xfrm>
          <a:prstGeom prst="rect">
            <a:avLst/>
          </a:prstGeom>
          <a:noFill/>
        </p:spPr>
        <p:txBody>
          <a:bodyPr wrap="square" lIns="0" rIns="0" tIns="0" bIns="0" anchor="t">
            <a:spAutoFit/>
          </a:bodyPr>
          <a:lstStyle/>
          <a:p>
            <a:pPr algn="l"/>
            <a:r>
              <a:rPr sz="1700" b="0" i="1">
                <a:solidFill>
                  <a:srgbClr val="6C4AB6"/>
                </a:solidFill>
                <a:latin typeface="Arial"/>
              </a:rPr>
              <a:t>“Chọn chỉ số theo quyết định trước khi xem kết quả; đổi chỉ số là đổi hạng.”</a:t>
            </a:r>
          </a:p>
        </p:txBody>
      </p:sp>
      <p:sp>
        <p:nvSpPr>
          <p:cNvPr id="6" name="Rectangle 5"/>
          <p:cNvSpPr/>
          <p:nvPr/>
        </p:nvSpPr>
        <p:spPr>
          <a:xfrm>
            <a:off x="548640" y="1801368"/>
            <a:ext cx="1280160" cy="53035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Chỉ số</a:t>
            </a:r>
          </a:p>
        </p:txBody>
      </p:sp>
      <p:sp>
        <p:nvSpPr>
          <p:cNvPr id="7" name="Rectangle 6"/>
          <p:cNvSpPr/>
          <p:nvPr/>
        </p:nvSpPr>
        <p:spPr>
          <a:xfrm>
            <a:off x="1828800" y="1801368"/>
            <a:ext cx="3749039" cy="53035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Tính bằng lời</a:t>
            </a:r>
          </a:p>
        </p:txBody>
      </p:sp>
      <p:sp>
        <p:nvSpPr>
          <p:cNvPr id="8" name="Rectangle 7"/>
          <p:cNvSpPr/>
          <p:nvPr/>
        </p:nvSpPr>
        <p:spPr>
          <a:xfrm>
            <a:off x="5577840" y="1801368"/>
            <a:ext cx="3108960" cy="53035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Ưa gì, dùng để làm gì</a:t>
            </a:r>
          </a:p>
        </p:txBody>
      </p:sp>
      <p:sp>
        <p:nvSpPr>
          <p:cNvPr id="9" name="Rectangle 8"/>
          <p:cNvSpPr/>
          <p:nvPr/>
        </p:nvSpPr>
        <p:spPr>
          <a:xfrm>
            <a:off x="8686800" y="1801368"/>
            <a:ext cx="2953512" cy="530352"/>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Hỏng hay lệch khi</a:t>
            </a:r>
          </a:p>
        </p:txBody>
      </p:sp>
      <p:sp>
        <p:nvSpPr>
          <p:cNvPr id="10" name="Rectangle 9"/>
          <p:cNvSpPr/>
          <p:nvPr/>
        </p:nvSpPr>
        <p:spPr>
          <a:xfrm>
            <a:off x="548640" y="2331720"/>
            <a:ext cx="12801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ME</a:t>
            </a:r>
          </a:p>
        </p:txBody>
      </p:sp>
      <p:sp>
        <p:nvSpPr>
          <p:cNvPr id="11" name="Rectangle 10"/>
          <p:cNvSpPr/>
          <p:nvPr/>
        </p:nvSpPr>
        <p:spPr>
          <a:xfrm>
            <a:off x="1828800" y="2331720"/>
            <a:ext cx="3749039"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trung bình sai số, giữ dấu</a:t>
            </a:r>
          </a:p>
        </p:txBody>
      </p:sp>
      <p:sp>
        <p:nvSpPr>
          <p:cNvPr id="12" name="Rectangle 11"/>
          <p:cNvSpPr/>
          <p:nvPr/>
        </p:nvSpPr>
        <p:spPr>
          <a:xfrm>
            <a:off x="5577840" y="2331720"/>
            <a:ext cx="31089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đo độ chệch: dương là dự báo thấp</a:t>
            </a:r>
          </a:p>
        </p:txBody>
      </p:sp>
      <p:sp>
        <p:nvSpPr>
          <p:cNvPr id="13" name="Rectangle 12"/>
          <p:cNvSpPr/>
          <p:nvPr/>
        </p:nvSpPr>
        <p:spPr>
          <a:xfrm>
            <a:off x="8686800" y="2331720"/>
            <a:ext cx="2953512"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lệch lên, lệch xuống bù nhau</a:t>
            </a:r>
          </a:p>
        </p:txBody>
      </p:sp>
      <p:sp>
        <p:nvSpPr>
          <p:cNvPr id="14" name="Rectangle 13"/>
          <p:cNvSpPr/>
          <p:nvPr/>
        </p:nvSpPr>
        <p:spPr>
          <a:xfrm>
            <a:off x="548640" y="2862072"/>
            <a:ext cx="12801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MAE</a:t>
            </a:r>
          </a:p>
        </p:txBody>
      </p:sp>
      <p:sp>
        <p:nvSpPr>
          <p:cNvPr id="15" name="Rectangle 14"/>
          <p:cNvSpPr/>
          <p:nvPr/>
        </p:nvSpPr>
        <p:spPr>
          <a:xfrm>
            <a:off x="1828800" y="2862072"/>
            <a:ext cx="3749039"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trung bình độ lớn sai số</a:t>
            </a:r>
          </a:p>
        </p:txBody>
      </p:sp>
      <p:sp>
        <p:nvSpPr>
          <p:cNvPr id="16" name="Rectangle 15"/>
          <p:cNvSpPr/>
          <p:nvPr/>
        </p:nvSpPr>
        <p:spPr>
          <a:xfrm>
            <a:off x="5577840" y="2862072"/>
            <a:ext cx="31089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ưa trung vị</a:t>
            </a:r>
          </a:p>
        </p:txBody>
      </p:sp>
      <p:sp>
        <p:nvSpPr>
          <p:cNvPr id="17" name="Rectangle 16"/>
          <p:cNvSpPr/>
          <p:nvPr/>
        </p:nvSpPr>
        <p:spPr>
          <a:xfrm>
            <a:off x="8686800" y="2862072"/>
            <a:ext cx="2953512"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so các chuỗi khác đơn vị</a:t>
            </a:r>
          </a:p>
        </p:txBody>
      </p:sp>
      <p:sp>
        <p:nvSpPr>
          <p:cNvPr id="18" name="Rectangle 17"/>
          <p:cNvSpPr/>
          <p:nvPr/>
        </p:nvSpPr>
        <p:spPr>
          <a:xfrm>
            <a:off x="548640" y="3392424"/>
            <a:ext cx="12801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RMSE</a:t>
            </a:r>
          </a:p>
        </p:txBody>
      </p:sp>
      <p:sp>
        <p:nvSpPr>
          <p:cNvPr id="19" name="Rectangle 18"/>
          <p:cNvSpPr/>
          <p:nvPr/>
        </p:nvSpPr>
        <p:spPr>
          <a:xfrm>
            <a:off x="1828800" y="3392424"/>
            <a:ext cx="3749039"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căn của trung bình sai số bình phương</a:t>
            </a:r>
          </a:p>
        </p:txBody>
      </p:sp>
      <p:sp>
        <p:nvSpPr>
          <p:cNvPr id="20" name="Rectangle 19"/>
          <p:cNvSpPr/>
          <p:nvPr/>
        </p:nvSpPr>
        <p:spPr>
          <a:xfrm>
            <a:off x="5577840" y="3392424"/>
            <a:ext cx="31089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ưa trung bình; phạt nặng sai số lớn</a:t>
            </a:r>
          </a:p>
        </p:txBody>
      </p:sp>
      <p:sp>
        <p:nvSpPr>
          <p:cNvPr id="21" name="Rectangle 20"/>
          <p:cNvSpPr/>
          <p:nvPr/>
        </p:nvSpPr>
        <p:spPr>
          <a:xfrm>
            <a:off x="8686800" y="3392424"/>
            <a:ext cx="2953512"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vài sai số lớn chi phối; khác đơn vị</a:t>
            </a:r>
          </a:p>
        </p:txBody>
      </p:sp>
      <p:sp>
        <p:nvSpPr>
          <p:cNvPr id="22" name="Rectangle 21"/>
          <p:cNvSpPr/>
          <p:nvPr/>
        </p:nvSpPr>
        <p:spPr>
          <a:xfrm>
            <a:off x="548640" y="3922776"/>
            <a:ext cx="12801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MAPE</a:t>
            </a:r>
          </a:p>
        </p:txBody>
      </p:sp>
      <p:sp>
        <p:nvSpPr>
          <p:cNvPr id="23" name="Rectangle 22"/>
          <p:cNvSpPr/>
          <p:nvPr/>
        </p:nvSpPr>
        <p:spPr>
          <a:xfrm>
            <a:off x="1828800" y="3922776"/>
            <a:ext cx="3749039"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trung bình |sai số| / thực tế × 100</a:t>
            </a:r>
          </a:p>
        </p:txBody>
      </p:sp>
      <p:sp>
        <p:nvSpPr>
          <p:cNvPr id="24" name="Rectangle 23"/>
          <p:cNvSpPr/>
          <p:nvPr/>
        </p:nvSpPr>
        <p:spPr>
          <a:xfrm>
            <a:off x="5577840" y="3922776"/>
            <a:ext cx="31089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đọc bằng phần trăm</a:t>
            </a:r>
          </a:p>
        </p:txBody>
      </p:sp>
      <p:sp>
        <p:nvSpPr>
          <p:cNvPr id="25" name="Rectangle 24"/>
          <p:cNvSpPr/>
          <p:nvPr/>
        </p:nvSpPr>
        <p:spPr>
          <a:xfrm>
            <a:off x="8686800" y="3922776"/>
            <a:ext cx="2953512"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thực tế bằng 0; kéo dự báo xuống thấp</a:t>
            </a:r>
          </a:p>
        </p:txBody>
      </p:sp>
      <p:sp>
        <p:nvSpPr>
          <p:cNvPr id="26" name="Rectangle 25"/>
          <p:cNvSpPr/>
          <p:nvPr/>
        </p:nvSpPr>
        <p:spPr>
          <a:xfrm>
            <a:off x="548640" y="4453128"/>
            <a:ext cx="12801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sMAPE</a:t>
            </a:r>
          </a:p>
        </p:txBody>
      </p:sp>
      <p:sp>
        <p:nvSpPr>
          <p:cNvPr id="27" name="Rectangle 26"/>
          <p:cNvSpPr/>
          <p:nvPr/>
        </p:nvSpPr>
        <p:spPr>
          <a:xfrm>
            <a:off x="1828800" y="4453128"/>
            <a:ext cx="3749039"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chia cho trung bình |thực tế| và |dự báo|, thang 0–200</a:t>
            </a:r>
          </a:p>
        </p:txBody>
      </p:sp>
      <p:sp>
        <p:nvSpPr>
          <p:cNvPr id="28" name="Rectangle 27"/>
          <p:cNvSpPr/>
          <p:nvPr/>
        </p:nvSpPr>
        <p:spPr>
          <a:xfrm>
            <a:off x="5577840" y="4453128"/>
            <a:ext cx="31089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chỉ số của cuộc thi M4</a:t>
            </a:r>
          </a:p>
        </p:txBody>
      </p:sp>
      <p:sp>
        <p:nvSpPr>
          <p:cNvPr id="29" name="Rectangle 28"/>
          <p:cNvSpPr/>
          <p:nvPr/>
        </p:nvSpPr>
        <p:spPr>
          <a:xfrm>
            <a:off x="8686800" y="4453128"/>
            <a:ext cx="2953512"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cả hai gần 0; vẫn không đối xứng</a:t>
            </a:r>
          </a:p>
        </p:txBody>
      </p:sp>
      <p:sp>
        <p:nvSpPr>
          <p:cNvPr id="30" name="Rectangle 29"/>
          <p:cNvSpPr/>
          <p:nvPr/>
        </p:nvSpPr>
        <p:spPr>
          <a:xfrm>
            <a:off x="548640" y="4983479"/>
            <a:ext cx="12801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WAPE</a:t>
            </a:r>
          </a:p>
        </p:txBody>
      </p:sp>
      <p:sp>
        <p:nvSpPr>
          <p:cNvPr id="31" name="Rectangle 30"/>
          <p:cNvSpPr/>
          <p:nvPr/>
        </p:nvSpPr>
        <p:spPr>
          <a:xfrm>
            <a:off x="1828800" y="4983479"/>
            <a:ext cx="3749039"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tổng |sai số| / tổng thực tế</a:t>
            </a:r>
          </a:p>
        </p:txBody>
      </p:sp>
      <p:sp>
        <p:nvSpPr>
          <p:cNvPr id="32" name="Rectangle 31"/>
          <p:cNvSpPr/>
          <p:nvPr/>
        </p:nvSpPr>
        <p:spPr>
          <a:xfrm>
            <a:off x="5577840" y="4983479"/>
            <a:ext cx="31089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chuỗi có số 0; chuỗi lớn nặng hơn</a:t>
            </a:r>
          </a:p>
        </p:txBody>
      </p:sp>
      <p:sp>
        <p:nvSpPr>
          <p:cNvPr id="33" name="Rectangle 32"/>
          <p:cNvSpPr/>
          <p:nvPr/>
        </p:nvSpPr>
        <p:spPr>
          <a:xfrm>
            <a:off x="8686800" y="4983479"/>
            <a:ext cx="2953512"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tổng thực tế gần 0</a:t>
            </a:r>
          </a:p>
        </p:txBody>
      </p:sp>
      <p:sp>
        <p:nvSpPr>
          <p:cNvPr id="34" name="Rectangle 33"/>
          <p:cNvSpPr/>
          <p:nvPr/>
        </p:nvSpPr>
        <p:spPr>
          <a:xfrm>
            <a:off x="548640" y="5513831"/>
            <a:ext cx="12801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MASE</a:t>
            </a:r>
          </a:p>
        </p:txBody>
      </p:sp>
      <p:sp>
        <p:nvSpPr>
          <p:cNvPr id="35" name="Rectangle 34"/>
          <p:cNvSpPr/>
          <p:nvPr/>
        </p:nvSpPr>
        <p:spPr>
          <a:xfrm>
            <a:off x="1828800" y="5513831"/>
            <a:ext cx="3749039"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MAE chia MAE của seasonal naive trên phần học</a:t>
            </a:r>
          </a:p>
        </p:txBody>
      </p:sp>
      <p:sp>
        <p:nvSpPr>
          <p:cNvPr id="36" name="Rectangle 35"/>
          <p:cNvSpPr/>
          <p:nvPr/>
        </p:nvSpPr>
        <p:spPr>
          <a:xfrm>
            <a:off x="5577840" y="5513831"/>
            <a:ext cx="3108960"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so giữa các chuỗi, chịu được số 0</a:t>
            </a:r>
          </a:p>
        </p:txBody>
      </p:sp>
      <p:sp>
        <p:nvSpPr>
          <p:cNvPr id="37" name="Rectangle 36"/>
          <p:cNvSpPr/>
          <p:nvPr/>
        </p:nvSpPr>
        <p:spPr>
          <a:xfrm>
            <a:off x="8686800" y="5513831"/>
            <a:ext cx="2953512" cy="530352"/>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phần học lặp hoàn hảo: mẫu số 0, trả NaN</a:t>
            </a:r>
          </a:p>
        </p:txBody>
      </p:sp>
      <p:sp>
        <p:nvSpPr>
          <p:cNvPr id="38" name="Rectangle 37"/>
          <p:cNvSpPr/>
          <p:nvPr/>
        </p:nvSpPr>
        <p:spPr>
          <a:xfrm>
            <a:off x="548640" y="6044183"/>
            <a:ext cx="12801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RMSSE</a:t>
            </a:r>
          </a:p>
        </p:txBody>
      </p:sp>
      <p:sp>
        <p:nvSpPr>
          <p:cNvPr id="39" name="Rectangle 38"/>
          <p:cNvSpPr/>
          <p:nvPr/>
        </p:nvSpPr>
        <p:spPr>
          <a:xfrm>
            <a:off x="1828800" y="6044183"/>
            <a:ext cx="3749039"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như MASE, nhưng dùng bình phương</a:t>
            </a:r>
          </a:p>
        </p:txBody>
      </p:sp>
      <p:sp>
        <p:nvSpPr>
          <p:cNvPr id="40" name="Rectangle 39"/>
          <p:cNvSpPr/>
          <p:nvPr/>
        </p:nvSpPr>
        <p:spPr>
          <a:xfrm>
            <a:off x="5577840" y="6044183"/>
            <a:ext cx="3108960"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như MASE, ưa trung bình</a:t>
            </a:r>
          </a:p>
        </p:txBody>
      </p:sp>
      <p:sp>
        <p:nvSpPr>
          <p:cNvPr id="41" name="Rectangle 40"/>
          <p:cNvSpPr/>
          <p:nvPr/>
        </p:nvSpPr>
        <p:spPr>
          <a:xfrm>
            <a:off x="8686800" y="6044183"/>
            <a:ext cx="2953512" cy="530352"/>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như MASE</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Chia ngẫu nhiên là nhìn trộm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random split · K-fold · hold-out · rolling origin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sai số kiểm hứa thấp hơn thật, chọn nhầm mô hình giỏi “học thuộc”.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6C4AB6"/>
                </a:solidFill>
                <a:latin typeface="Arial"/>
              </a:rPr>
              <a:t>“Luôn học trên quá khứ, kiểm trên tương lai.”</a:t>
            </a:r>
          </a:p>
        </p:txBody>
      </p:sp>
      <p:pic>
        <p:nvPicPr>
          <p:cNvPr id="8" name="Picture 7" descr="ba-cach-chia.png"/>
          <p:cNvPicPr>
            <a:picLocks noChangeAspect="1"/>
          </p:cNvPicPr>
          <p:nvPr/>
        </p:nvPicPr>
        <p:blipFill>
          <a:blip r:embed="rId2"/>
          <a:stretch>
            <a:fillRect/>
          </a:stretch>
        </p:blipFill>
        <p:spPr>
          <a:xfrm>
            <a:off x="3486845" y="2450591"/>
            <a:ext cx="521526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lúc kiểm rất đẹp, chạy thật thì tệ.</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Xem các điểm kiểm có nằm xen giữa các điểm học không.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theo thời gian: một đoạn hold-out, hoặc tốt hơn là rolling origin.</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K-fold xáo trộn hứa thấp hơn thật 23%</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K-fold cross-validation · hold-out set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ước lượng sai số khớp với sai số lúc chạy thật.</a:t>
            </a:r>
          </a:p>
        </p:txBody>
      </p:sp>
      <p:pic>
        <p:nvPicPr>
          <p:cNvPr id="7" name="Picture 6" descr="uoc-luong-sai-so.png"/>
          <p:cNvPicPr>
            <a:picLocks noChangeAspect="1"/>
          </p:cNvPicPr>
          <p:nvPr/>
        </p:nvPicPr>
        <p:blipFill>
          <a:blip r:embed="rId2"/>
          <a:stretch>
            <a:fillRect/>
          </a:stretch>
        </p:blipFill>
        <p:spPr>
          <a:xfrm>
            <a:off x="2240243" y="2066543"/>
            <a:ext cx="7708465" cy="2871216"/>
          </a:xfrm>
          <a:prstGeom prst="rect">
            <a:avLst/>
          </a:prstGeom>
        </p:spPr>
      </p:pic>
      <p:sp>
        <p:nvSpPr>
          <p:cNvPr id="8" name="Rounded Rectangle 7"/>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0" name="TextBox 9"/>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Hold-out là một đoạn tương lai giữ riêng, chỉ chấm một lần. K-fold xáo trộn chia dữ liệu ngẫu nhiên thành K phần.</a:t>
            </a:r>
          </a:p>
        </p:txBody>
      </p:sp>
      <p:sp>
        <p:nvSpPr>
          <p:cNvPr id="11" name="Rounded Rectangle 10"/>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3" name="TextBox 12"/>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Càng sát hold-out càng đáng tin. K-fold chỉ tạm dùng được khi mô hình chỉ dùng lag và phần dư không còn tự tương quan.</a:t>
            </a:r>
          </a:p>
        </p:txBody>
      </p:sp>
      <p:sp>
        <p:nvSpPr>
          <p:cNvPr id="14" name="Rounded Rectangle 13"/>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6" name="TextBox 15"/>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Rừng ngẫu nhiên trên tải điện: K-fold lệch 23% so với hold-out, rolling origin chỉ lệch 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Rolling origin: backtest như chạy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origin · cutoff · expanding / sliding window · gap</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Cắt một lần thì có thể chỉ là may. Làm sao kiểm nhiều lần mà lần nào cũng chỉ học quá khứ?</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sai số ở nhiều thời điểm như lúc chạy thật, thay vì tin vào một lần may rủi.</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0" name="Picture 9" descr="4760a8f03a3e.png"/>
          <p:cNvPicPr>
            <a:picLocks noChangeAspect="1"/>
          </p:cNvPicPr>
          <p:nvPr/>
        </p:nvPicPr>
        <p:blipFill>
          <a:blip r:embed="rId2"/>
          <a:stretch>
            <a:fillRect/>
          </a:stretch>
        </p:blipFill>
        <p:spPr>
          <a:xfrm>
            <a:off x="1783080" y="2628899"/>
            <a:ext cx="6501384" cy="265176"/>
          </a:xfrm>
          <a:prstGeom prst="rect">
            <a:avLst/>
          </a:prstGeom>
        </p:spPr>
      </p:pic>
      <p:sp>
        <p:nvSpPr>
          <p:cNvPr id="11" name="TextBox 10"/>
          <p:cNvSpPr txBox="1"/>
          <p:nvPr/>
        </p:nvSpPr>
        <p:spPr>
          <a:xfrm>
            <a:off x="8467344" y="2432303"/>
            <a:ext cx="3035808" cy="658368"/>
          </a:xfrm>
          <a:prstGeom prst="rect">
            <a:avLst/>
          </a:prstGeom>
          <a:noFill/>
        </p:spPr>
        <p:txBody>
          <a:bodyPr wrap="square" lIns="0" rIns="0" tIns="0" bIns="0" anchor="ctr">
            <a:spAutoFit/>
          </a:bodyPr>
          <a:lstStyle/>
          <a:p>
            <a:pPr algn="l"/>
            <a:r>
              <a:rPr sz="1150" b="0" i="0">
                <a:solidFill>
                  <a:srgbClr val="1B2A41"/>
                </a:solidFill>
                <a:latin typeface="Arial"/>
              </a:rPr>
              <a:t>30 mốc, h = 4, gap = 2: 30 − 1 − 2 − 4 = 23.</a:t>
            </a:r>
          </a:p>
        </p:txBody>
      </p:sp>
      <p:pic>
        <p:nvPicPr>
          <p:cNvPr id="12" name="Picture 11" descr="sai-so-cua-so-va-h.png"/>
          <p:cNvPicPr>
            <a:picLocks noChangeAspect="1"/>
          </p:cNvPicPr>
          <p:nvPr/>
        </p:nvPicPr>
        <p:blipFill>
          <a:blip r:embed="rId3"/>
          <a:stretch>
            <a:fillRect/>
          </a:stretch>
        </p:blipFill>
        <p:spPr>
          <a:xfrm>
            <a:off x="3357337" y="3182112"/>
            <a:ext cx="5474277"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Đặt nhiều cutoff; ở mỗi cutoff học trên quá khứ rồi dự báo đoạn ngay sau. Refit là học lại mỗi cửa sổ; gap là độ trễ dữ liệu.</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từng cửa sổ dao động mạnh thì phải báo cả phân bố, không chỉ trung bình. Sai số tăng theo h thì nhìn đúng tầm cần dùng.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30 mốc, h = 4, gap = 2: cutoff cuối = 30 − 1 − 2 − 4 = 23, lùi đều 4 bước được 19 và 15.</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Cửa sổ học: expanding, sliding, gap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expanding window · sliding window · gap · refit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backtest giống hệt lúc chạy thật: học đoạn nào, dữ liệu về trễ bao lâu, học lại khi nào.</a:t>
            </a:r>
          </a:p>
        </p:txBody>
      </p:sp>
      <p:pic>
        <p:nvPicPr>
          <p:cNvPr id="7" name="Picture 6" descr="kn-backtest.png"/>
          <p:cNvPicPr>
            <a:picLocks noChangeAspect="1"/>
          </p:cNvPicPr>
          <p:nvPr/>
        </p:nvPicPr>
        <p:blipFill>
          <a:blip r:embed="rId2"/>
          <a:stretch>
            <a:fillRect/>
          </a:stretch>
        </p:blipFill>
        <p:spPr>
          <a:xfrm>
            <a:off x="548640" y="2825250"/>
            <a:ext cx="6309360" cy="2908283"/>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6C4AB6"/>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Expanding: mỗi cutoff học trên toàn bộ quá khứ. Sliding: chỉ học L bước gần nhất. Gap: số bước bỏ trống giữa cutoff và đoạn dự báo. Refit: học lại mô hình ở mỗi cửa sổ.</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6C4AB6"/>
                </a:solidFill>
                <a:latin typeface="Arial"/>
              </a:rPr>
              <a:t>Chọn thế nào</a:t>
            </a:r>
          </a:p>
        </p:txBody>
      </p:sp>
      <p:sp>
        <p:nvSpPr>
          <p:cNvPr id="11" name="TextBox 10"/>
          <p:cNvSpPr txBox="1"/>
          <p:nvPr/>
        </p:nvSpPr>
        <p:spPr>
          <a:xfrm>
            <a:off x="7223760" y="3861815"/>
            <a:ext cx="4416552" cy="1127760"/>
          </a:xfrm>
          <a:prstGeom prst="rect">
            <a:avLst/>
          </a:prstGeom>
          <a:noFill/>
        </p:spPr>
        <p:txBody>
          <a:bodyPr wrap="square" lIns="0" rIns="0" tIns="0" bIns="0" anchor="t">
            <a:spAutoFit/>
          </a:bodyPr>
          <a:lstStyle/>
          <a:p>
            <a:pPr algn="l"/>
            <a:r>
              <a:rPr sz="1500" b="0" i="0">
                <a:solidFill>
                  <a:srgbClr val="1B2A41"/>
                </a:solidFill>
                <a:latin typeface="Arial"/>
              </a:rPr>
              <a:t>Quá khứ xa vẫn giống hiện tại thì expanding; quá khứ xa đã khác thì sliding. Gap bằng đúng độ trễ công bố dữ liệu. Mô hình nặng thì refit mỗi vài cửa sổ.</a:t>
            </a:r>
          </a:p>
        </p:txBody>
      </p:sp>
      <p:sp>
        <p:nvSpPr>
          <p:cNvPr id="12" name="TextBox 11"/>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6C4AB6"/>
                </a:solidFill>
                <a:latin typeface="Arial"/>
              </a:rPr>
              <a:t>Ví dụ</a:t>
            </a:r>
          </a:p>
        </p:txBody>
      </p:sp>
      <p:sp>
        <p:nvSpPr>
          <p:cNvPr id="13" name="TextBox 12"/>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Số liệu điện về trễ 1 ngày thì gap = 24 giờ. Sliding L = 90 ngày: mỗi cutoff chỉ học 90 ngày gần nhất.</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Luyện, thi thử, thi thật: ba đoạn riêng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train / validation / test · hold-out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Chọn cấu hình tốt nhất trên một đoạn, rồi báo sai số cũng trên đoạn đó. Tin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Con số báo cáo phản ánh đúng sai số tương lai, không bị làm đẹp vì đã dùng nó để chọn.</a:t>
            </a:r>
          </a:p>
        </p:txBody>
      </p:sp>
      <p:pic>
        <p:nvPicPr>
          <p:cNvPr id="8" name="Picture 7" descr="chon-bao-cao.png"/>
          <p:cNvPicPr>
            <a:picLocks noChangeAspect="1"/>
          </p:cNvPicPr>
          <p:nvPr/>
        </p:nvPicPr>
        <p:blipFill>
          <a:blip r:embed="rId2"/>
          <a:stretch>
            <a:fillRect/>
          </a:stretch>
        </p:blipFill>
        <p:spPr>
          <a:xfrm>
            <a:off x="2728102" y="2432303"/>
            <a:ext cx="6732746"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Đoạn luyện để tune tham số, đoạn thi thử để chọn mô hình, đoạn thi thật để báo cáo và chỉ mở một lần.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và báo cáo trên cùng một đoạn thì con số báo cáo luôn lạc quan hơn thật.</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và báo cáo trên cùng một đoạn làm MASE trông tốt hơn thật 25%.</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Diebold–Mariano: chênh lệch có thật hay may rủi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Diebold–Mariano test · loss differential · HLN correction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Mô hình “trộn” có MAE thấp hơn seasonal naive 4,3% trên 92 ngày. Chênh thật, hay may?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hai mô hình chênh nhau thật, hay chỉ do may rủi.</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0" name="Picture 9" descr="0684ff36c9ca.png"/>
          <p:cNvPicPr>
            <a:picLocks noChangeAspect="1"/>
          </p:cNvPicPr>
          <p:nvPr/>
        </p:nvPicPr>
        <p:blipFill>
          <a:blip r:embed="rId2"/>
          <a:stretch>
            <a:fillRect/>
          </a:stretch>
        </p:blipFill>
        <p:spPr>
          <a:xfrm>
            <a:off x="1783080" y="2502407"/>
            <a:ext cx="4379976" cy="518160"/>
          </a:xfrm>
          <a:prstGeom prst="rect">
            <a:avLst/>
          </a:prstGeom>
        </p:spPr>
      </p:pic>
      <p:sp>
        <p:nvSpPr>
          <p:cNvPr id="11" name="TextBox 10"/>
          <p:cNvSpPr txBox="1"/>
          <p:nvPr/>
        </p:nvSpPr>
        <p:spPr>
          <a:xfrm>
            <a:off x="6345936" y="2432303"/>
            <a:ext cx="5157216" cy="658368"/>
          </a:xfrm>
          <a:prstGeom prst="rect">
            <a:avLst/>
          </a:prstGeom>
          <a:noFill/>
        </p:spPr>
        <p:txBody>
          <a:bodyPr wrap="square" lIns="0" rIns="0" tIns="0" bIns="0" anchor="ctr">
            <a:spAutoFit/>
          </a:bodyPr>
          <a:lstStyle/>
          <a:p>
            <a:pPr algn="l"/>
            <a:r>
              <a:rPr sz="1150" b="0" i="0">
                <a:solidFill>
                  <a:srgbClr val="1B2A41"/>
                </a:solidFill>
                <a:latin typeface="Arial"/>
              </a:rPr>
              <a:t>V̂ tính cả tự tương quan của d. Dự báo h bước: nhân hệ số hiệu chỉnh HLN.</a:t>
            </a:r>
          </a:p>
        </p:txBody>
      </p:sp>
      <p:pic>
        <p:nvPicPr>
          <p:cNvPr id="12" name="Picture 11" descr="dm-tu-tuong-quan.png"/>
          <p:cNvPicPr>
            <a:picLocks noChangeAspect="1"/>
          </p:cNvPicPr>
          <p:nvPr/>
        </p:nvPicPr>
        <p:blipFill>
          <a:blip r:embed="rId3"/>
          <a:stretch>
            <a:fillRect/>
          </a:stretch>
        </p:blipFill>
        <p:spPr>
          <a:xfrm>
            <a:off x="3181453" y="3182112"/>
            <a:ext cx="582604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Diebold–Mariano lấy chênh lệch sai số trung bình của hai mô hình, chia cho sai số chuẩn của chính chênh lệch đó.</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p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6C4AB6"/>
                </a:solidFill>
                <a:latin typeface="Arial"/>
              </a:rPr>
              <a:t>p &lt; 0,05</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chênh lệch có thật</a:t>
            </a:r>
          </a:p>
        </p:txBody>
      </p:sp>
      <p:sp>
        <p:nvSpPr>
          <p:cNvPr id="23" name="Oval 22"/>
          <p:cNvSpPr/>
          <p:nvPr/>
        </p:nvSpPr>
        <p:spPr>
          <a:xfrm>
            <a:off x="6860286"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6C4AB6"/>
                </a:solidFill>
                <a:latin typeface="Arial"/>
              </a:rPr>
              <a:t>p ≥ 0,05</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chưa có bằng chứng mô hình nào hơn</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Ví dụ trong buổi: p = 0,45, chưa có bằng chứng. Với dự báo nhiều bước, dùng bản hiệu chỉnh HLN kẻo p nhỏ giả tạo.</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Bảy kiểm định, một cách đọc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2–15</a:t>
            </a:r>
          </a:p>
        </p:txBody>
      </p:sp>
      <p:sp>
        <p:nvSpPr>
          <p:cNvPr id="5" name="Rounded Rectangle 4"/>
          <p:cNvSpPr/>
          <p:nvPr/>
        </p:nvSpPr>
        <p:spPr>
          <a:xfrm>
            <a:off x="548640" y="1417320"/>
            <a:ext cx="2553462" cy="13258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85800" y="1554480"/>
            <a:ext cx="384048" cy="38404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1</a:t>
            </a:r>
          </a:p>
        </p:txBody>
      </p:sp>
      <p:sp>
        <p:nvSpPr>
          <p:cNvPr id="7" name="TextBox 6"/>
          <p:cNvSpPr txBox="1"/>
          <p:nvPr/>
        </p:nvSpPr>
        <p:spPr>
          <a:xfrm>
            <a:off x="1161288" y="1508760"/>
            <a:ext cx="1849374" cy="475488"/>
          </a:xfrm>
          <a:prstGeom prst="rect">
            <a:avLst/>
          </a:prstGeom>
          <a:noFill/>
        </p:spPr>
        <p:txBody>
          <a:bodyPr wrap="square" lIns="0" rIns="0" tIns="0" bIns="0" anchor="ctr">
            <a:spAutoFit/>
          </a:bodyPr>
          <a:lstStyle/>
          <a:p>
            <a:pPr algn="l"/>
            <a:r>
              <a:rPr sz="1300" b="1" i="0">
                <a:solidFill>
                  <a:srgbClr val="6C4AB6"/>
                </a:solidFill>
                <a:latin typeface="Arial"/>
              </a:rPr>
              <a:t>Đặt H0</a:t>
            </a:r>
          </a:p>
        </p:txBody>
      </p:sp>
      <p:sp>
        <p:nvSpPr>
          <p:cNvPr id="8" name="TextBox 7"/>
          <p:cNvSpPr txBox="1"/>
          <p:nvPr/>
        </p:nvSpPr>
        <p:spPr>
          <a:xfrm>
            <a:off x="731520" y="2075688"/>
            <a:ext cx="2187702" cy="594359"/>
          </a:xfrm>
          <a:prstGeom prst="rect">
            <a:avLst/>
          </a:prstGeom>
          <a:noFill/>
        </p:spPr>
        <p:txBody>
          <a:bodyPr wrap="square" lIns="0" rIns="0" tIns="0" bIns="0" anchor="t">
            <a:spAutoFit/>
          </a:bodyPr>
          <a:lstStyle/>
          <a:p>
            <a:pPr algn="l">
              <a:spcAft>
                <a:spcPts val="200"/>
              </a:spcAft>
            </a:pPr>
            <a:r>
              <a:rPr sz="1200" b="0" i="0">
                <a:solidFill>
                  <a:srgbClr val="1B2A41"/>
                </a:solidFill>
                <a:latin typeface="Arial"/>
              </a:rPr>
              <a:t>Giả định ban đầu, thường là “không có gì đặc biệt”.</a:t>
            </a:r>
          </a:p>
        </p:txBody>
      </p:sp>
      <p:cxnSp>
        <p:nvCxnSpPr>
          <p:cNvPr id="9" name="Connector 8"/>
          <p:cNvCxnSpPr/>
          <p:nvPr/>
        </p:nvCxnSpPr>
        <p:spPr>
          <a:xfrm>
            <a:off x="3138678" y="2080260"/>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94710" y="1417320"/>
            <a:ext cx="2553462" cy="13258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3531870" y="1554480"/>
            <a:ext cx="384048" cy="38404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2</a:t>
            </a:r>
          </a:p>
        </p:txBody>
      </p:sp>
      <p:sp>
        <p:nvSpPr>
          <p:cNvPr id="12" name="TextBox 11"/>
          <p:cNvSpPr txBox="1"/>
          <p:nvPr/>
        </p:nvSpPr>
        <p:spPr>
          <a:xfrm>
            <a:off x="4007358" y="1508760"/>
            <a:ext cx="1849374" cy="475488"/>
          </a:xfrm>
          <a:prstGeom prst="rect">
            <a:avLst/>
          </a:prstGeom>
          <a:noFill/>
        </p:spPr>
        <p:txBody>
          <a:bodyPr wrap="square" lIns="0" rIns="0" tIns="0" bIns="0" anchor="ctr">
            <a:spAutoFit/>
          </a:bodyPr>
          <a:lstStyle/>
          <a:p>
            <a:pPr algn="l"/>
            <a:r>
              <a:rPr sz="1300" b="1" i="0">
                <a:solidFill>
                  <a:srgbClr val="6C4AB6"/>
                </a:solidFill>
                <a:latin typeface="Arial"/>
              </a:rPr>
              <a:t>Tính một con số</a:t>
            </a:r>
          </a:p>
        </p:txBody>
      </p:sp>
      <p:sp>
        <p:nvSpPr>
          <p:cNvPr id="13" name="TextBox 12"/>
          <p:cNvSpPr txBox="1"/>
          <p:nvPr/>
        </p:nvSpPr>
        <p:spPr>
          <a:xfrm>
            <a:off x="3577590" y="2075688"/>
            <a:ext cx="2187702" cy="594359"/>
          </a:xfrm>
          <a:prstGeom prst="rect">
            <a:avLst/>
          </a:prstGeom>
          <a:noFill/>
        </p:spPr>
        <p:txBody>
          <a:bodyPr wrap="square" lIns="0" rIns="0" tIns="0" bIns="0" anchor="t">
            <a:spAutoFit/>
          </a:bodyPr>
          <a:lstStyle/>
          <a:p>
            <a:pPr algn="l">
              <a:spcAft>
                <a:spcPts val="200"/>
              </a:spcAft>
            </a:pPr>
            <a:r>
              <a:rPr sz="1200" b="0" i="0">
                <a:solidFill>
                  <a:srgbClr val="1B2A41"/>
                </a:solidFill>
                <a:latin typeface="Arial"/>
              </a:rPr>
              <a:t>Từ dữ liệu: chênh lệch, Q*, hệ số…</a:t>
            </a:r>
          </a:p>
        </p:txBody>
      </p:sp>
      <p:cxnSp>
        <p:nvCxnSpPr>
          <p:cNvPr id="14" name="Connector 13"/>
          <p:cNvCxnSpPr/>
          <p:nvPr/>
        </p:nvCxnSpPr>
        <p:spPr>
          <a:xfrm>
            <a:off x="5984748" y="2080260"/>
            <a:ext cx="219456"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40780" y="1417320"/>
            <a:ext cx="2553462" cy="13258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77940" y="1554480"/>
            <a:ext cx="384048" cy="38404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3</a:t>
            </a:r>
          </a:p>
        </p:txBody>
      </p:sp>
      <p:sp>
        <p:nvSpPr>
          <p:cNvPr id="17" name="TextBox 16"/>
          <p:cNvSpPr txBox="1"/>
          <p:nvPr/>
        </p:nvSpPr>
        <p:spPr>
          <a:xfrm>
            <a:off x="6853428" y="1508760"/>
            <a:ext cx="1849374" cy="475488"/>
          </a:xfrm>
          <a:prstGeom prst="rect">
            <a:avLst/>
          </a:prstGeom>
          <a:noFill/>
        </p:spPr>
        <p:txBody>
          <a:bodyPr wrap="square" lIns="0" rIns="0" tIns="0" bIns="0" anchor="ctr">
            <a:spAutoFit/>
          </a:bodyPr>
          <a:lstStyle/>
          <a:p>
            <a:pPr algn="l"/>
            <a:r>
              <a:rPr sz="1300" b="1" i="0">
                <a:solidFill>
                  <a:srgbClr val="6C4AB6"/>
                </a:solidFill>
                <a:latin typeface="Arial"/>
              </a:rPr>
              <a:t>Hiếm cỡ nào?</a:t>
            </a:r>
          </a:p>
        </p:txBody>
      </p:sp>
      <p:sp>
        <p:nvSpPr>
          <p:cNvPr id="18" name="TextBox 17"/>
          <p:cNvSpPr txBox="1"/>
          <p:nvPr/>
        </p:nvSpPr>
        <p:spPr>
          <a:xfrm>
            <a:off x="6423660" y="2075688"/>
            <a:ext cx="2187702" cy="594359"/>
          </a:xfrm>
          <a:prstGeom prst="rect">
            <a:avLst/>
          </a:prstGeom>
          <a:noFill/>
        </p:spPr>
        <p:txBody>
          <a:bodyPr wrap="square" lIns="0" rIns="0" tIns="0" bIns="0" anchor="t">
            <a:spAutoFit/>
          </a:bodyPr>
          <a:lstStyle/>
          <a:p>
            <a:pPr algn="l">
              <a:spcAft>
                <a:spcPts val="200"/>
              </a:spcAft>
            </a:pPr>
            <a:r>
              <a:rPr sz="1200" b="0" i="0">
                <a:solidFill>
                  <a:srgbClr val="1B2A41"/>
                </a:solidFill>
                <a:latin typeface="Arial"/>
              </a:rPr>
              <a:t>p: nếu H0 đúng, xác suất gặp con số lệch cỡ này hoặc hơn.</a:t>
            </a:r>
          </a:p>
        </p:txBody>
      </p:sp>
      <p:cxnSp>
        <p:nvCxnSpPr>
          <p:cNvPr id="19" name="Connector 18"/>
          <p:cNvCxnSpPr/>
          <p:nvPr/>
        </p:nvCxnSpPr>
        <p:spPr>
          <a:xfrm>
            <a:off x="8830817" y="2080260"/>
            <a:ext cx="219457" cy="0"/>
          </a:xfrm>
          <a:prstGeom prst="line">
            <a:avLst/>
          </a:prstGeom>
          <a:ln w="2540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86850" y="1417320"/>
            <a:ext cx="2553462" cy="13258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224010" y="1554480"/>
            <a:ext cx="384048" cy="38404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4</a:t>
            </a:r>
          </a:p>
        </p:txBody>
      </p:sp>
      <p:sp>
        <p:nvSpPr>
          <p:cNvPr id="22" name="TextBox 21"/>
          <p:cNvSpPr txBox="1"/>
          <p:nvPr/>
        </p:nvSpPr>
        <p:spPr>
          <a:xfrm>
            <a:off x="9699498" y="1508760"/>
            <a:ext cx="1849374" cy="475488"/>
          </a:xfrm>
          <a:prstGeom prst="rect">
            <a:avLst/>
          </a:prstGeom>
          <a:noFill/>
        </p:spPr>
        <p:txBody>
          <a:bodyPr wrap="square" lIns="0" rIns="0" tIns="0" bIns="0" anchor="ctr">
            <a:spAutoFit/>
          </a:bodyPr>
          <a:lstStyle/>
          <a:p>
            <a:pPr algn="l"/>
            <a:r>
              <a:rPr sz="1300" b="1" i="0">
                <a:solidFill>
                  <a:srgbClr val="6C4AB6"/>
                </a:solidFill>
                <a:latin typeface="Arial"/>
              </a:rPr>
              <a:t>Kết luận</a:t>
            </a:r>
          </a:p>
        </p:txBody>
      </p:sp>
      <p:sp>
        <p:nvSpPr>
          <p:cNvPr id="23" name="TextBox 22"/>
          <p:cNvSpPr txBox="1"/>
          <p:nvPr/>
        </p:nvSpPr>
        <p:spPr>
          <a:xfrm>
            <a:off x="9269730" y="2075688"/>
            <a:ext cx="2187702" cy="594359"/>
          </a:xfrm>
          <a:prstGeom prst="rect">
            <a:avLst/>
          </a:prstGeom>
          <a:noFill/>
        </p:spPr>
        <p:txBody>
          <a:bodyPr wrap="square" lIns="0" rIns="0" tIns="0" bIns="0" anchor="t">
            <a:spAutoFit/>
          </a:bodyPr>
          <a:lstStyle/>
          <a:p>
            <a:pPr algn="l">
              <a:spcAft>
                <a:spcPts val="200"/>
              </a:spcAft>
            </a:pPr>
            <a:r>
              <a:rPr sz="1200" b="0" i="0">
                <a:solidFill>
                  <a:srgbClr val="1B2A41"/>
                </a:solidFill>
                <a:latin typeface="Arial"/>
              </a:rPr>
              <a:t>p &lt; 0,05: bác bỏ H0. p ≥ 0,05: chưa đủ bằng chứng, không có nghĩa H0 đúng.</a:t>
            </a:r>
          </a:p>
        </p:txBody>
      </p:sp>
      <p:sp>
        <p:nvSpPr>
          <p:cNvPr id="24" name="Rectangle 23"/>
          <p:cNvSpPr/>
          <p:nvPr/>
        </p:nvSpPr>
        <p:spPr>
          <a:xfrm>
            <a:off x="548640" y="2926080"/>
            <a:ext cx="2103120" cy="42976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Kiểm định</a:t>
            </a:r>
          </a:p>
        </p:txBody>
      </p:sp>
      <p:sp>
        <p:nvSpPr>
          <p:cNvPr id="25" name="Rectangle 24"/>
          <p:cNvSpPr/>
          <p:nvPr/>
        </p:nvSpPr>
        <p:spPr>
          <a:xfrm>
            <a:off x="2651760" y="2926080"/>
            <a:ext cx="3657600" cy="42976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H0: giả định ban đầu</a:t>
            </a:r>
          </a:p>
        </p:txBody>
      </p:sp>
      <p:sp>
        <p:nvSpPr>
          <p:cNvPr id="26" name="Rectangle 25"/>
          <p:cNvSpPr/>
          <p:nvPr/>
        </p:nvSpPr>
        <p:spPr>
          <a:xfrm>
            <a:off x="6309360" y="2926080"/>
            <a:ext cx="4507992" cy="42976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p &lt; 0,05 nghĩa là</a:t>
            </a:r>
          </a:p>
        </p:txBody>
      </p:sp>
      <p:sp>
        <p:nvSpPr>
          <p:cNvPr id="27" name="Rectangle 26"/>
          <p:cNvSpPr/>
          <p:nvPr/>
        </p:nvSpPr>
        <p:spPr>
          <a:xfrm>
            <a:off x="10817352" y="2926080"/>
            <a:ext cx="822960" cy="42976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Buổi</a:t>
            </a:r>
          </a:p>
        </p:txBody>
      </p:sp>
      <p:sp>
        <p:nvSpPr>
          <p:cNvPr id="28" name="Rectangle 27"/>
          <p:cNvSpPr/>
          <p:nvPr/>
        </p:nvSpPr>
        <p:spPr>
          <a:xfrm>
            <a:off x="548640" y="3355848"/>
            <a:ext cx="210312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hoán vị</a:t>
            </a:r>
          </a:p>
        </p:txBody>
      </p:sp>
      <p:sp>
        <p:nvSpPr>
          <p:cNvPr id="29" name="Rectangle 28"/>
          <p:cNvSpPr/>
          <p:nvPr/>
        </p:nvSpPr>
        <p:spPr>
          <a:xfrm>
            <a:off x="2651760" y="3355848"/>
            <a:ext cx="365760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hai nhóm như nhau</a:t>
            </a:r>
          </a:p>
        </p:txBody>
      </p:sp>
      <p:sp>
        <p:nvSpPr>
          <p:cNvPr id="30" name="Rectangle 29"/>
          <p:cNvSpPr/>
          <p:nvPr/>
        </p:nvSpPr>
        <p:spPr>
          <a:xfrm>
            <a:off x="6309360" y="3355848"/>
            <a:ext cx="4507992"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chênh lệch giữa hai nhóm có thật</a:t>
            </a:r>
          </a:p>
        </p:txBody>
      </p:sp>
      <p:sp>
        <p:nvSpPr>
          <p:cNvPr id="31" name="Rectangle 30"/>
          <p:cNvSpPr/>
          <p:nvPr/>
        </p:nvSpPr>
        <p:spPr>
          <a:xfrm>
            <a:off x="10817352" y="3355848"/>
            <a:ext cx="82296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2, 8</a:t>
            </a:r>
          </a:p>
        </p:txBody>
      </p:sp>
      <p:sp>
        <p:nvSpPr>
          <p:cNvPr id="32" name="Rectangle 31"/>
          <p:cNvSpPr/>
          <p:nvPr/>
        </p:nvSpPr>
        <p:spPr>
          <a:xfrm>
            <a:off x="548640" y="3785616"/>
            <a:ext cx="210312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Ljung-Box</a:t>
            </a:r>
          </a:p>
        </p:txBody>
      </p:sp>
      <p:sp>
        <p:nvSpPr>
          <p:cNvPr id="33" name="Rectangle 32"/>
          <p:cNvSpPr/>
          <p:nvPr/>
        </p:nvSpPr>
        <p:spPr>
          <a:xfrm>
            <a:off x="2651760" y="3785616"/>
            <a:ext cx="365760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chuỗi, hay phần dư, là nhiễu trắng</a:t>
            </a:r>
          </a:p>
        </p:txBody>
      </p:sp>
      <p:sp>
        <p:nvSpPr>
          <p:cNvPr id="34" name="Rectangle 33"/>
          <p:cNvSpPr/>
          <p:nvPr/>
        </p:nvSpPr>
        <p:spPr>
          <a:xfrm>
            <a:off x="6309360" y="3785616"/>
            <a:ext cx="4507992"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còn quy luật chưa khai thác</a:t>
            </a:r>
          </a:p>
        </p:txBody>
      </p:sp>
      <p:sp>
        <p:nvSpPr>
          <p:cNvPr id="35" name="Rectangle 34"/>
          <p:cNvSpPr/>
          <p:nvPr/>
        </p:nvSpPr>
        <p:spPr>
          <a:xfrm>
            <a:off x="10817352" y="3785616"/>
            <a:ext cx="82296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7, 14</a:t>
            </a:r>
          </a:p>
        </p:txBody>
      </p:sp>
      <p:sp>
        <p:nvSpPr>
          <p:cNvPr id="36" name="Rectangle 35"/>
          <p:cNvSpPr/>
          <p:nvPr/>
        </p:nvSpPr>
        <p:spPr>
          <a:xfrm>
            <a:off x="548640" y="4215384"/>
            <a:ext cx="210312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ADF</a:t>
            </a:r>
          </a:p>
        </p:txBody>
      </p:sp>
      <p:sp>
        <p:nvSpPr>
          <p:cNvPr id="37" name="Rectangle 36"/>
          <p:cNvSpPr/>
          <p:nvPr/>
        </p:nvSpPr>
        <p:spPr>
          <a:xfrm>
            <a:off x="2651760" y="4215384"/>
            <a:ext cx="3657600" cy="42976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B4541B"/>
                </a:solidFill>
                <a:latin typeface="Arial"/>
              </a:rPr>
              <a:t>có random walk: không dừng</a:t>
            </a:r>
          </a:p>
        </p:txBody>
      </p:sp>
      <p:sp>
        <p:nvSpPr>
          <p:cNvPr id="38" name="Rectangle 37"/>
          <p:cNvSpPr/>
          <p:nvPr/>
        </p:nvSpPr>
        <p:spPr>
          <a:xfrm>
            <a:off x="6309360" y="4215384"/>
            <a:ext cx="4507992" cy="42976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B4541B"/>
                </a:solidFill>
                <a:latin typeface="Arial"/>
              </a:rPr>
              <a:t>có bằng chứng chuỗi dừng</a:t>
            </a:r>
          </a:p>
        </p:txBody>
      </p:sp>
      <p:sp>
        <p:nvSpPr>
          <p:cNvPr id="39" name="Rectangle 38"/>
          <p:cNvSpPr/>
          <p:nvPr/>
        </p:nvSpPr>
        <p:spPr>
          <a:xfrm>
            <a:off x="10817352" y="4215384"/>
            <a:ext cx="82296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7</a:t>
            </a:r>
          </a:p>
        </p:txBody>
      </p:sp>
      <p:sp>
        <p:nvSpPr>
          <p:cNvPr id="40" name="Rectangle 39"/>
          <p:cNvSpPr/>
          <p:nvPr/>
        </p:nvSpPr>
        <p:spPr>
          <a:xfrm>
            <a:off x="548640" y="4645152"/>
            <a:ext cx="210312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KPSS</a:t>
            </a:r>
          </a:p>
        </p:txBody>
      </p:sp>
      <p:sp>
        <p:nvSpPr>
          <p:cNvPr id="41" name="Rectangle 40"/>
          <p:cNvSpPr/>
          <p:nvPr/>
        </p:nvSpPr>
        <p:spPr>
          <a:xfrm>
            <a:off x="2651760" y="4645152"/>
            <a:ext cx="3657600" cy="42976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B4541B"/>
                </a:solidFill>
                <a:latin typeface="Arial"/>
              </a:rPr>
              <a:t>chuỗi dừng</a:t>
            </a:r>
          </a:p>
        </p:txBody>
      </p:sp>
      <p:sp>
        <p:nvSpPr>
          <p:cNvPr id="42" name="Rectangle 41"/>
          <p:cNvSpPr/>
          <p:nvPr/>
        </p:nvSpPr>
        <p:spPr>
          <a:xfrm>
            <a:off x="6309360" y="4645152"/>
            <a:ext cx="4507992" cy="429768"/>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B4541B"/>
                </a:solidFill>
                <a:latin typeface="Arial"/>
              </a:rPr>
              <a:t>có bằng chứng chuỗi không dừng</a:t>
            </a:r>
          </a:p>
        </p:txBody>
      </p:sp>
      <p:sp>
        <p:nvSpPr>
          <p:cNvPr id="43" name="Rectangle 42"/>
          <p:cNvSpPr/>
          <p:nvPr/>
        </p:nvSpPr>
        <p:spPr>
          <a:xfrm>
            <a:off x="10817352" y="4645152"/>
            <a:ext cx="82296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7</a:t>
            </a:r>
          </a:p>
        </p:txBody>
      </p:sp>
      <p:sp>
        <p:nvSpPr>
          <p:cNvPr id="44" name="Rectangle 43"/>
          <p:cNvSpPr/>
          <p:nvPr/>
        </p:nvSpPr>
        <p:spPr>
          <a:xfrm>
            <a:off x="548640" y="5074920"/>
            <a:ext cx="210312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Granger</a:t>
            </a:r>
          </a:p>
        </p:txBody>
      </p:sp>
      <p:sp>
        <p:nvSpPr>
          <p:cNvPr id="45" name="Rectangle 44"/>
          <p:cNvSpPr/>
          <p:nvPr/>
        </p:nvSpPr>
        <p:spPr>
          <a:xfrm>
            <a:off x="2651760" y="5074920"/>
            <a:ext cx="365760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quá khứ x không giúp dự báo y</a:t>
            </a:r>
          </a:p>
        </p:txBody>
      </p:sp>
      <p:sp>
        <p:nvSpPr>
          <p:cNvPr id="46" name="Rectangle 45"/>
          <p:cNvSpPr/>
          <p:nvPr/>
        </p:nvSpPr>
        <p:spPr>
          <a:xfrm>
            <a:off x="6309360" y="5074920"/>
            <a:ext cx="4507992"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quá khứ x giúp dự báo y, chưa phải “gây ra”</a:t>
            </a:r>
          </a:p>
        </p:txBody>
      </p:sp>
      <p:sp>
        <p:nvSpPr>
          <p:cNvPr id="47" name="Rectangle 46"/>
          <p:cNvSpPr/>
          <p:nvPr/>
        </p:nvSpPr>
        <p:spPr>
          <a:xfrm>
            <a:off x="10817352" y="5074920"/>
            <a:ext cx="82296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8</a:t>
            </a:r>
          </a:p>
        </p:txBody>
      </p:sp>
      <p:sp>
        <p:nvSpPr>
          <p:cNvPr id="48" name="Rectangle 47"/>
          <p:cNvSpPr/>
          <p:nvPr/>
        </p:nvSpPr>
        <p:spPr>
          <a:xfrm>
            <a:off x="548640" y="5504688"/>
            <a:ext cx="210312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Jarque–Bera</a:t>
            </a:r>
          </a:p>
        </p:txBody>
      </p:sp>
      <p:sp>
        <p:nvSpPr>
          <p:cNvPr id="49" name="Rectangle 48"/>
          <p:cNvSpPr/>
          <p:nvPr/>
        </p:nvSpPr>
        <p:spPr>
          <a:xfrm>
            <a:off x="2651760" y="5504688"/>
            <a:ext cx="365760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phần dư có hình chuông</a:t>
            </a:r>
          </a:p>
        </p:txBody>
      </p:sp>
      <p:sp>
        <p:nvSpPr>
          <p:cNvPr id="50" name="Rectangle 49"/>
          <p:cNvSpPr/>
          <p:nvPr/>
        </p:nvSpPr>
        <p:spPr>
          <a:xfrm>
            <a:off x="6309360" y="5504688"/>
            <a:ext cx="4507992"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không hình chuông: khoảng theo phân phối chuẩn sai</a:t>
            </a:r>
          </a:p>
        </p:txBody>
      </p:sp>
      <p:sp>
        <p:nvSpPr>
          <p:cNvPr id="51" name="Rectangle 50"/>
          <p:cNvSpPr/>
          <p:nvPr/>
        </p:nvSpPr>
        <p:spPr>
          <a:xfrm>
            <a:off x="10817352" y="5504688"/>
            <a:ext cx="822960" cy="42976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14</a:t>
            </a:r>
          </a:p>
        </p:txBody>
      </p:sp>
      <p:sp>
        <p:nvSpPr>
          <p:cNvPr id="52" name="Rectangle 51"/>
          <p:cNvSpPr/>
          <p:nvPr/>
        </p:nvSpPr>
        <p:spPr>
          <a:xfrm>
            <a:off x="548640" y="5934456"/>
            <a:ext cx="210312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Diebold–Mariano</a:t>
            </a:r>
          </a:p>
        </p:txBody>
      </p:sp>
      <p:sp>
        <p:nvSpPr>
          <p:cNvPr id="53" name="Rectangle 52"/>
          <p:cNvSpPr/>
          <p:nvPr/>
        </p:nvSpPr>
        <p:spPr>
          <a:xfrm>
            <a:off x="2651760" y="5934456"/>
            <a:ext cx="365760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hai mô hình chính xác như nhau</a:t>
            </a:r>
          </a:p>
        </p:txBody>
      </p:sp>
      <p:sp>
        <p:nvSpPr>
          <p:cNvPr id="54" name="Rectangle 53"/>
          <p:cNvSpPr/>
          <p:nvPr/>
        </p:nvSpPr>
        <p:spPr>
          <a:xfrm>
            <a:off x="6309360" y="5934456"/>
            <a:ext cx="4507992"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chênh lệch sai số có thật, không do may</a:t>
            </a:r>
          </a:p>
        </p:txBody>
      </p:sp>
      <p:sp>
        <p:nvSpPr>
          <p:cNvPr id="55" name="Rectangle 54"/>
          <p:cNvSpPr/>
          <p:nvPr/>
        </p:nvSpPr>
        <p:spPr>
          <a:xfrm>
            <a:off x="10817352" y="5934456"/>
            <a:ext cx="822960" cy="42976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15</a:t>
            </a:r>
          </a:p>
        </p:txBody>
      </p:sp>
      <p:sp>
        <p:nvSpPr>
          <p:cNvPr id="56" name="TextBox 55"/>
          <p:cNvSpPr txBox="1"/>
          <p:nvPr/>
        </p:nvSpPr>
        <p:spPr>
          <a:xfrm>
            <a:off x="548640" y="6446520"/>
            <a:ext cx="11091672" cy="320040"/>
          </a:xfrm>
          <a:prstGeom prst="rect">
            <a:avLst/>
          </a:prstGeom>
          <a:noFill/>
        </p:spPr>
        <p:txBody>
          <a:bodyPr wrap="square" lIns="0" rIns="0" tIns="0" bIns="0" anchor="t">
            <a:spAutoFit/>
          </a:bodyPr>
          <a:lstStyle/>
          <a:p>
            <a:pPr algn="l"/>
            <a:r>
              <a:rPr sz="1200" b="1" i="0">
                <a:solidFill>
                  <a:srgbClr val="5B6778"/>
                </a:solidFill>
                <a:latin typeface="Arial"/>
              </a:rPr>
              <a:t>ADF và KPSS có H0 ngược nhau (hai dòng cam): đọc H0 trước khi đọc p.</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E</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Quy trình tiền xử lý</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2E6FBF"/>
                </a:solidFill>
                <a:latin typeface="Arial"/>
              </a:rPr>
              <a:t>Buổi 1–15</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Bước nào học từ dữ liệu thì phải làm lại ở mỗi cutoff.</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2E6FB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E</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Quy trình tiền xử lý: ba tầng</a:t>
            </a:r>
          </a:p>
        </p:txBody>
      </p:sp>
      <p:sp>
        <p:nvSpPr>
          <p:cNvPr id="4" name="TextBox 3"/>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preprocessing pipeline · point-in-time</a:t>
            </a:r>
          </a:p>
        </p:txBody>
      </p:sp>
      <p:sp>
        <p:nvSpPr>
          <p:cNvPr id="5" name="TextBox 4"/>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bước nào làm một lần, bước nào phải làm lại ở mỗi cutoff để khỏi rò rỉ.</a:t>
            </a:r>
          </a:p>
        </p:txBody>
      </p:sp>
      <p:sp>
        <p:nvSpPr>
          <p:cNvPr id="6" name="TextBox 5"/>
          <p:cNvSpPr txBox="1"/>
          <p:nvPr/>
        </p:nvSpPr>
        <p:spPr>
          <a:xfrm>
            <a:off x="548640" y="1783080"/>
            <a:ext cx="10972800" cy="365760"/>
          </a:xfrm>
          <a:prstGeom prst="rect">
            <a:avLst/>
          </a:prstGeom>
          <a:noFill/>
        </p:spPr>
        <p:txBody>
          <a:bodyPr wrap="square" lIns="0" rIns="0" tIns="0" bIns="0" anchor="t">
            <a:spAutoFit/>
          </a:bodyPr>
          <a:lstStyle/>
          <a:p>
            <a:pPr algn="l"/>
            <a:r>
              <a:rPr sz="1600" b="1" i="0">
                <a:solidFill>
                  <a:srgbClr val="1B2A41"/>
                </a:solidFill>
                <a:latin typeface="Arial"/>
              </a:rPr>
              <a:t>1  Làm một lần trên toàn bộ dữ liệu</a:t>
            </a:r>
            <a:r>
              <a:rPr sz="1400" b="0" i="0">
                <a:solidFill>
                  <a:srgbClr val="5B6778"/>
                </a:solidFill>
                <a:latin typeface="Arial"/>
              </a:rPr>
              <a:t>   — bước không học gì từ dữ liệu</a:t>
            </a:r>
          </a:p>
        </p:txBody>
      </p:sp>
      <p:sp>
        <p:nvSpPr>
          <p:cNvPr id="7" name="Rounded Rectangle 6"/>
          <p:cNvSpPr/>
          <p:nvPr/>
        </p:nvSpPr>
        <p:spPr>
          <a:xfrm>
            <a:off x="548640"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Nạp, ép kiểu số</a:t>
            </a:r>
          </a:p>
          <a:p>
            <a:pPr algn="ctr"/>
            <a:r>
              <a:rPr sz="1000" b="0" i="0">
                <a:solidFill>
                  <a:srgbClr val="1B2A41"/>
                </a:solidFill>
                <a:latin typeface="Arial"/>
              </a:rPr>
              <a:t>buổi 3, 10</a:t>
            </a:r>
          </a:p>
        </p:txBody>
      </p:sp>
      <p:cxnSp>
        <p:nvCxnSpPr>
          <p:cNvPr id="8" name="Connector 7"/>
          <p:cNvCxnSpPr/>
          <p:nvPr/>
        </p:nvCxnSpPr>
        <p:spPr>
          <a:xfrm>
            <a:off x="2001229"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156677"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Về UTC</a:t>
            </a:r>
          </a:p>
          <a:p>
            <a:pPr algn="ctr"/>
            <a:r>
              <a:rPr sz="1000" b="0" i="0">
                <a:solidFill>
                  <a:srgbClr val="1B2A41"/>
                </a:solidFill>
                <a:latin typeface="Arial"/>
              </a:rPr>
              <a:t>buổi 3</a:t>
            </a:r>
          </a:p>
        </p:txBody>
      </p:sp>
      <p:cxnSp>
        <p:nvCxnSpPr>
          <p:cNvPr id="10" name="Connector 9"/>
          <p:cNvCxnSpPr/>
          <p:nvPr/>
        </p:nvCxnSpPr>
        <p:spPr>
          <a:xfrm>
            <a:off x="3609267"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64715"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Lưới đủ, bỏ trùng</a:t>
            </a:r>
          </a:p>
          <a:p>
            <a:pPr algn="ctr"/>
            <a:r>
              <a:rPr sz="1000" b="0" i="0">
                <a:solidFill>
                  <a:srgbClr val="1B2A41"/>
                </a:solidFill>
                <a:latin typeface="Arial"/>
              </a:rPr>
              <a:t>buổi 10</a:t>
            </a:r>
          </a:p>
        </p:txBody>
      </p:sp>
      <p:cxnSp>
        <p:nvCxnSpPr>
          <p:cNvPr id="12" name="Connector 11"/>
          <p:cNvCxnSpPr/>
          <p:nvPr/>
        </p:nvCxnSpPr>
        <p:spPr>
          <a:xfrm>
            <a:off x="5217305"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72753"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Mã trá hình ra NaN</a:t>
            </a:r>
          </a:p>
          <a:p>
            <a:pPr algn="ctr"/>
            <a:r>
              <a:rPr sz="1000" b="0" i="0">
                <a:solidFill>
                  <a:srgbClr val="1B2A41"/>
                </a:solidFill>
                <a:latin typeface="Arial"/>
              </a:rPr>
              <a:t>buổi 10</a:t>
            </a:r>
          </a:p>
        </p:txBody>
      </p:sp>
      <p:cxnSp>
        <p:nvCxnSpPr>
          <p:cNvPr id="14" name="Connector 13"/>
          <p:cNvCxnSpPr/>
          <p:nvPr/>
        </p:nvCxnSpPr>
        <p:spPr>
          <a:xfrm>
            <a:off x="6825342"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80790"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Nhìn: bộ biểu đồ</a:t>
            </a:r>
          </a:p>
          <a:p>
            <a:pPr algn="ctr"/>
            <a:r>
              <a:rPr sz="1000" b="0" i="0">
                <a:solidFill>
                  <a:srgbClr val="1B2A41"/>
                </a:solidFill>
                <a:latin typeface="Arial"/>
              </a:rPr>
              <a:t>buổi 4, 6–9</a:t>
            </a:r>
          </a:p>
        </p:txBody>
      </p:sp>
      <p:cxnSp>
        <p:nvCxnSpPr>
          <p:cNvPr id="16" name="Connector 15"/>
          <p:cNvCxnSpPr/>
          <p:nvPr/>
        </p:nvCxnSpPr>
        <p:spPr>
          <a:xfrm>
            <a:off x="8433380"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88828"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Nhật ký sự kiện</a:t>
            </a:r>
          </a:p>
          <a:p>
            <a:pPr algn="ctr"/>
            <a:r>
              <a:rPr sz="1000" b="0" i="0">
                <a:solidFill>
                  <a:srgbClr val="1B2A41"/>
                </a:solidFill>
                <a:latin typeface="Arial"/>
              </a:rPr>
              <a:t>buổi 11</a:t>
            </a:r>
          </a:p>
        </p:txBody>
      </p:sp>
      <p:cxnSp>
        <p:nvCxnSpPr>
          <p:cNvPr id="18" name="Connector 17"/>
          <p:cNvCxnSpPr/>
          <p:nvPr/>
        </p:nvCxnSpPr>
        <p:spPr>
          <a:xfrm>
            <a:off x="10041418"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196866"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Điều chỉnh lịch, lạm phát</a:t>
            </a:r>
          </a:p>
          <a:p>
            <a:pPr algn="ctr"/>
            <a:r>
              <a:rPr sz="1000" b="0" i="0">
                <a:solidFill>
                  <a:srgbClr val="1B2A41"/>
                </a:solidFill>
                <a:latin typeface="Arial"/>
              </a:rPr>
              <a:t>buổi 5</a:t>
            </a:r>
          </a:p>
        </p:txBody>
      </p:sp>
      <p:sp>
        <p:nvSpPr>
          <p:cNvPr id="20" name="Rounded Rectangle 19"/>
          <p:cNvSpPr/>
          <p:nvPr/>
        </p:nvSpPr>
        <p:spPr>
          <a:xfrm>
            <a:off x="411480" y="3246120"/>
            <a:ext cx="11365992" cy="1737360"/>
          </a:xfrm>
          <a:prstGeom prst="roundRect">
            <a:avLst>
              <a:gd name="adj" fmla="val 8000"/>
            </a:avLst>
          </a:prstGeom>
          <a:noFill/>
          <a:ln w="15875">
            <a:solidFill>
              <a:srgbClr val="2E6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19272"/>
            <a:ext cx="10972800" cy="365760"/>
          </a:xfrm>
          <a:prstGeom prst="rect">
            <a:avLst/>
          </a:prstGeom>
          <a:noFill/>
        </p:spPr>
        <p:txBody>
          <a:bodyPr wrap="square" lIns="0" rIns="0" tIns="0" bIns="0" anchor="t">
            <a:spAutoFit/>
          </a:bodyPr>
          <a:lstStyle/>
          <a:p>
            <a:pPr algn="l"/>
            <a:r>
              <a:rPr sz="1600" b="1" i="0">
                <a:solidFill>
                  <a:srgbClr val="2E6FBF"/>
                </a:solidFill>
                <a:latin typeface="Arial"/>
              </a:rPr>
              <a:t>2  Làm lại ở mỗi cutoff, chỉ trên lich_su</a:t>
            </a:r>
            <a:r>
              <a:rPr sz="1400" b="0" i="0">
                <a:solidFill>
                  <a:srgbClr val="5B6778"/>
                </a:solidFill>
                <a:latin typeface="Arial"/>
              </a:rPr>
              <a:t>   — bước có học từ dữ liệu (buổi 15)</a:t>
            </a:r>
          </a:p>
        </p:txBody>
      </p:sp>
      <p:sp>
        <p:nvSpPr>
          <p:cNvPr id="22" name="Rounded Rectangle 21"/>
          <p:cNvSpPr/>
          <p:nvPr/>
        </p:nvSpPr>
        <p:spPr>
          <a:xfrm>
            <a:off x="548640"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Điền nhân quả</a:t>
            </a:r>
          </a:p>
          <a:p>
            <a:pPr algn="ctr"/>
            <a:r>
              <a:rPr sz="1000" b="0" i="0">
                <a:solidFill>
                  <a:srgbClr val="FFFFFF"/>
                </a:solidFill>
                <a:latin typeface="Arial"/>
              </a:rPr>
              <a:t>buổi 10</a:t>
            </a:r>
          </a:p>
        </p:txBody>
      </p:sp>
      <p:cxnSp>
        <p:nvCxnSpPr>
          <p:cNvPr id="23" name="Connector 22"/>
          <p:cNvCxnSpPr/>
          <p:nvPr/>
        </p:nvCxnSpPr>
        <p:spPr>
          <a:xfrm>
            <a:off x="2269236"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424684"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Ngoại lai: Hampel</a:t>
            </a:r>
          </a:p>
          <a:p>
            <a:pPr algn="ctr"/>
            <a:r>
              <a:rPr sz="1000" b="0" i="0">
                <a:solidFill>
                  <a:srgbClr val="FFFFFF"/>
                </a:solidFill>
                <a:latin typeface="Arial"/>
              </a:rPr>
              <a:t>buổi 11</a:t>
            </a:r>
          </a:p>
        </p:txBody>
      </p:sp>
      <p:cxnSp>
        <p:nvCxnSpPr>
          <p:cNvPr id="25" name="Connector 24"/>
          <p:cNvCxnSpPr/>
          <p:nvPr/>
        </p:nvCxnSpPr>
        <p:spPr>
          <a:xfrm>
            <a:off x="4145280"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00728"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Log / Box-Cox, λ tại gốc</a:t>
            </a:r>
          </a:p>
          <a:p>
            <a:pPr algn="ctr"/>
            <a:r>
              <a:rPr sz="1000" b="0" i="0">
                <a:solidFill>
                  <a:srgbClr val="FFFFFF"/>
                </a:solidFill>
                <a:latin typeface="Arial"/>
              </a:rPr>
              <a:t>buổi 5</a:t>
            </a:r>
          </a:p>
        </p:txBody>
      </p:sp>
      <p:cxnSp>
        <p:nvCxnSpPr>
          <p:cNvPr id="27" name="Connector 26"/>
          <p:cNvCxnSpPr/>
          <p:nvPr/>
        </p:nvCxnSpPr>
        <p:spPr>
          <a:xfrm>
            <a:off x="6021324"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76772"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Lọc nhân quả</a:t>
            </a:r>
          </a:p>
          <a:p>
            <a:pPr algn="ctr"/>
            <a:r>
              <a:rPr sz="1000" b="0" i="0">
                <a:solidFill>
                  <a:srgbClr val="FFFFFF"/>
                </a:solidFill>
                <a:latin typeface="Arial"/>
              </a:rPr>
              <a:t>buổi 12</a:t>
            </a:r>
          </a:p>
        </p:txBody>
      </p:sp>
      <p:cxnSp>
        <p:nvCxnSpPr>
          <p:cNvPr id="29" name="Connector 28"/>
          <p:cNvCxnSpPr/>
          <p:nvPr/>
        </p:nvCxnSpPr>
        <p:spPr>
          <a:xfrm>
            <a:off x="7897368"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52816"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Feature, lag ≥ h</a:t>
            </a:r>
          </a:p>
          <a:p>
            <a:pPr algn="ctr"/>
            <a:r>
              <a:rPr sz="1000" b="0" i="0">
                <a:solidFill>
                  <a:srgbClr val="FFFFFF"/>
                </a:solidFill>
                <a:latin typeface="Arial"/>
              </a:rPr>
              <a:t>buổi 13</a:t>
            </a:r>
          </a:p>
        </p:txBody>
      </p:sp>
      <p:cxnSp>
        <p:nvCxnSpPr>
          <p:cNvPr id="31" name="Connector 30"/>
          <p:cNvCxnSpPr/>
          <p:nvPr/>
        </p:nvCxnSpPr>
        <p:spPr>
          <a:xfrm>
            <a:off x="9773412"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28860"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Scaler</a:t>
            </a:r>
          </a:p>
          <a:p>
            <a:pPr algn="ctr"/>
            <a:r>
              <a:rPr sz="1000" b="0" i="0">
                <a:solidFill>
                  <a:srgbClr val="FFFFFF"/>
                </a:solidFill>
                <a:latin typeface="Arial"/>
              </a:rPr>
              <a:t>buổi 13, 15</a:t>
            </a:r>
          </a:p>
        </p:txBody>
      </p:sp>
      <p:cxnSp>
        <p:nvCxnSpPr>
          <p:cNvPr id="33" name="Connector 32"/>
          <p:cNvCxnSpPr/>
          <p:nvPr/>
        </p:nvCxnSpPr>
        <p:spPr>
          <a:xfrm>
            <a:off x="6099048" y="3081528"/>
            <a:ext cx="0" cy="164592"/>
          </a:xfrm>
          <a:prstGeom prst="line">
            <a:avLst/>
          </a:prstGeom>
          <a:ln w="22225">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9048" y="4983480"/>
            <a:ext cx="0" cy="320040"/>
          </a:xfrm>
          <a:prstGeom prst="line">
            <a:avLst/>
          </a:prstGeom>
          <a:ln w="22225">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5349240"/>
            <a:ext cx="11091672" cy="868680"/>
          </a:xfrm>
          <a:prstGeom prst="roundRect">
            <a:avLst>
              <a:gd name="adj" fmla="val 2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  Kiểm:  </a:t>
            </a:r>
            <a:r>
              <a:rPr sz="1500" b="1" i="0">
                <a:solidFill>
                  <a:srgbClr val="FFFFFF"/>
                </a:solidFill>
                <a:latin typeface="Arial"/>
              </a:rPr>
              <a:t>rolling origin + gap</a:t>
            </a:r>
            <a:r>
              <a:rPr sz="1200" b="0" i="0">
                <a:solidFill>
                  <a:srgbClr val="A9B4C4"/>
                </a:solidFill>
                <a:latin typeface="Arial"/>
              </a:rPr>
              <a:t> (15) · </a:t>
            </a:r>
            <a:r>
              <a:rPr sz="1500" b="1" i="0">
                <a:solidFill>
                  <a:srgbClr val="FFFFFF"/>
                </a:solidFill>
                <a:latin typeface="Arial"/>
              </a:rPr>
              <a:t>MASE / WAPE trên chuỗi gốc so với seasonal naive</a:t>
            </a:r>
            <a:r>
              <a:rPr sz="1200" b="0" i="0">
                <a:solidFill>
                  <a:srgbClr val="A9B4C4"/>
                </a:solidFill>
                <a:latin typeface="Arial"/>
              </a:rPr>
              <a:t> (12, 14) · </a:t>
            </a:r>
            <a:r>
              <a:rPr sz="1500" b="1" i="0">
                <a:solidFill>
                  <a:srgbClr val="FFFFFF"/>
                </a:solidFill>
                <a:latin typeface="Arial"/>
              </a:rPr>
              <a:t>kiem_ro_ri</a:t>
            </a:r>
            <a:r>
              <a:rPr sz="1200" b="0" i="0">
                <a:solidFill>
                  <a:srgbClr val="A9B4C4"/>
                </a:solidFill>
                <a:latin typeface="Arial"/>
              </a:rPr>
              <a:t> (13)</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E</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Ba nguyên tắc cho mọi bước</a:t>
            </a:r>
          </a:p>
        </p:txBody>
      </p:sp>
      <p:sp>
        <p:nvSpPr>
          <p:cNvPr id="4" name="Rounded Rectangle 3"/>
          <p:cNvSpPr/>
          <p:nvPr/>
        </p:nvSpPr>
        <p:spPr>
          <a:xfrm>
            <a:off x="54864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1</a:t>
            </a:r>
          </a:p>
        </p:txBody>
      </p:sp>
      <p:sp>
        <p:nvSpPr>
          <p:cNvPr id="6" name="TextBox 5"/>
          <p:cNvSpPr txBox="1"/>
          <p:nvPr/>
        </p:nvSpPr>
        <p:spPr>
          <a:xfrm>
            <a:off x="91440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Chỉ dùng thông tin có trước cutoff</a:t>
            </a:r>
          </a:p>
        </p:txBody>
      </p:sp>
      <p:sp>
        <p:nvSpPr>
          <p:cNvPr id="7" name="TextBox 6"/>
          <p:cNvSpPr txBox="1"/>
          <p:nvPr/>
        </p:nvSpPr>
        <p:spPr>
          <a:xfrm>
            <a:off x="91440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rò rỉ là lỗi gặp ở nhiều buổi nhất</a:t>
            </a:r>
          </a:p>
        </p:txBody>
      </p:sp>
      <p:sp>
        <p:nvSpPr>
          <p:cNvPr id="8" name="Rounded Rectangle 7"/>
          <p:cNvSpPr/>
          <p:nvPr/>
        </p:nvSpPr>
        <p:spPr>
          <a:xfrm>
            <a:off x="434340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0916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2</a:t>
            </a:r>
          </a:p>
        </p:txBody>
      </p:sp>
      <p:sp>
        <p:nvSpPr>
          <p:cNvPr id="10" name="TextBox 9"/>
          <p:cNvSpPr txBox="1"/>
          <p:nvPr/>
        </p:nvSpPr>
        <p:spPr>
          <a:xfrm>
            <a:off x="470916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Giữ dữ liệu gốc, gắn cờ thay vì xoá</a:t>
            </a:r>
          </a:p>
        </p:txBody>
      </p:sp>
      <p:sp>
        <p:nvSpPr>
          <p:cNvPr id="11" name="TextBox 10"/>
          <p:cNvSpPr txBox="1"/>
          <p:nvPr/>
        </p:nvSpPr>
        <p:spPr>
          <a:xfrm>
            <a:off x="470916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mọi sửa đổi phải lần lại được</a:t>
            </a:r>
          </a:p>
        </p:txBody>
      </p:sp>
      <p:sp>
        <p:nvSpPr>
          <p:cNvPr id="12" name="Rounded Rectangle 11"/>
          <p:cNvSpPr/>
          <p:nvPr/>
        </p:nvSpPr>
        <p:spPr>
          <a:xfrm>
            <a:off x="813816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0392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3</a:t>
            </a:r>
          </a:p>
        </p:txBody>
      </p:sp>
      <p:sp>
        <p:nvSpPr>
          <p:cNvPr id="14" name="TextBox 13"/>
          <p:cNvSpPr txBox="1"/>
          <p:nvPr/>
        </p:nvSpPr>
        <p:spPr>
          <a:xfrm>
            <a:off x="850392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Phải thắng các baseline trên backtest</a:t>
            </a:r>
          </a:p>
        </p:txBody>
      </p:sp>
      <p:sp>
        <p:nvSpPr>
          <p:cNvPr id="15" name="TextBox 14"/>
          <p:cNvSpPr txBox="1"/>
          <p:nvPr/>
        </p:nvSpPr>
        <p:spPr>
          <a:xfrm>
            <a:off x="850392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luôn có seasonal naive; không thắng thì bỏ bước đó</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F</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Dữ liệu &amp; phía trước</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A9B4C4"/>
                </a:solidFill>
                <a:latin typeface="Arial"/>
              </a:rPr>
              <a:t>14 bộ dữ liệu</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Dữ liệu thật, bẩn thật, giấy phép mở.</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F. Dữ liệu &amp; phía trước</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14 bộ dữ liệu thật, mỗi bộ bẩn một kiểu</a:t>
            </a:r>
          </a:p>
        </p:txBody>
      </p:sp>
      <p:sp>
        <p:nvSpPr>
          <p:cNvPr id="4" name="Rounded Rectangle 3"/>
          <p:cNvSpPr/>
          <p:nvPr/>
        </p:nvSpPr>
        <p:spPr>
          <a:xfrm>
            <a:off x="548640"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UCI Household Power</a:t>
            </a:r>
          </a:p>
        </p:txBody>
      </p:sp>
      <p:sp>
        <p:nvSpPr>
          <p:cNvPr id="6" name="TextBox 5"/>
          <p:cNvSpPr txBox="1"/>
          <p:nvPr/>
        </p:nvSpPr>
        <p:spPr>
          <a:xfrm>
            <a:off x="731520"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Điện một hộ, Pháp</a:t>
            </a:r>
          </a:p>
        </p:txBody>
      </p:sp>
      <p:sp>
        <p:nvSpPr>
          <p:cNvPr id="7" name="TextBox 6"/>
          <p:cNvSpPr txBox="1"/>
          <p:nvPr/>
        </p:nvSpPr>
        <p:spPr>
          <a:xfrm>
            <a:off x="731520"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ghi là '?'</a:t>
            </a:r>
          </a:p>
        </p:txBody>
      </p:sp>
      <p:sp>
        <p:nvSpPr>
          <p:cNvPr id="8" name="TextBox 7"/>
          <p:cNvSpPr txBox="1"/>
          <p:nvPr/>
        </p:nvSpPr>
        <p:spPr>
          <a:xfrm>
            <a:off x="731520"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phút · CC BY 4.0</a:t>
            </a:r>
            <a:r>
              <a:rPr sz="900" b="1" i="0">
                <a:solidFill>
                  <a:srgbClr val="5B6778"/>
                </a:solidFill>
                <a:latin typeface="Arial"/>
              </a:rPr>
              <a:t>   buổi 1</a:t>
            </a:r>
          </a:p>
        </p:txBody>
      </p:sp>
      <p:sp>
        <p:nvSpPr>
          <p:cNvPr id="9" name="Rounded Rectangle 8"/>
          <p:cNvSpPr/>
          <p:nvPr/>
        </p:nvSpPr>
        <p:spPr>
          <a:xfrm>
            <a:off x="3362248"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128"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UCI Bike Sharing</a:t>
            </a:r>
          </a:p>
        </p:txBody>
      </p:sp>
      <p:sp>
        <p:nvSpPr>
          <p:cNvPr id="11" name="TextBox 10"/>
          <p:cNvSpPr txBox="1"/>
          <p:nvPr/>
        </p:nvSpPr>
        <p:spPr>
          <a:xfrm>
            <a:off x="3545128"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Thuê xe, Washington</a:t>
            </a:r>
          </a:p>
        </p:txBody>
      </p:sp>
      <p:sp>
        <p:nvSpPr>
          <p:cNvPr id="12" name="TextBox 11"/>
          <p:cNvSpPr txBox="1"/>
          <p:nvPr/>
        </p:nvSpPr>
        <p:spPr>
          <a:xfrm>
            <a:off x="3545128"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165 giờ</a:t>
            </a:r>
          </a:p>
        </p:txBody>
      </p:sp>
      <p:sp>
        <p:nvSpPr>
          <p:cNvPr id="13" name="TextBox 12"/>
          <p:cNvSpPr txBox="1"/>
          <p:nvPr/>
        </p:nvSpPr>
        <p:spPr>
          <a:xfrm>
            <a:off x="3545128"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2, 4, 7</a:t>
            </a:r>
          </a:p>
        </p:txBody>
      </p:sp>
      <p:sp>
        <p:nvSpPr>
          <p:cNvPr id="14" name="Rounded Rectangle 13"/>
          <p:cNvSpPr/>
          <p:nvPr/>
        </p:nvSpPr>
        <p:spPr>
          <a:xfrm>
            <a:off x="6175857"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8737"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NYC Taxi (TLC)</a:t>
            </a:r>
          </a:p>
        </p:txBody>
      </p:sp>
      <p:sp>
        <p:nvSpPr>
          <p:cNvPr id="16" name="TextBox 15"/>
          <p:cNvSpPr txBox="1"/>
          <p:nvPr/>
        </p:nvSpPr>
        <p:spPr>
          <a:xfrm>
            <a:off x="6358737"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Chuyến taxi New York</a:t>
            </a:r>
          </a:p>
        </p:txBody>
      </p:sp>
      <p:sp>
        <p:nvSpPr>
          <p:cNvPr id="17" name="TextBox 16"/>
          <p:cNvSpPr txBox="1"/>
          <p:nvPr/>
        </p:nvSpPr>
        <p:spPr>
          <a:xfrm>
            <a:off x="6358737"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giờ naive quanh đổi giờ</a:t>
            </a:r>
          </a:p>
        </p:txBody>
      </p:sp>
      <p:sp>
        <p:nvSpPr>
          <p:cNvPr id="18" name="TextBox 17"/>
          <p:cNvSpPr txBox="1"/>
          <p:nvPr/>
        </p:nvSpPr>
        <p:spPr>
          <a:xfrm>
            <a:off x="6358737"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chuyến · NYC Open Data</a:t>
            </a:r>
            <a:r>
              <a:rPr sz="900" b="1" i="0">
                <a:solidFill>
                  <a:srgbClr val="5B6778"/>
                </a:solidFill>
                <a:latin typeface="Arial"/>
              </a:rPr>
              <a:t>   buổi 3</a:t>
            </a:r>
          </a:p>
        </p:txBody>
      </p:sp>
      <p:sp>
        <p:nvSpPr>
          <p:cNvPr id="19" name="Rounded Rectangle 18"/>
          <p:cNvSpPr/>
          <p:nvPr/>
        </p:nvSpPr>
        <p:spPr>
          <a:xfrm>
            <a:off x="8989466"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72346"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Census · BLS · BEA</a:t>
            </a:r>
          </a:p>
        </p:txBody>
      </p:sp>
      <p:sp>
        <p:nvSpPr>
          <p:cNvPr id="21" name="TextBox 20"/>
          <p:cNvSpPr txBox="1"/>
          <p:nvPr/>
        </p:nvSpPr>
        <p:spPr>
          <a:xfrm>
            <a:off x="9172346"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Bán lẻ, CPI, dân số, GDP</a:t>
            </a:r>
          </a:p>
        </p:txBody>
      </p:sp>
      <p:sp>
        <p:nvSpPr>
          <p:cNvPr id="22" name="TextBox 21"/>
          <p:cNvSpPr txBox="1"/>
          <p:nvPr/>
        </p:nvSpPr>
        <p:spPr>
          <a:xfrm>
            <a:off x="9172346"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ô '(S)', đổi định nghĩa</a:t>
            </a:r>
          </a:p>
        </p:txBody>
      </p:sp>
      <p:sp>
        <p:nvSpPr>
          <p:cNvPr id="23" name="TextBox 22"/>
          <p:cNvSpPr txBox="1"/>
          <p:nvPr/>
        </p:nvSpPr>
        <p:spPr>
          <a:xfrm>
            <a:off x="9172346"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public domain</a:t>
            </a:r>
            <a:r>
              <a:rPr sz="900" b="1" i="0">
                <a:solidFill>
                  <a:srgbClr val="5B6778"/>
                </a:solidFill>
                <a:latin typeface="Arial"/>
              </a:rPr>
              <a:t>   buổi 5, 7, 8</a:t>
            </a:r>
          </a:p>
        </p:txBody>
      </p:sp>
      <p:sp>
        <p:nvSpPr>
          <p:cNvPr id="24" name="Rounded Rectangle 23"/>
          <p:cNvSpPr/>
          <p:nvPr/>
        </p:nvSpPr>
        <p:spPr>
          <a:xfrm>
            <a:off x="548640"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EIA-930</a:t>
            </a:r>
          </a:p>
        </p:txBody>
      </p:sp>
      <p:sp>
        <p:nvSpPr>
          <p:cNvPr id="26" name="TextBox 25"/>
          <p:cNvSpPr txBox="1"/>
          <p:nvPr/>
        </p:nvSpPr>
        <p:spPr>
          <a:xfrm>
            <a:off x="731520"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Tải điện các vùng Mỹ</a:t>
            </a:r>
          </a:p>
        </p:txBody>
      </p:sp>
      <p:sp>
        <p:nvSpPr>
          <p:cNvPr id="27" name="TextBox 26"/>
          <p:cNvSpPr txBox="1"/>
          <p:nvPr/>
        </p:nvSpPr>
        <p:spPr>
          <a:xfrm>
            <a:off x="731520"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cột đổi giữa năm</a:t>
            </a:r>
          </a:p>
        </p:txBody>
      </p:sp>
      <p:sp>
        <p:nvSpPr>
          <p:cNvPr id="28" name="TextBox 27"/>
          <p:cNvSpPr txBox="1"/>
          <p:nvPr/>
        </p:nvSpPr>
        <p:spPr>
          <a:xfrm>
            <a:off x="731520"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giờ · public domain</a:t>
            </a:r>
            <a:r>
              <a:rPr sz="900" b="1" i="0">
                <a:solidFill>
                  <a:srgbClr val="5B6778"/>
                </a:solidFill>
                <a:latin typeface="Arial"/>
              </a:rPr>
              <a:t>   buổi 6, 8, 13, 15</a:t>
            </a:r>
          </a:p>
        </p:txBody>
      </p:sp>
      <p:sp>
        <p:nvSpPr>
          <p:cNvPr id="29" name="Rounded Rectangle 28"/>
          <p:cNvSpPr/>
          <p:nvPr/>
        </p:nvSpPr>
        <p:spPr>
          <a:xfrm>
            <a:off x="3362248"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45128"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FRB G.17</a:t>
            </a:r>
          </a:p>
        </p:txBody>
      </p:sp>
      <p:sp>
        <p:nvSpPr>
          <p:cNvPr id="31" name="TextBox 30"/>
          <p:cNvSpPr txBox="1"/>
          <p:nvPr/>
        </p:nvSpPr>
        <p:spPr>
          <a:xfrm>
            <a:off x="3545128"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Sản lượng công nghiệp</a:t>
            </a:r>
          </a:p>
        </p:txBody>
      </p:sp>
      <p:sp>
        <p:nvSpPr>
          <p:cNvPr id="32" name="TextBox 31"/>
          <p:cNvSpPr txBox="1"/>
          <p:nvPr/>
        </p:nvSpPr>
        <p:spPr>
          <a:xfrm>
            <a:off x="3545128"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xu hướng, không dừng</a:t>
            </a:r>
          </a:p>
        </p:txBody>
      </p:sp>
      <p:sp>
        <p:nvSpPr>
          <p:cNvPr id="33" name="TextBox 32"/>
          <p:cNvSpPr txBox="1"/>
          <p:nvPr/>
        </p:nvSpPr>
        <p:spPr>
          <a:xfrm>
            <a:off x="3545128"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public domain</a:t>
            </a:r>
            <a:r>
              <a:rPr sz="900" b="1" i="0">
                <a:solidFill>
                  <a:srgbClr val="5B6778"/>
                </a:solidFill>
                <a:latin typeface="Arial"/>
              </a:rPr>
              <a:t>   buổi 7</a:t>
            </a:r>
          </a:p>
        </p:txBody>
      </p:sp>
      <p:sp>
        <p:nvSpPr>
          <p:cNvPr id="34" name="Rounded Rectangle 33"/>
          <p:cNvSpPr/>
          <p:nvPr/>
        </p:nvSpPr>
        <p:spPr>
          <a:xfrm>
            <a:off x="6175857"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8737"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Open-Meteo (ERA5)</a:t>
            </a:r>
          </a:p>
        </p:txBody>
      </p:sp>
      <p:sp>
        <p:nvSpPr>
          <p:cNvPr id="36" name="TextBox 35"/>
          <p:cNvSpPr txBox="1"/>
          <p:nvPr/>
        </p:nvSpPr>
        <p:spPr>
          <a:xfrm>
            <a:off x="6358737"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Nhiệt độ, bản dự báo lưu</a:t>
            </a:r>
          </a:p>
        </p:txBody>
      </p:sp>
      <p:sp>
        <p:nvSpPr>
          <p:cNvPr id="37" name="TextBox 36"/>
          <p:cNvSpPr txBox="1"/>
          <p:nvPr/>
        </p:nvSpPr>
        <p:spPr>
          <a:xfrm>
            <a:off x="6358737"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lệch giờ nếu không tải UTC</a:t>
            </a:r>
          </a:p>
        </p:txBody>
      </p:sp>
      <p:sp>
        <p:nvSpPr>
          <p:cNvPr id="38" name="TextBox 37"/>
          <p:cNvSpPr txBox="1"/>
          <p:nvPr/>
        </p:nvSpPr>
        <p:spPr>
          <a:xfrm>
            <a:off x="6358737"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3, 8, 10, 13</a:t>
            </a:r>
          </a:p>
        </p:txBody>
      </p:sp>
      <p:sp>
        <p:nvSpPr>
          <p:cNvPr id="39" name="Rounded Rectangle 38"/>
          <p:cNvSpPr/>
          <p:nvPr/>
        </p:nvSpPr>
        <p:spPr>
          <a:xfrm>
            <a:off x="8989466"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72346"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M4 (Monash)</a:t>
            </a:r>
          </a:p>
        </p:txBody>
      </p:sp>
      <p:sp>
        <p:nvSpPr>
          <p:cNvPr id="41" name="TextBox 40"/>
          <p:cNvSpPr txBox="1"/>
          <p:nvPr/>
        </p:nvSpPr>
        <p:spPr>
          <a:xfrm>
            <a:off x="9172346"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Chuỗi cuộc thi M4</a:t>
            </a:r>
          </a:p>
        </p:txBody>
      </p:sp>
      <p:sp>
        <p:nvSpPr>
          <p:cNvPr id="42" name="TextBox 41"/>
          <p:cNvSpPr txBox="1"/>
          <p:nvPr/>
        </p:nvSpPr>
        <p:spPr>
          <a:xfrm>
            <a:off x="9172346"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dài ngắn khác nhau</a:t>
            </a:r>
          </a:p>
        </p:txBody>
      </p:sp>
      <p:sp>
        <p:nvSpPr>
          <p:cNvPr id="43" name="TextBox 42"/>
          <p:cNvSpPr txBox="1"/>
          <p:nvPr/>
        </p:nvSpPr>
        <p:spPr>
          <a:xfrm>
            <a:off x="9172346"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3 tần suất · CC BY 4.0</a:t>
            </a:r>
            <a:r>
              <a:rPr sz="900" b="1" i="0">
                <a:solidFill>
                  <a:srgbClr val="5B6778"/>
                </a:solidFill>
                <a:latin typeface="Arial"/>
              </a:rPr>
              <a:t>   buổi 9, 14, 15</a:t>
            </a:r>
          </a:p>
        </p:txBody>
      </p:sp>
      <p:sp>
        <p:nvSpPr>
          <p:cNvPr id="44" name="Rounded Rectangle 43"/>
          <p:cNvSpPr/>
          <p:nvPr/>
        </p:nvSpPr>
        <p:spPr>
          <a:xfrm>
            <a:off x="548640"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Online Retail II</a:t>
            </a:r>
          </a:p>
        </p:txBody>
      </p:sp>
      <p:sp>
        <p:nvSpPr>
          <p:cNvPr id="46" name="TextBox 45"/>
          <p:cNvSpPr txBox="1"/>
          <p:nvPr/>
        </p:nvSpPr>
        <p:spPr>
          <a:xfrm>
            <a:off x="731520"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Bán lẻ trực tuyến, Anh</a:t>
            </a:r>
          </a:p>
        </p:txBody>
      </p:sp>
      <p:sp>
        <p:nvSpPr>
          <p:cNvPr id="47" name="TextBox 46"/>
          <p:cNvSpPr txBox="1"/>
          <p:nvPr/>
        </p:nvSpPr>
        <p:spPr>
          <a:xfrm>
            <a:off x="731520"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nhiều số 0</a:t>
            </a:r>
          </a:p>
        </p:txBody>
      </p:sp>
      <p:sp>
        <p:nvSpPr>
          <p:cNvPr id="48" name="TextBox 47"/>
          <p:cNvSpPr txBox="1"/>
          <p:nvPr/>
        </p:nvSpPr>
        <p:spPr>
          <a:xfrm>
            <a:off x="731520"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hoá đơn · CC BY 4.0</a:t>
            </a:r>
            <a:r>
              <a:rPr sz="900" b="1" i="0">
                <a:solidFill>
                  <a:srgbClr val="5B6778"/>
                </a:solidFill>
                <a:latin typeface="Arial"/>
              </a:rPr>
              <a:t>   buổi 9, 13, 14</a:t>
            </a:r>
          </a:p>
        </p:txBody>
      </p:sp>
      <p:sp>
        <p:nvSpPr>
          <p:cNvPr id="49" name="Rounded Rectangle 48"/>
          <p:cNvSpPr/>
          <p:nvPr/>
        </p:nvSpPr>
        <p:spPr>
          <a:xfrm>
            <a:off x="3362248"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545128"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UCI Beijing Air</a:t>
            </a:r>
          </a:p>
        </p:txBody>
      </p:sp>
      <p:sp>
        <p:nvSpPr>
          <p:cNvPr id="51" name="TextBox 50"/>
          <p:cNvSpPr txBox="1"/>
          <p:nvPr/>
        </p:nvSpPr>
        <p:spPr>
          <a:xfrm>
            <a:off x="3545128"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Bụi mịn 12 trạm</a:t>
            </a:r>
          </a:p>
        </p:txBody>
      </p:sp>
      <p:sp>
        <p:nvSpPr>
          <p:cNvPr id="52" name="TextBox 51"/>
          <p:cNvSpPr txBox="1"/>
          <p:nvPr/>
        </p:nvSpPr>
        <p:spPr>
          <a:xfrm>
            <a:off x="3545128"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khi ô nhiễm (MNAR)</a:t>
            </a:r>
          </a:p>
        </p:txBody>
      </p:sp>
      <p:sp>
        <p:nvSpPr>
          <p:cNvPr id="53" name="TextBox 52"/>
          <p:cNvSpPr txBox="1"/>
          <p:nvPr/>
        </p:nvSpPr>
        <p:spPr>
          <a:xfrm>
            <a:off x="3545128"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10</a:t>
            </a:r>
          </a:p>
        </p:txBody>
      </p:sp>
      <p:sp>
        <p:nvSpPr>
          <p:cNvPr id="54" name="Rounded Rectangle 53"/>
          <p:cNvSpPr/>
          <p:nvPr/>
        </p:nvSpPr>
        <p:spPr>
          <a:xfrm>
            <a:off x="6175857"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8737"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GHCNh Nội Bài</a:t>
            </a:r>
          </a:p>
        </p:txBody>
      </p:sp>
      <p:sp>
        <p:nvSpPr>
          <p:cNvPr id="56" name="TextBox 55"/>
          <p:cNvSpPr txBox="1"/>
          <p:nvPr/>
        </p:nvSpPr>
        <p:spPr>
          <a:xfrm>
            <a:off x="6358737"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Trạm khí tượng Nội Bài</a:t>
            </a:r>
          </a:p>
        </p:txBody>
      </p:sp>
      <p:sp>
        <p:nvSpPr>
          <p:cNvPr id="57" name="TextBox 56"/>
          <p:cNvSpPr txBox="1"/>
          <p:nvPr/>
        </p:nvSpPr>
        <p:spPr>
          <a:xfrm>
            <a:off x="6358737"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9,999 km, cờ chất lượng</a:t>
            </a:r>
          </a:p>
        </p:txBody>
      </p:sp>
      <p:sp>
        <p:nvSpPr>
          <p:cNvPr id="58" name="TextBox 57"/>
          <p:cNvSpPr txBox="1"/>
          <p:nvPr/>
        </p:nvSpPr>
        <p:spPr>
          <a:xfrm>
            <a:off x="6358737"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CC0</a:t>
            </a:r>
            <a:r>
              <a:rPr sz="900" b="1" i="0">
                <a:solidFill>
                  <a:srgbClr val="5B6778"/>
                </a:solidFill>
                <a:latin typeface="Arial"/>
              </a:rPr>
              <a:t>   buổi 10</a:t>
            </a:r>
          </a:p>
        </p:txBody>
      </p:sp>
      <p:sp>
        <p:nvSpPr>
          <p:cNvPr id="59" name="Rounded Rectangle 58"/>
          <p:cNvSpPr/>
          <p:nvPr/>
        </p:nvSpPr>
        <p:spPr>
          <a:xfrm>
            <a:off x="8989466"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72346"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Wikipedia tiếng Việt</a:t>
            </a:r>
          </a:p>
        </p:txBody>
      </p:sp>
      <p:sp>
        <p:nvSpPr>
          <p:cNvPr id="61" name="TextBox 60"/>
          <p:cNvSpPr txBox="1"/>
          <p:nvPr/>
        </p:nvSpPr>
        <p:spPr>
          <a:xfrm>
            <a:off x="9172346"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Lượt xem: Tết, tổng</a:t>
            </a:r>
          </a:p>
        </p:txBody>
      </p:sp>
      <p:sp>
        <p:nvSpPr>
          <p:cNvPr id="62" name="TextBox 61"/>
          <p:cNvSpPr txBox="1"/>
          <p:nvPr/>
        </p:nvSpPr>
        <p:spPr>
          <a:xfrm>
            <a:off x="9172346"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đỉnh Tết theo lịch âm</a:t>
            </a:r>
          </a:p>
        </p:txBody>
      </p:sp>
      <p:sp>
        <p:nvSpPr>
          <p:cNvPr id="63" name="TextBox 62"/>
          <p:cNvSpPr txBox="1"/>
          <p:nvPr/>
        </p:nvSpPr>
        <p:spPr>
          <a:xfrm>
            <a:off x="9172346"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ngày · CC0</a:t>
            </a:r>
            <a:r>
              <a:rPr sz="900" b="1" i="0">
                <a:solidFill>
                  <a:srgbClr val="5B6778"/>
                </a:solidFill>
                <a:latin typeface="Arial"/>
              </a:rPr>
              <a:t>   buổi 11, 13</a:t>
            </a:r>
          </a:p>
        </p:txBody>
      </p:sp>
      <p:sp>
        <p:nvSpPr>
          <p:cNvPr id="64" name="Rounded Rectangle 63"/>
          <p:cNvSpPr/>
          <p:nvPr/>
        </p:nvSpPr>
        <p:spPr>
          <a:xfrm>
            <a:off x="548640" y="4974336"/>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5065776"/>
            <a:ext cx="2286000" cy="274320"/>
          </a:xfrm>
          <a:prstGeom prst="rect">
            <a:avLst/>
          </a:prstGeom>
          <a:noFill/>
        </p:spPr>
        <p:txBody>
          <a:bodyPr wrap="square" lIns="0" rIns="0" tIns="0" bIns="0" anchor="t">
            <a:spAutoFit/>
          </a:bodyPr>
          <a:lstStyle/>
          <a:p>
            <a:pPr algn="l"/>
            <a:r>
              <a:rPr sz="1400" b="1" i="0">
                <a:solidFill>
                  <a:srgbClr val="1B2A41"/>
                </a:solidFill>
                <a:latin typeface="Arial"/>
              </a:rPr>
              <a:t>Eurostat</a:t>
            </a:r>
          </a:p>
        </p:txBody>
      </p:sp>
      <p:sp>
        <p:nvSpPr>
          <p:cNvPr id="66" name="TextBox 65"/>
          <p:cNvSpPr txBox="1"/>
          <p:nvPr/>
        </p:nvSpPr>
        <p:spPr>
          <a:xfrm>
            <a:off x="731520" y="5340096"/>
            <a:ext cx="2286000" cy="274320"/>
          </a:xfrm>
          <a:prstGeom prst="rect">
            <a:avLst/>
          </a:prstGeom>
          <a:noFill/>
        </p:spPr>
        <p:txBody>
          <a:bodyPr wrap="square" lIns="0" rIns="0" tIns="0" bIns="0" anchor="t">
            <a:spAutoFit/>
          </a:bodyPr>
          <a:lstStyle/>
          <a:p>
            <a:pPr algn="l"/>
            <a:r>
              <a:rPr sz="1100" b="0" i="0">
                <a:solidFill>
                  <a:srgbClr val="1B2A41"/>
                </a:solidFill>
                <a:latin typeface="Arial"/>
              </a:rPr>
              <a:t>Hành khách bay EU27</a:t>
            </a:r>
          </a:p>
        </p:txBody>
      </p:sp>
      <p:sp>
        <p:nvSpPr>
          <p:cNvPr id="67" name="TextBox 66"/>
          <p:cNvSpPr txBox="1"/>
          <p:nvPr/>
        </p:nvSpPr>
        <p:spPr>
          <a:xfrm>
            <a:off x="731520" y="5559552"/>
            <a:ext cx="2286000" cy="274320"/>
          </a:xfrm>
          <a:prstGeom prst="rect">
            <a:avLst/>
          </a:prstGeom>
          <a:noFill/>
        </p:spPr>
        <p:txBody>
          <a:bodyPr wrap="square" lIns="0" rIns="0" tIns="0" bIns="0" anchor="t">
            <a:spAutoFit/>
          </a:bodyPr>
          <a:lstStyle/>
          <a:p>
            <a:pPr algn="l"/>
            <a:r>
              <a:rPr sz="1100" b="1" i="0">
                <a:solidFill>
                  <a:srgbClr val="D9642B"/>
                </a:solidFill>
                <a:latin typeface="Arial"/>
              </a:rPr>
              <a:t>bẩn: gãy do COVID</a:t>
            </a:r>
          </a:p>
        </p:txBody>
      </p:sp>
      <p:sp>
        <p:nvSpPr>
          <p:cNvPr id="68" name="TextBox 67"/>
          <p:cNvSpPr txBox="1"/>
          <p:nvPr/>
        </p:nvSpPr>
        <p:spPr>
          <a:xfrm>
            <a:off x="731520" y="5797296"/>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CC BY 4.0</a:t>
            </a:r>
            <a:r>
              <a:rPr sz="900" b="1" i="0">
                <a:solidFill>
                  <a:srgbClr val="5B6778"/>
                </a:solidFill>
                <a:latin typeface="Arial"/>
              </a:rPr>
              <a:t>   buổi 11</a:t>
            </a:r>
          </a:p>
        </p:txBody>
      </p:sp>
      <p:sp>
        <p:nvSpPr>
          <p:cNvPr id="69" name="Rounded Rectangle 68"/>
          <p:cNvSpPr/>
          <p:nvPr/>
        </p:nvSpPr>
        <p:spPr>
          <a:xfrm>
            <a:off x="3362248" y="4974336"/>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545128" y="5065776"/>
            <a:ext cx="2286000" cy="274320"/>
          </a:xfrm>
          <a:prstGeom prst="rect">
            <a:avLst/>
          </a:prstGeom>
          <a:noFill/>
        </p:spPr>
        <p:txBody>
          <a:bodyPr wrap="square" lIns="0" rIns="0" tIns="0" bIns="0" anchor="t">
            <a:spAutoFit/>
          </a:bodyPr>
          <a:lstStyle/>
          <a:p>
            <a:pPr algn="l"/>
            <a:r>
              <a:rPr sz="1400" b="1" i="0">
                <a:solidFill>
                  <a:srgbClr val="1B2A41"/>
                </a:solidFill>
                <a:latin typeface="Arial"/>
              </a:rPr>
              <a:t>UCI Appliances</a:t>
            </a:r>
          </a:p>
        </p:txBody>
      </p:sp>
      <p:sp>
        <p:nvSpPr>
          <p:cNvPr id="71" name="TextBox 70"/>
          <p:cNvSpPr txBox="1"/>
          <p:nvPr/>
        </p:nvSpPr>
        <p:spPr>
          <a:xfrm>
            <a:off x="3545128" y="5340096"/>
            <a:ext cx="2286000" cy="274320"/>
          </a:xfrm>
          <a:prstGeom prst="rect">
            <a:avLst/>
          </a:prstGeom>
          <a:noFill/>
        </p:spPr>
        <p:txBody>
          <a:bodyPr wrap="square" lIns="0" rIns="0" tIns="0" bIns="0" anchor="t">
            <a:spAutoFit/>
          </a:bodyPr>
          <a:lstStyle/>
          <a:p>
            <a:pPr algn="l"/>
            <a:r>
              <a:rPr sz="1100" b="0" i="0">
                <a:solidFill>
                  <a:srgbClr val="1B2A41"/>
                </a:solidFill>
                <a:latin typeface="Arial"/>
              </a:rPr>
              <a:t>Cảm biến trong nhà</a:t>
            </a:r>
          </a:p>
        </p:txBody>
      </p:sp>
      <p:sp>
        <p:nvSpPr>
          <p:cNvPr id="72" name="TextBox 71"/>
          <p:cNvSpPr txBox="1"/>
          <p:nvPr/>
        </p:nvSpPr>
        <p:spPr>
          <a:xfrm>
            <a:off x="3545128" y="5559552"/>
            <a:ext cx="2286000" cy="274320"/>
          </a:xfrm>
          <a:prstGeom prst="rect">
            <a:avLst/>
          </a:prstGeom>
          <a:noFill/>
        </p:spPr>
        <p:txBody>
          <a:bodyPr wrap="square" lIns="0" rIns="0" tIns="0" bIns="0" anchor="t">
            <a:spAutoFit/>
          </a:bodyPr>
          <a:lstStyle/>
          <a:p>
            <a:pPr algn="l"/>
            <a:r>
              <a:rPr sz="1100" b="1" i="0">
                <a:solidFill>
                  <a:srgbClr val="D9642B"/>
                </a:solidFill>
                <a:latin typeface="Arial"/>
              </a:rPr>
              <a:t>bẩn: nhiễu cảm biến</a:t>
            </a:r>
          </a:p>
        </p:txBody>
      </p:sp>
      <p:sp>
        <p:nvSpPr>
          <p:cNvPr id="73" name="TextBox 72"/>
          <p:cNvSpPr txBox="1"/>
          <p:nvPr/>
        </p:nvSpPr>
        <p:spPr>
          <a:xfrm>
            <a:off x="3545128" y="5797296"/>
            <a:ext cx="2286000" cy="228600"/>
          </a:xfrm>
          <a:prstGeom prst="rect">
            <a:avLst/>
          </a:prstGeom>
          <a:noFill/>
        </p:spPr>
        <p:txBody>
          <a:bodyPr wrap="square" lIns="0" rIns="0" tIns="0" bIns="0" anchor="t">
            <a:spAutoFit/>
          </a:bodyPr>
          <a:lstStyle/>
          <a:p>
            <a:pPr algn="l"/>
            <a:r>
              <a:rPr sz="900" b="0" i="0">
                <a:solidFill>
                  <a:srgbClr val="5B6778"/>
                </a:solidFill>
                <a:latin typeface="Arial"/>
              </a:rPr>
              <a:t>10 phút · CC BY 4.0</a:t>
            </a:r>
            <a:r>
              <a:rPr sz="900" b="1" i="0">
                <a:solidFill>
                  <a:srgbClr val="5B6778"/>
                </a:solidFill>
                <a:latin typeface="Arial"/>
              </a:rPr>
              <a:t>   buổi 12</a:t>
            </a:r>
          </a:p>
        </p:txBody>
      </p:sp>
      <p:sp>
        <p:nvSpPr>
          <p:cNvPr id="74" name="TextBox 73"/>
          <p:cNvSpPr txBox="1"/>
          <p:nvPr/>
        </p:nvSpPr>
        <p:spPr>
          <a:xfrm>
            <a:off x="6175857" y="5065776"/>
            <a:ext cx="5465368" cy="1005839"/>
          </a:xfrm>
          <a:prstGeom prst="rect">
            <a:avLst/>
          </a:prstGeom>
          <a:noFill/>
        </p:spPr>
        <p:txBody>
          <a:bodyPr wrap="square" lIns="0" rIns="0" tIns="0" bIns="0" anchor="t">
            <a:spAutoFit/>
          </a:bodyPr>
          <a:lstStyle/>
          <a:p>
            <a:pPr algn="l"/>
            <a:r>
              <a:rPr sz="1200" b="0" i="0">
                <a:solidFill>
                  <a:srgbClr val="5B6778"/>
                </a:solidFill>
                <a:latin typeface="Arial"/>
              </a:rPr>
              <a:t>Mọi bộ đã xác minh giấy phép, tải kèm kiểm sha256. Không dùng FRED (cấm dùng cho ML).</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Tra theo buổi: mỗi buổi ở slide nào</a:t>
            </a:r>
          </a:p>
        </p:txBody>
      </p:sp>
      <p:sp>
        <p:nvSpPr>
          <p:cNvPr id="4" name="TextBox 3"/>
          <p:cNvSpPr txBox="1"/>
          <p:nvPr/>
        </p:nvSpPr>
        <p:spPr>
          <a:xfrm>
            <a:off x="685800" y="1280160"/>
            <a:ext cx="411480" cy="365760"/>
          </a:xfrm>
          <a:prstGeom prst="rect">
            <a:avLst/>
          </a:prstGeom>
          <a:noFill/>
        </p:spPr>
        <p:txBody>
          <a:bodyPr wrap="square" lIns="0" rIns="0" tIns="0" bIns="0" anchor="t">
            <a:spAutoFit/>
          </a:bodyPr>
          <a:lstStyle/>
          <a:p>
            <a:pPr algn="l"/>
            <a:r>
              <a:rPr sz="1100" b="1" i="0">
                <a:solidFill>
                  <a:srgbClr val="4A5568"/>
                </a:solidFill>
                <a:latin typeface="Arial"/>
              </a:rPr>
              <a:t>BUỔI</a:t>
            </a:r>
          </a:p>
        </p:txBody>
      </p:sp>
      <p:sp>
        <p:nvSpPr>
          <p:cNvPr id="5" name="TextBox 4"/>
          <p:cNvSpPr txBox="1"/>
          <p:nvPr/>
        </p:nvSpPr>
        <p:spPr>
          <a:xfrm>
            <a:off x="1371600" y="1280160"/>
            <a:ext cx="1965960" cy="365760"/>
          </a:xfrm>
          <a:prstGeom prst="rect">
            <a:avLst/>
          </a:prstGeom>
          <a:noFill/>
        </p:spPr>
        <p:txBody>
          <a:bodyPr wrap="square" lIns="0" rIns="0" tIns="0" bIns="0" anchor="t">
            <a:spAutoFit/>
          </a:bodyPr>
          <a:lstStyle/>
          <a:p>
            <a:pPr algn="l"/>
            <a:r>
              <a:rPr sz="1100" b="1" i="0">
                <a:solidFill>
                  <a:srgbClr val="5B6778"/>
                </a:solidFill>
                <a:latin typeface="Arial"/>
              </a:rPr>
              <a:t>CHỦ ĐỀ</a:t>
            </a:r>
          </a:p>
        </p:txBody>
      </p:sp>
      <p:sp>
        <p:nvSpPr>
          <p:cNvPr id="6" name="TextBox 5"/>
          <p:cNvSpPr txBox="1"/>
          <p:nvPr/>
        </p:nvSpPr>
        <p:spPr>
          <a:xfrm>
            <a:off x="3611880" y="1280160"/>
            <a:ext cx="2331720" cy="365760"/>
          </a:xfrm>
          <a:prstGeom prst="rect">
            <a:avLst/>
          </a:prstGeom>
          <a:noFill/>
        </p:spPr>
        <p:txBody>
          <a:bodyPr wrap="square" lIns="0" rIns="0" tIns="0" bIns="0" anchor="t">
            <a:spAutoFit/>
          </a:bodyPr>
          <a:lstStyle/>
          <a:p>
            <a:pPr algn="l"/>
            <a:r>
              <a:rPr sz="1100" b="1" i="0">
                <a:solidFill>
                  <a:srgbClr val="5B6778"/>
                </a:solidFill>
                <a:latin typeface="Arial"/>
              </a:rPr>
              <a:t>SLIDE</a:t>
            </a:r>
          </a:p>
        </p:txBody>
      </p:sp>
      <p:sp>
        <p:nvSpPr>
          <p:cNvPr id="7" name="Rounded Rectangle 6"/>
          <p:cNvSpPr/>
          <p:nvPr/>
        </p:nvSpPr>
        <p:spPr>
          <a:xfrm>
            <a:off x="548639" y="1691639"/>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91639"/>
            <a:ext cx="411480" cy="530352"/>
          </a:xfrm>
          <a:prstGeom prst="rect">
            <a:avLst/>
          </a:prstGeom>
          <a:noFill/>
        </p:spPr>
        <p:txBody>
          <a:bodyPr wrap="square" lIns="0" rIns="0" tIns="0" bIns="0" anchor="ctr">
            <a:spAutoFit/>
          </a:bodyPr>
          <a:lstStyle/>
          <a:p>
            <a:pPr algn="l"/>
            <a:r>
              <a:rPr sz="1300" b="1" i="0">
                <a:solidFill>
                  <a:srgbClr val="1B2A41"/>
                </a:solidFill>
                <a:latin typeface="Arial"/>
              </a:rPr>
              <a:t>1</a:t>
            </a:r>
          </a:p>
        </p:txBody>
      </p:sp>
      <p:sp>
        <p:nvSpPr>
          <p:cNvPr id="9" name="TextBox 8"/>
          <p:cNvSpPr txBox="1"/>
          <p:nvPr/>
        </p:nvSpPr>
        <p:spPr>
          <a:xfrm>
            <a:off x="1371599" y="1691639"/>
            <a:ext cx="1965960" cy="530352"/>
          </a:xfrm>
          <a:prstGeom prst="rect">
            <a:avLst/>
          </a:prstGeom>
          <a:noFill/>
        </p:spPr>
        <p:txBody>
          <a:bodyPr wrap="square" lIns="0" rIns="0" tIns="0" bIns="0" anchor="ctr">
            <a:spAutoFit/>
          </a:bodyPr>
          <a:lstStyle/>
          <a:p>
            <a:pPr algn="l"/>
            <a:r>
              <a:rPr sz="1300" b="0" i="0">
                <a:solidFill>
                  <a:srgbClr val="1B2A41"/>
                </a:solidFill>
                <a:latin typeface="Arial"/>
              </a:rPr>
              <a:t>Forecasting là gì</a:t>
            </a:r>
          </a:p>
        </p:txBody>
      </p:sp>
      <p:sp>
        <p:nvSpPr>
          <p:cNvPr id="10" name="TextBox 9"/>
          <p:cNvSpPr txBox="1"/>
          <p:nvPr/>
        </p:nvSpPr>
        <p:spPr>
          <a:xfrm>
            <a:off x="3611879" y="1691639"/>
            <a:ext cx="2331720" cy="530352"/>
          </a:xfrm>
          <a:prstGeom prst="rect">
            <a:avLst/>
          </a:prstGeom>
          <a:noFill/>
        </p:spPr>
        <p:txBody>
          <a:bodyPr wrap="square" lIns="0" rIns="0" tIns="0" bIns="0" anchor="ctr">
            <a:spAutoFit/>
          </a:bodyPr>
          <a:lstStyle/>
          <a:p>
            <a:pPr algn="l"/>
            <a:r>
              <a:rPr sz="1300" b="0" i="0">
                <a:solidFill>
                  <a:srgbClr val="5B6778"/>
                </a:solidFill>
                <a:latin typeface="Arial"/>
              </a:rPr>
              <a:t>11, 12, 14, 15, 16, 18, 20, 21, 23, 25, 26</a:t>
            </a:r>
          </a:p>
        </p:txBody>
      </p:sp>
      <p:sp>
        <p:nvSpPr>
          <p:cNvPr id="11" name="TextBox 10"/>
          <p:cNvSpPr txBox="1"/>
          <p:nvPr/>
        </p:nvSpPr>
        <p:spPr>
          <a:xfrm>
            <a:off x="685799" y="2258568"/>
            <a:ext cx="411480" cy="530352"/>
          </a:xfrm>
          <a:prstGeom prst="rect">
            <a:avLst/>
          </a:prstGeom>
          <a:noFill/>
        </p:spPr>
        <p:txBody>
          <a:bodyPr wrap="square" lIns="0" rIns="0" tIns="0" bIns="0" anchor="ctr">
            <a:spAutoFit/>
          </a:bodyPr>
          <a:lstStyle/>
          <a:p>
            <a:pPr algn="l"/>
            <a:r>
              <a:rPr sz="1300" b="1" i="0">
                <a:solidFill>
                  <a:srgbClr val="1B2A41"/>
                </a:solidFill>
                <a:latin typeface="Arial"/>
              </a:rPr>
              <a:t>2</a:t>
            </a:r>
          </a:p>
        </p:txBody>
      </p:sp>
      <p:sp>
        <p:nvSpPr>
          <p:cNvPr id="12" name="TextBox 11"/>
          <p:cNvSpPr txBox="1"/>
          <p:nvPr/>
        </p:nvSpPr>
        <p:spPr>
          <a:xfrm>
            <a:off x="1371599" y="2258568"/>
            <a:ext cx="1965960" cy="530352"/>
          </a:xfrm>
          <a:prstGeom prst="rect">
            <a:avLst/>
          </a:prstGeom>
          <a:noFill/>
        </p:spPr>
        <p:txBody>
          <a:bodyPr wrap="square" lIns="0" rIns="0" tIns="0" bIns="0" anchor="ctr">
            <a:spAutoFit/>
          </a:bodyPr>
          <a:lstStyle/>
          <a:p>
            <a:pPr algn="l"/>
            <a:r>
              <a:rPr sz="1300" b="0" i="0">
                <a:solidFill>
                  <a:srgbClr val="1B2A41"/>
                </a:solidFill>
                <a:latin typeface="Arial"/>
              </a:rPr>
              <a:t>Xác suất, thống kê</a:t>
            </a:r>
          </a:p>
        </p:txBody>
      </p:sp>
      <p:sp>
        <p:nvSpPr>
          <p:cNvPr id="13" name="TextBox 12"/>
          <p:cNvSpPr txBox="1"/>
          <p:nvPr/>
        </p:nvSpPr>
        <p:spPr>
          <a:xfrm>
            <a:off x="3611879" y="2258568"/>
            <a:ext cx="2331720" cy="530352"/>
          </a:xfrm>
          <a:prstGeom prst="rect">
            <a:avLst/>
          </a:prstGeom>
          <a:noFill/>
        </p:spPr>
        <p:txBody>
          <a:bodyPr wrap="square" lIns="0" rIns="0" tIns="0" bIns="0" anchor="ctr">
            <a:spAutoFit/>
          </a:bodyPr>
          <a:lstStyle/>
          <a:p>
            <a:pPr algn="l"/>
            <a:r>
              <a:rPr sz="1300" b="0" i="0">
                <a:solidFill>
                  <a:srgbClr val="5B6778"/>
                </a:solidFill>
                <a:latin typeface="Arial"/>
              </a:rPr>
              <a:t>25, 28, 30, 31, 32, 34, 35, 36, 38, 39, 41, 42, 101</a:t>
            </a:r>
          </a:p>
        </p:txBody>
      </p:sp>
      <p:sp>
        <p:nvSpPr>
          <p:cNvPr id="14" name="Rounded Rectangle 13"/>
          <p:cNvSpPr/>
          <p:nvPr/>
        </p:nvSpPr>
        <p:spPr>
          <a:xfrm>
            <a:off x="548639" y="2825496"/>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825496"/>
            <a:ext cx="411480" cy="530352"/>
          </a:xfrm>
          <a:prstGeom prst="rect">
            <a:avLst/>
          </a:prstGeom>
          <a:noFill/>
        </p:spPr>
        <p:txBody>
          <a:bodyPr wrap="square" lIns="0" rIns="0" tIns="0" bIns="0" anchor="ctr">
            <a:spAutoFit/>
          </a:bodyPr>
          <a:lstStyle/>
          <a:p>
            <a:pPr algn="l"/>
            <a:r>
              <a:rPr sz="1300" b="1" i="0">
                <a:solidFill>
                  <a:srgbClr val="1B2A41"/>
                </a:solidFill>
                <a:latin typeface="Arial"/>
              </a:rPr>
              <a:t>3</a:t>
            </a:r>
          </a:p>
        </p:txBody>
      </p:sp>
      <p:sp>
        <p:nvSpPr>
          <p:cNvPr id="16" name="TextBox 15"/>
          <p:cNvSpPr txBox="1"/>
          <p:nvPr/>
        </p:nvSpPr>
        <p:spPr>
          <a:xfrm>
            <a:off x="1371599" y="2825496"/>
            <a:ext cx="1965960" cy="530352"/>
          </a:xfrm>
          <a:prstGeom prst="rect">
            <a:avLst/>
          </a:prstGeom>
          <a:noFill/>
        </p:spPr>
        <p:txBody>
          <a:bodyPr wrap="square" lIns="0" rIns="0" tIns="0" bIns="0" anchor="ctr">
            <a:spAutoFit/>
          </a:bodyPr>
          <a:lstStyle/>
          <a:p>
            <a:pPr algn="l"/>
            <a:r>
              <a:rPr sz="1300" b="0" i="0">
                <a:solidFill>
                  <a:srgbClr val="1B2A41"/>
                </a:solidFill>
                <a:latin typeface="Arial"/>
              </a:rPr>
              <a:t>Dữ liệu thời gian</a:t>
            </a:r>
          </a:p>
        </p:txBody>
      </p:sp>
      <p:sp>
        <p:nvSpPr>
          <p:cNvPr id="17" name="TextBox 16"/>
          <p:cNvSpPr txBox="1"/>
          <p:nvPr/>
        </p:nvSpPr>
        <p:spPr>
          <a:xfrm>
            <a:off x="3611879" y="2825496"/>
            <a:ext cx="2331720" cy="530352"/>
          </a:xfrm>
          <a:prstGeom prst="rect">
            <a:avLst/>
          </a:prstGeom>
          <a:noFill/>
        </p:spPr>
        <p:txBody>
          <a:bodyPr wrap="square" lIns="0" rIns="0" tIns="0" bIns="0" anchor="ctr">
            <a:spAutoFit/>
          </a:bodyPr>
          <a:lstStyle/>
          <a:p>
            <a:pPr algn="l"/>
            <a:r>
              <a:rPr sz="1300" b="0" i="0">
                <a:solidFill>
                  <a:srgbClr val="5B6778"/>
                </a:solidFill>
                <a:latin typeface="Arial"/>
              </a:rPr>
              <a:t>44, 46, 48, 49, 141</a:t>
            </a:r>
          </a:p>
        </p:txBody>
      </p:sp>
      <p:sp>
        <p:nvSpPr>
          <p:cNvPr id="18" name="TextBox 17"/>
          <p:cNvSpPr txBox="1"/>
          <p:nvPr/>
        </p:nvSpPr>
        <p:spPr>
          <a:xfrm>
            <a:off x="685799" y="3392424"/>
            <a:ext cx="411480" cy="530352"/>
          </a:xfrm>
          <a:prstGeom prst="rect">
            <a:avLst/>
          </a:prstGeom>
          <a:noFill/>
        </p:spPr>
        <p:txBody>
          <a:bodyPr wrap="square" lIns="0" rIns="0" tIns="0" bIns="0" anchor="ctr">
            <a:spAutoFit/>
          </a:bodyPr>
          <a:lstStyle/>
          <a:p>
            <a:pPr algn="l"/>
            <a:r>
              <a:rPr sz="1300" b="1" i="0">
                <a:solidFill>
                  <a:srgbClr val="1B2A41"/>
                </a:solidFill>
                <a:latin typeface="Arial"/>
              </a:rPr>
              <a:t>4</a:t>
            </a:r>
          </a:p>
        </p:txBody>
      </p:sp>
      <p:sp>
        <p:nvSpPr>
          <p:cNvPr id="19" name="TextBox 18"/>
          <p:cNvSpPr txBox="1"/>
          <p:nvPr/>
        </p:nvSpPr>
        <p:spPr>
          <a:xfrm>
            <a:off x="1371599" y="3392424"/>
            <a:ext cx="1965960" cy="530352"/>
          </a:xfrm>
          <a:prstGeom prst="rect">
            <a:avLst/>
          </a:prstGeom>
          <a:noFill/>
        </p:spPr>
        <p:txBody>
          <a:bodyPr wrap="square" lIns="0" rIns="0" tIns="0" bIns="0" anchor="ctr">
            <a:spAutoFit/>
          </a:bodyPr>
          <a:lstStyle/>
          <a:p>
            <a:pPr algn="l"/>
            <a:r>
              <a:rPr sz="1300" b="0" i="0">
                <a:solidFill>
                  <a:srgbClr val="1B2A41"/>
                </a:solidFill>
                <a:latin typeface="Arial"/>
              </a:rPr>
              <a:t>Đọc biểu đồ</a:t>
            </a:r>
          </a:p>
        </p:txBody>
      </p:sp>
      <p:sp>
        <p:nvSpPr>
          <p:cNvPr id="20" name="TextBox 19"/>
          <p:cNvSpPr txBox="1"/>
          <p:nvPr/>
        </p:nvSpPr>
        <p:spPr>
          <a:xfrm>
            <a:off x="3611879" y="3392424"/>
            <a:ext cx="2331720" cy="530352"/>
          </a:xfrm>
          <a:prstGeom prst="rect">
            <a:avLst/>
          </a:prstGeom>
          <a:noFill/>
        </p:spPr>
        <p:txBody>
          <a:bodyPr wrap="square" lIns="0" rIns="0" tIns="0" bIns="0" anchor="ctr">
            <a:spAutoFit/>
          </a:bodyPr>
          <a:lstStyle/>
          <a:p>
            <a:pPr algn="l"/>
            <a:r>
              <a:rPr sz="1300" b="0" i="0">
                <a:solidFill>
                  <a:srgbClr val="5B6778"/>
                </a:solidFill>
                <a:latin typeface="Arial"/>
              </a:rPr>
              <a:t>51, 52, 54, 55, 56, 57, 59, 61, 62, 64, 65, 144, 146</a:t>
            </a:r>
          </a:p>
        </p:txBody>
      </p:sp>
      <p:sp>
        <p:nvSpPr>
          <p:cNvPr id="21" name="Rounded Rectangle 20"/>
          <p:cNvSpPr/>
          <p:nvPr/>
        </p:nvSpPr>
        <p:spPr>
          <a:xfrm>
            <a:off x="548639" y="3959352"/>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959352"/>
            <a:ext cx="411480" cy="530352"/>
          </a:xfrm>
          <a:prstGeom prst="rect">
            <a:avLst/>
          </a:prstGeom>
          <a:noFill/>
        </p:spPr>
        <p:txBody>
          <a:bodyPr wrap="square" lIns="0" rIns="0" tIns="0" bIns="0" anchor="ctr">
            <a:spAutoFit/>
          </a:bodyPr>
          <a:lstStyle/>
          <a:p>
            <a:pPr algn="l"/>
            <a:r>
              <a:rPr sz="1300" b="1" i="0">
                <a:solidFill>
                  <a:srgbClr val="1B2A41"/>
                </a:solidFill>
                <a:latin typeface="Arial"/>
              </a:rPr>
              <a:t>5</a:t>
            </a:r>
          </a:p>
        </p:txBody>
      </p:sp>
      <p:sp>
        <p:nvSpPr>
          <p:cNvPr id="23" name="TextBox 22"/>
          <p:cNvSpPr txBox="1"/>
          <p:nvPr/>
        </p:nvSpPr>
        <p:spPr>
          <a:xfrm>
            <a:off x="1371599" y="3959352"/>
            <a:ext cx="1965960" cy="530352"/>
          </a:xfrm>
          <a:prstGeom prst="rect">
            <a:avLst/>
          </a:prstGeom>
          <a:noFill/>
        </p:spPr>
        <p:txBody>
          <a:bodyPr wrap="square" lIns="0" rIns="0" tIns="0" bIns="0" anchor="ctr">
            <a:spAutoFit/>
          </a:bodyPr>
          <a:lstStyle/>
          <a:p>
            <a:pPr algn="l"/>
            <a:r>
              <a:rPr sz="1300" b="0" i="0">
                <a:solidFill>
                  <a:srgbClr val="1B2A41"/>
                </a:solidFill>
                <a:latin typeface="Arial"/>
              </a:rPr>
              <a:t>Biến đổi, điều chỉnh</a:t>
            </a:r>
          </a:p>
        </p:txBody>
      </p:sp>
      <p:sp>
        <p:nvSpPr>
          <p:cNvPr id="24" name="TextBox 23"/>
          <p:cNvSpPr txBox="1"/>
          <p:nvPr/>
        </p:nvSpPr>
        <p:spPr>
          <a:xfrm>
            <a:off x="3611879" y="3959352"/>
            <a:ext cx="2331720" cy="530352"/>
          </a:xfrm>
          <a:prstGeom prst="rect">
            <a:avLst/>
          </a:prstGeom>
          <a:noFill/>
        </p:spPr>
        <p:txBody>
          <a:bodyPr wrap="square" lIns="0" rIns="0" tIns="0" bIns="0" anchor="ctr">
            <a:spAutoFit/>
          </a:bodyPr>
          <a:lstStyle/>
          <a:p>
            <a:pPr algn="l"/>
            <a:r>
              <a:rPr sz="1300" b="0" i="0">
                <a:solidFill>
                  <a:srgbClr val="5B6778"/>
                </a:solidFill>
                <a:latin typeface="Arial"/>
              </a:rPr>
              <a:t>66, 67, 68, 69, 71, 148, 152</a:t>
            </a:r>
          </a:p>
        </p:txBody>
      </p:sp>
      <p:sp>
        <p:nvSpPr>
          <p:cNvPr id="25" name="TextBox 24"/>
          <p:cNvSpPr txBox="1"/>
          <p:nvPr/>
        </p:nvSpPr>
        <p:spPr>
          <a:xfrm>
            <a:off x="685799" y="4526280"/>
            <a:ext cx="411480" cy="530352"/>
          </a:xfrm>
          <a:prstGeom prst="rect">
            <a:avLst/>
          </a:prstGeom>
          <a:noFill/>
        </p:spPr>
        <p:txBody>
          <a:bodyPr wrap="square" lIns="0" rIns="0" tIns="0" bIns="0" anchor="ctr">
            <a:spAutoFit/>
          </a:bodyPr>
          <a:lstStyle/>
          <a:p>
            <a:pPr algn="l"/>
            <a:r>
              <a:rPr sz="1300" b="1" i="0">
                <a:solidFill>
                  <a:srgbClr val="1B2A41"/>
                </a:solidFill>
                <a:latin typeface="Arial"/>
              </a:rPr>
              <a:t>6</a:t>
            </a:r>
          </a:p>
        </p:txBody>
      </p:sp>
      <p:sp>
        <p:nvSpPr>
          <p:cNvPr id="26" name="TextBox 25"/>
          <p:cNvSpPr txBox="1"/>
          <p:nvPr/>
        </p:nvSpPr>
        <p:spPr>
          <a:xfrm>
            <a:off x="1371599" y="4526280"/>
            <a:ext cx="1965960" cy="530352"/>
          </a:xfrm>
          <a:prstGeom prst="rect">
            <a:avLst/>
          </a:prstGeom>
          <a:noFill/>
        </p:spPr>
        <p:txBody>
          <a:bodyPr wrap="square" lIns="0" rIns="0" tIns="0" bIns="0" anchor="ctr">
            <a:spAutoFit/>
          </a:bodyPr>
          <a:lstStyle/>
          <a:p>
            <a:pPr algn="l"/>
            <a:r>
              <a:rPr sz="1300" b="0" i="0">
                <a:solidFill>
                  <a:srgbClr val="1B2A41"/>
                </a:solidFill>
                <a:latin typeface="Arial"/>
              </a:rPr>
              <a:t>Phân rã</a:t>
            </a:r>
          </a:p>
        </p:txBody>
      </p:sp>
      <p:sp>
        <p:nvSpPr>
          <p:cNvPr id="27" name="TextBox 26"/>
          <p:cNvSpPr txBox="1"/>
          <p:nvPr/>
        </p:nvSpPr>
        <p:spPr>
          <a:xfrm>
            <a:off x="3611879" y="4526280"/>
            <a:ext cx="2331720" cy="530352"/>
          </a:xfrm>
          <a:prstGeom prst="rect">
            <a:avLst/>
          </a:prstGeom>
          <a:noFill/>
        </p:spPr>
        <p:txBody>
          <a:bodyPr wrap="square" lIns="0" rIns="0" tIns="0" bIns="0" anchor="ctr">
            <a:spAutoFit/>
          </a:bodyPr>
          <a:lstStyle/>
          <a:p>
            <a:pPr algn="l"/>
            <a:r>
              <a:rPr sz="1300" b="0" i="0">
                <a:solidFill>
                  <a:srgbClr val="5B6778"/>
                </a:solidFill>
                <a:latin typeface="Arial"/>
              </a:rPr>
              <a:t>72, 73, 76, 77, 79, 81, 155</a:t>
            </a:r>
          </a:p>
        </p:txBody>
      </p:sp>
      <p:sp>
        <p:nvSpPr>
          <p:cNvPr id="28" name="Rounded Rectangle 27"/>
          <p:cNvSpPr/>
          <p:nvPr/>
        </p:nvSpPr>
        <p:spPr>
          <a:xfrm>
            <a:off x="548639" y="5093207"/>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5093207"/>
            <a:ext cx="411480" cy="530352"/>
          </a:xfrm>
          <a:prstGeom prst="rect">
            <a:avLst/>
          </a:prstGeom>
          <a:noFill/>
        </p:spPr>
        <p:txBody>
          <a:bodyPr wrap="square" lIns="0" rIns="0" tIns="0" bIns="0" anchor="ctr">
            <a:spAutoFit/>
          </a:bodyPr>
          <a:lstStyle/>
          <a:p>
            <a:pPr algn="l"/>
            <a:r>
              <a:rPr sz="1300" b="1" i="0">
                <a:solidFill>
                  <a:srgbClr val="1B2A41"/>
                </a:solidFill>
                <a:latin typeface="Arial"/>
              </a:rPr>
              <a:t>7</a:t>
            </a:r>
          </a:p>
        </p:txBody>
      </p:sp>
      <p:sp>
        <p:nvSpPr>
          <p:cNvPr id="30" name="TextBox 29"/>
          <p:cNvSpPr txBox="1"/>
          <p:nvPr/>
        </p:nvSpPr>
        <p:spPr>
          <a:xfrm>
            <a:off x="1371599" y="5093207"/>
            <a:ext cx="1965960" cy="530352"/>
          </a:xfrm>
          <a:prstGeom prst="rect">
            <a:avLst/>
          </a:prstGeom>
          <a:noFill/>
        </p:spPr>
        <p:txBody>
          <a:bodyPr wrap="square" lIns="0" rIns="0" tIns="0" bIns="0" anchor="ctr">
            <a:spAutoFit/>
          </a:bodyPr>
          <a:lstStyle/>
          <a:p>
            <a:pPr algn="l"/>
            <a:r>
              <a:rPr sz="1300" b="0" i="0">
                <a:solidFill>
                  <a:srgbClr val="1B2A41"/>
                </a:solidFill>
                <a:latin typeface="Arial"/>
              </a:rPr>
              <a:t>Tự tương quan, dừng</a:t>
            </a:r>
          </a:p>
        </p:txBody>
      </p:sp>
      <p:sp>
        <p:nvSpPr>
          <p:cNvPr id="31" name="TextBox 30"/>
          <p:cNvSpPr txBox="1"/>
          <p:nvPr/>
        </p:nvSpPr>
        <p:spPr>
          <a:xfrm>
            <a:off x="3611879" y="5093207"/>
            <a:ext cx="2331720" cy="530352"/>
          </a:xfrm>
          <a:prstGeom prst="rect">
            <a:avLst/>
          </a:prstGeom>
          <a:noFill/>
        </p:spPr>
        <p:txBody>
          <a:bodyPr wrap="square" lIns="0" rIns="0" tIns="0" bIns="0" anchor="ctr">
            <a:spAutoFit/>
          </a:bodyPr>
          <a:lstStyle/>
          <a:p>
            <a:pPr algn="l"/>
            <a:r>
              <a:rPr sz="1300" b="0" i="0">
                <a:solidFill>
                  <a:srgbClr val="5B6778"/>
                </a:solidFill>
                <a:latin typeface="Arial"/>
              </a:rPr>
              <a:t>62, 82, 84, 85, 87, 88, 90, 91, 92, 94, 95, 96, 98, 99, 100, 158</a:t>
            </a:r>
          </a:p>
        </p:txBody>
      </p:sp>
      <p:sp>
        <p:nvSpPr>
          <p:cNvPr id="32" name="TextBox 31"/>
          <p:cNvSpPr txBox="1"/>
          <p:nvPr/>
        </p:nvSpPr>
        <p:spPr>
          <a:xfrm>
            <a:off x="685799" y="5660136"/>
            <a:ext cx="411480" cy="530352"/>
          </a:xfrm>
          <a:prstGeom prst="rect">
            <a:avLst/>
          </a:prstGeom>
          <a:noFill/>
        </p:spPr>
        <p:txBody>
          <a:bodyPr wrap="square" lIns="0" rIns="0" tIns="0" bIns="0" anchor="ctr">
            <a:spAutoFit/>
          </a:bodyPr>
          <a:lstStyle/>
          <a:p>
            <a:pPr algn="l"/>
            <a:r>
              <a:rPr sz="1300" b="1" i="0">
                <a:solidFill>
                  <a:srgbClr val="1B2A41"/>
                </a:solidFill>
                <a:latin typeface="Arial"/>
              </a:rPr>
              <a:t>8</a:t>
            </a:r>
          </a:p>
        </p:txBody>
      </p:sp>
      <p:sp>
        <p:nvSpPr>
          <p:cNvPr id="33" name="TextBox 32"/>
          <p:cNvSpPr txBox="1"/>
          <p:nvPr/>
        </p:nvSpPr>
        <p:spPr>
          <a:xfrm>
            <a:off x="1371599" y="5660136"/>
            <a:ext cx="1965960" cy="530352"/>
          </a:xfrm>
          <a:prstGeom prst="rect">
            <a:avLst/>
          </a:prstGeom>
          <a:noFill/>
        </p:spPr>
        <p:txBody>
          <a:bodyPr wrap="square" lIns="0" rIns="0" tIns="0" bIns="0" anchor="ctr">
            <a:spAutoFit/>
          </a:bodyPr>
          <a:lstStyle/>
          <a:p>
            <a:pPr algn="l"/>
            <a:r>
              <a:rPr sz="1300" b="0" i="0">
                <a:solidFill>
                  <a:srgbClr val="1B2A41"/>
                </a:solidFill>
                <a:latin typeface="Arial"/>
              </a:rPr>
              <a:t>Tương quan giữa chuỗi</a:t>
            </a:r>
          </a:p>
        </p:txBody>
      </p:sp>
      <p:sp>
        <p:nvSpPr>
          <p:cNvPr id="34" name="TextBox 33"/>
          <p:cNvSpPr txBox="1"/>
          <p:nvPr/>
        </p:nvSpPr>
        <p:spPr>
          <a:xfrm>
            <a:off x="3611879" y="5660136"/>
            <a:ext cx="2331720" cy="530352"/>
          </a:xfrm>
          <a:prstGeom prst="rect">
            <a:avLst/>
          </a:prstGeom>
          <a:noFill/>
        </p:spPr>
        <p:txBody>
          <a:bodyPr wrap="square" lIns="0" rIns="0" tIns="0" bIns="0" anchor="ctr">
            <a:spAutoFit/>
          </a:bodyPr>
          <a:lstStyle/>
          <a:p>
            <a:pPr algn="l"/>
            <a:r>
              <a:rPr sz="1300" b="0" i="0">
                <a:solidFill>
                  <a:srgbClr val="5B6778"/>
                </a:solidFill>
                <a:latin typeface="Arial"/>
              </a:rPr>
              <a:t>101, 103, 105, 106, 107, 108, 109, 110, 112, 114, 116, 160, 162</a:t>
            </a:r>
          </a:p>
        </p:txBody>
      </p:sp>
      <p:sp>
        <p:nvSpPr>
          <p:cNvPr id="35" name="TextBox 34"/>
          <p:cNvSpPr txBox="1"/>
          <p:nvPr/>
        </p:nvSpPr>
        <p:spPr>
          <a:xfrm>
            <a:off x="6245352" y="1280160"/>
            <a:ext cx="411480" cy="365760"/>
          </a:xfrm>
          <a:prstGeom prst="rect">
            <a:avLst/>
          </a:prstGeom>
          <a:noFill/>
        </p:spPr>
        <p:txBody>
          <a:bodyPr wrap="square" lIns="0" rIns="0" tIns="0" bIns="0" anchor="t">
            <a:spAutoFit/>
          </a:bodyPr>
          <a:lstStyle/>
          <a:p>
            <a:pPr algn="l"/>
            <a:r>
              <a:rPr sz="1100" b="1" i="0">
                <a:solidFill>
                  <a:srgbClr val="4A5568"/>
                </a:solidFill>
                <a:latin typeface="Arial"/>
              </a:rPr>
              <a:t>BUỔI</a:t>
            </a:r>
          </a:p>
        </p:txBody>
      </p:sp>
      <p:sp>
        <p:nvSpPr>
          <p:cNvPr id="36" name="TextBox 35"/>
          <p:cNvSpPr txBox="1"/>
          <p:nvPr/>
        </p:nvSpPr>
        <p:spPr>
          <a:xfrm>
            <a:off x="6931152" y="1280160"/>
            <a:ext cx="1965960" cy="365760"/>
          </a:xfrm>
          <a:prstGeom prst="rect">
            <a:avLst/>
          </a:prstGeom>
          <a:noFill/>
        </p:spPr>
        <p:txBody>
          <a:bodyPr wrap="square" lIns="0" rIns="0" tIns="0" bIns="0" anchor="t">
            <a:spAutoFit/>
          </a:bodyPr>
          <a:lstStyle/>
          <a:p>
            <a:pPr algn="l"/>
            <a:r>
              <a:rPr sz="1100" b="1" i="0">
                <a:solidFill>
                  <a:srgbClr val="5B6778"/>
                </a:solidFill>
                <a:latin typeface="Arial"/>
              </a:rPr>
              <a:t>CHỦ ĐỀ</a:t>
            </a:r>
          </a:p>
        </p:txBody>
      </p:sp>
      <p:sp>
        <p:nvSpPr>
          <p:cNvPr id="37" name="TextBox 36"/>
          <p:cNvSpPr txBox="1"/>
          <p:nvPr/>
        </p:nvSpPr>
        <p:spPr>
          <a:xfrm>
            <a:off x="9171432" y="1280160"/>
            <a:ext cx="2331720" cy="365760"/>
          </a:xfrm>
          <a:prstGeom prst="rect">
            <a:avLst/>
          </a:prstGeom>
          <a:noFill/>
        </p:spPr>
        <p:txBody>
          <a:bodyPr wrap="square" lIns="0" rIns="0" tIns="0" bIns="0" anchor="t">
            <a:spAutoFit/>
          </a:bodyPr>
          <a:lstStyle/>
          <a:p>
            <a:pPr algn="l"/>
            <a:r>
              <a:rPr sz="1100" b="1" i="0">
                <a:solidFill>
                  <a:srgbClr val="5B6778"/>
                </a:solidFill>
                <a:latin typeface="Arial"/>
              </a:rPr>
              <a:t>SLIDE</a:t>
            </a:r>
          </a:p>
        </p:txBody>
      </p:sp>
      <p:sp>
        <p:nvSpPr>
          <p:cNvPr id="38" name="Rounded Rectangle 37"/>
          <p:cNvSpPr/>
          <p:nvPr/>
        </p:nvSpPr>
        <p:spPr>
          <a:xfrm>
            <a:off x="6108191" y="1691639"/>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1" y="1691639"/>
            <a:ext cx="411480" cy="530352"/>
          </a:xfrm>
          <a:prstGeom prst="rect">
            <a:avLst/>
          </a:prstGeom>
          <a:noFill/>
        </p:spPr>
        <p:txBody>
          <a:bodyPr wrap="square" lIns="0" rIns="0" tIns="0" bIns="0" anchor="ctr">
            <a:spAutoFit/>
          </a:bodyPr>
          <a:lstStyle/>
          <a:p>
            <a:pPr algn="l"/>
            <a:r>
              <a:rPr sz="1300" b="1" i="0">
                <a:solidFill>
                  <a:srgbClr val="1B2A41"/>
                </a:solidFill>
                <a:latin typeface="Arial"/>
              </a:rPr>
              <a:t>9</a:t>
            </a:r>
          </a:p>
        </p:txBody>
      </p:sp>
      <p:sp>
        <p:nvSpPr>
          <p:cNvPr id="40" name="TextBox 39"/>
          <p:cNvSpPr txBox="1"/>
          <p:nvPr/>
        </p:nvSpPr>
        <p:spPr>
          <a:xfrm>
            <a:off x="6931151" y="1691639"/>
            <a:ext cx="1965960" cy="530352"/>
          </a:xfrm>
          <a:prstGeom prst="rect">
            <a:avLst/>
          </a:prstGeom>
          <a:noFill/>
        </p:spPr>
        <p:txBody>
          <a:bodyPr wrap="square" lIns="0" rIns="0" tIns="0" bIns="0" anchor="ctr">
            <a:spAutoFit/>
          </a:bodyPr>
          <a:lstStyle/>
          <a:p>
            <a:pPr algn="l"/>
            <a:r>
              <a:rPr sz="1300" b="0" i="0">
                <a:solidFill>
                  <a:srgbClr val="1B2A41"/>
                </a:solidFill>
                <a:latin typeface="Arial"/>
              </a:rPr>
              <a:t>Đặc trưng, độ khó</a:t>
            </a:r>
          </a:p>
        </p:txBody>
      </p:sp>
      <p:sp>
        <p:nvSpPr>
          <p:cNvPr id="41" name="TextBox 40"/>
          <p:cNvSpPr txBox="1"/>
          <p:nvPr/>
        </p:nvSpPr>
        <p:spPr>
          <a:xfrm>
            <a:off x="9171432" y="1691639"/>
            <a:ext cx="2331720" cy="530352"/>
          </a:xfrm>
          <a:prstGeom prst="rect">
            <a:avLst/>
          </a:prstGeom>
          <a:noFill/>
        </p:spPr>
        <p:txBody>
          <a:bodyPr wrap="square" lIns="0" rIns="0" tIns="0" bIns="0" anchor="ctr">
            <a:spAutoFit/>
          </a:bodyPr>
          <a:lstStyle/>
          <a:p>
            <a:pPr algn="l"/>
            <a:r>
              <a:rPr sz="1300" b="0" i="0">
                <a:solidFill>
                  <a:srgbClr val="5B6778"/>
                </a:solidFill>
                <a:latin typeface="Arial"/>
              </a:rPr>
              <a:t>117, 119, 120, 122, 124, 126, 128</a:t>
            </a:r>
          </a:p>
        </p:txBody>
      </p:sp>
      <p:sp>
        <p:nvSpPr>
          <p:cNvPr id="42" name="TextBox 41"/>
          <p:cNvSpPr txBox="1"/>
          <p:nvPr/>
        </p:nvSpPr>
        <p:spPr>
          <a:xfrm>
            <a:off x="6245351" y="2258568"/>
            <a:ext cx="411480" cy="530352"/>
          </a:xfrm>
          <a:prstGeom prst="rect">
            <a:avLst/>
          </a:prstGeom>
          <a:noFill/>
        </p:spPr>
        <p:txBody>
          <a:bodyPr wrap="square" lIns="0" rIns="0" tIns="0" bIns="0" anchor="ctr">
            <a:spAutoFit/>
          </a:bodyPr>
          <a:lstStyle/>
          <a:p>
            <a:pPr algn="l"/>
            <a:r>
              <a:rPr sz="1300" b="1" i="0">
                <a:solidFill>
                  <a:srgbClr val="1B2A41"/>
                </a:solidFill>
                <a:latin typeface="Arial"/>
              </a:rPr>
              <a:t>10</a:t>
            </a:r>
          </a:p>
        </p:txBody>
      </p:sp>
      <p:sp>
        <p:nvSpPr>
          <p:cNvPr id="43" name="TextBox 42"/>
          <p:cNvSpPr txBox="1"/>
          <p:nvPr/>
        </p:nvSpPr>
        <p:spPr>
          <a:xfrm>
            <a:off x="6931151" y="2258568"/>
            <a:ext cx="1965960" cy="530352"/>
          </a:xfrm>
          <a:prstGeom prst="rect">
            <a:avLst/>
          </a:prstGeom>
          <a:noFill/>
        </p:spPr>
        <p:txBody>
          <a:bodyPr wrap="square" lIns="0" rIns="0" tIns="0" bIns="0" anchor="ctr">
            <a:spAutoFit/>
          </a:bodyPr>
          <a:lstStyle/>
          <a:p>
            <a:pPr algn="l"/>
            <a:r>
              <a:rPr sz="1300" b="0" i="0">
                <a:solidFill>
                  <a:srgbClr val="1B2A41"/>
                </a:solidFill>
                <a:latin typeface="Arial"/>
              </a:rPr>
              <a:t>Làm sạch, dữ liệu thiếu</a:t>
            </a:r>
          </a:p>
        </p:txBody>
      </p:sp>
      <p:sp>
        <p:nvSpPr>
          <p:cNvPr id="44" name="TextBox 43"/>
          <p:cNvSpPr txBox="1"/>
          <p:nvPr/>
        </p:nvSpPr>
        <p:spPr>
          <a:xfrm>
            <a:off x="9171432" y="2258568"/>
            <a:ext cx="2331720" cy="530352"/>
          </a:xfrm>
          <a:prstGeom prst="rect">
            <a:avLst/>
          </a:prstGeom>
          <a:noFill/>
        </p:spPr>
        <p:txBody>
          <a:bodyPr wrap="square" lIns="0" rIns="0" tIns="0" bIns="0" anchor="ctr">
            <a:spAutoFit/>
          </a:bodyPr>
          <a:lstStyle/>
          <a:p>
            <a:pPr algn="l"/>
            <a:r>
              <a:rPr sz="1300" b="0" i="0">
                <a:solidFill>
                  <a:srgbClr val="5B6778"/>
                </a:solidFill>
                <a:latin typeface="Arial"/>
              </a:rPr>
              <a:t>164, 166, 167, 169, 170, 172, 173, 176, 177</a:t>
            </a:r>
          </a:p>
        </p:txBody>
      </p:sp>
      <p:sp>
        <p:nvSpPr>
          <p:cNvPr id="45" name="Rounded Rectangle 44"/>
          <p:cNvSpPr/>
          <p:nvPr/>
        </p:nvSpPr>
        <p:spPr>
          <a:xfrm>
            <a:off x="6108191" y="2825496"/>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2825496"/>
            <a:ext cx="411480" cy="530352"/>
          </a:xfrm>
          <a:prstGeom prst="rect">
            <a:avLst/>
          </a:prstGeom>
          <a:noFill/>
        </p:spPr>
        <p:txBody>
          <a:bodyPr wrap="square" lIns="0" rIns="0" tIns="0" bIns="0" anchor="ctr">
            <a:spAutoFit/>
          </a:bodyPr>
          <a:lstStyle/>
          <a:p>
            <a:pPr algn="l"/>
            <a:r>
              <a:rPr sz="1300" b="1" i="0">
                <a:solidFill>
                  <a:srgbClr val="1B2A41"/>
                </a:solidFill>
                <a:latin typeface="Arial"/>
              </a:rPr>
              <a:t>11</a:t>
            </a:r>
          </a:p>
        </p:txBody>
      </p:sp>
      <p:sp>
        <p:nvSpPr>
          <p:cNvPr id="47" name="TextBox 46"/>
          <p:cNvSpPr txBox="1"/>
          <p:nvPr/>
        </p:nvSpPr>
        <p:spPr>
          <a:xfrm>
            <a:off x="6931151" y="2825496"/>
            <a:ext cx="1965960" cy="530352"/>
          </a:xfrm>
          <a:prstGeom prst="rect">
            <a:avLst/>
          </a:prstGeom>
          <a:noFill/>
        </p:spPr>
        <p:txBody>
          <a:bodyPr wrap="square" lIns="0" rIns="0" tIns="0" bIns="0" anchor="ctr">
            <a:spAutoFit/>
          </a:bodyPr>
          <a:lstStyle/>
          <a:p>
            <a:pPr algn="l"/>
            <a:r>
              <a:rPr sz="1300" b="0" i="0">
                <a:solidFill>
                  <a:srgbClr val="1B2A41"/>
                </a:solidFill>
                <a:latin typeface="Arial"/>
              </a:rPr>
              <a:t>Ngoại lai, điểm gãy</a:t>
            </a:r>
          </a:p>
        </p:txBody>
      </p:sp>
      <p:sp>
        <p:nvSpPr>
          <p:cNvPr id="48" name="TextBox 47"/>
          <p:cNvSpPr txBox="1"/>
          <p:nvPr/>
        </p:nvSpPr>
        <p:spPr>
          <a:xfrm>
            <a:off x="9171432" y="2825496"/>
            <a:ext cx="2331720" cy="530352"/>
          </a:xfrm>
          <a:prstGeom prst="rect">
            <a:avLst/>
          </a:prstGeom>
          <a:noFill/>
        </p:spPr>
        <p:txBody>
          <a:bodyPr wrap="square" lIns="0" rIns="0" tIns="0" bIns="0" anchor="ctr">
            <a:spAutoFit/>
          </a:bodyPr>
          <a:lstStyle/>
          <a:p>
            <a:pPr algn="l"/>
            <a:r>
              <a:rPr sz="1300" b="0" i="0">
                <a:solidFill>
                  <a:srgbClr val="5B6778"/>
                </a:solidFill>
                <a:latin typeface="Arial"/>
              </a:rPr>
              <a:t>179, 181, 182, 184, 185, 187, 188, 190, 191, 193</a:t>
            </a:r>
          </a:p>
        </p:txBody>
      </p:sp>
      <p:sp>
        <p:nvSpPr>
          <p:cNvPr id="49" name="TextBox 48"/>
          <p:cNvSpPr txBox="1"/>
          <p:nvPr/>
        </p:nvSpPr>
        <p:spPr>
          <a:xfrm>
            <a:off x="6245351" y="3392424"/>
            <a:ext cx="411480" cy="530352"/>
          </a:xfrm>
          <a:prstGeom prst="rect">
            <a:avLst/>
          </a:prstGeom>
          <a:noFill/>
        </p:spPr>
        <p:txBody>
          <a:bodyPr wrap="square" lIns="0" rIns="0" tIns="0" bIns="0" anchor="ctr">
            <a:spAutoFit/>
          </a:bodyPr>
          <a:lstStyle/>
          <a:p>
            <a:pPr algn="l"/>
            <a:r>
              <a:rPr sz="1300" b="1" i="0">
                <a:solidFill>
                  <a:srgbClr val="1B2A41"/>
                </a:solidFill>
                <a:latin typeface="Arial"/>
              </a:rPr>
              <a:t>12</a:t>
            </a:r>
          </a:p>
        </p:txBody>
      </p:sp>
      <p:sp>
        <p:nvSpPr>
          <p:cNvPr id="50" name="TextBox 49"/>
          <p:cNvSpPr txBox="1"/>
          <p:nvPr/>
        </p:nvSpPr>
        <p:spPr>
          <a:xfrm>
            <a:off x="6931151" y="3392424"/>
            <a:ext cx="1965960" cy="530352"/>
          </a:xfrm>
          <a:prstGeom prst="rect">
            <a:avLst/>
          </a:prstGeom>
          <a:noFill/>
        </p:spPr>
        <p:txBody>
          <a:bodyPr wrap="square" lIns="0" rIns="0" tIns="0" bIns="0" anchor="ctr">
            <a:spAutoFit/>
          </a:bodyPr>
          <a:lstStyle/>
          <a:p>
            <a:pPr algn="l"/>
            <a:r>
              <a:rPr sz="1300" b="0" i="0">
                <a:solidFill>
                  <a:srgbClr val="1B2A41"/>
                </a:solidFill>
                <a:latin typeface="Arial"/>
              </a:rPr>
              <a:t>Khử nhiễu, tần số</a:t>
            </a:r>
          </a:p>
        </p:txBody>
      </p:sp>
      <p:sp>
        <p:nvSpPr>
          <p:cNvPr id="51" name="TextBox 50"/>
          <p:cNvSpPr txBox="1"/>
          <p:nvPr/>
        </p:nvSpPr>
        <p:spPr>
          <a:xfrm>
            <a:off x="9171432" y="3392424"/>
            <a:ext cx="2331720" cy="530352"/>
          </a:xfrm>
          <a:prstGeom prst="rect">
            <a:avLst/>
          </a:prstGeom>
          <a:noFill/>
        </p:spPr>
        <p:txBody>
          <a:bodyPr wrap="square" lIns="0" rIns="0" tIns="0" bIns="0" anchor="ctr">
            <a:spAutoFit/>
          </a:bodyPr>
          <a:lstStyle/>
          <a:p>
            <a:pPr algn="l"/>
            <a:r>
              <a:rPr sz="1300" b="0" i="0">
                <a:solidFill>
                  <a:srgbClr val="5B6778"/>
                </a:solidFill>
                <a:latin typeface="Arial"/>
              </a:rPr>
              <a:t>119, 195, 196, 197, 200, 201, 202, 203, 205, 206, 209</a:t>
            </a:r>
          </a:p>
        </p:txBody>
      </p:sp>
      <p:sp>
        <p:nvSpPr>
          <p:cNvPr id="52" name="Rounded Rectangle 51"/>
          <p:cNvSpPr/>
          <p:nvPr/>
        </p:nvSpPr>
        <p:spPr>
          <a:xfrm>
            <a:off x="6108191" y="3959352"/>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3959352"/>
            <a:ext cx="411480" cy="530352"/>
          </a:xfrm>
          <a:prstGeom prst="rect">
            <a:avLst/>
          </a:prstGeom>
          <a:noFill/>
        </p:spPr>
        <p:txBody>
          <a:bodyPr wrap="square" lIns="0" rIns="0" tIns="0" bIns="0" anchor="ctr">
            <a:spAutoFit/>
          </a:bodyPr>
          <a:lstStyle/>
          <a:p>
            <a:pPr algn="l"/>
            <a:r>
              <a:rPr sz="1300" b="1" i="0">
                <a:solidFill>
                  <a:srgbClr val="1B2A41"/>
                </a:solidFill>
                <a:latin typeface="Arial"/>
              </a:rPr>
              <a:t>13</a:t>
            </a:r>
          </a:p>
        </p:txBody>
      </p:sp>
      <p:sp>
        <p:nvSpPr>
          <p:cNvPr id="54" name="TextBox 53"/>
          <p:cNvSpPr txBox="1"/>
          <p:nvPr/>
        </p:nvSpPr>
        <p:spPr>
          <a:xfrm>
            <a:off x="6931151" y="3959352"/>
            <a:ext cx="1965960" cy="530352"/>
          </a:xfrm>
          <a:prstGeom prst="rect">
            <a:avLst/>
          </a:prstGeom>
          <a:noFill/>
        </p:spPr>
        <p:txBody>
          <a:bodyPr wrap="square" lIns="0" rIns="0" tIns="0" bIns="0" anchor="ctr">
            <a:spAutoFit/>
          </a:bodyPr>
          <a:lstStyle/>
          <a:p>
            <a:pPr algn="l"/>
            <a:r>
              <a:rPr sz="1300" b="0" i="0">
                <a:solidFill>
                  <a:srgbClr val="1B2A41"/>
                </a:solidFill>
                <a:latin typeface="Arial"/>
              </a:rPr>
              <a:t>Feature, chống rò rỉ</a:t>
            </a:r>
          </a:p>
        </p:txBody>
      </p:sp>
      <p:sp>
        <p:nvSpPr>
          <p:cNvPr id="55" name="TextBox 54"/>
          <p:cNvSpPr txBox="1"/>
          <p:nvPr/>
        </p:nvSpPr>
        <p:spPr>
          <a:xfrm>
            <a:off x="9171432" y="3959352"/>
            <a:ext cx="2331720" cy="530352"/>
          </a:xfrm>
          <a:prstGeom prst="rect">
            <a:avLst/>
          </a:prstGeom>
          <a:noFill/>
        </p:spPr>
        <p:txBody>
          <a:bodyPr wrap="square" lIns="0" rIns="0" tIns="0" bIns="0" anchor="ctr">
            <a:spAutoFit/>
          </a:bodyPr>
          <a:lstStyle/>
          <a:p>
            <a:pPr algn="l"/>
            <a:r>
              <a:rPr sz="1300" b="0" i="0">
                <a:solidFill>
                  <a:srgbClr val="5B6778"/>
                </a:solidFill>
                <a:latin typeface="Arial"/>
              </a:rPr>
              <a:t>130, 132, 134, 136, 137, 138, 211, 214</a:t>
            </a:r>
          </a:p>
        </p:txBody>
      </p:sp>
      <p:sp>
        <p:nvSpPr>
          <p:cNvPr id="56" name="TextBox 55"/>
          <p:cNvSpPr txBox="1"/>
          <p:nvPr/>
        </p:nvSpPr>
        <p:spPr>
          <a:xfrm>
            <a:off x="6245351" y="4526280"/>
            <a:ext cx="411480" cy="530352"/>
          </a:xfrm>
          <a:prstGeom prst="rect">
            <a:avLst/>
          </a:prstGeom>
          <a:noFill/>
        </p:spPr>
        <p:txBody>
          <a:bodyPr wrap="square" lIns="0" rIns="0" tIns="0" bIns="0" anchor="ctr">
            <a:spAutoFit/>
          </a:bodyPr>
          <a:lstStyle/>
          <a:p>
            <a:pPr algn="l"/>
            <a:r>
              <a:rPr sz="1300" b="1" i="0">
                <a:solidFill>
                  <a:srgbClr val="1B2A41"/>
                </a:solidFill>
                <a:latin typeface="Arial"/>
              </a:rPr>
              <a:t>14</a:t>
            </a:r>
          </a:p>
        </p:txBody>
      </p:sp>
      <p:sp>
        <p:nvSpPr>
          <p:cNvPr id="57" name="TextBox 56"/>
          <p:cNvSpPr txBox="1"/>
          <p:nvPr/>
        </p:nvSpPr>
        <p:spPr>
          <a:xfrm>
            <a:off x="6931151" y="4526280"/>
            <a:ext cx="1965960" cy="530352"/>
          </a:xfrm>
          <a:prstGeom prst="rect">
            <a:avLst/>
          </a:prstGeom>
          <a:noFill/>
        </p:spPr>
        <p:txBody>
          <a:bodyPr wrap="square" lIns="0" rIns="0" tIns="0" bIns="0" anchor="ctr">
            <a:spAutoFit/>
          </a:bodyPr>
          <a:lstStyle/>
          <a:p>
            <a:pPr algn="l"/>
            <a:r>
              <a:rPr sz="1300" b="0" i="0">
                <a:solidFill>
                  <a:srgbClr val="1B2A41"/>
                </a:solidFill>
                <a:latin typeface="Arial"/>
              </a:rPr>
              <a:t>Baseline, chỉ số</a:t>
            </a:r>
          </a:p>
        </p:txBody>
      </p:sp>
      <p:sp>
        <p:nvSpPr>
          <p:cNvPr id="58" name="TextBox 57"/>
          <p:cNvSpPr txBox="1"/>
          <p:nvPr/>
        </p:nvSpPr>
        <p:spPr>
          <a:xfrm>
            <a:off x="9171432" y="4526280"/>
            <a:ext cx="2331720" cy="530352"/>
          </a:xfrm>
          <a:prstGeom prst="rect">
            <a:avLst/>
          </a:prstGeom>
          <a:noFill/>
        </p:spPr>
        <p:txBody>
          <a:bodyPr wrap="square" lIns="0" rIns="0" tIns="0" bIns="0" anchor="ctr">
            <a:spAutoFit/>
          </a:bodyPr>
          <a:lstStyle/>
          <a:p>
            <a:pPr algn="l"/>
            <a:r>
              <a:rPr sz="1300" b="0" i="0">
                <a:solidFill>
                  <a:srgbClr val="5B6778"/>
                </a:solidFill>
                <a:latin typeface="Arial"/>
              </a:rPr>
              <a:t>16, 229, 231, 233, 234, 236, 239</a:t>
            </a:r>
          </a:p>
        </p:txBody>
      </p:sp>
      <p:sp>
        <p:nvSpPr>
          <p:cNvPr id="59" name="Rounded Rectangle 58"/>
          <p:cNvSpPr/>
          <p:nvPr/>
        </p:nvSpPr>
        <p:spPr>
          <a:xfrm>
            <a:off x="6108191" y="5093207"/>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5093207"/>
            <a:ext cx="411480" cy="530352"/>
          </a:xfrm>
          <a:prstGeom prst="rect">
            <a:avLst/>
          </a:prstGeom>
          <a:noFill/>
        </p:spPr>
        <p:txBody>
          <a:bodyPr wrap="square" lIns="0" rIns="0" tIns="0" bIns="0" anchor="ctr">
            <a:spAutoFit/>
          </a:bodyPr>
          <a:lstStyle/>
          <a:p>
            <a:pPr algn="l"/>
            <a:r>
              <a:rPr sz="1300" b="1" i="0">
                <a:solidFill>
                  <a:srgbClr val="1B2A41"/>
                </a:solidFill>
                <a:latin typeface="Arial"/>
              </a:rPr>
              <a:t>15</a:t>
            </a:r>
          </a:p>
        </p:txBody>
      </p:sp>
      <p:sp>
        <p:nvSpPr>
          <p:cNvPr id="61" name="TextBox 60"/>
          <p:cNvSpPr txBox="1"/>
          <p:nvPr/>
        </p:nvSpPr>
        <p:spPr>
          <a:xfrm>
            <a:off x="6931151" y="5093207"/>
            <a:ext cx="1965960" cy="530352"/>
          </a:xfrm>
          <a:prstGeom prst="rect">
            <a:avLst/>
          </a:prstGeom>
          <a:noFill/>
        </p:spPr>
        <p:txBody>
          <a:bodyPr wrap="square" lIns="0" rIns="0" tIns="0" bIns="0" anchor="ctr">
            <a:spAutoFit/>
          </a:bodyPr>
          <a:lstStyle/>
          <a:p>
            <a:pPr algn="l"/>
            <a:r>
              <a:rPr sz="1300" b="0" i="0">
                <a:solidFill>
                  <a:srgbClr val="1B2A41"/>
                </a:solidFill>
                <a:latin typeface="Arial"/>
              </a:rPr>
              <a:t>Backtesting</a:t>
            </a:r>
          </a:p>
        </p:txBody>
      </p:sp>
      <p:sp>
        <p:nvSpPr>
          <p:cNvPr id="62" name="TextBox 61"/>
          <p:cNvSpPr txBox="1"/>
          <p:nvPr/>
        </p:nvSpPr>
        <p:spPr>
          <a:xfrm>
            <a:off x="9171432" y="5093207"/>
            <a:ext cx="2331720" cy="530352"/>
          </a:xfrm>
          <a:prstGeom prst="rect">
            <a:avLst/>
          </a:prstGeom>
          <a:noFill/>
        </p:spPr>
        <p:txBody>
          <a:bodyPr wrap="square" lIns="0" rIns="0" tIns="0" bIns="0" anchor="ctr">
            <a:spAutoFit/>
          </a:bodyPr>
          <a:lstStyle/>
          <a:p>
            <a:pPr algn="l"/>
            <a:r>
              <a:rPr sz="1300" b="0" i="0">
                <a:solidFill>
                  <a:srgbClr val="5B6778"/>
                </a:solidFill>
                <a:latin typeface="Arial"/>
              </a:rPr>
              <a:t>240, 242, 243, 245, 247, 249, 251</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Tiền xử lý còn tiếp, theo từng bài toán</a:t>
            </a:r>
          </a:p>
        </p:txBody>
      </p:sp>
      <p:cxnSp>
        <p:nvCxnSpPr>
          <p:cNvPr id="4" name="Connector 3"/>
          <p:cNvCxnSpPr/>
          <p:nvPr/>
        </p:nvCxnSpPr>
        <p:spPr>
          <a:xfrm>
            <a:off x="1371600" y="3657600"/>
            <a:ext cx="9445752"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87552"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19</a:t>
            </a:r>
          </a:p>
        </p:txBody>
      </p:sp>
      <p:sp>
        <p:nvSpPr>
          <p:cNvPr id="6" name="TextBox 5"/>
          <p:cNvSpPr txBox="1"/>
          <p:nvPr/>
        </p:nvSpPr>
        <p:spPr>
          <a:xfrm>
            <a:off x="640080"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Chuỗi thưa, nhiều số 0</a:t>
            </a:r>
          </a:p>
        </p:txBody>
      </p:sp>
      <p:sp>
        <p:nvSpPr>
          <p:cNvPr id="7" name="Oval 6"/>
          <p:cNvSpPr/>
          <p:nvPr/>
        </p:nvSpPr>
        <p:spPr>
          <a:xfrm>
            <a:off x="2336945"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20</a:t>
            </a:r>
          </a:p>
        </p:txBody>
      </p:sp>
      <p:sp>
        <p:nvSpPr>
          <p:cNvPr id="8" name="TextBox 7"/>
          <p:cNvSpPr txBox="1"/>
          <p:nvPr/>
        </p:nvSpPr>
        <p:spPr>
          <a:xfrm>
            <a:off x="1989473"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Khác tần suất, số liệu sửa lại</a:t>
            </a:r>
          </a:p>
        </p:txBody>
      </p:sp>
      <p:sp>
        <p:nvSpPr>
          <p:cNvPr id="9" name="Oval 8"/>
          <p:cNvSpPr/>
          <p:nvPr/>
        </p:nvSpPr>
        <p:spPr>
          <a:xfrm>
            <a:off x="3686338"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22</a:t>
            </a:r>
          </a:p>
        </p:txBody>
      </p:sp>
      <p:sp>
        <p:nvSpPr>
          <p:cNvPr id="10" name="TextBox 9"/>
          <p:cNvSpPr txBox="1"/>
          <p:nvPr/>
        </p:nvSpPr>
        <p:spPr>
          <a:xfrm>
            <a:off x="3338866"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Chuỗi → bảng hồi quy</a:t>
            </a:r>
          </a:p>
        </p:txBody>
      </p:sp>
      <p:sp>
        <p:nvSpPr>
          <p:cNvPr id="11" name="Oval 10"/>
          <p:cNvSpPr/>
          <p:nvPr/>
        </p:nvSpPr>
        <p:spPr>
          <a:xfrm>
            <a:off x="5035731"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24</a:t>
            </a:r>
          </a:p>
        </p:txBody>
      </p:sp>
      <p:sp>
        <p:nvSpPr>
          <p:cNvPr id="12" name="TextBox 11"/>
          <p:cNvSpPr txBox="1"/>
          <p:nvPr/>
        </p:nvSpPr>
        <p:spPr>
          <a:xfrm>
            <a:off x="4688259"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Chuỗi mới (cold start)</a:t>
            </a:r>
          </a:p>
        </p:txBody>
      </p:sp>
      <p:sp>
        <p:nvSpPr>
          <p:cNvPr id="13" name="Oval 12"/>
          <p:cNvSpPr/>
          <p:nvPr/>
        </p:nvSpPr>
        <p:spPr>
          <a:xfrm>
            <a:off x="6385124"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28</a:t>
            </a:r>
          </a:p>
        </p:txBody>
      </p:sp>
      <p:sp>
        <p:nvSpPr>
          <p:cNvPr id="14" name="TextBox 13"/>
          <p:cNvSpPr txBox="1"/>
          <p:nvPr/>
        </p:nvSpPr>
        <p:spPr>
          <a:xfrm>
            <a:off x="6037652"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Dự báo phân cấp</a:t>
            </a:r>
          </a:p>
        </p:txBody>
      </p:sp>
      <p:sp>
        <p:nvSpPr>
          <p:cNvPr id="15" name="Oval 14"/>
          <p:cNvSpPr/>
          <p:nvPr/>
        </p:nvSpPr>
        <p:spPr>
          <a:xfrm>
            <a:off x="7734517"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29</a:t>
            </a:r>
          </a:p>
        </p:txBody>
      </p:sp>
      <p:sp>
        <p:nvSpPr>
          <p:cNvPr id="16" name="TextBox 15"/>
          <p:cNvSpPr txBox="1"/>
          <p:nvPr/>
        </p:nvSpPr>
        <p:spPr>
          <a:xfrm>
            <a:off x="7387045"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Cửa sổ cho deep learning</a:t>
            </a:r>
          </a:p>
        </p:txBody>
      </p:sp>
      <p:sp>
        <p:nvSpPr>
          <p:cNvPr id="17" name="Oval 16"/>
          <p:cNvSpPr/>
          <p:nvPr/>
        </p:nvSpPr>
        <p:spPr>
          <a:xfrm>
            <a:off x="9083910"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41</a:t>
            </a:r>
          </a:p>
        </p:txBody>
      </p:sp>
      <p:sp>
        <p:nvSpPr>
          <p:cNvPr id="18" name="TextBox 17"/>
          <p:cNvSpPr txBox="1"/>
          <p:nvPr/>
        </p:nvSpPr>
        <p:spPr>
          <a:xfrm>
            <a:off x="8736438"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Pipeline point-in-time</a:t>
            </a:r>
          </a:p>
        </p:txBody>
      </p:sp>
      <p:sp>
        <p:nvSpPr>
          <p:cNvPr id="19" name="Oval 18"/>
          <p:cNvSpPr/>
          <p:nvPr/>
        </p:nvSpPr>
        <p:spPr>
          <a:xfrm>
            <a:off x="10433304"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43</a:t>
            </a:r>
          </a:p>
        </p:txBody>
      </p:sp>
      <p:sp>
        <p:nvSpPr>
          <p:cNvPr id="20" name="TextBox 19"/>
          <p:cNvSpPr txBox="1"/>
          <p:nvPr/>
        </p:nvSpPr>
        <p:spPr>
          <a:xfrm>
            <a:off x="10085832"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Giám sát drift</a:t>
            </a:r>
          </a:p>
        </p:txBody>
      </p:sp>
      <p:sp>
        <p:nvSpPr>
          <p:cNvPr id="21" name="TextBox 20"/>
          <p:cNvSpPr txBox="1"/>
          <p:nvPr/>
        </p:nvSpPr>
        <p:spPr>
          <a:xfrm>
            <a:off x="548640" y="5852160"/>
            <a:ext cx="11091672" cy="457200"/>
          </a:xfrm>
          <a:prstGeom prst="rect">
            <a:avLst/>
          </a:prstGeom>
          <a:noFill/>
        </p:spPr>
        <p:txBody>
          <a:bodyPr wrap="square" lIns="0" rIns="0" tIns="0" bIns="0" anchor="t">
            <a:spAutoFit/>
          </a:bodyPr>
          <a:lstStyle/>
          <a:p>
            <a:pPr algn="ctr"/>
            <a:r>
              <a:rPr sz="1300" b="0" i="0">
                <a:solidFill>
                  <a:srgbClr val="5B6778"/>
                </a:solidFill>
                <a:latin typeface="Arial"/>
              </a:rPr>
              <a:t>Số trong vòng tròn = buổi dạy</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640080"/>
            <a:ext cx="10058400" cy="822960"/>
          </a:xfrm>
          <a:prstGeom prst="rect">
            <a:avLst/>
          </a:prstGeom>
          <a:noFill/>
        </p:spPr>
        <p:txBody>
          <a:bodyPr wrap="square" lIns="0" rIns="0" tIns="0" bIns="0" anchor="t">
            <a:spAutoFit/>
          </a:bodyPr>
          <a:lstStyle/>
          <a:p>
            <a:pPr algn="l"/>
            <a:r>
              <a:rPr sz="3600" b="1" i="0">
                <a:solidFill>
                  <a:srgbClr val="FFFFFF"/>
                </a:solidFill>
                <a:latin typeface="Arial"/>
              </a:rPr>
              <a:t>Năm điều mang về</a:t>
            </a:r>
          </a:p>
        </p:txBody>
      </p:sp>
      <p:sp>
        <p:nvSpPr>
          <p:cNvPr id="3" name="Oval 2"/>
          <p:cNvSpPr/>
          <p:nvPr/>
        </p:nvSpPr>
        <p:spPr>
          <a:xfrm>
            <a:off x="822960" y="1783080"/>
            <a:ext cx="603504" cy="60350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1</a:t>
            </a:r>
          </a:p>
        </p:txBody>
      </p:sp>
      <p:sp>
        <p:nvSpPr>
          <p:cNvPr id="4" name="TextBox 3"/>
          <p:cNvSpPr txBox="1"/>
          <p:nvPr/>
        </p:nvSpPr>
        <p:spPr>
          <a:xfrm>
            <a:off x="1691640" y="1783080"/>
            <a:ext cx="9144000" cy="603504"/>
          </a:xfrm>
          <a:prstGeom prst="rect">
            <a:avLst/>
          </a:prstGeom>
          <a:noFill/>
        </p:spPr>
        <p:txBody>
          <a:bodyPr wrap="square" lIns="0" rIns="0" tIns="0" bIns="0" anchor="ctr">
            <a:spAutoFit/>
          </a:bodyPr>
          <a:lstStyle/>
          <a:p>
            <a:pPr algn="l"/>
            <a:r>
              <a:rPr sz="2400" b="1" i="0">
                <a:solidFill>
                  <a:srgbClr val="FFFFFF"/>
                </a:solidFill>
                <a:latin typeface="Arial"/>
              </a:rPr>
              <a:t>Nhìn trước, xử lý sau</a:t>
            </a:r>
          </a:p>
        </p:txBody>
      </p:sp>
      <p:sp>
        <p:nvSpPr>
          <p:cNvPr id="5" name="Oval 4"/>
          <p:cNvSpPr/>
          <p:nvPr/>
        </p:nvSpPr>
        <p:spPr>
          <a:xfrm>
            <a:off x="822960" y="2651760"/>
            <a:ext cx="603504" cy="603504"/>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2</a:t>
            </a:r>
          </a:p>
        </p:txBody>
      </p:sp>
      <p:sp>
        <p:nvSpPr>
          <p:cNvPr id="6" name="TextBox 5"/>
          <p:cNvSpPr txBox="1"/>
          <p:nvPr/>
        </p:nvSpPr>
        <p:spPr>
          <a:xfrm>
            <a:off x="1691640" y="2651760"/>
            <a:ext cx="9144000" cy="603504"/>
          </a:xfrm>
          <a:prstGeom prst="rect">
            <a:avLst/>
          </a:prstGeom>
          <a:noFill/>
        </p:spPr>
        <p:txBody>
          <a:bodyPr wrap="square" lIns="0" rIns="0" tIns="0" bIns="0" anchor="ctr">
            <a:spAutoFit/>
          </a:bodyPr>
          <a:lstStyle/>
          <a:p>
            <a:pPr algn="l"/>
            <a:r>
              <a:rPr sz="2400" b="1" i="0">
                <a:solidFill>
                  <a:srgbClr val="FFFFFF"/>
                </a:solidFill>
                <a:latin typeface="Arial"/>
              </a:rPr>
              <a:t>NaN không phải 0: gắn cờ, đừng xoá</a:t>
            </a:r>
          </a:p>
        </p:txBody>
      </p:sp>
      <p:sp>
        <p:nvSpPr>
          <p:cNvPr id="7" name="Oval 6"/>
          <p:cNvSpPr/>
          <p:nvPr/>
        </p:nvSpPr>
        <p:spPr>
          <a:xfrm>
            <a:off x="822960" y="3520439"/>
            <a:ext cx="603504" cy="603504"/>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3</a:t>
            </a:r>
          </a:p>
        </p:txBody>
      </p:sp>
      <p:sp>
        <p:nvSpPr>
          <p:cNvPr id="8" name="TextBox 7"/>
          <p:cNvSpPr txBox="1"/>
          <p:nvPr/>
        </p:nvSpPr>
        <p:spPr>
          <a:xfrm>
            <a:off x="1691640" y="3520439"/>
            <a:ext cx="9144000" cy="603504"/>
          </a:xfrm>
          <a:prstGeom prst="rect">
            <a:avLst/>
          </a:prstGeom>
          <a:noFill/>
        </p:spPr>
        <p:txBody>
          <a:bodyPr wrap="square" lIns="0" rIns="0" tIns="0" bIns="0" anchor="ctr">
            <a:spAutoFit/>
          </a:bodyPr>
          <a:lstStyle/>
          <a:p>
            <a:pPr algn="l"/>
            <a:r>
              <a:rPr sz="2400" b="1" i="0">
                <a:solidFill>
                  <a:srgbClr val="FFFFFF"/>
                </a:solidFill>
                <a:latin typeface="Arial"/>
              </a:rPr>
              <a:t>Mọi mốc thời gian về UTC, lưới đủ</a:t>
            </a:r>
          </a:p>
        </p:txBody>
      </p:sp>
      <p:sp>
        <p:nvSpPr>
          <p:cNvPr id="9" name="Oval 8"/>
          <p:cNvSpPr/>
          <p:nvPr/>
        </p:nvSpPr>
        <p:spPr>
          <a:xfrm>
            <a:off x="822960" y="4389120"/>
            <a:ext cx="603504" cy="603504"/>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4</a:t>
            </a:r>
          </a:p>
        </p:txBody>
      </p:sp>
      <p:sp>
        <p:nvSpPr>
          <p:cNvPr id="10" name="TextBox 9"/>
          <p:cNvSpPr txBox="1"/>
          <p:nvPr/>
        </p:nvSpPr>
        <p:spPr>
          <a:xfrm>
            <a:off x="1691640" y="4389120"/>
            <a:ext cx="9144000" cy="603504"/>
          </a:xfrm>
          <a:prstGeom prst="rect">
            <a:avLst/>
          </a:prstGeom>
          <a:noFill/>
        </p:spPr>
        <p:txBody>
          <a:bodyPr wrap="square" lIns="0" rIns="0" tIns="0" bIns="0" anchor="ctr">
            <a:spAutoFit/>
          </a:bodyPr>
          <a:lstStyle/>
          <a:p>
            <a:pPr algn="l"/>
            <a:r>
              <a:rPr sz="2400" b="1" i="0">
                <a:solidFill>
                  <a:srgbClr val="FFFFFF"/>
                </a:solidFill>
                <a:latin typeface="Arial"/>
              </a:rPr>
              <a:t>Chỉ dùng thông tin có trước cutoff</a:t>
            </a:r>
          </a:p>
        </p:txBody>
      </p:sp>
      <p:sp>
        <p:nvSpPr>
          <p:cNvPr id="11" name="Oval 10"/>
          <p:cNvSpPr/>
          <p:nvPr/>
        </p:nvSpPr>
        <p:spPr>
          <a:xfrm>
            <a:off x="822960" y="5257800"/>
            <a:ext cx="603504" cy="603504"/>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5</a:t>
            </a:r>
          </a:p>
        </p:txBody>
      </p:sp>
      <p:sp>
        <p:nvSpPr>
          <p:cNvPr id="12" name="TextBox 11"/>
          <p:cNvSpPr txBox="1"/>
          <p:nvPr/>
        </p:nvSpPr>
        <p:spPr>
          <a:xfrm>
            <a:off x="1691640" y="5257800"/>
            <a:ext cx="9144000" cy="603504"/>
          </a:xfrm>
          <a:prstGeom prst="rect">
            <a:avLst/>
          </a:prstGeom>
          <a:noFill/>
        </p:spPr>
        <p:txBody>
          <a:bodyPr wrap="square" lIns="0" rIns="0" tIns="0" bIns="0" anchor="ctr">
            <a:spAutoFit/>
          </a:bodyPr>
          <a:lstStyle/>
          <a:p>
            <a:pPr algn="l"/>
            <a:r>
              <a:rPr sz="2400" b="1" i="0">
                <a:solidFill>
                  <a:srgbClr val="FFFFFF"/>
                </a:solidFill>
                <a:latin typeface="Arial"/>
              </a:rPr>
              <a:t>Thắng mọi baseline trên rolling origin</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phút ra kWh/giờ, tìm nhịp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Biến số đo từng phút thành kWh mỗi giờ, rồi thấy nhịp ngày và tuần làm điện dự báo được.</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df = pd.read_csv("dien-mot-ho.zip", sep=";", na_values="?",</a:t>
            </a:r>
          </a:p>
          <a:p>
            <a:r>
              <a:rPr sz="950">
                <a:solidFill>
                  <a:srgbClr val="6B7385"/>
                </a:solidFill>
                <a:latin typeface="Courier New"/>
              </a:rPr>
              <a:t> 4 </a:t>
            </a:r>
            <a:r>
              <a:rPr sz="950">
                <a:solidFill>
                  <a:srgbClr val="E6EAF0"/>
                </a:solidFill>
                <a:latin typeface="Courier New"/>
              </a:rPr>
              <a:t>                 usecols=["Date", "Time", "Global_active_power"])</a:t>
            </a:r>
          </a:p>
          <a:p>
            <a:r>
              <a:rPr sz="950">
                <a:solidFill>
                  <a:srgbClr val="6B7385"/>
                </a:solidFill>
                <a:latin typeface="Courier New"/>
              </a:rPr>
              <a:t> 5 </a:t>
            </a:r>
            <a:r>
              <a:rPr sz="950">
                <a:solidFill>
                  <a:srgbClr val="E6EAF0"/>
                </a:solidFill>
                <a:latin typeface="Courier New"/>
              </a:rPr>
              <a:t>t = pd.to_datetime(df["Date"] + " " + df["Time"], format="%d/%m/%Y %H:%M:%S")</a:t>
            </a:r>
          </a:p>
          <a:p>
            <a:r>
              <a:rPr sz="950">
                <a:solidFill>
                  <a:srgbClr val="6B7385"/>
                </a:solidFill>
                <a:latin typeface="Courier New"/>
              </a:rPr>
              <a:t> 6 </a:t>
            </a:r>
            <a:r>
              <a:rPr sz="950">
                <a:solidFill>
                  <a:srgbClr val="E6EAF0"/>
                </a:solidFill>
                <a:latin typeface="Courier New"/>
              </a:rPr>
              <a:t>phut = pd.Series(df["Global_active_power"].to_numpy(), index=t)</a:t>
            </a:r>
          </a:p>
          <a:p>
            <a:r>
              <a:rPr sz="950">
                <a:solidFill>
                  <a:srgbClr val="6B7385"/>
                </a:solidFill>
                <a:latin typeface="Courier New"/>
              </a:rPr>
              <a:t> 7 </a:t>
            </a:r>
            <a:r>
              <a:rPr sz="950">
                <a:solidFill>
                  <a:srgbClr val="8FC99A"/>
                </a:solidFill>
                <a:latin typeface="Courier New"/>
              </a:rPr>
              <a:t># TB kW trong một giờ = số kWh của giờ đó; thiếu quá nửa thì để trống</a:t>
            </a:r>
          </a:p>
          <a:p>
            <a:r>
              <a:rPr sz="950">
                <a:solidFill>
                  <a:srgbClr val="6B7385"/>
                </a:solidFill>
                <a:latin typeface="Courier New"/>
              </a:rPr>
              <a:t> 8 </a:t>
            </a:r>
            <a:r>
              <a:rPr sz="950">
                <a:solidFill>
                  <a:srgbClr val="E6EAF0"/>
                </a:solidFill>
                <a:latin typeface="Courier New"/>
              </a:rPr>
              <a:t>gio = phut.resample("h")</a:t>
            </a:r>
          </a:p>
          <a:p>
            <a:r>
              <a:rPr sz="950">
                <a:solidFill>
                  <a:srgbClr val="6B7385"/>
                </a:solidFill>
                <a:latin typeface="Courier New"/>
              </a:rPr>
              <a:t> 9 </a:t>
            </a:r>
            <a:r>
              <a:rPr sz="950">
                <a:solidFill>
                  <a:srgbClr val="E6EAF0"/>
                </a:solidFill>
                <a:latin typeface="Courier New"/>
              </a:rPr>
              <a:t>s = gio.mean().where(gio.count() &gt;= 30)</a:t>
            </a:r>
          </a:p>
          <a:p>
            <a:r>
              <a:rPr sz="950">
                <a:solidFill>
                  <a:srgbClr val="6B7385"/>
                </a:solidFill>
                <a:latin typeface="Courier New"/>
              </a:rPr>
              <a:t>10 </a:t>
            </a:r>
            <a:r>
              <a:rPr sz="950">
                <a:solidFill>
                  <a:srgbClr val="E6EAF0"/>
                </a:solidFill>
                <a:latin typeface="Courier New"/>
              </a:rPr>
              <a:t>theo_gio = s.groupby(s.index.hour).mean()       </a:t>
            </a:r>
            <a:r>
              <a:rPr sz="950">
                <a:solidFill>
                  <a:srgbClr val="8FC99A"/>
                </a:solidFill>
                <a:latin typeface="Courier New"/>
              </a:rPr>
              <a:t># TB theo giờ trong ngày</a:t>
            </a:r>
          </a:p>
          <a:p>
            <a:r>
              <a:rPr sz="950">
                <a:solidFill>
                  <a:srgbClr val="6B7385"/>
                </a:solidFill>
                <a:latin typeface="Courier New"/>
              </a:rPr>
              <a:t>11 </a:t>
            </a:r>
            <a:r>
              <a:rPr sz="950">
                <a:solidFill>
                  <a:srgbClr val="E6EAF0"/>
                </a:solidFill>
                <a:latin typeface="Courier New"/>
              </a:rPr>
              <a:t>print(theo_gio.idxmin(), theo_gio.idxmax())     </a:t>
            </a:r>
            <a:r>
              <a:rPr sz="950">
                <a:solidFill>
                  <a:srgbClr val="8FC99A"/>
                </a:solidFill>
                <a:latin typeface="Courier New"/>
              </a:rPr>
              <a:t># giờ thấp nhất, cao nhất</a:t>
            </a:r>
          </a:p>
          <a:p>
            <a:r>
              <a:rPr sz="950">
                <a:solidFill>
                  <a:srgbClr val="6B7385"/>
                </a:solidFill>
                <a:latin typeface="Courier New"/>
              </a:rPr>
              <a:t>12 </a:t>
            </a:r>
            <a:r>
              <a:rPr sz="950">
                <a:solidFill>
                  <a:srgbClr val="E6EAF0"/>
                </a:solidFill>
                <a:latin typeface="Courier New"/>
              </a:rPr>
              <a:t>ngay_thuong = s[s.index.dayofweek &lt; 5].mean()   </a:t>
            </a:r>
            <a:r>
              <a:rPr sz="950">
                <a:solidFill>
                  <a:srgbClr val="8FC99A"/>
                </a:solidFill>
                <a:latin typeface="Courier New"/>
              </a:rPr>
              <a:t># thứ Hai tới thứ Sáu</a:t>
            </a:r>
          </a:p>
          <a:p>
            <a:r>
              <a:rPr sz="950">
                <a:solidFill>
                  <a:srgbClr val="6B7385"/>
                </a:solidFill>
                <a:latin typeface="Courier New"/>
              </a:rPr>
              <a:t>13 </a:t>
            </a:r>
            <a:r>
              <a:rPr sz="950">
                <a:solidFill>
                  <a:srgbClr val="E6EAF0"/>
                </a:solidFill>
                <a:latin typeface="Courier New"/>
              </a:rPr>
              <a:t>cuoi_tuan = s[s.index.dayofweek &gt;= 5].mean()    </a:t>
            </a:r>
            <a:r>
              <a:rPr sz="950">
                <a:solidFill>
                  <a:srgbClr val="8FC99A"/>
                </a:solidFill>
                <a:latin typeface="Courier New"/>
              </a:rPr>
              <a:t># thứ Bảy, Chủ nhật</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0 và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3–6</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Đọc số đo từng phút, gắn mốc thời gian.</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Gộp về giờ; giờ thiếu hơn 30 phút để trống.</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theo giờ trong ngày, tìm đáy, đỉnh.</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So ngày thường với cuối tuần.</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Thấp nhất lúc 4h, cao nhất lúc 20h; cuối tuần dùng nhiều hơn ngày thường. Nhịp lặp đều này là mùa vụ.</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resample("h").mean()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số đo trong cùng một giờ lại, lấy trung bình.</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dữ liệu thành nhóm (ví dụ theo giờ), tính trung bình mỗi nhóm.</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idxmin() / idxmax()</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Cho biết nhãn (ở đây là giờ) nơi giá trị nhỏ nhất, lớn nhất.</a:t>
            </a:r>
          </a:p>
        </p:txBody>
      </p:sp>
      <p:pic>
        <p:nvPicPr>
          <p:cNvPr id="27" name="Picture 26" descr="kn-mua-vu.png"/>
          <p:cNvPicPr>
            <a:picLocks noChangeAspect="1"/>
          </p:cNvPicPr>
          <p:nvPr/>
        </p:nvPicPr>
        <p:blipFill>
          <a:blip r:embed="rId2"/>
          <a:stretch>
            <a:fillRect/>
          </a:stretch>
        </p:blipFill>
        <p:spPr>
          <a:xfrm>
            <a:off x="7863840" y="4211453"/>
            <a:ext cx="3776472" cy="2138412"/>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MAE và bốn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bốn cách dự báo đơn giản làm mốc, để biết một con số MAE là tốt hay xấu.</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TAM = 168                                    </a:t>
            </a:r>
            <a:r>
              <a:rPr sz="950">
                <a:solidFill>
                  <a:srgbClr val="8FC99A"/>
                </a:solidFill>
                <a:latin typeface="Courier New"/>
              </a:rPr>
              <a:t># dự báo 168 giờ = 7 ngày</a:t>
            </a:r>
          </a:p>
          <a:p>
            <a:r>
              <a:rPr sz="950">
                <a:solidFill>
                  <a:srgbClr val="6B7385"/>
                </a:solidFill>
                <a:latin typeface="Courier New"/>
              </a:rPr>
              <a:t> 4 </a:t>
            </a:r>
            <a:r>
              <a:rPr sz="950">
                <a:solidFill>
                  <a:srgbClr val="E6EAF0"/>
                </a:solidFill>
                <a:latin typeface="Courier New"/>
              </a:rPr>
              <a:t>def mae(y, du_bao):</a:t>
            </a:r>
          </a:p>
          <a:p>
            <a:r>
              <a:rPr sz="950">
                <a:solidFill>
                  <a:srgbClr val="6B7385"/>
                </a:solidFill>
                <a:latin typeface="Courier New"/>
              </a:rPr>
              <a:t> 5 </a:t>
            </a:r>
            <a:r>
              <a:rPr sz="950">
                <a:solidFill>
                  <a:srgbClr val="E6EAF0"/>
                </a:solidFill>
                <a:latin typeface="Courier New"/>
              </a:rPr>
              <a:t>    y, du_bao = np.asarray(y, float), np.asarray(du_bao, float)</a:t>
            </a:r>
          </a:p>
          <a:p>
            <a:r>
              <a:rPr sz="950">
                <a:solidFill>
                  <a:srgbClr val="6B7385"/>
                </a:solidFill>
                <a:latin typeface="Courier New"/>
              </a:rPr>
              <a:t> 6 </a:t>
            </a:r>
            <a:r>
              <a:rPr sz="950">
                <a:solidFill>
                  <a:srgbClr val="E6EAF0"/>
                </a:solidFill>
                <a:latin typeface="Courier New"/>
              </a:rPr>
              <a:t>    co = ~np.isnan(y)                        </a:t>
            </a:r>
            <a:r>
              <a:rPr sz="950">
                <a:solidFill>
                  <a:srgbClr val="8FC99A"/>
                </a:solidFill>
                <a:latin typeface="Courier New"/>
              </a:rPr>
              <a:t># bỏ giờ không có số đo</a:t>
            </a:r>
          </a:p>
          <a:p>
            <a:r>
              <a:rPr sz="950">
                <a:solidFill>
                  <a:srgbClr val="6B7385"/>
                </a:solidFill>
                <a:latin typeface="Courier New"/>
              </a:rPr>
              <a:t> 7 </a:t>
            </a:r>
            <a:r>
              <a:rPr sz="950">
                <a:solidFill>
                  <a:srgbClr val="E6EAF0"/>
                </a:solidFill>
                <a:latin typeface="Courier New"/>
              </a:rPr>
              <a:t>    return float(np.mean(np.abs(y[co] - du_bao[co])))</a:t>
            </a:r>
          </a:p>
          <a:p>
            <a:r>
              <a:rPr sz="950">
                <a:solidFill>
                  <a:srgbClr val="6B7385"/>
                </a:solidFill>
                <a:latin typeface="Courier New"/>
              </a:rPr>
              <a:t> 8 </a:t>
            </a:r>
            <a:r>
              <a:rPr sz="950">
                <a:solidFill>
                  <a:srgbClr val="8FC99A"/>
                </a:solidFill>
                <a:latin typeface="Courier New"/>
              </a:rPr>
              <a:t># ls: lịch sử tới gốc dự báo, chuỗi kWh theo giờ</a:t>
            </a:r>
          </a:p>
          <a:p>
            <a:r>
              <a:rPr sz="950">
                <a:solidFill>
                  <a:srgbClr val="6B7385"/>
                </a:solidFill>
                <a:latin typeface="Courier New"/>
              </a:rPr>
              <a:t> 9 </a:t>
            </a:r>
            <a:r>
              <a:rPr sz="950">
                <a:solidFill>
                  <a:srgbClr val="E6EAF0"/>
                </a:solidFill>
                <a:latin typeface="Courier New"/>
              </a:rPr>
              <a:t>BASELINE = {</a:t>
            </a:r>
          </a:p>
          <a:p>
            <a:r>
              <a:rPr sz="950">
                <a:solidFill>
                  <a:srgbClr val="6B7385"/>
                </a:solidFill>
                <a:latin typeface="Courier New"/>
              </a:rPr>
              <a:t>10 </a:t>
            </a:r>
            <a:r>
              <a:rPr sz="950">
                <a:solidFill>
                  <a:srgbClr val="E6EAF0"/>
                </a:solidFill>
                <a:latin typeface="Courier New"/>
              </a:rPr>
              <a:t>    "giờ trước": lambda ls: np.full(TAM, ls.iloc[-1]),</a:t>
            </a:r>
          </a:p>
          <a:p>
            <a:r>
              <a:rPr sz="950">
                <a:solidFill>
                  <a:srgbClr val="6B7385"/>
                </a:solidFill>
                <a:latin typeface="Courier New"/>
              </a:rPr>
              <a:t>11 </a:t>
            </a:r>
            <a:r>
              <a:rPr sz="950">
                <a:solidFill>
                  <a:srgbClr val="E6EAF0"/>
                </a:solidFill>
                <a:latin typeface="Courier New"/>
              </a:rPr>
              <a:t>    "trung bình": lambda ls: np.full(TAM, ls.mean()),</a:t>
            </a:r>
          </a:p>
          <a:p>
            <a:r>
              <a:rPr sz="950">
                <a:solidFill>
                  <a:srgbClr val="6B7385"/>
                </a:solidFill>
                <a:latin typeface="Courier New"/>
              </a:rPr>
              <a:t>12 </a:t>
            </a:r>
            <a:r>
              <a:rPr sz="950">
                <a:solidFill>
                  <a:srgbClr val="E6EAF0"/>
                </a:solidFill>
                <a:latin typeface="Courier New"/>
              </a:rPr>
              <a:t>    "tuần trước": lambda ls: ls.iloc[-TAM:].to_numpy(),</a:t>
            </a:r>
          </a:p>
          <a:p>
            <a:r>
              <a:rPr sz="950">
                <a:solidFill>
                  <a:srgbClr val="6B7385"/>
                </a:solidFill>
                <a:latin typeface="Courier New"/>
              </a:rPr>
              <a:t>13 </a:t>
            </a:r>
            <a:r>
              <a:rPr sz="950">
                <a:solidFill>
                  <a:srgbClr val="E6EAF0"/>
                </a:solidFill>
                <a:latin typeface="Courier New"/>
              </a:rPr>
              <a:t>    "trung bình 4 tuần": lambda ls: ls.iloc[-4 * TAM:].to_numpy()</a:t>
            </a:r>
          </a:p>
          <a:p>
            <a:r>
              <a:rPr sz="950">
                <a:solidFill>
                  <a:srgbClr val="6B7385"/>
                </a:solidFill>
                <a:latin typeface="Courier New"/>
              </a:rPr>
              <a:t>14 </a:t>
            </a:r>
            <a:r>
              <a:rPr sz="950">
                <a:solidFill>
                  <a:srgbClr val="E6EAF0"/>
                </a:solidFill>
                <a:latin typeface="Courier New"/>
              </a:rPr>
              <a:t>                                      .reshape(4, TAM).mean(axis=0),</a:t>
            </a:r>
          </a:p>
          <a:p>
            <a:r>
              <a:rPr sz="950">
                <a:solidFill>
                  <a:srgbClr val="6B7385"/>
                </a:solidFill>
                <a:latin typeface="Courier New"/>
              </a:rPr>
              <a:t>15 </a:t>
            </a:r>
            <a:r>
              <a:rPr sz="950">
                <a:solidFill>
                  <a:srgbClr val="E6EAF0"/>
                </a:solidFill>
                <a:latin typeface="Courier New"/>
              </a:rPr>
              <a:t>}</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2</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MAE: trung bình độ lệch, bỏ giờ trống.</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Naive: lặp lại số cuối cùng đã biết.</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Trung bình mọi giờ đã biết.</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Seasonal naive: cùng giờ tuần trước.</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Xếp 4 tuần thành 4 hàng, lấy TB theo cột.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Chấm cuốn năm 2010: trung bình 4 tuần 0,490; tuần trước 0,576; trung bình 0,652; giờ trước 0,770 kWh/giờ.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np.abs(...).mean()</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Bỏ dấu từng sai số rồi lấy trung bình: chính là MAE.</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iloc[-TAM:]</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TAM phần tử cuối của chuỗi theo vị trí, tức tuần gần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reshape(4, TAM).mean(axis=0)</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Xếp dãy thành bảng 4 hàng, lấy trung bình từng cột.</a:t>
            </a:r>
          </a:p>
        </p:txBody>
      </p:sp>
      <p:sp>
        <p:nvSpPr>
          <p:cNvPr id="29" name="Rounded Rectangle 28"/>
          <p:cNvSpPr/>
          <p:nvPr/>
        </p:nvSpPr>
        <p:spPr>
          <a:xfrm>
            <a:off x="7863840" y="4059935"/>
            <a:ext cx="3776472" cy="67970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067fc1191eb.png"/>
          <p:cNvPicPr>
            <a:picLocks noChangeAspect="1"/>
          </p:cNvPicPr>
          <p:nvPr/>
        </p:nvPicPr>
        <p:blipFill>
          <a:blip r:embed="rId2"/>
          <a:stretch>
            <a:fillRect/>
          </a:stretch>
        </p:blipFill>
        <p:spPr>
          <a:xfrm>
            <a:off x="8749284" y="4114799"/>
            <a:ext cx="2005584" cy="569976"/>
          </a:xfrm>
          <a:prstGeom prst="rect">
            <a:avLst/>
          </a:prstGeom>
        </p:spPr>
      </p:pic>
      <p:pic>
        <p:nvPicPr>
          <p:cNvPr id="31" name="Picture 30" descr="kn-tam-du-bao-h.png"/>
          <p:cNvPicPr>
            <a:picLocks noChangeAspect="1"/>
          </p:cNvPicPr>
          <p:nvPr/>
        </p:nvPicPr>
        <p:blipFill>
          <a:blip r:embed="rId3"/>
          <a:stretch>
            <a:fillRect/>
          </a:stretch>
        </p:blipFill>
        <p:spPr>
          <a:xfrm>
            <a:off x="8341777" y="4876799"/>
            <a:ext cx="2820597" cy="1597152"/>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bảng lịch và dự báo cuốn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Chấm như ngoài đời: mỗi tuần chỉ khớp mô hình trên dữ liệu trước gốc dự báo.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TAM = 168</a:t>
            </a:r>
          </a:p>
          <a:p>
            <a:r>
              <a:rPr sz="850">
                <a:solidFill>
                  <a:srgbClr val="6B7385"/>
                </a:solidFill>
                <a:latin typeface="Courier New"/>
              </a:rPr>
              <a:t> 3 </a:t>
            </a:r>
            <a:r>
              <a:rPr sz="850">
                <a:solidFill>
                  <a:srgbClr val="E6EAF0"/>
                </a:solidFill>
                <a:latin typeface="Courier New"/>
              </a:rPr>
              <a:t>def khoa(t):                                 </a:t>
            </a:r>
            <a:r>
              <a:rPr sz="850">
                <a:solidFill>
                  <a:srgbClr val="8FC99A"/>
                </a:solidFill>
                <a:latin typeface="Courier New"/>
              </a:rPr>
              <a:t># (tuần trong năm, thứ, giờ)</a:t>
            </a:r>
          </a:p>
          <a:p>
            <a:r>
              <a:rPr sz="850">
                <a:solidFill>
                  <a:srgbClr val="6B7385"/>
                </a:solidFill>
                <a:latin typeface="Courier New"/>
              </a:rPr>
              <a:t> 4 </a:t>
            </a:r>
            <a:r>
              <a:rPr sz="850">
                <a:solidFill>
                  <a:srgbClr val="E6EAF0"/>
                </a:solidFill>
                <a:latin typeface="Courier New"/>
              </a:rPr>
              <a:t>    return [t.isocalendar().week.to_numpy(), t.dayofweek.to_numpy(),</a:t>
            </a:r>
          </a:p>
          <a:p>
            <a:r>
              <a:rPr sz="850">
                <a:solidFill>
                  <a:srgbClr val="6B7385"/>
                </a:solidFill>
                <a:latin typeface="Courier New"/>
              </a:rPr>
              <a:t> 5 </a:t>
            </a:r>
            <a:r>
              <a:rPr sz="850">
                <a:solidFill>
                  <a:srgbClr val="E6EAF0"/>
                </a:solidFill>
                <a:latin typeface="Courier New"/>
              </a:rPr>
              <a:t>            t.hour.to_numpy()]</a:t>
            </a:r>
          </a:p>
          <a:p>
            <a:r>
              <a:rPr sz="850">
                <a:solidFill>
                  <a:srgbClr val="6B7385"/>
                </a:solidFill>
                <a:latin typeface="Courier New"/>
              </a:rPr>
              <a:t> 6 </a:t>
            </a:r>
            <a:r>
              <a:rPr sz="850">
                <a:solidFill>
                  <a:srgbClr val="E6EAF0"/>
                </a:solidFill>
                <a:latin typeface="Courier New"/>
              </a:rPr>
              <a:t>def bang_lich(ls):                           </a:t>
            </a:r>
            <a:r>
              <a:rPr sz="850">
                <a:solidFill>
                  <a:srgbClr val="8FC99A"/>
                </a:solidFill>
                <a:latin typeface="Courier New"/>
              </a:rPr>
              <a:t># mỗi ô một trung bình</a:t>
            </a:r>
          </a:p>
          <a:p>
            <a:r>
              <a:rPr sz="850">
                <a:solidFill>
                  <a:srgbClr val="6B7385"/>
                </a:solidFill>
                <a:latin typeface="Courier New"/>
              </a:rPr>
              <a:t> 7 </a:t>
            </a:r>
            <a:r>
              <a:rPr sz="850">
                <a:solidFill>
                  <a:srgbClr val="E6EAF0"/>
                </a:solidFill>
                <a:latin typeface="Courier New"/>
              </a:rPr>
              <a:t>    return ls.groupby(khoa(ls.index)).mean()</a:t>
            </a:r>
          </a:p>
          <a:p>
            <a:r>
              <a:rPr sz="850">
                <a:solidFill>
                  <a:srgbClr val="6B7385"/>
                </a:solidFill>
                <a:latin typeface="Courier New"/>
              </a:rPr>
              <a:t> 8 </a:t>
            </a:r>
            <a:r>
              <a:rPr sz="850">
                <a:solidFill>
                  <a:srgbClr val="E6EAF0"/>
                </a:solidFill>
                <a:latin typeface="Courier New"/>
              </a:rPr>
              <a:t>def du_bao_lich(bang, t):</a:t>
            </a:r>
          </a:p>
          <a:p>
            <a:r>
              <a:rPr sz="850">
                <a:solidFill>
                  <a:srgbClr val="6B7385"/>
                </a:solidFill>
                <a:latin typeface="Courier New"/>
              </a:rPr>
              <a:t> 9 </a:t>
            </a:r>
            <a:r>
              <a:rPr sz="850">
                <a:solidFill>
                  <a:srgbClr val="E6EAF0"/>
                </a:solidFill>
                <a:latin typeface="Courier New"/>
              </a:rPr>
              <a:t>    return bang.reindex(pd.MultiIndex.from_arrays(khoa(t))).to_numpy()</a:t>
            </a:r>
          </a:p>
          <a:p>
            <a:r>
              <a:rPr sz="850">
                <a:solidFill>
                  <a:srgbClr val="6B7385"/>
                </a:solidFill>
                <a:latin typeface="Courier New"/>
              </a:rPr>
              <a:t>10 </a:t>
            </a:r>
            <a:r>
              <a:rPr sz="850">
                <a:solidFill>
                  <a:srgbClr val="E6EAF0"/>
                </a:solidFill>
                <a:latin typeface="Courier New"/>
              </a:rPr>
              <a:t>def du_bao_cuon(chuoi, moc="2010-01-04"):</a:t>
            </a:r>
          </a:p>
          <a:p>
            <a:r>
              <a:rPr sz="850">
                <a:solidFill>
                  <a:srgbClr val="6B7385"/>
                </a:solidFill>
                <a:latin typeface="Courier New"/>
              </a:rPr>
              <a:t>11 </a:t>
            </a:r>
            <a:r>
              <a:rPr sz="850">
                <a:solidFill>
                  <a:srgbClr val="E6EAF0"/>
                </a:solidFill>
                <a:latin typeface="Courier New"/>
              </a:rPr>
              <a:t>    phan = []</a:t>
            </a:r>
          </a:p>
          <a:p>
            <a:r>
              <a:rPr sz="850">
                <a:solidFill>
                  <a:srgbClr val="6B7385"/>
                </a:solidFill>
                <a:latin typeface="Courier New"/>
              </a:rPr>
              <a:t>12 </a:t>
            </a:r>
            <a:r>
              <a:rPr sz="850">
                <a:solidFill>
                  <a:srgbClr val="E6EAF0"/>
                </a:solidFill>
                <a:latin typeface="Courier New"/>
              </a:rPr>
              <a:t>    for goc in pd.date_range(moc, chuoi.index[-TAM], freq=f"{TAM}h"):</a:t>
            </a:r>
          </a:p>
          <a:p>
            <a:r>
              <a:rPr sz="850">
                <a:solidFill>
                  <a:srgbClr val="6B7385"/>
                </a:solidFill>
                <a:latin typeface="Courier New"/>
              </a:rPr>
              <a:t>13 </a:t>
            </a:r>
            <a:r>
              <a:rPr sz="850">
                <a:solidFill>
                  <a:srgbClr val="E6EAF0"/>
                </a:solidFill>
                <a:latin typeface="Courier New"/>
              </a:rPr>
              <a:t>        t = pd.date_range(goc, periods=TAM, freq="h")</a:t>
            </a:r>
          </a:p>
          <a:p>
            <a:r>
              <a:rPr sz="850">
                <a:solidFill>
                  <a:srgbClr val="6B7385"/>
                </a:solidFill>
                <a:latin typeface="Courier New"/>
              </a:rPr>
              <a:t>14 </a:t>
            </a:r>
            <a:r>
              <a:rPr sz="850">
                <a:solidFill>
                  <a:srgbClr val="E6EAF0"/>
                </a:solidFill>
                <a:latin typeface="Courier New"/>
              </a:rPr>
              <a:t>        bang = bang_lich(chuoi[chuoi.index &lt; goc])   </a:t>
            </a:r>
            <a:r>
              <a:rPr sz="850">
                <a:solidFill>
                  <a:srgbClr val="8FC99A"/>
                </a:solidFill>
                <a:latin typeface="Courier New"/>
              </a:rPr>
              <a:t># CHỈ quá khứ</a:t>
            </a:r>
          </a:p>
          <a:p>
            <a:r>
              <a:rPr sz="850">
                <a:solidFill>
                  <a:srgbClr val="6B7385"/>
                </a:solidFill>
                <a:latin typeface="Courier New"/>
              </a:rPr>
              <a:t>15 </a:t>
            </a:r>
            <a:r>
              <a:rPr sz="850">
                <a:solidFill>
                  <a:srgbClr val="E6EAF0"/>
                </a:solidFill>
                <a:latin typeface="Courier New"/>
              </a:rPr>
              <a:t>        phan.append(pd.Series(du_bao_lich(bang, t), index=t))</a:t>
            </a:r>
          </a:p>
          <a:p>
            <a:r>
              <a:rPr sz="850">
                <a:solidFill>
                  <a:srgbClr val="6B7385"/>
                </a:solidFill>
                <a:latin typeface="Courier New"/>
              </a:rPr>
              <a:t>16 </a:t>
            </a:r>
            <a:r>
              <a:rPr sz="850">
                <a:solidFill>
                  <a:srgbClr val="E6EAF0"/>
                </a:solidFill>
                <a:latin typeface="Courier New"/>
              </a:rPr>
              <a:t>    return pd.concat(phan)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3 và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3–7</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Bảng lịch: TB theo tuần, thứ, giờ.</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Tra bảng cho các giờ cần dự báo.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Mỗi thứ Hai là một gốc, dự báo 168 giờ.</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bảng chỉ bằng dữ liệu trước gốc.</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dự báo mọi tuần để chấm.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Bảng lập từ cả 4 năm cho MAE 0,380 (sai số ảo). Chấm cuốn 46 tuần: 0,508, thua trung bình 4 tuần (0,490).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Nhóm theo nhiều khoá cùng lúc, mỗi tổ hợp ra một trung bình.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reindex(MultiIndex)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Tra bảng theo danh sách khoá; khoá không có thì ra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Sinh dãy mốc thời gian cách đều, ví dụ mỗi 168 giờ một gốc.</a:t>
            </a:r>
          </a:p>
        </p:txBody>
      </p:sp>
      <p:pic>
        <p:nvPicPr>
          <p:cNvPr id="29" name="Picture 28" descr="kn-du-bao-cuon.png"/>
          <p:cNvPicPr>
            <a:picLocks noChangeAspect="1"/>
          </p:cNvPicPr>
          <p:nvPr/>
        </p:nvPicPr>
        <p:blipFill>
          <a:blip r:embed="rId2"/>
          <a:stretch>
            <a:fillRect/>
          </a:stretch>
        </p:blipFill>
        <p:spPr>
          <a:xfrm>
            <a:off x="7863840" y="4355862"/>
            <a:ext cx="3776472" cy="1849595"/>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chấm theo giờ và theo tổng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Cùng một bộ dự báo, chấm ở mức giờ hay mức tuần có thể đổi người thắng.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mae(y, du_bao):</a:t>
            </a:r>
          </a:p>
          <a:p>
            <a:r>
              <a:rPr sz="950">
                <a:solidFill>
                  <a:srgbClr val="6B7385"/>
                </a:solidFill>
                <a:latin typeface="Courier New"/>
              </a:rPr>
              <a:t> 5 </a:t>
            </a:r>
            <a:r>
              <a:rPr sz="950">
                <a:solidFill>
                  <a:srgbClr val="E6EAF0"/>
                </a:solidFill>
                <a:latin typeface="Courier New"/>
              </a:rPr>
              <a:t>    y, du_bao = np.asarray(y, float), np.asarray(du_bao, float)</a:t>
            </a:r>
          </a:p>
          <a:p>
            <a:r>
              <a:rPr sz="950">
                <a:solidFill>
                  <a:srgbClr val="6B7385"/>
                </a:solidFill>
                <a:latin typeface="Courier New"/>
              </a:rPr>
              <a:t> 6 </a:t>
            </a:r>
            <a:r>
              <a:rPr sz="950">
                <a:solidFill>
                  <a:srgbClr val="E6EAF0"/>
                </a:solidFill>
                <a:latin typeface="Courier New"/>
              </a:rPr>
              <a:t>    co = ~np.isnan(y)</a:t>
            </a:r>
          </a:p>
          <a:p>
            <a:r>
              <a:rPr sz="950">
                <a:solidFill>
                  <a:srgbClr val="6B7385"/>
                </a:solidFill>
                <a:latin typeface="Courier New"/>
              </a:rPr>
              <a:t> 7 </a:t>
            </a:r>
            <a:r>
              <a:rPr sz="950">
                <a:solidFill>
                  <a:srgbClr val="E6EAF0"/>
                </a:solidFill>
                <a:latin typeface="Courier New"/>
              </a:rPr>
              <a:t>    return float(np.mean(np.abs(y[co] - du_bao[co])))</a:t>
            </a:r>
          </a:p>
          <a:p>
            <a:r>
              <a:rPr sz="950">
                <a:solidFill>
                  <a:srgbClr val="6B7385"/>
                </a:solidFill>
                <a:latin typeface="Courier New"/>
              </a:rPr>
              <a:t> 8 </a:t>
            </a:r>
          </a:p>
          <a:p>
            <a:r>
              <a:rPr sz="950">
                <a:solidFill>
                  <a:srgbClr val="6B7385"/>
                </a:solidFill>
                <a:latin typeface="Courier New"/>
              </a:rPr>
              <a:t> 9 </a:t>
            </a:r>
            <a:r>
              <a:rPr sz="950">
                <a:solidFill>
                  <a:srgbClr val="8FC99A"/>
                </a:solidFill>
                <a:latin typeface="Courier New"/>
              </a:rPr>
              <a:t># cuon: mỗi dòng một giờ; cột goc, y và các cột dự báo</a:t>
            </a:r>
          </a:p>
          <a:p>
            <a:r>
              <a:rPr sz="950">
                <a:solidFill>
                  <a:srgbClr val="6B7385"/>
                </a:solidFill>
                <a:latin typeface="Courier New"/>
              </a:rPr>
              <a:t>10 </a:t>
            </a:r>
            <a:r>
              <a:rPr sz="950">
                <a:solidFill>
                  <a:srgbClr val="E6EAF0"/>
                </a:solidFill>
                <a:latin typeface="Courier New"/>
              </a:rPr>
              <a:t>cot = ["trung bình 4 tuần", "bảng lịch", "tuần trước"]</a:t>
            </a:r>
          </a:p>
          <a:p>
            <a:r>
              <a:rPr sz="950">
                <a:solidFill>
                  <a:srgbClr val="6B7385"/>
                </a:solidFill>
                <a:latin typeface="Courier New"/>
              </a:rPr>
              <a:t>11 </a:t>
            </a:r>
            <a:r>
              <a:rPr sz="950">
                <a:solidFill>
                  <a:srgbClr val="E6EAF0"/>
                </a:solidFill>
                <a:latin typeface="Courier New"/>
              </a:rPr>
              <a:t>tuan = cuon.groupby("goc")[["y", *cot]].sum(min_count=1)   </a:t>
            </a:r>
            <a:r>
              <a:rPr sz="950">
                <a:solidFill>
                  <a:srgbClr val="8FC99A"/>
                </a:solidFill>
                <a:latin typeface="Courier New"/>
              </a:rPr>
              <a:t># cộng cả tuần</a:t>
            </a:r>
          </a:p>
          <a:p>
            <a:r>
              <a:rPr sz="950">
                <a:solidFill>
                  <a:srgbClr val="6B7385"/>
                </a:solidFill>
                <a:latin typeface="Courier New"/>
              </a:rPr>
              <a:t>12 </a:t>
            </a:r>
            <a:r>
              <a:rPr sz="950">
                <a:solidFill>
                  <a:srgbClr val="E6EAF0"/>
                </a:solidFill>
                <a:latin typeface="Courier New"/>
              </a:rPr>
              <a:t>du = cuon.groupby("goc")["y"].apply(lambda x: x.notna().all())</a:t>
            </a:r>
          </a:p>
          <a:p>
            <a:r>
              <a:rPr sz="950">
                <a:solidFill>
                  <a:srgbClr val="6B7385"/>
                </a:solidFill>
                <a:latin typeface="Courier New"/>
              </a:rPr>
              <a:t>13 </a:t>
            </a:r>
            <a:r>
              <a:rPr sz="950">
                <a:solidFill>
                  <a:srgbClr val="E6EAF0"/>
                </a:solidFill>
                <a:latin typeface="Courier New"/>
              </a:rPr>
              <a:t>tuan.loc[~du, "y"] = np.nan                     </a:t>
            </a:r>
            <a:r>
              <a:rPr sz="950">
                <a:solidFill>
                  <a:srgbClr val="8FC99A"/>
                </a:solidFill>
                <a:latin typeface="Courier New"/>
              </a:rPr>
              <a:t># chỉ chấm tuần đủ số đo</a:t>
            </a:r>
          </a:p>
          <a:p>
            <a:r>
              <a:rPr sz="950">
                <a:solidFill>
                  <a:srgbClr val="6B7385"/>
                </a:solidFill>
                <a:latin typeface="Courier New"/>
              </a:rPr>
              <a:t>14 </a:t>
            </a:r>
            <a:r>
              <a:rPr sz="950">
                <a:solidFill>
                  <a:srgbClr val="E6EAF0"/>
                </a:solidFill>
                <a:latin typeface="Courier New"/>
              </a:rPr>
              <a:t>theo_gio = {c: mae(cuon["y"], cuon[c]) for c in cot}</a:t>
            </a:r>
          </a:p>
          <a:p>
            <a:r>
              <a:rPr sz="950">
                <a:solidFill>
                  <a:srgbClr val="6B7385"/>
                </a:solidFill>
                <a:latin typeface="Courier New"/>
              </a:rPr>
              <a:t>15 </a:t>
            </a:r>
            <a:r>
              <a:rPr sz="950">
                <a:solidFill>
                  <a:srgbClr val="E6EAF0"/>
                </a:solidFill>
                <a:latin typeface="Courier New"/>
              </a:rPr>
              <a:t>theo_tuan = {c: mae(tuan["y"], tuan[c]) for c in cot}</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4–7</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MAE như mục 4.3, bỏ giờ trống.</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Cộng 168 giờ của mỗi gốc thành tổng tuần.</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Tuần thiếu số đo thì không chấm.</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MAE ở hai mức để so thứ hạng.</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Theo giờ: TB 4 tuần 0,490 thắng bảng lịch 0,508. Theo tổng tuần: bảng lịch 16,4 thắng xa TB 4 tuần 27,9 kWh/tuần.</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groupby("goc").sum(min_count=1)</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mọi giờ cùng một gốc; nhóm toàn trống thì ra NaN, không ra 0.</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apply(lambda x: x.notna().all())</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Hỏi từng tuần: có đủ số đo ở mọi giờ không.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tuan.loc[~du, "y"]</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các dòng tuần thiếu, cột y, để gán trống.</a:t>
            </a:r>
          </a:p>
        </p:txBody>
      </p:sp>
      <p:pic>
        <p:nvPicPr>
          <p:cNvPr id="27" name="Picture 26" descr="tong-tuan.png"/>
          <p:cNvPicPr>
            <a:picLocks noChangeAspect="1"/>
          </p:cNvPicPr>
          <p:nvPr/>
        </p:nvPicPr>
        <p:blipFill>
          <a:blip r:embed="rId2"/>
          <a:stretch>
            <a:fillRect/>
          </a:stretch>
        </p:blipFill>
        <p:spPr>
          <a:xfrm>
            <a:off x="7863840" y="4542301"/>
            <a:ext cx="3776472" cy="1476716"/>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thiếu đắt hơn thừa, mua quantile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Thử từng mức mua để thấy mức rẻ nhất là quantile 0,8, rồi áp vào dữ liệu điện thật.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nhu_cau = np.array([7, 5, 9, 6, 8, 12, 6, 9, 7, 8])       </a:t>
            </a:r>
            <a:r>
              <a:rPr sz="850">
                <a:solidFill>
                  <a:srgbClr val="8FC99A"/>
                </a:solidFill>
                <a:latin typeface="Courier New"/>
              </a:rPr>
              <a:t># kWh, 10 ngày</a:t>
            </a:r>
          </a:p>
          <a:p>
            <a:r>
              <a:rPr sz="850">
                <a:solidFill>
                  <a:srgbClr val="6B7385"/>
                </a:solidFill>
                <a:latin typeface="Courier New"/>
              </a:rPr>
              <a:t> 4 </a:t>
            </a:r>
            <a:r>
              <a:rPr sz="850">
                <a:solidFill>
                  <a:srgbClr val="E6EAF0"/>
                </a:solidFill>
                <a:latin typeface="Courier New"/>
              </a:rPr>
              <a:t>chi_phi = {m: int(4 * np.clip(nhu_cau - m, 0, None).sum()  </a:t>
            </a:r>
            <a:r>
              <a:rPr sz="850">
                <a:solidFill>
                  <a:srgbClr val="8FC99A"/>
                </a:solidFill>
                <a:latin typeface="Courier New"/>
              </a:rPr>
              <a:t># thiếu: 4 đồng</a:t>
            </a:r>
          </a:p>
          <a:p>
            <a:r>
              <a:rPr sz="850">
                <a:solidFill>
                  <a:srgbClr val="6B7385"/>
                </a:solidFill>
                <a:latin typeface="Courier New"/>
              </a:rPr>
              <a:t> 5 </a:t>
            </a:r>
            <a:r>
              <a:rPr sz="850">
                <a:solidFill>
                  <a:srgbClr val="E6EAF0"/>
                </a:solidFill>
                <a:latin typeface="Courier New"/>
              </a:rPr>
              <a:t>                  + np.clip(m - nhu_cau, 0, None).sum())   </a:t>
            </a:r>
            <a:r>
              <a:rPr sz="850">
                <a:solidFill>
                  <a:srgbClr val="8FC99A"/>
                </a:solidFill>
                <a:latin typeface="Courier New"/>
              </a:rPr>
              <a:t># thừa: 1 đồng</a:t>
            </a:r>
          </a:p>
          <a:p>
            <a:r>
              <a:rPr sz="850">
                <a:solidFill>
                  <a:srgbClr val="6B7385"/>
                </a:solidFill>
                <a:latin typeface="Courier New"/>
              </a:rPr>
              <a:t> 6 </a:t>
            </a:r>
            <a:r>
              <a:rPr sz="850">
                <a:solidFill>
                  <a:srgbClr val="E6EAF0"/>
                </a:solidFill>
                <a:latin typeface="Courier New"/>
              </a:rPr>
              <a:t>           for m in range(6, 13)}</a:t>
            </a:r>
          </a:p>
          <a:p>
            <a:r>
              <a:rPr sz="850">
                <a:solidFill>
                  <a:srgbClr val="6B7385"/>
                </a:solidFill>
                <a:latin typeface="Courier New"/>
              </a:rPr>
              <a:t> 7 </a:t>
            </a:r>
            <a:r>
              <a:rPr sz="850">
                <a:solidFill>
                  <a:srgbClr val="E6EAF0"/>
                </a:solidFill>
                <a:latin typeface="Courier New"/>
              </a:rPr>
              <a:t>q08 = np.quantile(nhu_cau, 0.8, method="inverted_cdf")     </a:t>
            </a:r>
            <a:r>
              <a:rPr sz="850">
                <a:solidFill>
                  <a:srgbClr val="8FC99A"/>
                </a:solidFill>
                <a:latin typeface="Courier New"/>
              </a:rPr>
              <a:t># 4 / (4 + 1)</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tien_mat(y, f):</a:t>
            </a:r>
          </a:p>
          <a:p>
            <a:r>
              <a:rPr sz="850">
                <a:solidFill>
                  <a:srgbClr val="6B7385"/>
                </a:solidFill>
                <a:latin typeface="Courier New"/>
              </a:rPr>
              <a:t>10 </a:t>
            </a:r>
            <a:r>
              <a:rPr sz="850">
                <a:solidFill>
                  <a:srgbClr val="E6EAF0"/>
                </a:solidFill>
                <a:latin typeface="Courier New"/>
              </a:rPr>
              <a:t>    d = np.asarray(y, float) - np.asarray(f, float)</a:t>
            </a:r>
          </a:p>
          <a:p>
            <a:r>
              <a:rPr sz="850">
                <a:solidFill>
                  <a:srgbClr val="6B7385"/>
                </a:solidFill>
                <a:latin typeface="Courier New"/>
              </a:rPr>
              <a:t>11 </a:t>
            </a:r>
            <a:r>
              <a:rPr sz="850">
                <a:solidFill>
                  <a:srgbClr val="E6EAF0"/>
                </a:solidFill>
                <a:latin typeface="Courier New"/>
              </a:rPr>
              <a:t>    d = d[~np.isnan(d)]</a:t>
            </a:r>
          </a:p>
          <a:p>
            <a:r>
              <a:rPr sz="850">
                <a:solidFill>
                  <a:srgbClr val="6B7385"/>
                </a:solidFill>
                <a:latin typeface="Courier New"/>
              </a:rPr>
              <a:t>12 </a:t>
            </a:r>
            <a:r>
              <a:rPr sz="850">
                <a:solidFill>
                  <a:srgbClr val="E6EAF0"/>
                </a:solidFill>
                <a:latin typeface="Courier New"/>
              </a:rPr>
              <a:t>    return float(np.mean(np.where(d &gt; 0, 4 * d, -1 * d)))</a:t>
            </a:r>
          </a:p>
          <a:p>
            <a:r>
              <a:rPr sz="850">
                <a:solidFill>
                  <a:srgbClr val="6B7385"/>
                </a:solidFill>
                <a:latin typeface="Courier New"/>
              </a:rPr>
              <a:t>13 </a:t>
            </a:r>
          </a:p>
          <a:p>
            <a:r>
              <a:rPr sz="850">
                <a:solidFill>
                  <a:srgbClr val="6B7385"/>
                </a:solidFill>
                <a:latin typeface="Courier New"/>
              </a:rPr>
              <a:t>14 </a:t>
            </a:r>
            <a:r>
              <a:rPr sz="850">
                <a:solidFill>
                  <a:srgbClr val="8FC99A"/>
                </a:solidFill>
                <a:latin typeface="Courier New"/>
              </a:rPr>
              <a:t># c09: dự báo cuốn năm 2009; chọn mức cộng thêm mà không nhìn 2010</a:t>
            </a:r>
          </a:p>
          <a:p>
            <a:r>
              <a:rPr sz="850">
                <a:solidFill>
                  <a:srgbClr val="6B7385"/>
                </a:solidFill>
                <a:latin typeface="Courier New"/>
              </a:rPr>
              <a:t>15 </a:t>
            </a:r>
            <a:r>
              <a:rPr sz="850">
                <a:solidFill>
                  <a:srgbClr val="E6EAF0"/>
                </a:solidFill>
                <a:latin typeface="Courier New"/>
              </a:rPr>
              <a:t>q = float((c09["y"] - c09["trung bình 4 tuần"]).dropna().quantile(0.8))</a:t>
            </a:r>
          </a:p>
          <a:p>
            <a:r>
              <a:rPr sz="850">
                <a:solidFill>
                  <a:srgbClr val="6B7385"/>
                </a:solidFill>
                <a:latin typeface="Courier New"/>
              </a:rPr>
              <a:t>16 </a:t>
            </a:r>
            <a:r>
              <a:rPr sz="850">
                <a:solidFill>
                  <a:srgbClr val="E6EAF0"/>
                </a:solidFill>
                <a:latin typeface="Courier New"/>
              </a:rPr>
              <a:t>print(tien_mat(y, f), tien_mat(y, f + q))       </a:t>
            </a:r>
            <a:r>
              <a:rPr sz="850">
                <a:solidFill>
                  <a:srgbClr val="8FC99A"/>
                </a:solidFill>
                <a:latin typeface="Courier New"/>
              </a:rPr>
              <a:t># năm 2010: trước, sau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tiền mất 10 ngày cho mỗi mức mua 6–12.</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Quantile 0,8 của nhu cầu, đếm như tính tay.</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Tiền mất: thiếu phạt 4, thừa phạt 1.</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Lấy quantile 0,8 sai số 2009 làm phần cộng.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tiền mất năm 2010 trước và sau khi cộng.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Mua 9 kWh rẻ nhất (28 đồng) = quantile 0,8, không phải TB 7,7. Thật: cộng 0,455 kWh, tiền mất 1,213 xuống 0,987 (−18,6%), MAE tệ đi.</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np.clip(x, 0, None)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Cắt số âm về 0: chỉ giữ phần thiếu (hoặc phần thừa).</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 method="inverted_cdf")</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quantile đúng cách đếm tay, không nội suy.</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np.where(d &gt; 0, a, b)</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từng phần tử: điều kiện đúng lấy a, sai lấy b.</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1807774ca46.png"/>
          <p:cNvPicPr>
            <a:picLocks noChangeAspect="1"/>
          </p:cNvPicPr>
          <p:nvPr/>
        </p:nvPicPr>
        <p:blipFill>
          <a:blip r:embed="rId2"/>
          <a:stretch>
            <a:fillRect/>
          </a:stretch>
        </p:blipFill>
        <p:spPr>
          <a:xfrm>
            <a:off x="9194292" y="4169663"/>
            <a:ext cx="1115568" cy="329184"/>
          </a:xfrm>
          <a:prstGeom prst="rect">
            <a:avLst/>
          </a:prstGeom>
        </p:spPr>
      </p:pic>
      <p:pic>
        <p:nvPicPr>
          <p:cNvPr id="31" name="Picture 30" descr="kn-bai-toan-newsvendor.png"/>
          <p:cNvPicPr>
            <a:picLocks noChangeAspect="1"/>
          </p:cNvPicPr>
          <p:nvPr/>
        </p:nvPicPr>
        <p:blipFill>
          <a:blip r:embed="rId3"/>
          <a:stretch>
            <a:fillRect/>
          </a:stretch>
        </p:blipFill>
        <p:spPr>
          <a:xfrm>
            <a:off x="8074406" y="4745735"/>
            <a:ext cx="3355338" cy="1728216"/>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quantile, trung vị,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quantile như đếm tay, và thấy trung bình với trung vị lệch nhau trên dữ liệu thật.</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zipfile</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import numpy as np</a:t>
            </a:r>
          </a:p>
          <a:p>
            <a:r>
              <a:rPr sz="950">
                <a:solidFill>
                  <a:srgbClr val="6B7385"/>
                </a:solidFill>
                <a:latin typeface="Courier New"/>
              </a:rPr>
              <a:t> 4 </a:t>
            </a:r>
            <a:r>
              <a:rPr sz="950">
                <a:solidFill>
                  <a:srgbClr val="E6EAF0"/>
                </a:solidFill>
                <a:latin typeface="Courier New"/>
              </a:rPr>
              <a:t>import pandas as pd</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x9 = np.array([8, 2, 36, 5, 12, 3, 18, 6, 9])</a:t>
            </a:r>
          </a:p>
          <a:p>
            <a:r>
              <a:rPr sz="950">
                <a:solidFill>
                  <a:srgbClr val="6B7385"/>
                </a:solidFill>
                <a:latin typeface="Courier New"/>
              </a:rPr>
              <a:t> 7 </a:t>
            </a:r>
            <a:r>
              <a:rPr sz="950">
                <a:solidFill>
                  <a:srgbClr val="E6EAF0"/>
                </a:solidFill>
                <a:latin typeface="Courier New"/>
              </a:rPr>
              <a:t>np.sort(x9)                                    </a:t>
            </a:r>
            <a:r>
              <a:rPr sz="950">
                <a:solidFill>
                  <a:srgbClr val="8FC99A"/>
                </a:solidFill>
                <a:latin typeface="Courier New"/>
              </a:rPr>
              <a:t># 2 3 5 6 8 9 12 18 36</a:t>
            </a:r>
          </a:p>
          <a:p>
            <a:r>
              <a:rPr sz="950">
                <a:solidFill>
                  <a:srgbClr val="6B7385"/>
                </a:solidFill>
                <a:latin typeface="Courier New"/>
              </a:rPr>
              <a:t> 8 </a:t>
            </a:r>
            <a:r>
              <a:rPr sz="950">
                <a:solidFill>
                  <a:srgbClr val="E6EAF0"/>
                </a:solidFill>
                <a:latin typeface="Courier New"/>
              </a:rPr>
              <a:t>np.quantile(x9, 0.8, method="inverted_cdf")    </a:t>
            </a:r>
            <a:r>
              <a:rPr sz="950">
                <a:solidFill>
                  <a:srgbClr val="8FC99A"/>
                </a:solidFill>
                <a:latin typeface="Courier New"/>
              </a:rPr>
              <a:t># đếm tay: số thứ 8</a:t>
            </a:r>
          </a:p>
          <a:p>
            <a:r>
              <a:rPr sz="950">
                <a:solidFill>
                  <a:srgbClr val="6B7385"/>
                </a:solidFill>
                <a:latin typeface="Courier New"/>
              </a:rPr>
              <a:t> 9 </a:t>
            </a:r>
            <a:r>
              <a:rPr sz="950">
                <a:solidFill>
                  <a:srgbClr val="E6EAF0"/>
                </a:solidFill>
                <a:latin typeface="Courier New"/>
              </a:rPr>
              <a:t>np.quantile(x9, 0.8)                           </a:t>
            </a:r>
            <a:r>
              <a:rPr sz="950">
                <a:solidFill>
                  <a:srgbClr val="8FC99A"/>
                </a:solidFill>
                <a:latin typeface="Courier New"/>
              </a:rPr>
              <a:t># mặc định: nội suy</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with zipfile.ZipFile("bike-sharing.zip") as z:</a:t>
            </a:r>
          </a:p>
          <a:p>
            <a:r>
              <a:rPr sz="950">
                <a:solidFill>
                  <a:srgbClr val="6B7385"/>
                </a:solidFill>
                <a:latin typeface="Courier New"/>
              </a:rPr>
              <a:t>12 </a:t>
            </a:r>
            <a:r>
              <a:rPr sz="950">
                <a:solidFill>
                  <a:srgbClr val="E6EAF0"/>
                </a:solidFill>
                <a:latin typeface="Courier New"/>
              </a:rPr>
              <a:t>    h = pd.read_csv(z.open("hour.csv"), parse_dates=["dteday"])</a:t>
            </a:r>
          </a:p>
          <a:p>
            <a:r>
              <a:rPr sz="950">
                <a:solidFill>
                  <a:srgbClr val="6B7385"/>
                </a:solidFill>
                <a:latin typeface="Courier New"/>
              </a:rPr>
              <a:t>13 </a:t>
            </a:r>
            <a:r>
              <a:rPr sz="950">
                <a:solidFill>
                  <a:srgbClr val="E6EAF0"/>
                </a:solidFill>
                <a:latin typeface="Courier New"/>
              </a:rPr>
              <a:t>y = h["cnt"].to_numpy(float)                   </a:t>
            </a:r>
            <a:r>
              <a:rPr sz="950">
                <a:solidFill>
                  <a:srgbClr val="8FC99A"/>
                </a:solidFill>
                <a:latin typeface="Courier New"/>
              </a:rPr>
              <a:t># lượt thuê từng giờ</a:t>
            </a:r>
          </a:p>
          <a:p>
            <a:r>
              <a:rPr sz="950">
                <a:solidFill>
                  <a:srgbClr val="6B7385"/>
                </a:solidFill>
                <a:latin typeface="Courier New"/>
              </a:rPr>
              <a:t>14 </a:t>
            </a:r>
            <a:r>
              <a:rPr sz="950">
                <a:solidFill>
                  <a:srgbClr val="E6EAF0"/>
                </a:solidFill>
                <a:latin typeface="Courier New"/>
              </a:rPr>
              <a:t>print(y.mean(), np.median(y), np.quantile(y, 0.9))</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0 và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Chín giờ, xếp tăng dần để đếm.</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Vị trí 0,8 × 9 = 7,2, làm tròn lên số thứ 8.</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Máy mặc định nội suy giữa hai số kề nhau.</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Đọc lượt thuê theo giờ của Capital Bikeshare.</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So trung bình, trung vị, quantile 0,9.</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Đếm tay ra 18, máy mặc định ra 14,4. Dữ liệu thật: trung bình 189, trung vị 142, quantile 0,9 khoảng 451 lượt/giờ.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q)</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mốc mà tỷ lệ q số liệu nằm dưới hoặc bằng nó.</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np.median(x)</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mốc chia đôi, bằng quantile 0,5.</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pd.read_csv(z.open(...))</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Đọc tệp CSV nằm bên trong tệp nén thành bảng.</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72662856a82.png"/>
          <p:cNvPicPr>
            <a:picLocks noChangeAspect="1"/>
          </p:cNvPicPr>
          <p:nvPr/>
        </p:nvPicPr>
        <p:blipFill>
          <a:blip r:embed="rId2"/>
          <a:stretch>
            <a:fillRect/>
          </a:stretch>
        </p:blipFill>
        <p:spPr>
          <a:xfrm>
            <a:off x="8552687" y="4213859"/>
            <a:ext cx="2398776" cy="240791"/>
          </a:xfrm>
          <a:prstGeom prst="rect">
            <a:avLst/>
          </a:prstGeom>
        </p:spPr>
      </p:pic>
      <p:pic>
        <p:nvPicPr>
          <p:cNvPr id="31" name="Picture 30" descr="kn-quantile-trung-vi.png"/>
          <p:cNvPicPr>
            <a:picLocks noChangeAspect="1"/>
          </p:cNvPicPr>
          <p:nvPr/>
        </p:nvPicPr>
        <p:blipFill>
          <a:blip r:embed="rId3"/>
          <a:stretch>
            <a:fillRect/>
          </a:stretch>
        </p:blipFill>
        <p:spPr>
          <a:xfrm>
            <a:off x="8023859" y="4745735"/>
            <a:ext cx="3456432" cy="1728216"/>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cách phạt, ba con số tốt nhất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cách phạt sai quyết định nên báo trung bình, trung vị hay quantile.</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x9 = np.array([8, 2, 36, 5, 12, 3, 18, 6, 9])</a:t>
            </a:r>
          </a:p>
          <a:p>
            <a:r>
              <a:rPr sz="950">
                <a:solidFill>
                  <a:srgbClr val="6B7385"/>
                </a:solidFill>
                <a:latin typeface="Courier New"/>
              </a:rPr>
              <a:t> 5 </a:t>
            </a:r>
            <a:r>
              <a:rPr sz="950">
                <a:solidFill>
                  <a:srgbClr val="E6EAF0"/>
                </a:solidFill>
                <a:latin typeface="Courier New"/>
              </a:rPr>
              <a:t>s = x9.std(ddof=1)                             </a:t>
            </a:r>
            <a:r>
              <a:rPr sz="950">
                <a:solidFill>
                  <a:srgbClr val="8FC99A"/>
                </a:solidFill>
                <a:latin typeface="Courier New"/>
              </a:rPr>
              <a:t># chia n − 1</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def pinball(y, c, tau):</a:t>
            </a:r>
          </a:p>
          <a:p>
            <a:r>
              <a:rPr sz="950">
                <a:solidFill>
                  <a:srgbClr val="6B7385"/>
                </a:solidFill>
                <a:latin typeface="Courier New"/>
              </a:rPr>
              <a:t> 8 </a:t>
            </a:r>
            <a:r>
              <a:rPr sz="950">
                <a:solidFill>
                  <a:srgbClr val="E6EAF0"/>
                </a:solidFill>
                <a:latin typeface="Courier New"/>
              </a:rPr>
              <a:t>    sai = np.asarray(y, float) - c</a:t>
            </a:r>
          </a:p>
          <a:p>
            <a:r>
              <a:rPr sz="950">
                <a:solidFill>
                  <a:srgbClr val="6B7385"/>
                </a:solidFill>
                <a:latin typeface="Courier New"/>
              </a:rPr>
              <a:t> 9 </a:t>
            </a:r>
            <a:r>
              <a:rPr sz="950">
                <a:solidFill>
                  <a:srgbClr val="E6EAF0"/>
                </a:solidFill>
                <a:latin typeface="Courier New"/>
              </a:rPr>
              <a:t>    return float(np.where(sai &gt;= 0, tau * sai, (tau - 1) * sai).mean())</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bang = pd.DataFrame({c: {"tuyệt đối": np.abs(x9 - c).mean(),</a:t>
            </a:r>
          </a:p>
          <a:p>
            <a:r>
              <a:rPr sz="950">
                <a:solidFill>
                  <a:srgbClr val="6B7385"/>
                </a:solidFill>
                <a:latin typeface="Courier New"/>
              </a:rPr>
              <a:t>12 </a:t>
            </a:r>
            <a:r>
              <a:rPr sz="950">
                <a:solidFill>
                  <a:srgbClr val="E6EAF0"/>
                </a:solidFill>
                <a:latin typeface="Courier New"/>
              </a:rPr>
              <a:t>                         "bình phương": ((x9 - c) ** 2).mean(),</a:t>
            </a:r>
          </a:p>
          <a:p>
            <a:r>
              <a:rPr sz="950">
                <a:solidFill>
                  <a:srgbClr val="6B7385"/>
                </a:solidFill>
                <a:latin typeface="Courier New"/>
              </a:rPr>
              <a:t>13 </a:t>
            </a:r>
            <a:r>
              <a:rPr sz="950">
                <a:solidFill>
                  <a:srgbClr val="E6EAF0"/>
                </a:solidFill>
                <a:latin typeface="Courier New"/>
              </a:rPr>
              <a:t>                         "pinball 0,8": pinball(x9, c, 0.8)}</a:t>
            </a:r>
          </a:p>
          <a:p>
            <a:r>
              <a:rPr sz="950">
                <a:solidFill>
                  <a:srgbClr val="6B7385"/>
                </a:solidFill>
                <a:latin typeface="Courier New"/>
              </a:rPr>
              <a:t>14 </a:t>
            </a:r>
            <a:r>
              <a:rPr sz="950">
                <a:solidFill>
                  <a:srgbClr val="E6EAF0"/>
                </a:solidFill>
                <a:latin typeface="Courier New"/>
              </a:rPr>
              <a:t>                     for c in (8, 11, 18)}).T  </a:t>
            </a:r>
            <a:r>
              <a:rPr sz="950">
                <a:solidFill>
                  <a:srgbClr val="8FC99A"/>
                </a:solidFill>
                <a:latin typeface="Courier New"/>
              </a:rPr>
              <a:t># trung vị, TB, quantile 0,8</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2</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Độ lệch chuẩn mẫu, chia cho n − 1.</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7–9</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Pinball: thiếu phạt tau, thừa phạt 1 − tau.</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Báo cùng một số c cho 9 giờ, tính ba mức phạt.</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s = 10,57. Tuyệt đối thấp nhất ở c = 8 (6,56), bình phương ở c = 11 (99,3), pinball 0,8 ở c = 18 (3,40).</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x.std(ddof=1)</a:t>
            </a:r>
            <a:r>
              <a:rPr sz="950" b="1" i="0">
                <a:solidFill>
                  <a:srgbClr val="5B6778"/>
                </a:solidFill>
                <a:latin typeface="Arial"/>
              </a:rPr>
              <a:t>   numpy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ddof=1 nghĩa là chia cho n − 1 thay vì n.</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np.where(sai &gt;= 0, ...)</a:t>
            </a:r>
            <a:r>
              <a:rPr sz="950" b="1" i="0">
                <a:solidFill>
                  <a:srgbClr val="5B6778"/>
                </a:solidFill>
                <a:latin typeface="Arial"/>
              </a:rPr>
              <a:t>   numpy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Phạt khác nhau cho dự báo thấp (sai dương) và dự báo cao.</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pd.DataFrame({...}).T</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Dựng bảng từ từ điển rồi xoay: mỗi c một dòng.</a:t>
            </a:r>
          </a:p>
        </p:txBody>
      </p:sp>
      <p:sp>
        <p:nvSpPr>
          <p:cNvPr id="25" name="Rounded Rectangle 24"/>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0ba0af0f0f4f.png"/>
          <p:cNvPicPr>
            <a:picLocks noChangeAspect="1"/>
          </p:cNvPicPr>
          <p:nvPr/>
        </p:nvPicPr>
        <p:blipFill>
          <a:blip r:embed="rId2"/>
          <a:stretch>
            <a:fillRect/>
          </a:stretch>
        </p:blipFill>
        <p:spPr>
          <a:xfrm>
            <a:off x="7993379" y="4227575"/>
            <a:ext cx="3517392" cy="213360"/>
          </a:xfrm>
          <a:prstGeom prst="rect">
            <a:avLst/>
          </a:prstGeom>
        </p:spPr>
      </p:pic>
      <p:pic>
        <p:nvPicPr>
          <p:cNvPr id="27" name="Picture 26" descr="kn-pinball-loss.png"/>
          <p:cNvPicPr>
            <a:picLocks noChangeAspect="1"/>
          </p:cNvPicPr>
          <p:nvPr/>
        </p:nvPicPr>
        <p:blipFill>
          <a:blip r:embed="rId3"/>
          <a:stretch>
            <a:fillRect/>
          </a:stretch>
        </p:blipFill>
        <p:spPr>
          <a:xfrm>
            <a:off x="8100883" y="4745735"/>
            <a:ext cx="3302384" cy="1728216"/>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khoảng 95% và tỷ lệ phủ</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khoảng từ năm 2011 hai cách, rồi đếm tỷ lệ phủ và từng đuôi trên năm chưa dùng.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h: bảng lượt thuê theo giờ; yr = 0 là 2011, yr = 1 là 2012</a:t>
            </a:r>
          </a:p>
          <a:p>
            <a:r>
              <a:rPr sz="950">
                <a:solidFill>
                  <a:srgbClr val="6B7385"/>
                </a:solidFill>
                <a:latin typeface="Courier New"/>
              </a:rPr>
              <a:t> 5 </a:t>
            </a:r>
            <a:r>
              <a:rPr sz="950">
                <a:solidFill>
                  <a:srgbClr val="E6EAF0"/>
                </a:solidFill>
                <a:latin typeface="Courier New"/>
              </a:rPr>
              <a:t>cach = {"±1,96s": lambda x: (x.mean() - 1.96 * x.std(ddof=1),</a:t>
            </a:r>
          </a:p>
          <a:p>
            <a:r>
              <a:rPr sz="950">
                <a:solidFill>
                  <a:srgbClr val="6B7385"/>
                </a:solidFill>
                <a:latin typeface="Courier New"/>
              </a:rPr>
              <a:t> 6 </a:t>
            </a:r>
            <a:r>
              <a:rPr sz="950">
                <a:solidFill>
                  <a:srgbClr val="E6EAF0"/>
                </a:solidFill>
                <a:latin typeface="Courier New"/>
              </a:rPr>
              <a:t>                             x.mean() + 1.96 * x.std(ddof=1)),</a:t>
            </a:r>
          </a:p>
          <a:p>
            <a:r>
              <a:rPr sz="950">
                <a:solidFill>
                  <a:srgbClr val="6B7385"/>
                </a:solidFill>
                <a:latin typeface="Courier New"/>
              </a:rPr>
              <a:t> 7 </a:t>
            </a:r>
            <a:r>
              <a:rPr sz="950">
                <a:solidFill>
                  <a:srgbClr val="E6EAF0"/>
                </a:solidFill>
                <a:latin typeface="Courier New"/>
              </a:rPr>
              <a:t>        "quantile": lambda x: tuple(np.quantile(x, [0.025, 0.975]))}</a:t>
            </a:r>
          </a:p>
          <a:p>
            <a:r>
              <a:rPr sz="950">
                <a:solidFill>
                  <a:srgbClr val="6B7385"/>
                </a:solidFill>
                <a:latin typeface="Courier New"/>
              </a:rPr>
              <a:t> 8 </a:t>
            </a:r>
            <a:r>
              <a:rPr sz="950">
                <a:solidFill>
                  <a:srgbClr val="E6EAF0"/>
                </a:solidFill>
                <a:latin typeface="Courier New"/>
              </a:rPr>
              <a:t>n11, n12 = h[h.yr == 0], h[h.yr == 1]</a:t>
            </a:r>
          </a:p>
          <a:p>
            <a:r>
              <a:rPr sz="950">
                <a:solidFill>
                  <a:srgbClr val="6B7385"/>
                </a:solidFill>
                <a:latin typeface="Courier New"/>
              </a:rPr>
              <a:t> 9 </a:t>
            </a:r>
            <a:r>
              <a:rPr sz="950">
                <a:solidFill>
                  <a:srgbClr val="E6EAF0"/>
                </a:solidFill>
                <a:latin typeface="Courier New"/>
              </a:rPr>
              <a:t>for ten, f in cach.items():</a:t>
            </a:r>
          </a:p>
          <a:p>
            <a:r>
              <a:rPr sz="950">
                <a:solidFill>
                  <a:srgbClr val="6B7385"/>
                </a:solidFill>
                <a:latin typeface="Courier New"/>
              </a:rPr>
              <a:t>10 </a:t>
            </a:r>
            <a:r>
              <a:rPr sz="950">
                <a:solidFill>
                  <a:srgbClr val="E6EAF0"/>
                </a:solidFill>
                <a:latin typeface="Courier New"/>
              </a:rPr>
              <a:t>    k = pd.DataFrame([(g, *f(nhom["cnt"])) for g, nhom in n11.groupby("hr")],</a:t>
            </a:r>
          </a:p>
          <a:p>
            <a:r>
              <a:rPr sz="950">
                <a:solidFill>
                  <a:srgbClr val="6B7385"/>
                </a:solidFill>
                <a:latin typeface="Courier New"/>
              </a:rPr>
              <a:t>11 </a:t>
            </a:r>
            <a:r>
              <a:rPr sz="950">
                <a:solidFill>
                  <a:srgbClr val="E6EAF0"/>
                </a:solidFill>
                <a:latin typeface="Courier New"/>
              </a:rPr>
              <a:t>                     columns=["hr", "lo", "hi"])        </a:t>
            </a:r>
            <a:r>
              <a:rPr sz="950">
                <a:solidFill>
                  <a:srgbClr val="8FC99A"/>
                </a:solidFill>
                <a:latin typeface="Courier New"/>
              </a:rPr>
              <a:t># dựng từ 2011</a:t>
            </a:r>
          </a:p>
          <a:p>
            <a:r>
              <a:rPr sz="950">
                <a:solidFill>
                  <a:srgbClr val="6B7385"/>
                </a:solidFill>
                <a:latin typeface="Courier New"/>
              </a:rPr>
              <a:t>12 </a:t>
            </a:r>
            <a:r>
              <a:rPr sz="950">
                <a:solidFill>
                  <a:srgbClr val="E6EAF0"/>
                </a:solidFill>
                <a:latin typeface="Courier New"/>
              </a:rPr>
              <a:t>    for du in (n11, n12):</a:t>
            </a:r>
          </a:p>
          <a:p>
            <a:r>
              <a:rPr sz="950">
                <a:solidFill>
                  <a:srgbClr val="6B7385"/>
                </a:solidFill>
                <a:latin typeface="Courier New"/>
              </a:rPr>
              <a:t>13 </a:t>
            </a:r>
            <a:r>
              <a:rPr sz="950">
                <a:solidFill>
                  <a:srgbClr val="E6EAF0"/>
                </a:solidFill>
                <a:latin typeface="Courier New"/>
              </a:rPr>
              <a:t>        m = du.merge(k, on="hr")</a:t>
            </a:r>
          </a:p>
          <a:p>
            <a:r>
              <a:rPr sz="950">
                <a:solidFill>
                  <a:srgbClr val="6B7385"/>
                </a:solidFill>
                <a:latin typeface="Courier New"/>
              </a:rPr>
              <a:t>14 </a:t>
            </a:r>
            <a:r>
              <a:rPr sz="950">
                <a:solidFill>
                  <a:srgbClr val="E6EAF0"/>
                </a:solidFill>
                <a:latin typeface="Courier New"/>
              </a:rPr>
              <a:t>        phu = np.mean((m.cnt &gt;= m.lo) &amp; (m.cnt &lt;= m.hi))</a:t>
            </a:r>
          </a:p>
          <a:p>
            <a:r>
              <a:rPr sz="950">
                <a:solidFill>
                  <a:srgbClr val="6B7385"/>
                </a:solidFill>
                <a:latin typeface="Courier New"/>
              </a:rPr>
              <a:t>15 </a:t>
            </a:r>
            <a:r>
              <a:rPr sz="950">
                <a:solidFill>
                  <a:srgbClr val="E6EAF0"/>
                </a:solidFill>
                <a:latin typeface="Courier New"/>
              </a:rPr>
              <a:t>        duoi, tren = np.mean(m.cnt &lt; m.lo), np.mean(m.cnt &gt; m.hi)</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Hai cách dựng khoảng: công thức và quantile.</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Mỗi giờ trong ngày một khoảng, chỉ từ 2011.</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Gắn khoảng của đúng giờ vào từng dòng.</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Tỷ lệ phủ: thật rơi vào trong khoảng.</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Đếm riêng hai đuôi để biết lệch phía nào.</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2011: ±1,96s phủ 96,4%, quantile 95,3%. Trên 2012: chỉ 72,5% và 70,1%, vượt trên 27,4% và 29,3%.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[0.025, 0.975])</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Lấy hai mốc chặn 2,5% dưới và 2,5% trên của lịch sử.</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groupby("hr")</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bảng theo giờ trong ngày để mỗi giờ có khoảng riêng.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merge(k, on="hr")</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hai bảng theo cột chung hr, như dò bảng.</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202fd44b4d5.png"/>
          <p:cNvPicPr>
            <a:picLocks noChangeAspect="1"/>
          </p:cNvPicPr>
          <p:nvPr/>
        </p:nvPicPr>
        <p:blipFill>
          <a:blip r:embed="rId2"/>
          <a:stretch>
            <a:fillRect/>
          </a:stretch>
        </p:blipFill>
        <p:spPr>
          <a:xfrm>
            <a:off x="9232392" y="4227575"/>
            <a:ext cx="1039368" cy="213360"/>
          </a:xfrm>
          <a:prstGeom prst="rect">
            <a:avLst/>
          </a:prstGeom>
        </p:spPr>
      </p:pic>
      <p:pic>
        <p:nvPicPr>
          <p:cNvPr id="31" name="Picture 30" descr="kn-ty-le-phu.png"/>
          <p:cNvPicPr>
            <a:picLocks noChangeAspect="1"/>
          </p:cNvPicPr>
          <p:nvPr/>
        </p:nvPicPr>
        <p:blipFill>
          <a:blip r:embed="rId3"/>
          <a:stretch>
            <a:fillRect/>
          </a:stretch>
        </p:blipFill>
        <p:spPr>
          <a:xfrm>
            <a:off x="8409319" y="4745735"/>
            <a:ext cx="2685512" cy="1728216"/>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hệ số r và tự tương quan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r bằng NumPy, thấy r bỏ sót quan hệ cong, và cao giả khi có biến gây nhiễu.</a:t>
            </a:r>
          </a:p>
        </p:txBody>
      </p:sp>
      <p:sp>
        <p:nvSpPr>
          <p:cNvPr id="6" name="Rounded Rectangle 5"/>
          <p:cNvSpPr/>
          <p:nvPr/>
        </p:nvSpPr>
        <p:spPr>
          <a:xfrm>
            <a:off x="548640" y="1737360"/>
            <a:ext cx="7086600" cy="2365629"/>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045588"/>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xu = np.array([-2, -1, 0, 1, 2])</a:t>
            </a:r>
          </a:p>
          <a:p>
            <a:r>
              <a:rPr sz="1050">
                <a:solidFill>
                  <a:srgbClr val="6B7385"/>
                </a:solidFill>
                <a:latin typeface="Courier New"/>
              </a:rPr>
              <a:t> 4 </a:t>
            </a:r>
            <a:r>
              <a:rPr sz="1050">
                <a:solidFill>
                  <a:srgbClr val="E6EAF0"/>
                </a:solidFill>
                <a:latin typeface="Courier New"/>
              </a:rPr>
              <a:t>np.corrcoef(xu, xu**2)[0, 1]                   </a:t>
            </a:r>
            <a:r>
              <a:rPr sz="1050">
                <a:solidFill>
                  <a:srgbClr val="8FC99A"/>
                </a:solidFill>
                <a:latin typeface="Courier New"/>
              </a:rPr>
              <a:t># cong hoàn toàn mà r = 0</a:t>
            </a:r>
          </a:p>
          <a:p>
            <a:r>
              <a:rPr sz="1050">
                <a:solidFill>
                  <a:srgbClr val="6B7385"/>
                </a:solidFill>
                <a:latin typeface="Courier New"/>
              </a:rPr>
              <a:t> 5 </a:t>
            </a:r>
            <a:r>
              <a:rPr sz="1050">
                <a:solidFill>
                  <a:srgbClr val="8FC99A"/>
                </a:solidFill>
                <a:latin typeface="Courier New"/>
              </a:rPr>
              <a:t># h: bảng lượt thuê theo giờ, có cột temp, hr, cnt</a:t>
            </a:r>
          </a:p>
          <a:p>
            <a:r>
              <a:rPr sz="1050">
                <a:solidFill>
                  <a:srgbClr val="6B7385"/>
                </a:solidFill>
                <a:latin typeface="Courier New"/>
              </a:rPr>
              <a:t> 6 </a:t>
            </a:r>
            <a:r>
              <a:rPr sz="1050">
                <a:solidFill>
                  <a:srgbClr val="E6EAF0"/>
                </a:solidFill>
                <a:latin typeface="Courier New"/>
              </a:rPr>
              <a:t>g17 = h[h.hr == 17]                            </a:t>
            </a:r>
            <a:r>
              <a:rPr sz="1050">
                <a:solidFill>
                  <a:srgbClr val="8FC99A"/>
                </a:solidFill>
                <a:latin typeface="Courier New"/>
              </a:rPr>
              <a:t># giữ cố định giờ</a:t>
            </a:r>
          </a:p>
          <a:p>
            <a:r>
              <a:rPr sz="1050">
                <a:solidFill>
                  <a:srgbClr val="6B7385"/>
                </a:solidFill>
                <a:latin typeface="Courier New"/>
              </a:rPr>
              <a:t> 7 </a:t>
            </a:r>
            <a:r>
              <a:rPr sz="1050">
                <a:solidFill>
                  <a:srgbClr val="E6EAF0"/>
                </a:solidFill>
                <a:latin typeface="Courier New"/>
              </a:rPr>
              <a:t>r_nhiet = np.corrcoef(h.temp, h.cnt)[0, 1]</a:t>
            </a:r>
          </a:p>
          <a:p>
            <a:r>
              <a:rPr sz="1050">
                <a:solidFill>
                  <a:srgbClr val="6B7385"/>
                </a:solidFill>
                <a:latin typeface="Courier New"/>
              </a:rPr>
              <a:t> 8 </a:t>
            </a:r>
            <a:r>
              <a:rPr sz="1050">
                <a:solidFill>
                  <a:srgbClr val="E6EAF0"/>
                </a:solidFill>
                <a:latin typeface="Courier New"/>
              </a:rPr>
              <a:t>r_nhiet_17 = np.corrcoef(g17.temp, g17.cnt)[0, 1]</a:t>
            </a:r>
          </a:p>
          <a:p>
            <a:r>
              <a:rPr sz="1050">
                <a:solidFill>
                  <a:srgbClr val="6B7385"/>
                </a:solidFill>
                <a:latin typeface="Courier New"/>
              </a:rPr>
              <a:t> 9 </a:t>
            </a:r>
            <a:r>
              <a:rPr sz="1050">
                <a:solidFill>
                  <a:srgbClr val="E6EAF0"/>
                </a:solidFill>
                <a:latin typeface="Courier New"/>
              </a:rPr>
              <a:t>r_gio = np.corrcoef(h.hr, h.cnt)[0, 1]         </a:t>
            </a:r>
            <a:r>
              <a:rPr sz="1050">
                <a:solidFill>
                  <a:srgbClr val="8FC99A"/>
                </a:solidFill>
                <a:latin typeface="Courier New"/>
              </a:rPr>
              <a:t># mạnh nhưng cong</a:t>
            </a:r>
          </a:p>
          <a:p>
            <a:r>
              <a:rPr sz="1050">
                <a:solidFill>
                  <a:srgbClr val="6B7385"/>
                </a:solidFill>
                <a:latin typeface="Courier New"/>
              </a:rPr>
              <a:t>10 </a:t>
            </a:r>
            <a:r>
              <a:rPr sz="1050">
                <a:solidFill>
                  <a:srgbClr val="E6EAF0"/>
                </a:solidFill>
                <a:latin typeface="Courier New"/>
              </a:rPr>
              <a:t>y = h["cnt"].to_numpy(float)</a:t>
            </a:r>
          </a:p>
          <a:p>
            <a:r>
              <a:rPr sz="1050">
                <a:solidFill>
                  <a:srgbClr val="6B7385"/>
                </a:solidFill>
                <a:latin typeface="Courier New"/>
              </a:rPr>
              <a:t>11 </a:t>
            </a:r>
            <a:r>
              <a:rPr sz="1050">
                <a:solidFill>
                  <a:srgbClr val="E6EAF0"/>
                </a:solidFill>
                <a:latin typeface="Courier New"/>
              </a:rPr>
              <a:t>dc = y - y.mean()                              </a:t>
            </a:r>
            <a:r>
              <a:rPr sz="1050">
                <a:solidFill>
                  <a:srgbClr val="8FC99A"/>
                </a:solidFill>
                <a:latin typeface="Courier New"/>
              </a:rPr>
              <a:t># độ lệch khỏi trung bình</a:t>
            </a:r>
          </a:p>
          <a:p>
            <a:r>
              <a:rPr sz="1050">
                <a:solidFill>
                  <a:srgbClr val="6B7385"/>
                </a:solidFill>
                <a:latin typeface="Courier New"/>
              </a:rPr>
              <a:t>12 </a:t>
            </a:r>
            <a:r>
              <a:rPr sz="1050">
                <a:solidFill>
                  <a:srgbClr val="E6EAF0"/>
                </a:solidFill>
                <a:latin typeface="Courier New"/>
              </a:rPr>
              <a:t>tu_tq = (dc[1:] * dc[:-1]).sum() / (dc**2).sum()   </a:t>
            </a:r>
            <a:r>
              <a:rPr sz="1050">
                <a:solidFill>
                  <a:srgbClr val="8FC99A"/>
                </a:solidFill>
                <a:latin typeface="Courier New"/>
              </a:rPr>
              <a:t># giờ này, giờ trước</a:t>
            </a:r>
          </a:p>
        </p:txBody>
      </p:sp>
      <p:sp>
        <p:nvSpPr>
          <p:cNvPr id="8" name="TextBox 7"/>
          <p:cNvSpPr txBox="1"/>
          <p:nvPr/>
        </p:nvSpPr>
        <p:spPr>
          <a:xfrm>
            <a:off x="685800" y="385610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4</a:t>
            </a:r>
          </a:p>
        </p:txBody>
      </p:sp>
      <p:sp>
        <p:nvSpPr>
          <p:cNvPr id="9" name="TextBox 8"/>
          <p:cNvSpPr txBox="1"/>
          <p:nvPr/>
        </p:nvSpPr>
        <p:spPr>
          <a:xfrm>
            <a:off x="548640" y="421271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5327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514469"/>
            <a:ext cx="2697480" cy="457200"/>
          </a:xfrm>
          <a:prstGeom prst="rect">
            <a:avLst/>
          </a:prstGeom>
          <a:noFill/>
        </p:spPr>
        <p:txBody>
          <a:bodyPr wrap="square" lIns="0" rIns="0" tIns="0" bIns="0" anchor="t">
            <a:spAutoFit/>
          </a:bodyPr>
          <a:lstStyle/>
          <a:p>
            <a:pPr algn="l"/>
            <a:r>
              <a:rPr sz="1050" b="0" i="0">
                <a:solidFill>
                  <a:srgbClr val="1B2A41"/>
                </a:solidFill>
                <a:latin typeface="Arial"/>
              </a:rPr>
              <a:t>y = x² phụ thuộc hẳn vào x mà r bằng 0.</a:t>
            </a:r>
          </a:p>
        </p:txBody>
      </p:sp>
      <p:sp>
        <p:nvSpPr>
          <p:cNvPr id="12" name="Rounded Rectangle 11"/>
          <p:cNvSpPr/>
          <p:nvPr/>
        </p:nvSpPr>
        <p:spPr>
          <a:xfrm>
            <a:off x="548640" y="49899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6–8</a:t>
            </a:r>
          </a:p>
        </p:txBody>
      </p:sp>
      <p:sp>
        <p:nvSpPr>
          <p:cNvPr id="13" name="TextBox 12"/>
          <p:cNvSpPr txBox="1"/>
          <p:nvPr/>
        </p:nvSpPr>
        <p:spPr>
          <a:xfrm>
            <a:off x="1353312" y="4971669"/>
            <a:ext cx="2697480" cy="457200"/>
          </a:xfrm>
          <a:prstGeom prst="rect">
            <a:avLst/>
          </a:prstGeom>
          <a:noFill/>
        </p:spPr>
        <p:txBody>
          <a:bodyPr wrap="square" lIns="0" rIns="0" tIns="0" bIns="0" anchor="t">
            <a:spAutoFit/>
          </a:bodyPr>
          <a:lstStyle/>
          <a:p>
            <a:pPr algn="l"/>
            <a:r>
              <a:rPr sz="1050" b="0" i="0">
                <a:solidFill>
                  <a:srgbClr val="1B2A41"/>
                </a:solidFill>
                <a:latin typeface="Arial"/>
              </a:rPr>
              <a:t>r nhiệt độ: mọi giờ, rồi chỉ lúc 17h.</a:t>
            </a:r>
          </a:p>
        </p:txBody>
      </p:sp>
      <p:sp>
        <p:nvSpPr>
          <p:cNvPr id="14" name="Rounded Rectangle 13"/>
          <p:cNvSpPr/>
          <p:nvPr/>
        </p:nvSpPr>
        <p:spPr>
          <a:xfrm>
            <a:off x="4160520" y="45327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4965192" y="4514469"/>
            <a:ext cx="2697480" cy="457200"/>
          </a:xfrm>
          <a:prstGeom prst="rect">
            <a:avLst/>
          </a:prstGeom>
          <a:noFill/>
        </p:spPr>
        <p:txBody>
          <a:bodyPr wrap="square" lIns="0" rIns="0" tIns="0" bIns="0" anchor="t">
            <a:spAutoFit/>
          </a:bodyPr>
          <a:lstStyle/>
          <a:p>
            <a:pPr algn="l"/>
            <a:r>
              <a:rPr sz="1050" b="0" i="0">
                <a:solidFill>
                  <a:srgbClr val="1B2A41"/>
                </a:solidFill>
                <a:latin typeface="Arial"/>
              </a:rPr>
              <a:t>Giờ trong ngày quyết định mạnh nhưng r thấp.</a:t>
            </a:r>
          </a:p>
        </p:txBody>
      </p:sp>
      <p:sp>
        <p:nvSpPr>
          <p:cNvPr id="16" name="Rounded Rectangle 15"/>
          <p:cNvSpPr/>
          <p:nvPr/>
        </p:nvSpPr>
        <p:spPr>
          <a:xfrm>
            <a:off x="4160520" y="49899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10–12</a:t>
            </a:r>
          </a:p>
        </p:txBody>
      </p:sp>
      <p:sp>
        <p:nvSpPr>
          <p:cNvPr id="17" name="TextBox 16"/>
          <p:cNvSpPr txBox="1"/>
          <p:nvPr/>
        </p:nvSpPr>
        <p:spPr>
          <a:xfrm>
            <a:off x="4965192" y="4971669"/>
            <a:ext cx="2697480" cy="457200"/>
          </a:xfrm>
          <a:prstGeom prst="rect">
            <a:avLst/>
          </a:prstGeom>
          <a:noFill/>
        </p:spPr>
        <p:txBody>
          <a:bodyPr wrap="square" lIns="0" rIns="0" tIns="0" bIns="0" anchor="t">
            <a:spAutoFit/>
          </a:bodyPr>
          <a:lstStyle/>
          <a:p>
            <a:pPr algn="l"/>
            <a:r>
              <a:rPr sz="1050" b="0" i="0">
                <a:solidFill>
                  <a:srgbClr val="1B2A41"/>
                </a:solidFill>
                <a:latin typeface="Arial"/>
              </a:rPr>
              <a:t>Tự tương quan trễ 1 tính tay bằng NumPy.</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y = x² cho r = 0. Nhiệt độ: mọi giờ r = 0,405, chỉ 17h r = 0,588. Giờ trong ngày r = 0,394. Tự tương quan trễ 1: 0,844.</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np.corrcoef(x, y)[0, 1]</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bảng 2 × 2 hệ số r; ô [0, 1] là r giữa x và y.</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h[h.hr == 17]</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Lọc giữ các dòng thoả điều kiện, ở đây là giờ 17.</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dc[1:] * dc[:-1]</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Nhân mỗi điểm với điểm ngay trước nó, để đo giống nhau.</a:t>
            </a:r>
          </a:p>
        </p:txBody>
      </p:sp>
      <p:sp>
        <p:nvSpPr>
          <p:cNvPr id="27" name="Rounded Rectangle 26"/>
          <p:cNvSpPr/>
          <p:nvPr/>
        </p:nvSpPr>
        <p:spPr>
          <a:xfrm>
            <a:off x="7863840" y="4059935"/>
            <a:ext cx="3776472" cy="8199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671a6ba5c2fc.png"/>
          <p:cNvPicPr>
            <a:picLocks noChangeAspect="1"/>
          </p:cNvPicPr>
          <p:nvPr/>
        </p:nvPicPr>
        <p:blipFill>
          <a:blip r:embed="rId2"/>
          <a:stretch>
            <a:fillRect/>
          </a:stretch>
        </p:blipFill>
        <p:spPr>
          <a:xfrm>
            <a:off x="8673084" y="4114799"/>
            <a:ext cx="2157984" cy="710184"/>
          </a:xfrm>
          <a:prstGeom prst="rect">
            <a:avLst/>
          </a:prstGeom>
        </p:spPr>
      </p:pic>
      <p:pic>
        <p:nvPicPr>
          <p:cNvPr id="29" name="Picture 28" descr="kn-tuong-quan-he-so-r.png"/>
          <p:cNvPicPr>
            <a:picLocks noChangeAspect="1"/>
          </p:cNvPicPr>
          <p:nvPr/>
        </p:nvPicPr>
        <p:blipFill>
          <a:blip r:embed="rId3"/>
          <a:stretch>
            <a:fillRect/>
          </a:stretch>
        </p:blipFill>
        <p:spPr>
          <a:xfrm>
            <a:off x="7863840" y="5064213"/>
            <a:ext cx="3776472" cy="1362533"/>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kiểm định hoán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p-value bằng cách xáo nhãn: nếu nhãn vô nghĩa, chênh lệch cỡ thật có hiếm không?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hoan_vi(yy, nhom, so_lan=9999, seed=2026):</a:t>
            </a:r>
          </a:p>
          <a:p>
            <a:r>
              <a:rPr sz="950">
                <a:solidFill>
                  <a:srgbClr val="6B7385"/>
                </a:solidFill>
                <a:latin typeface="Courier New"/>
              </a:rPr>
              <a:t> 4 </a:t>
            </a:r>
            <a:r>
              <a:rPr sz="950">
                <a:solidFill>
                  <a:srgbClr val="E6EAF0"/>
                </a:solidFill>
                <a:latin typeface="Courier New"/>
              </a:rPr>
              <a:t>    yy, nhom = np.asarray(yy, float), np.asarray(nhom, bool)</a:t>
            </a:r>
          </a:p>
          <a:p>
            <a:r>
              <a:rPr sz="950">
                <a:solidFill>
                  <a:srgbClr val="6B7385"/>
                </a:solidFill>
                <a:latin typeface="Courier New"/>
              </a:rPr>
              <a:t> 5 </a:t>
            </a:r>
            <a:r>
              <a:rPr sz="950">
                <a:solidFill>
                  <a:srgbClr val="E6EAF0"/>
                </a:solidFill>
                <a:latin typeface="Courier New"/>
              </a:rPr>
              <a:t>    that = yy[nhom].mean() - yy[~nhom].mean()</a:t>
            </a:r>
          </a:p>
          <a:p>
            <a:r>
              <a:rPr sz="950">
                <a:solidFill>
                  <a:srgbClr val="6B7385"/>
                </a:solidFill>
                <a:latin typeface="Courier New"/>
              </a:rPr>
              <a:t> 6 </a:t>
            </a:r>
            <a:r>
              <a:rPr sz="950">
                <a:solidFill>
                  <a:srgbClr val="E6EAF0"/>
                </a:solidFill>
                <a:latin typeface="Courier New"/>
              </a:rPr>
              <a:t>    rng = np.random.default_rng(seed)</a:t>
            </a:r>
          </a:p>
          <a:p>
            <a:r>
              <a:rPr sz="950">
                <a:solidFill>
                  <a:srgbClr val="6B7385"/>
                </a:solidFill>
                <a:latin typeface="Courier New"/>
              </a:rPr>
              <a:t> 7 </a:t>
            </a:r>
            <a:r>
              <a:rPr sz="950">
                <a:solidFill>
                  <a:srgbClr val="E6EAF0"/>
                </a:solidFill>
                <a:latin typeface="Courier New"/>
              </a:rPr>
              <a:t>    k = 0</a:t>
            </a:r>
          </a:p>
          <a:p>
            <a:r>
              <a:rPr sz="950">
                <a:solidFill>
                  <a:srgbClr val="6B7385"/>
                </a:solidFill>
                <a:latin typeface="Courier New"/>
              </a:rPr>
              <a:t> 8 </a:t>
            </a:r>
            <a:r>
              <a:rPr sz="950">
                <a:solidFill>
                  <a:srgbClr val="E6EAF0"/>
                </a:solidFill>
                <a:latin typeface="Courier New"/>
              </a:rPr>
              <a:t>    for _ in range(so_lan):</a:t>
            </a:r>
          </a:p>
          <a:p>
            <a:r>
              <a:rPr sz="950">
                <a:solidFill>
                  <a:srgbClr val="6B7385"/>
                </a:solidFill>
                <a:latin typeface="Courier New"/>
              </a:rPr>
              <a:t> 9 </a:t>
            </a:r>
            <a:r>
              <a:rPr sz="950">
                <a:solidFill>
                  <a:srgbClr val="E6EAF0"/>
                </a:solidFill>
                <a:latin typeface="Courier New"/>
              </a:rPr>
              <a:t>        p_ = rng.permutation(nhom)                  </a:t>
            </a:r>
            <a:r>
              <a:rPr sz="950">
                <a:solidFill>
                  <a:srgbClr val="8FC99A"/>
                </a:solidFill>
                <a:latin typeface="Courier New"/>
              </a:rPr>
              <a:t># xáo nhãn, giữ số</a:t>
            </a:r>
          </a:p>
          <a:p>
            <a:r>
              <a:rPr sz="950">
                <a:solidFill>
                  <a:srgbClr val="6B7385"/>
                </a:solidFill>
                <a:latin typeface="Courier New"/>
              </a:rPr>
              <a:t>10 </a:t>
            </a:r>
            <a:r>
              <a:rPr sz="950">
                <a:solidFill>
                  <a:srgbClr val="E6EAF0"/>
                </a:solidFill>
                <a:latin typeface="Courier New"/>
              </a:rPr>
              <a:t>        k += abs(yy[p_].mean() - yy[~p_].mean()) &gt;= abs(that)</a:t>
            </a:r>
          </a:p>
          <a:p>
            <a:r>
              <a:rPr sz="950">
                <a:solidFill>
                  <a:srgbClr val="6B7385"/>
                </a:solidFill>
                <a:latin typeface="Courier New"/>
              </a:rPr>
              <a:t>11 </a:t>
            </a:r>
            <a:r>
              <a:rPr sz="950">
                <a:solidFill>
                  <a:srgbClr val="E6EAF0"/>
                </a:solidFill>
                <a:latin typeface="Courier New"/>
              </a:rPr>
              <a:t>    return that, (k + 1) / (so_lan + 1)</a:t>
            </a:r>
          </a:p>
          <a:p>
            <a:r>
              <a:rPr sz="950">
                <a:solidFill>
                  <a:srgbClr val="6B7385"/>
                </a:solidFill>
                <a:latin typeface="Courier New"/>
              </a:rPr>
              <a:t>12 </a:t>
            </a:r>
          </a:p>
          <a:p>
            <a:r>
              <a:rPr sz="950">
                <a:solidFill>
                  <a:srgbClr val="6B7385"/>
                </a:solidFill>
                <a:latin typeface="Courier New"/>
              </a:rPr>
              <a:t>13 </a:t>
            </a:r>
            <a:r>
              <a:rPr sz="950">
                <a:solidFill>
                  <a:srgbClr val="8FC99A"/>
                </a:solidFill>
                <a:latin typeface="Courier New"/>
              </a:rPr>
              <a:t># d: bảng lượt thuê theo ngày; yr = 1 là năm 2012</a:t>
            </a:r>
          </a:p>
          <a:p>
            <a:r>
              <a:rPr sz="950">
                <a:solidFill>
                  <a:srgbClr val="6B7385"/>
                </a:solidFill>
                <a:latin typeface="Courier New"/>
              </a:rPr>
              <a:t>14 </a:t>
            </a:r>
            <a:r>
              <a:rPr sz="950">
                <a:solidFill>
                  <a:srgbClr val="E6EAF0"/>
                </a:solidFill>
                <a:latin typeface="Courier New"/>
              </a:rPr>
              <a:t>n12 = d[d.yr == 1]</a:t>
            </a:r>
          </a:p>
          <a:p>
            <a:r>
              <a:rPr sz="950">
                <a:solidFill>
                  <a:srgbClr val="6B7385"/>
                </a:solidFill>
                <a:latin typeface="Courier New"/>
              </a:rPr>
              <a:t>15 </a:t>
            </a:r>
            <a:r>
              <a:rPr sz="950">
                <a:solidFill>
                  <a:srgbClr val="E6EAF0"/>
                </a:solidFill>
                <a:latin typeface="Courier New"/>
              </a:rPr>
              <a:t>that, p = hoan_vi(n12.cnt, n12.workingday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Chênh lệch thật giữa hai nhóm ngày.</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Cố định seed để chạy lại ra cùng p.</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Xáo nhãn 9.999 lần, đếm lần lệch bằng hoặc hơn.</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p là tỷ lệ lần xáo lệch cỡ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Ngày làm việc so với ngày nghỉ năm 2012.</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Làm việc − nghỉ chênh +456 lượt/ngày, p = 0,025 &lt; 0,05: bác bỏ H0. Thứ Bảy − CN chênh +695 mà p &gt; 0,05.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np.random.default_rng(seed)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bộ sinh số ngẫu nhiên; cùng seed thì ra cùng dãy.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rng.permutation(nhom)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Xáo trộn thứ tự nhãn, giữ nguyên số nhãn mỗi loại.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yy[nhom].mean()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của các phần tử có nhãn True.</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34d4fe7a5afb.png"/>
          <p:cNvPicPr>
            <a:picLocks noChangeAspect="1"/>
          </p:cNvPicPr>
          <p:nvPr/>
        </p:nvPicPr>
        <p:blipFill>
          <a:blip r:embed="rId2"/>
          <a:stretch>
            <a:fillRect/>
          </a:stretch>
        </p:blipFill>
        <p:spPr>
          <a:xfrm>
            <a:off x="9340596" y="4195571"/>
            <a:ext cx="822960" cy="277368"/>
          </a:xfrm>
          <a:prstGeom prst="rect">
            <a:avLst/>
          </a:prstGeom>
        </p:spPr>
      </p:pic>
      <p:pic>
        <p:nvPicPr>
          <p:cNvPr id="31" name="Picture 30" descr="kn-kiem-dinh-gia-thuyet-khong-h0.png"/>
          <p:cNvPicPr>
            <a:picLocks noChangeAspect="1"/>
          </p:cNvPicPr>
          <p:nvPr/>
        </p:nvPicPr>
        <p:blipFill>
          <a:blip r:embed="rId3"/>
          <a:stretch>
            <a:fillRect/>
          </a:stretch>
        </p:blipFill>
        <p:spPr>
          <a:xfrm>
            <a:off x="8031060" y="4745735"/>
            <a:ext cx="3442030" cy="1728216"/>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bootstrap từng điểm và rút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khoảng tin cậy bằng rút lại mẫu, và thấy rút khối sửa được khoảng quá tự tin.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khoang_tin_cay(x, khoi, so_lan=999, seed=0):</a:t>
            </a:r>
          </a:p>
          <a:p>
            <a:r>
              <a:rPr sz="850">
                <a:solidFill>
                  <a:srgbClr val="6B7385"/>
                </a:solidFill>
                <a:latin typeface="Courier New"/>
              </a:rPr>
              <a:t> 4 </a:t>
            </a:r>
            <a:r>
              <a:rPr sz="850">
                <a:solidFill>
                  <a:srgbClr val="E6EAF0"/>
                </a:solidFill>
                <a:latin typeface="Courier New"/>
              </a:rPr>
              <a:t>    rng, n = np.random.default_rng(seed), x.size</a:t>
            </a:r>
          </a:p>
          <a:p>
            <a:r>
              <a:rPr sz="850">
                <a:solidFill>
                  <a:srgbClr val="6B7385"/>
                </a:solidFill>
                <a:latin typeface="Courier New"/>
              </a:rPr>
              <a:t> 5 </a:t>
            </a:r>
            <a:r>
              <a:rPr sz="850">
                <a:solidFill>
                  <a:srgbClr val="E6EAF0"/>
                </a:solidFill>
                <a:latin typeface="Courier New"/>
              </a:rPr>
              <a:t>    if khoi &lt;= 1:</a:t>
            </a:r>
          </a:p>
          <a:p>
            <a:r>
              <a:rPr sz="850">
                <a:solidFill>
                  <a:srgbClr val="6B7385"/>
                </a:solidFill>
                <a:latin typeface="Courier New"/>
              </a:rPr>
              <a:t> 6 </a:t>
            </a:r>
            <a:r>
              <a:rPr sz="850">
                <a:solidFill>
                  <a:srgbClr val="E6EAF0"/>
                </a:solidFill>
                <a:latin typeface="Courier New"/>
              </a:rPr>
              <a:t>        cs = rng.integers(0, n, size=(so_lan, n))          </a:t>
            </a:r>
            <a:r>
              <a:rPr sz="850">
                <a:solidFill>
                  <a:srgbClr val="8FC99A"/>
                </a:solidFill>
                <a:latin typeface="Courier New"/>
              </a:rPr>
              <a:t># từng điểm</a:t>
            </a:r>
          </a:p>
          <a:p>
            <a:r>
              <a:rPr sz="850">
                <a:solidFill>
                  <a:srgbClr val="6B7385"/>
                </a:solidFill>
                <a:latin typeface="Courier New"/>
              </a:rPr>
              <a:t> 7 </a:t>
            </a:r>
            <a:r>
              <a:rPr sz="850">
                <a:solidFill>
                  <a:srgbClr val="E6EAF0"/>
                </a:solidFill>
                <a:latin typeface="Courier New"/>
              </a:rPr>
              <a:t>    else:</a:t>
            </a:r>
          </a:p>
          <a:p>
            <a:r>
              <a:rPr sz="850">
                <a:solidFill>
                  <a:srgbClr val="6B7385"/>
                </a:solidFill>
                <a:latin typeface="Courier New"/>
              </a:rPr>
              <a:t> 8 </a:t>
            </a:r>
            <a:r>
              <a:rPr sz="850">
                <a:solidFill>
                  <a:srgbClr val="E6EAF0"/>
                </a:solidFill>
                <a:latin typeface="Courier New"/>
              </a:rPr>
              <a:t>        so_khoi = int(np.ceil(n / khoi))</a:t>
            </a:r>
          </a:p>
          <a:p>
            <a:r>
              <a:rPr sz="850">
                <a:solidFill>
                  <a:srgbClr val="6B7385"/>
                </a:solidFill>
                <a:latin typeface="Courier New"/>
              </a:rPr>
              <a:t> 9 </a:t>
            </a:r>
            <a:r>
              <a:rPr sz="850">
                <a:solidFill>
                  <a:srgbClr val="E6EAF0"/>
                </a:solidFill>
                <a:latin typeface="Courier New"/>
              </a:rPr>
              <a:t>        bat_dau = rng.integers(0, n - khoi + 1, size=(so_lan, so_khoi))</a:t>
            </a:r>
          </a:p>
          <a:p>
            <a:r>
              <a:rPr sz="850">
                <a:solidFill>
                  <a:srgbClr val="6B7385"/>
                </a:solidFill>
                <a:latin typeface="Courier New"/>
              </a:rPr>
              <a:t>10 </a:t>
            </a:r>
            <a:r>
              <a:rPr sz="850">
                <a:solidFill>
                  <a:srgbClr val="E6EAF0"/>
                </a:solidFill>
                <a:latin typeface="Courier New"/>
              </a:rPr>
              <a:t>        cs = (bat_dau[:, :, None] + np.arange(khoi)).reshape(so_lan, -1)</a:t>
            </a:r>
          </a:p>
          <a:p>
            <a:r>
              <a:rPr sz="850">
                <a:solidFill>
                  <a:srgbClr val="6B7385"/>
                </a:solidFill>
                <a:latin typeface="Courier New"/>
              </a:rPr>
              <a:t>11 </a:t>
            </a:r>
            <a:r>
              <a:rPr sz="850">
                <a:solidFill>
                  <a:srgbClr val="E6EAF0"/>
                </a:solidFill>
                <a:latin typeface="Courier New"/>
              </a:rPr>
              <a:t>    return np.quantile(x[cs[:, :n]].mean(axis=1), [0.025, 0.975])</a:t>
            </a:r>
          </a:p>
          <a:p>
            <a:r>
              <a:rPr sz="850">
                <a:solidFill>
                  <a:srgbClr val="6B7385"/>
                </a:solidFill>
                <a:latin typeface="Courier New"/>
              </a:rPr>
              <a:t>12 </a:t>
            </a:r>
            <a:r>
              <a:rPr sz="850">
                <a:solidFill>
                  <a:srgbClr val="8FC99A"/>
                </a:solidFill>
                <a:latin typeface="Courier New"/>
              </a:rPr>
              <a:t># chuoi: 300 chuỗi AR(1), rho = 0,7, trung bình thật bằng 0</a:t>
            </a:r>
          </a:p>
          <a:p>
            <a:r>
              <a:rPr sz="850">
                <a:solidFill>
                  <a:srgbClr val="6B7385"/>
                </a:solidFill>
                <a:latin typeface="Courier New"/>
              </a:rPr>
              <a:t>13 </a:t>
            </a:r>
            <a:r>
              <a:rPr sz="850">
                <a:solidFill>
                  <a:srgbClr val="E6EAF0"/>
                </a:solidFill>
                <a:latin typeface="Courier New"/>
              </a:rPr>
              <a:t>for khoi in (1, 3, 6, 10, 20, 40):</a:t>
            </a:r>
          </a:p>
          <a:p>
            <a:r>
              <a:rPr sz="850">
                <a:solidFill>
                  <a:srgbClr val="6B7385"/>
                </a:solidFill>
                <a:latin typeface="Courier New"/>
              </a:rPr>
              <a:t>14 </a:t>
            </a:r>
            <a:r>
              <a:rPr sz="850">
                <a:solidFill>
                  <a:srgbClr val="E6EAF0"/>
                </a:solidFill>
                <a:latin typeface="Courier New"/>
              </a:rPr>
              <a:t>    kq = [khoang_tin_cay(x, khoi, seed=2026 + i)</a:t>
            </a:r>
          </a:p>
          <a:p>
            <a:r>
              <a:rPr sz="850">
                <a:solidFill>
                  <a:srgbClr val="6B7385"/>
                </a:solidFill>
                <a:latin typeface="Courier New"/>
              </a:rPr>
              <a:t>15 </a:t>
            </a:r>
            <a:r>
              <a:rPr sz="850">
                <a:solidFill>
                  <a:srgbClr val="E6EAF0"/>
                </a:solidFill>
                <a:latin typeface="Courier New"/>
              </a:rPr>
              <a:t>          for i, x in enumerate(chuoi)]</a:t>
            </a:r>
          </a:p>
          <a:p>
            <a:r>
              <a:rPr sz="850">
                <a:solidFill>
                  <a:srgbClr val="6B7385"/>
                </a:solidFill>
                <a:latin typeface="Courier New"/>
              </a:rPr>
              <a:t>16 </a:t>
            </a:r>
            <a:r>
              <a:rPr sz="850">
                <a:solidFill>
                  <a:srgbClr val="E6EAF0"/>
                </a:solidFill>
                <a:latin typeface="Courier New"/>
              </a:rPr>
              <a:t>    phu = np.mean([lo &lt;= 0 &lt;= hi for lo, hi in kq])</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Rút ngẫu nhiên có hoàn lại từng điểm.</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Rút điểm đầu khối, nối khối liền nhau.</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Quantile của 999 trung bình ra khoảng 95%.</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bao nhiêu khoảng chứa trung bình thật 0.</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Rút từng điểm: chỉ 60,3% khoảng chứa trung bình thật. Khối 10: 89,0%; khối 20: 89,3%; khối 40 tụt còn 81,3%.</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rng.integers(0, n, size=...)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vị trí ngẫu nhiên từ 0 tới n − 1, lặp lại được.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x[cs].mean(axis=1)</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các điểm theo vị trí đã rút, trung bình từng lần rút.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np.arange(khoi)</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Dãy 0, 1, …, khoi − 1, cộng vào điểm đầu thành một khối.</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14a2e06122c.png"/>
          <p:cNvPicPr>
            <a:picLocks noChangeAspect="1"/>
          </p:cNvPicPr>
          <p:nvPr/>
        </p:nvPicPr>
        <p:blipFill>
          <a:blip r:embed="rId2"/>
          <a:stretch>
            <a:fillRect/>
          </a:stretch>
        </p:blipFill>
        <p:spPr>
          <a:xfrm>
            <a:off x="9156191" y="4169663"/>
            <a:ext cx="1191768" cy="329184"/>
          </a:xfrm>
          <a:prstGeom prst="rect">
            <a:avLst/>
          </a:prstGeom>
        </p:spPr>
      </p:pic>
      <p:pic>
        <p:nvPicPr>
          <p:cNvPr id="29" name="Picture 28" descr="kn-bootstrap-block-bootstrap.png"/>
          <p:cNvPicPr>
            <a:picLocks noChangeAspect="1"/>
          </p:cNvPicPr>
          <p:nvPr/>
        </p:nvPicPr>
        <p:blipFill>
          <a:blip r:embed="rId3"/>
          <a:stretch>
            <a:fillRect/>
          </a:stretch>
        </p:blipFill>
        <p:spPr>
          <a:xfrm>
            <a:off x="7863840" y="4927230"/>
            <a:ext cx="3776472" cy="1365226"/>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gắn múi giờ New York, đổi UTC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một giờ New York có thể ứng với một, không, hoặc hai thời điểm UTC.</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NY = "America/New_York"</a:t>
            </a:r>
          </a:p>
          <a:p>
            <a:r>
              <a:rPr sz="950">
                <a:solidFill>
                  <a:srgbClr val="6B7385"/>
                </a:solidFill>
                <a:latin typeface="Courier New"/>
              </a:rPr>
              <a:t> 4 </a:t>
            </a:r>
            <a:r>
              <a:rPr sz="950">
                <a:solidFill>
                  <a:srgbClr val="E6EAF0"/>
                </a:solidFill>
                <a:latin typeface="Courier New"/>
              </a:rPr>
              <a:t>for ngay, gio in [("2024-03-10", "01:30"), ("2024-03-10", "02:30"),</a:t>
            </a:r>
          </a:p>
          <a:p>
            <a:r>
              <a:rPr sz="950">
                <a:solidFill>
                  <a:srgbClr val="6B7385"/>
                </a:solidFill>
                <a:latin typeface="Courier New"/>
              </a:rPr>
              <a:t> 5 </a:t>
            </a:r>
            <a:r>
              <a:rPr sz="950">
                <a:solidFill>
                  <a:srgbClr val="E6EAF0"/>
                </a:solidFill>
                <a:latin typeface="Courier New"/>
              </a:rPr>
              <a:t>                  ("2024-03-10", "03:30"), ("2024-11-03", "01:30")]:</a:t>
            </a:r>
          </a:p>
          <a:p>
            <a:r>
              <a:rPr sz="950">
                <a:solidFill>
                  <a:srgbClr val="6B7385"/>
                </a:solidFill>
                <a:latin typeface="Courier New"/>
              </a:rPr>
              <a:t> 6 </a:t>
            </a:r>
            <a:r>
              <a:rPr sz="950">
                <a:solidFill>
                  <a:srgbClr val="E6EAF0"/>
                </a:solidFill>
                <a:latin typeface="Courier New"/>
              </a:rPr>
              <a:t>    ket_qua = []</a:t>
            </a:r>
          </a:p>
          <a:p>
            <a:r>
              <a:rPr sz="950">
                <a:solidFill>
                  <a:srgbClr val="6B7385"/>
                </a:solidFill>
                <a:latin typeface="Courier New"/>
              </a:rPr>
              <a:t> 7 </a:t>
            </a:r>
            <a:r>
              <a:rPr sz="950">
                <a:solidFill>
                  <a:srgbClr val="E6EAF0"/>
                </a:solidFill>
                <a:latin typeface="Courier New"/>
              </a:rPr>
              <a:t>    for mua_he in (True, False):             </a:t>
            </a:r>
            <a:r>
              <a:rPr sz="950">
                <a:solidFill>
                  <a:srgbClr val="8FC99A"/>
                </a:solidFill>
                <a:latin typeface="Courier New"/>
              </a:rPr>
              <a:t># giờ lặp: EDT hay EST</a:t>
            </a:r>
          </a:p>
          <a:p>
            <a:r>
              <a:rPr sz="950">
                <a:solidFill>
                  <a:srgbClr val="6B7385"/>
                </a:solidFill>
                <a:latin typeface="Courier New"/>
              </a:rPr>
              <a:t> 8 </a:t>
            </a:r>
            <a:r>
              <a:rPr sz="950">
                <a:solidFill>
                  <a:srgbClr val="E6EAF0"/>
                </a:solidFill>
                <a:latin typeface="Courier New"/>
              </a:rPr>
              <a:t>        try:</a:t>
            </a:r>
          </a:p>
          <a:p>
            <a:r>
              <a:rPr sz="950">
                <a:solidFill>
                  <a:srgbClr val="6B7385"/>
                </a:solidFill>
                <a:latin typeface="Courier New"/>
              </a:rPr>
              <a:t> 9 </a:t>
            </a:r>
            <a:r>
              <a:rPr sz="950">
                <a:solidFill>
                  <a:srgbClr val="E6EAF0"/>
                </a:solidFill>
                <a:latin typeface="Courier New"/>
              </a:rPr>
              <a:t>            t = pd.Timestamp(f"{ngay} {gio}").tz_localize(</a:t>
            </a:r>
          </a:p>
          <a:p>
            <a:r>
              <a:rPr sz="950">
                <a:solidFill>
                  <a:srgbClr val="6B7385"/>
                </a:solidFill>
                <a:latin typeface="Courier New"/>
              </a:rPr>
              <a:t>10 </a:t>
            </a:r>
            <a:r>
              <a:rPr sz="950">
                <a:solidFill>
                  <a:srgbClr val="E6EAF0"/>
                </a:solidFill>
                <a:latin typeface="Courier New"/>
              </a:rPr>
              <a:t>                NY, ambiguous=mua_he)        </a:t>
            </a:r>
            <a:r>
              <a:rPr sz="950">
                <a:solidFill>
                  <a:srgbClr val="8FC99A"/>
                </a:solidFill>
                <a:latin typeface="Courier New"/>
              </a:rPr>
              <a:t># gắn múi giờ New York</a:t>
            </a:r>
          </a:p>
          <a:p>
            <a:r>
              <a:rPr sz="950">
                <a:solidFill>
                  <a:srgbClr val="6B7385"/>
                </a:solidFill>
                <a:latin typeface="Courier New"/>
              </a:rPr>
              <a:t>11 </a:t>
            </a:r>
            <a:r>
              <a:rPr sz="950">
                <a:solidFill>
                  <a:srgbClr val="E6EAF0"/>
                </a:solidFill>
                <a:latin typeface="Courier New"/>
              </a:rPr>
              <a:t>            ket_qua.append(t.tz_convert("UTC").strftime("%H:%MZ"))</a:t>
            </a:r>
          </a:p>
          <a:p>
            <a:r>
              <a:rPr sz="950">
                <a:solidFill>
                  <a:srgbClr val="6B7385"/>
                </a:solidFill>
                <a:latin typeface="Courier New"/>
              </a:rPr>
              <a:t>12 </a:t>
            </a:r>
            <a:r>
              <a:rPr sz="950">
                <a:solidFill>
                  <a:srgbClr val="E6EAF0"/>
                </a:solidFill>
                <a:latin typeface="Courier New"/>
              </a:rPr>
              <a:t>        except Exception:                    </a:t>
            </a:r>
            <a:r>
              <a:rPr sz="950">
                <a:solidFill>
                  <a:srgbClr val="8FC99A"/>
                </a:solidFill>
                <a:latin typeface="Courier New"/>
              </a:rPr>
              <a:t># giờ không tồn tại</a:t>
            </a:r>
          </a:p>
          <a:p>
            <a:r>
              <a:rPr sz="950">
                <a:solidFill>
                  <a:srgbClr val="6B7385"/>
                </a:solidFill>
                <a:latin typeface="Courier New"/>
              </a:rPr>
              <a:t>13 </a:t>
            </a:r>
            <a:r>
              <a:rPr sz="950">
                <a:solidFill>
                  <a:srgbClr val="E6EAF0"/>
                </a:solidFill>
                <a:latin typeface="Courier New"/>
              </a:rPr>
              <a:t>            pass</a:t>
            </a:r>
          </a:p>
          <a:p>
            <a:r>
              <a:rPr sz="950">
                <a:solidFill>
                  <a:srgbClr val="6B7385"/>
                </a:solidFill>
                <a:latin typeface="Courier New"/>
              </a:rPr>
              <a:t>14 </a:t>
            </a:r>
            <a:r>
              <a:rPr sz="950">
                <a:solidFill>
                  <a:srgbClr val="E6EAF0"/>
                </a:solidFill>
                <a:latin typeface="Courier New"/>
              </a:rPr>
              <a:t>    print(ngay, gio, sorted(set(ket_qua)) or "KHÔNG TỒN TẠI")</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Bốn giờ quanh hai ngày vặn đồng hồ 2024.</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Thử cả hai cách hiểu: giờ hè và giờ đông.</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Gắn múi giờ: con số giờ thành thời điểm thật.</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Đổi sang UTC, trục thời gian chạy đều.</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Giờ bị nhảy qua thì báo lỗi, bỏ qua.</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10/3: 01:30 ra 06:30Z, 02:30 không tồn tại, 03:30 ra 07:30Z. 01:30 ngày 3/11 có hai đáp án: 05:30Z hoặc 06:30Z.</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tz_localize(NY, ambiguous=...)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Gắn múi giờ cho giờ chưa có; ambiguous chọn EDT hay EST.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tz_convert("UTC")</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một thời điểm đã có múi giờ sang giờ UTC.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strftime("%H:%MZ")</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Viết thời điểm thành chữ theo mẫu giờ:phút kèm chữ Z.</a:t>
            </a:r>
          </a:p>
        </p:txBody>
      </p:sp>
      <p:pic>
        <p:nvPicPr>
          <p:cNvPr id="29" name="Picture 28" descr="kn-gio-mua-he-dst.png"/>
          <p:cNvPicPr>
            <a:picLocks noChangeAspect="1"/>
          </p:cNvPicPr>
          <p:nvPr/>
        </p:nvPicPr>
        <p:blipFill>
          <a:blip r:embed="rId2"/>
          <a:stretch>
            <a:fillRect/>
          </a:stretch>
        </p:blipFill>
        <p:spPr>
          <a:xfrm>
            <a:off x="7863840" y="4359179"/>
            <a:ext cx="3776472" cy="1842960"/>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đếm chuyến trên giờ naive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Đếm thẳng trên giờ không múi giờ để thấy giờ 0 chuyến giả và giờ gấp đôi.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cot = ["tpep_pickup_datetime", "tpep_dropoff_datetime"]</a:t>
            </a:r>
          </a:p>
          <a:p>
            <a:r>
              <a:rPr sz="950">
                <a:solidFill>
                  <a:srgbClr val="6B7385"/>
                </a:solidFill>
                <a:latin typeface="Courier New"/>
              </a:rPr>
              <a:t> 4 </a:t>
            </a:r>
            <a:r>
              <a:rPr sz="950">
                <a:solidFill>
                  <a:srgbClr val="E6EAF0"/>
                </a:solidFill>
                <a:latin typeface="Courier New"/>
              </a:rPr>
              <a:t>t3 = pd.read_parquet("yellow_tripdata_2024-03.parquet", columns=cot)</a:t>
            </a:r>
          </a:p>
          <a:p>
            <a:r>
              <a:rPr sz="950">
                <a:solidFill>
                  <a:srgbClr val="6B7385"/>
                </a:solidFill>
                <a:latin typeface="Courier New"/>
              </a:rPr>
              <a:t> 5 </a:t>
            </a:r>
            <a:r>
              <a:rPr sz="950">
                <a:solidFill>
                  <a:srgbClr val="E6EAF0"/>
                </a:solidFill>
                <a:latin typeface="Courier New"/>
              </a:rPr>
              <a:t>t11 = pd.read_parquet("yellow_tripdata_2024-11.parquet", columns=cot)</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def dem_naive(chuyen):                      </a:t>
            </a:r>
            <a:r>
              <a:rPr sz="950">
                <a:solidFill>
                  <a:srgbClr val="8FC99A"/>
                </a:solidFill>
                <a:latin typeface="Courier New"/>
              </a:rPr>
              <a:t># đếm thẳng trên giờ naive</a:t>
            </a:r>
          </a:p>
          <a:p>
            <a:r>
              <a:rPr sz="950">
                <a:solidFill>
                  <a:srgbClr val="6B7385"/>
                </a:solidFill>
                <a:latin typeface="Courier New"/>
              </a:rPr>
              <a:t> 8 </a:t>
            </a:r>
            <a:r>
              <a:rPr sz="950">
                <a:solidFill>
                  <a:srgbClr val="E6EAF0"/>
                </a:solidFill>
                <a:latin typeface="Courier New"/>
              </a:rPr>
              <a:t>    return chuyen.set_index("tpep_pickup_datetime").resample("h").size()</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dem_naive(t3)["2024-03-10 00:00":"2024-03-10 03:00"]    </a:t>
            </a:r>
            <a:r>
              <a:rPr sz="950">
                <a:solidFill>
                  <a:srgbClr val="8FC99A"/>
                </a:solidFill>
                <a:latin typeface="Courier New"/>
              </a:rPr>
              <a:t># 02:00 trống</a:t>
            </a:r>
          </a:p>
          <a:p>
            <a:r>
              <a:rPr sz="950">
                <a:solidFill>
                  <a:srgbClr val="6B7385"/>
                </a:solidFill>
                <a:latin typeface="Courier New"/>
              </a:rPr>
              <a:t>11 </a:t>
            </a:r>
            <a:r>
              <a:rPr sz="950">
                <a:solidFill>
                  <a:srgbClr val="E6EAF0"/>
                </a:solidFill>
                <a:latin typeface="Courier New"/>
              </a:rPr>
              <a:t>dem_naive(t11)["2024-11-03 00:00":"2024-11-03 03:00"]   </a:t>
            </a:r>
            <a:r>
              <a:rPr sz="950">
                <a:solidFill>
                  <a:srgbClr val="8FC99A"/>
                </a:solidFill>
                <a:latin typeface="Courier New"/>
              </a:rPr>
              <a:t># 01:00 gấp đôi</a:t>
            </a:r>
          </a:p>
          <a:p>
            <a:r>
              <a:rPr sz="950">
                <a:solidFill>
                  <a:srgbClr val="6B7385"/>
                </a:solidFill>
                <a:latin typeface="Courier New"/>
              </a:rPr>
              <a:t>12 </a:t>
            </a:r>
            <a:r>
              <a:rPr sz="950">
                <a:solidFill>
                  <a:srgbClr val="E6EAF0"/>
                </a:solidFill>
                <a:latin typeface="Courier New"/>
              </a:rPr>
              <a:t>dem_naive(t11)["2024-11-10 01:00"]                      </a:t>
            </a:r>
            <a:r>
              <a:rPr sz="950">
                <a:solidFill>
                  <a:srgbClr val="8FC99A"/>
                </a:solidFill>
                <a:latin typeface="Courier New"/>
              </a:rPr>
              <a:t># tuần sau để so</a:t>
            </a:r>
          </a:p>
          <a:p>
            <a:r>
              <a:rPr sz="950">
                <a:solidFill>
                  <a:srgbClr val="6B7385"/>
                </a:solidFill>
                <a:latin typeface="Courier New"/>
              </a:rPr>
              <a:t>13 </a:t>
            </a:r>
            <a:r>
              <a:rPr sz="950">
                <a:solidFill>
                  <a:srgbClr val="8FC99A"/>
                </a:solidFill>
                <a:latin typeface="Courier New"/>
              </a:rPr>
              <a:t># trừ thẳng hai giờ naive: có khách xuống xe trước khi lên</a:t>
            </a:r>
          </a:p>
          <a:p>
            <a:r>
              <a:rPr sz="950">
                <a:solidFill>
                  <a:srgbClr val="6B7385"/>
                </a:solidFill>
                <a:latin typeface="Courier New"/>
              </a:rPr>
              <a:t>14 </a:t>
            </a:r>
            <a:r>
              <a:rPr sz="950">
                <a:solidFill>
                  <a:srgbClr val="E6EAF0"/>
                </a:solidFill>
                <a:latin typeface="Courier New"/>
              </a:rPr>
              <a:t>am = t11["tpep_dropoff_datetime"] &lt; t11["tpep_pickup_datetime"]</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2</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Đọc giờ đón, giờ trả của tháng 3 và 11.</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Đếm chuyến mỗi giờ, chưa gắn múi giờ.</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Xem quanh hai ngày vặn đồng hồ.</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Cùng giờ tuần sau làm mốc so.</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Tìm chuyến trả trước khi đón.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02:00 ngày 10/3 có 0 chuyến; giờ 01:00 ngày 3/11 có 9.869 chuyến, gần gấp đôi tuần sau (5.318).</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pd.read_parquet(..., columns=...)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Đọc tệp Parquet, chỉ lấy các cột cần cho nhanh.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set_index(...).resample("h").size()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cột giờ làm mốc, đếm số dòng rơi vào mỗi giờ.</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s["a":"b"]</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chuỗi theo khoảng thời gian, lấy cả hai đầu.</a:t>
            </a:r>
          </a:p>
        </p:txBody>
      </p:sp>
      <p:pic>
        <p:nvPicPr>
          <p:cNvPr id="29" name="Picture 28" descr="dst-hai-ngay.png"/>
          <p:cNvPicPr>
            <a:picLocks noChangeAspect="1"/>
          </p:cNvPicPr>
          <p:nvPr/>
        </p:nvPicPr>
        <p:blipFill>
          <a:blip r:embed="rId2"/>
          <a:stretch>
            <a:fillRect/>
          </a:stretch>
        </p:blipFill>
        <p:spPr>
          <a:xfrm>
            <a:off x="7863840" y="4224162"/>
            <a:ext cx="3776472" cy="2112995"/>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resample cộng hay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Gộp sự kiện thành chuỗi đều: đếm thì cộng, số đo thì lấy trung bình.</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 = pd.to_datetime(["2024-01-01 00:10", "2024-01-01 00:50",</a:t>
            </a:r>
          </a:p>
          <a:p>
            <a:r>
              <a:rPr sz="950">
                <a:solidFill>
                  <a:srgbClr val="6B7385"/>
                </a:solidFill>
                <a:latin typeface="Courier New"/>
              </a:rPr>
              <a:t> 4 </a:t>
            </a:r>
            <a:r>
              <a:rPr sz="950">
                <a:solidFill>
                  <a:srgbClr val="E6EAF0"/>
                </a:solidFill>
                <a:latin typeface="Courier New"/>
              </a:rPr>
              <a:t>                    "2024-01-01 02:20"])</a:t>
            </a:r>
          </a:p>
          <a:p>
            <a:r>
              <a:rPr sz="950">
                <a:solidFill>
                  <a:srgbClr val="6B7385"/>
                </a:solidFill>
                <a:latin typeface="Courier New"/>
              </a:rPr>
              <a:t> 5 </a:t>
            </a:r>
            <a:r>
              <a:rPr sz="950">
                <a:solidFill>
                  <a:srgbClr val="E6EAF0"/>
                </a:solidFill>
                <a:latin typeface="Courier New"/>
              </a:rPr>
              <a:t>s = pd.Series([1.0, 2.0, 5.0], index=t)</a:t>
            </a:r>
          </a:p>
          <a:p>
            <a:r>
              <a:rPr sz="950">
                <a:solidFill>
                  <a:srgbClr val="6B7385"/>
                </a:solidFill>
                <a:latin typeface="Courier New"/>
              </a:rPr>
              <a:t> 6 </a:t>
            </a:r>
            <a:r>
              <a:rPr sz="950">
                <a:solidFill>
                  <a:srgbClr val="E6EAF0"/>
                </a:solidFill>
                <a:latin typeface="Courier New"/>
              </a:rPr>
              <a:t>s.resample("h").sum()       </a:t>
            </a:r>
            <a:r>
              <a:rPr sz="950">
                <a:solidFill>
                  <a:srgbClr val="8FC99A"/>
                </a:solidFill>
                <a:latin typeface="Courier New"/>
              </a:rPr>
              <a:t># số lượng: cộng, giờ trống ra 0</a:t>
            </a:r>
          </a:p>
          <a:p>
            <a:r>
              <a:rPr sz="950">
                <a:solidFill>
                  <a:srgbClr val="6B7385"/>
                </a:solidFill>
                <a:latin typeface="Courier New"/>
              </a:rPr>
              <a:t> 7 </a:t>
            </a:r>
            <a:r>
              <a:rPr sz="950">
                <a:solidFill>
                  <a:srgbClr val="E6EAF0"/>
                </a:solidFill>
                <a:latin typeface="Courier New"/>
              </a:rPr>
              <a:t>s.resample("h").mean()      </a:t>
            </a:r>
            <a:r>
              <a:rPr sz="950">
                <a:solidFill>
                  <a:srgbClr val="8FC99A"/>
                </a:solidFill>
                <a:latin typeface="Courier New"/>
              </a:rPr>
              <a:t># số đo: trung bình, giờ trống ra NaN</a:t>
            </a:r>
          </a:p>
          <a:p>
            <a:r>
              <a:rPr sz="950">
                <a:solidFill>
                  <a:srgbClr val="6B7385"/>
                </a:solidFill>
                <a:latin typeface="Courier New"/>
              </a:rPr>
              <a:t> 8 </a:t>
            </a:r>
            <a:r>
              <a:rPr sz="950">
                <a:solidFill>
                  <a:srgbClr val="8FC99A"/>
                </a:solidFill>
                <a:latin typeface="Courier New"/>
              </a:rPr>
              <a:t># cách khác: floor về đầu giờ; không tự thêm giờ trống</a:t>
            </a:r>
          </a:p>
          <a:p>
            <a:r>
              <a:rPr sz="950">
                <a:solidFill>
                  <a:srgbClr val="6B7385"/>
                </a:solidFill>
                <a:latin typeface="Courier New"/>
              </a:rPr>
              <a:t> 9 </a:t>
            </a:r>
            <a:r>
              <a:rPr sz="950">
                <a:solidFill>
                  <a:srgbClr val="E6EAF0"/>
                </a:solidFill>
                <a:latin typeface="Courier New"/>
              </a:rPr>
              <a:t>s.groupby(s.index.floor("h")).sum()</a:t>
            </a:r>
          </a:p>
          <a:p>
            <a:r>
              <a:rPr sz="950">
                <a:solidFill>
                  <a:srgbClr val="6B7385"/>
                </a:solidFill>
                <a:latin typeface="Courier New"/>
              </a:rPr>
              <a:t>10 </a:t>
            </a:r>
            <a:r>
              <a:rPr sz="950">
                <a:solidFill>
                  <a:srgbClr val="8FC99A"/>
                </a:solidFill>
                <a:latin typeface="Courier New"/>
              </a:rPr>
              <a:t># tháng 3 New York: ngày 10/3 chỉ dài 23 giờ</a:t>
            </a:r>
          </a:p>
          <a:p>
            <a:r>
              <a:rPr sz="950">
                <a:solidFill>
                  <a:srgbClr val="6B7385"/>
                </a:solidFill>
                <a:latin typeface="Courier New"/>
              </a:rPr>
              <a:t>11 </a:t>
            </a:r>
            <a:r>
              <a:rPr sz="950">
                <a:solidFill>
                  <a:srgbClr val="E6EAF0"/>
                </a:solidFill>
                <a:latin typeface="Courier New"/>
              </a:rPr>
              <a:t>gio = pd.date_range("2024-03-01", "2024-04-01", freq="h",</a:t>
            </a:r>
          </a:p>
          <a:p>
            <a:r>
              <a:rPr sz="950">
                <a:solidFill>
                  <a:srgbClr val="6B7385"/>
                </a:solidFill>
                <a:latin typeface="Courier New"/>
              </a:rPr>
              <a:t>12 </a:t>
            </a:r>
            <a:r>
              <a:rPr sz="950">
                <a:solidFill>
                  <a:srgbClr val="E6EAF0"/>
                </a:solidFill>
                <a:latin typeface="Courier New"/>
              </a:rPr>
              <a:t>                    tz="America/New_York", inclusive="left")</a:t>
            </a:r>
          </a:p>
          <a:p>
            <a:r>
              <a:rPr sz="950">
                <a:solidFill>
                  <a:srgbClr val="6B7385"/>
                </a:solidFill>
                <a:latin typeface="Courier New"/>
              </a:rPr>
              <a:t>13 </a:t>
            </a:r>
            <a:r>
              <a:rPr sz="950">
                <a:solidFill>
                  <a:srgbClr val="E6EAF0"/>
                </a:solidFill>
                <a:latin typeface="Courier New"/>
              </a:rPr>
              <a:t>len(gio)</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3</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Ba sự kiện lúc 00:10, 00:50, 02:20.</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Cộng theo giờ; giờ 01:00 không có gì ra 0.</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theo giờ; giờ trống ra NaN.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Làm tròn xuống đầu giờ rồi cộng, thiếu giờ 01.</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Đếm số giờ thật của tháng 3.</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Cộng ra [3, 0, 5], trung bình ra [1,5; NaN; 5], floor chỉ ra [3, 5]. Tháng 3 có 743 giờ, không phải 744.</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resample("h")</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Chia trục thời gian thành từng giờ, mỗi giờ gộp thành một số.</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index.floor("h")</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Làm tròn mỗi mốc xuống đầu giờ: 9:40 thành 9:00.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 tz=...)</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Sinh lưới giờ theo múi giờ, tự bỏ giờ bị nhảy qua.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3be3743220d9.png"/>
          <p:cNvPicPr>
            <a:picLocks noChangeAspect="1"/>
          </p:cNvPicPr>
          <p:nvPr/>
        </p:nvPicPr>
        <p:blipFill>
          <a:blip r:embed="rId2"/>
          <a:stretch>
            <a:fillRect/>
          </a:stretch>
        </p:blipFill>
        <p:spPr>
          <a:xfrm>
            <a:off x="8851392" y="4195571"/>
            <a:ext cx="1801368" cy="277368"/>
          </a:xfrm>
          <a:prstGeom prst="rect">
            <a:avLst/>
          </a:prstGeom>
        </p:spPr>
      </p:pic>
      <p:pic>
        <p:nvPicPr>
          <p:cNvPr id="31" name="Picture 30" descr="kn-closed-label.png"/>
          <p:cNvPicPr>
            <a:picLocks noChangeAspect="1"/>
          </p:cNvPicPr>
          <p:nvPr/>
        </p:nvPicPr>
        <p:blipFill>
          <a:blip r:embed="rId3"/>
          <a:stretch>
            <a:fillRect/>
          </a:stretch>
        </p:blipFill>
        <p:spPr>
          <a:xfrm>
            <a:off x="8106897" y="4745735"/>
            <a:ext cx="3290357" cy="1728216"/>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ghép hai nguồn trên cùng UTC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cả hai bảng về UTC rồi mới ghép; ghép gần nhất thì chỉ nhìn về quá khứ.</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NY = "America/New_York"</a:t>
            </a:r>
          </a:p>
          <a:p>
            <a:r>
              <a:rPr sz="850">
                <a:solidFill>
                  <a:srgbClr val="6B7385"/>
                </a:solidFill>
                <a:latin typeface="Courier New"/>
              </a:rPr>
              <a:t> 4 </a:t>
            </a:r>
            <a:r>
              <a:rPr sz="850">
                <a:solidFill>
                  <a:srgbClr val="8FC99A"/>
                </a:solidFill>
                <a:latin typeface="Courier New"/>
              </a:rPr>
              <a:t># t3: chuyến taxi (giờ NY naive); tt: thời tiết (giờ UTC naive)</a:t>
            </a:r>
          </a:p>
          <a:p>
            <a:r>
              <a:rPr sz="850">
                <a:solidFill>
                  <a:srgbClr val="6B7385"/>
                </a:solidFill>
                <a:latin typeface="Courier New"/>
              </a:rPr>
              <a:t> 5 </a:t>
            </a:r>
            <a:r>
              <a:rPr sz="850">
                <a:solidFill>
                  <a:srgbClr val="E6EAF0"/>
                </a:solidFill>
                <a:latin typeface="Courier New"/>
              </a:rPr>
              <a:t>tt["ds"] = pd.to_datetime(tt["time"]).dt.tz_localize("UTC")</a:t>
            </a:r>
          </a:p>
          <a:p>
            <a:r>
              <a:rPr sz="850">
                <a:solidFill>
                  <a:srgbClr val="6B7385"/>
                </a:solidFill>
                <a:latin typeface="Courier New"/>
              </a:rPr>
              <a:t> 6 </a:t>
            </a:r>
            <a:r>
              <a:rPr sz="850">
                <a:solidFill>
                  <a:srgbClr val="E6EAF0"/>
                </a:solidFill>
                <a:latin typeface="Courier New"/>
              </a:rPr>
              <a:t>utc = t3["tpep_pickup_datetime"].dt.tz_localize(</a:t>
            </a:r>
          </a:p>
          <a:p>
            <a:r>
              <a:rPr sz="850">
                <a:solidFill>
                  <a:srgbClr val="6B7385"/>
                </a:solidFill>
                <a:latin typeface="Courier New"/>
              </a:rPr>
              <a:t> 7 </a:t>
            </a:r>
            <a:r>
              <a:rPr sz="850">
                <a:solidFill>
                  <a:srgbClr val="E6EAF0"/>
                </a:solidFill>
                <a:latin typeface="Courier New"/>
              </a:rPr>
              <a:t>    NY, ambiguous="NaT", nonexistent="NaT").dt.tz_convert("UTC")</a:t>
            </a:r>
          </a:p>
          <a:p>
            <a:r>
              <a:rPr sz="850">
                <a:solidFill>
                  <a:srgbClr val="6B7385"/>
                </a:solidFill>
                <a:latin typeface="Courier New"/>
              </a:rPr>
              <a:t> 8 </a:t>
            </a:r>
            <a:r>
              <a:rPr sz="850">
                <a:solidFill>
                  <a:srgbClr val="E6EAF0"/>
                </a:solidFill>
                <a:latin typeface="Courier New"/>
              </a:rPr>
              <a:t>dem = utc.dt.floor("h").value_counts().rename("y").rename_axis("ds")</a:t>
            </a:r>
          </a:p>
          <a:p>
            <a:r>
              <a:rPr sz="850">
                <a:solidFill>
                  <a:srgbClr val="6B7385"/>
                </a:solidFill>
                <a:latin typeface="Courier New"/>
              </a:rPr>
              <a:t> 9 </a:t>
            </a:r>
            <a:r>
              <a:rPr sz="850">
                <a:solidFill>
                  <a:srgbClr val="E6EAF0"/>
                </a:solidFill>
                <a:latin typeface="Courier New"/>
              </a:rPr>
              <a:t>dung = dem.reset_index().merge(tt, on="ds")        </a:t>
            </a:r>
            <a:r>
              <a:rPr sz="850">
                <a:solidFill>
                  <a:srgbClr val="8FC99A"/>
                </a:solidFill>
                <a:latin typeface="Courier New"/>
              </a:rPr>
              <a:t># cùng UTC mới ghép</a:t>
            </a:r>
          </a:p>
          <a:p>
            <a:r>
              <a:rPr sz="850">
                <a:solidFill>
                  <a:srgbClr val="6B7385"/>
                </a:solidFill>
                <a:latin typeface="Courier New"/>
              </a:rPr>
              <a:t>10 </a:t>
            </a:r>
            <a:r>
              <a:rPr sz="850">
                <a:solidFill>
                  <a:srgbClr val="E6EAF0"/>
                </a:solidFill>
                <a:latin typeface="Courier New"/>
              </a:rPr>
              <a:t>gio_ny = dung["ds"].dt.tz_convert(NY).dt.hour</a:t>
            </a:r>
          </a:p>
          <a:p>
            <a:r>
              <a:rPr sz="850">
                <a:solidFill>
                  <a:srgbClr val="6B7385"/>
                </a:solidFill>
                <a:latin typeface="Courier New"/>
              </a:rPr>
              <a:t>11 </a:t>
            </a:r>
            <a:r>
              <a:rPr sz="850">
                <a:solidFill>
                  <a:srgbClr val="E6EAF0"/>
                </a:solidFill>
                <a:latin typeface="Courier New"/>
              </a:rPr>
              <a:t>nong = dung.groupby(gio_ny)["nhiet_do"].mean().idxmax()   </a:t>
            </a:r>
            <a:r>
              <a:rPr sz="850">
                <a:solidFill>
                  <a:srgbClr val="8FC99A"/>
                </a:solidFill>
                <a:latin typeface="Courier New"/>
              </a:rPr>
              <a:t># phép thử</a:t>
            </a:r>
          </a:p>
          <a:p>
            <a:r>
              <a:rPr sz="850">
                <a:solidFill>
                  <a:srgbClr val="6B7385"/>
                </a:solidFill>
                <a:latin typeface="Courier New"/>
              </a:rPr>
              <a:t>12 </a:t>
            </a:r>
            <a:r>
              <a:rPr sz="850">
                <a:solidFill>
                  <a:srgbClr val="8FC99A"/>
                </a:solidFill>
                <a:latin typeface="Courier New"/>
              </a:rPr>
              <a:t># bảng phải thưa: lấy giá gần nhất đã có, không nhìn tương lai</a:t>
            </a:r>
          </a:p>
          <a:p>
            <a:r>
              <a:rPr sz="850">
                <a:solidFill>
                  <a:srgbClr val="6B7385"/>
                </a:solidFill>
                <a:latin typeface="Courier New"/>
              </a:rPr>
              <a:t>13 </a:t>
            </a:r>
            <a:r>
              <a:rPr sz="850">
                <a:solidFill>
                  <a:srgbClr val="E6EAF0"/>
                </a:solidFill>
                <a:latin typeface="Courier New"/>
              </a:rPr>
              <a:t>trai = pd.DataFrame({"t": pd.to_datetime(["2024-01-01 10:00"])})</a:t>
            </a:r>
          </a:p>
          <a:p>
            <a:r>
              <a:rPr sz="850">
                <a:solidFill>
                  <a:srgbClr val="6B7385"/>
                </a:solidFill>
                <a:latin typeface="Courier New"/>
              </a:rPr>
              <a:t>14 </a:t>
            </a:r>
            <a:r>
              <a:rPr sz="850">
                <a:solidFill>
                  <a:srgbClr val="E6EAF0"/>
                </a:solidFill>
                <a:latin typeface="Courier New"/>
              </a:rPr>
              <a:t>phai = pd.DataFrame({"t": pd.to_datetime(["2024-01-01 09:30",</a:t>
            </a:r>
          </a:p>
          <a:p>
            <a:r>
              <a:rPr sz="850">
                <a:solidFill>
                  <a:srgbClr val="6B7385"/>
                </a:solidFill>
                <a:latin typeface="Courier New"/>
              </a:rPr>
              <a:t>15 </a:t>
            </a:r>
            <a:r>
              <a:rPr sz="850">
                <a:solidFill>
                  <a:srgbClr val="E6EAF0"/>
                </a:solidFill>
                <a:latin typeface="Courier New"/>
              </a:rPr>
              <a:t>                     "2024-01-01 10:30"]), "gia": [9, 10]})</a:t>
            </a:r>
          </a:p>
          <a:p>
            <a:r>
              <a:rPr sz="850">
                <a:solidFill>
                  <a:srgbClr val="6B7385"/>
                </a:solidFill>
                <a:latin typeface="Courier New"/>
              </a:rPr>
              <a:t>16 </a:t>
            </a:r>
            <a:r>
              <a:rPr sz="850">
                <a:solidFill>
                  <a:srgbClr val="E6EAF0"/>
                </a:solidFill>
                <a:latin typeface="Courier New"/>
              </a:rPr>
              <a:t>pd.merge_asof(trai, phai, on="t")              </a:t>
            </a:r>
            <a:r>
              <a:rPr sz="850">
                <a:solidFill>
                  <a:srgbClr val="8FC99A"/>
                </a:solidFill>
                <a:latin typeface="Courier New"/>
              </a:rPr>
              <a:t># backward: nhìn quá khứ</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Thời tiết vốn là UTC: chỉ cần ghi rõ ra.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Taxi: gắn giờ New York, đổi UTC; mơ hồ ra NaT.</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Đếm chuyến mỗi giờ UTC, ghép với thời tiết.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Phép thử: giờ nóng nhất phải là buổi chiều.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as-of, mặc định lấy giá đã có trước.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nóng nhất: ghép sai 20h, ghép đúng 16h. Tương quan mưa–số chuyến: sai −0,100, đúng +0,136. merge_asof lấy giá 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dt.tz_localize(..., nonexistent="NaT")</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Gắn múi giờ cho cả cột; giờ không tồn tại hay lặp ghi NaT.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merge(tt, on="ds")</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Nối hai bảng theo cột thời gian chung ds.</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pd.merge_asof</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mỗi dòng với dòng gần nhất ở trước nó theo thời gian.</a:t>
            </a:r>
          </a:p>
        </p:txBody>
      </p:sp>
      <p:pic>
        <p:nvPicPr>
          <p:cNvPr id="29" name="Picture 28" descr="kn-ghep-as-of-merge-asof.png"/>
          <p:cNvPicPr>
            <a:picLocks noChangeAspect="1"/>
          </p:cNvPicPr>
          <p:nvPr/>
        </p:nvPicPr>
        <p:blipFill>
          <a:blip r:embed="rId2"/>
          <a:stretch>
            <a:fillRect/>
          </a:stretch>
        </p:blipFill>
        <p:spPr>
          <a:xfrm>
            <a:off x="7863840" y="4282932"/>
            <a:ext cx="3776472" cy="1995454"/>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dạng dài trên một lưới chung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bảng unique_id, ds, y cho mọi khu vực, đủ mọi giờ, giờ không có chuyến ghi 0.</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t3: chuyến tháng 3; utc: giờ đón đã đổi UTC như mục 4.4</a:t>
            </a:r>
          </a:p>
          <a:p>
            <a:r>
              <a:rPr sz="1050">
                <a:solidFill>
                  <a:srgbClr val="6B7385"/>
                </a:solidFill>
                <a:latin typeface="Courier New"/>
              </a:rPr>
              <a:t> 4 </a:t>
            </a:r>
            <a:r>
              <a:rPr sz="1050">
                <a:solidFill>
                  <a:srgbClr val="E6EAF0"/>
                </a:solidFill>
                <a:latin typeface="Courier New"/>
              </a:rPr>
              <a:t>kv = t3.assign(ds=utc.dt.floor("h")).dropna(subset=["ds"])</a:t>
            </a:r>
          </a:p>
          <a:p>
            <a:r>
              <a:rPr sz="1050">
                <a:solidFill>
                  <a:srgbClr val="6B7385"/>
                </a:solidFill>
                <a:latin typeface="Courier New"/>
              </a:rPr>
              <a:t> 5 </a:t>
            </a:r>
            <a:r>
              <a:rPr sz="1050">
                <a:solidFill>
                  <a:srgbClr val="E6EAF0"/>
                </a:solidFill>
                <a:latin typeface="Courier New"/>
              </a:rPr>
              <a:t>dem = kv.groupby(["PULocationID", "ds"]).size()    </a:t>
            </a:r>
            <a:r>
              <a:rPr sz="1050">
                <a:solidFill>
                  <a:srgbClr val="8FC99A"/>
                </a:solidFill>
                <a:latin typeface="Courier New"/>
              </a:rPr>
              <a:t># chỉ giờ có chuyến</a:t>
            </a:r>
          </a:p>
          <a:p>
            <a:r>
              <a:rPr sz="1050">
                <a:solidFill>
                  <a:srgbClr val="6B7385"/>
                </a:solidFill>
                <a:latin typeface="Courier New"/>
              </a:rPr>
              <a:t> 6 </a:t>
            </a:r>
            <a:r>
              <a:rPr sz="1050">
                <a:solidFill>
                  <a:srgbClr val="E6EAF0"/>
                </a:solidFill>
                <a:latin typeface="Courier New"/>
              </a:rPr>
              <a:t>luoi = pd.date_range("2024-03-01 05:00", "2024-04-01 04:00", freq="h",</a:t>
            </a:r>
          </a:p>
          <a:p>
            <a:r>
              <a:rPr sz="1050">
                <a:solidFill>
                  <a:srgbClr val="6B7385"/>
                </a:solidFill>
                <a:latin typeface="Courier New"/>
              </a:rPr>
              <a:t> 7 </a:t>
            </a:r>
            <a:r>
              <a:rPr sz="1050">
                <a:solidFill>
                  <a:srgbClr val="E6EAF0"/>
                </a:solidFill>
                <a:latin typeface="Courier New"/>
              </a:rPr>
              <a:t>                     tz="UTC", inclusive="left")   </a:t>
            </a:r>
            <a:r>
              <a:rPr sz="1050">
                <a:solidFill>
                  <a:srgbClr val="8FC99A"/>
                </a:solidFill>
                <a:latin typeface="Courier New"/>
              </a:rPr>
              <a:t># [đầu, cuối)</a:t>
            </a:r>
          </a:p>
          <a:p>
            <a:r>
              <a:rPr sz="1050">
                <a:solidFill>
                  <a:srgbClr val="6B7385"/>
                </a:solidFill>
                <a:latin typeface="Courier New"/>
              </a:rPr>
              <a:t> 8 </a:t>
            </a:r>
            <a:r>
              <a:rPr sz="1050">
                <a:solidFill>
                  <a:srgbClr val="E6EAF0"/>
                </a:solidFill>
                <a:latin typeface="Courier New"/>
              </a:rPr>
              <a:t>day_du = pd.MultiIndex.from_product([dem.index.levels[0], luoi],</a:t>
            </a:r>
          </a:p>
          <a:p>
            <a:r>
              <a:rPr sz="1050">
                <a:solidFill>
                  <a:srgbClr val="6B7385"/>
                </a:solidFill>
                <a:latin typeface="Courier New"/>
              </a:rPr>
              <a:t> 9 </a:t>
            </a:r>
            <a:r>
              <a:rPr sz="1050">
                <a:solidFill>
                  <a:srgbClr val="E6EAF0"/>
                </a:solidFill>
                <a:latin typeface="Courier New"/>
              </a:rPr>
              <a:t>                                    names=["unique_id", "ds"])</a:t>
            </a:r>
          </a:p>
          <a:p>
            <a:r>
              <a:rPr sz="1050">
                <a:solidFill>
                  <a:srgbClr val="6B7385"/>
                </a:solidFill>
                <a:latin typeface="Courier New"/>
              </a:rPr>
              <a:t>10 </a:t>
            </a:r>
            <a:r>
              <a:rPr sz="1050">
                <a:solidFill>
                  <a:srgbClr val="E6EAF0"/>
                </a:solidFill>
                <a:latin typeface="Courier New"/>
              </a:rPr>
              <a:t>dai = dem.reindex(day_du, fill_value=0).rename("y").reset_index()</a:t>
            </a:r>
          </a:p>
          <a:p>
            <a:r>
              <a:rPr sz="1050">
                <a:solidFill>
                  <a:srgbClr val="6B7385"/>
                </a:solidFill>
                <a:latin typeface="Courier New"/>
              </a:rPr>
              <a:t>11 </a:t>
            </a:r>
            <a:r>
              <a:rPr sz="1050">
                <a:solidFill>
                  <a:srgbClr val="E6EAF0"/>
                </a:solidFill>
                <a:latin typeface="Courier New"/>
              </a:rPr>
              <a:t>ty_le_0 = (dai["y"] == 0).mean()                   </a:t>
            </a:r>
            <a:r>
              <a:rPr sz="1050">
                <a:solidFill>
                  <a:srgbClr val="8FC99A"/>
                </a:solidFill>
                <a:latin typeface="Courier New"/>
              </a:rPr>
              <a:t># tỷ lệ ô bằng 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5</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Làm tròn giờ đón UTC xuống đầu giờ.</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chuyến theo khu vực và giờ.</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Lưới giờ UTC của cả tháng 3 New York.</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Mọi khu vực nhân mọi giờ; giờ vắng ghi 0.</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Xem bao nhiêu ô bằng 0.</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192.437 dòng = 259 khu vực × 743 giờ, không mất chuyến nào; 53,7% số ô bằng 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pd.MultiIndex.from_product</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mọi cặp (khu vực, giờ) từ hai danh sách.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 fill_value=0)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Trải số đếm lên lưới đủ; cặp chưa có thì điền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reset_index()</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Biến chỉ mục thành cột thường: ra bảng ba cột dạng dài.</a:t>
            </a:r>
          </a:p>
        </p:txBody>
      </p:sp>
      <p:pic>
        <p:nvPicPr>
          <p:cNvPr id="29" name="Picture 28" descr="kn-backtest.png"/>
          <p:cNvPicPr>
            <a:picLocks noChangeAspect="1"/>
          </p:cNvPicPr>
          <p:nvPr/>
        </p:nvPicPr>
        <p:blipFill>
          <a:blip r:embed="rId2"/>
          <a:stretch>
            <a:fillRect/>
          </a:stretch>
        </p:blipFill>
        <p:spPr>
          <a:xfrm>
            <a:off x="7863840" y="4410282"/>
            <a:ext cx="3776472" cy="1740755"/>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tách xu hướng và mùa vụ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tay hai tuần để thấy mùa vụ là phần lặp lại, rồi gộp dữ liệu thật theo ngày, tháng.</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hai tuần, trăm lượt mỗi ngày, từ T2 tới CN</a:t>
            </a:r>
          </a:p>
          <a:p>
            <a:r>
              <a:rPr sz="950">
                <a:solidFill>
                  <a:srgbClr val="6B7385"/>
                </a:solidFill>
                <a:latin typeface="Courier New"/>
              </a:rPr>
              <a:t> 5 </a:t>
            </a:r>
            <a:r>
              <a:rPr sz="950">
                <a:solidFill>
                  <a:srgbClr val="E6EAF0"/>
                </a:solidFill>
                <a:latin typeface="Courier New"/>
              </a:rPr>
              <a:t>tuan = np.array([[10, 12, 12, 12, 14, 6, 4],</a:t>
            </a:r>
          </a:p>
          <a:p>
            <a:r>
              <a:rPr sz="950">
                <a:solidFill>
                  <a:srgbClr val="6B7385"/>
                </a:solidFill>
                <a:latin typeface="Courier New"/>
              </a:rPr>
              <a:t> 6 </a:t>
            </a:r>
            <a:r>
              <a:rPr sz="950">
                <a:solidFill>
                  <a:srgbClr val="E6EAF0"/>
                </a:solidFill>
                <a:latin typeface="Courier New"/>
              </a:rPr>
              <a:t>                 [12, 14, 14, 14, 16, 8, 6]])</a:t>
            </a:r>
          </a:p>
          <a:p>
            <a:r>
              <a:rPr sz="950">
                <a:solidFill>
                  <a:srgbClr val="6B7385"/>
                </a:solidFill>
                <a:latin typeface="Courier New"/>
              </a:rPr>
              <a:t> 7 </a:t>
            </a:r>
            <a:r>
              <a:rPr sz="950">
                <a:solidFill>
                  <a:srgbClr val="E6EAF0"/>
                </a:solidFill>
                <a:latin typeface="Courier New"/>
              </a:rPr>
              <a:t>tb = tuan.mean(axis=1, keepdims=True)    </a:t>
            </a:r>
            <a:r>
              <a:rPr sz="950">
                <a:solidFill>
                  <a:srgbClr val="8FC99A"/>
                </a:solidFill>
                <a:latin typeface="Courier New"/>
              </a:rPr>
              <a:t># trung bình mỗi tuần</a:t>
            </a:r>
          </a:p>
          <a:p>
            <a:r>
              <a:rPr sz="950">
                <a:solidFill>
                  <a:srgbClr val="6B7385"/>
                </a:solidFill>
                <a:latin typeface="Courier New"/>
              </a:rPr>
              <a:t> 8 </a:t>
            </a:r>
            <a:r>
              <a:rPr sz="950">
                <a:solidFill>
                  <a:srgbClr val="E6EAF0"/>
                </a:solidFill>
                <a:latin typeface="Courier New"/>
              </a:rPr>
              <a:t>lech = tuan - tb                         </a:t>
            </a:r>
            <a:r>
              <a:rPr sz="950">
                <a:solidFill>
                  <a:srgbClr val="8FC99A"/>
                </a:solidFill>
                <a:latin typeface="Courier New"/>
              </a:rPr>
              <a:t># phần lệch: mùa vụ tuần</a:t>
            </a:r>
          </a:p>
          <a:p>
            <a:r>
              <a:rPr sz="950">
                <a:solidFill>
                  <a:srgbClr val="6B7385"/>
                </a:solidFill>
                <a:latin typeface="Courier New"/>
              </a:rPr>
              <a:t> 9 </a:t>
            </a:r>
          </a:p>
          <a:p>
            <a:r>
              <a:rPr sz="950">
                <a:solidFill>
                  <a:srgbClr val="6B7385"/>
                </a:solidFill>
                <a:latin typeface="Courier New"/>
              </a:rPr>
              <a:t>10 </a:t>
            </a:r>
            <a:r>
              <a:rPr sz="950">
                <a:solidFill>
                  <a:srgbClr val="8FC99A"/>
                </a:solidFill>
                <a:latin typeface="Courier New"/>
              </a:rPr>
              <a:t># df: lượt thuê theo giờ, đặt trên lưới giờ đầy đủ</a:t>
            </a:r>
          </a:p>
          <a:p>
            <a:r>
              <a:rPr sz="950">
                <a:solidFill>
                  <a:srgbClr val="6B7385"/>
                </a:solidFill>
                <a:latin typeface="Courier New"/>
              </a:rPr>
              <a:t>11 </a:t>
            </a:r>
            <a:r>
              <a:rPr sz="950">
                <a:solidFill>
                  <a:srgbClr val="E6EAF0"/>
                </a:solidFill>
                <a:latin typeface="Courier New"/>
              </a:rPr>
              <a:t>ngay = df["cnt"].resample("D").sum(min_count=12)  </a:t>
            </a:r>
            <a:r>
              <a:rPr sz="950">
                <a:solidFill>
                  <a:srgbClr val="8FC99A"/>
                </a:solidFill>
                <a:latin typeface="Courier New"/>
              </a:rPr>
              <a:t># thiếu giờ ra NaN</a:t>
            </a:r>
          </a:p>
          <a:p>
            <a:r>
              <a:rPr sz="950">
                <a:solidFill>
                  <a:srgbClr val="6B7385"/>
                </a:solidFill>
                <a:latin typeface="Courier New"/>
              </a:rPr>
              <a:t>12 </a:t>
            </a:r>
            <a:r>
              <a:rPr sz="950">
                <a:solidFill>
                  <a:srgbClr val="E6EAF0"/>
                </a:solidFill>
                <a:latin typeface="Courier New"/>
              </a:rPr>
              <a:t>thang = df["cnt"].resample("MS").sum()</a:t>
            </a:r>
          </a:p>
          <a:p>
            <a:r>
              <a:rPr sz="950">
                <a:solidFill>
                  <a:srgbClr val="6B7385"/>
                </a:solidFill>
                <a:latin typeface="Courier New"/>
              </a:rPr>
              <a:t>13 </a:t>
            </a:r>
            <a:r>
              <a:rPr sz="950">
                <a:solidFill>
                  <a:srgbClr val="E6EAF0"/>
                </a:solidFill>
                <a:latin typeface="Courier New"/>
              </a:rPr>
              <a:t>print(ngay.nsmallest(3))                 </a:t>
            </a:r>
            <a:r>
              <a:rPr sz="950">
                <a:solidFill>
                  <a:srgbClr val="8FC99A"/>
                </a:solidFill>
                <a:latin typeface="Courier New"/>
              </a:rPr>
              <a:t># những ngày rơi sát 0</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Hai tuần số nhỏ, tuần sau cao hơn tuần trước.</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tuần đi từ 10 lên 12: xu hướng.</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Trừ trung bình, phần còn lại là mùa vụ tuần.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11–12</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Gộp giờ thành ngày và tháng để nhìn đủ tầng.</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Tìm ngày thấp bất thường mà hình tháng giấu.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tuần 10 và 12; phần lệch hai tuần giống hệt: 0, 2, 2, 2, 4, −4, −6. Đó là mùa vụ tuần.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mean(axis=1, keepdims=True)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từng dòng, giữ dạng cột để trừ được cả bảng.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resample("D").sum(min_count=12)</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giờ thành tổng ngày; ngày dưới 12 giờ số liệu để trống.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nsmallest(3)</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ba giá trị nhỏ nhất kèm ngày của chúng.</a:t>
            </a:r>
          </a:p>
        </p:txBody>
      </p:sp>
      <p:pic>
        <p:nvPicPr>
          <p:cNvPr id="29" name="Picture 28" descr="kn-chu-ky.png"/>
          <p:cNvPicPr>
            <a:picLocks noChangeAspect="1"/>
          </p:cNvPicPr>
          <p:nvPr/>
        </p:nvPicPr>
        <p:blipFill>
          <a:blip r:embed="rId2"/>
          <a:stretch>
            <a:fillRect/>
          </a:stretch>
        </p:blipFill>
        <p:spPr>
          <a:xfrm>
            <a:off x="7863840" y="4316827"/>
            <a:ext cx="3776472" cy="1927665"/>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làm trơn và tăng theo phần trăm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làm trơn xoá mất ngày bão, và thang log đo tăng theo phần trăm.</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df: lượt thuê theo giờ, đặt trên lưới giờ đầy đủ</a:t>
            </a:r>
          </a:p>
          <a:p>
            <a:r>
              <a:rPr sz="950">
                <a:solidFill>
                  <a:srgbClr val="6B7385"/>
                </a:solidFill>
                <a:latin typeface="Courier New"/>
              </a:rPr>
              <a:t> 4 </a:t>
            </a:r>
            <a:r>
              <a:rPr sz="950">
                <a:solidFill>
                  <a:srgbClr val="E6EAF0"/>
                </a:solidFill>
                <a:latin typeface="Courier New"/>
              </a:rPr>
              <a:t>ngay1 = df["cnt"].resample("D").sum(min_count=1)</a:t>
            </a:r>
          </a:p>
          <a:p>
            <a:r>
              <a:rPr sz="950">
                <a:solidFill>
                  <a:srgbClr val="6B7385"/>
                </a:solidFill>
                <a:latin typeface="Courier New"/>
              </a:rPr>
              <a:t> 5 </a:t>
            </a:r>
            <a:r>
              <a:rPr sz="950">
                <a:solidFill>
                  <a:srgbClr val="E6EAF0"/>
                </a:solidFill>
                <a:latin typeface="Courier New"/>
              </a:rPr>
              <a:t>tron = ngay1.rolling(7, center=True, min_periods=4).mean()</a:t>
            </a:r>
          </a:p>
          <a:p>
            <a:r>
              <a:rPr sz="950">
                <a:solidFill>
                  <a:srgbClr val="6B7385"/>
                </a:solidFill>
                <a:latin typeface="Courier New"/>
              </a:rPr>
              <a:t> 6 </a:t>
            </a:r>
            <a:r>
              <a:rPr sz="950">
                <a:solidFill>
                  <a:srgbClr val="E6EAF0"/>
                </a:solidFill>
                <a:latin typeface="Courier New"/>
              </a:rPr>
              <a:t>print(ngay1["2012-10-29"], tron["2012-10-29"])   </a:t>
            </a:r>
            <a:r>
              <a:rPr sz="950">
                <a:solidFill>
                  <a:srgbClr val="8FC99A"/>
                </a:solidFill>
                <a:latin typeface="Courier New"/>
              </a:rPr>
              <a:t># ngày bão Sandy</a:t>
            </a:r>
          </a:p>
          <a:p>
            <a:r>
              <a:rPr sz="950">
                <a:solidFill>
                  <a:srgbClr val="6B7385"/>
                </a:solidFill>
                <a:latin typeface="Courier New"/>
              </a:rPr>
              <a:t> 7 </a:t>
            </a:r>
          </a:p>
          <a:p>
            <a:r>
              <a:rPr sz="950">
                <a:solidFill>
                  <a:srgbClr val="6B7385"/>
                </a:solidFill>
                <a:latin typeface="Courier New"/>
              </a:rPr>
              <a:t> 8 </a:t>
            </a:r>
            <a:r>
              <a:rPr sz="950">
                <a:solidFill>
                  <a:srgbClr val="E6EAF0"/>
                </a:solidFill>
                <a:latin typeface="Courier New"/>
              </a:rPr>
              <a:t>th11 = df["cnt"].resample("MS").sum()["2011"]</a:t>
            </a:r>
          </a:p>
          <a:p>
            <a:r>
              <a:rPr sz="950">
                <a:solidFill>
                  <a:srgbClr val="6B7385"/>
                </a:solidFill>
                <a:latin typeface="Courier New"/>
              </a:rPr>
              <a:t> 9 </a:t>
            </a:r>
            <a:r>
              <a:rPr sz="950">
                <a:solidFill>
                  <a:srgbClr val="E6EAF0"/>
                </a:solidFill>
                <a:latin typeface="Courier New"/>
              </a:rPr>
              <a:t>bang = pd.DataFrame({</a:t>
            </a:r>
          </a:p>
          <a:p>
            <a:r>
              <a:rPr sz="950">
                <a:solidFill>
                  <a:srgbClr val="6B7385"/>
                </a:solidFill>
                <a:latin typeface="Courier New"/>
              </a:rPr>
              <a:t>10 </a:t>
            </a:r>
            <a:r>
              <a:rPr sz="950">
                <a:solidFill>
                  <a:srgbClr val="E6EAF0"/>
                </a:solidFill>
                <a:latin typeface="Courier New"/>
              </a:rPr>
              <a:t>    "tăng (lượt)": th11.diff(),           </a:t>
            </a:r>
            <a:r>
              <a:rPr sz="950">
                <a:solidFill>
                  <a:srgbClr val="8FC99A"/>
                </a:solidFill>
                <a:latin typeface="Courier New"/>
              </a:rPr>
              <a:t># thang thường hỏi cái này</a:t>
            </a:r>
          </a:p>
          <a:p>
            <a:r>
              <a:rPr sz="950">
                <a:solidFill>
                  <a:srgbClr val="6B7385"/>
                </a:solidFill>
                <a:latin typeface="Courier New"/>
              </a:rPr>
              <a:t>11 </a:t>
            </a:r>
            <a:r>
              <a:rPr sz="950">
                <a:solidFill>
                  <a:srgbClr val="E6EAF0"/>
                </a:solidFill>
                <a:latin typeface="Courier New"/>
              </a:rPr>
              <a:t>    "tăng (%)": th11.pct_change() * 100,  </a:t>
            </a:r>
            <a:r>
              <a:rPr sz="950">
                <a:solidFill>
                  <a:srgbClr val="8FC99A"/>
                </a:solidFill>
                <a:latin typeface="Courier New"/>
              </a:rPr>
              <a:t># thang log hỏi cái này</a:t>
            </a:r>
          </a:p>
          <a:p>
            <a:r>
              <a:rPr sz="950">
                <a:solidFill>
                  <a:srgbClr val="6B7385"/>
                </a:solidFill>
                <a:latin typeface="Courier New"/>
              </a:rPr>
              <a:t>12 </a:t>
            </a:r>
            <a:r>
              <a:rPr sz="950">
                <a:solidFill>
                  <a:srgbClr val="E6EAF0"/>
                </a:solidFill>
                <a:latin typeface="Courier New"/>
              </a:rPr>
              <a:t>})</a:t>
            </a:r>
          </a:p>
          <a:p>
            <a:r>
              <a:rPr sz="950">
                <a:solidFill>
                  <a:srgbClr val="6B7385"/>
                </a:solidFill>
                <a:latin typeface="Courier New"/>
              </a:rPr>
              <a:t>13 </a:t>
            </a:r>
            <a:r>
              <a:rPr sz="950">
                <a:solidFill>
                  <a:srgbClr val="E6EAF0"/>
                </a:solidFill>
                <a:latin typeface="Courier New"/>
              </a:rPr>
              <a:t>print(bang.loc["2011-04":"2011-05"].round(1))</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2</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Tổng lượt thuê mỗi ngày.</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trượt 7 ngày, lấy ngày giữa làm tâm.</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So ngày bão: số thật và số đã làm trơn.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Tổng tháng của năm 2011.</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Tăng bao nhiêu lượt và tăng bao nhiêu phần trăm.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Ngày bão chỉ còn 1 giờ số liệu mà đường trơn vẫn hơn 4.600 lượt. T4 so T3 +48,1%, T5 so T4 +43,2% dù T5 thêm nhiều lượt nhất (+40.951).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rolling(7, center=True).mean()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7 ngày quanh mỗi ngày: 3 ngày trước, 3 ngày sau.</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diff()</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Hiệu của mỗi giá trị với giá trị ngay trước nó.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pct_change()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Tăng bao nhiêu phần so với giá trị trước, ví dụ 0,48 là +48%.</a:t>
            </a:r>
          </a:p>
        </p:txBody>
      </p:sp>
      <p:sp>
        <p:nvSpPr>
          <p:cNvPr id="29" name="Rounded Rectangle 28"/>
          <p:cNvSpPr/>
          <p:nvPr/>
        </p:nvSpPr>
        <p:spPr>
          <a:xfrm>
            <a:off x="7863840" y="4059935"/>
            <a:ext cx="3776472" cy="7437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01b3df17482.png"/>
          <p:cNvPicPr>
            <a:picLocks noChangeAspect="1"/>
          </p:cNvPicPr>
          <p:nvPr/>
        </p:nvPicPr>
        <p:blipFill>
          <a:blip r:embed="rId2"/>
          <a:stretch>
            <a:fillRect/>
          </a:stretch>
        </p:blipFill>
        <p:spPr>
          <a:xfrm>
            <a:off x="8502395" y="4114799"/>
            <a:ext cx="2499360" cy="633984"/>
          </a:xfrm>
          <a:prstGeom prst="rect">
            <a:avLst/>
          </a:prstGeom>
        </p:spPr>
      </p:pic>
      <p:pic>
        <p:nvPicPr>
          <p:cNvPr id="31" name="Picture 30" descr="kn-lam-tron-trung-binh-truot.png"/>
          <p:cNvPicPr>
            <a:picLocks noChangeAspect="1"/>
          </p:cNvPicPr>
          <p:nvPr/>
        </p:nvPicPr>
        <p:blipFill>
          <a:blip r:embed="rId3"/>
          <a:stretch>
            <a:fillRect/>
          </a:stretch>
        </p:blipFill>
        <p:spPr>
          <a:xfrm>
            <a:off x="8263773" y="4940807"/>
            <a:ext cx="2976605" cy="1533144"/>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xếp dữ liệu theo giờ trong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Xoay bảng cho mỗi tuần một cột để thấy hình dạng mùa vụ, rồi so tổng từng thứ.</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df: lượt thuê theo giờ, có cột thu (0 là T2) và gio</a:t>
            </a:r>
          </a:p>
          <a:p>
            <a:r>
              <a:rPr sz="1050">
                <a:solidFill>
                  <a:srgbClr val="6B7385"/>
                </a:solidFill>
                <a:latin typeface="Courier New"/>
              </a:rPr>
              <a:t> 4 </a:t>
            </a:r>
            <a:r>
              <a:rPr sz="1050">
                <a:solidFill>
                  <a:srgbClr val="E6EAF0"/>
                </a:solidFill>
                <a:latin typeface="Courier New"/>
              </a:rPr>
              <a:t>bang = (df.assign(gio_tuan=df["thu"] * 24 + df["gio"],   </a:t>
            </a:r>
            <a:r>
              <a:rPr sz="1050">
                <a:solidFill>
                  <a:srgbClr val="8FC99A"/>
                </a:solidFill>
                <a:latin typeface="Courier New"/>
              </a:rPr>
              <a:t># 0 tới 167</a:t>
            </a:r>
          </a:p>
          <a:p>
            <a:r>
              <a:rPr sz="1050">
                <a:solidFill>
                  <a:srgbClr val="6B7385"/>
                </a:solidFill>
                <a:latin typeface="Courier New"/>
              </a:rPr>
              <a:t> 5 </a:t>
            </a:r>
            <a:r>
              <a:rPr sz="1050">
                <a:solidFill>
                  <a:srgbClr val="E6EAF0"/>
                </a:solidFill>
                <a:latin typeface="Courier New"/>
              </a:rPr>
              <a:t>                  tuan=df.index.to_period("W-SUN"))</a:t>
            </a:r>
          </a:p>
          <a:p>
            <a:r>
              <a:rPr sz="1050">
                <a:solidFill>
                  <a:srgbClr val="6B7385"/>
                </a:solidFill>
                <a:latin typeface="Courier New"/>
              </a:rPr>
              <a:t> 6 </a:t>
            </a:r>
            <a:r>
              <a:rPr sz="1050">
                <a:solidFill>
                  <a:srgbClr val="E6EAF0"/>
                </a:solidFill>
                <a:latin typeface="Courier New"/>
              </a:rPr>
              <a:t>          .pivot_table(index="gio_tuan", columns="tuan", values="cnt"))</a:t>
            </a:r>
          </a:p>
          <a:p>
            <a:r>
              <a:rPr sz="1050">
                <a:solidFill>
                  <a:srgbClr val="6B7385"/>
                </a:solidFill>
                <a:latin typeface="Courier New"/>
              </a:rPr>
              <a:t> 7 </a:t>
            </a:r>
            <a:r>
              <a:rPr sz="1050">
                <a:solidFill>
                  <a:srgbClr val="E6EAF0"/>
                </a:solidFill>
                <a:latin typeface="Courier New"/>
              </a:rPr>
              <a:t>khuon = bang.median(axis=1)          </a:t>
            </a:r>
            <a:r>
              <a:rPr sz="1050">
                <a:solidFill>
                  <a:srgbClr val="8FC99A"/>
                </a:solidFill>
                <a:latin typeface="Courier New"/>
              </a:rPr>
              <a:t># hình dạng tuần điển hình</a:t>
            </a:r>
          </a:p>
          <a:p>
            <a:r>
              <a:rPr sz="1050">
                <a:solidFill>
                  <a:srgbClr val="6B7385"/>
                </a:solidFill>
                <a:latin typeface="Courier New"/>
              </a:rPr>
              <a:t> 8 </a:t>
            </a:r>
          </a:p>
          <a:p>
            <a:r>
              <a:rPr sz="1050">
                <a:solidFill>
                  <a:srgbClr val="6B7385"/>
                </a:solidFill>
                <a:latin typeface="Courier New"/>
              </a:rPr>
              <a:t> 9 </a:t>
            </a:r>
            <a:r>
              <a:rPr sz="1050">
                <a:solidFill>
                  <a:srgbClr val="E6EAF0"/>
                </a:solidFill>
                <a:latin typeface="Courier New"/>
              </a:rPr>
              <a:t>du = df["cnt"].resample("D").agg(["sum", "count"])</a:t>
            </a:r>
          </a:p>
          <a:p>
            <a:r>
              <a:rPr sz="1050">
                <a:solidFill>
                  <a:srgbClr val="6B7385"/>
                </a:solidFill>
                <a:latin typeface="Courier New"/>
              </a:rPr>
              <a:t>10 </a:t>
            </a:r>
            <a:r>
              <a:rPr sz="1050">
                <a:solidFill>
                  <a:srgbClr val="E6EAF0"/>
                </a:solidFill>
                <a:latin typeface="Courier New"/>
              </a:rPr>
              <a:t>du = du[du["count"] == 24]           </a:t>
            </a:r>
            <a:r>
              <a:rPr sz="1050">
                <a:solidFill>
                  <a:srgbClr val="8FC99A"/>
                </a:solidFill>
                <a:latin typeface="Courier New"/>
              </a:rPr>
              <a:t># chỉ ngày đủ 24 giờ</a:t>
            </a:r>
          </a:p>
          <a:p>
            <a:r>
              <a:rPr sz="1050">
                <a:solidFill>
                  <a:srgbClr val="6B7385"/>
                </a:solidFill>
                <a:latin typeface="Courier New"/>
              </a:rPr>
              <a:t>11 </a:t>
            </a:r>
            <a:r>
              <a:rPr sz="1050">
                <a:solidFill>
                  <a:srgbClr val="E6EAF0"/>
                </a:solidFill>
                <a:latin typeface="Courier New"/>
              </a:rPr>
              <a:t>tb_thu = du.groupby(du.index.dayofweek)["sum"].mean()</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3</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Giờ trong tuần = thứ nhân 24 cộng giờ.</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Gắn nhãn tuần, tuần kết thúc Chủ nhật.</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Mỗi tuần một cột, mỗi dòng một giờ trong tuần.</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Trung vị các tuần: khuôn chung của tuần.</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Tổng ngày trung bình theo thứ, bỏ ngày thiếu.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106 tuần chồng nhau: T2–T6 hai đỉnh, T7–CN một bướu. Tổng ngày gần nhau: T7 4.653 lượt so với T6 4.933.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pivot_table(index, columns, values)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Xoay bảng dài thành bảng ngang: dòng theo một cột, cột theo cột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to_period("W-SUN")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mỗi mốc giờ thành tuần chứa nó, tuần tính tới Chủ nhật.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các dòng thành nhóm theo nhãn rồi lấy trung bình mỗi nhóm.</a:t>
            </a:r>
          </a:p>
        </p:txBody>
      </p:sp>
      <p:pic>
        <p:nvPicPr>
          <p:cNvPr id="29" name="Picture 28" descr="kn-mua-vu-kep.png"/>
          <p:cNvPicPr>
            <a:picLocks noChangeAspect="1"/>
          </p:cNvPicPr>
          <p:nvPr/>
        </p:nvPicPr>
        <p:blipFill>
          <a:blip r:embed="rId2"/>
          <a:stretch>
            <a:fillRect/>
          </a:stretch>
        </p:blipFill>
        <p:spPr>
          <a:xfrm>
            <a:off x="7863840" y="4392548"/>
            <a:ext cx="3776472" cy="1776222"/>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số cho heatmap và boxplot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trung bình từng ô lịch cho heatmap và quantile cho hộp của boxplot.</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x = np.array([420, 60, 450, 410, 440])   </a:t>
            </a:r>
            <a:r>
              <a:rPr sz="950">
                <a:solidFill>
                  <a:srgbClr val="8FC99A"/>
                </a:solidFill>
                <a:latin typeface="Courier New"/>
              </a:rPr>
              <a:t># năm thứ Hai lúc 8h</a:t>
            </a:r>
          </a:p>
          <a:p>
            <a:r>
              <a:rPr sz="950">
                <a:solidFill>
                  <a:srgbClr val="6B7385"/>
                </a:solidFill>
                <a:latin typeface="Courier New"/>
              </a:rPr>
              <a:t> 5 </a:t>
            </a:r>
            <a:r>
              <a:rPr sz="950">
                <a:solidFill>
                  <a:srgbClr val="E6EAF0"/>
                </a:solidFill>
                <a:latin typeface="Courier New"/>
              </a:rPr>
              <a:t>print(x.mean())                          </a:t>
            </a:r>
            <a:r>
              <a:rPr sz="950">
                <a:solidFill>
                  <a:srgbClr val="8FC99A"/>
                </a:solidFill>
                <a:latin typeface="Courier New"/>
              </a:rPr>
              <a:t># bị ngày lễ kéo xuống</a:t>
            </a:r>
          </a:p>
          <a:p>
            <a:r>
              <a:rPr sz="950">
                <a:solidFill>
                  <a:srgbClr val="6B7385"/>
                </a:solidFill>
                <a:latin typeface="Courier New"/>
              </a:rPr>
              <a:t> 6 </a:t>
            </a:r>
            <a:r>
              <a:rPr sz="950">
                <a:solidFill>
                  <a:srgbClr val="E6EAF0"/>
                </a:solidFill>
                <a:latin typeface="Courier New"/>
              </a:rPr>
              <a:t>print(np.quantile(x, [0.25, 0.5, 0.75], method="inverted_cdf"))</a:t>
            </a:r>
          </a:p>
          <a:p>
            <a:r>
              <a:rPr sz="950">
                <a:solidFill>
                  <a:srgbClr val="6B7385"/>
                </a:solidFill>
                <a:latin typeface="Courier New"/>
              </a:rPr>
              <a:t> 7 </a:t>
            </a:r>
          </a:p>
          <a:p>
            <a:r>
              <a:rPr sz="950">
                <a:solidFill>
                  <a:srgbClr val="6B7385"/>
                </a:solidFill>
                <a:latin typeface="Courier New"/>
              </a:rPr>
              <a:t> 8 </a:t>
            </a:r>
            <a:r>
              <a:rPr sz="950">
                <a:solidFill>
                  <a:srgbClr val="8FC99A"/>
                </a:solidFill>
                <a:latin typeface="Courier New"/>
              </a:rPr>
              <a:t># df: lượt thuê theo giờ, có cột thu, gio, workingday</a:t>
            </a:r>
          </a:p>
          <a:p>
            <a:r>
              <a:rPr sz="950">
                <a:solidFill>
                  <a:srgbClr val="6B7385"/>
                </a:solidFill>
                <a:latin typeface="Courier New"/>
              </a:rPr>
              <a:t> 9 </a:t>
            </a:r>
            <a:r>
              <a:rPr sz="950">
                <a:solidFill>
                  <a:srgbClr val="E6EAF0"/>
                </a:solidFill>
                <a:latin typeface="Courier New"/>
              </a:rPr>
              <a:t>ho_so = df.pivot_table(index="thu", columns="gio", values="cnt",</a:t>
            </a:r>
          </a:p>
          <a:p>
            <a:r>
              <a:rPr sz="950">
                <a:solidFill>
                  <a:srgbClr val="6B7385"/>
                </a:solidFill>
                <a:latin typeface="Courier New"/>
              </a:rPr>
              <a:t>10 </a:t>
            </a:r>
            <a:r>
              <a:rPr sz="950">
                <a:solidFill>
                  <a:srgbClr val="E6EAF0"/>
                </a:solidFill>
                <a:latin typeface="Courier New"/>
              </a:rPr>
              <a:t>                       aggfunc="mean")   </a:t>
            </a:r>
            <a:r>
              <a:rPr sz="950">
                <a:solidFill>
                  <a:srgbClr val="8FC99A"/>
                </a:solidFill>
                <a:latin typeface="Courier New"/>
              </a:rPr>
              <a:t># 7 thứ nhân 24 giờ</a:t>
            </a:r>
          </a:p>
          <a:p>
            <a:r>
              <a:rPr sz="950">
                <a:solidFill>
                  <a:srgbClr val="6B7385"/>
                </a:solidFill>
                <a:latin typeface="Courier New"/>
              </a:rPr>
              <a:t>11 </a:t>
            </a:r>
            <a:r>
              <a:rPr sz="950">
                <a:solidFill>
                  <a:srgbClr val="E6EAF0"/>
                </a:solidFill>
                <a:latin typeface="Courier New"/>
              </a:rPr>
              <a:t>for lam, g in [(1, 8), (1, 17), (0, 8), (0, 13)]:</a:t>
            </a:r>
          </a:p>
          <a:p>
            <a:r>
              <a:rPr sz="950">
                <a:solidFill>
                  <a:srgbClr val="6B7385"/>
                </a:solidFill>
                <a:latin typeface="Courier New"/>
              </a:rPr>
              <a:t>12 </a:t>
            </a:r>
            <a:r>
              <a:rPr sz="950">
                <a:solidFill>
                  <a:srgbClr val="E6EAF0"/>
                </a:solidFill>
                <a:latin typeface="Courier New"/>
              </a:rPr>
              <a:t>    chon = (df["workingday"] == lam) &amp; (df["gio"] == g)</a:t>
            </a:r>
          </a:p>
          <a:p>
            <a:r>
              <a:rPr sz="950">
                <a:solidFill>
                  <a:srgbClr val="6B7385"/>
                </a:solidFill>
                <a:latin typeface="Courier New"/>
              </a:rPr>
              <a:t>13 </a:t>
            </a:r>
            <a:r>
              <a:rPr sz="950">
                <a:solidFill>
                  <a:srgbClr val="E6EAF0"/>
                </a:solidFill>
                <a:latin typeface="Courier New"/>
              </a:rPr>
              <a:t>    q = df.loc[chon, "cnt"].quantile([0.25, 0.5, 0.75])  </a:t>
            </a:r>
            <a:r>
              <a:rPr sz="950">
                <a:solidFill>
                  <a:srgbClr val="8FC99A"/>
                </a:solidFill>
                <a:latin typeface="Courier New"/>
              </a:rPr>
              <a:t># mép hộp</a:t>
            </a:r>
          </a:p>
          <a:p>
            <a:r>
              <a:rPr sz="950">
                <a:solidFill>
                  <a:srgbClr val="6B7385"/>
                </a:solidFill>
                <a:latin typeface="Courier New"/>
              </a:rPr>
              <a:t>14 </a:t>
            </a:r>
            <a:r>
              <a:rPr sz="950">
                <a:solidFill>
                  <a:srgbClr val="E6EAF0"/>
                </a:solidFill>
                <a:latin typeface="Courier New"/>
              </a:rPr>
              <a:t>    print(lam, g, q.round(0).tolist())</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bị một ngày lạ kéo lệch.</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Quantile 0,25, 0,5, 0,75 thì không bị.</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Bảng 7 thứ, 24 giờ: đúng số tô lên heatmap.</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Hộp từng giờ, tách ngày làm việc và ngày nghỉ.</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356, trung vị 420, hộp 410–440. 8h: T2 412, CN 84. Hộp 8h ngày nghỉ 57–141, ngày làm việc 365–646.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q)</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Số mà q phần dữ liệu nằm dưới nó; q = 0,5 là trung vị.</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pivot_table(aggfunc="mean")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Bảng hai chiều, mỗi ô là trung bình các dòng rơi vào ô đó.</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quantile([0.25, 0.5, 0.75])</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Ba số làm nên cái hộp: mép dưới, vạch giữa, mép trên.</a:t>
            </a:r>
          </a:p>
        </p:txBody>
      </p:sp>
      <p:pic>
        <p:nvPicPr>
          <p:cNvPr id="27" name="Picture 26" descr="kn-boxplot.png"/>
          <p:cNvPicPr>
            <a:picLocks noChangeAspect="1"/>
          </p:cNvPicPr>
          <p:nvPr/>
        </p:nvPicPr>
        <p:blipFill>
          <a:blip r:embed="rId2"/>
          <a:stretch>
            <a:fillRect/>
          </a:stretch>
        </p:blipFill>
        <p:spPr>
          <a:xfrm>
            <a:off x="7863840" y="4208475"/>
            <a:ext cx="3776472" cy="2144368"/>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tự tính ACF và r của lag plot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công thức tự tương quan vài dòng, kiểm bằng chuỗi nhỏ rồi chạy trên dữ liệu giờ.</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acf_nhanh(y, so_tre):</a:t>
            </a:r>
          </a:p>
          <a:p>
            <a:r>
              <a:rPr sz="950">
                <a:solidFill>
                  <a:srgbClr val="6B7385"/>
                </a:solidFill>
                <a:latin typeface="Courier New"/>
              </a:rPr>
              <a:t> 5 </a:t>
            </a:r>
            <a:r>
              <a:rPr sz="950">
                <a:solidFill>
                  <a:srgbClr val="E6EAF0"/>
                </a:solidFill>
                <a:latin typeface="Courier New"/>
              </a:rPr>
              <a:t>    y = np.asarray(y, dtype=float)</a:t>
            </a:r>
          </a:p>
          <a:p>
            <a:r>
              <a:rPr sz="950">
                <a:solidFill>
                  <a:srgbClr val="6B7385"/>
                </a:solidFill>
                <a:latin typeface="Courier New"/>
              </a:rPr>
              <a:t> 6 </a:t>
            </a:r>
            <a:r>
              <a:rPr sz="950">
                <a:solidFill>
                  <a:srgbClr val="E6EAF0"/>
                </a:solidFill>
                <a:latin typeface="Courier New"/>
              </a:rPr>
              <a:t>    lech = y - np.nanmean(y)             </a:t>
            </a:r>
            <a:r>
              <a:rPr sz="950">
                <a:solidFill>
                  <a:srgbClr val="8FC99A"/>
                </a:solidFill>
                <a:latin typeface="Courier New"/>
              </a:rPr>
              <a:t># độ lệch khỏi trung bình</a:t>
            </a:r>
          </a:p>
          <a:p>
            <a:r>
              <a:rPr sz="950">
                <a:solidFill>
                  <a:srgbClr val="6B7385"/>
                </a:solidFill>
                <a:latin typeface="Courier New"/>
              </a:rPr>
              <a:t> 7 </a:t>
            </a:r>
            <a:r>
              <a:rPr sz="950">
                <a:solidFill>
                  <a:srgbClr val="E6EAF0"/>
                </a:solidFill>
                <a:latin typeface="Courier New"/>
              </a:rPr>
              <a:t>    mau = np.nansum(lech**2)             </a:t>
            </a:r>
            <a:r>
              <a:rPr sz="950">
                <a:solidFill>
                  <a:srgbClr val="8FC99A"/>
                </a:solidFill>
                <a:latin typeface="Courier New"/>
              </a:rPr>
              <a:t># mẫu số: cả chuỗi</a:t>
            </a:r>
          </a:p>
          <a:p>
            <a:r>
              <a:rPr sz="950">
                <a:solidFill>
                  <a:srgbClr val="6B7385"/>
                </a:solidFill>
                <a:latin typeface="Courier New"/>
              </a:rPr>
              <a:t> 8 </a:t>
            </a:r>
            <a:r>
              <a:rPr sz="950">
                <a:solidFill>
                  <a:srgbClr val="E6EAF0"/>
                </a:solidFill>
                <a:latin typeface="Courier New"/>
              </a:rPr>
              <a:t>    return np.array([1.0] + [np.nansum(lech[k:] * lech[:-k]) / mau</a:t>
            </a:r>
          </a:p>
          <a:p>
            <a:r>
              <a:rPr sz="950">
                <a:solidFill>
                  <a:srgbClr val="6B7385"/>
                </a:solidFill>
                <a:latin typeface="Courier New"/>
              </a:rPr>
              <a:t> 9 </a:t>
            </a:r>
            <a:r>
              <a:rPr sz="950">
                <a:solidFill>
                  <a:srgbClr val="E6EAF0"/>
                </a:solidFill>
                <a:latin typeface="Courier New"/>
              </a:rPr>
              <a:t>                             for k in range(1, so_tre + 1)])</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print(acf_nhanh([2, 4, 6, 4, 2, 4, 6, 4], 4).round(2))</a:t>
            </a:r>
          </a:p>
          <a:p>
            <a:r>
              <a:rPr sz="950">
                <a:solidFill>
                  <a:srgbClr val="6B7385"/>
                </a:solidFill>
                <a:latin typeface="Courier New"/>
              </a:rPr>
              <a:t>12 </a:t>
            </a:r>
            <a:r>
              <a:rPr sz="950">
                <a:solidFill>
                  <a:srgbClr val="E6EAF0"/>
                </a:solidFill>
                <a:latin typeface="Courier New"/>
              </a:rPr>
              <a:t>r = acf_nhanh(df["cnt"], 336)            </a:t>
            </a:r>
            <a:r>
              <a:rPr sz="950">
                <a:solidFill>
                  <a:srgbClr val="8FC99A"/>
                </a:solidFill>
                <a:latin typeface="Courier New"/>
              </a:rPr>
              <a:t># df: lượt thuê theo giờ</a:t>
            </a:r>
          </a:p>
          <a:p>
            <a:r>
              <a:rPr sz="950">
                <a:solidFill>
                  <a:srgbClr val="6B7385"/>
                </a:solidFill>
                <a:latin typeface="Courier New"/>
              </a:rPr>
              <a:t>13 </a:t>
            </a:r>
            <a:r>
              <a:rPr sz="950">
                <a:solidFill>
                  <a:srgbClr val="E6EAF0"/>
                </a:solidFill>
                <a:latin typeface="Courier New"/>
              </a:rPr>
              <a:t>for k in (1, 12, 24, 168):               </a:t>
            </a:r>
            <a:r>
              <a:rPr sz="950">
                <a:solidFill>
                  <a:srgbClr val="8FC99A"/>
                </a:solidFill>
                <a:latin typeface="Courier New"/>
              </a:rPr>
              <a:t># r của từng lag plot</a:t>
            </a:r>
          </a:p>
          <a:p>
            <a:r>
              <a:rPr sz="950">
                <a:solidFill>
                  <a:srgbClr val="6B7385"/>
                </a:solidFill>
                <a:latin typeface="Courier New"/>
              </a:rPr>
              <a:t>14 </a:t>
            </a:r>
            <a:r>
              <a:rPr sz="950">
                <a:solidFill>
                  <a:srgbClr val="E6EAF0"/>
                </a:solidFill>
                <a:latin typeface="Courier New"/>
              </a:rPr>
              <a:t>    cap = pd.DataFrame({"truoc": df["cnt"].shift(k), "sau": df["cnt"]})</a:t>
            </a:r>
          </a:p>
          <a:p>
            <a:r>
              <a:rPr sz="950">
                <a:solidFill>
                  <a:srgbClr val="6B7385"/>
                </a:solidFill>
                <a:latin typeface="Courier New"/>
              </a:rPr>
              <a:t>15 </a:t>
            </a:r>
            <a:r>
              <a:rPr sz="950">
                <a:solidFill>
                  <a:srgbClr val="E6EAF0"/>
                </a:solidFill>
                <a:latin typeface="Courier New"/>
              </a:rPr>
              <a:t>    print(k, cap.dropna().corr().iloc[0,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Độ lệch từng điểm và tổng bình phương độ lệch.</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Cộng tích lệch bây giờ với lệch k bước trước.</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trên chuỗi 2, 4, 6, 4 lặp lại.</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ACF 336 giờ, tức hai tuần, trên dữ liệu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Ghép giờ t với giờ t − k rồi đo tương quan.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Chuỗi nhỏ: r2 = −0,75, r4 = 0,5. Dữ liệu thật: r168 = 0,864 cao hơn r144 = 0,786; lag plot trễ 168 cho r = 0,876.</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acf_nhanh(y, so_tre)</a:t>
            </a:r>
            <a:r>
              <a:rPr sz="950" b="1" i="0">
                <a:solidFill>
                  <a:srgbClr val="5B6778"/>
                </a:solidFill>
                <a:latin typeface="Arial"/>
              </a:rPr>
              <a:t>   tự viết</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r_k cho k = 1, 2, … theo đúng công thức tự tương quan.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np.nansum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phần tử, bỏ qua ô trống thay vì ra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shift(k)</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Dời chuỗi xuống k bước: giờ t nhận giá trị của giờ t − k.</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50ce81e2cd7f.png"/>
          <p:cNvPicPr>
            <a:picLocks noChangeAspect="1"/>
          </p:cNvPicPr>
          <p:nvPr/>
        </p:nvPicPr>
        <p:blipFill>
          <a:blip r:embed="rId2"/>
          <a:stretch>
            <a:fillRect/>
          </a:stretch>
        </p:blipFill>
        <p:spPr>
          <a:xfrm>
            <a:off x="8776631" y="4114799"/>
            <a:ext cx="1950889" cy="786384"/>
          </a:xfrm>
          <a:prstGeom prst="rect">
            <a:avLst/>
          </a:prstGeom>
        </p:spPr>
      </p:pic>
      <p:pic>
        <p:nvPicPr>
          <p:cNvPr id="31" name="Picture 30" descr="kn-acf.png"/>
          <p:cNvPicPr>
            <a:picLocks noChangeAspect="1"/>
          </p:cNvPicPr>
          <p:nvPr/>
        </p:nvPicPr>
        <p:blipFill>
          <a:blip r:embed="rId3"/>
          <a:stretch>
            <a:fillRect/>
          </a:stretch>
        </p:blipFill>
        <p:spPr>
          <a:xfrm>
            <a:off x="8384718" y="5093207"/>
            <a:ext cx="2734714" cy="1380744"/>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r từng nhóm thay cho trục kép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quan hệ nhiệt độ và lượt thuê bằng số, và thấy trộn hai năm làm quan hệ trông yếu đi.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df: lượt thuê theo giờ; temp đã chia cho 41 độ C</a:t>
            </a:r>
          </a:p>
          <a:p>
            <a:r>
              <a:rPr sz="950">
                <a:solidFill>
                  <a:srgbClr val="6B7385"/>
                </a:solidFill>
                <a:latin typeface="Courier New"/>
              </a:rPr>
              <a:t> 4 </a:t>
            </a:r>
            <a:r>
              <a:rPr sz="950">
                <a:solidFill>
                  <a:srgbClr val="E6EAF0"/>
                </a:solidFill>
                <a:latin typeface="Courier New"/>
              </a:rPr>
              <a:t>th12 = df[df["nam"] == 2012].resample("MS").agg(</a:t>
            </a:r>
          </a:p>
          <a:p>
            <a:r>
              <a:rPr sz="950">
                <a:solidFill>
                  <a:srgbClr val="6B7385"/>
                </a:solidFill>
                <a:latin typeface="Courier New"/>
              </a:rPr>
              <a:t> 5 </a:t>
            </a:r>
            <a:r>
              <a:rPr sz="950">
                <a:solidFill>
                  <a:srgbClr val="E6EAF0"/>
                </a:solidFill>
                <a:latin typeface="Courier New"/>
              </a:rPr>
              <a:t>    {"cnt": "sum", "temp": "mean"})</a:t>
            </a:r>
          </a:p>
          <a:p>
            <a:r>
              <a:rPr sz="950">
                <a:solidFill>
                  <a:srgbClr val="6B7385"/>
                </a:solidFill>
                <a:latin typeface="Courier New"/>
              </a:rPr>
              <a:t> 6 </a:t>
            </a:r>
            <a:r>
              <a:rPr sz="950">
                <a:solidFill>
                  <a:srgbClr val="E6EAF0"/>
                </a:solidFill>
                <a:latin typeface="Courier New"/>
              </a:rPr>
              <a:t>r12 = th12["cnt"].corr(th12["temp"])     </a:t>
            </a:r>
            <a:r>
              <a:rPr sz="950">
                <a:solidFill>
                  <a:srgbClr val="8FC99A"/>
                </a:solidFill>
                <a:latin typeface="Courier New"/>
              </a:rPr>
              <a:t># quan hệ theo 12 tháng</a:t>
            </a:r>
          </a:p>
          <a:p>
            <a:r>
              <a:rPr sz="950">
                <a:solidFill>
                  <a:srgbClr val="6B7385"/>
                </a:solidFill>
                <a:latin typeface="Courier New"/>
              </a:rPr>
              <a:t> 7 </a:t>
            </a:r>
          </a:p>
          <a:p>
            <a:r>
              <a:rPr sz="950">
                <a:solidFill>
                  <a:srgbClr val="6B7385"/>
                </a:solidFill>
                <a:latin typeface="Courier New"/>
              </a:rPr>
              <a:t> 8 </a:t>
            </a:r>
            <a:r>
              <a:rPr sz="950">
                <a:solidFill>
                  <a:srgbClr val="E6EAF0"/>
                </a:solidFill>
                <a:latin typeface="Courier New"/>
              </a:rPr>
              <a:t>nd = df.resample("D").agg({"cnt": "sum", "temp": "mean",</a:t>
            </a:r>
          </a:p>
          <a:p>
            <a:r>
              <a:rPr sz="950">
                <a:solidFill>
                  <a:srgbClr val="6B7385"/>
                </a:solidFill>
                <a:latin typeface="Courier New"/>
              </a:rPr>
              <a:t> 9 </a:t>
            </a:r>
            <a:r>
              <a:rPr sz="950">
                <a:solidFill>
                  <a:srgbClr val="E6EAF0"/>
                </a:solidFill>
                <a:latin typeface="Courier New"/>
              </a:rPr>
              <a:t>                           "nam": "first"}).dropna()</a:t>
            </a:r>
          </a:p>
          <a:p>
            <a:r>
              <a:rPr sz="950">
                <a:solidFill>
                  <a:srgbClr val="6B7385"/>
                </a:solidFill>
                <a:latin typeface="Courier New"/>
              </a:rPr>
              <a:t>10 </a:t>
            </a:r>
            <a:r>
              <a:rPr sz="950">
                <a:solidFill>
                  <a:srgbClr val="E6EAF0"/>
                </a:solidFill>
                <a:latin typeface="Courier New"/>
              </a:rPr>
              <a:t>r_nam = {n: g["cnt"].corr(g["temp"]) for n, g in nd.groupby("nam")}</a:t>
            </a:r>
          </a:p>
          <a:p>
            <a:r>
              <a:rPr sz="950">
                <a:solidFill>
                  <a:srgbClr val="6B7385"/>
                </a:solidFill>
                <a:latin typeface="Courier New"/>
              </a:rPr>
              <a:t>11 </a:t>
            </a:r>
            <a:r>
              <a:rPr sz="950">
                <a:solidFill>
                  <a:srgbClr val="E6EAF0"/>
                </a:solidFill>
                <a:latin typeface="Courier New"/>
              </a:rPr>
              <a:t>r_gop = nd["cnt"].corr(nd["temp"])       </a:t>
            </a:r>
            <a:r>
              <a:rPr sz="950">
                <a:solidFill>
                  <a:srgbClr val="8FC99A"/>
                </a:solidFill>
                <a:latin typeface="Courier New"/>
              </a:rPr>
              <a:t># trộn hai năm vào một</a:t>
            </a:r>
          </a:p>
          <a:p>
            <a:r>
              <a:rPr sz="950">
                <a:solidFill>
                  <a:srgbClr val="6B7385"/>
                </a:solidFill>
                <a:latin typeface="Courier New"/>
              </a:rPr>
              <a:t>12 </a:t>
            </a:r>
          </a:p>
          <a:p>
            <a:r>
              <a:rPr sz="950">
                <a:solidFill>
                  <a:srgbClr val="6B7385"/>
                </a:solidFill>
                <a:latin typeface="Courier New"/>
              </a:rPr>
              <a:t>13 </a:t>
            </a:r>
            <a:r>
              <a:rPr sz="950">
                <a:solidFill>
                  <a:srgbClr val="8FC99A"/>
                </a:solidFill>
                <a:latin typeface="Courier New"/>
              </a:rPr>
              <a:t># thay trục kép: đánh chỉ số, tháng đầu bằng 100</a:t>
            </a:r>
          </a:p>
          <a:p>
            <a:r>
              <a:rPr sz="950">
                <a:solidFill>
                  <a:srgbClr val="6B7385"/>
                </a:solidFill>
                <a:latin typeface="Courier New"/>
              </a:rPr>
              <a:t>14 </a:t>
            </a:r>
            <a:r>
              <a:rPr sz="950">
                <a:solidFill>
                  <a:srgbClr val="E6EAF0"/>
                </a:solidFill>
                <a:latin typeface="Courier New"/>
              </a:rPr>
              <a:t>chi_so = th12 / th12.iloc[0] * 100</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6</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Tổng lượt và nhiệt độ trung bình mỗi tháng 2012.</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Hệ số r cho biết hai chuỗi đi cùng nhau tới đâu.</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Theo ngày: tính r riêng cho từng năm.</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Gộp hai năm rồi tính r để so.</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Chung một trục mà không cần trục kép.</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12 tháng 2012: r = 0,91. Theo ngày: 2011 r = 0,771, 2012 r = 0,714, nhưng gộp hai năm chỉ còn 0,627.</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agg({cột: cách gộp})</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Gộp mỗi cột một kiểu: cột này cộng, cột kia lấy trung bình.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corr</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tương quan r giữa hai cột, từ −1 tới 1.</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groupby("nam")</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bảng thành từng năm để tính riêng cho mỗi năm.</a:t>
            </a:r>
          </a:p>
        </p:txBody>
      </p:sp>
      <p:pic>
        <p:nvPicPr>
          <p:cNvPr id="29" name="Picture 28" descr="kn-truc-y-cat.png"/>
          <p:cNvPicPr>
            <a:picLocks noChangeAspect="1"/>
          </p:cNvPicPr>
          <p:nvPr/>
        </p:nvPicPr>
        <p:blipFill>
          <a:blip r:embed="rId2"/>
          <a:stretch>
            <a:fillRect/>
          </a:stretch>
        </p:blipFill>
        <p:spPr>
          <a:xfrm>
            <a:off x="7863840" y="4432553"/>
            <a:ext cx="3776472" cy="1696212"/>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chia số ngày của tháng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chia số ngày có thể đảo dấu kết luận khi so hai tháng liền nhau.</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doanh số bán lẻ Mỹ theo tháng (triệu USD), chưa điều chỉnh</a:t>
            </a:r>
          </a:p>
          <a:p>
            <a:r>
              <a:rPr sz="1050">
                <a:solidFill>
                  <a:srgbClr val="6B7385"/>
                </a:solidFill>
                <a:latin typeface="Courier New"/>
              </a:rPr>
              <a:t> 4 </a:t>
            </a:r>
            <a:r>
              <a:rPr sz="1050">
                <a:solidFill>
                  <a:srgbClr val="E6EAF0"/>
                </a:solidFill>
                <a:latin typeface="Courier New"/>
              </a:rPr>
              <a:t>ba = y["2023-01":"2023-03"]</a:t>
            </a:r>
          </a:p>
          <a:p>
            <a:r>
              <a:rPr sz="1050">
                <a:solidFill>
                  <a:srgbClr val="6B7385"/>
                </a:solidFill>
                <a:latin typeface="Courier New"/>
              </a:rPr>
              <a:t> 5 </a:t>
            </a:r>
            <a:r>
              <a:rPr sz="1050">
                <a:solidFill>
                  <a:srgbClr val="E6EAF0"/>
                </a:solidFill>
                <a:latin typeface="Courier New"/>
              </a:rPr>
              <a:t>so_ngay = ba.index.days_in_month               </a:t>
            </a:r>
            <a:r>
              <a:rPr sz="1050">
                <a:solidFill>
                  <a:srgbClr val="8FC99A"/>
                </a:solidFill>
                <a:latin typeface="Courier New"/>
              </a:rPr>
              <a:t># 31, 28, 31</a:t>
            </a:r>
          </a:p>
          <a:p>
            <a:r>
              <a:rPr sz="1050">
                <a:solidFill>
                  <a:srgbClr val="6B7385"/>
                </a:solidFill>
                <a:latin typeface="Courier New"/>
              </a:rPr>
              <a:t> 6 </a:t>
            </a:r>
            <a:r>
              <a:rPr sz="1050">
                <a:solidFill>
                  <a:srgbClr val="E6EAF0"/>
                </a:solidFill>
                <a:latin typeface="Courier New"/>
              </a:rPr>
              <a:t>khong_cn = [sum(d.dayofweek != 6 for d in</a:t>
            </a:r>
          </a:p>
          <a:p>
            <a:r>
              <a:rPr sz="1050">
                <a:solidFill>
                  <a:srgbClr val="6B7385"/>
                </a:solidFill>
                <a:latin typeface="Courier New"/>
              </a:rPr>
              <a:t> 7 </a:t>
            </a:r>
            <a:r>
              <a:rPr sz="1050">
                <a:solidFill>
                  <a:srgbClr val="E6EAF0"/>
                </a:solidFill>
                <a:latin typeface="Courier New"/>
              </a:rPr>
              <a:t>                pd.date_range(t, t + pd.offsets.MonthEnd(0)))</a:t>
            </a:r>
          </a:p>
          <a:p>
            <a:r>
              <a:rPr sz="1050">
                <a:solidFill>
                  <a:srgbClr val="6B7385"/>
                </a:solidFill>
                <a:latin typeface="Courier New"/>
              </a:rPr>
              <a:t> 8 </a:t>
            </a:r>
            <a:r>
              <a:rPr sz="1050">
                <a:solidFill>
                  <a:srgbClr val="E6EAF0"/>
                </a:solidFill>
                <a:latin typeface="Courier New"/>
              </a:rPr>
              <a:t>            for t in ba.index]                 </a:t>
            </a:r>
            <a:r>
              <a:rPr sz="1050">
                <a:solidFill>
                  <a:srgbClr val="8FC99A"/>
                </a:solidFill>
                <a:latin typeface="Courier New"/>
              </a:rPr>
              <a:t># ngày bán hàng</a:t>
            </a:r>
          </a:p>
          <a:p>
            <a:r>
              <a:rPr sz="1050">
                <a:solidFill>
                  <a:srgbClr val="6B7385"/>
                </a:solidFill>
                <a:latin typeface="Courier New"/>
              </a:rPr>
              <a:t> 9 </a:t>
            </a:r>
            <a:r>
              <a:rPr sz="1050">
                <a:solidFill>
                  <a:srgbClr val="E6EAF0"/>
                </a:solidFill>
                <a:latin typeface="Courier New"/>
              </a:rPr>
              <a:t>bang = pd.DataFrame({"tổng": ba, "mỗi ngày": ba / so_ngay,</a:t>
            </a:r>
          </a:p>
          <a:p>
            <a:r>
              <a:rPr sz="1050">
                <a:solidFill>
                  <a:srgbClr val="6B7385"/>
                </a:solidFill>
                <a:latin typeface="Courier New"/>
              </a:rPr>
              <a:t>10 </a:t>
            </a:r>
            <a:r>
              <a:rPr sz="1050">
                <a:solidFill>
                  <a:srgbClr val="E6EAF0"/>
                </a:solidFill>
                <a:latin typeface="Courier New"/>
              </a:rPr>
              <a:t>                     "mỗi ngày không CN": ba / khong_cn})</a:t>
            </a:r>
          </a:p>
          <a:p>
            <a:r>
              <a:rPr sz="1050">
                <a:solidFill>
                  <a:srgbClr val="6B7385"/>
                </a:solidFill>
                <a:latin typeface="Courier New"/>
              </a:rPr>
              <a:t>11 </a:t>
            </a:r>
            <a:r>
              <a:rPr sz="1050">
                <a:solidFill>
                  <a:srgbClr val="E6EAF0"/>
                </a:solidFill>
                <a:latin typeface="Courier New"/>
              </a:rPr>
              <a:t>thay_doi = bang.pct_change() * 100             </a:t>
            </a:r>
            <a:r>
              <a:rPr sz="1050">
                <a:solidFill>
                  <a:srgbClr val="8FC99A"/>
                </a:solidFill>
                <a:latin typeface="Courier New"/>
              </a:rPr>
              <a:t># % so với tháng trước</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1</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Ba tháng đầu năm 2023.</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Số ngày lịch của từng tháng.</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6–8</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số ngày không phải Chủ nhật.</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Doanh số mỗi ngày theo hai cách đếm ngày.</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So mỗi tháng với tháng trước theo phần trăm.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T2 so T1: tổng −3,4% nhưng mỗi ngày +7,0%. T3 so T2: +14,15% thẳng, +3,11% chia ngày, +1,47% bỏ CN, −1,05% ADJUSTED.</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index.days_in_month</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Số ngày của tháng chứa mỗi mốc: 28, 30 hay 31.</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pd.offsets.MonthEnd(0)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Nhảy tới ngày cuối của chính tháng đó.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dãy ngày liên tiếp từ ngày đầu tới ngày cuối.</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122f3acb35c.png"/>
          <p:cNvPicPr>
            <a:picLocks noChangeAspect="1"/>
          </p:cNvPicPr>
          <p:nvPr/>
        </p:nvPicPr>
        <p:blipFill>
          <a:blip r:embed="rId2"/>
          <a:stretch>
            <a:fillRect/>
          </a:stretch>
        </p:blipFill>
        <p:spPr>
          <a:xfrm>
            <a:off x="9124187" y="4213859"/>
            <a:ext cx="1255776" cy="240791"/>
          </a:xfrm>
          <a:prstGeom prst="rect">
            <a:avLst/>
          </a:prstGeom>
        </p:spPr>
      </p:pic>
      <p:pic>
        <p:nvPicPr>
          <p:cNvPr id="31" name="Picture 30" descr="dieu-chinh-lich.png"/>
          <p:cNvPicPr>
            <a:picLocks noChangeAspect="1"/>
          </p:cNvPicPr>
          <p:nvPr/>
        </p:nvPicPr>
        <p:blipFill>
          <a:blip r:embed="rId3"/>
          <a:stretch>
            <a:fillRect/>
          </a:stretch>
        </p:blipFill>
        <p:spPr>
          <a:xfrm>
            <a:off x="7863840" y="4964369"/>
            <a:ext cx="3776472" cy="1290949"/>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giá thực và trên đầu người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Bóc lạm phát và dân số khỏi doanh số để biết mỗi người thật sự mua thêm bao nhiêu.</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bán lẻ danh nghĩa, cpi: CPI tháng, dan_so: nghìn người</a:t>
            </a:r>
          </a:p>
          <a:p>
            <a:r>
              <a:rPr sz="1050">
                <a:solidFill>
                  <a:srgbClr val="6B7385"/>
                </a:solidFill>
                <a:latin typeface="Courier New"/>
              </a:rPr>
              <a:t> 4 </a:t>
            </a:r>
            <a:r>
              <a:rPr sz="1050">
                <a:solidFill>
                  <a:srgbClr val="E6EAF0"/>
                </a:solidFill>
                <a:latin typeface="Courier New"/>
              </a:rPr>
              <a:t>cpi_du = cpi.interpolate(limit=1, limit_area="inside")  </a:t>
            </a:r>
            <a:r>
              <a:rPr sz="1050">
                <a:solidFill>
                  <a:srgbClr val="8FC99A"/>
                </a:solidFill>
                <a:latin typeface="Courier New"/>
              </a:rPr>
              <a:t># lấp 10/2025</a:t>
            </a:r>
          </a:p>
          <a:p>
            <a:r>
              <a:rPr sz="1050">
                <a:solidFill>
                  <a:srgbClr val="6B7385"/>
                </a:solidFill>
                <a:latin typeface="Courier New"/>
              </a:rPr>
              <a:t> 5 </a:t>
            </a:r>
            <a:r>
              <a:rPr sz="1050">
                <a:solidFill>
                  <a:srgbClr val="E6EAF0"/>
                </a:solidFill>
                <a:latin typeface="Courier New"/>
              </a:rPr>
              <a:t>goc = cpi_du["2025"].mean()                    </a:t>
            </a:r>
            <a:r>
              <a:rPr sz="1050">
                <a:solidFill>
                  <a:srgbClr val="8FC99A"/>
                </a:solidFill>
                <a:latin typeface="Courier New"/>
              </a:rPr>
              <a:t># năm gốc 2025</a:t>
            </a:r>
          </a:p>
          <a:p>
            <a:r>
              <a:rPr sz="1050">
                <a:solidFill>
                  <a:srgbClr val="6B7385"/>
                </a:solidFill>
                <a:latin typeface="Courier New"/>
              </a:rPr>
              <a:t> 6 </a:t>
            </a:r>
            <a:r>
              <a:rPr sz="1050">
                <a:solidFill>
                  <a:srgbClr val="E6EAF0"/>
                </a:solidFill>
                <a:latin typeface="Courier New"/>
              </a:rPr>
              <a:t>thuc = y / cpi_du.reindex(y.index) * goc       </a:t>
            </a:r>
            <a:r>
              <a:rPr sz="1050">
                <a:solidFill>
                  <a:srgbClr val="8FC99A"/>
                </a:solidFill>
                <a:latin typeface="Courier New"/>
              </a:rPr>
              <a:t># đổi ra giá năm gốc</a:t>
            </a:r>
          </a:p>
          <a:p>
            <a:r>
              <a:rPr sz="1050">
                <a:solidFill>
                  <a:srgbClr val="6B7385"/>
                </a:solidFill>
                <a:latin typeface="Courier New"/>
              </a:rPr>
              <a:t> 7 </a:t>
            </a:r>
            <a:r>
              <a:rPr sz="1050">
                <a:solidFill>
                  <a:srgbClr val="E6EAF0"/>
                </a:solidFill>
                <a:latin typeface="Courier New"/>
              </a:rPr>
              <a:t>dau_nguoi = thuc / dan_so.reindex(y.index) * 1e6</a:t>
            </a:r>
          </a:p>
          <a:p>
            <a:r>
              <a:rPr sz="1050">
                <a:solidFill>
                  <a:srgbClr val="6B7385"/>
                </a:solidFill>
                <a:latin typeface="Courier New"/>
              </a:rPr>
              <a:t> 8 </a:t>
            </a:r>
            <a:r>
              <a:rPr sz="1050">
                <a:solidFill>
                  <a:srgbClr val="E6EAF0"/>
                </a:solidFill>
                <a:latin typeface="Courier New"/>
              </a:rPr>
              <a:t>nam = pd.DataFrame({"danh nghĩa": y, "giá thực": thuc,</a:t>
            </a:r>
          </a:p>
          <a:p>
            <a:r>
              <a:rPr sz="1050">
                <a:solidFill>
                  <a:srgbClr val="6B7385"/>
                </a:solidFill>
                <a:latin typeface="Courier New"/>
              </a:rPr>
              <a:t> 9 </a:t>
            </a:r>
            <a:r>
              <a:rPr sz="1050">
                <a:solidFill>
                  <a:srgbClr val="E6EAF0"/>
                </a:solidFill>
                <a:latin typeface="Courier New"/>
              </a:rPr>
              <a:t>                    "thực trên đầu người": dau_nguoi})</a:t>
            </a:r>
          </a:p>
          <a:p>
            <a:r>
              <a:rPr sz="1050">
                <a:solidFill>
                  <a:srgbClr val="6B7385"/>
                </a:solidFill>
                <a:latin typeface="Courier New"/>
              </a:rPr>
              <a:t>10 </a:t>
            </a:r>
            <a:r>
              <a:rPr sz="1050">
                <a:solidFill>
                  <a:srgbClr val="E6EAF0"/>
                </a:solidFill>
                <a:latin typeface="Courier New"/>
              </a:rPr>
              <a:t>nam = nam.resample("YS").sum()["1993":"2025"]</a:t>
            </a:r>
          </a:p>
          <a:p>
            <a:r>
              <a:rPr sz="1050">
                <a:solidFill>
                  <a:srgbClr val="6B7385"/>
                </a:solidFill>
                <a:latin typeface="Courier New"/>
              </a:rPr>
              <a:t>11 </a:t>
            </a:r>
            <a:r>
              <a:rPr sz="1050">
                <a:solidFill>
                  <a:srgbClr val="E6EAF0"/>
                </a:solidFill>
                <a:latin typeface="Courier New"/>
              </a:rPr>
              <a:t>chi_so = nam / nam.iloc[0] * 100               </a:t>
            </a:r>
            <a:r>
              <a:rPr sz="1050">
                <a:solidFill>
                  <a:srgbClr val="8FC99A"/>
                </a:solidFill>
                <a:latin typeface="Courier New"/>
              </a:rPr>
              <a:t># 1993 bằng 100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2</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Lấp đúng một tháng CPI không công bố.</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Chia CPI lúc đó, nhân CPI năm gốc.</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Chia dân số ra mức mỗi người.</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Cộng thành tổng năm cho cả ba chuỗi.</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Đánh chỉ số để ba chuỗi so được với nhau.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Chỉ số 2025: danh nghĩa 416, giá thực 187, thực trên đầu người 142. Giá chung tăng 2,23 lần, dân số 1,31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interpolate(limit=1)</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Điền ô trống bằng giá trị nằm giữa hai tháng bên cạnh, tối đa một ô.</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reindex(y.index)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lại chuỗi theo đúng các tháng của y để chia từng tháng.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resample("YS").sum()</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tháng thành tổng của từng năm.</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0ff1cc406f23.png"/>
          <p:cNvPicPr>
            <a:picLocks noChangeAspect="1"/>
          </p:cNvPicPr>
          <p:nvPr/>
        </p:nvPicPr>
        <p:blipFill>
          <a:blip r:embed="rId2"/>
          <a:stretch>
            <a:fillRect/>
          </a:stretch>
        </p:blipFill>
        <p:spPr>
          <a:xfrm>
            <a:off x="9111996" y="4195571"/>
            <a:ext cx="1280160" cy="277368"/>
          </a:xfrm>
          <a:prstGeom prst="rect">
            <a:avLst/>
          </a:prstGeom>
        </p:spPr>
      </p:pic>
      <p:pic>
        <p:nvPicPr>
          <p:cNvPr id="31" name="Picture 30" descr="danh-nghia-thuc.png"/>
          <p:cNvPicPr>
            <a:picLocks noChangeAspect="1"/>
          </p:cNvPicPr>
          <p:nvPr/>
        </p:nvPicPr>
        <p:blipFill>
          <a:blip r:embed="rId3"/>
          <a:stretch>
            <a:fillRect/>
          </a:stretch>
        </p:blipFill>
        <p:spPr>
          <a:xfrm>
            <a:off x="7863840" y="4830525"/>
            <a:ext cx="3776472" cy="1558637"/>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log và dao động theo mức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log biến cùng phần trăm thành cùng khoảng cách, rồi kiểm dao động lớn lên ra sao.</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print(np.log([100, 120, 1000, 1200]).round(3))  </a:t>
            </a:r>
            <a:r>
              <a:rPr sz="1050">
                <a:solidFill>
                  <a:srgbClr val="8FC99A"/>
                </a:solidFill>
                <a:latin typeface="Courier New"/>
              </a:rPr>
              <a:t># cùng tăng 20%</a:t>
            </a:r>
          </a:p>
          <a:p>
            <a:r>
              <a:rPr sz="1050">
                <a:solidFill>
                  <a:srgbClr val="6B7385"/>
                </a:solidFill>
                <a:latin typeface="Courier New"/>
              </a:rPr>
              <a:t> 4 </a:t>
            </a:r>
            <a:r>
              <a:rPr sz="1050">
                <a:solidFill>
                  <a:srgbClr val="E6EAF0"/>
                </a:solidFill>
                <a:latin typeface="Courier New"/>
              </a:rPr>
              <a:t>print(np.log(1.2))                     </a:t>
            </a:r>
            <a:r>
              <a:rPr sz="1050">
                <a:solidFill>
                  <a:srgbClr val="8FC99A"/>
                </a:solidFill>
                <a:latin typeface="Courier New"/>
              </a:rPr>
              <a:t># khoảng cách log của +20%</a:t>
            </a:r>
          </a:p>
          <a:p>
            <a:r>
              <a:rPr sz="1050">
                <a:solidFill>
                  <a:srgbClr val="6B7385"/>
                </a:solidFill>
                <a:latin typeface="Courier New"/>
              </a:rPr>
              <a:t> 5 </a:t>
            </a:r>
          </a:p>
          <a:p>
            <a:r>
              <a:rPr sz="1050">
                <a:solidFill>
                  <a:srgbClr val="6B7385"/>
                </a:solidFill>
                <a:latin typeface="Courier New"/>
              </a:rPr>
              <a:t> 6 </a:t>
            </a:r>
            <a:r>
              <a:rPr sz="1050">
                <a:solidFill>
                  <a:srgbClr val="8FC99A"/>
                </a:solidFill>
                <a:latin typeface="Courier New"/>
              </a:rPr>
              <a:t># y19: doanh số bán lẻ tháng, 1992 tới 2019</a:t>
            </a:r>
          </a:p>
          <a:p>
            <a:r>
              <a:rPr sz="1050">
                <a:solidFill>
                  <a:srgbClr val="6B7385"/>
                </a:solidFill>
                <a:latin typeface="Courier New"/>
              </a:rPr>
              <a:t> 7 </a:t>
            </a:r>
            <a:r>
              <a:rPr sz="1050">
                <a:solidFill>
                  <a:srgbClr val="E6EAF0"/>
                </a:solidFill>
                <a:latin typeface="Courier New"/>
              </a:rPr>
              <a:t>v = y19.to_numpy()[y19.size % 12:]</a:t>
            </a:r>
          </a:p>
          <a:p>
            <a:r>
              <a:rPr sz="1050">
                <a:solidFill>
                  <a:srgbClr val="6B7385"/>
                </a:solidFill>
                <a:latin typeface="Courier New"/>
              </a:rPr>
              <a:t> 8 </a:t>
            </a:r>
            <a:r>
              <a:rPr sz="1050">
                <a:solidFill>
                  <a:srgbClr val="E6EAF0"/>
                </a:solidFill>
                <a:latin typeface="Courier New"/>
              </a:rPr>
              <a:t>khoi = v.reshape(-1, 12) / 1000        </a:t>
            </a:r>
            <a:r>
              <a:rPr sz="1050">
                <a:solidFill>
                  <a:srgbClr val="8FC99A"/>
                </a:solidFill>
                <a:latin typeface="Courier New"/>
              </a:rPr>
              <a:t># 28 năm, 12 tháng, tỷ USD</a:t>
            </a:r>
          </a:p>
          <a:p>
            <a:r>
              <a:rPr sz="1050">
                <a:solidFill>
                  <a:srgbClr val="6B7385"/>
                </a:solidFill>
                <a:latin typeface="Courier New"/>
              </a:rPr>
              <a:t> 9 </a:t>
            </a:r>
            <a:r>
              <a:rPr sz="1050">
                <a:solidFill>
                  <a:srgbClr val="E6EAF0"/>
                </a:solidFill>
                <a:latin typeface="Courier New"/>
              </a:rPr>
              <a:t>tb = khoi.mean(axis=1)                 </a:t>
            </a:r>
            <a:r>
              <a:rPr sz="1050">
                <a:solidFill>
                  <a:srgbClr val="8FC99A"/>
                </a:solidFill>
                <a:latin typeface="Courier New"/>
              </a:rPr>
              <a:t># mức mỗi năm</a:t>
            </a:r>
          </a:p>
          <a:p>
            <a:r>
              <a:rPr sz="1050">
                <a:solidFill>
                  <a:srgbClr val="6B7385"/>
                </a:solidFill>
                <a:latin typeface="Courier New"/>
              </a:rPr>
              <a:t>10 </a:t>
            </a:r>
            <a:r>
              <a:rPr sz="1050">
                <a:solidFill>
                  <a:srgbClr val="E6EAF0"/>
                </a:solidFill>
                <a:latin typeface="Courier New"/>
              </a:rPr>
              <a:t>sd = khoi.std(axis=1, ddof=1)          </a:t>
            </a:r>
            <a:r>
              <a:rPr sz="1050">
                <a:solidFill>
                  <a:srgbClr val="8FC99A"/>
                </a:solidFill>
                <a:latin typeface="Courier New"/>
              </a:rPr>
              <a:t># dao động trong năm</a:t>
            </a:r>
          </a:p>
          <a:p>
            <a:r>
              <a:rPr sz="1050">
                <a:solidFill>
                  <a:srgbClr val="6B7385"/>
                </a:solidFill>
                <a:latin typeface="Courier New"/>
              </a:rPr>
              <a:t>11 </a:t>
            </a:r>
            <a:r>
              <a:rPr sz="1050">
                <a:solidFill>
                  <a:srgbClr val="E6EAF0"/>
                </a:solidFill>
                <a:latin typeface="Courier New"/>
              </a:rPr>
              <a:t>print(tb[-1] / tb[0], sd[-1] / sd[0])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3</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Cửa hàng nhỏ và siêu thị cùng tăng 20%.</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Trên thang log cả hai cách nhau đúng log 1,2.</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Cắt chuỗi thành từng năm, mỗi dòng một năm.</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Mức và độ lệch chuẩn của từng năm.</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So mức và dao động lớn lên bao nhiêu lần.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Hai cặp 100, 120 và 1.000, 1.200 cùng cách nhau 0,182 trên thang log. 1992 tới 2019: mức gấp 3,1 lần, dao động gấp 2,4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np.log</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Logarit tự nhiên: biến phép nhân thành phép cộng.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reshape(-1, 12)</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dãy dài thành bảng 12 cột, số dòng tự tính.</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std(axis=1, ddof=1)</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của từng dòng, tức dao động trong mỗi năm.</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91eb32ef034.png"/>
          <p:cNvPicPr>
            <a:picLocks noChangeAspect="1"/>
          </p:cNvPicPr>
          <p:nvPr/>
        </p:nvPicPr>
        <p:blipFill>
          <a:blip r:embed="rId2"/>
          <a:stretch>
            <a:fillRect/>
          </a:stretch>
        </p:blipFill>
        <p:spPr>
          <a:xfrm>
            <a:off x="8426196" y="4227575"/>
            <a:ext cx="2651760" cy="213360"/>
          </a:xfrm>
          <a:prstGeom prst="rect">
            <a:avLst/>
          </a:prstGeom>
        </p:spPr>
      </p:pic>
      <p:pic>
        <p:nvPicPr>
          <p:cNvPr id="31" name="Picture 30" descr="kn-log-exp.png"/>
          <p:cNvPicPr>
            <a:picLocks noChangeAspect="1"/>
          </p:cNvPicPr>
          <p:nvPr/>
        </p:nvPicPr>
        <p:blipFill>
          <a:blip r:embed="rId3"/>
          <a:stretch>
            <a:fillRect/>
          </a:stretch>
        </p:blipFill>
        <p:spPr>
          <a:xfrm>
            <a:off x="7863840" y="4792445"/>
            <a:ext cx="3776472" cy="1634796"/>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chọn λ Box-Cox bằng Guerrero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λ bằng số để dao động mỗi năm đều nhau, rồi so với cách chọn của scipy.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guerrero(y, m):</a:t>
            </a:r>
          </a:p>
          <a:p>
            <a:r>
              <a:rPr sz="850">
                <a:solidFill>
                  <a:srgbClr val="6B7385"/>
                </a:solidFill>
                <a:latin typeface="Courier New"/>
              </a:rPr>
              <a:t> 5 </a:t>
            </a:r>
            <a:r>
              <a:rPr sz="850">
                <a:solidFill>
                  <a:srgbClr val="E6EAF0"/>
                </a:solidFill>
                <a:latin typeface="Courier New"/>
              </a:rPr>
              <a:t>    luoi = np.linspace(-1, 2, 3001)            </a:t>
            </a:r>
            <a:r>
              <a:rPr sz="850">
                <a:solidFill>
                  <a:srgbClr val="8FC99A"/>
                </a:solidFill>
                <a:latin typeface="Courier New"/>
              </a:rPr>
              <a:t># thử λ từ −1 tới 2</a:t>
            </a:r>
          </a:p>
          <a:p>
            <a:r>
              <a:rPr sz="850">
                <a:solidFill>
                  <a:srgbClr val="6B7385"/>
                </a:solidFill>
                <a:latin typeface="Courier New"/>
              </a:rPr>
              <a:t> 6 </a:t>
            </a:r>
            <a:r>
              <a:rPr sz="850">
                <a:solidFill>
                  <a:srgbClr val="E6EAF0"/>
                </a:solidFill>
                <a:latin typeface="Courier New"/>
              </a:rPr>
              <a:t>    y = np.asarray(y, dtype=float)</a:t>
            </a:r>
          </a:p>
          <a:p>
            <a:r>
              <a:rPr sz="850">
                <a:solidFill>
                  <a:srgbClr val="6B7385"/>
                </a:solidFill>
                <a:latin typeface="Courier New"/>
              </a:rPr>
              <a:t> 7 </a:t>
            </a:r>
            <a:r>
              <a:rPr sz="850">
                <a:solidFill>
                  <a:srgbClr val="E6EAF0"/>
                </a:solidFill>
                <a:latin typeface="Courier New"/>
              </a:rPr>
              <a:t>    khoi = y[y.size % m:].reshape(-1, m)       </a:t>
            </a:r>
            <a:r>
              <a:rPr sz="850">
                <a:solidFill>
                  <a:srgbClr val="8FC99A"/>
                </a:solidFill>
                <a:latin typeface="Courier New"/>
              </a:rPr>
              <a:t># mỗi dòng một năm</a:t>
            </a:r>
          </a:p>
          <a:p>
            <a:r>
              <a:rPr sz="850">
                <a:solidFill>
                  <a:srgbClr val="6B7385"/>
                </a:solidFill>
                <a:latin typeface="Courier New"/>
              </a:rPr>
              <a:t> 8 </a:t>
            </a:r>
            <a:r>
              <a:rPr sz="850">
                <a:solidFill>
                  <a:srgbClr val="E6EAF0"/>
                </a:solidFill>
                <a:latin typeface="Courier New"/>
              </a:rPr>
              <a:t>    tb, sd = khoi.mean(axis=1), khoi.std(axis=1, ddof=1)</a:t>
            </a:r>
          </a:p>
          <a:p>
            <a:r>
              <a:rPr sz="850">
                <a:solidFill>
                  <a:srgbClr val="6B7385"/>
                </a:solidFill>
                <a:latin typeface="Courier New"/>
              </a:rPr>
              <a:t> 9 </a:t>
            </a:r>
            <a:r>
              <a:rPr sz="850">
                <a:solidFill>
                  <a:srgbClr val="E6EAF0"/>
                </a:solidFill>
                <a:latin typeface="Courier New"/>
              </a:rPr>
              <a:t>    ty_so = sd[None, :] / tb[None, :] ** (1 - luoi[:, None])</a:t>
            </a:r>
          </a:p>
          <a:p>
            <a:r>
              <a:rPr sz="850">
                <a:solidFill>
                  <a:srgbClr val="6B7385"/>
                </a:solidFill>
                <a:latin typeface="Courier New"/>
              </a:rPr>
              <a:t>10 </a:t>
            </a:r>
            <a:r>
              <a:rPr sz="850">
                <a:solidFill>
                  <a:srgbClr val="E6EAF0"/>
                </a:solidFill>
                <a:latin typeface="Courier New"/>
              </a:rPr>
              <a:t>    cv = ty_so.std(axis=1, ddof=1) / ty_so.mean(axis=1)</a:t>
            </a:r>
          </a:p>
          <a:p>
            <a:r>
              <a:rPr sz="850">
                <a:solidFill>
                  <a:srgbClr val="6B7385"/>
                </a:solidFill>
                <a:latin typeface="Courier New"/>
              </a:rPr>
              <a:t>11 </a:t>
            </a:r>
            <a:r>
              <a:rPr sz="850">
                <a:solidFill>
                  <a:srgbClr val="E6EAF0"/>
                </a:solidFill>
                <a:latin typeface="Courier New"/>
              </a:rPr>
              <a:t>    return float(luoi[np.argmin(cv)])          </a:t>
            </a:r>
            <a:r>
              <a:rPr sz="850">
                <a:solidFill>
                  <a:srgbClr val="8FC99A"/>
                </a:solidFill>
                <a:latin typeface="Courier New"/>
              </a:rPr>
              <a:t># λ cho tỷ số đều nhất</a:t>
            </a:r>
          </a:p>
          <a:p>
            <a:r>
              <a:rPr sz="850">
                <a:solidFill>
                  <a:srgbClr val="6B7385"/>
                </a:solidFill>
                <a:latin typeface="Courier New"/>
              </a:rPr>
              <a:t>12 </a:t>
            </a:r>
          </a:p>
          <a:p>
            <a:r>
              <a:rPr sz="850">
                <a:solidFill>
                  <a:srgbClr val="6B7385"/>
                </a:solidFill>
                <a:latin typeface="Courier New"/>
              </a:rPr>
              <a:t>13 </a:t>
            </a:r>
            <a:r>
              <a:rPr sz="850">
                <a:solidFill>
                  <a:srgbClr val="E6EAF0"/>
                </a:solidFill>
                <a:latin typeface="Courier New"/>
              </a:rPr>
              <a:t>lam_g = guerrero(y19, 12)                      </a:t>
            </a:r>
            <a:r>
              <a:rPr sz="850">
                <a:solidFill>
                  <a:srgbClr val="8FC99A"/>
                </a:solidFill>
                <a:latin typeface="Courier New"/>
              </a:rPr>
              <a:t># y19: bán lẻ 1992 tới 2019</a:t>
            </a:r>
          </a:p>
          <a:p>
            <a:r>
              <a:rPr sz="850">
                <a:solidFill>
                  <a:srgbClr val="6B7385"/>
                </a:solidFill>
                <a:latin typeface="Courier New"/>
              </a:rPr>
              <a:t>14 </a:t>
            </a:r>
            <a:r>
              <a:rPr sz="850">
                <a:solidFill>
                  <a:srgbClr val="E6EAF0"/>
                </a:solidFill>
                <a:latin typeface="Courier New"/>
              </a:rPr>
              <a:t>lam_mle = stats.boxcox(y19.to_numpy())[1]      </a:t>
            </a:r>
            <a:r>
              <a:rPr sz="850">
                <a:solidFill>
                  <a:srgbClr val="8FC99A"/>
                </a:solidFill>
                <a:latin typeface="Courier New"/>
              </a:rPr>
              <a:t># tiêu chí khác</a:t>
            </a:r>
          </a:p>
          <a:p>
            <a:r>
              <a:rPr sz="850">
                <a:solidFill>
                  <a:srgbClr val="6B7385"/>
                </a:solidFill>
                <a:latin typeface="Courier New"/>
              </a:rPr>
              <a:t>15 </a:t>
            </a:r>
            <a:r>
              <a:rPr sz="850">
                <a:solidFill>
                  <a:srgbClr val="8FC99A"/>
                </a:solidFill>
                <a:latin typeface="Courier New"/>
              </a:rPr>
              <a:t># tang: % tăng so với cùng tháng năm trước, có số âm</a:t>
            </a:r>
          </a:p>
          <a:p>
            <a:r>
              <a:rPr sz="850">
                <a:solidFill>
                  <a:srgbClr val="6B7385"/>
                </a:solidFill>
                <a:latin typeface="Courier New"/>
              </a:rPr>
              <a:t>16 </a:t>
            </a:r>
            <a:r>
              <a:rPr sz="850">
                <a:solidFill>
                  <a:srgbClr val="E6EAF0"/>
                </a:solidFill>
                <a:latin typeface="Courier New"/>
              </a:rPr>
              <a:t>lam_yj = stats.yeojohnson(tang.to_numpy())[1]</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Lưới 3.001 giá trị λ để thử.</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Mức và dao động của từng năm.</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Tỷ số mỗi năm và độ đều của chúng (CV).</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Giữ λ cho CV nhỏ nhất.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scipy chọn λ theo tiêu chí hình chuông.</a:t>
            </a:r>
          </a:p>
        </p:txBody>
      </p:sp>
      <p:sp>
        <p:nvSpPr>
          <p:cNvPr id="20" name="Rounded Rectangle 19"/>
          <p:cNvSpPr/>
          <p:nvPr/>
        </p:nvSpPr>
        <p:spPr>
          <a:xfrm>
            <a:off x="416052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21" name="TextBox 20"/>
          <p:cNvSpPr txBox="1"/>
          <p:nvPr/>
        </p:nvSpPr>
        <p:spPr>
          <a:xfrm>
            <a:off x="496519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Chuỗi có số âm thì dùng Yeo-Johnson.</a:t>
            </a:r>
          </a:p>
        </p:txBody>
      </p:sp>
      <p:sp>
        <p:nvSpPr>
          <p:cNvPr id="22" name="Rounded Rectangle 21"/>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λ Guerrero 0,34: dao động 2019 so 1992 còn 1,21 (log ép còn 0,84). scipy chọn 0,595; Yeo-Johnson trên % tăng ra khoảng 1,02.</a:t>
            </a:r>
          </a:p>
        </p:txBody>
      </p:sp>
      <p:sp>
        <p:nvSpPr>
          <p:cNvPr id="24" name="TextBox 23"/>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5" name="TextBox 24"/>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guerrero(y, m)</a:t>
            </a:r>
            <a:r>
              <a:rPr sz="950" b="1" i="0">
                <a:solidFill>
                  <a:srgbClr val="5B6778"/>
                </a:solidFill>
                <a:latin typeface="Arial"/>
              </a:rPr>
              <a:t>   tự viết</a:t>
            </a:r>
          </a:p>
        </p:txBody>
      </p:sp>
      <p:sp>
        <p:nvSpPr>
          <p:cNvPr id="26" name="TextBox 25"/>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Thử từng λ, chọn λ làm dao động các năm đều nhau nhất.</a:t>
            </a:r>
          </a:p>
        </p:txBody>
      </p:sp>
      <p:sp>
        <p:nvSpPr>
          <p:cNvPr id="27" name="TextBox 26"/>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stats.boxcox</a:t>
            </a:r>
            <a:r>
              <a:rPr sz="950" b="1" i="0">
                <a:solidFill>
                  <a:srgbClr val="5B6778"/>
                </a:solidFill>
                <a:latin typeface="Arial"/>
              </a:rPr>
              <a:t>   scipy</a:t>
            </a:r>
          </a:p>
        </p:txBody>
      </p:sp>
      <p:sp>
        <p:nvSpPr>
          <p:cNvPr id="28" name="TextBox 27"/>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Biến đổi Box-Cox và tự chọn λ làm dữ liệu giống hình chuông nhất.</a:t>
            </a:r>
          </a:p>
        </p:txBody>
      </p:sp>
      <p:sp>
        <p:nvSpPr>
          <p:cNvPr id="29" name="TextBox 28"/>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stats.yeojohnson</a:t>
            </a:r>
            <a:r>
              <a:rPr sz="950" b="1" i="0">
                <a:solidFill>
                  <a:srgbClr val="5B6778"/>
                </a:solidFill>
                <a:latin typeface="Arial"/>
              </a:rPr>
              <a:t>   scipy</a:t>
            </a:r>
          </a:p>
        </p:txBody>
      </p:sp>
      <p:sp>
        <p:nvSpPr>
          <p:cNvPr id="30" name="TextBox 29"/>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Giống Box-Cox nhưng nhận cả số 0 và số âm.</a:t>
            </a:r>
          </a:p>
        </p:txBody>
      </p:sp>
      <p:sp>
        <p:nvSpPr>
          <p:cNvPr id="31" name="Rounded Rectangle 30"/>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2fb819fdc0b1.png"/>
          <p:cNvPicPr>
            <a:picLocks noChangeAspect="1"/>
          </p:cNvPicPr>
          <p:nvPr/>
        </p:nvPicPr>
        <p:blipFill>
          <a:blip r:embed="rId2"/>
          <a:stretch>
            <a:fillRect/>
          </a:stretch>
        </p:blipFill>
        <p:spPr>
          <a:xfrm>
            <a:off x="9256776" y="4157471"/>
            <a:ext cx="990599" cy="353568"/>
          </a:xfrm>
          <a:prstGeom prst="rect">
            <a:avLst/>
          </a:prstGeom>
        </p:spPr>
      </p:pic>
      <p:pic>
        <p:nvPicPr>
          <p:cNvPr id="33" name="Picture 32" descr="kn-bien-doi-box-cox.png"/>
          <p:cNvPicPr>
            <a:picLocks noChangeAspect="1"/>
          </p:cNvPicPr>
          <p:nvPr/>
        </p:nvPicPr>
        <p:blipFill>
          <a:blip r:embed="rId3"/>
          <a:stretch>
            <a:fillRect/>
          </a:stretch>
        </p:blipFill>
        <p:spPr>
          <a:xfrm>
            <a:off x="8055238" y="4745735"/>
            <a:ext cx="3393675" cy="1728216"/>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ngược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mô phỏng exp của dự báo log hụt trung bình, và hiệu chỉnh bias bù lại.</a:t>
            </a:r>
          </a:p>
        </p:txBody>
      </p:sp>
      <p:sp>
        <p:nvSpPr>
          <p:cNvPr id="6" name="Rounded Rectangle 5"/>
          <p:cNvSpPr/>
          <p:nvPr/>
        </p:nvSpPr>
        <p:spPr>
          <a:xfrm>
            <a:off x="548640" y="1737360"/>
            <a:ext cx="7086600" cy="205092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730882"/>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w = np.array([0.0, 1.0, 2.0])</a:t>
            </a:r>
          </a:p>
          <a:p>
            <a:r>
              <a:rPr sz="1050">
                <a:solidFill>
                  <a:srgbClr val="6B7385"/>
                </a:solidFill>
                <a:latin typeface="Courier New"/>
              </a:rPr>
              <a:t> 4 </a:t>
            </a:r>
            <a:r>
              <a:rPr sz="1050">
                <a:solidFill>
                  <a:srgbClr val="E6EAF0"/>
                </a:solidFill>
                <a:latin typeface="Courier New"/>
              </a:rPr>
              <a:t>print(np.exp(w.mean()), np.exp(w).mean())   </a:t>
            </a:r>
            <a:r>
              <a:rPr sz="1050">
                <a:solidFill>
                  <a:srgbClr val="8FC99A"/>
                </a:solidFill>
                <a:latin typeface="Courier New"/>
              </a:rPr>
              <a:t># trung vị so với trung bình</a:t>
            </a:r>
          </a:p>
          <a:p>
            <a:r>
              <a:rPr sz="1050">
                <a:solidFill>
                  <a:srgbClr val="6B7385"/>
                </a:solidFill>
                <a:latin typeface="Courier New"/>
              </a:rPr>
              <a:t> 5 </a:t>
            </a:r>
          </a:p>
          <a:p>
            <a:r>
              <a:rPr sz="1050">
                <a:solidFill>
                  <a:srgbClr val="6B7385"/>
                </a:solidFill>
                <a:latin typeface="Courier New"/>
              </a:rPr>
              <a:t> 6 </a:t>
            </a:r>
            <a:r>
              <a:rPr sz="1050">
                <a:solidFill>
                  <a:srgbClr val="E6EAF0"/>
                </a:solidFill>
                <a:latin typeface="Courier New"/>
              </a:rPr>
              <a:t>x = np.random.default_rng(42).lognormal(5.0, 0.5, 100_000)</a:t>
            </a:r>
          </a:p>
          <a:p>
            <a:r>
              <a:rPr sz="1050">
                <a:solidFill>
                  <a:srgbClr val="6B7385"/>
                </a:solidFill>
                <a:latin typeface="Courier New"/>
              </a:rPr>
              <a:t> 7 </a:t>
            </a:r>
            <a:r>
              <a:rPr sz="1050">
                <a:solidFill>
                  <a:srgbClr val="E6EAF0"/>
                </a:solidFill>
                <a:latin typeface="Courier New"/>
              </a:rPr>
              <a:t>wx = np.log(x)                               </a:t>
            </a:r>
            <a:r>
              <a:rPr sz="1050">
                <a:solidFill>
                  <a:srgbClr val="8FC99A"/>
                </a:solidFill>
                <a:latin typeface="Courier New"/>
              </a:rPr>
              <a:t># thang log</a:t>
            </a:r>
          </a:p>
          <a:p>
            <a:r>
              <a:rPr sz="1050">
                <a:solidFill>
                  <a:srgbClr val="6B7385"/>
                </a:solidFill>
                <a:latin typeface="Courier New"/>
              </a:rPr>
              <a:t> 8 </a:t>
            </a:r>
            <a:r>
              <a:rPr sz="1050">
                <a:solidFill>
                  <a:srgbClr val="E6EAF0"/>
                </a:solidFill>
                <a:latin typeface="Courier New"/>
              </a:rPr>
              <a:t>trung_vi = np.exp(wx.mean())                 </a:t>
            </a:r>
            <a:r>
              <a:rPr sz="1050">
                <a:solidFill>
                  <a:srgbClr val="8FC99A"/>
                </a:solidFill>
                <a:latin typeface="Courier New"/>
              </a:rPr>
              <a:t># đổi ngược thẳng</a:t>
            </a:r>
          </a:p>
          <a:p>
            <a:r>
              <a:rPr sz="1050">
                <a:solidFill>
                  <a:srgbClr val="6B7385"/>
                </a:solidFill>
                <a:latin typeface="Courier New"/>
              </a:rPr>
              <a:t> 9 </a:t>
            </a:r>
            <a:r>
              <a:rPr sz="1050">
                <a:solidFill>
                  <a:srgbClr val="E6EAF0"/>
                </a:solidFill>
                <a:latin typeface="Courier New"/>
              </a:rPr>
              <a:t>tb_fpp = trung_vi * (1 + wx.var(ddof=1) / 2)  </a:t>
            </a:r>
            <a:r>
              <a:rPr sz="1050">
                <a:solidFill>
                  <a:srgbClr val="8FC99A"/>
                </a:solidFill>
                <a:latin typeface="Courier New"/>
              </a:rPr>
              <a:t># hiệu chỉnh bias</a:t>
            </a:r>
          </a:p>
          <a:p>
            <a:r>
              <a:rPr sz="1050">
                <a:solidFill>
                  <a:srgbClr val="6B7385"/>
                </a:solidFill>
                <a:latin typeface="Courier New"/>
              </a:rPr>
              <a:t>10 </a:t>
            </a:r>
            <a:r>
              <a:rPr sz="1050">
                <a:solidFill>
                  <a:srgbClr val="E6EAF0"/>
                </a:solidFill>
                <a:latin typeface="Courier New"/>
              </a:rPr>
              <a:t>print(trung_vi / x.mean() - 1, tb_fpp / x.mean() - 1)</a:t>
            </a:r>
          </a:p>
        </p:txBody>
      </p:sp>
      <p:sp>
        <p:nvSpPr>
          <p:cNvPr id="8" name="TextBox 7"/>
          <p:cNvSpPr txBox="1"/>
          <p:nvPr/>
        </p:nvSpPr>
        <p:spPr>
          <a:xfrm>
            <a:off x="685800" y="354139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5</a:t>
            </a:r>
          </a:p>
        </p:txBody>
      </p:sp>
      <p:sp>
        <p:nvSpPr>
          <p:cNvPr id="9" name="TextBox 8"/>
          <p:cNvSpPr txBox="1"/>
          <p:nvPr/>
        </p:nvSpPr>
        <p:spPr>
          <a:xfrm>
            <a:off x="548640" y="3898011"/>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3–4</a:t>
            </a:r>
          </a:p>
        </p:txBody>
      </p:sp>
      <p:sp>
        <p:nvSpPr>
          <p:cNvPr id="11" name="TextBox 10"/>
          <p:cNvSpPr txBox="1"/>
          <p:nvPr/>
        </p:nvSpPr>
        <p:spPr>
          <a:xfrm>
            <a:off x="135331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Ba số log: exp của trung bình khác trung bình.</a:t>
            </a:r>
          </a:p>
        </p:txBody>
      </p:sp>
      <p:sp>
        <p:nvSpPr>
          <p:cNvPr id="12" name="Rounded Rectangle 11"/>
          <p:cNvSpPr/>
          <p:nvPr/>
        </p:nvSpPr>
        <p:spPr>
          <a:xfrm>
            <a:off x="54864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100.000 mẫu log-normal, seed 42.</a:t>
            </a:r>
          </a:p>
        </p:txBody>
      </p:sp>
      <p:sp>
        <p:nvSpPr>
          <p:cNvPr id="14" name="Rounded Rectangle 13"/>
          <p:cNvSpPr/>
          <p:nvPr/>
        </p:nvSpPr>
        <p:spPr>
          <a:xfrm>
            <a:off x="548640" y="51324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114163"/>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ngược thẳng: ra trung vị.</a:t>
            </a:r>
          </a:p>
        </p:txBody>
      </p:sp>
      <p:sp>
        <p:nvSpPr>
          <p:cNvPr id="16" name="Rounded Rectangle 15"/>
          <p:cNvSpPr/>
          <p:nvPr/>
        </p:nvSpPr>
        <p:spPr>
          <a:xfrm>
            <a:off x="416052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7" name="TextBox 16"/>
          <p:cNvSpPr txBox="1"/>
          <p:nvPr/>
        </p:nvSpPr>
        <p:spPr>
          <a:xfrm>
            <a:off x="496519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Nhân thêm 1 cộng nửa phương sai log.</a:t>
            </a:r>
          </a:p>
        </p:txBody>
      </p:sp>
      <p:sp>
        <p:nvSpPr>
          <p:cNvPr id="18" name="Rounded Rectangle 17"/>
          <p:cNvSpPr/>
          <p:nvPr/>
        </p:nvSpPr>
        <p:spPr>
          <a:xfrm>
            <a:off x="416052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9" name="TextBox 18"/>
          <p:cNvSpPr txBox="1"/>
          <p:nvPr/>
        </p:nvSpPr>
        <p:spPr>
          <a:xfrm>
            <a:off x="496519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Mỗi cách hụt bao nhiêu so với trung bình thật.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exp(trung bình log) = 2,72, trung bình thật 3,70. Mô phỏng: đổi ngược thẳng hụt 11,9%, có hiệu chỉnh gần khớp.</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np.exp</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Hàm mũ, làm ngược lại log để về đơn vị gốc.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default_rng(42).lognormal</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Sinh số ngẫu nhiên mà log của chúng có hình chuông.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var(ddof=1)</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Phương sai mẫu: độ tản bình phương quanh trung bình.</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17d731fe40b.png"/>
          <p:cNvPicPr>
            <a:picLocks noChangeAspect="1"/>
          </p:cNvPicPr>
          <p:nvPr/>
        </p:nvPicPr>
        <p:blipFill>
          <a:blip r:embed="rId2"/>
          <a:stretch>
            <a:fillRect/>
          </a:stretch>
        </p:blipFill>
        <p:spPr>
          <a:xfrm>
            <a:off x="9212580" y="4175759"/>
            <a:ext cx="1078992" cy="316992"/>
          </a:xfrm>
          <a:prstGeom prst="rect">
            <a:avLst/>
          </a:prstGeom>
        </p:spPr>
      </p:pic>
      <p:pic>
        <p:nvPicPr>
          <p:cNvPr id="31" name="Picture 30" descr="kn-doi-nguoc.png"/>
          <p:cNvPicPr>
            <a:picLocks noChangeAspect="1"/>
          </p:cNvPicPr>
          <p:nvPr/>
        </p:nvPicPr>
        <p:blipFill>
          <a:blip r:embed="rId3"/>
          <a:stretch>
            <a:fillRect/>
          </a:stretch>
        </p:blipFill>
        <p:spPr>
          <a:xfrm>
            <a:off x="7863840" y="4929200"/>
            <a:ext cx="3776472" cy="1361286"/>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seasonal naive có drift trên log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 báo trên thang log chỉ bằng dữ liệu trước gốc, đổi ngược cả trung vị lẫn trung bình.</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du_bao_log(y, goc, so_buoc=12):</a:t>
            </a:r>
          </a:p>
          <a:p>
            <a:r>
              <a:rPr sz="850">
                <a:solidFill>
                  <a:srgbClr val="6B7385"/>
                </a:solidFill>
                <a:latin typeface="Courier New"/>
              </a:rPr>
              <a:t> 5 </a:t>
            </a:r>
            <a:r>
              <a:rPr sz="850">
                <a:solidFill>
                  <a:srgbClr val="E6EAF0"/>
                </a:solidFill>
                <a:latin typeface="Courier New"/>
              </a:rPr>
              <a:t>    hoc = y[(y.index &lt; goc) &amp; (y.index &gt;= goc - pd.DateOffset(months=96))]</a:t>
            </a:r>
          </a:p>
          <a:p>
            <a:r>
              <a:rPr sz="850">
                <a:solidFill>
                  <a:srgbClr val="6B7385"/>
                </a:solidFill>
                <a:latin typeface="Courier New"/>
              </a:rPr>
              <a:t> 6 </a:t>
            </a:r>
            <a:r>
              <a:rPr sz="850">
                <a:solidFill>
                  <a:srgbClr val="E6EAF0"/>
                </a:solidFill>
                <a:latin typeface="Courier New"/>
              </a:rPr>
              <a:t>    w = np.log(hoc)                            </a:t>
            </a:r>
            <a:r>
              <a:rPr sz="850">
                <a:solidFill>
                  <a:srgbClr val="8FC99A"/>
                </a:solidFill>
                <a:latin typeface="Courier New"/>
              </a:rPr>
              <a:t># CHỈ dữ liệu trước gốc</a:t>
            </a:r>
          </a:p>
          <a:p>
            <a:r>
              <a:rPr sz="850">
                <a:solidFill>
                  <a:srgbClr val="6B7385"/>
                </a:solidFill>
                <a:latin typeface="Courier New"/>
              </a:rPr>
              <a:t> 7 </a:t>
            </a:r>
            <a:r>
              <a:rPr sz="850">
                <a:solidFill>
                  <a:srgbClr val="E6EAF0"/>
                </a:solidFill>
                <a:latin typeface="Courier New"/>
              </a:rPr>
              <a:t>    sp = (w - w.shift(12)).dropna()            </a:t>
            </a:r>
            <a:r>
              <a:rPr sz="850">
                <a:solidFill>
                  <a:srgbClr val="8FC99A"/>
                </a:solidFill>
                <a:latin typeface="Courier New"/>
              </a:rPr>
              <a:t># sai phân mùa vụ</a:t>
            </a:r>
          </a:p>
          <a:p>
            <a:r>
              <a:rPr sz="850">
                <a:solidFill>
                  <a:srgbClr val="6B7385"/>
                </a:solidFill>
                <a:latin typeface="Courier New"/>
              </a:rPr>
              <a:t> 8 </a:t>
            </a:r>
            <a:r>
              <a:rPr sz="850">
                <a:solidFill>
                  <a:srgbClr val="E6EAF0"/>
                </a:solidFill>
                <a:latin typeface="Courier New"/>
              </a:rPr>
              <a:t>    drift, s2 = sp.mean(), sp.var(ddof=1)</a:t>
            </a:r>
          </a:p>
          <a:p>
            <a:r>
              <a:rPr sz="850">
                <a:solidFill>
                  <a:srgbClr val="6B7385"/>
                </a:solidFill>
                <a:latin typeface="Courier New"/>
              </a:rPr>
              <a:t> 9 </a:t>
            </a:r>
            <a:r>
              <a:rPr sz="850">
                <a:solidFill>
                  <a:srgbClr val="E6EAF0"/>
                </a:solidFill>
                <a:latin typeface="Courier New"/>
              </a:rPr>
              <a:t>    tg = pd.date_range(goc, periods=so_buoc, freq="MS")</a:t>
            </a:r>
          </a:p>
          <a:p>
            <a:r>
              <a:rPr sz="850">
                <a:solidFill>
                  <a:srgbClr val="6B7385"/>
                </a:solidFill>
                <a:latin typeface="Courier New"/>
              </a:rPr>
              <a:t>10 </a:t>
            </a:r>
            <a:r>
              <a:rPr sz="850">
                <a:solidFill>
                  <a:srgbClr val="E6EAF0"/>
                </a:solidFill>
                <a:latin typeface="Courier New"/>
              </a:rPr>
              <a:t>    w_hat = np.array([w[t - pd.DateOffset(years=1)] + drift for t in tg])</a:t>
            </a:r>
          </a:p>
          <a:p>
            <a:r>
              <a:rPr sz="850">
                <a:solidFill>
                  <a:srgbClr val="6B7385"/>
                </a:solidFill>
                <a:latin typeface="Courier New"/>
              </a:rPr>
              <a:t>11 </a:t>
            </a:r>
            <a:r>
              <a:rPr sz="850">
                <a:solidFill>
                  <a:srgbClr val="E6EAF0"/>
                </a:solidFill>
                <a:latin typeface="Courier New"/>
              </a:rPr>
              <a:t>    return pd.DataFrame({"trung_vi": np.exp(w_hat),</a:t>
            </a:r>
          </a:p>
          <a:p>
            <a:r>
              <a:rPr sz="850">
                <a:solidFill>
                  <a:srgbClr val="6B7385"/>
                </a:solidFill>
                <a:latin typeface="Courier New"/>
              </a:rPr>
              <a:t>12 </a:t>
            </a:r>
            <a:r>
              <a:rPr sz="850">
                <a:solidFill>
                  <a:srgbClr val="E6EAF0"/>
                </a:solidFill>
                <a:latin typeface="Courier New"/>
              </a:rPr>
              <a:t>                         "trung_binh": np.exp(w_hat) * (1 + s2 / 2)},</a:t>
            </a:r>
          </a:p>
          <a:p>
            <a:r>
              <a:rPr sz="850">
                <a:solidFill>
                  <a:srgbClr val="6B7385"/>
                </a:solidFill>
                <a:latin typeface="Courier New"/>
              </a:rPr>
              <a:t>13 </a:t>
            </a:r>
            <a:r>
              <a:rPr sz="850">
                <a:solidFill>
                  <a:srgbClr val="E6EAF0"/>
                </a:solidFill>
                <a:latin typeface="Courier New"/>
              </a:rPr>
              <a:t>                        index=tg)</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goc = pd.date_range("2012-01-01", "2018-12-01", freq="MS")  </a:t>
            </a:r>
            <a:r>
              <a:rPr sz="850">
                <a:solidFill>
                  <a:srgbClr val="8FC99A"/>
                </a:solidFill>
                <a:latin typeface="Courier New"/>
              </a:rPr>
              <a:t># 84 gốc</a:t>
            </a:r>
          </a:p>
          <a:p>
            <a:r>
              <a:rPr sz="850">
                <a:solidFill>
                  <a:srgbClr val="6B7385"/>
                </a:solidFill>
                <a:latin typeface="Courier New"/>
              </a:rPr>
              <a:t>16 </a:t>
            </a:r>
            <a:r>
              <a:rPr sz="850">
                <a:solidFill>
                  <a:srgbClr val="E6EAF0"/>
                </a:solidFill>
                <a:latin typeface="Courier New"/>
              </a:rPr>
              <a:t>bang = pd.concat([du_bao_log(y, g) for g in goc])</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Lấy 96 tháng ngay trước gốc, rồi lấy log.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Drift và σ² từ sai phân mùa vụ của log.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Cùng tháng năm trước cộng drift.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ngược thẳng và đổi ngược có hiệu chỉnh.</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lại ở mỗi gốc từ 1/2012 tới 12/2018.</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1.008 dự báo. Hiệu chỉnh đẩy tổng dự báo lên đúng cỡ σ²/2, chỉ giúp khi dự báo đang thấp; bách hoá vốn đã lệch gần +10%.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pd.DateOffset(months=96)</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Lùi đúng 96 tháng theo lịch, không theo số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w - w.shift(12)</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Sai phân mùa vụ: tháng này trừ cùng tháng năm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pd.concat</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các bảng dự báo của từng gốc thành một bảng dài.</a:t>
            </a:r>
          </a:p>
        </p:txBody>
      </p:sp>
      <p:pic>
        <p:nvPicPr>
          <p:cNvPr id="29" name="Picture 28" descr="kn-drift.png"/>
          <p:cNvPicPr>
            <a:picLocks noChangeAspect="1"/>
          </p:cNvPicPr>
          <p:nvPr/>
        </p:nvPicPr>
        <p:blipFill>
          <a:blip r:embed="rId2"/>
          <a:stretch>
            <a:fillRect/>
          </a:stretch>
        </p:blipFill>
        <p:spPr>
          <a:xfrm>
            <a:off x="7863840" y="4325874"/>
            <a:ext cx="3776472" cy="1909572"/>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phân rã cổ điển bằng NumPy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viết phân rã cổ điển trong mười dòng và kiểm nó khớp statsmodels tới từng số.</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statsmodels.tsa.seasonal import seasonal_decompose</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co_dien(x, m):</a:t>
            </a:r>
          </a:p>
          <a:p>
            <a:r>
              <a:rPr sz="850">
                <a:solidFill>
                  <a:srgbClr val="6B7385"/>
                </a:solidFill>
                <a:latin typeface="Courier New"/>
              </a:rPr>
              <a:t> 5 </a:t>
            </a:r>
            <a:r>
              <a:rPr sz="850">
                <a:solidFill>
                  <a:srgbClr val="E6EAF0"/>
                </a:solidFill>
                <a:latin typeface="Courier New"/>
              </a:rPr>
              <a:t>    x = np.asarray(x, dtype=float)</a:t>
            </a:r>
          </a:p>
          <a:p>
            <a:r>
              <a:rPr sz="850">
                <a:solidFill>
                  <a:srgbClr val="6B7385"/>
                </a:solidFill>
                <a:latin typeface="Courier New"/>
              </a:rPr>
              <a:t> 6 </a:t>
            </a:r>
            <a:r>
              <a:rPr sz="850">
                <a:solidFill>
                  <a:srgbClr val="E6EAF0"/>
                </a:solidFill>
                <a:latin typeface="Courier New"/>
              </a:rPr>
              <a:t>    w = np.r_[0.5, np.ones(m - 1), 0.5] / m       </a:t>
            </a:r>
            <a:r>
              <a:rPr sz="850">
                <a:solidFill>
                  <a:srgbClr val="8FC99A"/>
                </a:solidFill>
                <a:latin typeface="Courier New"/>
              </a:rPr>
              <a:t># 2×m-MA, tổng bằng 1</a:t>
            </a:r>
          </a:p>
          <a:p>
            <a:r>
              <a:rPr sz="850">
                <a:solidFill>
                  <a:srgbClr val="6B7385"/>
                </a:solidFill>
                <a:latin typeface="Courier New"/>
              </a:rPr>
              <a:t> 7 </a:t>
            </a:r>
            <a:r>
              <a:rPr sz="850">
                <a:solidFill>
                  <a:srgbClr val="E6EAF0"/>
                </a:solidFill>
                <a:latin typeface="Courier New"/>
              </a:rPr>
              <a:t>    T = np.full(x.size, np.nan)</a:t>
            </a:r>
          </a:p>
          <a:p>
            <a:r>
              <a:rPr sz="850">
                <a:solidFill>
                  <a:srgbClr val="6B7385"/>
                </a:solidFill>
                <a:latin typeface="Courier New"/>
              </a:rPr>
              <a:t> 8 </a:t>
            </a:r>
            <a:r>
              <a:rPr sz="850">
                <a:solidFill>
                  <a:srgbClr val="E6EAF0"/>
                </a:solidFill>
                <a:latin typeface="Courier New"/>
              </a:rPr>
              <a:t>    T[m // 2:-m // 2] = np.convolve(x, w, mode="valid")  </a:t>
            </a:r>
            <a:r>
              <a:rPr sz="850">
                <a:solidFill>
                  <a:srgbClr val="8FC99A"/>
                </a:solidFill>
                <a:latin typeface="Courier New"/>
              </a:rPr>
              <a:t># xu hướng</a:t>
            </a:r>
          </a:p>
          <a:p>
            <a:r>
              <a:rPr sz="850">
                <a:solidFill>
                  <a:srgbClr val="6B7385"/>
                </a:solidFill>
                <a:latin typeface="Courier New"/>
              </a:rPr>
              <a:t> 9 </a:t>
            </a:r>
            <a:r>
              <a:rPr sz="850">
                <a:solidFill>
                  <a:srgbClr val="E6EAF0"/>
                </a:solidFill>
                <a:latin typeface="Courier New"/>
              </a:rPr>
              <a:t>    pha = np.arange(x.size) % m                   </a:t>
            </a:r>
            <a:r>
              <a:rPr sz="850">
                <a:solidFill>
                  <a:srgbClr val="8FC99A"/>
                </a:solidFill>
                <a:latin typeface="Courier New"/>
              </a:rPr>
              <a:t># vị trí trong vòng</a:t>
            </a:r>
          </a:p>
          <a:p>
            <a:r>
              <a:rPr sz="850">
                <a:solidFill>
                  <a:srgbClr val="6B7385"/>
                </a:solidFill>
                <a:latin typeface="Courier New"/>
              </a:rPr>
              <a:t>10 </a:t>
            </a:r>
            <a:r>
              <a:rPr sz="850">
                <a:solidFill>
                  <a:srgbClr val="E6EAF0"/>
                </a:solidFill>
                <a:latin typeface="Courier New"/>
              </a:rPr>
              <a:t>    S_mua = np.array([np.nanmean((x - T)[pha == k]) for k in range(m)])</a:t>
            </a:r>
          </a:p>
          <a:p>
            <a:r>
              <a:rPr sz="850">
                <a:solidFill>
                  <a:srgbClr val="6B7385"/>
                </a:solidFill>
                <a:latin typeface="Courier New"/>
              </a:rPr>
              <a:t>11 </a:t>
            </a:r>
            <a:r>
              <a:rPr sz="850">
                <a:solidFill>
                  <a:srgbClr val="E6EAF0"/>
                </a:solidFill>
                <a:latin typeface="Courier New"/>
              </a:rPr>
              <a:t>    S = (S_mua - S_mua.mean())[pha]               </a:t>
            </a:r>
            <a:r>
              <a:rPr sz="850">
                <a:solidFill>
                  <a:srgbClr val="8FC99A"/>
                </a:solidFill>
                <a:latin typeface="Courier New"/>
              </a:rPr>
              <a:t># mùa vụ, tổng bằng 0</a:t>
            </a:r>
          </a:p>
          <a:p>
            <a:r>
              <a:rPr sz="850">
                <a:solidFill>
                  <a:srgbClr val="6B7385"/>
                </a:solidFill>
                <a:latin typeface="Courier New"/>
              </a:rPr>
              <a:t>12 </a:t>
            </a:r>
            <a:r>
              <a:rPr sz="850">
                <a:solidFill>
                  <a:srgbClr val="E6EAF0"/>
                </a:solidFill>
                <a:latin typeface="Courier New"/>
              </a:rPr>
              <a:t>    return T, S, x - T - S                        </a:t>
            </a:r>
            <a:r>
              <a:rPr sz="850">
                <a:solidFill>
                  <a:srgbClr val="8FC99A"/>
                </a:solidFill>
                <a:latin typeface="Courier New"/>
              </a:rPr>
              <a:t># phần dư còn lại</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x = np.array([22, 18, 15, 29, 30, 22, 19, 33, 30, 26, 23, 37])</a:t>
            </a:r>
          </a:p>
          <a:p>
            <a:r>
              <a:rPr sz="850">
                <a:solidFill>
                  <a:srgbClr val="6B7385"/>
                </a:solidFill>
                <a:latin typeface="Courier New"/>
              </a:rPr>
              <a:t>15 </a:t>
            </a:r>
            <a:r>
              <a:rPr sz="850">
                <a:solidFill>
                  <a:srgbClr val="E6EAF0"/>
                </a:solidFill>
                <a:latin typeface="Courier New"/>
              </a:rPr>
              <a:t>T, S, R = co_dien(x, 4)</a:t>
            </a:r>
          </a:p>
          <a:p>
            <a:r>
              <a:rPr sz="850">
                <a:solidFill>
                  <a:srgbClr val="6B7385"/>
                </a:solidFill>
                <a:latin typeface="Courier New"/>
              </a:rPr>
              <a:t>16 </a:t>
            </a:r>
            <a:r>
              <a:rPr sz="850">
                <a:solidFill>
                  <a:srgbClr val="E6EAF0"/>
                </a:solidFill>
                <a:latin typeface="Courier New"/>
              </a:rPr>
              <a:t>sm = seasonal_decompose(x, period=4)              </a:t>
            </a:r>
            <a:r>
              <a:rPr sz="850">
                <a:solidFill>
                  <a:srgbClr val="8FC99A"/>
                </a:solidFill>
                <a:latin typeface="Courier New"/>
              </a:rPr>
              <a:t># phải khớp T và 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 + 1 trọng số, hai đầu mỗi đầu một nửa.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trượt một vòng: ra xu hướng.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phần trừ xu hướng theo vị trí.</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Dời cho tổng mùa vụ một vòng bằng 0.</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trên 12 quý, so với thư viện.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Quý 3 có xu hướng 22. Mùa vụ bốn quý 4, −3, −7, 6; phần dư chỉ ±0,5 và ±1,5; khớp seasonal_decompose.</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np.convolve(x, w, mode="valid")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Trượt bộ trọng số dọc chuỗi, chỉ giữ chỗ đủ hàng xóm.</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co_dien(x, m)</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xu hướng, mùa vụ và phần dư theo cách cổ điển.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seasonal_decompose</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cổ điển có sẵn; kết quả có .trend, .seasonal, .resid.</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28f1cd6e8497.png"/>
          <p:cNvPicPr>
            <a:picLocks noChangeAspect="1"/>
          </p:cNvPicPr>
          <p:nvPr/>
        </p:nvPicPr>
        <p:blipFill>
          <a:blip r:embed="rId2"/>
          <a:stretch>
            <a:fillRect/>
          </a:stretch>
        </p:blipFill>
        <p:spPr>
          <a:xfrm>
            <a:off x="8945880" y="4227575"/>
            <a:ext cx="1612392" cy="213360"/>
          </a:xfrm>
          <a:prstGeom prst="rect">
            <a:avLst/>
          </a:prstGeom>
        </p:spPr>
      </p:pic>
      <p:pic>
        <p:nvPicPr>
          <p:cNvPr id="31" name="Picture 30" descr="kn-2-m-ma.png"/>
          <p:cNvPicPr>
            <a:picLocks noChangeAspect="1"/>
          </p:cNvPicPr>
          <p:nvPr/>
        </p:nvPicPr>
        <p:blipFill>
          <a:blip r:embed="rId3"/>
          <a:stretch>
            <a:fillRect/>
          </a:stretch>
        </p:blipFill>
        <p:spPr>
          <a:xfrm>
            <a:off x="8001766" y="4745735"/>
            <a:ext cx="3500619" cy="1728216"/>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biên độ trong ngày theo tháng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biên độ mỗi ngày để biết mùa vụ đổi theo mùa, và bắt một giờ số liệu hỏng.</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nhu cầu điện PJM theo giờ (MW), giờ New York</a:t>
            </a:r>
          </a:p>
          <a:p>
            <a:r>
              <a:rPr sz="1050">
                <a:solidFill>
                  <a:srgbClr val="6B7385"/>
                </a:solidFill>
                <a:latin typeface="Courier New"/>
              </a:rPr>
              <a:t> 4 </a:t>
            </a:r>
            <a:r>
              <a:rPr sz="1050">
                <a:solidFill>
                  <a:srgbClr val="8FC99A"/>
                </a:solidFill>
                <a:latin typeface="Courier New"/>
              </a:rPr>
              <a:t># y_goc: cùng chuỗi theo giờ UTC, chưa lấp giờ trống</a:t>
            </a:r>
          </a:p>
          <a:p>
            <a:r>
              <a:rPr sz="1050">
                <a:solidFill>
                  <a:srgbClr val="6B7385"/>
                </a:solidFill>
                <a:latin typeface="Courier New"/>
              </a:rPr>
              <a:t> 5 </a:t>
            </a:r>
            <a:r>
              <a:rPr sz="1050">
                <a:solidFill>
                  <a:srgbClr val="E6EAF0"/>
                </a:solidFill>
                <a:latin typeface="Courier New"/>
              </a:rPr>
              <a:t>ngay = y.resample("D")</a:t>
            </a:r>
          </a:p>
          <a:p>
            <a:r>
              <a:rPr sz="1050">
                <a:solidFill>
                  <a:srgbClr val="6B7385"/>
                </a:solidFill>
                <a:latin typeface="Courier New"/>
              </a:rPr>
              <a:t> 6 </a:t>
            </a:r>
            <a:r>
              <a:rPr sz="1050">
                <a:solidFill>
                  <a:srgbClr val="E6EAF0"/>
                </a:solidFill>
                <a:latin typeface="Courier New"/>
              </a:rPr>
              <a:t>bd = (ngay.max() - ngay.min()) / 1000        </a:t>
            </a:r>
            <a:r>
              <a:rPr sz="1050">
                <a:solidFill>
                  <a:srgbClr val="8FC99A"/>
                </a:solidFill>
                <a:latin typeface="Courier New"/>
              </a:rPr>
              <a:t># biên độ trong ngày, GW</a:t>
            </a:r>
          </a:p>
          <a:p>
            <a:r>
              <a:rPr sz="1050">
                <a:solidFill>
                  <a:srgbClr val="6B7385"/>
                </a:solidFill>
                <a:latin typeface="Courier New"/>
              </a:rPr>
              <a:t> 7 </a:t>
            </a:r>
            <a:r>
              <a:rPr sz="1050">
                <a:solidFill>
                  <a:srgbClr val="E6EAF0"/>
                </a:solidFill>
                <a:latin typeface="Courier New"/>
              </a:rPr>
              <a:t>theo_thang = bd.groupby(bd.index.month).mean()</a:t>
            </a:r>
          </a:p>
          <a:p>
            <a:r>
              <a:rPr sz="1050">
                <a:solidFill>
                  <a:srgbClr val="6B7385"/>
                </a:solidFill>
                <a:latin typeface="Courier New"/>
              </a:rPr>
              <a:t> 8 </a:t>
            </a:r>
            <a:r>
              <a:rPr sz="1050">
                <a:solidFill>
                  <a:srgbClr val="E6EAF0"/>
                </a:solidFill>
                <a:latin typeface="Courier New"/>
              </a:rPr>
              <a:t>print(theo_thang.loc[[1, 4, 7]].round(1))</a:t>
            </a:r>
          </a:p>
          <a:p>
            <a:r>
              <a:rPr sz="1050">
                <a:solidFill>
                  <a:srgbClr val="6B7385"/>
                </a:solidFill>
                <a:latin typeface="Courier New"/>
              </a:rPr>
              <a:t> 9 </a:t>
            </a:r>
          </a:p>
          <a:p>
            <a:r>
              <a:rPr sz="1050">
                <a:solidFill>
                  <a:srgbClr val="6B7385"/>
                </a:solidFill>
                <a:latin typeface="Courier New"/>
              </a:rPr>
              <a:t>10 </a:t>
            </a:r>
            <a:r>
              <a:rPr sz="1050">
                <a:solidFill>
                  <a:srgbClr val="E6EAF0"/>
                </a:solidFill>
                <a:latin typeface="Courier New"/>
              </a:rPr>
              <a:t>t0 = pd.Timestamp("2024-11-21 17:00")        </a:t>
            </a:r>
            <a:r>
              <a:rPr sz="1050">
                <a:solidFill>
                  <a:srgbClr val="8FC99A"/>
                </a:solidFill>
                <a:latin typeface="Courier New"/>
              </a:rPr>
              <a:t># giờ nghi hỏng (UTC)</a:t>
            </a:r>
          </a:p>
          <a:p>
            <a:r>
              <a:rPr sz="1050">
                <a:solidFill>
                  <a:srgbClr val="6B7385"/>
                </a:solidFill>
                <a:latin typeface="Courier New"/>
              </a:rPr>
              <a:t>11 </a:t>
            </a:r>
            <a:r>
              <a:rPr sz="1050">
                <a:solidFill>
                  <a:srgbClr val="E6EAF0"/>
                </a:solidFill>
                <a:latin typeface="Courier New"/>
              </a:rPr>
              <a:t>print(y_goc[t0 - pd.Timedelta("1h"):t0 + pd.Timedelta("1h")])</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2</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Cao nhất trừ thấp nhất trong mỗi ngày.</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biên độ theo từng tháng.</a:t>
            </a:r>
          </a:p>
        </p:txBody>
      </p:sp>
      <p:sp>
        <p:nvSpPr>
          <p:cNvPr id="14" name="Rounded Rectangle 13"/>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Xem giờ lạ cùng hai giờ hai bên.</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Biên độ trong ngày tháng 7 trung bình 44 GW, tháng 1 chỉ 17 GW. 17:00 UTC 21/11 báo 56.260 MW giữa hai giờ khoảng 95.000 MW.</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resample("D").max()</a:t>
            </a:r>
            <a:r>
              <a:rPr sz="950" b="1" i="0">
                <a:solidFill>
                  <a:srgbClr val="5B6778"/>
                </a:solidFill>
                <a:latin typeface="Arial"/>
              </a:rPr>
              <a:t>   pandas</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giờ thành từng ngày và lấy giá trị lớn nhất mỗi ngày.</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groupby(index.month).mean()</a:t>
            </a:r>
            <a:r>
              <a:rPr sz="950" b="1" i="0">
                <a:solidFill>
                  <a:srgbClr val="5B6778"/>
                </a:solidFill>
                <a:latin typeface="Arial"/>
              </a:rPr>
              <a:t>   pandas</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tháng, gộp mọi ngày cùng tháng.</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pd.Timedelta("1h")</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Một khoảng thời gian một giờ để cộng trừ với mốc giờ.</a:t>
            </a:r>
          </a:p>
        </p:txBody>
      </p:sp>
      <p:pic>
        <p:nvPicPr>
          <p:cNvPr id="25" name="Picture 24" descr="kn-phan-ra-cong-nhan.png"/>
          <p:cNvPicPr>
            <a:picLocks noChangeAspect="1"/>
          </p:cNvPicPr>
          <p:nvPr/>
        </p:nvPicPr>
        <p:blipFill>
          <a:blip r:embed="rId2"/>
          <a:stretch>
            <a:fillRect/>
          </a:stretch>
        </p:blipFill>
        <p:spPr>
          <a:xfrm>
            <a:off x="7863840" y="4359243"/>
            <a:ext cx="3776472" cy="1842832"/>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mùa vụ trốn trong xu hướng,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hai chỗ mùa vụ trốn: xu hướng theo thứ, và phần dư theo tháng và giờ.</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r>
              <a:rPr sz="950">
                <a:solidFill>
                  <a:srgbClr val="E6EAF0"/>
                </a:solidFill>
                <a:latin typeface="Courier New"/>
              </a:rPr>
              <a:t>from statsmodels.tsa.seasonal import MSTL, seasonal_decompose</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y: nhu cầu PJM theo giờ, đã lấp giờ trống, giờ New York</a:t>
            </a:r>
          </a:p>
          <a:p>
            <a:r>
              <a:rPr sz="950">
                <a:solidFill>
                  <a:srgbClr val="6B7385"/>
                </a:solidFill>
                <a:latin typeface="Courier New"/>
              </a:rPr>
              <a:t> 5 </a:t>
            </a:r>
            <a:r>
              <a:rPr sz="950">
                <a:solidFill>
                  <a:srgbClr val="E6EAF0"/>
                </a:solidFill>
                <a:latin typeface="Courier New"/>
              </a:rPr>
              <a:t>sm24 = seasonal_decompose(y, period=24)</a:t>
            </a:r>
          </a:p>
          <a:p>
            <a:r>
              <a:rPr sz="950">
                <a:solidFill>
                  <a:srgbClr val="6B7385"/>
                </a:solidFill>
                <a:latin typeface="Courier New"/>
              </a:rPr>
              <a:t> 6 </a:t>
            </a:r>
            <a:r>
              <a:rPr sz="950">
                <a:solidFill>
                  <a:srgbClr val="E6EAF0"/>
                </a:solidFill>
                <a:latin typeface="Courier New"/>
              </a:rPr>
              <a:t>xh = sm24.trend.dropna()</a:t>
            </a:r>
          </a:p>
          <a:p>
            <a:r>
              <a:rPr sz="950">
                <a:solidFill>
                  <a:srgbClr val="6B7385"/>
                </a:solidFill>
                <a:latin typeface="Courier New"/>
              </a:rPr>
              <a:t> 7 </a:t>
            </a:r>
            <a:r>
              <a:rPr sz="950">
                <a:solidFill>
                  <a:srgbClr val="E6EAF0"/>
                </a:solidFill>
                <a:latin typeface="Courier New"/>
              </a:rPr>
              <a:t>print(xh.groupby(xh.index.dayofweek).mean())   </a:t>
            </a:r>
            <a:r>
              <a:rPr sz="950">
                <a:solidFill>
                  <a:srgbClr val="8FC99A"/>
                </a:solidFill>
                <a:latin typeface="Courier New"/>
              </a:rPr>
              <a:t># nhịp tuần ở xu hướng</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ty_le_mau_hinh(resid, y):</a:t>
            </a:r>
          </a:p>
          <a:p>
            <a:r>
              <a:rPr sz="950">
                <a:solidFill>
                  <a:srgbClr val="6B7385"/>
                </a:solidFill>
                <a:latin typeface="Courier New"/>
              </a:rPr>
              <a:t>10 </a:t>
            </a:r>
            <a:r>
              <a:rPr sz="950">
                <a:solidFill>
                  <a:srgbClr val="E6EAF0"/>
                </a:solidFill>
                <a:latin typeface="Courier New"/>
              </a:rPr>
              <a:t>    r = resid.dropna()</a:t>
            </a:r>
          </a:p>
          <a:p>
            <a:r>
              <a:rPr sz="950">
                <a:solidFill>
                  <a:srgbClr val="6B7385"/>
                </a:solidFill>
                <a:latin typeface="Courier New"/>
              </a:rPr>
              <a:t>11 </a:t>
            </a:r>
            <a:r>
              <a:rPr sz="950">
                <a:solidFill>
                  <a:srgbClr val="E6EAF0"/>
                </a:solidFill>
                <a:latin typeface="Courier New"/>
              </a:rPr>
              <a:t>    g = r.groupby([r.index.month, r.index.hour]).mean()  </a:t>
            </a:r>
            <a:r>
              <a:rPr sz="950">
                <a:solidFill>
                  <a:srgbClr val="8FC99A"/>
                </a:solidFill>
                <a:latin typeface="Courier New"/>
              </a:rPr>
              <a:t># tháng, giờ</a:t>
            </a:r>
          </a:p>
          <a:p>
            <a:r>
              <a:rPr sz="950">
                <a:solidFill>
                  <a:srgbClr val="6B7385"/>
                </a:solidFill>
                <a:latin typeface="Courier New"/>
              </a:rPr>
              <a:t>12 </a:t>
            </a:r>
            <a:r>
              <a:rPr sz="950">
                <a:solidFill>
                  <a:srgbClr val="E6EAF0"/>
                </a:solidFill>
                <a:latin typeface="Courier New"/>
              </a:rPr>
              <a:t>    return g.var() / y.var()</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ms = MSTL(y, periods=(24, 168)).fit()</a:t>
            </a:r>
          </a:p>
          <a:p>
            <a:r>
              <a:rPr sz="950">
                <a:solidFill>
                  <a:srgbClr val="6B7385"/>
                </a:solidFill>
                <a:latin typeface="Courier New"/>
              </a:rPr>
              <a:t>15 </a:t>
            </a:r>
            <a:r>
              <a:rPr sz="950">
                <a:solidFill>
                  <a:srgbClr val="E6EAF0"/>
                </a:solidFill>
                <a:latin typeface="Courier New"/>
              </a:rPr>
              <a:t>print(ty_le_mau_hinh(sm24.resid, y), ty_le_mau_hinh(ms.resid, y))</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Phân rã cổ điển chu kỳ 24 giờ.</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Xu hướng trung bình theo thứ: thấy nhịp tuần.</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Phần dư trung bình theo tháng và giờ.</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phương sai chuỗi: gần 0 là phần dư sạch.</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So cổ điển với MSTL bằng cùng thước đo.</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Xu hướng T7, CN thấp hơn giữa tuần khoảng 5.500–6.600 MW. Tỷ lệ mẫu hình tháng × giờ: cổ điển 0,102, MSTL 0,0006.</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seasonal_decompose(y, period=24)</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cổ điển với một khuôn mùa vụ 24 giờ cho cả năm.</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MSTL(y, periods=(24, 168))</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tách riêng mùa vụ ngày và mùa vụ tuần.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ty_le_mau_hinh</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Phần dư còn mẫu hình theo lịch tới đâu, đo bằng một con số.</a:t>
            </a:r>
          </a:p>
        </p:txBody>
      </p:sp>
      <p:pic>
        <p:nvPicPr>
          <p:cNvPr id="29" name="Picture 28" descr="co-dien-24.png"/>
          <p:cNvPicPr>
            <a:picLocks noChangeAspect="1"/>
          </p:cNvPicPr>
          <p:nvPr/>
        </p:nvPicPr>
        <p:blipFill>
          <a:blip r:embed="rId2"/>
          <a:stretch>
            <a:fillRect/>
          </a:stretch>
        </p:blipFill>
        <p:spPr>
          <a:xfrm>
            <a:off x="8154223" y="4087367"/>
            <a:ext cx="3195704" cy="2386584"/>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STL, MSTL và hai lỗi hay gặp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STL và MSTL, xem hai lỗi hay gặp, rồi đo mùa vụ ngày đổi theo mùa thế nào.</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from statsmodels.tsa.seasonal import MSTL, STL</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y: nhu cầu PJM theo giờ, giờ New York; y_goc: bản còn NaN</a:t>
            </a:r>
          </a:p>
          <a:p>
            <a:r>
              <a:rPr sz="950">
                <a:solidFill>
                  <a:srgbClr val="6B7385"/>
                </a:solidFill>
                <a:latin typeface="Courier New"/>
              </a:rPr>
              <a:t> 4 </a:t>
            </a:r>
            <a:r>
              <a:rPr sz="950">
                <a:solidFill>
                  <a:srgbClr val="E6EAF0"/>
                </a:solidFill>
                <a:latin typeface="Courier New"/>
              </a:rPr>
              <a:t>bay = MSTL(y_goc, periods=(24, 168)).fit()</a:t>
            </a:r>
          </a:p>
          <a:p>
            <a:r>
              <a:rPr sz="950">
                <a:solidFill>
                  <a:srgbClr val="6B7385"/>
                </a:solidFill>
                <a:latin typeface="Courier New"/>
              </a:rPr>
              <a:t> 5 </a:t>
            </a:r>
            <a:r>
              <a:rPr sz="950">
                <a:solidFill>
                  <a:srgbClr val="E6EAF0"/>
                </a:solidFill>
                <a:latin typeface="Courier New"/>
              </a:rPr>
              <a:t>print(bay.trend.notna().sum())          </a:t>
            </a:r>
            <a:r>
              <a:rPr sz="950">
                <a:solidFill>
                  <a:srgbClr val="8FC99A"/>
                </a:solidFill>
                <a:latin typeface="Courier New"/>
              </a:rPr>
              <a:t># còn NaN là ra toàn NaN</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stl = STL(y, period=24).fit()           </a:t>
            </a:r>
            <a:r>
              <a:rPr sz="950">
                <a:solidFill>
                  <a:srgbClr val="8FC99A"/>
                </a:solidFill>
                <a:latin typeface="Courier New"/>
              </a:rPr>
              <a:t># xu hướng 47 giờ, quá mềm</a:t>
            </a:r>
          </a:p>
          <a:p>
            <a:r>
              <a:rPr sz="950">
                <a:solidFill>
                  <a:srgbClr val="6B7385"/>
                </a:solidFill>
                <a:latin typeface="Courier New"/>
              </a:rPr>
              <a:t> 8 </a:t>
            </a:r>
            <a:r>
              <a:rPr sz="950">
                <a:solidFill>
                  <a:srgbClr val="E6EAF0"/>
                </a:solidFill>
                <a:latin typeface="Courier New"/>
              </a:rPr>
              <a:t>ms = MSTL(y, periods=(24, 168)).fit()   </a:t>
            </a:r>
            <a:r>
              <a:rPr sz="950">
                <a:solidFill>
                  <a:srgbClr val="8FC99A"/>
                </a:solidFill>
                <a:latin typeface="Courier New"/>
              </a:rPr>
              <a:t># mùa vụ ngày rồi mùa vụ tuần</a:t>
            </a:r>
          </a:p>
          <a:p>
            <a:r>
              <a:rPr sz="950">
                <a:solidFill>
                  <a:srgbClr val="6B7385"/>
                </a:solidFill>
                <a:latin typeface="Courier New"/>
              </a:rPr>
              <a:t> 9 </a:t>
            </a:r>
            <a:r>
              <a:rPr sz="950">
                <a:solidFill>
                  <a:srgbClr val="E6EAF0"/>
                </a:solidFill>
                <a:latin typeface="Courier New"/>
              </a:rPr>
              <a:t>print(stl.resid.var() / 1e6, ms.resid.var() / 1e6)   </a:t>
            </a:r>
            <a:r>
              <a:rPr sz="950">
                <a:solidFill>
                  <a:srgbClr val="8FC99A"/>
                </a:solidFill>
                <a:latin typeface="Courier New"/>
              </a:rPr>
              <a:t># GW bình phương</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s24 = ms.seasonal["seasonal_24"]</a:t>
            </a:r>
          </a:p>
          <a:p>
            <a:r>
              <a:rPr sz="950">
                <a:solidFill>
                  <a:srgbClr val="6B7385"/>
                </a:solidFill>
                <a:latin typeface="Courier New"/>
              </a:rPr>
              <a:t>12 </a:t>
            </a:r>
            <a:r>
              <a:rPr sz="950">
                <a:solidFill>
                  <a:srgbClr val="E6EAF0"/>
                </a:solidFill>
                <a:latin typeface="Courier New"/>
              </a:rPr>
              <a:t>ho = s24.groupby([s24.index.month, s24.index.hour]).mean().unstack()</a:t>
            </a:r>
          </a:p>
          <a:p>
            <a:r>
              <a:rPr sz="950">
                <a:solidFill>
                  <a:srgbClr val="6B7385"/>
                </a:solidFill>
                <a:latin typeface="Courier New"/>
              </a:rPr>
              <a:t>13 </a:t>
            </a:r>
            <a:r>
              <a:rPr sz="950">
                <a:solidFill>
                  <a:srgbClr val="E6EAF0"/>
                </a:solidFill>
                <a:latin typeface="Courier New"/>
              </a:rPr>
              <a:t>bien_do = (ho.max(axis=1) - ho.min(axis=1)) / 1000   </a:t>
            </a:r>
            <a:r>
              <a:rPr sz="950">
                <a:solidFill>
                  <a:srgbClr val="8FC99A"/>
                </a:solidFill>
                <a:latin typeface="Courier New"/>
              </a:rPr>
              <a:t># GW theo tháng</a:t>
            </a:r>
          </a:p>
          <a:p>
            <a:r>
              <a:rPr sz="950">
                <a:solidFill>
                  <a:srgbClr val="6B7385"/>
                </a:solidFill>
                <a:latin typeface="Courier New"/>
              </a:rPr>
              <a:t>14 </a:t>
            </a:r>
            <a:r>
              <a:rPr sz="950">
                <a:solidFill>
                  <a:srgbClr val="E6EAF0"/>
                </a:solidFill>
                <a:latin typeface="Courier New"/>
              </a:rPr>
              <a:t>print(ho.loc[1].idxmax(), ho.loc[7].idxmax())        </a:t>
            </a:r>
            <a:r>
              <a:rPr sz="950">
                <a:solidFill>
                  <a:srgbClr val="8FC99A"/>
                </a:solidFill>
                <a:latin typeface="Courier New"/>
              </a:rPr>
              <a:t># giờ đỉnh</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Lỗi 1: còn giờ trống thì kết quả toàn NaN.</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Lỗi 2: STL mặc định cho phần dư nhỏ giả tạo.</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MSTL tách hai chu kỳ, so phương sai phần dư.</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Biên độ mùa vụ ngày của từng tháng.</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Giờ đỉnh mùa đông và mùa hè.</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Phần dư STL mặc định 2,8 GW², MSTL 16,5 GW². Biên độ mùa vụ ngày tháng 7 là 43,3 GW, tháng 1 là 14,4 GW.</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STL(y, period=24)</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bằng làm trơn cục bộ, mùa vụ được đổi dần qua các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MSTL(...).fit().seasonal</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Bảng các mùa vụ, mỗi chu kỳ một cột: seasonal_24, seasonal_168.</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unstack()</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Xoay nhãn giờ thành cột: mỗi dòng một tháng, mỗi cột một giờ.</a:t>
            </a:r>
          </a:p>
        </p:txBody>
      </p:sp>
      <p:pic>
        <p:nvPicPr>
          <p:cNvPr id="29" name="Picture 28" descr="kn-stl-loess.png"/>
          <p:cNvPicPr>
            <a:picLocks noChangeAspect="1"/>
          </p:cNvPicPr>
          <p:nvPr/>
        </p:nvPicPr>
        <p:blipFill>
          <a:blip r:embed="rId2"/>
          <a:stretch>
            <a:fillRect/>
          </a:stretch>
        </p:blipFill>
        <p:spPr>
          <a:xfrm>
            <a:off x="7863840" y="4308096"/>
            <a:ext cx="3776472" cy="1945126"/>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độ mạnh xu hướng và mùa vụ</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F_T và F_S từ phương sai, cho mọi thành phần mùa vụ của một phân rã.</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r>
              <a:rPr sz="950">
                <a:solidFill>
                  <a:srgbClr val="E6EAF0"/>
                </a:solidFill>
                <a:latin typeface="Courier New"/>
              </a:rPr>
              <a:t>from statsmodels.tsa.seasonal import MSTL</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do_manh(bang):</a:t>
            </a:r>
          </a:p>
          <a:p>
            <a:r>
              <a:rPr sz="950">
                <a:solidFill>
                  <a:srgbClr val="6B7385"/>
                </a:solidFill>
                <a:latin typeface="Courier New"/>
              </a:rPr>
              <a:t> 5 </a:t>
            </a:r>
            <a:r>
              <a:rPr sz="950">
                <a:solidFill>
                  <a:srgbClr val="E6EAF0"/>
                </a:solidFill>
                <a:latin typeface="Courier New"/>
              </a:rPr>
              <a:t>    r = bang["resid"]</a:t>
            </a:r>
          </a:p>
          <a:p>
            <a:r>
              <a:rPr sz="950">
                <a:solidFill>
                  <a:srgbClr val="6B7385"/>
                </a:solidFill>
                <a:latin typeface="Courier New"/>
              </a:rPr>
              <a:t> 6 </a:t>
            </a:r>
            <a:r>
              <a:rPr sz="950">
                <a:solidFill>
                  <a:srgbClr val="E6EAF0"/>
                </a:solidFill>
                <a:latin typeface="Courier New"/>
              </a:rPr>
              <a:t>    kq = {"F_T": max(0.0, float(1 - r.var() / (bang["trend"] + r).var()))}</a:t>
            </a:r>
          </a:p>
          <a:p>
            <a:r>
              <a:rPr sz="950">
                <a:solidFill>
                  <a:srgbClr val="6B7385"/>
                </a:solidFill>
                <a:latin typeface="Courier New"/>
              </a:rPr>
              <a:t> 7 </a:t>
            </a:r>
            <a:r>
              <a:rPr sz="950">
                <a:solidFill>
                  <a:srgbClr val="E6EAF0"/>
                </a:solidFill>
                <a:latin typeface="Courier New"/>
              </a:rPr>
              <a:t>    for c in [c for c in bang.columns if c.startswith("seasonal")]:</a:t>
            </a:r>
          </a:p>
          <a:p>
            <a:r>
              <a:rPr sz="950">
                <a:solidFill>
                  <a:srgbClr val="6B7385"/>
                </a:solidFill>
                <a:latin typeface="Courier New"/>
              </a:rPr>
              <a:t> 8 </a:t>
            </a:r>
            <a:r>
              <a:rPr sz="950">
                <a:solidFill>
                  <a:srgbClr val="E6EAF0"/>
                </a:solidFill>
                <a:latin typeface="Courier New"/>
              </a:rPr>
              <a:t>        kq[c] = max(0.0, float(1 - r.var() / (bang[c] + r).var()))</a:t>
            </a:r>
          </a:p>
          <a:p>
            <a:r>
              <a:rPr sz="950">
                <a:solidFill>
                  <a:srgbClr val="6B7385"/>
                </a:solidFill>
                <a:latin typeface="Courier New"/>
              </a:rPr>
              <a:t> 9 </a:t>
            </a:r>
            <a:r>
              <a:rPr sz="950">
                <a:solidFill>
                  <a:srgbClr val="E6EAF0"/>
                </a:solidFill>
                <a:latin typeface="Courier New"/>
              </a:rPr>
              <a:t>    return kq</a:t>
            </a:r>
          </a:p>
          <a:p>
            <a:r>
              <a:rPr sz="950">
                <a:solidFill>
                  <a:srgbClr val="6B7385"/>
                </a:solidFill>
                <a:latin typeface="Courier New"/>
              </a:rPr>
              <a:t>10 </a:t>
            </a:r>
          </a:p>
          <a:p>
            <a:r>
              <a:rPr sz="950">
                <a:solidFill>
                  <a:srgbClr val="6B7385"/>
                </a:solidFill>
                <a:latin typeface="Courier New"/>
              </a:rPr>
              <a:t>11 </a:t>
            </a:r>
            <a:r>
              <a:rPr sz="950">
                <a:solidFill>
                  <a:srgbClr val="8FC99A"/>
                </a:solidFill>
                <a:latin typeface="Courier New"/>
              </a:rPr>
              <a:t># y: nhu cầu PJM theo giờ, đã lấp giờ trống</a:t>
            </a:r>
          </a:p>
          <a:p>
            <a:r>
              <a:rPr sz="950">
                <a:solidFill>
                  <a:srgbClr val="6B7385"/>
                </a:solidFill>
                <a:latin typeface="Courier New"/>
              </a:rPr>
              <a:t>12 </a:t>
            </a:r>
            <a:r>
              <a:rPr sz="950">
                <a:solidFill>
                  <a:srgbClr val="E6EAF0"/>
                </a:solidFill>
                <a:latin typeface="Courier New"/>
              </a:rPr>
              <a:t>kq = MSTL(y, periods=(24, 168)).fit()</a:t>
            </a:r>
          </a:p>
          <a:p>
            <a:r>
              <a:rPr sz="950">
                <a:solidFill>
                  <a:srgbClr val="6B7385"/>
                </a:solidFill>
                <a:latin typeface="Courier New"/>
              </a:rPr>
              <a:t>13 </a:t>
            </a:r>
            <a:r>
              <a:rPr sz="950">
                <a:solidFill>
                  <a:srgbClr val="E6EAF0"/>
                </a:solidFill>
                <a:latin typeface="Courier New"/>
              </a:rPr>
              <a:t>ms = pd.DataFrame({"trend": kq.trend, "resid": kq.resid})</a:t>
            </a:r>
          </a:p>
          <a:p>
            <a:r>
              <a:rPr sz="950">
                <a:solidFill>
                  <a:srgbClr val="6B7385"/>
                </a:solidFill>
                <a:latin typeface="Courier New"/>
              </a:rPr>
              <a:t>14 </a:t>
            </a:r>
            <a:r>
              <a:rPr sz="950">
                <a:solidFill>
                  <a:srgbClr val="E6EAF0"/>
                </a:solidFill>
                <a:latin typeface="Courier New"/>
              </a:rPr>
              <a:t>ms = ms.join(kq.seasonal)            </a:t>
            </a:r>
            <a:r>
              <a:rPr sz="950">
                <a:solidFill>
                  <a:srgbClr val="8FC99A"/>
                </a:solidFill>
                <a:latin typeface="Courier New"/>
              </a:rPr>
              <a:t># thêm seasonal_24, seasonal_168</a:t>
            </a:r>
          </a:p>
          <a:p>
            <a:r>
              <a:rPr sz="950">
                <a:solidFill>
                  <a:srgbClr val="6B7385"/>
                </a:solidFill>
                <a:latin typeface="Courier New"/>
              </a:rPr>
              <a:t>15 </a:t>
            </a:r>
            <a:r>
              <a:rPr sz="950">
                <a:solidFill>
                  <a:srgbClr val="E6EAF0"/>
                </a:solidFill>
                <a:latin typeface="Courier New"/>
              </a:rPr>
              <a:t>print(do_manh(ms))                   </a:t>
            </a:r>
            <a:r>
              <a:rPr sz="950">
                <a:solidFill>
                  <a:srgbClr val="8FC99A"/>
                </a:solidFill>
                <a:latin typeface="Courier New"/>
              </a:rPr>
              <a:t># so với cùng hàm trên cổ điển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F_T: phần dư nhỏ tới đâu so với xu hướng.</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F_S cho từng cột mùa vụ, cùng một phần dư.</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12–14</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Gom kết quả MSTL vào một bảng.</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độ mạnh để so giữa các phân rã.</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F_S của mùa vụ ngày: cổ điển 0,618, MSTL 0,829; mùa vụ tuần của MSTL 0,415. Cùng chuỗi, khác phân rã, khác số.</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do_manh(bang)</a:t>
            </a:r>
            <a:r>
              <a:rPr sz="950" b="1" i="0">
                <a:solidFill>
                  <a:srgbClr val="5B6778"/>
                </a:solidFill>
                <a:latin typeface="Arial"/>
              </a:rPr>
              <a:t>   tự viết</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F_T và F_S, số từ 0 tới 1, càng gần 1 càng mạnh.</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var()</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Phương sai của một cột: nó dao động mạnh cỡ nào.</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join</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thêm cột từ bảng khác theo cùng mốc giờ.</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5ce75464ef7.png"/>
          <p:cNvPicPr>
            <a:picLocks noChangeAspect="1"/>
          </p:cNvPicPr>
          <p:nvPr/>
        </p:nvPicPr>
        <p:blipFill>
          <a:blip r:embed="rId2"/>
          <a:stretch>
            <a:fillRect/>
          </a:stretch>
        </p:blipFill>
        <p:spPr>
          <a:xfrm>
            <a:off x="8356091" y="4169663"/>
            <a:ext cx="2791968" cy="329184"/>
          </a:xfrm>
          <a:prstGeom prst="rect">
            <a:avLst/>
          </a:prstGeom>
        </p:spPr>
      </p:pic>
      <p:pic>
        <p:nvPicPr>
          <p:cNvPr id="29" name="Picture 28" descr="kn-do-manh-xu-huong-mua-vu.png"/>
          <p:cNvPicPr>
            <a:picLocks noChangeAspect="1"/>
          </p:cNvPicPr>
          <p:nvPr/>
        </p:nvPicPr>
        <p:blipFill>
          <a:blip r:embed="rId3"/>
          <a:stretch>
            <a:fillRect/>
          </a:stretch>
        </p:blipFill>
        <p:spPr>
          <a:xfrm>
            <a:off x="7987421" y="4745735"/>
            <a:ext cx="3529308" cy="1728216"/>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MSTL robust với một giờ hỏng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trọng số robust tay, rồi thấy robust giữ lỗi một giờ trong phần dư.</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r>
              <a:rPr sz="950">
                <a:solidFill>
                  <a:srgbClr val="E6EAF0"/>
                </a:solidFill>
                <a:latin typeface="Courier New"/>
              </a:rPr>
              <a:t>from statsmodels.tsa.seasonal import MSTL</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phan_du = np.array([1, -2, 1, 20, -1])</a:t>
            </a:r>
          </a:p>
          <a:p>
            <a:r>
              <a:rPr sz="950">
                <a:solidFill>
                  <a:srgbClr val="6B7385"/>
                </a:solidFill>
                <a:latin typeface="Courier New"/>
              </a:rPr>
              <a:t> 6 </a:t>
            </a:r>
            <a:r>
              <a:rPr sz="950">
                <a:solidFill>
                  <a:srgbClr val="E6EAF0"/>
                </a:solidFill>
                <a:latin typeface="Courier New"/>
              </a:rPr>
              <a:t>u = np.abs(phan_du) / (6 * np.median(np.abs(phan_du)))</a:t>
            </a:r>
          </a:p>
          <a:p>
            <a:r>
              <a:rPr sz="950">
                <a:solidFill>
                  <a:srgbClr val="6B7385"/>
                </a:solidFill>
                <a:latin typeface="Courier New"/>
              </a:rPr>
              <a:t> 7 </a:t>
            </a:r>
            <a:r>
              <a:rPr sz="950">
                <a:solidFill>
                  <a:srgbClr val="E6EAF0"/>
                </a:solidFill>
                <a:latin typeface="Courier New"/>
              </a:rPr>
              <a:t>trong_so = np.where(u &lt; 1, (1 - u**2) ** 2, 0)   </a:t>
            </a:r>
            <a:r>
              <a:rPr sz="950">
                <a:solidFill>
                  <a:srgbClr val="8FC99A"/>
                </a:solidFill>
                <a:latin typeface="Courier New"/>
              </a:rPr>
              <a:t># điểm lạ ra 0</a:t>
            </a:r>
          </a:p>
          <a:p>
            <a:r>
              <a:rPr sz="950">
                <a:solidFill>
                  <a:srgbClr val="6B7385"/>
                </a:solidFill>
                <a:latin typeface="Courier New"/>
              </a:rPr>
              <a:t> 8 </a:t>
            </a:r>
          </a:p>
          <a:p>
            <a:r>
              <a:rPr sz="950">
                <a:solidFill>
                  <a:srgbClr val="6B7385"/>
                </a:solidFill>
                <a:latin typeface="Courier New"/>
              </a:rPr>
              <a:t> 9 </a:t>
            </a:r>
            <a:r>
              <a:rPr sz="950">
                <a:solidFill>
                  <a:srgbClr val="8FC99A"/>
                </a:solidFill>
                <a:latin typeface="Courier New"/>
              </a:rPr>
              <a:t># y: nhu cầu PJM theo giờ; ms: kết quả MSTL không robust</a:t>
            </a:r>
          </a:p>
          <a:p>
            <a:r>
              <a:rPr sz="950">
                <a:solidFill>
                  <a:srgbClr val="6B7385"/>
                </a:solidFill>
                <a:latin typeface="Courier New"/>
              </a:rPr>
              <a:t>10 </a:t>
            </a:r>
            <a:r>
              <a:rPr sz="950">
                <a:solidFill>
                  <a:srgbClr val="E6EAF0"/>
                </a:solidFill>
                <a:latin typeface="Courier New"/>
              </a:rPr>
              <a:t>rb = MSTL(y, periods=(24, 168), stl_kwargs={"robust": True}).fit()</a:t>
            </a:r>
          </a:p>
          <a:p>
            <a:r>
              <a:rPr sz="950">
                <a:solidFill>
                  <a:srgbClr val="6B7385"/>
                </a:solidFill>
                <a:latin typeface="Courier New"/>
              </a:rPr>
              <a:t>11 </a:t>
            </a:r>
            <a:r>
              <a:rPr sz="950">
                <a:solidFill>
                  <a:srgbClr val="E6EAF0"/>
                </a:solidFill>
                <a:latin typeface="Courier New"/>
              </a:rPr>
              <a:t>t0 = pd.Timestamp("2024-11-21 17:00")            </a:t>
            </a:r>
            <a:r>
              <a:rPr sz="950">
                <a:solidFill>
                  <a:srgbClr val="8FC99A"/>
                </a:solidFill>
                <a:latin typeface="Courier New"/>
              </a:rPr>
              <a:t># giờ hỏng</a:t>
            </a:r>
          </a:p>
          <a:p>
            <a:r>
              <a:rPr sz="950">
                <a:solidFill>
                  <a:srgbClr val="6B7385"/>
                </a:solidFill>
                <a:latin typeface="Courier New"/>
              </a:rPr>
              <a:t>12 </a:t>
            </a:r>
            <a:r>
              <a:rPr sz="950">
                <a:solidFill>
                  <a:srgbClr val="E6EAF0"/>
                </a:solidFill>
                <a:latin typeface="Courier New"/>
              </a:rPr>
              <a:t>hom_truoc = t0 - pd.Timedelta("1D")              </a:t>
            </a:r>
            <a:r>
              <a:rPr sz="950">
                <a:solidFill>
                  <a:srgbClr val="8FC99A"/>
                </a:solidFill>
                <a:latin typeface="Courier New"/>
              </a:rPr>
              <a:t># ngày không lỗi</a:t>
            </a:r>
          </a:p>
          <a:p>
            <a:r>
              <a:rPr sz="950">
                <a:solidFill>
                  <a:srgbClr val="6B7385"/>
                </a:solidFill>
                <a:latin typeface="Courier New"/>
              </a:rPr>
              <a:t>13 </a:t>
            </a:r>
            <a:r>
              <a:rPr sz="950">
                <a:solidFill>
                  <a:srgbClr val="E6EAF0"/>
                </a:solidFill>
                <a:latin typeface="Courier New"/>
              </a:rPr>
              <a:t>print(ms.seasonal.loc[hom_truoc, "seasonal_24"],</a:t>
            </a:r>
          </a:p>
          <a:p>
            <a:r>
              <a:rPr sz="950">
                <a:solidFill>
                  <a:srgbClr val="6B7385"/>
                </a:solidFill>
                <a:latin typeface="Courier New"/>
              </a:rPr>
              <a:t>14 </a:t>
            </a:r>
            <a:r>
              <a:rPr sz="950">
                <a:solidFill>
                  <a:srgbClr val="E6EAF0"/>
                </a:solidFill>
                <a:latin typeface="Courier New"/>
              </a:rPr>
              <a:t>      rb.seasonal.loc[hom_truoc, "seasonal_24"])</a:t>
            </a:r>
          </a:p>
          <a:p>
            <a:r>
              <a:rPr sz="950">
                <a:solidFill>
                  <a:srgbClr val="6B7385"/>
                </a:solidFill>
                <a:latin typeface="Courier New"/>
              </a:rPr>
              <a:t>15 </a:t>
            </a:r>
            <a:r>
              <a:rPr sz="950">
                <a:solidFill>
                  <a:srgbClr val="E6EAF0"/>
                </a:solidFill>
                <a:latin typeface="Courier New"/>
              </a:rPr>
              <a:t>print(ms.resid[t0], rb.resid[t0])                </a:t>
            </a:r>
            <a:r>
              <a:rPr sz="950">
                <a:solidFill>
                  <a:srgbClr val="8FC99A"/>
                </a:solidFill>
                <a:latin typeface="Courier New"/>
              </a:rPr>
              <a:t># lỗi nằm ở đâu</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|phần dư| cho 6 lần trung vị của nó.</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Trọng số: gần 1 là tin, 0 là bỏ qua.</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Bật robust cho từng lượt STL bên trong.</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Mùa vụ ngày hôm trước có bị kéo lệch không.</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Phần dư ở giờ hỏng: robust giữ trọn cú rơi.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điểm 20 trọng số 0, điểm −2 là 0,79. Không robust, mùa vụ ngày 20/11 lệch khoảng 6.200 MW; robust giữ lỗi trong phần dư.</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np.median</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số đứng giữa, không bị điểm lạ kéo đi.</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np.where(điều kiện, a, b)</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Chỗ nào đúng điều kiện lấy a, còn lại lấy b.</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stl_kwargs={"robust": True}</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Bảo MSTL giảm trọng số điểm có phần dư quá lớn.</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7bb50eb9ecf.png"/>
          <p:cNvPicPr>
            <a:picLocks noChangeAspect="1"/>
          </p:cNvPicPr>
          <p:nvPr/>
        </p:nvPicPr>
        <p:blipFill>
          <a:blip r:embed="rId2"/>
          <a:stretch>
            <a:fillRect/>
          </a:stretch>
        </p:blipFill>
        <p:spPr>
          <a:xfrm>
            <a:off x="8203691" y="4157471"/>
            <a:ext cx="3096768" cy="353568"/>
          </a:xfrm>
          <a:prstGeom prst="rect">
            <a:avLst/>
          </a:prstGeom>
        </p:spPr>
      </p:pic>
      <p:pic>
        <p:nvPicPr>
          <p:cNvPr id="31" name="Picture 30" descr="kn-robust.png"/>
          <p:cNvPicPr>
            <a:picLocks noChangeAspect="1"/>
          </p:cNvPicPr>
          <p:nvPr/>
        </p:nvPicPr>
        <p:blipFill>
          <a:blip r:embed="rId3"/>
          <a:stretch>
            <a:fillRect/>
          </a:stretch>
        </p:blipFill>
        <p:spPr>
          <a:xfrm>
            <a:off x="8062371" y="4745735"/>
            <a:ext cx="3379408" cy="1728216"/>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ACF tự viết và ba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tính ACF bằng vài dòng NumPy, khớp với thư viện, rồi nhìn ba hình dạng cần nhớ.</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acf</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acf_tu_viet(y, so_tre):</a:t>
            </a:r>
          </a:p>
          <a:p>
            <a:r>
              <a:rPr sz="850">
                <a:solidFill>
                  <a:srgbClr val="6B7385"/>
                </a:solidFill>
                <a:latin typeface="Courier New"/>
              </a:rPr>
              <a:t> 5 </a:t>
            </a:r>
            <a:r>
              <a:rPr sz="850">
                <a:solidFill>
                  <a:srgbClr val="E6EAF0"/>
                </a:solidFill>
                <a:latin typeface="Courier New"/>
              </a:rPr>
              <a:t>    y = np.asarray(y, dtype=float)</a:t>
            </a:r>
          </a:p>
          <a:p>
            <a:r>
              <a:rPr sz="850">
                <a:solidFill>
                  <a:srgbClr val="6B7385"/>
                </a:solidFill>
                <a:latin typeface="Courier New"/>
              </a:rPr>
              <a:t> 6 </a:t>
            </a:r>
            <a:r>
              <a:rPr sz="850">
                <a:solidFill>
                  <a:srgbClr val="E6EAF0"/>
                </a:solidFill>
                <a:latin typeface="Courier New"/>
              </a:rPr>
              <a:t>    lech = y - np.nanmean(y)                  </a:t>
            </a:r>
            <a:r>
              <a:rPr sz="850">
                <a:solidFill>
                  <a:srgbClr val="8FC99A"/>
                </a:solidFill>
                <a:latin typeface="Courier New"/>
              </a:rPr>
              <a:t># độ lệch khỏi trung bình</a:t>
            </a:r>
          </a:p>
          <a:p>
            <a:r>
              <a:rPr sz="850">
                <a:solidFill>
                  <a:srgbClr val="6B7385"/>
                </a:solidFill>
                <a:latin typeface="Courier New"/>
              </a:rPr>
              <a:t> 7 </a:t>
            </a:r>
            <a:r>
              <a:rPr sz="850">
                <a:solidFill>
                  <a:srgbClr val="E6EAF0"/>
                </a:solidFill>
                <a:latin typeface="Courier New"/>
              </a:rPr>
              <a:t>    mau = np.nansum(lech**2)                  </a:t>
            </a:r>
            <a:r>
              <a:rPr sz="850">
                <a:solidFill>
                  <a:srgbClr val="8FC99A"/>
                </a:solidFill>
                <a:latin typeface="Courier New"/>
              </a:rPr>
              <a:t># mẫu: tính trên CẢ chuỗi</a:t>
            </a:r>
          </a:p>
          <a:p>
            <a:r>
              <a:rPr sz="850">
                <a:solidFill>
                  <a:srgbClr val="6B7385"/>
                </a:solidFill>
                <a:latin typeface="Courier New"/>
              </a:rPr>
              <a:t> 8 </a:t>
            </a:r>
            <a:r>
              <a:rPr sz="850">
                <a:solidFill>
                  <a:srgbClr val="E6EAF0"/>
                </a:solidFill>
                <a:latin typeface="Courier New"/>
              </a:rPr>
              <a:t>    return np.array([1.0] + [np.nansum(lech[k:] * lech[:-k]) / mau</a:t>
            </a:r>
          </a:p>
          <a:p>
            <a:r>
              <a:rPr sz="850">
                <a:solidFill>
                  <a:srgbClr val="6B7385"/>
                </a:solidFill>
                <a:latin typeface="Courier New"/>
              </a:rPr>
              <a:t> 9 </a:t>
            </a:r>
            <a:r>
              <a:rPr sz="850">
                <a:solidFill>
                  <a:srgbClr val="E6EAF0"/>
                </a:solidFill>
                <a:latin typeface="Courier New"/>
              </a:rPr>
              <a:t>                             for k in range(1, so_tre + 1)])</a:t>
            </a:r>
          </a:p>
          <a:p>
            <a:r>
              <a:rPr sz="850">
                <a:solidFill>
                  <a:srgbClr val="6B7385"/>
                </a:solidFill>
                <a:latin typeface="Courier New"/>
              </a:rPr>
              <a:t>10 </a:t>
            </a:r>
          </a:p>
          <a:p>
            <a:r>
              <a:rPr sz="850">
                <a:solidFill>
                  <a:srgbClr val="6B7385"/>
                </a:solidFill>
                <a:latin typeface="Courier New"/>
              </a:rPr>
              <a:t>11 </a:t>
            </a:r>
            <a:r>
              <a:rPr sz="850">
                <a:solidFill>
                  <a:srgbClr val="E6EAF0"/>
                </a:solidFill>
                <a:latin typeface="Courier New"/>
              </a:rPr>
              <a:t>y = [2, 3, 5, 6, 5, 3]</a:t>
            </a:r>
          </a:p>
          <a:p>
            <a:r>
              <a:rPr sz="850">
                <a:solidFill>
                  <a:srgbClr val="6B7385"/>
                </a:solidFill>
                <a:latin typeface="Courier New"/>
              </a:rPr>
              <a:t>12 </a:t>
            </a:r>
            <a:r>
              <a:rPr sz="850">
                <a:solidFill>
                  <a:srgbClr val="E6EAF0"/>
                </a:solidFill>
                <a:latin typeface="Courier New"/>
              </a:rPr>
              <a:t>print(acf_tu_viet(y, 2)[1:])                  </a:t>
            </a:r>
            <a:r>
              <a:rPr sz="850">
                <a:solidFill>
                  <a:srgbClr val="8FC99A"/>
                </a:solidFill>
                <a:latin typeface="Courier New"/>
              </a:rPr>
              <a:t># tự viết</a:t>
            </a:r>
          </a:p>
          <a:p>
            <a:r>
              <a:rPr sz="850">
                <a:solidFill>
                  <a:srgbClr val="6B7385"/>
                </a:solidFill>
                <a:latin typeface="Courier New"/>
              </a:rPr>
              <a:t>13 </a:t>
            </a:r>
            <a:r>
              <a:rPr sz="850">
                <a:solidFill>
                  <a:srgbClr val="E6EAF0"/>
                </a:solidFill>
                <a:latin typeface="Courier New"/>
              </a:rPr>
              <a:t>print(acf(y, nlags=2, adjusted=False)[1:])    </a:t>
            </a:r>
            <a:r>
              <a:rPr sz="850">
                <a:solidFill>
                  <a:srgbClr val="8FC99A"/>
                </a:solidFill>
                <a:latin typeface="Courier New"/>
              </a:rPr>
              <a:t># thư viện, phải ra y hệt</a:t>
            </a:r>
          </a:p>
          <a:p>
            <a:r>
              <a:rPr sz="850">
                <a:solidFill>
                  <a:srgbClr val="6B7385"/>
                </a:solidFill>
                <a:latin typeface="Courier New"/>
              </a:rPr>
              <a:t>14 </a:t>
            </a:r>
            <a:r>
              <a:rPr sz="850">
                <a:solidFill>
                  <a:srgbClr val="E6EAF0"/>
                </a:solidFill>
                <a:latin typeface="Courier New"/>
              </a:rPr>
              <a:t>e = np.random.default_rng(42).normal(size=500)</a:t>
            </a:r>
          </a:p>
          <a:p>
            <a:r>
              <a:rPr sz="850">
                <a:solidFill>
                  <a:srgbClr val="6B7385"/>
                </a:solidFill>
                <a:latin typeface="Courier New"/>
              </a:rPr>
              <a:t>15 </a:t>
            </a:r>
            <a:r>
              <a:rPr sz="850">
                <a:solidFill>
                  <a:srgbClr val="E6EAF0"/>
                </a:solidFill>
                <a:latin typeface="Courier New"/>
              </a:rPr>
              <a:t>ba = {"nhiễu trắng": e, "random walk": e.cumsum()}</a:t>
            </a:r>
          </a:p>
          <a:p>
            <a:r>
              <a:rPr sz="850">
                <a:solidFill>
                  <a:srgbClr val="6B7385"/>
                </a:solidFill>
                <a:latin typeface="Courier New"/>
              </a:rPr>
              <a:t>16 </a:t>
            </a:r>
            <a:r>
              <a:rPr sz="850">
                <a:solidFill>
                  <a:srgbClr val="E6EAF0"/>
                </a:solidFill>
                <a:latin typeface="Courier New"/>
              </a:rPr>
              <a:t>r = {ten: acf_tu_viet(v, 30) for ten, v in ba.items()}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Lấy độ lệch, mẫu số chung cho mọi trễ.</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Mỗi trễ k: cộng tích hai độ lệch cách k bước.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Ví dụ tay sáu số, so với statsmodels.</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Tính ACF cho nhiễu trắng và random walk.</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r1 = 0,333 và r2 = −0,417 như tính tay. Nhiễu trắng quanh 0; random walk giảm rất chậm; lượt thuê có đỉnh ở trễ 24, 48.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acf_tu_viet</a:t>
            </a:r>
            <a:r>
              <a:rPr sz="950" b="1" i="0">
                <a:solidFill>
                  <a:srgbClr val="5B6778"/>
                </a:solidFill>
                <a:latin typeface="Arial"/>
              </a:rPr>
              <a:t>   tự viết</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tự tương quan r_k cho các trễ 0 tới so_tre, trễ 0 luôn là 1.</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acf(y, nlags, adjusted=False)</a:t>
            </a:r>
            <a:r>
              <a:rPr sz="950" b="1" i="0">
                <a:solidFill>
                  <a:srgbClr val="5B6778"/>
                </a:solidFill>
                <a:latin typeface="Arial"/>
              </a:rPr>
              <a:t>   statsmodels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Cùng phép tính đó; adjusted=False để chia cho tổng của cả chuỗi.</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cumsum()</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dồn: biến dãy nhiễu thành đường đi của random walk.</a:t>
            </a:r>
          </a:p>
        </p:txBody>
      </p:sp>
      <p:sp>
        <p:nvSpPr>
          <p:cNvPr id="27" name="Rounded Rectangle 26"/>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50ce81e2cd7f.png"/>
          <p:cNvPicPr>
            <a:picLocks noChangeAspect="1"/>
          </p:cNvPicPr>
          <p:nvPr/>
        </p:nvPicPr>
        <p:blipFill>
          <a:blip r:embed="rId2"/>
          <a:stretch>
            <a:fillRect/>
          </a:stretch>
        </p:blipFill>
        <p:spPr>
          <a:xfrm>
            <a:off x="8776631" y="4114799"/>
            <a:ext cx="1950889" cy="786384"/>
          </a:xfrm>
          <a:prstGeom prst="rect">
            <a:avLst/>
          </a:prstGeom>
        </p:spPr>
      </p:pic>
      <p:pic>
        <p:nvPicPr>
          <p:cNvPr id="29" name="Picture 28" descr="kn-acf.png"/>
          <p:cNvPicPr>
            <a:picLocks noChangeAspect="1"/>
          </p:cNvPicPr>
          <p:nvPr/>
        </p:nvPicPr>
        <p:blipFill>
          <a:blip r:embed="rId3"/>
          <a:stretch>
            <a:fillRect/>
          </a:stretch>
        </p:blipFill>
        <p:spPr>
          <a:xfrm>
            <a:off x="8384718" y="5093207"/>
            <a:ext cx="2734714" cy="1380744"/>
          </a:xfrm>
          <a:prstGeom prst="rect">
            <a:avLst/>
          </a:prstGeom>
        </p:spPr>
      </p:pic>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ACF và PACF của bốn chuỗi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PACF tách được AR(1), còn ACF không phân biệt random walk với xu hướng.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acf, pacf</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e = np.random.default_rng(42).normal(size=500)   </a:t>
            </a:r>
            <a:r>
              <a:rPr sz="850">
                <a:solidFill>
                  <a:srgbClr val="8FC99A"/>
                </a:solidFill>
                <a:latin typeface="Courier New"/>
              </a:rPr>
              <a:t># một dãy nhiễu chung</a:t>
            </a:r>
          </a:p>
          <a:p>
            <a:r>
              <a:rPr sz="850">
                <a:solidFill>
                  <a:srgbClr val="6B7385"/>
                </a:solidFill>
                <a:latin typeface="Courier New"/>
              </a:rPr>
              <a:t> 5 </a:t>
            </a:r>
            <a:r>
              <a:rPr sz="850">
                <a:solidFill>
                  <a:srgbClr val="E6EAF0"/>
                </a:solidFill>
                <a:latin typeface="Courier New"/>
              </a:rPr>
              <a:t>ar = np.empty(500)</a:t>
            </a:r>
          </a:p>
          <a:p>
            <a:r>
              <a:rPr sz="850">
                <a:solidFill>
                  <a:srgbClr val="6B7385"/>
                </a:solidFill>
                <a:latin typeface="Courier New"/>
              </a:rPr>
              <a:t> 6 </a:t>
            </a:r>
            <a:r>
              <a:rPr sz="850">
                <a:solidFill>
                  <a:srgbClr val="E6EAF0"/>
                </a:solidFill>
                <a:latin typeface="Courier New"/>
              </a:rPr>
              <a:t>ar[0] = e[0]</a:t>
            </a:r>
          </a:p>
          <a:p>
            <a:r>
              <a:rPr sz="850">
                <a:solidFill>
                  <a:srgbClr val="6B7385"/>
                </a:solidFill>
                <a:latin typeface="Courier New"/>
              </a:rPr>
              <a:t> 7 </a:t>
            </a:r>
            <a:r>
              <a:rPr sz="850">
                <a:solidFill>
                  <a:srgbClr val="E6EAF0"/>
                </a:solidFill>
                <a:latin typeface="Courier New"/>
              </a:rPr>
              <a:t>for t in range(1, 500):</a:t>
            </a:r>
          </a:p>
          <a:p>
            <a:r>
              <a:rPr sz="850">
                <a:solidFill>
                  <a:srgbClr val="6B7385"/>
                </a:solidFill>
                <a:latin typeface="Courier New"/>
              </a:rPr>
              <a:t> 8 </a:t>
            </a:r>
            <a:r>
              <a:rPr sz="850">
                <a:solidFill>
                  <a:srgbClr val="E6EAF0"/>
                </a:solidFill>
                <a:latin typeface="Courier New"/>
              </a:rPr>
              <a:t>    ar[t] = 0.7 * ar[t - 1] + e[t]               </a:t>
            </a:r>
            <a:r>
              <a:rPr sz="850">
                <a:solidFill>
                  <a:srgbClr val="8FC99A"/>
                </a:solidFill>
                <a:latin typeface="Courier New"/>
              </a:rPr>
              <a:t># AR(1), phi = 0,7</a:t>
            </a:r>
          </a:p>
          <a:p>
            <a:r>
              <a:rPr sz="850">
                <a:solidFill>
                  <a:srgbClr val="6B7385"/>
                </a:solidFill>
                <a:latin typeface="Courier New"/>
              </a:rPr>
              <a:t> 9 </a:t>
            </a:r>
            <a:r>
              <a:rPr sz="850">
                <a:solidFill>
                  <a:srgbClr val="E6EAF0"/>
                </a:solidFill>
                <a:latin typeface="Courier New"/>
              </a:rPr>
              <a:t>bon = {"nhiễu trắng": e, "AR(1)": ar, "random walk": e.cumsum(),</a:t>
            </a:r>
          </a:p>
          <a:p>
            <a:r>
              <a:rPr sz="850">
                <a:solidFill>
                  <a:srgbClr val="6B7385"/>
                </a:solidFill>
                <a:latin typeface="Courier New"/>
              </a:rPr>
              <a:t>10 </a:t>
            </a:r>
            <a:r>
              <a:rPr sz="850">
                <a:solidFill>
                  <a:srgbClr val="E6EAF0"/>
                </a:solidFill>
                <a:latin typeface="Courier New"/>
              </a:rPr>
              <a:t>       "xu hướng 0,05t": 0.05 * np.arange(500) + e}</a:t>
            </a:r>
          </a:p>
          <a:p>
            <a:r>
              <a:rPr sz="850">
                <a:solidFill>
                  <a:srgbClr val="6B7385"/>
                </a:solidFill>
                <a:latin typeface="Courier New"/>
              </a:rPr>
              <a:t>11 </a:t>
            </a:r>
            <a:r>
              <a:rPr sz="850">
                <a:solidFill>
                  <a:srgbClr val="E6EAF0"/>
                </a:solidFill>
                <a:latin typeface="Courier New"/>
              </a:rPr>
              <a:t>DAI = 1.96 / np.sqrt(500)                        </a:t>
            </a:r>
            <a:r>
              <a:rPr sz="850">
                <a:solidFill>
                  <a:srgbClr val="8FC99A"/>
                </a:solidFill>
                <a:latin typeface="Courier New"/>
              </a:rPr>
              <a:t># dải ±1,96/√T</a:t>
            </a:r>
          </a:p>
          <a:p>
            <a:r>
              <a:rPr sz="850">
                <a:solidFill>
                  <a:srgbClr val="6B7385"/>
                </a:solidFill>
                <a:latin typeface="Courier New"/>
              </a:rPr>
              <a:t>12 </a:t>
            </a:r>
            <a:r>
              <a:rPr sz="850">
                <a:solidFill>
                  <a:srgbClr val="E6EAF0"/>
                </a:solidFill>
                <a:latin typeface="Courier New"/>
              </a:rPr>
              <a:t>bang = {}</a:t>
            </a:r>
          </a:p>
          <a:p>
            <a:r>
              <a:rPr sz="850">
                <a:solidFill>
                  <a:srgbClr val="6B7385"/>
                </a:solidFill>
                <a:latin typeface="Courier New"/>
              </a:rPr>
              <a:t>13 </a:t>
            </a:r>
            <a:r>
              <a:rPr sz="850">
                <a:solidFill>
                  <a:srgbClr val="E6EAF0"/>
                </a:solidFill>
                <a:latin typeface="Courier New"/>
              </a:rPr>
              <a:t>for ten, y in bon.items():</a:t>
            </a:r>
          </a:p>
          <a:p>
            <a:r>
              <a:rPr sz="850">
                <a:solidFill>
                  <a:srgbClr val="6B7385"/>
                </a:solidFill>
                <a:latin typeface="Courier New"/>
              </a:rPr>
              <a:t>14 </a:t>
            </a:r>
            <a:r>
              <a:rPr sz="850">
                <a:solidFill>
                  <a:srgbClr val="E6EAF0"/>
                </a:solidFill>
                <a:latin typeface="Courier New"/>
              </a:rPr>
              <a:t>    r = acf(y, nlags=30, adjusted=False)</a:t>
            </a:r>
          </a:p>
          <a:p>
            <a:r>
              <a:rPr sz="850">
                <a:solidFill>
                  <a:srgbClr val="6B7385"/>
                </a:solidFill>
                <a:latin typeface="Courier New"/>
              </a:rPr>
              <a:t>15 </a:t>
            </a:r>
            <a:r>
              <a:rPr sz="850">
                <a:solidFill>
                  <a:srgbClr val="E6EAF0"/>
                </a:solidFill>
                <a:latin typeface="Courier New"/>
              </a:rPr>
              <a:t>    p = pacf(y, nlags=30, method="ywm")          </a:t>
            </a:r>
            <a:r>
              <a:rPr sz="850">
                <a:solidFill>
                  <a:srgbClr val="8FC99A"/>
                </a:solidFill>
                <a:latin typeface="Courier New"/>
              </a:rPr>
              <a:t># khai method rõ ràng</a:t>
            </a:r>
          </a:p>
          <a:p>
            <a:r>
              <a:rPr sz="850">
                <a:solidFill>
                  <a:srgbClr val="6B7385"/>
                </a:solidFill>
                <a:latin typeface="Courier New"/>
              </a:rPr>
              <a:t>16 </a:t>
            </a:r>
            <a:r>
              <a:rPr sz="850">
                <a:solidFill>
                  <a:srgbClr val="E6EAF0"/>
                </a:solidFill>
                <a:latin typeface="Courier New"/>
              </a:rPr>
              <a:t>    bang[ten] = {"r1": r[1], "r30": r[30], "PACF1": p[1], "PACF2": p[2]}</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Dựng AR(1): hôm nay bằng 0,7 lần hôm qua.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Bốn chuỗi dùng chung một dãy nhiễu.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Dải để xem cột nào đáng chú ý.</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ACF, PACF và giữ vài con số.</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Khai method vì mặc định hai hàm khác nhau.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AR(1): ACF giảm nhanh, PACF cắt sau trễ 1. Random walk và xu hướng đều có r1 gần 0,98: chỉ nhìn ACF không phân biệt được.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pacf(y, nlags, method="ywm")</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riêng phần: phần còn lại sau khi bỏ các trễ ngắn hơn.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acf(y, nlags)</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tự tương quan r_k cho từng trễ k.</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np.empty(n)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mảng n chỗ trống để điền dần từng bước.</a:t>
            </a:r>
          </a:p>
        </p:txBody>
      </p:sp>
      <p:sp>
        <p:nvSpPr>
          <p:cNvPr id="29" name="Rounded Rectangle 28"/>
          <p:cNvSpPr/>
          <p:nvPr/>
        </p:nvSpPr>
        <p:spPr>
          <a:xfrm>
            <a:off x="7863840" y="4059935"/>
            <a:ext cx="3776472" cy="551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96096bb0994.png"/>
          <p:cNvPicPr>
            <a:picLocks noChangeAspect="1"/>
          </p:cNvPicPr>
          <p:nvPr/>
        </p:nvPicPr>
        <p:blipFill>
          <a:blip r:embed="rId2"/>
          <a:stretch>
            <a:fillRect/>
          </a:stretch>
        </p:blipFill>
        <p:spPr>
          <a:xfrm>
            <a:off x="9200388" y="4114799"/>
            <a:ext cx="1103376" cy="441959"/>
          </a:xfrm>
          <a:prstGeom prst="rect">
            <a:avLst/>
          </a:prstGeom>
        </p:spPr>
      </p:pic>
      <p:pic>
        <p:nvPicPr>
          <p:cNvPr id="31" name="Picture 30" descr="kn-pacf.png"/>
          <p:cNvPicPr>
            <a:picLocks noChangeAspect="1"/>
          </p:cNvPicPr>
          <p:nvPr/>
        </p:nvPicPr>
        <p:blipFill>
          <a:blip r:embed="rId3"/>
          <a:stretch>
            <a:fillRect/>
          </a:stretch>
        </p:blipFill>
        <p:spPr>
          <a:xfrm>
            <a:off x="8065351" y="4748783"/>
            <a:ext cx="3373448" cy="1725168"/>
          </a:xfrm>
          <a:prstGeom prst="rect">
            <a:avLst/>
          </a:prstGeom>
        </p:spPr>
      </p:pic>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gộp nhiều r_k bằng Ljung-Box</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Thay việc đếm cột vượt dải bằng một con số Q* và một p-value.</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scipy import stats</a:t>
            </a:r>
          </a:p>
          <a:p>
            <a:r>
              <a:rPr sz="950">
                <a:solidFill>
                  <a:srgbClr val="6B7385"/>
                </a:solidFill>
                <a:latin typeface="Courier New"/>
              </a:rPr>
              <a:t> 3 </a:t>
            </a:r>
            <a:r>
              <a:rPr sz="950">
                <a:solidFill>
                  <a:srgbClr val="E6EAF0"/>
                </a:solidFill>
                <a:latin typeface="Courier New"/>
              </a:rPr>
              <a:t>from statsmodels.stats.diagnostic import acorr_ljungbox</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T, r = 100, np.array([0.2, 0.1])                 </a:t>
            </a:r>
            <a:r>
              <a:rPr sz="950">
                <a:solidFill>
                  <a:srgbClr val="8FC99A"/>
                </a:solidFill>
                <a:latin typeface="Courier New"/>
              </a:rPr>
              <a:t># ví dụ tay: 100 điểm</a:t>
            </a:r>
          </a:p>
          <a:p>
            <a:r>
              <a:rPr sz="950">
                <a:solidFill>
                  <a:srgbClr val="6B7385"/>
                </a:solidFill>
                <a:latin typeface="Courier New"/>
              </a:rPr>
              <a:t> 6 </a:t>
            </a:r>
            <a:r>
              <a:rPr sz="950">
                <a:solidFill>
                  <a:srgbClr val="E6EAF0"/>
                </a:solidFill>
                <a:latin typeface="Courier New"/>
              </a:rPr>
              <a:t>Q = T * (T + 2) * np.sum(r**2 / (T - np.arange(1, 3)))</a:t>
            </a:r>
          </a:p>
          <a:p>
            <a:r>
              <a:rPr sz="950">
                <a:solidFill>
                  <a:srgbClr val="6B7385"/>
                </a:solidFill>
                <a:latin typeface="Courier New"/>
              </a:rPr>
              <a:t> 7 </a:t>
            </a:r>
            <a:r>
              <a:rPr sz="950">
                <a:solidFill>
                  <a:srgbClr val="E6EAF0"/>
                </a:solidFill>
                <a:latin typeface="Courier New"/>
              </a:rPr>
              <a:t>nguong = stats.chi2.ppf(0.95, 2)                 </a:t>
            </a:r>
            <a:r>
              <a:rPr sz="950">
                <a:solidFill>
                  <a:srgbClr val="8FC99A"/>
                </a:solidFill>
                <a:latin typeface="Courier New"/>
              </a:rPr>
              <a:t># ngưỡng 5%, 2 bậc tự do</a:t>
            </a:r>
          </a:p>
          <a:p>
            <a:r>
              <a:rPr sz="950">
                <a:solidFill>
                  <a:srgbClr val="6B7385"/>
                </a:solidFill>
                <a:latin typeface="Courier New"/>
              </a:rPr>
              <a:t> 8 </a:t>
            </a:r>
            <a:r>
              <a:rPr sz="950">
                <a:solidFill>
                  <a:srgbClr val="E6EAF0"/>
                </a:solidFill>
                <a:latin typeface="Courier New"/>
              </a:rPr>
              <a:t>p = stats.chi2.sf(Q, 2)</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for s in (1, 2, 3):</a:t>
            </a:r>
          </a:p>
          <a:p>
            <a:r>
              <a:rPr sz="950">
                <a:solidFill>
                  <a:srgbClr val="6B7385"/>
                </a:solidFill>
                <a:latin typeface="Courier New"/>
              </a:rPr>
              <a:t>11 </a:t>
            </a:r>
            <a:r>
              <a:rPr sz="950">
                <a:solidFill>
                  <a:srgbClr val="E6EAF0"/>
                </a:solidFill>
                <a:latin typeface="Courier New"/>
              </a:rPr>
              <a:t>    nhieu = np.random.default_rng(s).normal(size=500)</a:t>
            </a:r>
          </a:p>
          <a:p>
            <a:r>
              <a:rPr sz="950">
                <a:solidFill>
                  <a:srgbClr val="6B7385"/>
                </a:solidFill>
                <a:latin typeface="Courier New"/>
              </a:rPr>
              <a:t>12 </a:t>
            </a:r>
            <a:r>
              <a:rPr sz="950">
                <a:solidFill>
                  <a:srgbClr val="E6EAF0"/>
                </a:solidFill>
                <a:latin typeface="Courier New"/>
              </a:rPr>
              <a:t>    kq0 = acorr_ljungbox(nhieu, lags=[10])</a:t>
            </a:r>
          </a:p>
          <a:p>
            <a:r>
              <a:rPr sz="950">
                <a:solidFill>
                  <a:srgbClr val="6B7385"/>
                </a:solidFill>
                <a:latin typeface="Courier New"/>
              </a:rPr>
              <a:t>13 </a:t>
            </a:r>
            <a:r>
              <a:rPr sz="950">
                <a:solidFill>
                  <a:srgbClr val="E6EAF0"/>
                </a:solidFill>
                <a:latin typeface="Courier New"/>
              </a:rPr>
              <a:t>    </a:t>
            </a:r>
            <a:r>
              <a:rPr sz="950">
                <a:solidFill>
                  <a:srgbClr val="8FC99A"/>
                </a:solidFill>
                <a:latin typeface="Courier New"/>
              </a:rPr>
              <a:t># nếu là sai số của mô hình 2 tham số: trừ bậc tự do</a:t>
            </a:r>
          </a:p>
          <a:p>
            <a:r>
              <a:rPr sz="950">
                <a:solidFill>
                  <a:srgbClr val="6B7385"/>
                </a:solidFill>
                <a:latin typeface="Courier New"/>
              </a:rPr>
              <a:t>14 </a:t>
            </a:r>
            <a:r>
              <a:rPr sz="950">
                <a:solidFill>
                  <a:srgbClr val="E6EAF0"/>
                </a:solidFill>
                <a:latin typeface="Courier New"/>
              </a:rPr>
              <a:t>    kq2 = acorr_ljungbox(nhieu, lags=[10], model_df=2)</a:t>
            </a:r>
          </a:p>
          <a:p>
            <a:r>
              <a:rPr sz="950">
                <a:solidFill>
                  <a:srgbClr val="6B7385"/>
                </a:solidFill>
                <a:latin typeface="Courier New"/>
              </a:rPr>
              <a:t>15 </a:t>
            </a:r>
            <a:r>
              <a:rPr sz="950">
                <a:solidFill>
                  <a:srgbClr val="E6EAF0"/>
                </a:solidFill>
                <a:latin typeface="Courier New"/>
              </a:rPr>
              <a:t>    print(kq0["lb_pvalue"].iloc[0], kq2["lb_pvalue"].iloc[0])</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Q* bằng tay theo công thức.</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Tra ngưỡng và p từ phân phối khi bình phương.</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10–12</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Kiểm 10 trễ trên ba chuỗi nhiễu trắng.</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model_df=2 khi kiểm sai số của mô hình.</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Q* = 5,16 &lt; 5,99: không bác bỏ. Ba chuỗi nhiễu cho p từ 0,081 tới 0,885; model_df=2 làm p nhỏ đi.</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acorr_ljungbox(y, lags, model_df)</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Ljung-Box, trả bảng có cột lb_stat và lb_pvalue.</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stats.chi2.ppf(0.95, df)</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Ngưỡng mà chỉ 5% giá trị của phân phối vượt qua.</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stats.chi2.sf(Q, df)</a:t>
            </a:r>
            <a:r>
              <a:rPr sz="950" b="1" i="0">
                <a:solidFill>
                  <a:srgbClr val="5B6778"/>
                </a:solidFill>
                <a:latin typeface="Arial"/>
              </a:rPr>
              <a:t>   scipy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p-value: xác suất gặp Q lớn cỡ này nếu là nhiễu trắng.</a:t>
            </a:r>
          </a:p>
        </p:txBody>
      </p:sp>
      <p:sp>
        <p:nvSpPr>
          <p:cNvPr id="27" name="Rounded Rectangle 26"/>
          <p:cNvSpPr/>
          <p:nvPr/>
        </p:nvSpPr>
        <p:spPr>
          <a:xfrm>
            <a:off x="7863840" y="4059935"/>
            <a:ext cx="3776472" cy="7040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90497078ea4.png"/>
          <p:cNvPicPr>
            <a:picLocks noChangeAspect="1"/>
          </p:cNvPicPr>
          <p:nvPr/>
        </p:nvPicPr>
        <p:blipFill>
          <a:blip r:embed="rId2"/>
          <a:stretch>
            <a:fillRect/>
          </a:stretch>
        </p:blipFill>
        <p:spPr>
          <a:xfrm>
            <a:off x="8654796" y="4114799"/>
            <a:ext cx="2194560" cy="594360"/>
          </a:xfrm>
          <a:prstGeom prst="rect">
            <a:avLst/>
          </a:prstGeom>
        </p:spPr>
      </p:pic>
      <p:pic>
        <p:nvPicPr>
          <p:cNvPr id="29" name="Picture 28" descr="kn-ljung-box.png"/>
          <p:cNvPicPr>
            <a:picLocks noChangeAspect="1"/>
          </p:cNvPicPr>
          <p:nvPr/>
        </p:nvPicPr>
        <p:blipFill>
          <a:blip r:embed="rId3"/>
          <a:stretch>
            <a:fillRect/>
          </a:stretch>
        </p:blipFill>
        <p:spPr>
          <a:xfrm>
            <a:off x="8363308" y="4901183"/>
            <a:ext cx="2777534" cy="1572768"/>
          </a:xfrm>
          <a:prstGeom prst="rect">
            <a:avLst/>
          </a:prstGeom>
        </p:spPr>
      </p:pic>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hai loại không dừng, hai thuốc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random walk dao động to dần, và mỗi loại không dừng cần một cách chữa riêng.</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statsmodels.tsa.stattools import acf</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10.000 người tung đồng xu, mỗi người 100 bước</a:t>
            </a:r>
          </a:p>
          <a:p>
            <a:r>
              <a:rPr sz="950">
                <a:solidFill>
                  <a:srgbClr val="6B7385"/>
                </a:solidFill>
                <a:latin typeface="Courier New"/>
              </a:rPr>
              <a:t> 5 </a:t>
            </a:r>
            <a:r>
              <a:rPr sz="950">
                <a:solidFill>
                  <a:srgbClr val="E6EAF0"/>
                </a:solidFill>
                <a:latin typeface="Courier New"/>
              </a:rPr>
              <a:t>buoc = np.random.default_rng(7).choice([-1, 1], size=(10_000, 100))</a:t>
            </a:r>
          </a:p>
          <a:p>
            <a:r>
              <a:rPr sz="950">
                <a:solidFill>
                  <a:srgbClr val="6B7385"/>
                </a:solidFill>
                <a:latin typeface="Courier New"/>
              </a:rPr>
              <a:t> 6 </a:t>
            </a:r>
            <a:r>
              <a:rPr sz="950">
                <a:solidFill>
                  <a:srgbClr val="E6EAF0"/>
                </a:solidFill>
                <a:latin typeface="Courier New"/>
              </a:rPr>
              <a:t>vi_tri = buoc.cumsum(axis=1)</a:t>
            </a:r>
          </a:p>
          <a:p>
            <a:r>
              <a:rPr sz="950">
                <a:solidFill>
                  <a:srgbClr val="6B7385"/>
                </a:solidFill>
                <a:latin typeface="Courier New"/>
              </a:rPr>
              <a:t> 7 </a:t>
            </a:r>
            <a:r>
              <a:rPr sz="950">
                <a:solidFill>
                  <a:srgbClr val="E6EAF0"/>
                </a:solidFill>
                <a:latin typeface="Courier New"/>
              </a:rPr>
              <a:t>do_lech = vi_tri[:, [3, 24, 99]].std(axis=0)     </a:t>
            </a:r>
            <a:r>
              <a:rPr sz="950">
                <a:solidFill>
                  <a:srgbClr val="8FC99A"/>
                </a:solidFill>
                <a:latin typeface="Courier New"/>
              </a:rPr>
              <a:t># sau 4, 25, 100 bước</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e = np.random.default_rng(42).normal(size=500)</a:t>
            </a:r>
          </a:p>
          <a:p>
            <a:r>
              <a:rPr sz="950">
                <a:solidFill>
                  <a:srgbClr val="6B7385"/>
                </a:solidFill>
                <a:latin typeface="Courier New"/>
              </a:rPr>
              <a:t>10 </a:t>
            </a:r>
            <a:r>
              <a:rPr sz="950">
                <a:solidFill>
                  <a:srgbClr val="E6EAF0"/>
                </a:solidFill>
                <a:latin typeface="Courier New"/>
              </a:rPr>
              <a:t>t = np.arange(500)</a:t>
            </a:r>
          </a:p>
          <a:p>
            <a:r>
              <a:rPr sz="950">
                <a:solidFill>
                  <a:srgbClr val="6B7385"/>
                </a:solidFill>
                <a:latin typeface="Courier New"/>
              </a:rPr>
              <a:t>11 </a:t>
            </a:r>
            <a:r>
              <a:rPr sz="950">
                <a:solidFill>
                  <a:srgbClr val="E6EAF0"/>
                </a:solidFill>
                <a:latin typeface="Courier New"/>
              </a:rPr>
              <a:t>for y in (e.cumsum(), 0.05 * t + e):             </a:t>
            </a:r>
            <a:r>
              <a:rPr sz="950">
                <a:solidFill>
                  <a:srgbClr val="8FC99A"/>
                </a:solidFill>
                <a:latin typeface="Courier New"/>
              </a:rPr>
              <a:t># random walk, xu hướng</a:t>
            </a:r>
          </a:p>
          <a:p>
            <a:r>
              <a:rPr sz="950">
                <a:solidFill>
                  <a:srgbClr val="6B7385"/>
                </a:solidFill>
                <a:latin typeface="Courier New"/>
              </a:rPr>
              <a:t>12 </a:t>
            </a:r>
            <a:r>
              <a:rPr sz="950">
                <a:solidFill>
                  <a:srgbClr val="E6EAF0"/>
                </a:solidFill>
                <a:latin typeface="Courier New"/>
              </a:rPr>
              <a:t>    khu_xh = y - np.polyval(np.polyfit(t, y, 1), t)   </a:t>
            </a:r>
            <a:r>
              <a:rPr sz="950">
                <a:solidFill>
                  <a:srgbClr val="8FC99A"/>
                </a:solidFill>
                <a:latin typeface="Courier New"/>
              </a:rPr>
              <a:t># trừ đường thẳng</a:t>
            </a:r>
          </a:p>
          <a:p>
            <a:r>
              <a:rPr sz="950">
                <a:solidFill>
                  <a:srgbClr val="6B7385"/>
                </a:solidFill>
                <a:latin typeface="Courier New"/>
              </a:rPr>
              <a:t>13 </a:t>
            </a:r>
            <a:r>
              <a:rPr sz="950">
                <a:solidFill>
                  <a:srgbClr val="E6EAF0"/>
                </a:solidFill>
                <a:latin typeface="Courier New"/>
              </a:rPr>
              <a:t>    sai_phan = np.diff(y)                             </a:t>
            </a:r>
            <a:r>
              <a:rPr sz="950">
                <a:solidFill>
                  <a:srgbClr val="8FC99A"/>
                </a:solidFill>
                <a:latin typeface="Courier New"/>
              </a:rPr>
              <a:t># y_t trừ y_(t-1)</a:t>
            </a:r>
          </a:p>
          <a:p>
            <a:r>
              <a:rPr sz="950">
                <a:solidFill>
                  <a:srgbClr val="6B7385"/>
                </a:solidFill>
                <a:latin typeface="Courier New"/>
              </a:rPr>
              <a:t>14 </a:t>
            </a:r>
            <a:r>
              <a:rPr sz="950">
                <a:solidFill>
                  <a:srgbClr val="E6EAF0"/>
                </a:solidFill>
                <a:latin typeface="Courier New"/>
              </a:rPr>
              <a:t>    print(acf(khu_xh, nlags=1)[1], acf(sai_phan, nlags=1)[1])</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Mô phỏng 10.000 người bước ngẫu nhiên.</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Đo độ dao động ở ba thời điểm.</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Thuốc một: khử xu hướng bằng đường thẳng.</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Thuốc hai: sai phân.</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r1 phần còn lại cho biết thuốc có hợp không.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Số bước gấp 25 lần thì độ lệch chuẩn gấp 5 lần (2,0 lên 10,1). Khử xu hướng random walk: r1 vẫn rất lớn; sai phân chuỗi xu hướng: r1 âm rõ.</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np.polyfit(t, y, 1)</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đường thẳng khớp dữ liệu nhất, trả độ dốc và hệ số chặn.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np.polyval(he_so, t)</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giá trị của đường thẳng đó tại từng thời điểm 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np.diff(y)</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Sai phân: hiệu của mỗi giá trị với giá trị ngay trước.</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0f005e10b2b4.png"/>
          <p:cNvPicPr>
            <a:picLocks noChangeAspect="1"/>
          </p:cNvPicPr>
          <p:nvPr/>
        </p:nvPicPr>
        <p:blipFill>
          <a:blip r:embed="rId2"/>
          <a:stretch>
            <a:fillRect/>
          </a:stretch>
        </p:blipFill>
        <p:spPr>
          <a:xfrm>
            <a:off x="9060180" y="4239767"/>
            <a:ext cx="1383792" cy="188976"/>
          </a:xfrm>
          <a:prstGeom prst="rect">
            <a:avLst/>
          </a:prstGeom>
        </p:spPr>
      </p:pic>
      <p:pic>
        <p:nvPicPr>
          <p:cNvPr id="31" name="Picture 30" descr="kn-random-walk.png"/>
          <p:cNvPicPr>
            <a:picLocks noChangeAspect="1"/>
          </p:cNvPicPr>
          <p:nvPr/>
        </p:nvPicPr>
        <p:blipFill>
          <a:blip r:embed="rId3"/>
          <a:stretch>
            <a:fillRect/>
          </a:stretch>
        </p:blipFill>
        <p:spPr>
          <a:xfrm>
            <a:off x="8040708" y="4745735"/>
            <a:ext cx="3422734" cy="1728216"/>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ADF + KPSS và bảng 2 ×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hai kiểm định có giả thuyết ngược nhau, cùng dạng, rồi đọc kết luận từ bảng.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adfuller, kpss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kiem_dinh(y, dang="c"):      </a:t>
            </a:r>
            <a:r>
              <a:rPr sz="850">
                <a:solidFill>
                  <a:srgbClr val="8FC99A"/>
                </a:solidFill>
                <a:latin typeface="Courier New"/>
              </a:rPr>
              <a:t># "c": quanh một mức, "ct": quanh đường</a:t>
            </a:r>
          </a:p>
          <a:p>
            <a:r>
              <a:rPr sz="850">
                <a:solidFill>
                  <a:srgbClr val="6B7385"/>
                </a:solidFill>
                <a:latin typeface="Courier New"/>
              </a:rPr>
              <a:t> 5 </a:t>
            </a:r>
            <a:r>
              <a:rPr sz="850">
                <a:solidFill>
                  <a:srgbClr val="E6EAF0"/>
                </a:solidFill>
                <a:latin typeface="Courier New"/>
              </a:rPr>
              <a:t>    y = np.asarray(y, dtype=float)</a:t>
            </a:r>
          </a:p>
          <a:p>
            <a:r>
              <a:rPr sz="850">
                <a:solidFill>
                  <a:srgbClr val="6B7385"/>
                </a:solidFill>
                <a:latin typeface="Courier New"/>
              </a:rPr>
              <a:t> 6 </a:t>
            </a:r>
            <a:r>
              <a:rPr sz="850">
                <a:solidFill>
                  <a:srgbClr val="E6EAF0"/>
                </a:solidFill>
                <a:latin typeface="Courier New"/>
              </a:rPr>
              <a:t>    p_adf = adfuller(y, regression=dang, autolag="AIC",</a:t>
            </a:r>
          </a:p>
          <a:p>
            <a:r>
              <a:rPr sz="850">
                <a:solidFill>
                  <a:srgbClr val="6B7385"/>
                </a:solidFill>
                <a:latin typeface="Courier New"/>
              </a:rPr>
              <a:t> 7 </a:t>
            </a:r>
            <a:r>
              <a:rPr sz="850">
                <a:solidFill>
                  <a:srgbClr val="E6EAF0"/>
                </a:solidFill>
                <a:latin typeface="Courier New"/>
              </a:rPr>
              <a:t>                     result_object=True).pvalue</a:t>
            </a:r>
          </a:p>
          <a:p>
            <a:r>
              <a:rPr sz="850">
                <a:solidFill>
                  <a:srgbClr val="6B7385"/>
                </a:solidFill>
                <a:latin typeface="Courier New"/>
              </a:rPr>
              <a:t> 8 </a:t>
            </a:r>
            <a:r>
              <a:rPr sz="850">
                <a:solidFill>
                  <a:srgbClr val="E6EAF0"/>
                </a:solidFill>
                <a:latin typeface="Courier New"/>
              </a:rPr>
              <a:t>    p_kpss = kpss(y, regression=dang, nlags="auto",</a:t>
            </a:r>
          </a:p>
          <a:p>
            <a:r>
              <a:rPr sz="850">
                <a:solidFill>
                  <a:srgbClr val="6B7385"/>
                </a:solidFill>
                <a:latin typeface="Courier New"/>
              </a:rPr>
              <a:t> 9 </a:t>
            </a:r>
            <a:r>
              <a:rPr sz="850">
                <a:solidFill>
                  <a:srgbClr val="E6EAF0"/>
                </a:solidFill>
                <a:latin typeface="Courier New"/>
              </a:rPr>
              <a:t>                  result_object=True).pvalue</a:t>
            </a:r>
          </a:p>
          <a:p>
            <a:r>
              <a:rPr sz="850">
                <a:solidFill>
                  <a:srgbClr val="6B7385"/>
                </a:solidFill>
                <a:latin typeface="Courier New"/>
              </a:rPr>
              <a:t>10 </a:t>
            </a:r>
            <a:r>
              <a:rPr sz="850">
                <a:solidFill>
                  <a:srgbClr val="E6EAF0"/>
                </a:solidFill>
                <a:latin typeface="Courier New"/>
              </a:rPr>
              <a:t>    return p_adf, p_kpss</a:t>
            </a:r>
          </a:p>
          <a:p>
            <a:r>
              <a:rPr sz="850">
                <a:solidFill>
                  <a:srgbClr val="6B7385"/>
                </a:solidFill>
                <a:latin typeface="Courier New"/>
              </a:rPr>
              <a:t>11 </a:t>
            </a:r>
            <a:r>
              <a:rPr sz="850">
                <a:solidFill>
                  <a:srgbClr val="E6EAF0"/>
                </a:solidFill>
                <a:latin typeface="Courier New"/>
              </a:rPr>
              <a:t>def o_bang(p_adf, p_kpss):       </a:t>
            </a:r>
            <a:r>
              <a:rPr sz="850">
                <a:solidFill>
                  <a:srgbClr val="8FC99A"/>
                </a:solidFill>
                <a:latin typeface="Courier New"/>
              </a:rPr>
              <a:t># ADF bác bỏ? KPSS bác bỏ?</a:t>
            </a:r>
          </a:p>
          <a:p>
            <a:r>
              <a:rPr sz="850">
                <a:solidFill>
                  <a:srgbClr val="6B7385"/>
                </a:solidFill>
                <a:latin typeface="Courier New"/>
              </a:rPr>
              <a:t>12 </a:t>
            </a:r>
            <a:r>
              <a:rPr sz="850">
                <a:solidFill>
                  <a:srgbClr val="E6EAF0"/>
                </a:solidFill>
                <a:latin typeface="Courier New"/>
              </a:rPr>
              <a:t>    ten = {(True, False): "dừng", (False, True): "không dừng",</a:t>
            </a:r>
          </a:p>
          <a:p>
            <a:r>
              <a:rPr sz="850">
                <a:solidFill>
                  <a:srgbClr val="6B7385"/>
                </a:solidFill>
                <a:latin typeface="Courier New"/>
              </a:rPr>
              <a:t>13 </a:t>
            </a:r>
            <a:r>
              <a:rPr sz="850">
                <a:solidFill>
                  <a:srgbClr val="E6EAF0"/>
                </a:solidFill>
                <a:latin typeface="Courier New"/>
              </a:rPr>
              <a:t>           (True, True): "mâu thuẫn", (False, False): "không đủ bằng chứng"}</a:t>
            </a:r>
          </a:p>
          <a:p>
            <a:r>
              <a:rPr sz="850">
                <a:solidFill>
                  <a:srgbClr val="6B7385"/>
                </a:solidFill>
                <a:latin typeface="Courier New"/>
              </a:rPr>
              <a:t>14 </a:t>
            </a:r>
            <a:r>
              <a:rPr sz="850">
                <a:solidFill>
                  <a:srgbClr val="E6EAF0"/>
                </a:solidFill>
                <a:latin typeface="Courier New"/>
              </a:rPr>
              <a:t>    return ten[(p_adf &lt; 0.05, p_kpss &lt; 0.05)]</a:t>
            </a:r>
          </a:p>
          <a:p>
            <a:r>
              <a:rPr sz="850">
                <a:solidFill>
                  <a:srgbClr val="6B7385"/>
                </a:solidFill>
                <a:latin typeface="Courier New"/>
              </a:rPr>
              <a:t>15 </a:t>
            </a:r>
            <a:r>
              <a:rPr sz="850">
                <a:solidFill>
                  <a:srgbClr val="E6EAF0"/>
                </a:solidFill>
                <a:latin typeface="Courier New"/>
              </a:rPr>
              <a:t>y = 0.05 * np.arange(500) + np.random.default_rng(42).normal(size=500)</a:t>
            </a:r>
          </a:p>
          <a:p>
            <a:r>
              <a:rPr sz="850">
                <a:solidFill>
                  <a:srgbClr val="6B7385"/>
                </a:solidFill>
                <a:latin typeface="Courier New"/>
              </a:rPr>
              <a:t>16 </a:t>
            </a:r>
            <a:r>
              <a:rPr sz="850">
                <a:solidFill>
                  <a:srgbClr val="E6EAF0"/>
                </a:solidFill>
                <a:latin typeface="Courier New"/>
              </a:rPr>
              <a:t>kq = {d: o_bang(*kiem_dinh(y, d)) for d in ("c", "ct")}   </a:t>
            </a:r>
            <a:r>
              <a:rPr sz="850">
                <a:solidFill>
                  <a:srgbClr val="8FC99A"/>
                </a:solidFill>
                <a:latin typeface="Courier New"/>
              </a:rPr>
              <a:t># hai dạng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Dạng kiểm định phải khai rõ, cả hai dùng chung.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ADF: p nhỏ là có bằng chứng dừng.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KPSS: p nhỏ là có bằng chứng không dừng.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Ghép hai kết quả thành một ô của bảng 2 × 2.</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Thử chuỗi xu hướng với dạng c và ct.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Xu hướng 0,05t: dạng c nói không dừng, chỉ dạng ct cho thấy chuỗi dừng quanh xu hướng. Random walk có ADF p = 0,073; KPSS bắt được.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adfuller(y, regression, autolag)</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ADF; giả thuyết gốc là có nghiệm đơn vị (không dừng).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kpss(y, regression, nlags)</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KPSS; giả thuyết gốc là dừng, p bị cắt ở 0,01 và 0,1.</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o_bang</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cặp p-value thành một trong bốn kết luận.</a:t>
            </a:r>
          </a:p>
        </p:txBody>
      </p:sp>
      <p:pic>
        <p:nvPicPr>
          <p:cNvPr id="29" name="Picture 28" descr="kn-adf-kpss.png"/>
          <p:cNvPicPr>
            <a:picLocks noChangeAspect="1"/>
          </p:cNvPicPr>
          <p:nvPr/>
        </p:nvPicPr>
        <p:blipFill>
          <a:blip r:embed="rId2"/>
          <a:stretch>
            <a:fillRect/>
          </a:stretch>
        </p:blipFill>
        <p:spPr>
          <a:xfrm>
            <a:off x="7863840" y="4356129"/>
            <a:ext cx="3776472" cy="1849060"/>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hai dấu hiệu sai phân thừa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khi nào dừng sai phân: r1 gần −0,5 hoặc độ lệch chuẩn tăng lên.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statsmodels.tsa.stattools import acf</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dau_hieu(y):</a:t>
            </a:r>
          </a:p>
          <a:p>
            <a:r>
              <a:rPr sz="850">
                <a:solidFill>
                  <a:srgbClr val="6B7385"/>
                </a:solidFill>
                <a:latin typeface="Courier New"/>
              </a:rPr>
              <a:t> 6 </a:t>
            </a:r>
            <a:r>
              <a:rPr sz="850">
                <a:solidFill>
                  <a:srgbClr val="E6EAF0"/>
                </a:solidFill>
                <a:latin typeface="Courier New"/>
              </a:rPr>
              <a:t>    y = pd.Series(np.asarray(y, dtype=float)).dropna()</a:t>
            </a:r>
          </a:p>
          <a:p>
            <a:r>
              <a:rPr sz="850">
                <a:solidFill>
                  <a:srgbClr val="6B7385"/>
                </a:solidFill>
                <a:latin typeface="Courier New"/>
              </a:rPr>
              <a:t> 7 </a:t>
            </a:r>
            <a:r>
              <a:rPr sz="850">
                <a:solidFill>
                  <a:srgbClr val="E6EAF0"/>
                </a:solidFill>
                <a:latin typeface="Courier New"/>
              </a:rPr>
              <a:t>    sp = y.diff().dropna()                       </a:t>
            </a:r>
            <a:r>
              <a:rPr sz="850">
                <a:solidFill>
                  <a:srgbClr val="8FC99A"/>
                </a:solidFill>
                <a:latin typeface="Courier New"/>
              </a:rPr>
              <a:t># sai phân một lần</a:t>
            </a:r>
          </a:p>
          <a:p>
            <a:r>
              <a:rPr sz="850">
                <a:solidFill>
                  <a:srgbClr val="6B7385"/>
                </a:solidFill>
                <a:latin typeface="Courier New"/>
              </a:rPr>
              <a:t> 8 </a:t>
            </a:r>
            <a:r>
              <a:rPr sz="850">
                <a:solidFill>
                  <a:srgbClr val="E6EAF0"/>
                </a:solidFill>
                <a:latin typeface="Courier New"/>
              </a:rPr>
              <a:t>    return acf(sp, nlags=1)[1], y.std(ddof=1), sp.std(ddof=1)</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e = np.random.default_rng(42).normal(size=500)</a:t>
            </a:r>
          </a:p>
          <a:p>
            <a:r>
              <a:rPr sz="850">
                <a:solidFill>
                  <a:srgbClr val="6B7385"/>
                </a:solidFill>
                <a:latin typeface="Courier New"/>
              </a:rPr>
              <a:t>11 </a:t>
            </a:r>
            <a:r>
              <a:rPr sz="850">
                <a:solidFill>
                  <a:srgbClr val="E6EAF0"/>
                </a:solidFill>
                <a:latin typeface="Courier New"/>
              </a:rPr>
              <a:t>print(dau_hieu(e))              </a:t>
            </a:r>
            <a:r>
              <a:rPr sz="850">
                <a:solidFill>
                  <a:srgbClr val="8FC99A"/>
                </a:solidFill>
                <a:latin typeface="Courier New"/>
              </a:rPr>
              <a:t># đã dừng: sai phân là thừa</a:t>
            </a:r>
          </a:p>
          <a:p>
            <a:r>
              <a:rPr sz="850">
                <a:solidFill>
                  <a:srgbClr val="6B7385"/>
                </a:solidFill>
                <a:latin typeface="Courier New"/>
              </a:rPr>
              <a:t>12 </a:t>
            </a:r>
            <a:r>
              <a:rPr sz="850">
                <a:solidFill>
                  <a:srgbClr val="E6EAF0"/>
                </a:solidFill>
                <a:latin typeface="Courier New"/>
              </a:rPr>
              <a:t>print(dau_hieu(e.cumsum()))     </a:t>
            </a:r>
            <a:r>
              <a:rPr sz="850">
                <a:solidFill>
                  <a:srgbClr val="8FC99A"/>
                </a:solidFill>
                <a:latin typeface="Courier New"/>
              </a:rPr>
              <a:t># random walk: sai phân đúng liều</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g = np.log1p(luot.interpolate(limit=3))          </a:t>
            </a:r>
            <a:r>
              <a:rPr sz="850">
                <a:solidFill>
                  <a:srgbClr val="8FC99A"/>
                </a:solidFill>
                <a:latin typeface="Courier New"/>
              </a:rPr>
              <a:t># lượt thuê theo giờ</a:t>
            </a:r>
          </a:p>
          <a:p>
            <a:r>
              <a:rPr sz="850">
                <a:solidFill>
                  <a:srgbClr val="6B7385"/>
                </a:solidFill>
                <a:latin typeface="Courier New"/>
              </a:rPr>
              <a:t>15 </a:t>
            </a:r>
            <a:r>
              <a:rPr sz="850">
                <a:solidFill>
                  <a:srgbClr val="E6EAF0"/>
                </a:solidFill>
                <a:latin typeface="Courier New"/>
              </a:rPr>
              <a:t>for s in (g.diff(), g.diff(168), g.diff(168).diff()):</a:t>
            </a:r>
          </a:p>
          <a:p>
            <a:r>
              <a:rPr sz="850">
                <a:solidFill>
                  <a:srgbClr val="6B7385"/>
                </a:solidFill>
                <a:latin typeface="Courier New"/>
              </a:rPr>
              <a:t>16 </a:t>
            </a:r>
            <a:r>
              <a:rPr sz="850">
                <a:solidFill>
                  <a:srgbClr val="E6EAF0"/>
                </a:solidFill>
                <a:latin typeface="Courier New"/>
              </a:rPr>
              <a:t>    print(acf(s.dropna(), nlags=168)[[1, 24, 168]], s.std(ddof=1))</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Trả r1 sau sai phân và độ lệch chuẩn trước, sau.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Sai phân chuỗi đã dừng để thấy dấu hiệu thừa.</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Sai phân random walk để thấy đúng liều.</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log(1 + y) vì có giờ không ai thuê xe.</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sai phân thường, mùa vụ 168 và cả hai.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Nhiễu trắng: r1 = −0,447, độ lệch chuẩn 0,96 lên 1,29 (thừa). Random walk: 4,55 xuống 0,96. Lượt thuê: 168 rồi thường giảm 0,589 xuống 0,427.</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diff(k)</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mỗi giá trị cho giá trị cách k bước; k = 168: cùng giờ tuần trước.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np.log1p(y)</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log(1 + y), dùng được cả khi y bằng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std(ddof=1)</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mẫu: đo chuỗi dao động mạnh cỡ nào.</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2d3e563a28d2.png"/>
          <p:cNvPicPr>
            <a:picLocks noChangeAspect="1"/>
          </p:cNvPicPr>
          <p:nvPr/>
        </p:nvPicPr>
        <p:blipFill>
          <a:blip r:embed="rId2"/>
          <a:stretch>
            <a:fillRect/>
          </a:stretch>
        </p:blipFill>
        <p:spPr>
          <a:xfrm>
            <a:off x="7955279" y="4233635"/>
            <a:ext cx="3593592" cy="201241"/>
          </a:xfrm>
          <a:prstGeom prst="rect">
            <a:avLst/>
          </a:prstGeom>
        </p:spPr>
      </p:pic>
      <p:pic>
        <p:nvPicPr>
          <p:cNvPr id="31" name="Picture 30" descr="sai-phan-thua.png"/>
          <p:cNvPicPr>
            <a:picLocks noChangeAspect="1"/>
          </p:cNvPicPr>
          <p:nvPr/>
        </p:nvPicPr>
        <p:blipFill>
          <a:blip r:embed="rId3"/>
          <a:stretch>
            <a:fillRect/>
          </a:stretch>
        </p:blipFill>
        <p:spPr>
          <a:xfrm>
            <a:off x="8174416" y="4745735"/>
            <a:ext cx="3155319" cy="1728216"/>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Pearson, Spearman và Anscombe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một hệ số tương quan giấu được cả hình dạng, nên luôn phải vẽ trước.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for x in (np.arange(1, 6), np.arange(-2, 3)):     </a:t>
            </a:r>
            <a:r>
              <a:rPr sz="850">
                <a:solidFill>
                  <a:srgbClr val="8FC99A"/>
                </a:solidFill>
                <a:latin typeface="Courier New"/>
              </a:rPr>
              <a:t># y = x² trên hai khoảng</a:t>
            </a:r>
          </a:p>
          <a:p>
            <a:r>
              <a:rPr sz="850">
                <a:solidFill>
                  <a:srgbClr val="6B7385"/>
                </a:solidFill>
                <a:latin typeface="Courier New"/>
              </a:rPr>
              <a:t> 5 </a:t>
            </a:r>
            <a:r>
              <a:rPr sz="850">
                <a:solidFill>
                  <a:srgbClr val="E6EAF0"/>
                </a:solidFill>
                <a:latin typeface="Courier New"/>
              </a:rPr>
              <a:t>    print(stats.pearsonr(x, x**2)[0], stats.spearmanr(x, x**2)[0])</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X0 = [10, 8, 13, 9, 11, 14, 6, 4, 12, 7, 5]</a:t>
            </a:r>
          </a:p>
          <a:p>
            <a:r>
              <a:rPr sz="850">
                <a:solidFill>
                  <a:srgbClr val="6B7385"/>
                </a:solidFill>
                <a:latin typeface="Courier New"/>
              </a:rPr>
              <a:t> 8 </a:t>
            </a:r>
            <a:r>
              <a:rPr sz="850">
                <a:solidFill>
                  <a:srgbClr val="E6EAF0"/>
                </a:solidFill>
                <a:latin typeface="Courier New"/>
              </a:rPr>
              <a:t>ANSCOMBE = {</a:t>
            </a:r>
          </a:p>
          <a:p>
            <a:r>
              <a:rPr sz="850">
                <a:solidFill>
                  <a:srgbClr val="6B7385"/>
                </a:solidFill>
                <a:latin typeface="Courier New"/>
              </a:rPr>
              <a:t> 9 </a:t>
            </a:r>
            <a:r>
              <a:rPr sz="850">
                <a:solidFill>
                  <a:srgbClr val="E6EAF0"/>
                </a:solidFill>
                <a:latin typeface="Courier New"/>
              </a:rPr>
              <a:t>    "I": (X0, [8.04, 6.95, 7.58, 8.81, 8.33, 9.96, 7.24, 4.26, 10.84,</a:t>
            </a:r>
          </a:p>
          <a:p>
            <a:r>
              <a:rPr sz="850">
                <a:solidFill>
                  <a:srgbClr val="6B7385"/>
                </a:solidFill>
                <a:latin typeface="Courier New"/>
              </a:rPr>
              <a:t>10 </a:t>
            </a:r>
            <a:r>
              <a:rPr sz="850">
                <a:solidFill>
                  <a:srgbClr val="E6EAF0"/>
                </a:solidFill>
                <a:latin typeface="Courier New"/>
              </a:rPr>
              <a:t>               4.82, 5.68]),</a:t>
            </a:r>
          </a:p>
          <a:p>
            <a:r>
              <a:rPr sz="850">
                <a:solidFill>
                  <a:srgbClr val="6B7385"/>
                </a:solidFill>
                <a:latin typeface="Courier New"/>
              </a:rPr>
              <a:t>11 </a:t>
            </a:r>
            <a:r>
              <a:rPr sz="850">
                <a:solidFill>
                  <a:srgbClr val="E6EAF0"/>
                </a:solidFill>
                <a:latin typeface="Courier New"/>
              </a:rPr>
              <a:t>    "IV": ([8, 8, 8, 8, 8, 8, 8, 19, 8, 8, 8],</a:t>
            </a:r>
          </a:p>
          <a:p>
            <a:r>
              <a:rPr sz="850">
                <a:solidFill>
                  <a:srgbClr val="6B7385"/>
                </a:solidFill>
                <a:latin typeface="Courier New"/>
              </a:rPr>
              <a:t>12 </a:t>
            </a:r>
            <a:r>
              <a:rPr sz="850">
                <a:solidFill>
                  <a:srgbClr val="E6EAF0"/>
                </a:solidFill>
                <a:latin typeface="Courier New"/>
              </a:rPr>
              <a:t>           [6.58, 5.76, 7.71, 8.84, 8.47, 7.04, 5.25, 12.50, 5.56, 7.91,</a:t>
            </a:r>
          </a:p>
          <a:p>
            <a:r>
              <a:rPr sz="850">
                <a:solidFill>
                  <a:srgbClr val="6B7385"/>
                </a:solidFill>
                <a:latin typeface="Courier New"/>
              </a:rPr>
              <a:t>13 </a:t>
            </a:r>
            <a:r>
              <a:rPr sz="850">
                <a:solidFill>
                  <a:srgbClr val="E6EAF0"/>
                </a:solidFill>
                <a:latin typeface="Courier New"/>
              </a:rPr>
              <a:t>            6.89]),</a:t>
            </a:r>
          </a:p>
          <a:p>
            <a:r>
              <a:rPr sz="850">
                <a:solidFill>
                  <a:srgbClr val="6B7385"/>
                </a:solidFill>
                <a:latin typeface="Courier New"/>
              </a:rPr>
              <a:t>14 </a:t>
            </a:r>
            <a:r>
              <a:rPr sz="850">
                <a:solidFill>
                  <a:srgbClr val="E6EAF0"/>
                </a:solidFill>
                <a:latin typeface="Courier New"/>
              </a:rPr>
              <a:t>}                                                 </a:t>
            </a:r>
            <a:r>
              <a:rPr sz="850">
                <a:solidFill>
                  <a:srgbClr val="8FC99A"/>
                </a:solidFill>
                <a:latin typeface="Courier New"/>
              </a:rPr>
              <a:t># bộ II, III tương tự</a:t>
            </a:r>
          </a:p>
          <a:p>
            <a:r>
              <a:rPr sz="850">
                <a:solidFill>
                  <a:srgbClr val="6B7385"/>
                </a:solidFill>
                <a:latin typeface="Courier New"/>
              </a:rPr>
              <a:t>15 </a:t>
            </a:r>
            <a:r>
              <a:rPr sz="850">
                <a:solidFill>
                  <a:srgbClr val="E6EAF0"/>
                </a:solidFill>
                <a:latin typeface="Courier New"/>
              </a:rPr>
              <a:t>for ten, (x, y) in ANSCOMBE.items():</a:t>
            </a:r>
          </a:p>
          <a:p>
            <a:r>
              <a:rPr sz="850">
                <a:solidFill>
                  <a:srgbClr val="6B7385"/>
                </a:solidFill>
                <a:latin typeface="Courier New"/>
              </a:rPr>
              <a:t>16 </a:t>
            </a:r>
            <a:r>
              <a:rPr sz="850">
                <a:solidFill>
                  <a:srgbClr val="E6EAF0"/>
                </a:solidFill>
                <a:latin typeface="Courier New"/>
              </a:rPr>
              <a:t>    print(ten, stats.pearsonr(x, y)[0], stats.spearmanr(x, y)[0])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Chữ U: Pearson ra 0 dù y phụ thuộc hẳn vào x.</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7–14</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Hai trong bốn bộ Anscombe, rất khác hình.</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Tính hai hệ số cho từng bộ để so.</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Với x từ −2 tới 2, y = x²: Pearson 0. Bốn bộ Anscombe cùng Pearson 0,82 nhưng Spearman từ 0,5 tới 0,99: bốn câu chuyện khác nhau.</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stats.pearsonr(x, y)</a:t>
            </a:r>
            <a:r>
              <a:rPr sz="950" b="1" i="0">
                <a:solidFill>
                  <a:srgbClr val="5B6778"/>
                </a:solidFill>
                <a:latin typeface="Arial"/>
              </a:rPr>
              <a:t>   scipy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Pearson: đo quan hệ theo đường thẳng, kèm p-value.</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stats.spearmanr(x, y)</a:t>
            </a:r>
            <a:r>
              <a:rPr sz="950" b="1" i="0">
                <a:solidFill>
                  <a:srgbClr val="5B6778"/>
                </a:solidFill>
                <a:latin typeface="Arial"/>
              </a:rPr>
              <a:t>   scipy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thứ hạng: đo quan hệ cùng tăng, dù cong.</a:t>
            </a:r>
          </a:p>
        </p:txBody>
      </p:sp>
      <p:pic>
        <p:nvPicPr>
          <p:cNvPr id="23" name="Picture 22" descr="kn-spearman.png"/>
          <p:cNvPicPr>
            <a:picLocks noChangeAspect="1"/>
          </p:cNvPicPr>
          <p:nvPr/>
        </p:nvPicPr>
        <p:blipFill>
          <a:blip r:embed="rId2"/>
          <a:stretch>
            <a:fillRect/>
          </a:stretch>
        </p:blipFill>
        <p:spPr>
          <a:xfrm>
            <a:off x="7863840" y="4027054"/>
            <a:ext cx="3776472" cy="1848843"/>
          </a:xfrm>
          <a:prstGeom prst="rect">
            <a:avLst/>
          </a:prstGeom>
        </p:spPr>
      </p:pic>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hồi quy giả và Durbin–Watson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Bắt tương quan giả bằng hai phép kiểm: DW của phần dư và tương quan sau sai phân.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durbin_watson(e):                            </a:t>
            </a:r>
            <a:r>
              <a:rPr sz="850">
                <a:solidFill>
                  <a:srgbClr val="8FC99A"/>
                </a:solidFill>
                <a:latin typeface="Courier New"/>
              </a:rPr>
              <a:t># gần 2 tốt, gần 0 xấu</a:t>
            </a:r>
          </a:p>
          <a:p>
            <a:r>
              <a:rPr sz="850">
                <a:solidFill>
                  <a:srgbClr val="6B7385"/>
                </a:solidFill>
                <a:latin typeface="Courier New"/>
              </a:rPr>
              <a:t> 4 </a:t>
            </a:r>
            <a:r>
              <a:rPr sz="850">
                <a:solidFill>
                  <a:srgbClr val="E6EAF0"/>
                </a:solidFill>
                <a:latin typeface="Courier New"/>
              </a:rPr>
              <a:t>    return np.sum(np.diff(e) ** 2) / np.sum(e**2)</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hoi_quy_don(x, y):</a:t>
            </a:r>
          </a:p>
          <a:p>
            <a:r>
              <a:rPr sz="850">
                <a:solidFill>
                  <a:srgbClr val="6B7385"/>
                </a:solidFill>
                <a:latin typeface="Courier New"/>
              </a:rPr>
              <a:t> 7 </a:t>
            </a:r>
            <a:r>
              <a:rPr sz="850">
                <a:solidFill>
                  <a:srgbClr val="E6EAF0"/>
                </a:solidFill>
                <a:latin typeface="Courier New"/>
              </a:rPr>
              <a:t>    X = np.column_stack([np.ones(x.size), x])</a:t>
            </a:r>
          </a:p>
          <a:p>
            <a:r>
              <a:rPr sz="850">
                <a:solidFill>
                  <a:srgbClr val="6B7385"/>
                </a:solidFill>
                <a:latin typeface="Courier New"/>
              </a:rPr>
              <a:t> 8 </a:t>
            </a:r>
            <a:r>
              <a:rPr sz="850">
                <a:solidFill>
                  <a:srgbClr val="E6EAF0"/>
                </a:solidFill>
                <a:latin typeface="Courier New"/>
              </a:rPr>
              <a:t>    he_so = np.linalg.lstsq(X, y, rcond=None)[0]  </a:t>
            </a:r>
            <a:r>
              <a:rPr sz="850">
                <a:solidFill>
                  <a:srgbClr val="8FC99A"/>
                </a:solidFill>
                <a:latin typeface="Courier New"/>
              </a:rPr>
              <a:t># bình phương nhỏ nhất</a:t>
            </a:r>
          </a:p>
          <a:p>
            <a:r>
              <a:rPr sz="850">
                <a:solidFill>
                  <a:srgbClr val="6B7385"/>
                </a:solidFill>
                <a:latin typeface="Courier New"/>
              </a:rPr>
              <a:t> 9 </a:t>
            </a:r>
            <a:r>
              <a:rPr sz="850">
                <a:solidFill>
                  <a:srgbClr val="E6EAF0"/>
                </a:solidFill>
                <a:latin typeface="Courier New"/>
              </a:rPr>
              <a:t>    du = y - X @ he_so                            </a:t>
            </a:r>
            <a:r>
              <a:rPr sz="850">
                <a:solidFill>
                  <a:srgbClr val="8FC99A"/>
                </a:solidFill>
                <a:latin typeface="Courier New"/>
              </a:rPr>
              <a:t># phần dư</a:t>
            </a:r>
          </a:p>
          <a:p>
            <a:r>
              <a:rPr sz="850">
                <a:solidFill>
                  <a:srgbClr val="6B7385"/>
                </a:solidFill>
                <a:latin typeface="Courier New"/>
              </a:rPr>
              <a:t>10 </a:t>
            </a:r>
            <a:r>
              <a:rPr sz="850">
                <a:solidFill>
                  <a:srgbClr val="E6EAF0"/>
                </a:solidFill>
                <a:latin typeface="Courier New"/>
              </a:rPr>
              <a:t>    se = np.sqrt(du @ du / (x.size - 2) * np.linalg.inv(X.T @ X)[1, 1])</a:t>
            </a:r>
          </a:p>
          <a:p>
            <a:r>
              <a:rPr sz="850">
                <a:solidFill>
                  <a:srgbClr val="6B7385"/>
                </a:solidFill>
                <a:latin typeface="Courier New"/>
              </a:rPr>
              <a:t>11 </a:t>
            </a:r>
            <a:r>
              <a:rPr sz="850">
                <a:solidFill>
                  <a:srgbClr val="E6EAF0"/>
                </a:solidFill>
                <a:latin typeface="Courier New"/>
              </a:rPr>
              <a:t>    return 1 - du.var() / y.var(), he_so[1] / se, durbin_watson(du)</a:t>
            </a:r>
          </a:p>
          <a:p>
            <a:r>
              <a:rPr sz="850">
                <a:solidFill>
                  <a:srgbClr val="6B7385"/>
                </a:solidFill>
                <a:latin typeface="Courier New"/>
              </a:rPr>
              <a:t>12 </a:t>
            </a:r>
          </a:p>
          <a:p>
            <a:r>
              <a:rPr sz="850">
                <a:solidFill>
                  <a:srgbClr val="6B7385"/>
                </a:solidFill>
                <a:latin typeface="Courier New"/>
              </a:rPr>
              <a:t>13 </a:t>
            </a:r>
            <a:r>
              <a:rPr sz="850">
                <a:solidFill>
                  <a:srgbClr val="8FC99A"/>
                </a:solidFill>
                <a:latin typeface="Courier New"/>
              </a:rPr>
              <a:t># kt: CPI và dân số Mỹ theo tháng, 1990–2024</a:t>
            </a:r>
          </a:p>
          <a:p>
            <a:r>
              <a:rPr sz="850">
                <a:solidFill>
                  <a:srgbClr val="6B7385"/>
                </a:solidFill>
                <a:latin typeface="Courier New"/>
              </a:rPr>
              <a:t>14 </a:t>
            </a:r>
            <a:r>
              <a:rPr sz="850">
                <a:solidFill>
                  <a:srgbClr val="E6EAF0"/>
                </a:solidFill>
                <a:latin typeface="Courier New"/>
              </a:rPr>
              <a:t>r2, t, dw = hoi_quy_don(kt["cpi"].to_numpy(), kt["dan_so"].to_numpy())</a:t>
            </a:r>
          </a:p>
          <a:p>
            <a:r>
              <a:rPr sz="850">
                <a:solidFill>
                  <a:srgbClr val="6B7385"/>
                </a:solidFill>
                <a:latin typeface="Courier New"/>
              </a:rPr>
              <a:t>15 </a:t>
            </a:r>
            <a:r>
              <a:rPr sz="850">
                <a:solidFill>
                  <a:srgbClr val="E6EAF0"/>
                </a:solidFill>
                <a:latin typeface="Courier New"/>
              </a:rPr>
              <a:t>d = kt.diff().dropna()                            </a:t>
            </a:r>
            <a:r>
              <a:rPr sz="850">
                <a:solidFill>
                  <a:srgbClr val="8FC99A"/>
                </a:solidFill>
                <a:latin typeface="Courier New"/>
              </a:rPr>
              <a:t># thay đổi hằng tháng</a:t>
            </a:r>
          </a:p>
          <a:p>
            <a:r>
              <a:rPr sz="850">
                <a:solidFill>
                  <a:srgbClr val="6B7385"/>
                </a:solidFill>
                <a:latin typeface="Courier New"/>
              </a:rPr>
              <a:t>16 </a:t>
            </a:r>
            <a:r>
              <a:rPr sz="850">
                <a:solidFill>
                  <a:srgbClr val="E6EAF0"/>
                </a:solidFill>
                <a:latin typeface="Courier New"/>
              </a:rPr>
              <a:t>r_sai_phan = d["cpi"].corr(d["dan_so"])</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DW đo phần dư có đổi chậm theo thời gian không.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đường thẳng, lấy phần dư.</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Trả R², t của hệ số và DW.</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Hồi quy dân số theo CPI trên mức.</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Hỏi lại câu đúng: các thay đổi có đi cùng?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mức: r 0,974, R² 0,95, t 88,6. Nhưng DW 0,0051 và r sau sai phân −0,207: tương quan giả.</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np.linalg.lstsq(X, y)</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hệ số đường thẳng làm tổng bình phương sai lệch nhỏ nhất.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durbin_watson</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Tổng bình phương bước nhảy của phần dư chia tổng bình phương phần dư.</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diff().corr()</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thay đổi hằng tháng rồi tính tương quan của hai cột.</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b4626f0c56e.png"/>
          <p:cNvPicPr>
            <a:picLocks noChangeAspect="1"/>
          </p:cNvPicPr>
          <p:nvPr/>
        </p:nvPicPr>
        <p:blipFill>
          <a:blip r:embed="rId2"/>
          <a:stretch>
            <a:fillRect/>
          </a:stretch>
        </p:blipFill>
        <p:spPr>
          <a:xfrm>
            <a:off x="8947630" y="4114799"/>
            <a:ext cx="1608891" cy="786384"/>
          </a:xfrm>
          <a:prstGeom prst="rect">
            <a:avLst/>
          </a:prstGeom>
        </p:spPr>
      </p:pic>
      <p:pic>
        <p:nvPicPr>
          <p:cNvPr id="31" name="Picture 30" descr="kn-durbin-watson.png"/>
          <p:cNvPicPr>
            <a:picLocks noChangeAspect="1"/>
          </p:cNvPicPr>
          <p:nvPr/>
        </p:nvPicPr>
        <p:blipFill>
          <a:blip r:embed="rId3"/>
          <a:stretch>
            <a:fillRect/>
          </a:stretch>
        </p:blipFill>
        <p:spPr>
          <a:xfrm>
            <a:off x="8219989" y="5093207"/>
            <a:ext cx="3064173" cy="1380744"/>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CDD, HDD và MI xáo theo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quan hệ chữ U thành hai nhánh, và kiểm MI có thật bằng cách xáo cả tuần.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sklearn.feature_selection import mutual_info_regression</a:t>
            </a:r>
          </a:p>
          <a:p>
            <a:r>
              <a:rPr sz="850">
                <a:solidFill>
                  <a:srgbClr val="6B7385"/>
                </a:solidFill>
                <a:latin typeface="Courier New"/>
              </a:rPr>
              <a:t> 3 </a:t>
            </a:r>
            <a:r>
              <a:rPr sz="850">
                <a:solidFill>
                  <a:srgbClr val="E6EAF0"/>
                </a:solidFill>
                <a:latin typeface="Courier New"/>
              </a:rPr>
              <a:t>t, y = df["nhiet"].to_numpy(), df["tai"].to_numpy() / 1000   </a:t>
            </a:r>
            <a:r>
              <a:rPr sz="850">
                <a:solidFill>
                  <a:srgbClr val="8FC99A"/>
                </a:solidFill>
                <a:latin typeface="Courier New"/>
              </a:rPr>
              <a:t># °C, GW</a:t>
            </a:r>
          </a:p>
          <a:p>
            <a:r>
              <a:rPr sz="850">
                <a:solidFill>
                  <a:srgbClr val="6B7385"/>
                </a:solidFill>
                <a:latin typeface="Courier New"/>
              </a:rPr>
              <a:t> 4 </a:t>
            </a:r>
            <a:r>
              <a:rPr sz="850">
                <a:solidFill>
                  <a:srgbClr val="E6EAF0"/>
                </a:solidFill>
                <a:latin typeface="Courier New"/>
              </a:rPr>
              <a:t>cdd, hdd = np.maximum(t - 18.33, 0), np.maximum(18.33 - t, 0)  </a:t>
            </a:r>
            <a:r>
              <a:rPr sz="850">
                <a:solidFill>
                  <a:srgbClr val="8FC99A"/>
                </a:solidFill>
                <a:latin typeface="Courier New"/>
              </a:rPr>
              <a:t># mốc 65 °F</a:t>
            </a:r>
          </a:p>
          <a:p>
            <a:r>
              <a:rPr sz="850">
                <a:solidFill>
                  <a:srgbClr val="6B7385"/>
                </a:solidFill>
                <a:latin typeface="Courier New"/>
              </a:rPr>
              <a:t> 5 </a:t>
            </a:r>
            <a:r>
              <a:rPr sz="850">
                <a:solidFill>
                  <a:srgbClr val="E6EAF0"/>
                </a:solidFill>
                <a:latin typeface="Courier New"/>
              </a:rPr>
              <a:t>def r2_hoi_quy(*cot):</a:t>
            </a:r>
          </a:p>
          <a:p>
            <a:r>
              <a:rPr sz="850">
                <a:solidFill>
                  <a:srgbClr val="6B7385"/>
                </a:solidFill>
                <a:latin typeface="Courier New"/>
              </a:rPr>
              <a:t> 6 </a:t>
            </a:r>
            <a:r>
              <a:rPr sz="850">
                <a:solidFill>
                  <a:srgbClr val="E6EAF0"/>
                </a:solidFill>
                <a:latin typeface="Courier New"/>
              </a:rPr>
              <a:t>    X = np.column_stack([np.ones(y.size), *cot])</a:t>
            </a:r>
          </a:p>
          <a:p>
            <a:r>
              <a:rPr sz="850">
                <a:solidFill>
                  <a:srgbClr val="6B7385"/>
                </a:solidFill>
                <a:latin typeface="Courier New"/>
              </a:rPr>
              <a:t> 7 </a:t>
            </a:r>
            <a:r>
              <a:rPr sz="850">
                <a:solidFill>
                  <a:srgbClr val="E6EAF0"/>
                </a:solidFill>
                <a:latin typeface="Courier New"/>
              </a:rPr>
              <a:t>    du = y - X @ np.linalg.lstsq(X, y, rcond=None)[0]</a:t>
            </a:r>
          </a:p>
          <a:p>
            <a:r>
              <a:rPr sz="850">
                <a:solidFill>
                  <a:srgbClr val="6B7385"/>
                </a:solidFill>
                <a:latin typeface="Courier New"/>
              </a:rPr>
              <a:t> 8 </a:t>
            </a:r>
            <a:r>
              <a:rPr sz="850">
                <a:solidFill>
                  <a:srgbClr val="E6EAF0"/>
                </a:solidFill>
                <a:latin typeface="Courier New"/>
              </a:rPr>
              <a:t>    return 1 - du.var() / y.var()</a:t>
            </a:r>
          </a:p>
          <a:p>
            <a:r>
              <a:rPr sz="850">
                <a:solidFill>
                  <a:srgbClr val="6B7385"/>
                </a:solidFill>
                <a:latin typeface="Courier New"/>
              </a:rPr>
              <a:t> 9 </a:t>
            </a:r>
            <a:r>
              <a:rPr sz="850">
                <a:solidFill>
                  <a:srgbClr val="E6EAF0"/>
                </a:solidFill>
                <a:latin typeface="Courier New"/>
              </a:rPr>
              <a:t>r2_thang, r2_hai_nhanh = r2_hoi_quy(t), r2_hoi_quy(cdd, hdd)</a:t>
            </a:r>
          </a:p>
          <a:p>
            <a:r>
              <a:rPr sz="850">
                <a:solidFill>
                  <a:srgbClr val="6B7385"/>
                </a:solidFill>
                <a:latin typeface="Courier New"/>
              </a:rPr>
              <a:t>10 </a:t>
            </a:r>
            <a:r>
              <a:rPr sz="850">
                <a:solidFill>
                  <a:srgbClr val="E6EAF0"/>
                </a:solidFill>
                <a:latin typeface="Courier New"/>
              </a:rPr>
              <a:t>def mi(x, v):</a:t>
            </a:r>
          </a:p>
          <a:p>
            <a:r>
              <a:rPr sz="850">
                <a:solidFill>
                  <a:srgbClr val="6B7385"/>
                </a:solidFill>
                <a:latin typeface="Courier New"/>
              </a:rPr>
              <a:t>11 </a:t>
            </a:r>
            <a:r>
              <a:rPr sz="850">
                <a:solidFill>
                  <a:srgbClr val="E6EAF0"/>
                </a:solidFill>
                <a:latin typeface="Courier New"/>
              </a:rPr>
              <a:t>    return mutual_info_regression(x.reshape(-1, 1), v, random_state=0)[0]</a:t>
            </a:r>
          </a:p>
          <a:p>
            <a:r>
              <a:rPr sz="850">
                <a:solidFill>
                  <a:srgbClr val="6B7385"/>
                </a:solidFill>
                <a:latin typeface="Courier New"/>
              </a:rPr>
              <a:t>12 </a:t>
            </a:r>
            <a:r>
              <a:rPr sz="850">
                <a:solidFill>
                  <a:srgbClr val="E6EAF0"/>
                </a:solidFill>
                <a:latin typeface="Courier New"/>
              </a:rPr>
              <a:t>rng = np.random.default_rng(0)</a:t>
            </a:r>
          </a:p>
          <a:p>
            <a:r>
              <a:rPr sz="850">
                <a:solidFill>
                  <a:srgbClr val="6B7385"/>
                </a:solidFill>
                <a:latin typeface="Courier New"/>
              </a:rPr>
              <a:t>13 </a:t>
            </a:r>
            <a:r>
              <a:rPr sz="850">
                <a:solidFill>
                  <a:srgbClr val="E6EAF0"/>
                </a:solidFill>
                <a:latin typeface="Courier New"/>
              </a:rPr>
              <a:t>khoi = [y[i:i + 168] for i in range(0, y.size, 168)]      </a:t>
            </a:r>
            <a:r>
              <a:rPr sz="850">
                <a:solidFill>
                  <a:srgbClr val="8FC99A"/>
                </a:solidFill>
                <a:latin typeface="Courier New"/>
              </a:rPr>
              <a:t># khối 1 tuần</a:t>
            </a:r>
          </a:p>
          <a:p>
            <a:r>
              <a:rPr sz="850">
                <a:solidFill>
                  <a:srgbClr val="6B7385"/>
                </a:solidFill>
                <a:latin typeface="Courier New"/>
              </a:rPr>
              <a:t>14 </a:t>
            </a:r>
            <a:r>
              <a:rPr sz="850">
                <a:solidFill>
                  <a:srgbClr val="E6EAF0"/>
                </a:solidFill>
                <a:latin typeface="Courier New"/>
              </a:rPr>
              <a:t>xao = [np.concatenate([khoi[i] for i in rng.permutation(len(khoi))])</a:t>
            </a:r>
          </a:p>
          <a:p>
            <a:r>
              <a:rPr sz="850">
                <a:solidFill>
                  <a:srgbClr val="6B7385"/>
                </a:solidFill>
                <a:latin typeface="Courier New"/>
              </a:rPr>
              <a:t>15 </a:t>
            </a:r>
            <a:r>
              <a:rPr sz="850">
                <a:solidFill>
                  <a:srgbClr val="E6EAF0"/>
                </a:solidFill>
                <a:latin typeface="Courier New"/>
              </a:rPr>
              <a:t>       for _ in range(100)]</a:t>
            </a:r>
          </a:p>
          <a:p>
            <a:r>
              <a:rPr sz="850">
                <a:solidFill>
                  <a:srgbClr val="6B7385"/>
                </a:solidFill>
                <a:latin typeface="Courier New"/>
              </a:rPr>
              <a:t>16 </a:t>
            </a:r>
            <a:r>
              <a:rPr sz="850">
                <a:solidFill>
                  <a:srgbClr val="E6EAF0"/>
                </a:solidFill>
                <a:latin typeface="Courier New"/>
              </a:rPr>
              <a:t>nguong = np.quantile([mi(t, v) for v in xao], 0.95)      </a:t>
            </a:r>
            <a:r>
              <a:rPr sz="850">
                <a:solidFill>
                  <a:srgbClr val="8FC99A"/>
                </a:solidFill>
                <a:latin typeface="Courier New"/>
              </a:rPr>
              <a:t># so với mi(t, y)</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Độ nóng và độ lạnh so với mốc 18,33 °C.</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R² theo nhiệt độ so với theo CDD + HDD.</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MI bắt được cả quan hệ cong.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Xáo thứ tự các tuần, giữ nhịp trong tuần.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Ngưỡng 95% của MI khi không có quan hệ.</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R² tăng từ 0,379 lên 0,812. Nhánh lạnh r = −0,649, nhánh nóng +0,910. MI thật 0,862 vượt xa ngưỡng xáo khối 0,124.</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np.maximum(a, 0)</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Giữ phần dương, còn lại thành 0: đúng cách tính CDD, HDD.</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mutual_info_regression</a:t>
            </a:r>
            <a:r>
              <a:rPr sz="950" b="1" i="0">
                <a:solidFill>
                  <a:srgbClr val="5B6778"/>
                </a:solidFill>
                <a:latin typeface="Arial"/>
              </a:rPr>
              <a:t>   sklearn</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Ước lượng thông tin tương hỗ: biết x bớt được bao nhiêu điều về y.</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rng.permutation(n)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Xáo ngẫu nhiên thứ tự 0 tới n − 1, ở đây là thứ tự các khối.</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318c348677d.png"/>
          <p:cNvPicPr>
            <a:picLocks noChangeAspect="1"/>
          </p:cNvPicPr>
          <p:nvPr/>
        </p:nvPicPr>
        <p:blipFill>
          <a:blip r:embed="rId2"/>
          <a:stretch>
            <a:fillRect/>
          </a:stretch>
        </p:blipFill>
        <p:spPr>
          <a:xfrm>
            <a:off x="8388095" y="4233671"/>
            <a:ext cx="2727960" cy="201168"/>
          </a:xfrm>
          <a:prstGeom prst="rect">
            <a:avLst/>
          </a:prstGeom>
        </p:spPr>
      </p:pic>
      <p:pic>
        <p:nvPicPr>
          <p:cNvPr id="31" name="Picture 30" descr="kn-cdd-hdd.png"/>
          <p:cNvPicPr>
            <a:picLocks noChangeAspect="1"/>
          </p:cNvPicPr>
          <p:nvPr/>
        </p:nvPicPr>
        <p:blipFill>
          <a:blip r:embed="rId3"/>
          <a:stretch>
            <a:fillRect/>
          </a:stretch>
        </p:blipFill>
        <p:spPr>
          <a:xfrm>
            <a:off x="8074406" y="4745735"/>
            <a:ext cx="3355338" cy="1728216"/>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tương quan chéo sau prewhitening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Lọc bỏ độ trơn của x trước, rồi mới đọc độ trễ mà x báo trước 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statsmodels.tsa.ar_model import AutoReg</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ccf_tu_viet(x, y, so_tre):                    </a:t>
            </a:r>
            <a:r>
              <a:rPr sz="850">
                <a:solidFill>
                  <a:srgbClr val="8FC99A"/>
                </a:solidFill>
                <a:latin typeface="Courier New"/>
              </a:rPr>
              <a:t># corr(x_t, y_(t+k))</a:t>
            </a:r>
          </a:p>
          <a:p>
            <a:r>
              <a:rPr sz="850">
                <a:solidFill>
                  <a:srgbClr val="6B7385"/>
                </a:solidFill>
                <a:latin typeface="Courier New"/>
              </a:rPr>
              <a:t> 5 </a:t>
            </a:r>
            <a:r>
              <a:rPr sz="850">
                <a:solidFill>
                  <a:srgbClr val="E6EAF0"/>
                </a:solidFill>
                <a:latin typeface="Courier New"/>
              </a:rPr>
              <a:t>    x, y = (x - x.mean()) / x.std(), (y - y.mean()) / y.std()</a:t>
            </a:r>
          </a:p>
          <a:p>
            <a:r>
              <a:rPr sz="850">
                <a:solidFill>
                  <a:srgbClr val="6B7385"/>
                </a:solidFill>
                <a:latin typeface="Courier New"/>
              </a:rPr>
              <a:t> 6 </a:t>
            </a:r>
            <a:r>
              <a:rPr sz="850">
                <a:solidFill>
                  <a:srgbClr val="E6EAF0"/>
                </a:solidFill>
                <a:latin typeface="Courier New"/>
              </a:rPr>
              <a:t>    return np.array([np.sum(x[:x.size - k] * y[k:]) / x.size</a:t>
            </a:r>
          </a:p>
          <a:p>
            <a:r>
              <a:rPr sz="850">
                <a:solidFill>
                  <a:srgbClr val="6B7385"/>
                </a:solidFill>
                <a:latin typeface="Courier New"/>
              </a:rPr>
              <a:t> 7 </a:t>
            </a:r>
            <a:r>
              <a:rPr sz="850">
                <a:solidFill>
                  <a:srgbClr val="E6EAF0"/>
                </a:solidFill>
                <a:latin typeface="Courier New"/>
              </a:rPr>
              <a:t>                     for k in range(so_tre + 1)])</a:t>
            </a:r>
          </a:p>
          <a:p>
            <a:r>
              <a:rPr sz="850">
                <a:solidFill>
                  <a:srgbClr val="6B7385"/>
                </a:solidFill>
                <a:latin typeface="Courier New"/>
              </a:rPr>
              <a:t> 8 </a:t>
            </a:r>
            <a:r>
              <a:rPr sz="850">
                <a:solidFill>
                  <a:srgbClr val="E6EAF0"/>
                </a:solidFill>
                <a:latin typeface="Courier New"/>
              </a:rPr>
              <a:t>def loc_prewhiten(x, y, bac=48):</a:t>
            </a:r>
          </a:p>
          <a:p>
            <a:r>
              <a:rPr sz="850">
                <a:solidFill>
                  <a:srgbClr val="6B7385"/>
                </a:solidFill>
                <a:latin typeface="Courier New"/>
              </a:rPr>
              <a:t> 9 </a:t>
            </a:r>
            <a:r>
              <a:rPr sz="850">
                <a:solidFill>
                  <a:srgbClr val="E6EAF0"/>
                </a:solidFill>
                <a:latin typeface="Courier New"/>
              </a:rPr>
              <a:t>    phi = AutoReg(x, lags=bac).fit().params[1:]   </a:t>
            </a:r>
            <a:r>
              <a:rPr sz="850">
                <a:solidFill>
                  <a:srgbClr val="8FC99A"/>
                </a:solidFill>
                <a:latin typeface="Courier New"/>
              </a:rPr>
              <a:t># hệ số AR(48) của x</a:t>
            </a:r>
          </a:p>
          <a:p>
            <a:r>
              <a:rPr sz="850">
                <a:solidFill>
                  <a:srgbClr val="6B7385"/>
                </a:solidFill>
                <a:latin typeface="Courier New"/>
              </a:rPr>
              <a:t>10 </a:t>
            </a:r>
            <a:r>
              <a:rPr sz="850">
                <a:solidFill>
                  <a:srgbClr val="E6EAF0"/>
                </a:solidFill>
                <a:latin typeface="Courier New"/>
              </a:rPr>
              <a:t>    def loc(v):</a:t>
            </a:r>
          </a:p>
          <a:p>
            <a:r>
              <a:rPr sz="850">
                <a:solidFill>
                  <a:srgbClr val="6B7385"/>
                </a:solidFill>
                <a:latin typeface="Courier New"/>
              </a:rPr>
              <a:t>11 </a:t>
            </a:r>
            <a:r>
              <a:rPr sz="850">
                <a:solidFill>
                  <a:srgbClr val="E6EAF0"/>
                </a:solidFill>
                <a:latin typeface="Courier New"/>
              </a:rPr>
              <a:t>        return np.array([v[i] - phi[::-1] @ v[i - bac:i]</a:t>
            </a:r>
          </a:p>
          <a:p>
            <a:r>
              <a:rPr sz="850">
                <a:solidFill>
                  <a:srgbClr val="6B7385"/>
                </a:solidFill>
                <a:latin typeface="Courier New"/>
              </a:rPr>
              <a:t>12 </a:t>
            </a:r>
            <a:r>
              <a:rPr sz="850">
                <a:solidFill>
                  <a:srgbClr val="E6EAF0"/>
                </a:solidFill>
                <a:latin typeface="Courier New"/>
              </a:rPr>
              <a:t>                         for i in range(bac, v.size)])</a:t>
            </a:r>
          </a:p>
          <a:p>
            <a:r>
              <a:rPr sz="850">
                <a:solidFill>
                  <a:srgbClr val="6B7385"/>
                </a:solidFill>
                <a:latin typeface="Courier New"/>
              </a:rPr>
              <a:t>13 </a:t>
            </a:r>
            <a:r>
              <a:rPr sz="850">
                <a:solidFill>
                  <a:srgbClr val="E6EAF0"/>
                </a:solidFill>
                <a:latin typeface="Courier New"/>
              </a:rPr>
              <a:t>    return loc(x), loc(y)                         </a:t>
            </a:r>
            <a:r>
              <a:rPr sz="850">
                <a:solidFill>
                  <a:srgbClr val="8FC99A"/>
                </a:solidFill>
                <a:latin typeface="Courier New"/>
              </a:rPr>
              <a:t># lọc CẢ HAI, cùng phi</a:t>
            </a:r>
          </a:p>
          <a:p>
            <a:r>
              <a:rPr sz="850">
                <a:solidFill>
                  <a:srgbClr val="6B7385"/>
                </a:solidFill>
                <a:latin typeface="Courier New"/>
              </a:rPr>
              <a:t>14 </a:t>
            </a:r>
            <a:r>
              <a:rPr sz="850">
                <a:solidFill>
                  <a:srgbClr val="E6EAF0"/>
                </a:solidFill>
                <a:latin typeface="Courier New"/>
              </a:rPr>
              <a:t>cdd, taiv = df["cdd"].to_numpy(), df["tai"].to_numpy()</a:t>
            </a:r>
          </a:p>
          <a:p>
            <a:r>
              <a:rPr sz="850">
                <a:solidFill>
                  <a:srgbClr val="6B7385"/>
                </a:solidFill>
                <a:latin typeface="Courier New"/>
              </a:rPr>
              <a:t>15 </a:t>
            </a:r>
            <a:r>
              <a:rPr sz="850">
                <a:solidFill>
                  <a:srgbClr val="E6EAF0"/>
                </a:solidFill>
                <a:latin typeface="Courier New"/>
              </a:rPr>
              <a:t>tho = ccf_tu_viet(cdd, taiv, 48)                  </a:t>
            </a:r>
            <a:r>
              <a:rPr sz="850">
                <a:solidFill>
                  <a:srgbClr val="8FC99A"/>
                </a:solidFill>
                <a:latin typeface="Courier New"/>
              </a:rPr>
              <a:t># thô: nhoè</a:t>
            </a:r>
          </a:p>
          <a:p>
            <a:r>
              <a:rPr sz="850">
                <a:solidFill>
                  <a:srgbClr val="6B7385"/>
                </a:solidFill>
                <a:latin typeface="Courier New"/>
              </a:rPr>
              <a:t>16 </a:t>
            </a:r>
            <a:r>
              <a:rPr sz="850">
                <a:solidFill>
                  <a:srgbClr val="E6EAF0"/>
                </a:solidFill>
                <a:latin typeface="Courier New"/>
              </a:rPr>
              <a:t>sach = ccf_tu_viet(*loc_prewhiten(cdd, taiv), 48) </a:t>
            </a:r>
            <a:r>
              <a:rPr sz="850">
                <a:solidFill>
                  <a:srgbClr val="8FC99A"/>
                </a:solidFill>
                <a:latin typeface="Courier New"/>
              </a:rPr>
              <a:t># sau lọc: sắc</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Chuẩn hoá rồi nhân x lúc t với y lúc t + k.</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Khớp AR(48) cho x để biết phần tự đoán được.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Lọc cả x lẫn y bằng đúng bộ hệ số đó.</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So tương quan chéo thô và sau lọc.</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Thô: trễ 24 (0,828) cao gần bằng trễ 0, là nhịp ngày của CDD. Sau lọc chỉ còn đỉnh ở trễ 0 (0,205), tắt sau vài giờ.</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AutoReg(x, lags).fit()</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Khớp mô hình tự hồi quy: đoán x từ các giá trị trước của nó.</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ccf_tu_viet</a:t>
            </a:r>
            <a:r>
              <a:rPr sz="950" b="1" i="0">
                <a:solidFill>
                  <a:srgbClr val="5B6778"/>
                </a:solidFill>
                <a:latin typeface="Arial"/>
              </a:rPr>
              <a:t>   tự viết</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chéo corr(x_t, y_(t+k)); k dương là x đi trước y.</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loc_prewhiten</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Bỏ phần x tự đoán được, lọc y y hệt, trả hai chuỗi đã lọc.</a:t>
            </a:r>
          </a:p>
        </p:txBody>
      </p:sp>
      <p:pic>
        <p:nvPicPr>
          <p:cNvPr id="27" name="Picture 26" descr="ccf.png"/>
          <p:cNvPicPr>
            <a:picLocks noChangeAspect="1"/>
          </p:cNvPicPr>
          <p:nvPr/>
        </p:nvPicPr>
        <p:blipFill>
          <a:blip r:embed="rId2"/>
          <a:stretch>
            <a:fillRect/>
          </a:stretch>
        </p:blipFill>
        <p:spPr>
          <a:xfrm>
            <a:off x="7863840" y="4701246"/>
            <a:ext cx="3776472" cy="1158827"/>
          </a:xfrm>
          <a:prstGeom prst="rect">
            <a:avLst/>
          </a:prstGeom>
        </p:spPr>
      </p:pic>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tương quan trượt 30 và 90 ngày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quan hệ nhiệt độ và tải đổi dấu theo mùa, thay vì tin một con số cả năm.</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r>
              <a:rPr sz="1050">
                <a:solidFill>
                  <a:srgbClr val="E6EAF0"/>
                </a:solidFill>
                <a:latin typeface="Courier New"/>
              </a:rPr>
              <a:t>import pandas as pd</a:t>
            </a:r>
          </a:p>
          <a:p>
            <a:r>
              <a:rPr sz="1050">
                <a:solidFill>
                  <a:srgbClr val="6B7385"/>
                </a:solidFill>
                <a:latin typeface="Courier New"/>
              </a:rPr>
              <a:t> 3 </a:t>
            </a:r>
          </a:p>
          <a:p>
            <a:r>
              <a:rPr sz="1050">
                <a:solidFill>
                  <a:srgbClr val="6B7385"/>
                </a:solidFill>
                <a:latin typeface="Courier New"/>
              </a:rPr>
              <a:t> 4 </a:t>
            </a:r>
            <a:r>
              <a:rPr sz="1050">
                <a:solidFill>
                  <a:srgbClr val="8FC99A"/>
                </a:solidFill>
                <a:latin typeface="Courier New"/>
              </a:rPr>
              <a:t># ví dụ tay: 3 ngày đông r = −1, 3 ngày hè r = +1; gộp lại thì sao?</a:t>
            </a:r>
          </a:p>
          <a:p>
            <a:r>
              <a:rPr sz="1050">
                <a:solidFill>
                  <a:srgbClr val="6B7385"/>
                </a:solidFill>
                <a:latin typeface="Courier New"/>
              </a:rPr>
              <a:t> 5 </a:t>
            </a:r>
            <a:r>
              <a:rPr sz="1050">
                <a:solidFill>
                  <a:srgbClr val="E6EAF0"/>
                </a:solidFill>
                <a:latin typeface="Courier New"/>
              </a:rPr>
              <a:t>r_gop = np.corrcoef([5, 10, 15, 25, 30, 35], [30, 20, 10, 20, 30, 40])</a:t>
            </a:r>
          </a:p>
          <a:p>
            <a:r>
              <a:rPr sz="1050">
                <a:solidFill>
                  <a:srgbClr val="6B7385"/>
                </a:solidFill>
                <a:latin typeface="Courier New"/>
              </a:rPr>
              <a:t> 6 </a:t>
            </a:r>
          </a:p>
          <a:p>
            <a:r>
              <a:rPr sz="1050">
                <a:solidFill>
                  <a:srgbClr val="6B7385"/>
                </a:solidFill>
                <a:latin typeface="Courier New"/>
              </a:rPr>
              <a:t> 7 </a:t>
            </a:r>
            <a:r>
              <a:rPr sz="1050">
                <a:solidFill>
                  <a:srgbClr val="E6EAF0"/>
                </a:solidFill>
                <a:latin typeface="Courier New"/>
              </a:rPr>
              <a:t>ngay = df.resample("D").mean()                    </a:t>
            </a:r>
            <a:r>
              <a:rPr sz="1050">
                <a:solidFill>
                  <a:srgbClr val="8FC99A"/>
                </a:solidFill>
                <a:latin typeface="Courier New"/>
              </a:rPr>
              <a:t># giờ gộp thành ngày</a:t>
            </a:r>
          </a:p>
          <a:p>
            <a:r>
              <a:rPr sz="1050">
                <a:solidFill>
                  <a:srgbClr val="6B7385"/>
                </a:solidFill>
                <a:latin typeface="Courier New"/>
              </a:rPr>
              <a:t> 8 </a:t>
            </a:r>
            <a:r>
              <a:rPr sz="1050">
                <a:solidFill>
                  <a:srgbClr val="E6EAF0"/>
                </a:solidFill>
                <a:latin typeface="Courier New"/>
              </a:rPr>
              <a:t>r90 = ngay["nhiet"].rolling(90, min_periods=90).corr(ngay["tai"])</a:t>
            </a:r>
          </a:p>
          <a:p>
            <a:r>
              <a:rPr sz="1050">
                <a:solidFill>
                  <a:srgbClr val="6B7385"/>
                </a:solidFill>
                <a:latin typeface="Courier New"/>
              </a:rPr>
              <a:t> 9 </a:t>
            </a:r>
            <a:r>
              <a:rPr sz="1050">
                <a:solidFill>
                  <a:srgbClr val="E6EAF0"/>
                </a:solidFill>
                <a:latin typeface="Courier New"/>
              </a:rPr>
              <a:t>r30 = ngay["nhiet"].rolling(30, min_periods=30).corr(ngay["tai"])</a:t>
            </a:r>
          </a:p>
          <a:p>
            <a:r>
              <a:rPr sz="1050">
                <a:solidFill>
                  <a:srgbClr val="6B7385"/>
                </a:solidFill>
                <a:latin typeface="Courier New"/>
              </a:rPr>
              <a:t>10 </a:t>
            </a:r>
            <a:r>
              <a:rPr sz="1050">
                <a:solidFill>
                  <a:srgbClr val="E6EAF0"/>
                </a:solidFill>
                <a:latin typeface="Courier New"/>
              </a:rPr>
              <a:t>r_ca_nam = df["nhiet"].corr(df["tai"])            </a:t>
            </a:r>
            <a:r>
              <a:rPr sz="1050">
                <a:solidFill>
                  <a:srgbClr val="8FC99A"/>
                </a:solidFill>
                <a:latin typeface="Courier New"/>
              </a:rPr>
              <a:t># một số cho cả năm</a:t>
            </a:r>
          </a:p>
          <a:p>
            <a:r>
              <a:rPr sz="1050">
                <a:solidFill>
                  <a:srgbClr val="6B7385"/>
                </a:solidFill>
                <a:latin typeface="Courier New"/>
              </a:rPr>
              <a:t>11 </a:t>
            </a:r>
            <a:r>
              <a:rPr sz="1050">
                <a:solidFill>
                  <a:srgbClr val="E6EAF0"/>
                </a:solidFill>
                <a:latin typeface="Courier New"/>
              </a:rPr>
              <a:t>print(r90["2024-03-31"], r90["2024-10-14"], r30.min())</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5</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Hai chế độ ngược dấu gộp lại ra số lưng chừng.</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dữ liệu giờ thành trung bình ngày.</a:t>
            </a:r>
          </a:p>
        </p:txBody>
      </p:sp>
      <p:sp>
        <p:nvSpPr>
          <p:cNvPr id="14" name="Rounded Rectangle 13"/>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r trên cửa sổ trượt, đủ điểm mới tính.</a:t>
            </a:r>
          </a:p>
        </p:txBody>
      </p:sp>
      <p:sp>
        <p:nvSpPr>
          <p:cNvPr id="16" name="Rounded Rectangle 15"/>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7" name="TextBox 16"/>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Con số cả năm để so.</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Gộp sáu ngày ra r = 0,48. Cửa sổ 90 ngày: −0,801 (31/3), +0,968 (14/10); 30 ngày xuống tới −0,971. Cả năm 0,616.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dữ liệu theo từng ngày, lấy trung bình mỗi ngày.</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rolling(w, min_periods=w).corr(b)</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từng cửa sổ w ngày; thiếu điểm thì để trống.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np.corrcoef(a, b)</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Ma trận tương quan Pearson của hai dãy số.</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69778d8dcf62.png"/>
          <p:cNvPicPr>
            <a:picLocks noChangeAspect="1"/>
          </p:cNvPicPr>
          <p:nvPr/>
        </p:nvPicPr>
        <p:blipFill>
          <a:blip r:embed="rId2"/>
          <a:stretch>
            <a:fillRect/>
          </a:stretch>
        </p:blipFill>
        <p:spPr>
          <a:xfrm>
            <a:off x="8113776" y="4227575"/>
            <a:ext cx="3276600" cy="213360"/>
          </a:xfrm>
          <a:prstGeom prst="rect">
            <a:avLst/>
          </a:prstGeom>
        </p:spPr>
      </p:pic>
      <p:pic>
        <p:nvPicPr>
          <p:cNvPr id="29" name="Picture 28" descr="truot.png"/>
          <p:cNvPicPr>
            <a:picLocks noChangeAspect="1"/>
          </p:cNvPicPr>
          <p:nvPr/>
        </p:nvPicPr>
        <p:blipFill>
          <a:blip r:embed="rId3"/>
          <a:stretch>
            <a:fillRect/>
          </a:stretch>
        </p:blipFill>
        <p:spPr>
          <a:xfrm>
            <a:off x="7863840" y="4951597"/>
            <a:ext cx="3776472" cy="1316493"/>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Granger chạy cả hai chiều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Granger hai chiều để thấy dấu hiệu của biến gây nhiễu, thay vì đọc thành nhân quả.</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statsmodels.tsa.stattools import grangercausalitytests</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granger_p(nguyen_nhan, ket_qua, so_tre=4):</a:t>
            </a:r>
          </a:p>
          <a:p>
            <a:r>
              <a:rPr sz="950">
                <a:solidFill>
                  <a:srgbClr val="6B7385"/>
                </a:solidFill>
                <a:latin typeface="Courier New"/>
              </a:rPr>
              <a:t> 5 </a:t>
            </a:r>
            <a:r>
              <a:rPr sz="950">
                <a:solidFill>
                  <a:srgbClr val="E6EAF0"/>
                </a:solidFill>
                <a:latin typeface="Courier New"/>
              </a:rPr>
              <a:t>    </a:t>
            </a:r>
            <a:r>
              <a:rPr sz="950">
                <a:solidFill>
                  <a:srgbClr val="8FC99A"/>
                </a:solidFill>
                <a:latin typeface="Courier New"/>
              </a:rPr>
              <a:t># statsmodels hỏi: CỘT 2 có giúp dự báo CỘT 1 không</a:t>
            </a:r>
          </a:p>
          <a:p>
            <a:r>
              <a:rPr sz="950">
                <a:solidFill>
                  <a:srgbClr val="6B7385"/>
                </a:solidFill>
                <a:latin typeface="Courier New"/>
              </a:rPr>
              <a:t> 6 </a:t>
            </a:r>
            <a:r>
              <a:rPr sz="950">
                <a:solidFill>
                  <a:srgbClr val="E6EAF0"/>
                </a:solidFill>
                <a:latin typeface="Courier New"/>
              </a:rPr>
              <a:t>    kq = grangercausalitytests(np.column_stack([ket_qua, nguyen_nhan]),</a:t>
            </a:r>
          </a:p>
          <a:p>
            <a:r>
              <a:rPr sz="950">
                <a:solidFill>
                  <a:srgbClr val="6B7385"/>
                </a:solidFill>
                <a:latin typeface="Courier New"/>
              </a:rPr>
              <a:t> 7 </a:t>
            </a:r>
            <a:r>
              <a:rPr sz="950">
                <a:solidFill>
                  <a:srgbClr val="E6EAF0"/>
                </a:solidFill>
                <a:latin typeface="Courier New"/>
              </a:rPr>
              <a:t>                               maxlag=so_tre)</a:t>
            </a:r>
          </a:p>
          <a:p>
            <a:r>
              <a:rPr sz="950">
                <a:solidFill>
                  <a:srgbClr val="6B7385"/>
                </a:solidFill>
                <a:latin typeface="Courier New"/>
              </a:rPr>
              <a:t> 8 </a:t>
            </a:r>
            <a:r>
              <a:rPr sz="950">
                <a:solidFill>
                  <a:srgbClr val="E6EAF0"/>
                </a:solidFill>
                <a:latin typeface="Courier New"/>
              </a:rPr>
              <a:t>    return min(kq[k][0]["ssr_ftest"][1] for k in kq)   </a:t>
            </a:r>
            <a:r>
              <a:rPr sz="950">
                <a:solidFill>
                  <a:srgbClr val="8FC99A"/>
                </a:solidFill>
                <a:latin typeface="Courier New"/>
              </a:rPr>
              <a:t># p nhỏ nhất</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cdd, taiv = df["cdd"].to_numpy(), df["tai"].to_numpy()</a:t>
            </a:r>
          </a:p>
          <a:p>
            <a:r>
              <a:rPr sz="950">
                <a:solidFill>
                  <a:srgbClr val="6B7385"/>
                </a:solidFill>
                <a:latin typeface="Courier New"/>
              </a:rPr>
              <a:t>11 </a:t>
            </a:r>
            <a:r>
              <a:rPr sz="950">
                <a:solidFill>
                  <a:srgbClr val="E6EAF0"/>
                </a:solidFill>
                <a:latin typeface="Courier New"/>
              </a:rPr>
              <a:t>p_xuoi = granger_p(cdd, taiv)                     </a:t>
            </a:r>
            <a:r>
              <a:rPr sz="950">
                <a:solidFill>
                  <a:srgbClr val="8FC99A"/>
                </a:solidFill>
                <a:latin typeface="Courier New"/>
              </a:rPr>
              <a:t># CDD giúp dự báo tải?</a:t>
            </a:r>
          </a:p>
          <a:p>
            <a:r>
              <a:rPr sz="950">
                <a:solidFill>
                  <a:srgbClr val="6B7385"/>
                </a:solidFill>
                <a:latin typeface="Courier New"/>
              </a:rPr>
              <a:t>12 </a:t>
            </a:r>
            <a:r>
              <a:rPr sz="950">
                <a:solidFill>
                  <a:srgbClr val="E6EAF0"/>
                </a:solidFill>
                <a:latin typeface="Courier New"/>
              </a:rPr>
              <a:t>p_nguoc = granger_p(taiv, cdd)                    </a:t>
            </a:r>
            <a:r>
              <a:rPr sz="950">
                <a:solidFill>
                  <a:srgbClr val="8FC99A"/>
                </a:solidFill>
                <a:latin typeface="Courier New"/>
              </a:rPr>
              <a:t># tải giúp dự báo CDD?</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ho = df[["tai", "nhiet"]].groupby(df.index.hour).mean()   </a:t>
            </a:r>
            <a:r>
              <a:rPr sz="950">
                <a:solidFill>
                  <a:srgbClr val="8FC99A"/>
                </a:solidFill>
                <a:latin typeface="Courier New"/>
              </a:rPr>
              <a:t># theo giờ</a:t>
            </a:r>
          </a:p>
          <a:p>
            <a:r>
              <a:rPr sz="950">
                <a:solidFill>
                  <a:srgbClr val="6B7385"/>
                </a:solidFill>
                <a:latin typeface="Courier New"/>
              </a:rPr>
              <a:t>15 </a:t>
            </a:r>
            <a:r>
              <a:rPr sz="950">
                <a:solidFill>
                  <a:srgbClr val="E6EAF0"/>
                </a:solidFill>
                <a:latin typeface="Courier New"/>
              </a:rPr>
              <a:t>ho = (ho - ho.mean()) / ho.std()                  </a:t>
            </a:r>
            <a:r>
              <a:rPr sz="950">
                <a:solidFill>
                  <a:srgbClr val="8FC99A"/>
                </a:solidFill>
                <a:latin typeface="Courier New"/>
              </a:rPr>
              <a:t># cùng một nhịp 24 giờ</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Xếp cột đúng thứ tự thư viện đòi.</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Lấy p nhỏ nhất qua các độ trễ 1 tới 4.</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Hỏi cả hai chiều, không chỉ chiều mong muốn.</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Tìm biến thứ ba: nhịp giờ trong ngày.</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Cả hai chiều p gần 0, kể cả "tải giúp dự báo nhiệt độ": vô lý, vì cả hai cùng chạy theo nhịp ngày.</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grangercausalitytests(data, maxlag)</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quá khứ cột 2 có giúp dự báo cột 1 không, ở mỗi độ trễ.</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groupby(df.index.hour).mean()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giờ trong ngày: ra hình dạng một ngày điển hình.</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np.column_stack</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các dãy thành các cột của một bảng.</a:t>
            </a:r>
          </a:p>
        </p:txBody>
      </p:sp>
      <p:pic>
        <p:nvPicPr>
          <p:cNvPr id="27" name="Picture 26" descr="kn-bien-gay-nhieu.png"/>
          <p:cNvPicPr>
            <a:picLocks noChangeAspect="1"/>
          </p:cNvPicPr>
          <p:nvPr/>
        </p:nvPicPr>
        <p:blipFill>
          <a:blip r:embed="rId2"/>
          <a:stretch>
            <a:fillRect/>
          </a:stretch>
        </p:blipFill>
        <p:spPr>
          <a:xfrm>
            <a:off x="7863840" y="4433338"/>
            <a:ext cx="3776472" cy="1694642"/>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mỗi chuỗi thành một hàng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Tóm mỗi chuỗi thành các đặc trưng không đổi theo đơn vị, để so hàng nghìn chuỗi.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scipy import stats</a:t>
            </a:r>
          </a:p>
          <a:p>
            <a:r>
              <a:rPr sz="850">
                <a:solidFill>
                  <a:srgbClr val="6B7385"/>
                </a:solidFill>
                <a:latin typeface="Courier New"/>
              </a:rPr>
              <a:t> 4 </a:t>
            </a:r>
            <a:r>
              <a:rPr sz="850">
                <a:solidFill>
                  <a:srgbClr val="E6EAF0"/>
                </a:solidFill>
                <a:latin typeface="Courier New"/>
              </a:rPr>
              <a:t>from statsmodels.tsa.seasonal import STL</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dac_trung(y, m=12):                           </a:t>
            </a:r>
            <a:r>
              <a:rPr sz="850">
                <a:solidFill>
                  <a:srgbClr val="8FC99A"/>
                </a:solidFill>
                <a:latin typeface="Courier New"/>
              </a:rPr>
              <a:t># 6 trong 20 đặc trưng</a:t>
            </a:r>
          </a:p>
          <a:p>
            <a:r>
              <a:rPr sz="850">
                <a:solidFill>
                  <a:srgbClr val="6B7385"/>
                </a:solidFill>
                <a:latin typeface="Courier New"/>
              </a:rPr>
              <a:t> 7 </a:t>
            </a:r>
            <a:r>
              <a:rPr sz="850">
                <a:solidFill>
                  <a:srgbClr val="E6EAF0"/>
                </a:solidFill>
                <a:latin typeface="Courier New"/>
              </a:rPr>
              <a:t>    z = (y - y.mean()) / np.std(y)                </a:t>
            </a:r>
            <a:r>
              <a:rPr sz="850">
                <a:solidFill>
                  <a:srgbClr val="8FC99A"/>
                </a:solidFill>
                <a:latin typeface="Courier New"/>
              </a:rPr>
              <a:t># STL trên chuỗi z-score</a:t>
            </a:r>
          </a:p>
          <a:p>
            <a:r>
              <a:rPr sz="850">
                <a:solidFill>
                  <a:srgbClr val="6B7385"/>
                </a:solidFill>
                <a:latin typeface="Courier New"/>
              </a:rPr>
              <a:t> 8 </a:t>
            </a:r>
            <a:r>
              <a:rPr sz="850">
                <a:solidFill>
                  <a:srgbClr val="E6EAF0"/>
                </a:solidFill>
                <a:latin typeface="Courier New"/>
              </a:rPr>
              <a:t>    idx = pd.period_range("2000-01", periods=y.size, freq="M").to_timestamp()</a:t>
            </a:r>
          </a:p>
          <a:p>
            <a:r>
              <a:rPr sz="850">
                <a:solidFill>
                  <a:srgbClr val="6B7385"/>
                </a:solidFill>
                <a:latin typeface="Courier New"/>
              </a:rPr>
              <a:t> 9 </a:t>
            </a:r>
            <a:r>
              <a:rPr sz="850">
                <a:solidFill>
                  <a:srgbClr val="E6EAF0"/>
                </a:solidFill>
                <a:latin typeface="Courier New"/>
              </a:rPr>
              <a:t>    kq = STL(pd.Series(z, index=idx), period=m).fit()</a:t>
            </a:r>
          </a:p>
          <a:p>
            <a:r>
              <a:rPr sz="850">
                <a:solidFill>
                  <a:srgbClr val="6B7385"/>
                </a:solidFill>
                <a:latin typeface="Courier New"/>
              </a:rPr>
              <a:t>10 </a:t>
            </a:r>
            <a:r>
              <a:rPr sz="850">
                <a:solidFill>
                  <a:srgbClr val="E6EAF0"/>
                </a:solidFill>
                <a:latin typeface="Courier New"/>
              </a:rPr>
              <a:t>    r, s = kq.resid.to_numpy(), kq.seasonal.to_numpy()</a:t>
            </a:r>
          </a:p>
          <a:p>
            <a:r>
              <a:rPr sz="850">
                <a:solidFill>
                  <a:srgbClr val="6B7385"/>
                </a:solidFill>
                <a:latin typeface="Courier New"/>
              </a:rPr>
              <a:t>11 </a:t>
            </a:r>
            <a:r>
              <a:rPr sz="850">
                <a:solidFill>
                  <a:srgbClr val="E6EAF0"/>
                </a:solidFill>
                <a:latin typeface="Courier New"/>
              </a:rPr>
              <a:t>    return {"trung_binh": y.mean(),</a:t>
            </a:r>
          </a:p>
          <a:p>
            <a:r>
              <a:rPr sz="850">
                <a:solidFill>
                  <a:srgbClr val="6B7385"/>
                </a:solidFill>
                <a:latin typeface="Courier New"/>
              </a:rPr>
              <a:t>12 </a:t>
            </a:r>
            <a:r>
              <a:rPr sz="850">
                <a:solidFill>
                  <a:srgbClr val="E6EAF0"/>
                </a:solidFill>
                <a:latin typeface="Courier New"/>
              </a:rPr>
              <a:t>            "he_so_bien_thien": np.std(y, ddof=1) / y.mean(),</a:t>
            </a:r>
          </a:p>
          <a:p>
            <a:r>
              <a:rPr sz="850">
                <a:solidFill>
                  <a:srgbClr val="6B7385"/>
                </a:solidFill>
                <a:latin typeface="Courier New"/>
              </a:rPr>
              <a:t>13 </a:t>
            </a:r>
            <a:r>
              <a:rPr sz="850">
                <a:solidFill>
                  <a:srgbClr val="E6EAF0"/>
                </a:solidFill>
                <a:latin typeface="Courier New"/>
              </a:rPr>
              <a:t>            "he_so_lech": stats.skew(y), "do_nhon": stats.kurtosis(y),</a:t>
            </a:r>
          </a:p>
          <a:p>
            <a:r>
              <a:rPr sz="850">
                <a:solidFill>
                  <a:srgbClr val="6B7385"/>
                </a:solidFill>
                <a:latin typeface="Courier New"/>
              </a:rPr>
              <a:t>14 </a:t>
            </a:r>
            <a:r>
              <a:rPr sz="850">
                <a:solidFill>
                  <a:srgbClr val="E6EAF0"/>
                </a:solidFill>
                <a:latin typeface="Courier New"/>
              </a:rPr>
              <a:t>            "do_manh_mua_vu": max(0.0, 1 - np.var(r) / np.var(s + r)),</a:t>
            </a:r>
          </a:p>
          <a:p>
            <a:r>
              <a:rPr sz="850">
                <a:solidFill>
                  <a:srgbClr val="6B7385"/>
                </a:solidFill>
                <a:latin typeface="Courier New"/>
              </a:rPr>
              <a:t>15 </a:t>
            </a:r>
            <a:r>
              <a:rPr sz="850">
                <a:solidFill>
                  <a:srgbClr val="E6EAF0"/>
                </a:solidFill>
                <a:latin typeface="Courier New"/>
              </a:rPr>
              <a:t>            "ty_le_0": np.mean(y == 0)}</a:t>
            </a:r>
          </a:p>
          <a:p>
            <a:r>
              <a:rPr sz="850">
                <a:solidFill>
                  <a:srgbClr val="6B7385"/>
                </a:solidFill>
                <a:latin typeface="Courier New"/>
              </a:rPr>
              <a:t>16 </a:t>
            </a:r>
            <a:r>
              <a:rPr sz="850">
                <a:solidFill>
                  <a:srgbClr val="E6EAF0"/>
                </a:solidFill>
                <a:latin typeface="Courier New"/>
              </a:rPr>
              <a:t>bang = pd.DataFrame({t: dac_trung(v[:-18]) for t, v in chuoi.items()}).T</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z-score để độ mạnh không tính bằng USD.</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Tách xu hướng, mùa vụ, phần dư bằng STL.</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11–15</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Mỗi đặc trưng một con số của cả chuỗi.</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Chỉ tính trên phần học, bỏ 18 tháng chấm.</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Nhân chuỗi với 1.000: chỉ trung_binh và do_lech_chuan đổi, 18 đặc trưng giữ nguyên. Bảng còn cho thấy 1 chuỗi hằng và 50 chuỗi bậc thang.</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STL(series, period).fit()</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Tách chuỗi thành xu hướng + mùa vụ + phần dư.</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stats.skew, stats.kurtosis</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lệch và độ nhọn: đo đuôi và giá trị cực đoan.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pd.DataFrame(dict).T</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từ điển các chuỗi thành bảng, mỗi chuỗi một hàng.</a:t>
            </a:r>
          </a:p>
        </p:txBody>
      </p:sp>
      <p:pic>
        <p:nvPicPr>
          <p:cNvPr id="27" name="Picture 26" descr="kn-he-so-lech-skewness.png"/>
          <p:cNvPicPr>
            <a:picLocks noChangeAspect="1"/>
          </p:cNvPicPr>
          <p:nvPr/>
        </p:nvPicPr>
        <p:blipFill>
          <a:blip r:embed="rId2"/>
          <a:stretch>
            <a:fillRect/>
          </a:stretch>
        </p:blipFill>
        <p:spPr>
          <a:xfrm>
            <a:off x="7863840" y="4556874"/>
            <a:ext cx="3776472" cy="1447571"/>
          </a:xfrm>
          <a:prstGeom prst="rect">
            <a:avLst/>
          </a:prstGeom>
        </p:spPr>
      </p:pic>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spectral entropy từ phổ Welch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con số từ 0 tới 1 nói chuỗi có nhịp rõ hay giống nhiễu, không cần mô hình.</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entropy_pho(y):</a:t>
            </a:r>
          </a:p>
          <a:p>
            <a:r>
              <a:rPr sz="850">
                <a:solidFill>
                  <a:srgbClr val="6B7385"/>
                </a:solidFill>
                <a:latin typeface="Courier New"/>
              </a:rPr>
              <a:t> 5 </a:t>
            </a:r>
            <a:r>
              <a:rPr sz="850">
                <a:solidFill>
                  <a:srgbClr val="E6EAF0"/>
                </a:solidFill>
                <a:latin typeface="Courier New"/>
              </a:rPr>
              <a:t>    _, P = signal.welch(y - y.mean(), fs=1.0, nperseg=min(256, y.size))</a:t>
            </a:r>
          </a:p>
          <a:p>
            <a:r>
              <a:rPr sz="850">
                <a:solidFill>
                  <a:srgbClr val="6B7385"/>
                </a:solidFill>
                <a:latin typeface="Courier New"/>
              </a:rPr>
              <a:t> 6 </a:t>
            </a:r>
            <a:r>
              <a:rPr sz="850">
                <a:solidFill>
                  <a:srgbClr val="E6EAF0"/>
                </a:solidFill>
                <a:latin typeface="Courier New"/>
              </a:rPr>
              <a:t>    P = P[1:]                                     </a:t>
            </a:r>
            <a:r>
              <a:rPr sz="850">
                <a:solidFill>
                  <a:srgbClr val="8FC99A"/>
                </a:solidFill>
                <a:latin typeface="Courier New"/>
              </a:rPr>
              <a:t># bỏ tần số 0 (mức TB)</a:t>
            </a:r>
          </a:p>
          <a:p>
            <a:r>
              <a:rPr sz="850">
                <a:solidFill>
                  <a:srgbClr val="6B7385"/>
                </a:solidFill>
                <a:latin typeface="Courier New"/>
              </a:rPr>
              <a:t> 7 </a:t>
            </a:r>
            <a:r>
              <a:rPr sz="850">
                <a:solidFill>
                  <a:srgbClr val="E6EAF0"/>
                </a:solidFill>
                <a:latin typeface="Courier New"/>
              </a:rPr>
              <a:t>    p = P / P.sum()                               </a:t>
            </a:r>
            <a:r>
              <a:rPr sz="850">
                <a:solidFill>
                  <a:srgbClr val="8FC99A"/>
                </a:solidFill>
                <a:latin typeface="Courier New"/>
              </a:rPr>
              <a:t># phần năng lượng, tổng 1</a:t>
            </a:r>
          </a:p>
          <a:p>
            <a:r>
              <a:rPr sz="850">
                <a:solidFill>
                  <a:srgbClr val="6B7385"/>
                </a:solidFill>
                <a:latin typeface="Courier New"/>
              </a:rPr>
              <a:t> 8 </a:t>
            </a:r>
            <a:r>
              <a:rPr sz="850">
                <a:solidFill>
                  <a:srgbClr val="E6EAF0"/>
                </a:solidFill>
                <a:latin typeface="Courier New"/>
              </a:rPr>
              <a:t>    return float(-np.sum(p * np.log(p + 1e-300)) / np.log(p.size))</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rng = np.random.default_rng(0)</a:t>
            </a:r>
          </a:p>
          <a:p>
            <a:r>
              <a:rPr sz="850">
                <a:solidFill>
                  <a:srgbClr val="6B7385"/>
                </a:solidFill>
                <a:latin typeface="Courier New"/>
              </a:rPr>
              <a:t>11 </a:t>
            </a:r>
            <a:r>
              <a:rPr sz="850">
                <a:solidFill>
                  <a:srgbClr val="E6EAF0"/>
                </a:solidFill>
                <a:latin typeface="Courier New"/>
              </a:rPr>
              <a:t>t = np.arange(120)</a:t>
            </a:r>
          </a:p>
          <a:p>
            <a:r>
              <a:rPr sz="850">
                <a:solidFill>
                  <a:srgbClr val="6B7385"/>
                </a:solidFill>
                <a:latin typeface="Courier New"/>
              </a:rPr>
              <a:t>12 </a:t>
            </a:r>
            <a:r>
              <a:rPr sz="850">
                <a:solidFill>
                  <a:srgbClr val="E6EAF0"/>
                </a:solidFill>
                <a:latin typeface="Courier New"/>
              </a:rPr>
              <a:t>mua_vu = np.sin(2 * np.pi * t / 12) + 0.2 * rng.normal(size=120)</a:t>
            </a:r>
          </a:p>
          <a:p>
            <a:r>
              <a:rPr sz="850">
                <a:solidFill>
                  <a:srgbClr val="6B7385"/>
                </a:solidFill>
                <a:latin typeface="Courier New"/>
              </a:rPr>
              <a:t>13 </a:t>
            </a:r>
            <a:r>
              <a:rPr sz="850">
                <a:solidFill>
                  <a:srgbClr val="E6EAF0"/>
                </a:solidFill>
                <a:latin typeface="Courier New"/>
              </a:rPr>
              <a:t>nhieu = rng.normal(size=120)</a:t>
            </a:r>
          </a:p>
          <a:p>
            <a:r>
              <a:rPr sz="850">
                <a:solidFill>
                  <a:srgbClr val="6B7385"/>
                </a:solidFill>
                <a:latin typeface="Courier New"/>
              </a:rPr>
              <a:t>14 </a:t>
            </a:r>
            <a:r>
              <a:rPr sz="850">
                <a:solidFill>
                  <a:srgbClr val="E6EAF0"/>
                </a:solidFill>
                <a:latin typeface="Courier New"/>
              </a:rPr>
              <a:t>print(entropy_pho(mua_vu), entropy_pho(nhieu))</a:t>
            </a:r>
          </a:p>
          <a:p>
            <a:r>
              <a:rPr sz="850">
                <a:solidFill>
                  <a:srgbClr val="6B7385"/>
                </a:solidFill>
                <a:latin typeface="Courier New"/>
              </a:rPr>
              <a:t>15 </a:t>
            </a:r>
            <a:r>
              <a:rPr sz="850">
                <a:solidFill>
                  <a:srgbClr val="E6EAF0"/>
                </a:solidFill>
                <a:latin typeface="Courier New"/>
              </a:rPr>
              <a:t>e = bang["entropy_pho"]                           </a:t>
            </a:r>
            <a:r>
              <a:rPr sz="850">
                <a:solidFill>
                  <a:srgbClr val="8FC99A"/>
                </a:solidFill>
                <a:latin typeface="Courier New"/>
              </a:rPr>
              <a:t># 4.000 chuỗi M4</a:t>
            </a:r>
          </a:p>
          <a:p>
            <a:r>
              <a:rPr sz="850">
                <a:solidFill>
                  <a:srgbClr val="6B7385"/>
                </a:solidFill>
                <a:latin typeface="Courier New"/>
              </a:rPr>
              <a:t>16 </a:t>
            </a:r>
            <a:r>
              <a:rPr sz="850">
                <a:solidFill>
                  <a:srgbClr val="E6EAF0"/>
                </a:solidFill>
                <a:latin typeface="Courier New"/>
              </a:rPr>
              <a:t>print(e.median(), e.quantile(0.8))</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Phổ: mỗi tần số góp bao nhiêu năng lượng.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Chia thành các phần cộng lại bằng 1.</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Entropy chia ln N để luôn nằm trong 0 tới 1.</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So chuỗi mùa vụ 12 tháng với nhiễu thuần.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Xem phân bố entropy trên 4.000 chuỗi.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Chuỗi mùa vụ entropy 0,33, nhiễu thuần 0,94. Trên M4 trung vị 0,462; một phần năm số chuỗi từ 0,666 trở lên.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signal.welch(y, fs, nperseg)</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Ước lượng phổ bằng trung bình phổ của nhiều đoạn chồng nhau.</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entropy_pho</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Năng lượng trải đều tới đâu: 0 là một nhịp, 1 là nhiễu.</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quantile(0.8)</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Giá trị mà 80% số chuỗi nằm dưới.</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62cab6aa52f.png"/>
          <p:cNvPicPr>
            <a:picLocks noChangeAspect="1"/>
          </p:cNvPicPr>
          <p:nvPr/>
        </p:nvPicPr>
        <p:blipFill>
          <a:blip r:embed="rId2"/>
          <a:stretch>
            <a:fillRect/>
          </a:stretch>
        </p:blipFill>
        <p:spPr>
          <a:xfrm>
            <a:off x="8502395" y="4114799"/>
            <a:ext cx="2499360" cy="786384"/>
          </a:xfrm>
          <a:prstGeom prst="rect">
            <a:avLst/>
          </a:prstGeom>
        </p:spPr>
      </p:pic>
      <p:pic>
        <p:nvPicPr>
          <p:cNvPr id="31" name="Picture 30" descr="entropy-hai-chuoi.png"/>
          <p:cNvPicPr>
            <a:picLocks noChangeAspect="1"/>
          </p:cNvPicPr>
          <p:nvPr/>
        </p:nvPicPr>
        <p:blipFill>
          <a:blip r:embed="rId3"/>
          <a:stretch>
            <a:fillRect/>
          </a:stretch>
        </p:blipFill>
        <p:spPr>
          <a:xfrm>
            <a:off x="8382482" y="5093207"/>
            <a:ext cx="2739187" cy="1380744"/>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đo độ khó bằng sMAPE và MASE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chỉ đổi mẫu số của thước đo là kết luận về entropy đổi hẳn.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scipy import stats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smape(y, f):                                  </a:t>
            </a:r>
            <a:r>
              <a:rPr sz="850">
                <a:solidFill>
                  <a:srgbClr val="8FC99A"/>
                </a:solidFill>
                <a:latin typeface="Courier New"/>
              </a:rPr>
              <a:t># chia cho MỨC</a:t>
            </a:r>
          </a:p>
          <a:p>
            <a:r>
              <a:rPr sz="850">
                <a:solidFill>
                  <a:srgbClr val="6B7385"/>
                </a:solidFill>
                <a:latin typeface="Courier New"/>
              </a:rPr>
              <a:t> 6 </a:t>
            </a:r>
            <a:r>
              <a:rPr sz="850">
                <a:solidFill>
                  <a:srgbClr val="E6EAF0"/>
                </a:solidFill>
                <a:latin typeface="Courier New"/>
              </a:rPr>
              <a:t>    mau = np.abs(y) + np.abs(f)</a:t>
            </a:r>
          </a:p>
          <a:p>
            <a:r>
              <a:rPr sz="850">
                <a:solidFill>
                  <a:srgbClr val="6B7385"/>
                </a:solidFill>
                <a:latin typeface="Courier New"/>
              </a:rPr>
              <a:t> 7 </a:t>
            </a:r>
            <a:r>
              <a:rPr sz="850">
                <a:solidFill>
                  <a:srgbClr val="E6EAF0"/>
                </a:solidFill>
                <a:latin typeface="Courier New"/>
              </a:rPr>
              <a:t>    return np.mean(np.where(mau == 0, 0.0, 200 * np.abs(y - f) / mau))</a:t>
            </a:r>
          </a:p>
          <a:p>
            <a:r>
              <a:rPr sz="850">
                <a:solidFill>
                  <a:srgbClr val="6B7385"/>
                </a:solidFill>
                <a:latin typeface="Courier New"/>
              </a:rPr>
              <a:t> 8 </a:t>
            </a:r>
            <a:r>
              <a:rPr sz="850">
                <a:solidFill>
                  <a:srgbClr val="E6EAF0"/>
                </a:solidFill>
                <a:latin typeface="Courier New"/>
              </a:rPr>
              <a:t>def mase(y, f, hoc, m=12):                        </a:t>
            </a:r>
            <a:r>
              <a:rPr sz="850">
                <a:solidFill>
                  <a:srgbClr val="8FC99A"/>
                </a:solidFill>
                <a:latin typeface="Courier New"/>
              </a:rPr>
              <a:t># chia cho sai số snaive</a:t>
            </a:r>
          </a:p>
          <a:p>
            <a:r>
              <a:rPr sz="850">
                <a:solidFill>
                  <a:srgbClr val="6B7385"/>
                </a:solidFill>
                <a:latin typeface="Courier New"/>
              </a:rPr>
              <a:t> 9 </a:t>
            </a:r>
            <a:r>
              <a:rPr sz="850">
                <a:solidFill>
                  <a:srgbClr val="E6EAF0"/>
                </a:solidFill>
                <a:latin typeface="Courier New"/>
              </a:rPr>
              <a:t>    thang = np.mean(np.abs(hoc[m:] - hoc[:-m]))   </a:t>
            </a:r>
            <a:r>
              <a:rPr sz="850">
                <a:solidFill>
                  <a:srgbClr val="8FC99A"/>
                </a:solidFill>
                <a:latin typeface="Courier New"/>
              </a:rPr>
              <a:t># MAE snaive phần học</a:t>
            </a:r>
          </a:p>
          <a:p>
            <a:r>
              <a:rPr sz="850">
                <a:solidFill>
                  <a:srgbClr val="6B7385"/>
                </a:solidFill>
                <a:latin typeface="Courier New"/>
              </a:rPr>
              <a:t>10 </a:t>
            </a:r>
            <a:r>
              <a:rPr sz="850">
                <a:solidFill>
                  <a:srgbClr val="E6EAF0"/>
                </a:solidFill>
                <a:latin typeface="Courier New"/>
              </a:rPr>
              <a:t>    return np.mean(np.abs(y - f)) / thang</a:t>
            </a:r>
          </a:p>
          <a:p>
            <a:r>
              <a:rPr sz="850">
                <a:solidFill>
                  <a:srgbClr val="6B7385"/>
                </a:solidFill>
                <a:latin typeface="Courier New"/>
              </a:rPr>
              <a:t>11 </a:t>
            </a:r>
            <a:r>
              <a:rPr sz="850">
                <a:solidFill>
                  <a:srgbClr val="E6EAF0"/>
                </a:solidFill>
                <a:latin typeface="Courier New"/>
              </a:rPr>
              <a:t>kho = {}</a:t>
            </a:r>
          </a:p>
          <a:p>
            <a:r>
              <a:rPr sz="850">
                <a:solidFill>
                  <a:srgbClr val="6B7385"/>
                </a:solidFill>
                <a:latin typeface="Courier New"/>
              </a:rPr>
              <a:t>12 </a:t>
            </a:r>
            <a:r>
              <a:rPr sz="850">
                <a:solidFill>
                  <a:srgbClr val="E6EAF0"/>
                </a:solidFill>
                <a:latin typeface="Courier New"/>
              </a:rPr>
              <a:t>for ten, v in chuoi.items():</a:t>
            </a:r>
          </a:p>
          <a:p>
            <a:r>
              <a:rPr sz="850">
                <a:solidFill>
                  <a:srgbClr val="6B7385"/>
                </a:solidFill>
                <a:latin typeface="Courier New"/>
              </a:rPr>
              <a:t>13 </a:t>
            </a:r>
            <a:r>
              <a:rPr sz="850">
                <a:solidFill>
                  <a:srgbClr val="E6EAF0"/>
                </a:solidFill>
                <a:latin typeface="Courier New"/>
              </a:rPr>
              <a:t>    hoc, kiem = v[:-18], v[-18:]                  </a:t>
            </a:r>
            <a:r>
              <a:rPr sz="850">
                <a:solidFill>
                  <a:srgbClr val="8FC99A"/>
                </a:solidFill>
                <a:latin typeface="Courier New"/>
              </a:rPr>
              <a:t># 18 tháng cuối để chấm</a:t>
            </a:r>
          </a:p>
          <a:p>
            <a:r>
              <a:rPr sz="850">
                <a:solidFill>
                  <a:srgbClr val="6B7385"/>
                </a:solidFill>
                <a:latin typeface="Courier New"/>
              </a:rPr>
              <a:t>14 </a:t>
            </a:r>
            <a:r>
              <a:rPr sz="850">
                <a:solidFill>
                  <a:srgbClr val="E6EAF0"/>
                </a:solidFill>
                <a:latin typeface="Courier New"/>
              </a:rPr>
              <a:t>    f = np.resize(hoc[-12:], 18)                  </a:t>
            </a:r>
            <a:r>
              <a:rPr sz="850">
                <a:solidFill>
                  <a:srgbClr val="8FC99A"/>
                </a:solidFill>
                <a:latin typeface="Courier New"/>
              </a:rPr>
              <a:t># seasonal naive</a:t>
            </a:r>
          </a:p>
          <a:p>
            <a:r>
              <a:rPr sz="850">
                <a:solidFill>
                  <a:srgbClr val="6B7385"/>
                </a:solidFill>
                <a:latin typeface="Courier New"/>
              </a:rPr>
              <a:t>15 </a:t>
            </a:r>
            <a:r>
              <a:rPr sz="850">
                <a:solidFill>
                  <a:srgbClr val="E6EAF0"/>
                </a:solidFill>
                <a:latin typeface="Courier New"/>
              </a:rPr>
              <a:t>    kho[ten] = {"smape": smape(kiem, f), "mase": mase(kiem, f, hoc)}</a:t>
            </a:r>
          </a:p>
          <a:p>
            <a:r>
              <a:rPr sz="850">
                <a:solidFill>
                  <a:srgbClr val="6B7385"/>
                </a:solidFill>
                <a:latin typeface="Courier New"/>
              </a:rPr>
              <a:t>16 </a:t>
            </a:r>
            <a:r>
              <a:rPr sz="850">
                <a:solidFill>
                  <a:srgbClr val="E6EAF0"/>
                </a:solidFill>
                <a:latin typeface="Courier New"/>
              </a:rPr>
              <a:t>r = stats.pearsonr(bang["entropy_pho"], pd.DataFrame(kho).T["smape"])[0]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sMAPE chia sai số cho mức của chuỗi.</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MASE chia cho sai số seasonal naive lúc học.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Dự báo 18 tháng bằng lặp lại năm cuối.</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Tương quan entropy với độ khó thật.</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MASE nói B dễ hơn A (0,92 so với 1,00), sMAPE nói B khó hơn (76,2% so với 6,7%). Với entropy: sMAPE +0,245, MASE −0,048.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np.resize(a, n)</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Lặp lại mảng a cho đủ n phần tử: 12 tháng cuối thành 18 tháng.</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np.where(dk, a, b)</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a nơi điều kiện đúng, b nơi sai; tránh chia cho 0.</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stats.pearsonr(x, y)</a:t>
            </a:r>
            <a:r>
              <a:rPr sz="950" b="1" i="0">
                <a:solidFill>
                  <a:srgbClr val="5B6778"/>
                </a:solidFill>
                <a:latin typeface="Arial"/>
              </a:rPr>
              <a:t>   scipy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tương quan Pearson của hai cột.</a:t>
            </a:r>
          </a:p>
        </p:txBody>
      </p:sp>
      <p:sp>
        <p:nvSpPr>
          <p:cNvPr id="27" name="Rounded Rectangle 26"/>
          <p:cNvSpPr/>
          <p:nvPr/>
        </p:nvSpPr>
        <p:spPr>
          <a:xfrm>
            <a:off x="7863840" y="4059935"/>
            <a:ext cx="3776472" cy="57912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53c234db9f42.png"/>
          <p:cNvPicPr>
            <a:picLocks noChangeAspect="1"/>
          </p:cNvPicPr>
          <p:nvPr/>
        </p:nvPicPr>
        <p:blipFill>
          <a:blip r:embed="rId2"/>
          <a:stretch>
            <a:fillRect/>
          </a:stretch>
        </p:blipFill>
        <p:spPr>
          <a:xfrm>
            <a:off x="8660892" y="4114799"/>
            <a:ext cx="2182368" cy="469392"/>
          </a:xfrm>
          <a:prstGeom prst="rect">
            <a:avLst/>
          </a:prstGeom>
        </p:spPr>
      </p:pic>
      <p:pic>
        <p:nvPicPr>
          <p:cNvPr id="29" name="Picture 28" descr="ba-thuoc-do.png"/>
          <p:cNvPicPr>
            <a:picLocks noChangeAspect="1"/>
          </p:cNvPicPr>
          <p:nvPr/>
        </p:nvPicPr>
        <p:blipFill>
          <a:blip r:embed="rId3"/>
          <a:stretch>
            <a:fillRect/>
          </a:stretch>
        </p:blipFill>
        <p:spPr>
          <a:xfrm>
            <a:off x="7863840" y="4836429"/>
            <a:ext cx="3776472" cy="1577308"/>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 đồ PCA và nhóm dùng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Nén 15 đặc trưng về hai trục để thấy cả tập, rồi tách chuỗi chỉ cần baseline.</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sklearn.decomposition import PCA</a:t>
            </a:r>
          </a:p>
          <a:p>
            <a:r>
              <a:rPr sz="950">
                <a:solidFill>
                  <a:srgbClr val="6B7385"/>
                </a:solidFill>
                <a:latin typeface="Courier New"/>
              </a:rPr>
              <a:t> 3 </a:t>
            </a:r>
            <a:r>
              <a:rPr sz="950">
                <a:solidFill>
                  <a:srgbClr val="E6EAF0"/>
                </a:solidFill>
                <a:latin typeface="Courier New"/>
              </a:rPr>
              <a:t>from sklearn.preprocessing import StandardScaler</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cot = [c for c in bang.columns if bang[c].notna().all()</a:t>
            </a:r>
          </a:p>
          <a:p>
            <a:r>
              <a:rPr sz="950">
                <a:solidFill>
                  <a:srgbClr val="6B7385"/>
                </a:solidFill>
                <a:latin typeface="Courier New"/>
              </a:rPr>
              <a:t> 6 </a:t>
            </a:r>
            <a:r>
              <a:rPr sz="950">
                <a:solidFill>
                  <a:srgbClr val="E6EAF0"/>
                </a:solidFill>
                <a:latin typeface="Courier New"/>
              </a:rPr>
              <a:t>       and c not in ("trung_binh", "do_lech_chuan")    </a:t>
            </a:r>
            <a:r>
              <a:rPr sz="950">
                <a:solidFill>
                  <a:srgbClr val="8FC99A"/>
                </a:solidFill>
                <a:latin typeface="Courier New"/>
              </a:rPr>
              <a:t># bỏ cột quy mô</a:t>
            </a:r>
          </a:p>
          <a:p>
            <a:r>
              <a:rPr sz="950">
                <a:solidFill>
                  <a:srgbClr val="6B7385"/>
                </a:solidFill>
                <a:latin typeface="Courier New"/>
              </a:rPr>
              <a:t> 7 </a:t>
            </a:r>
            <a:r>
              <a:rPr sz="950">
                <a:solidFill>
                  <a:srgbClr val="E6EAF0"/>
                </a:solidFill>
                <a:latin typeface="Courier New"/>
              </a:rPr>
              <a:t>       and not c.startswith(("smape", "mase"))]        </a:t>
            </a:r>
            <a:r>
              <a:rPr sz="950">
                <a:solidFill>
                  <a:srgbClr val="8FC99A"/>
                </a:solidFill>
                <a:latin typeface="Courier New"/>
              </a:rPr>
              <a:t># bỏ cột sai số</a:t>
            </a:r>
          </a:p>
          <a:p>
            <a:r>
              <a:rPr sz="950">
                <a:solidFill>
                  <a:srgbClr val="6B7385"/>
                </a:solidFill>
                <a:latin typeface="Courier New"/>
              </a:rPr>
              <a:t> 8 </a:t>
            </a:r>
            <a:r>
              <a:rPr sz="950">
                <a:solidFill>
                  <a:srgbClr val="E6EAF0"/>
                </a:solidFill>
                <a:latin typeface="Courier New"/>
              </a:rPr>
              <a:t>X = StandardScaler().fit_transform(bang[cot])     </a:t>
            </a:r>
            <a:r>
              <a:rPr sz="950">
                <a:solidFill>
                  <a:srgbClr val="8FC99A"/>
                </a:solidFill>
                <a:latin typeface="Courier New"/>
              </a:rPr>
              <a:t># chuẩn hoá từng cột</a:t>
            </a:r>
          </a:p>
          <a:p>
            <a:r>
              <a:rPr sz="950">
                <a:solidFill>
                  <a:srgbClr val="6B7385"/>
                </a:solidFill>
                <a:latin typeface="Courier New"/>
              </a:rPr>
              <a:t> 9 </a:t>
            </a:r>
            <a:r>
              <a:rPr sz="950">
                <a:solidFill>
                  <a:srgbClr val="E6EAF0"/>
                </a:solidFill>
                <a:latin typeface="Courier New"/>
              </a:rPr>
              <a:t>pca = PCA(n_components=2, random_state=0)</a:t>
            </a:r>
          </a:p>
          <a:p>
            <a:r>
              <a:rPr sz="950">
                <a:solidFill>
                  <a:srgbClr val="6B7385"/>
                </a:solidFill>
                <a:latin typeface="Courier New"/>
              </a:rPr>
              <a:t>10 </a:t>
            </a:r>
            <a:r>
              <a:rPr sz="950">
                <a:solidFill>
                  <a:srgbClr val="E6EAF0"/>
                </a:solidFill>
                <a:latin typeface="Courier New"/>
              </a:rPr>
              <a:t>toa_do = pca.fit_transform(X)                     </a:t>
            </a:r>
            <a:r>
              <a:rPr sz="950">
                <a:solidFill>
                  <a:srgbClr val="8FC99A"/>
                </a:solidFill>
                <a:latin typeface="Courier New"/>
              </a:rPr>
              <a:t># mỗi chuỗi một chấm</a:t>
            </a:r>
          </a:p>
          <a:p>
            <a:r>
              <a:rPr sz="950">
                <a:solidFill>
                  <a:srgbClr val="6B7385"/>
                </a:solidFill>
                <a:latin typeface="Courier New"/>
              </a:rPr>
              <a:t>11 </a:t>
            </a:r>
            <a:r>
              <a:rPr sz="950">
                <a:solidFill>
                  <a:srgbClr val="E6EAF0"/>
                </a:solidFill>
                <a:latin typeface="Courier New"/>
              </a:rPr>
              <a:t>print(pca.explained_variance_ratio_)              </a:t>
            </a:r>
            <a:r>
              <a:rPr sz="950">
                <a:solidFill>
                  <a:srgbClr val="8FC99A"/>
                </a:solidFill>
                <a:latin typeface="Courier New"/>
              </a:rPr>
              <a:t># phần khác biệt giữ lại</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kho = (bang["entropy_pho"] &gt;= 0.666) &amp; (bang["do_manh_mua_vu"] &lt; 0.4)</a:t>
            </a:r>
          </a:p>
          <a:p>
            <a:r>
              <a:rPr sz="950">
                <a:solidFill>
                  <a:srgbClr val="6B7385"/>
                </a:solidFill>
                <a:latin typeface="Courier New"/>
              </a:rPr>
              <a:t>14 </a:t>
            </a:r>
            <a:r>
              <a:rPr sz="950">
                <a:solidFill>
                  <a:srgbClr val="E6EAF0"/>
                </a:solidFill>
                <a:latin typeface="Courier New"/>
              </a:rPr>
              <a:t>nhom = np.where(kho, "dùng baseline", "đáng đầu tư mô hình")</a:t>
            </a:r>
          </a:p>
          <a:p>
            <a:r>
              <a:rPr sz="950">
                <a:solidFill>
                  <a:srgbClr val="6B7385"/>
                </a:solidFill>
                <a:latin typeface="Courier New"/>
              </a:rPr>
              <a:t>15 </a:t>
            </a:r>
            <a:r>
              <a:rPr sz="950">
                <a:solidFill>
                  <a:srgbClr val="E6EAF0"/>
                </a:solidFill>
                <a:latin typeface="Courier New"/>
              </a:rPr>
              <a:t>print(bang.groupby(nhom)["smape_snaive"].agg(["size", "median"]))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4</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Chỉ giữ đặc trưng đủ số, không lẫn sai số.</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Chuẩn hoá để cột số to không lấn át.</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Nén về hai trục PC1, PC2.</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Entropy cao và mùa vụ yếu: dùng baseline.</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lại bằng sMAPE thật của từng nhóm.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PC1 giữ 41%, PC2 15%. 137 chuỗi dùng baseline có sMAPE trung vị 18,11%, gấp ba nhóm 3.863 chuỗi còn lại (6,05%).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StandardScaler().fit_transform</a:t>
            </a:r>
            <a:r>
              <a:rPr sz="950" b="1" i="0">
                <a:solidFill>
                  <a:srgbClr val="5B6778"/>
                </a:solidFill>
                <a:latin typeface="Arial"/>
              </a:rPr>
              <a:t>   sklearn</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trung bình, chia độ lệch chuẩn cho từng cột.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PCA(n_components=2)</a:t>
            </a:r>
            <a:r>
              <a:rPr sz="950" b="1" i="0">
                <a:solidFill>
                  <a:srgbClr val="5B6778"/>
                </a:solidFill>
                <a:latin typeface="Arial"/>
              </a:rPr>
              <a:t>   sklearn</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hai hướng mà các chuỗi khác nhau nhiều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explained_variance_ratio_</a:t>
            </a:r>
            <a:r>
              <a:rPr sz="950" b="1" i="0">
                <a:solidFill>
                  <a:srgbClr val="5B6778"/>
                </a:solidFill>
                <a:latin typeface="Arial"/>
              </a:rPr>
              <a:t>   sklearn</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Mỗi trục giữ được bao nhiêu phần trăm khác biệt.</a:t>
            </a:r>
          </a:p>
        </p:txBody>
      </p:sp>
      <p:pic>
        <p:nvPicPr>
          <p:cNvPr id="29" name="Picture 28" descr="kn-pca-pc1-pc2.png"/>
          <p:cNvPicPr>
            <a:picLocks noChangeAspect="1"/>
          </p:cNvPicPr>
          <p:nvPr/>
        </p:nvPicPr>
        <p:blipFill>
          <a:blip r:embed="rId2"/>
          <a:stretch>
            <a:fillRect/>
          </a:stretch>
        </p:blipFill>
        <p:spPr>
          <a:xfrm>
            <a:off x="7863840" y="4312264"/>
            <a:ext cx="3776472" cy="1936790"/>
          </a:xfrm>
          <a:prstGeom prst="rect">
            <a:avLst/>
          </a:prstGeom>
        </p:spPr>
      </p:pic>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phân cụm DTW sau z-score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Gom chuỗi theo hình dạng, và thấy vì sao phải chuẩn hoá từng chuỗi trước DTW.</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dtaidistance import dtw</a:t>
            </a:r>
          </a:p>
          <a:p>
            <a:r>
              <a:rPr sz="850">
                <a:solidFill>
                  <a:srgbClr val="6B7385"/>
                </a:solidFill>
                <a:latin typeface="Courier New"/>
              </a:rPr>
              <a:t> 4 </a:t>
            </a:r>
            <a:r>
              <a:rPr sz="850">
                <a:solidFill>
                  <a:srgbClr val="E6EAF0"/>
                </a:solidFill>
                <a:latin typeface="Courier New"/>
              </a:rPr>
              <a:t>from scipy.cluster.hierarchy import fcluster, linkage</a:t>
            </a:r>
          </a:p>
          <a:p>
            <a:r>
              <a:rPr sz="850">
                <a:solidFill>
                  <a:srgbClr val="6B7385"/>
                </a:solidFill>
                <a:latin typeface="Courier New"/>
              </a:rPr>
              <a:t> 5 </a:t>
            </a:r>
            <a:r>
              <a:rPr sz="850">
                <a:solidFill>
                  <a:srgbClr val="E6EAF0"/>
                </a:solidFill>
                <a:latin typeface="Courier New"/>
              </a:rPr>
              <a:t>from scipy.spatial.distance import squareform</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z(v):                                         </a:t>
            </a:r>
            <a:r>
              <a:rPr sz="850">
                <a:solidFill>
                  <a:srgbClr val="8FC99A"/>
                </a:solidFill>
                <a:latin typeface="Courier New"/>
              </a:rPr>
              <a:t># bỏ mức, giữ hình dạng</a:t>
            </a:r>
          </a:p>
          <a:p>
            <a:r>
              <a:rPr sz="850">
                <a:solidFill>
                  <a:srgbClr val="6B7385"/>
                </a:solidFill>
                <a:latin typeface="Courier New"/>
              </a:rPr>
              <a:t> 8 </a:t>
            </a:r>
            <a:r>
              <a:rPr sz="850">
                <a:solidFill>
                  <a:srgbClr val="E6EAF0"/>
                </a:solidFill>
                <a:latin typeface="Courier New"/>
              </a:rPr>
              <a:t>    return (v - v.mean()) / v.std()</a:t>
            </a:r>
          </a:p>
          <a:p>
            <a:r>
              <a:rPr sz="850">
                <a:solidFill>
                  <a:srgbClr val="6B7385"/>
                </a:solidFill>
                <a:latin typeface="Courier New"/>
              </a:rPr>
              <a:t> 9 </a:t>
            </a:r>
            <a:r>
              <a:rPr sz="850">
                <a:solidFill>
                  <a:srgbClr val="E6EAF0"/>
                </a:solidFill>
                <a:latin typeface="Courier New"/>
              </a:rPr>
              <a:t>def phan_cum(mau, chuan_hoa, so_cum=4, cua_so=10):</a:t>
            </a:r>
          </a:p>
          <a:p>
            <a:r>
              <a:rPr sz="850">
                <a:solidFill>
                  <a:srgbClr val="6B7385"/>
                </a:solidFill>
                <a:latin typeface="Courier New"/>
              </a:rPr>
              <a:t>10 </a:t>
            </a:r>
            <a:r>
              <a:rPr sz="850">
                <a:solidFill>
                  <a:srgbClr val="E6EAF0"/>
                </a:solidFill>
                <a:latin typeface="Courier New"/>
              </a:rPr>
              <a:t>    day = [z(v) if chuan_hoa else v for v in mau.values()]</a:t>
            </a:r>
          </a:p>
          <a:p>
            <a:r>
              <a:rPr sz="850">
                <a:solidFill>
                  <a:srgbClr val="6B7385"/>
                </a:solidFill>
                <a:latin typeface="Courier New"/>
              </a:rPr>
              <a:t>11 </a:t>
            </a:r>
            <a:r>
              <a:rPr sz="850">
                <a:solidFill>
                  <a:srgbClr val="E6EAF0"/>
                </a:solidFill>
                <a:latin typeface="Courier New"/>
              </a:rPr>
              <a:t>    D = dtw.distance_matrix_fast(day, window=cua_so)   </a:t>
            </a:r>
            <a:r>
              <a:rPr sz="850">
                <a:solidFill>
                  <a:srgbClr val="8FC99A"/>
                </a:solidFill>
                <a:latin typeface="Courier New"/>
              </a:rPr>
              <a:t># lệch tối đa 10</a:t>
            </a:r>
          </a:p>
          <a:p>
            <a:r>
              <a:rPr sz="850">
                <a:solidFill>
                  <a:srgbClr val="6B7385"/>
                </a:solidFill>
                <a:latin typeface="Courier New"/>
              </a:rPr>
              <a:t>12 </a:t>
            </a:r>
            <a:r>
              <a:rPr sz="850">
                <a:solidFill>
                  <a:srgbClr val="E6EAF0"/>
                </a:solidFill>
                <a:latin typeface="Courier New"/>
              </a:rPr>
              <a:t>    D = np.where(np.isinf(D), 0, D)</a:t>
            </a:r>
          </a:p>
          <a:p>
            <a:r>
              <a:rPr sz="850">
                <a:solidFill>
                  <a:srgbClr val="6B7385"/>
                </a:solidFill>
                <a:latin typeface="Courier New"/>
              </a:rPr>
              <a:t>13 </a:t>
            </a:r>
            <a:r>
              <a:rPr sz="850">
                <a:solidFill>
                  <a:srgbClr val="E6EAF0"/>
                </a:solidFill>
                <a:latin typeface="Courier New"/>
              </a:rPr>
              <a:t>    D = D + D.T                                   </a:t>
            </a:r>
            <a:r>
              <a:rPr sz="850">
                <a:solidFill>
                  <a:srgbClr val="8FC99A"/>
                </a:solidFill>
                <a:latin typeface="Courier New"/>
              </a:rPr>
              <a:t># lấp đủ hai nửa ma trận</a:t>
            </a:r>
          </a:p>
          <a:p>
            <a:r>
              <a:rPr sz="850">
                <a:solidFill>
                  <a:srgbClr val="6B7385"/>
                </a:solidFill>
                <a:latin typeface="Courier New"/>
              </a:rPr>
              <a:t>14 </a:t>
            </a:r>
            <a:r>
              <a:rPr sz="850">
                <a:solidFill>
                  <a:srgbClr val="E6EAF0"/>
                </a:solidFill>
                <a:latin typeface="Courier New"/>
              </a:rPr>
              <a:t>    Z = linkage(squareform(D, checks=False), method="ward")</a:t>
            </a:r>
          </a:p>
          <a:p>
            <a:r>
              <a:rPr sz="850">
                <a:solidFill>
                  <a:srgbClr val="6B7385"/>
                </a:solidFill>
                <a:latin typeface="Courier New"/>
              </a:rPr>
              <a:t>15 </a:t>
            </a:r>
            <a:r>
              <a:rPr sz="850">
                <a:solidFill>
                  <a:srgbClr val="E6EAF0"/>
                </a:solidFill>
                <a:latin typeface="Courier New"/>
              </a:rPr>
              <a:t>    nhan = fcluster(Z, so_cum, criterion="maxclust")</a:t>
            </a:r>
          </a:p>
          <a:p>
            <a:r>
              <a:rPr sz="850">
                <a:solidFill>
                  <a:srgbClr val="6B7385"/>
                </a:solidFill>
                <a:latin typeface="Courier New"/>
              </a:rPr>
              <a:t>16 </a:t>
            </a:r>
            <a:r>
              <a:rPr sz="850">
                <a:solidFill>
                  <a:srgbClr val="E6EAF0"/>
                </a:solidFill>
                <a:latin typeface="Courier New"/>
              </a:rPr>
              <a:t>    return pd.Series(nhan, index=list(mau))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z-score: bỏ độ lớn, chỉ giữ hình dạng.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có chuẩn hoá hay không để so.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Khoảng cách DTW giữa mọi cặp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Sửa ma trận cho đủ và đối xứng.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Gộp dần theo Ward, cắt ra 4 cụm.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Không chuẩn hoá: mức trung vị các cụm tăng đều từ 1.585 tới 9.832, chỉ xếp theo độ lớn. Chuẩn hoá: bốn cụm là bốn hình dạng.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linkage(d, method="ward")</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Gộp dần hai nhóm gần nhau nhất, ghi lại từng bước gộp.</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fcluster(Z, k, "maxclust")</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cây gộp để còn đúng k cụm, trả nhãn cụm từng chuỗi.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squareform(D)</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ma trận khoảng cách vuông thành dạng gọn mà linkage cần.</a:t>
            </a:r>
          </a:p>
        </p:txBody>
      </p:sp>
      <p:pic>
        <p:nvPicPr>
          <p:cNvPr id="29" name="Picture 28" descr="kn-dtw-dynamic-time-warping.png"/>
          <p:cNvPicPr>
            <a:picLocks noChangeAspect="1"/>
          </p:cNvPicPr>
          <p:nvPr/>
        </p:nvPicPr>
        <p:blipFill>
          <a:blip r:embed="rId2"/>
          <a:stretch>
            <a:fillRect/>
          </a:stretch>
        </p:blipFill>
        <p:spPr>
          <a:xfrm>
            <a:off x="7863840" y="4591122"/>
            <a:ext cx="3776472" cy="1379074"/>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bảng ABC–XYZ cho mã hàng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Xếp mã hàng theo doanh thu và theo CV, rồi kiểm CV có đo được độ khó không.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scipy import stats</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ban_le: doanh thu theo (mã hàng, tháng) của Online Retail II</a:t>
            </a:r>
          </a:p>
          <a:p>
            <a:r>
              <a:rPr sz="950">
                <a:solidFill>
                  <a:srgbClr val="6B7385"/>
                </a:solidFill>
                <a:latin typeface="Courier New"/>
              </a:rPr>
              <a:t> 5 </a:t>
            </a:r>
            <a:r>
              <a:rPr sz="950">
                <a:solidFill>
                  <a:srgbClr val="E6EAF0"/>
                </a:solidFill>
                <a:latin typeface="Courier New"/>
              </a:rPr>
              <a:t>g = ban_le.groupby("StockCode")["doanh_thu"]</a:t>
            </a:r>
          </a:p>
          <a:p>
            <a:r>
              <a:rPr sz="950">
                <a:solidFill>
                  <a:srgbClr val="6B7385"/>
                </a:solidFill>
                <a:latin typeface="Courier New"/>
              </a:rPr>
              <a:t> 6 </a:t>
            </a:r>
            <a:r>
              <a:rPr sz="950">
                <a:solidFill>
                  <a:srgbClr val="E6EAF0"/>
                </a:solidFill>
                <a:latin typeface="Courier New"/>
              </a:rPr>
              <a:t>h = g.agg(["sum", "mean", "std", "count"])</a:t>
            </a:r>
          </a:p>
          <a:p>
            <a:r>
              <a:rPr sz="950">
                <a:solidFill>
                  <a:srgbClr val="6B7385"/>
                </a:solidFill>
                <a:latin typeface="Courier New"/>
              </a:rPr>
              <a:t> 7 </a:t>
            </a:r>
            <a:r>
              <a:rPr sz="950">
                <a:solidFill>
                  <a:srgbClr val="E6EAF0"/>
                </a:solidFill>
                <a:latin typeface="Courier New"/>
              </a:rPr>
              <a:t>h = h[h["count"] &gt;= 12].sort_values("sum", ascending=False)  </a:t>
            </a:r>
            <a:r>
              <a:rPr sz="950">
                <a:solidFill>
                  <a:srgbClr val="8FC99A"/>
                </a:solidFill>
                <a:latin typeface="Courier New"/>
              </a:rPr>
              <a:t># ≥ 12 tháng</a:t>
            </a:r>
          </a:p>
          <a:p>
            <a:r>
              <a:rPr sz="950">
                <a:solidFill>
                  <a:srgbClr val="6B7385"/>
                </a:solidFill>
                <a:latin typeface="Courier New"/>
              </a:rPr>
              <a:t> 8 </a:t>
            </a:r>
            <a:r>
              <a:rPr sz="950">
                <a:solidFill>
                  <a:srgbClr val="E6EAF0"/>
                </a:solidFill>
                <a:latin typeface="Courier New"/>
              </a:rPr>
              <a:t>h["cv"] = h["std"] / h["mean"]                    </a:t>
            </a:r>
            <a:r>
              <a:rPr sz="950">
                <a:solidFill>
                  <a:srgbClr val="8FC99A"/>
                </a:solidFill>
                <a:latin typeface="Courier New"/>
              </a:rPr>
              <a:t># hệ số biến thiên</a:t>
            </a:r>
          </a:p>
          <a:p>
            <a:r>
              <a:rPr sz="950">
                <a:solidFill>
                  <a:srgbClr val="6B7385"/>
                </a:solidFill>
                <a:latin typeface="Courier New"/>
              </a:rPr>
              <a:t> 9 </a:t>
            </a:r>
            <a:r>
              <a:rPr sz="950">
                <a:solidFill>
                  <a:srgbClr val="E6EAF0"/>
                </a:solidFill>
                <a:latin typeface="Courier New"/>
              </a:rPr>
              <a:t>ty_le = np.arange(1, len(h) + 1) / len(h)         </a:t>
            </a:r>
            <a:r>
              <a:rPr sz="950">
                <a:solidFill>
                  <a:srgbClr val="8FC99A"/>
                </a:solidFill>
                <a:latin typeface="Courier New"/>
              </a:rPr>
              <a:t># vị trí theo doanh thu</a:t>
            </a:r>
          </a:p>
          <a:p>
            <a:r>
              <a:rPr sz="950">
                <a:solidFill>
                  <a:srgbClr val="6B7385"/>
                </a:solidFill>
                <a:latin typeface="Courier New"/>
              </a:rPr>
              <a:t>10 </a:t>
            </a:r>
            <a:r>
              <a:rPr sz="950">
                <a:solidFill>
                  <a:srgbClr val="E6EAF0"/>
                </a:solidFill>
                <a:latin typeface="Courier New"/>
              </a:rPr>
              <a:t>h["abc"] = np.where(ty_le &lt;= 0.2, "A", np.where(ty_le &lt;= 0.5, "B", "C"))</a:t>
            </a:r>
          </a:p>
          <a:p>
            <a:r>
              <a:rPr sz="950">
                <a:solidFill>
                  <a:srgbClr val="6B7385"/>
                </a:solidFill>
                <a:latin typeface="Courier New"/>
              </a:rPr>
              <a:t>11 </a:t>
            </a:r>
            <a:r>
              <a:rPr sz="950">
                <a:solidFill>
                  <a:srgbClr val="E6EAF0"/>
                </a:solidFill>
                <a:latin typeface="Courier New"/>
              </a:rPr>
              <a:t>h["xyz"] = np.where(h["cv"] &lt; 0.5, "X", np.where(h["cv"] &lt;= 1, "Y", "Z"))</a:t>
            </a:r>
          </a:p>
          <a:p>
            <a:r>
              <a:rPr sz="950">
                <a:solidFill>
                  <a:srgbClr val="6B7385"/>
                </a:solidFill>
                <a:latin typeface="Courier New"/>
              </a:rPr>
              <a:t>12 </a:t>
            </a:r>
            <a:r>
              <a:rPr sz="950">
                <a:solidFill>
                  <a:srgbClr val="E6EAF0"/>
                </a:solidFill>
                <a:latin typeface="Courier New"/>
              </a:rPr>
              <a:t>o = h.groupby(["abc", "xyz"]).size().unstack(fill_value=0)   </a:t>
            </a:r>
            <a:r>
              <a:rPr sz="950">
                <a:solidFill>
                  <a:srgbClr val="8FC99A"/>
                </a:solidFill>
                <a:latin typeface="Courier New"/>
              </a:rPr>
              <a:t># bảng 3 × 3</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cv = bang["he_so_bien_thien"]                     </a:t>
            </a:r>
            <a:r>
              <a:rPr sz="950">
                <a:solidFill>
                  <a:srgbClr val="8FC99A"/>
                </a:solidFill>
                <a:latin typeface="Courier New"/>
              </a:rPr>
              <a:t># 4.000 chuỗi M4</a:t>
            </a:r>
          </a:p>
          <a:p>
            <a:r>
              <a:rPr sz="950">
                <a:solidFill>
                  <a:srgbClr val="6B7385"/>
                </a:solidFill>
                <a:latin typeface="Courier New"/>
              </a:rPr>
              <a:t>15 </a:t>
            </a:r>
            <a:r>
              <a:rPr sz="950">
                <a:solidFill>
                  <a:srgbClr val="E6EAF0"/>
                </a:solidFill>
                <a:latin typeface="Courier New"/>
              </a:rPr>
              <a:t>r = stats.spearmanr(cv, bang["smape_snaive"])[0]</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Tổng hợp từng mã, giữ mã có đủ 12 tháng.</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CV: độ lệch chuẩn chia trung bình.</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20% mã đầu là A, 30% tiếp là B, còn lại C.</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X, Y, Z theo CV rồi đếm từng ô.</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Đối chiếu CV với sai số thật trên M4.</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2.773 mã hàng; nhóm A mang 74,7% doanh thu; ô CZ đông gần gấp bốn ô AX. Trên M4, Spearman CV × sMAPE 0,765 nhưng CV xếp sai chuỗi mùa vụ đều.</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groupby().agg([...])</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nhiều con số tổng hợp cho từng mã hàng một lúc.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unstack(fill_value=0)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Xoay bảng dài thành bảng chéo, ô trống điền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stats.spearmanr</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thứ hạng giữa CV và sMAPE.</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1a3ad9eb65cd.png"/>
          <p:cNvPicPr>
            <a:picLocks noChangeAspect="1"/>
          </p:cNvPicPr>
          <p:nvPr/>
        </p:nvPicPr>
        <p:blipFill>
          <a:blip r:embed="rId2"/>
          <a:stretch>
            <a:fillRect/>
          </a:stretch>
        </p:blipFill>
        <p:spPr>
          <a:xfrm>
            <a:off x="9409176" y="4195571"/>
            <a:ext cx="685800" cy="277368"/>
          </a:xfrm>
          <a:prstGeom prst="rect">
            <a:avLst/>
          </a:prstGeom>
        </p:spPr>
      </p:pic>
      <p:pic>
        <p:nvPicPr>
          <p:cNvPr id="31" name="Picture 30" descr="kn-phan-loai-abc-xyz-ax-cz.png"/>
          <p:cNvPicPr>
            <a:picLocks noChangeAspect="1"/>
          </p:cNvPicPr>
          <p:nvPr/>
        </p:nvPicPr>
        <p:blipFill>
          <a:blip r:embed="rId3"/>
          <a:stretch>
            <a:fillRect/>
          </a:stretch>
        </p:blipFill>
        <p:spPr>
          <a:xfrm>
            <a:off x="8069720" y="4745735"/>
            <a:ext cx="3364711" cy="1728216"/>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dựng lưới rồi mới đếm thiếu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isna() chỉ thấy ô rỗng; dựng lưới đủ mốc mới thấy cả những dòng không tồn tại.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bang = pd.Series([25, 25, 26, np.nan, 26], index=pd.to_datetime([</a:t>
            </a:r>
          </a:p>
          <a:p>
            <a:r>
              <a:rPr sz="950">
                <a:solidFill>
                  <a:srgbClr val="6B7385"/>
                </a:solidFill>
                <a:latin typeface="Courier New"/>
              </a:rPr>
              <a:t> 5 </a:t>
            </a:r>
            <a:r>
              <a:rPr sz="950">
                <a:solidFill>
                  <a:srgbClr val="E6EAF0"/>
                </a:solidFill>
                <a:latin typeface="Courier New"/>
              </a:rPr>
              <a:t>    "2024-01-01 00:00", "2024-01-01 00:30", "2024-01-01 01:30",</a:t>
            </a:r>
          </a:p>
          <a:p>
            <a:r>
              <a:rPr sz="950">
                <a:solidFill>
                  <a:srgbClr val="6B7385"/>
                </a:solidFill>
                <a:latin typeface="Courier New"/>
              </a:rPr>
              <a:t> 6 </a:t>
            </a:r>
            <a:r>
              <a:rPr sz="950">
                <a:solidFill>
                  <a:srgbClr val="E6EAF0"/>
                </a:solidFill>
                <a:latin typeface="Courier New"/>
              </a:rPr>
              <a:t>    "2024-01-01 02:00", "2024-01-01 02:30"]))</a:t>
            </a:r>
          </a:p>
          <a:p>
            <a:r>
              <a:rPr sz="950">
                <a:solidFill>
                  <a:srgbClr val="6B7385"/>
                </a:solidFill>
                <a:latin typeface="Courier New"/>
              </a:rPr>
              <a:t> 7 </a:t>
            </a:r>
            <a:r>
              <a:rPr sz="950">
                <a:solidFill>
                  <a:srgbClr val="E6EAF0"/>
                </a:solidFill>
                <a:latin typeface="Courier New"/>
              </a:rPr>
              <a:t>luoi = pd.date_range(bang.index.min(), bang.index.max(), freq="30min")</a:t>
            </a:r>
          </a:p>
          <a:p>
            <a:r>
              <a:rPr sz="950">
                <a:solidFill>
                  <a:srgbClr val="6B7385"/>
                </a:solidFill>
                <a:latin typeface="Courier New"/>
              </a:rPr>
              <a:t> 8 </a:t>
            </a:r>
            <a:r>
              <a:rPr sz="950">
                <a:solidFill>
                  <a:srgbClr val="E6EAF0"/>
                </a:solidFill>
                <a:latin typeface="Courier New"/>
              </a:rPr>
              <a:t>bang.isna().sum()                      </a:t>
            </a:r>
            <a:r>
              <a:rPr sz="950">
                <a:solidFill>
                  <a:srgbClr val="8FC99A"/>
                </a:solidFill>
                <a:latin typeface="Courier New"/>
              </a:rPr>
              <a:t># 1: chỉ thấy ô rỗng</a:t>
            </a:r>
          </a:p>
          <a:p>
            <a:r>
              <a:rPr sz="950">
                <a:solidFill>
                  <a:srgbClr val="6B7385"/>
                </a:solidFill>
                <a:latin typeface="Courier New"/>
              </a:rPr>
              <a:t> 9 </a:t>
            </a:r>
            <a:r>
              <a:rPr sz="950">
                <a:solidFill>
                  <a:srgbClr val="E6EAF0"/>
                </a:solidFill>
                <a:latin typeface="Courier New"/>
              </a:rPr>
              <a:t>bang.reindex(luoi).isna().sum()        </a:t>
            </a:r>
            <a:r>
              <a:rPr sz="950">
                <a:solidFill>
                  <a:srgbClr val="8FC99A"/>
                </a:solidFill>
                <a:latin typeface="Courier New"/>
              </a:rPr>
              <a:t># 2: thấy cả mốc 01:00</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def do_dai_lo(y):                      </a:t>
            </a:r>
            <a:r>
              <a:rPr sz="950">
                <a:solidFill>
                  <a:srgbClr val="8FC99A"/>
                </a:solidFill>
                <a:latin typeface="Courier New"/>
              </a:rPr>
              <a:t># độ dài từng đoạn NaN liền nhau</a:t>
            </a:r>
          </a:p>
          <a:p>
            <a:r>
              <a:rPr sz="950">
                <a:solidFill>
                  <a:srgbClr val="6B7385"/>
                </a:solidFill>
                <a:latin typeface="Courier New"/>
              </a:rPr>
              <a:t>12 </a:t>
            </a:r>
            <a:r>
              <a:rPr sz="950">
                <a:solidFill>
                  <a:srgbClr val="E6EAF0"/>
                </a:solidFill>
                <a:latin typeface="Courier New"/>
              </a:rPr>
              <a:t>    thieu = y.isna()</a:t>
            </a:r>
          </a:p>
          <a:p>
            <a:r>
              <a:rPr sz="950">
                <a:solidFill>
                  <a:srgbClr val="6B7385"/>
                </a:solidFill>
                <a:latin typeface="Courier New"/>
              </a:rPr>
              <a:t>13 </a:t>
            </a:r>
            <a:r>
              <a:rPr sz="950">
                <a:solidFill>
                  <a:srgbClr val="E6EAF0"/>
                </a:solidFill>
                <a:latin typeface="Courier New"/>
              </a:rPr>
              <a:t>    nhom = (thieu != thieu.shift()).cumsum()[thieu]</a:t>
            </a:r>
          </a:p>
          <a:p>
            <a:r>
              <a:rPr sz="950">
                <a:solidFill>
                  <a:srgbClr val="6B7385"/>
                </a:solidFill>
                <a:latin typeface="Courier New"/>
              </a:rPr>
              <a:t>14 </a:t>
            </a:r>
            <a:r>
              <a:rPr sz="950">
                <a:solidFill>
                  <a:srgbClr val="E6EAF0"/>
                </a:solidFill>
                <a:latin typeface="Courier New"/>
              </a:rPr>
              <a:t>    return nhom.groupby(nhom).size()</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4–6</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Năm dòng đo, mốc 01:00 không có dòng nào.</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Dựng lưới đủ mọi mốc 30 phút.</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thiếu trước và sau khi đưa lên lưới.</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Đánh số từng đoạn thiếu rồi đếm độ dài.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isna() báo 1, lên lưới ra 2. Nội Bài 2024: lưới 17.568 mốc, tệp 17.319 dòng, thiếu 249 mốc mà isna() chỉ thấy 2 ô.</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dãy mốc thời gian đều nhau giữa hai đầu, ở đây mỗi 30 phút.</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Đặt chuỗi lên bộ mốc mới; mốc nào chưa có dòng thì thành NaN.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isna().sum()</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Đếm số ô rỗng trong những dòng đang có mặt.</a:t>
            </a:r>
          </a:p>
        </p:txBody>
      </p:sp>
      <p:pic>
        <p:nvPicPr>
          <p:cNvPr id="27" name="Picture 26" descr="kn-thieu-moc-thieu-gia-tri.png"/>
          <p:cNvPicPr>
            <a:picLocks noChangeAspect="1"/>
          </p:cNvPicPr>
          <p:nvPr/>
        </p:nvPicPr>
        <p:blipFill>
          <a:blip r:embed="rId2"/>
          <a:stretch>
            <a:fillRect/>
          </a:stretch>
        </p:blipFill>
        <p:spPr>
          <a:xfrm>
            <a:off x="7863840" y="4397538"/>
            <a:ext cx="3776472" cy="1766243"/>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MNAR làm lệch, kiểm bằng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mô phỏng vì sao MNAR điền kiểu gì cũng lệch, rồi kiểm cơ chế trên dữ liệu thật.</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rng = np.random.default_rng(0)</a:t>
            </a:r>
          </a:p>
          <a:p>
            <a:r>
              <a:rPr sz="950">
                <a:solidFill>
                  <a:srgbClr val="6B7385"/>
                </a:solidFill>
                <a:latin typeface="Courier New"/>
              </a:rPr>
              <a:t> 5 </a:t>
            </a:r>
            <a:r>
              <a:rPr sz="950">
                <a:solidFill>
                  <a:srgbClr val="E6EAF0"/>
                </a:solidFill>
                <a:latin typeface="Courier New"/>
              </a:rPr>
              <a:t>moc = pd.date_range("2024-01-01", periods=5000, freq="30min")</a:t>
            </a:r>
          </a:p>
          <a:p>
            <a:r>
              <a:rPr sz="950">
                <a:solidFill>
                  <a:srgbClr val="6B7385"/>
                </a:solidFill>
                <a:latin typeface="Courier New"/>
              </a:rPr>
              <a:t> 6 </a:t>
            </a:r>
            <a:r>
              <a:rPr sz="950">
                <a:solidFill>
                  <a:srgbClr val="E6EAF0"/>
                </a:solidFill>
                <a:latin typeface="Courier New"/>
              </a:rPr>
              <a:t>that = pd.Series(rng.normal(0, 1, 5000), index=moc)</a:t>
            </a:r>
          </a:p>
          <a:p>
            <a:r>
              <a:rPr sz="950">
                <a:solidFill>
                  <a:srgbClr val="6B7385"/>
                </a:solidFill>
                <a:latin typeface="Courier New"/>
              </a:rPr>
              <a:t> 7 </a:t>
            </a:r>
            <a:r>
              <a:rPr sz="950">
                <a:solidFill>
                  <a:srgbClr val="E6EAF0"/>
                </a:solidFill>
                <a:latin typeface="Courier New"/>
              </a:rPr>
              <a:t>mcar = that.mask(pd.Series(rng.random(5000) &lt; 0.1, index=moc))  </a:t>
            </a:r>
            <a:r>
              <a:rPr sz="950">
                <a:solidFill>
                  <a:srgbClr val="8FC99A"/>
                </a:solidFill>
                <a:latin typeface="Courier New"/>
              </a:rPr>
              <a:t># may rủi</a:t>
            </a:r>
          </a:p>
          <a:p>
            <a:r>
              <a:rPr sz="950">
                <a:solidFill>
                  <a:srgbClr val="6B7385"/>
                </a:solidFill>
                <a:latin typeface="Courier New"/>
              </a:rPr>
              <a:t> 8 </a:t>
            </a:r>
            <a:r>
              <a:rPr sz="950">
                <a:solidFill>
                  <a:srgbClr val="E6EAF0"/>
                </a:solidFill>
                <a:latin typeface="Courier New"/>
              </a:rPr>
              <a:t>mnar = that.mask(that &gt; 1.0)            </a:t>
            </a:r>
            <a:r>
              <a:rPr sz="950">
                <a:solidFill>
                  <a:srgbClr val="8FC99A"/>
                </a:solidFill>
                <a:latin typeface="Courier New"/>
              </a:rPr>
              <a:t># cảm biến tắt khi giá trị cao</a:t>
            </a:r>
          </a:p>
          <a:p>
            <a:r>
              <a:rPr sz="950">
                <a:solidFill>
                  <a:srgbClr val="6B7385"/>
                </a:solidFill>
                <a:latin typeface="Courier New"/>
              </a:rPr>
              <a:t> 9 </a:t>
            </a:r>
            <a:r>
              <a:rPr sz="950">
                <a:solidFill>
                  <a:srgbClr val="E6EAF0"/>
                </a:solidFill>
                <a:latin typeface="Courier New"/>
              </a:rPr>
              <a:t>noi = lambda s: s.interpolate(limit_direction="both")</a:t>
            </a:r>
          </a:p>
          <a:p>
            <a:r>
              <a:rPr sz="950">
                <a:solidFill>
                  <a:srgbClr val="6B7385"/>
                </a:solidFill>
                <a:latin typeface="Courier New"/>
              </a:rPr>
              <a:t>10 </a:t>
            </a:r>
            <a:r>
              <a:rPr sz="950">
                <a:solidFill>
                  <a:srgbClr val="E6EAF0"/>
                </a:solidFill>
                <a:latin typeface="Courier New"/>
              </a:rPr>
              <a:t>that.mean(), noi(mcar).mean(), noi(mnar).mean()</a:t>
            </a:r>
          </a:p>
          <a:p>
            <a:r>
              <a:rPr sz="950">
                <a:solidFill>
                  <a:srgbClr val="6B7385"/>
                </a:solidFill>
                <a:latin typeface="Courier New"/>
              </a:rPr>
              <a:t>11 </a:t>
            </a:r>
          </a:p>
          <a:p>
            <a:r>
              <a:rPr sz="950">
                <a:solidFill>
                  <a:srgbClr val="6B7385"/>
                </a:solidFill>
                <a:latin typeface="Courier New"/>
              </a:rPr>
              <a:t>12 </a:t>
            </a:r>
            <a:r>
              <a:rPr sz="950">
                <a:solidFill>
                  <a:srgbClr val="E6EAF0"/>
                </a:solidFill>
                <a:latin typeface="Courier New"/>
              </a:rPr>
              <a:t>def bang_chung_mnar(bang, tram):        </a:t>
            </a:r>
            <a:r>
              <a:rPr sz="950">
                <a:solidFill>
                  <a:srgbClr val="8FC99A"/>
                </a:solidFill>
                <a:latin typeface="Courier New"/>
              </a:rPr>
              <a:t># bang: PM2.5 của 12 trạm</a:t>
            </a:r>
          </a:p>
          <a:p>
            <a:r>
              <a:rPr sz="950">
                <a:solidFill>
                  <a:srgbClr val="6B7385"/>
                </a:solidFill>
                <a:latin typeface="Courier New"/>
              </a:rPr>
              <a:t>13 </a:t>
            </a:r>
            <a:r>
              <a:rPr sz="950">
                <a:solidFill>
                  <a:srgbClr val="E6EAF0"/>
                </a:solidFill>
                <a:latin typeface="Courier New"/>
              </a:rPr>
              <a:t>    khac = bang.drop(columns=[tram]).mean(axis=1)   </a:t>
            </a:r>
            <a:r>
              <a:rPr sz="950">
                <a:solidFill>
                  <a:srgbClr val="8FC99A"/>
                </a:solidFill>
                <a:latin typeface="Courier New"/>
              </a:rPr>
              <a:t># 11 trạm còn lại</a:t>
            </a:r>
          </a:p>
          <a:p>
            <a:r>
              <a:rPr sz="950">
                <a:solidFill>
                  <a:srgbClr val="6B7385"/>
                </a:solidFill>
                <a:latin typeface="Courier New"/>
              </a:rPr>
              <a:t>14 </a:t>
            </a:r>
            <a:r>
              <a:rPr sz="950">
                <a:solidFill>
                  <a:srgbClr val="E6EAF0"/>
                </a:solidFill>
                <a:latin typeface="Courier New"/>
              </a:rPr>
              <a:t>    thieu = bang[tram].isna()</a:t>
            </a:r>
          </a:p>
          <a:p>
            <a:r>
              <a:rPr sz="950">
                <a:solidFill>
                  <a:srgbClr val="6B7385"/>
                </a:solidFill>
                <a:latin typeface="Courier New"/>
              </a:rPr>
              <a:t>15 </a:t>
            </a:r>
            <a:r>
              <a:rPr sz="950">
                <a:solidFill>
                  <a:srgbClr val="E6EAF0"/>
                </a:solidFill>
                <a:latin typeface="Courier New"/>
              </a:rPr>
              <a:t>    return khac[thieu].mean() / khac[~thieu].mean()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2</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Năm nghìn điểm thật, biết trước đáp án.</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MCAR: xoá ngẫu nhiên 10% số điểm.</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MNAR: xoá đúng những điểm cao hơn 1.</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Nội suy rồi so trung bình với số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Khi trạm mất số, trạm khác cao hay thấp?</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Mô phỏng: MNAR mất 16,2%, điền xong trung bình −0,30 thay vì −0,005; MCAR gần như không lệch. Dongsi thiếu thì trạm khác thấp hơn 3,0%.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mask(dieu_kien)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thành NaN mọi ô thoả điều kiện, giữ nguyên các ô còn lại.</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Nối thẳng hai số hai bên để lấp ô NaN ở giữa.</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default_rng(0).normal</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Bộ sinh số ngẫu nhiên có seed, chạy lại ra đúng số cũ.</a:t>
            </a:r>
          </a:p>
        </p:txBody>
      </p:sp>
      <p:pic>
        <p:nvPicPr>
          <p:cNvPr id="29" name="Picture 28" descr="kn-mcar-mar-mnar.png"/>
          <p:cNvPicPr>
            <a:picLocks noChangeAspect="1"/>
          </p:cNvPicPr>
          <p:nvPr/>
        </p:nvPicPr>
        <p:blipFill>
          <a:blip r:embed="rId2"/>
          <a:stretch>
            <a:fillRect/>
          </a:stretch>
        </p:blipFill>
        <p:spPr>
          <a:xfrm>
            <a:off x="7863840" y="4344366"/>
            <a:ext cx="3776472" cy="1872587"/>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tìm số trông như số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Mã, trần, độ phân giải và đoạn kẹt không để lại NaN; phải đo từng dấu vết mới thấy.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goc = pd.read_parquet("ghcnh-noi-bai-2024.parquet")    </a:t>
            </a:r>
            <a:r>
              <a:rPr sz="850">
                <a:solidFill>
                  <a:srgbClr val="8FC99A"/>
                </a:solidFill>
                <a:latin typeface="Courier New"/>
              </a:rPr>
              <a:t># tệp thô</a:t>
            </a:r>
          </a:p>
          <a:p>
            <a:r>
              <a:rPr sz="850">
                <a:solidFill>
                  <a:srgbClr val="6B7385"/>
                </a:solidFill>
                <a:latin typeface="Courier New"/>
              </a:rPr>
              <a:t> 5 </a:t>
            </a:r>
            <a:r>
              <a:rPr sz="850">
                <a:solidFill>
                  <a:srgbClr val="E6EAF0"/>
                </a:solidFill>
                <a:latin typeface="Courier New"/>
              </a:rPr>
              <a:t>goc["relative_humidity"].min()      </a:t>
            </a:r>
            <a:r>
              <a:rPr sz="850">
                <a:solidFill>
                  <a:srgbClr val="8FC99A"/>
                </a:solidFill>
                <a:latin typeface="Courier New"/>
              </a:rPr>
              <a:t># ra '100': số đang lưu dạng chữ</a:t>
            </a:r>
          </a:p>
          <a:p>
            <a:r>
              <a:rPr sz="850">
                <a:solidFill>
                  <a:srgbClr val="6B7385"/>
                </a:solidFill>
                <a:latin typeface="Courier New"/>
              </a:rPr>
              <a:t> 6 </a:t>
            </a:r>
            <a:r>
              <a:rPr sz="850">
                <a:solidFill>
                  <a:srgbClr val="E6EAF0"/>
                </a:solidFill>
                <a:latin typeface="Courier New"/>
              </a:rPr>
              <a:t>rh = pd.to_numeric(goc["relative_humidity"], errors="coerce")</a:t>
            </a:r>
          </a:p>
          <a:p>
            <a:r>
              <a:rPr sz="850">
                <a:solidFill>
                  <a:srgbClr val="6B7385"/>
                </a:solidFill>
                <a:latin typeface="Courier New"/>
              </a:rPr>
              <a:t> 7 </a:t>
            </a:r>
            <a:r>
              <a:rPr sz="850">
                <a:solidFill>
                  <a:srgbClr val="E6EAF0"/>
                </a:solidFill>
                <a:latin typeface="Courier New"/>
              </a:rPr>
              <a:t>tam_nhin = pd.to_numeric(goc["visibility"], errors="coerce")</a:t>
            </a:r>
          </a:p>
          <a:p>
            <a:r>
              <a:rPr sz="850">
                <a:solidFill>
                  <a:srgbClr val="6B7385"/>
                </a:solidFill>
                <a:latin typeface="Courier New"/>
              </a:rPr>
              <a:t> 8 </a:t>
            </a:r>
            <a:r>
              <a:rPr sz="850">
                <a:solidFill>
                  <a:srgbClr val="E6EAF0"/>
                </a:solidFill>
                <a:latin typeface="Courier New"/>
              </a:rPr>
              <a:t>(tam_nhin == 9.999).mean(), (rh == 100).mean()    </a:t>
            </a:r>
            <a:r>
              <a:rPr sz="850">
                <a:solidFill>
                  <a:srgbClr val="8FC99A"/>
                </a:solidFill>
                <a:latin typeface="Courier New"/>
              </a:rPr>
              <a:t># mã và trần</a:t>
            </a:r>
          </a:p>
          <a:p>
            <a:r>
              <a:rPr sz="850">
                <a:solidFill>
                  <a:srgbClr val="6B7385"/>
                </a:solidFill>
                <a:latin typeface="Courier New"/>
              </a:rPr>
              <a:t> 9 </a:t>
            </a:r>
            <a:r>
              <a:rPr sz="850">
                <a:solidFill>
                  <a:srgbClr val="E6EAF0"/>
                </a:solidFill>
                <a:latin typeface="Courier New"/>
              </a:rPr>
              <a:t>t = pd.to_numeric(goc["temperature"], errors="coerce").dropna()</a:t>
            </a:r>
          </a:p>
          <a:p>
            <a:r>
              <a:rPr sz="850">
                <a:solidFill>
                  <a:srgbClr val="6B7385"/>
                </a:solidFill>
                <a:latin typeface="Courier New"/>
              </a:rPr>
              <a:t>10 </a:t>
            </a:r>
            <a:r>
              <a:rPr sz="850">
                <a:solidFill>
                  <a:srgbClr val="E6EAF0"/>
                </a:solidFill>
                <a:latin typeface="Courier New"/>
              </a:rPr>
              <a:t>np.diff(np.sort(t.unique())).min()  </a:t>
            </a:r>
            <a:r>
              <a:rPr sz="850">
                <a:solidFill>
                  <a:srgbClr val="8FC99A"/>
                </a:solidFill>
                <a:latin typeface="Courier New"/>
              </a:rPr>
              <a:t># độ phân giải: bước nhỏ nhất</a:t>
            </a:r>
          </a:p>
          <a:p>
            <a:r>
              <a:rPr sz="850">
                <a:solidFill>
                  <a:srgbClr val="6B7385"/>
                </a:solidFill>
                <a:latin typeface="Courier New"/>
              </a:rPr>
              <a:t>11 </a:t>
            </a:r>
          </a:p>
          <a:p>
            <a:r>
              <a:rPr sz="850">
                <a:solidFill>
                  <a:srgbClr val="6B7385"/>
                </a:solidFill>
                <a:latin typeface="Courier New"/>
              </a:rPr>
              <a:t>12 </a:t>
            </a:r>
            <a:r>
              <a:rPr sz="850">
                <a:solidFill>
                  <a:srgbClr val="E6EAF0"/>
                </a:solidFill>
                <a:latin typeface="Courier New"/>
              </a:rPr>
              <a:t>def doan_mac_ket(y, toi_thieu):     </a:t>
            </a:r>
            <a:r>
              <a:rPr sz="850">
                <a:solidFill>
                  <a:srgbClr val="8FC99A"/>
                </a:solidFill>
                <a:latin typeface="Courier New"/>
              </a:rPr>
              <a:t># đoạn lặp dài từ toi_thieu bước</a:t>
            </a:r>
          </a:p>
          <a:p>
            <a:r>
              <a:rPr sz="850">
                <a:solidFill>
                  <a:srgbClr val="6B7385"/>
                </a:solidFill>
                <a:latin typeface="Courier New"/>
              </a:rPr>
              <a:t>13 </a:t>
            </a:r>
            <a:r>
              <a:rPr sz="850">
                <a:solidFill>
                  <a:srgbClr val="E6EAF0"/>
                </a:solidFill>
                <a:latin typeface="Courier New"/>
              </a:rPr>
              <a:t>    v = y.dropna()</a:t>
            </a:r>
          </a:p>
          <a:p>
            <a:r>
              <a:rPr sz="850">
                <a:solidFill>
                  <a:srgbClr val="6B7385"/>
                </a:solidFill>
                <a:latin typeface="Courier New"/>
              </a:rPr>
              <a:t>14 </a:t>
            </a:r>
            <a:r>
              <a:rPr sz="850">
                <a:solidFill>
                  <a:srgbClr val="E6EAF0"/>
                </a:solidFill>
                <a:latin typeface="Courier New"/>
              </a:rPr>
              <a:t>    nhom = (v != v.shift()).cumsum()</a:t>
            </a:r>
          </a:p>
          <a:p>
            <a:r>
              <a:rPr sz="850">
                <a:solidFill>
                  <a:srgbClr val="6B7385"/>
                </a:solidFill>
                <a:latin typeface="Courier New"/>
              </a:rPr>
              <a:t>15 </a:t>
            </a:r>
            <a:r>
              <a:rPr sz="850">
                <a:solidFill>
                  <a:srgbClr val="E6EAF0"/>
                </a:solidFill>
                <a:latin typeface="Courier New"/>
              </a:rPr>
              <a:t>    dem = v.groupby(nhom).agg(so_buoc="size", gia_tri="first")</a:t>
            </a:r>
          </a:p>
          <a:p>
            <a:r>
              <a:rPr sz="850">
                <a:solidFill>
                  <a:srgbClr val="6B7385"/>
                </a:solidFill>
                <a:latin typeface="Courier New"/>
              </a:rPr>
              <a:t>16 </a:t>
            </a:r>
            <a:r>
              <a:rPr sz="850">
                <a:solidFill>
                  <a:srgbClr val="E6EAF0"/>
                </a:solidFill>
                <a:latin typeface="Courier New"/>
              </a:rPr>
              <a:t>    return dem[dem["so_buoc"] &gt;= toi_thieu]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Cột số lưu dạng chữ thì min so theo chữ.</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Ép về kiểu số, chữ lạ thành NaN.</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Tỷ lệ mã 9,999 km và độ ẩm chạm 100%.</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Bước nhỏ nhất giữa hai giá trị khác nhau.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Đánh số từng đoạn lặp, giữ đoạn đủ dài.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Độ ẩm dạng chữ: min '100', max '94'. Hơn 1/3 dòng tầm nhìn là mã 9,999; 5,7% độ ẩm chạm trần. Ngưỡng 18 giờ: 2 đoạn kẹt, dài nhất 33,5 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pd.to_numeric</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cột chữ thành số; errors="coerce" biến chữ lạ thành NaN.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unique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danh sách các giá trị khác nhau trong cột.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groupby().agg</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dòng cùng nhóm rồi tính số dòng, giá trị đầu của nhóm.</a:t>
            </a:r>
          </a:p>
        </p:txBody>
      </p:sp>
      <p:pic>
        <p:nvPicPr>
          <p:cNvPr id="29" name="Picture 28" descr="kn-cam-bien-dung-yen-stuck-sensor.png"/>
          <p:cNvPicPr>
            <a:picLocks noChangeAspect="1"/>
          </p:cNvPicPr>
          <p:nvPr/>
        </p:nvPicPr>
        <p:blipFill>
          <a:blip r:embed="rId2"/>
          <a:stretch>
            <a:fillRect/>
          </a:stretch>
        </p:blipFill>
        <p:spPr>
          <a:xfrm>
            <a:off x="7863840" y="4360947"/>
            <a:ext cx="3776472" cy="1839424"/>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các cách điền một lỗ</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Đặt các cách điền cạnh nhau trên một lỗ nhỏ để thấy cách nào biết hình dạng đoạn mất.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statsmodels.tsa.statespace.structural import UnobservedComponents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hom_nay = pd.Series([21, 23, np.nan, np.nan, 27, 25.0])  </a:t>
            </a:r>
            <a:r>
              <a:rPr sz="850">
                <a:solidFill>
                  <a:srgbClr val="8FC99A"/>
                </a:solidFill>
                <a:latin typeface="Courier New"/>
              </a:rPr>
              <a:t># thật: 26, 28</a:t>
            </a:r>
          </a:p>
          <a:p>
            <a:r>
              <a:rPr sz="850">
                <a:solidFill>
                  <a:srgbClr val="6B7385"/>
                </a:solidFill>
                <a:latin typeface="Courier New"/>
              </a:rPr>
              <a:t> 6 </a:t>
            </a:r>
            <a:r>
              <a:rPr sz="850">
                <a:solidFill>
                  <a:srgbClr val="E6EAF0"/>
                </a:solidFill>
                <a:latin typeface="Courier New"/>
              </a:rPr>
              <a:t>hom_qua = pd.Series([20, 22, 25, 27, 26, 24.0])</a:t>
            </a:r>
          </a:p>
          <a:p>
            <a:r>
              <a:rPr sz="850">
                <a:solidFill>
                  <a:srgbClr val="6B7385"/>
                </a:solidFill>
                <a:latin typeface="Courier New"/>
              </a:rPr>
              <a:t> 7 </a:t>
            </a:r>
            <a:r>
              <a:rPr sz="850">
                <a:solidFill>
                  <a:srgbClr val="E6EAF0"/>
                </a:solidFill>
                <a:latin typeface="Courier New"/>
              </a:rPr>
              <a:t>tay = {"ffill": hom_nay.ffill(),                    </a:t>
            </a:r>
            <a:r>
              <a:rPr sz="850">
                <a:solidFill>
                  <a:srgbClr val="8FC99A"/>
                </a:solidFill>
                <a:latin typeface="Courier New"/>
              </a:rPr>
              <a:t># nhân quả</a:t>
            </a:r>
          </a:p>
          <a:p>
            <a:r>
              <a:rPr sz="850">
                <a:solidFill>
                  <a:srgbClr val="6B7385"/>
                </a:solidFill>
                <a:latin typeface="Courier New"/>
              </a:rPr>
              <a:t> 8 </a:t>
            </a:r>
            <a:r>
              <a:rPr sz="850">
                <a:solidFill>
                  <a:srgbClr val="E6EAF0"/>
                </a:solidFill>
                <a:latin typeface="Courier New"/>
              </a:rPr>
              <a:t>       "tuyến tính": hom_nay.interpolate(),         </a:t>
            </a:r>
            <a:r>
              <a:rPr sz="850">
                <a:solidFill>
                  <a:srgbClr val="8FC99A"/>
                </a:solidFill>
                <a:latin typeface="Courier New"/>
              </a:rPr>
              <a:t># nhìn số phía sau</a:t>
            </a:r>
          </a:p>
          <a:p>
            <a:r>
              <a:rPr sz="850">
                <a:solidFill>
                  <a:srgbClr val="6B7385"/>
                </a:solidFill>
                <a:latin typeface="Courier New"/>
              </a:rPr>
              <a:t> 9 </a:t>
            </a:r>
            <a:r>
              <a:rPr sz="850">
                <a:solidFill>
                  <a:srgbClr val="E6EAF0"/>
                </a:solidFill>
                <a:latin typeface="Courier New"/>
              </a:rPr>
              <a:t>       "spline": hom_nay.interpolate(method="spline", order=3),</a:t>
            </a:r>
          </a:p>
          <a:p>
            <a:r>
              <a:rPr sz="850">
                <a:solidFill>
                  <a:srgbClr val="6B7385"/>
                </a:solidFill>
                <a:latin typeface="Courier New"/>
              </a:rPr>
              <a:t>10 </a:t>
            </a:r>
            <a:r>
              <a:rPr sz="850">
                <a:solidFill>
                  <a:srgbClr val="E6EAF0"/>
                </a:solidFill>
                <a:latin typeface="Courier New"/>
              </a:rPr>
              <a:t>       "mùa vụ": hom_nay.fillna(hom_qua),           </a:t>
            </a:r>
            <a:r>
              <a:rPr sz="850">
                <a:solidFill>
                  <a:srgbClr val="8FC99A"/>
                </a:solidFill>
                <a:latin typeface="Courier New"/>
              </a:rPr>
              <a:t># cùng giờ hôm qua</a:t>
            </a:r>
          </a:p>
          <a:p>
            <a:r>
              <a:rPr sz="850">
                <a:solidFill>
                  <a:srgbClr val="6B7385"/>
                </a:solidFill>
                <a:latin typeface="Courier New"/>
              </a:rPr>
              <a:t>11 </a:t>
            </a:r>
            <a:r>
              <a:rPr sz="850">
                <a:solidFill>
                  <a:srgbClr val="E6EAF0"/>
                </a:solidFill>
                <a:latin typeface="Courier New"/>
              </a:rPr>
              <a:t>       "hàng xóm + 1": hom_nay.fillna(hom_qua + 1)}</a:t>
            </a:r>
          </a:p>
          <a:p>
            <a:r>
              <a:rPr sz="850">
                <a:solidFill>
                  <a:srgbClr val="6B7385"/>
                </a:solidFill>
                <a:latin typeface="Courier New"/>
              </a:rPr>
              <a:t>12 </a:t>
            </a:r>
            <a:r>
              <a:rPr sz="850">
                <a:solidFill>
                  <a:srgbClr val="E6EAF0"/>
                </a:solidFill>
                <a:latin typeface="Courier New"/>
              </a:rPr>
              <a:t>def dien_kalman(y, chu_ky=48):          </a:t>
            </a:r>
            <a:r>
              <a:rPr sz="850">
                <a:solidFill>
                  <a:srgbClr val="8FC99A"/>
                </a:solidFill>
                <a:latin typeface="Courier New"/>
              </a:rPr>
              <a:t># mức + nhịp ngày, nhìn hai phía</a:t>
            </a:r>
          </a:p>
          <a:p>
            <a:r>
              <a:rPr sz="850">
                <a:solidFill>
                  <a:srgbClr val="6B7385"/>
                </a:solidFill>
                <a:latin typeface="Courier New"/>
              </a:rPr>
              <a:t>13 </a:t>
            </a:r>
            <a:r>
              <a:rPr sz="850">
                <a:solidFill>
                  <a:srgbClr val="E6EAF0"/>
                </a:solidFill>
                <a:latin typeface="Courier New"/>
              </a:rPr>
              <a:t>    kq = UnobservedComponents(y.to_numpy(float), level="local level",</a:t>
            </a:r>
          </a:p>
          <a:p>
            <a:r>
              <a:rPr sz="850">
                <a:solidFill>
                  <a:srgbClr val="6B7385"/>
                </a:solidFill>
                <a:latin typeface="Courier New"/>
              </a:rPr>
              <a:t>14 </a:t>
            </a:r>
            <a:r>
              <a:rPr sz="850">
                <a:solidFill>
                  <a:srgbClr val="E6EAF0"/>
                </a:solidFill>
                <a:latin typeface="Courier New"/>
              </a:rPr>
              <a:t>        freq_seasonal=[{"period": chu_ky, "harmonics": 2}]).fit(disp=False)</a:t>
            </a:r>
          </a:p>
          <a:p>
            <a:r>
              <a:rPr sz="850">
                <a:solidFill>
                  <a:srgbClr val="6B7385"/>
                </a:solidFill>
                <a:latin typeface="Courier New"/>
              </a:rPr>
              <a:t>15 </a:t>
            </a:r>
            <a:r>
              <a:rPr sz="850">
                <a:solidFill>
                  <a:srgbClr val="E6EAF0"/>
                </a:solidFill>
                <a:latin typeface="Courier New"/>
              </a:rPr>
              <a:t>    lam_tron = kq.smoother_results.smoothed_forecasts[0]</a:t>
            </a:r>
          </a:p>
          <a:p>
            <a:r>
              <a:rPr sz="850">
                <a:solidFill>
                  <a:srgbClr val="6B7385"/>
                </a:solidFill>
                <a:latin typeface="Courier New"/>
              </a:rPr>
              <a:t>16 </a:t>
            </a:r>
            <a:r>
              <a:rPr sz="850">
                <a:solidFill>
                  <a:srgbClr val="E6EAF0"/>
                </a:solidFill>
                <a:latin typeface="Courier New"/>
              </a:rPr>
              <a:t>    return y.fillna(pd.Series(lam_tron, index=y.index))</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Lỗ hai bước hôm nay, và số cùng giờ hôm qua.</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7–9</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Ba cách chỉ biết hai đầu lỗ.</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Hai cách mượn hình dạng từ nguồn khác.</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Khớp mô hình chuỗi rồi lấy giá trị làm trơn.</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ffill sai nhiều nhất (3 và 5), tuyến tính 1,67 và 2,33, mùa vụ 1 và 1, hàng xóm trúng cả hai. Nội Bài với Open-Meteo có r = 0,976.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ffill</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Lấp ô trống bằng số gần nhất phía trước.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fillna(chuoi_khac)</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Lấp ô trống bằng số cùng vị trí của một chuỗi khác.</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UnobservedComponents</a:t>
            </a:r>
            <a:r>
              <a:rPr sz="950" b="1" i="0">
                <a:solidFill>
                  <a:srgbClr val="5B6778"/>
                </a:solidFill>
                <a:latin typeface="Arial"/>
              </a:rPr>
              <a:t>   statsmodels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Mô hình chuỗi gồm mức đổi dần và nhịp lặp, ước lượng được ô thiếu.</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eabb6c34fcc4.png"/>
          <p:cNvPicPr>
            <a:picLocks noChangeAspect="1"/>
          </p:cNvPicPr>
          <p:nvPr/>
        </p:nvPicPr>
        <p:blipFill>
          <a:blip r:embed="rId2"/>
          <a:stretch>
            <a:fillRect/>
          </a:stretch>
        </p:blipFill>
        <p:spPr>
          <a:xfrm>
            <a:off x="8609076" y="4189475"/>
            <a:ext cx="2286000" cy="289560"/>
          </a:xfrm>
          <a:prstGeom prst="rect">
            <a:avLst/>
          </a:prstGeom>
        </p:spPr>
      </p:pic>
      <p:pic>
        <p:nvPicPr>
          <p:cNvPr id="29" name="Picture 28" descr="kn-dien-du-lieu-imputation.png"/>
          <p:cNvPicPr>
            <a:picLocks noChangeAspect="1"/>
          </p:cNvPicPr>
          <p:nvPr/>
        </p:nvPicPr>
        <p:blipFill>
          <a:blip r:embed="rId3"/>
          <a:stretch>
            <a:fillRect/>
          </a:stretch>
        </p:blipFill>
        <p:spPr>
          <a:xfrm>
            <a:off x="8076813" y="4745735"/>
            <a:ext cx="3350524" cy="1728216"/>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che điểm và che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xoá số đang có rồi điền lại để có đáp án, và che theo đúng hai kiểu lỗ thật.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che_diem(y, ty_le=0.10, seed=0):     </a:t>
            </a:r>
            <a:r>
              <a:rPr sz="850">
                <a:solidFill>
                  <a:srgbClr val="8FC99A"/>
                </a:solidFill>
                <a:latin typeface="Courier New"/>
              </a:rPr>
              <a:t># rải 10% ô đang có số</a:t>
            </a:r>
          </a:p>
          <a:p>
            <a:r>
              <a:rPr sz="850">
                <a:solidFill>
                  <a:srgbClr val="6B7385"/>
                </a:solidFill>
                <a:latin typeface="Courier New"/>
              </a:rPr>
              <a:t> 4 </a:t>
            </a:r>
            <a:r>
              <a:rPr sz="850">
                <a:solidFill>
                  <a:srgbClr val="E6EAF0"/>
                </a:solidFill>
                <a:latin typeface="Courier New"/>
              </a:rPr>
              <a:t>    rng = np.random.default_rng(seed)</a:t>
            </a:r>
          </a:p>
          <a:p>
            <a:r>
              <a:rPr sz="850">
                <a:solidFill>
                  <a:srgbClr val="6B7385"/>
                </a:solidFill>
                <a:latin typeface="Courier New"/>
              </a:rPr>
              <a:t> 5 </a:t>
            </a:r>
            <a:r>
              <a:rPr sz="850">
                <a:solidFill>
                  <a:srgbClr val="E6EAF0"/>
                </a:solidFill>
                <a:latin typeface="Courier New"/>
              </a:rPr>
              <a:t>    co = np.flatnonzero(y.notna().to_numpy())</a:t>
            </a:r>
          </a:p>
          <a:p>
            <a:r>
              <a:rPr sz="850">
                <a:solidFill>
                  <a:srgbClr val="6B7385"/>
                </a:solidFill>
                <a:latin typeface="Courier New"/>
              </a:rPr>
              <a:t> 6 </a:t>
            </a:r>
            <a:r>
              <a:rPr sz="850">
                <a:solidFill>
                  <a:srgbClr val="E6EAF0"/>
                </a:solidFill>
                <a:latin typeface="Courier New"/>
              </a:rPr>
              <a:t>    chon = rng.choice(co, size=int(len(co) * ty_le), replace=False)</a:t>
            </a:r>
          </a:p>
          <a:p>
            <a:r>
              <a:rPr sz="850">
                <a:solidFill>
                  <a:srgbClr val="6B7385"/>
                </a:solidFill>
                <a:latin typeface="Courier New"/>
              </a:rPr>
              <a:t> 7 </a:t>
            </a:r>
            <a:r>
              <a:rPr sz="850">
                <a:solidFill>
                  <a:srgbClr val="E6EAF0"/>
                </a:solidFill>
                <a:latin typeface="Courier New"/>
              </a:rPr>
              <a:t>    return y.mask(np.isin(np.arange(len(y)), chon))</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che_khoi(y, so_buoc=96, so_khoi=5, seed=0):   </a:t>
            </a:r>
            <a:r>
              <a:rPr sz="850">
                <a:solidFill>
                  <a:srgbClr val="8FC99A"/>
                </a:solidFill>
                <a:latin typeface="Courier New"/>
              </a:rPr>
              <a:t># 5 khối 48 giờ</a:t>
            </a:r>
          </a:p>
          <a:p>
            <a:r>
              <a:rPr sz="850">
                <a:solidFill>
                  <a:srgbClr val="6B7385"/>
                </a:solidFill>
                <a:latin typeface="Courier New"/>
              </a:rPr>
              <a:t>10 </a:t>
            </a:r>
            <a:r>
              <a:rPr sz="850">
                <a:solidFill>
                  <a:srgbClr val="E6EAF0"/>
                </a:solidFill>
                <a:latin typeface="Courier New"/>
              </a:rPr>
              <a:t>    rng = np.random.default_rng(seed)</a:t>
            </a:r>
          </a:p>
          <a:p>
            <a:r>
              <a:rPr sz="850">
                <a:solidFill>
                  <a:srgbClr val="6B7385"/>
                </a:solidFill>
                <a:latin typeface="Courier New"/>
              </a:rPr>
              <a:t>11 </a:t>
            </a:r>
            <a:r>
              <a:rPr sz="850">
                <a:solidFill>
                  <a:srgbClr val="E6EAF0"/>
                </a:solidFill>
                <a:latin typeface="Courier New"/>
              </a:rPr>
              <a:t>    z = y.copy()</a:t>
            </a:r>
          </a:p>
          <a:p>
            <a:r>
              <a:rPr sz="850">
                <a:solidFill>
                  <a:srgbClr val="6B7385"/>
                </a:solidFill>
                <a:latin typeface="Courier New"/>
              </a:rPr>
              <a:t>12 </a:t>
            </a:r>
            <a:r>
              <a:rPr sz="850">
                <a:solidFill>
                  <a:srgbClr val="E6EAF0"/>
                </a:solidFill>
                <a:latin typeface="Courier New"/>
              </a:rPr>
              <a:t>    for _ in range(so_khoi):</a:t>
            </a:r>
          </a:p>
          <a:p>
            <a:r>
              <a:rPr sz="850">
                <a:solidFill>
                  <a:srgbClr val="6B7385"/>
                </a:solidFill>
                <a:latin typeface="Courier New"/>
              </a:rPr>
              <a:t>13 </a:t>
            </a:r>
            <a:r>
              <a:rPr sz="850">
                <a:solidFill>
                  <a:srgbClr val="E6EAF0"/>
                </a:solidFill>
                <a:latin typeface="Courier New"/>
              </a:rPr>
              <a:t>        dau = int(rng.integers(0, len(y) - so_buoc))</a:t>
            </a:r>
          </a:p>
          <a:p>
            <a:r>
              <a:rPr sz="850">
                <a:solidFill>
                  <a:srgbClr val="6B7385"/>
                </a:solidFill>
                <a:latin typeface="Courier New"/>
              </a:rPr>
              <a:t>14 </a:t>
            </a:r>
            <a:r>
              <a:rPr sz="850">
                <a:solidFill>
                  <a:srgbClr val="E6EAF0"/>
                </a:solidFill>
                <a:latin typeface="Courier New"/>
              </a:rPr>
              <a:t>        z.iloc[dau:dau + so_buoc] = np.nan</a:t>
            </a:r>
          </a:p>
          <a:p>
            <a:r>
              <a:rPr sz="850">
                <a:solidFill>
                  <a:srgbClr val="6B7385"/>
                </a:solidFill>
                <a:latin typeface="Courier New"/>
              </a:rPr>
              <a:t>15 </a:t>
            </a:r>
            <a:r>
              <a:rPr sz="850">
                <a:solidFill>
                  <a:srgbClr val="E6EAF0"/>
                </a:solidFill>
                <a:latin typeface="Courier New"/>
              </a:rPr>
              <a:t>    return z</a:t>
            </a:r>
          </a:p>
          <a:p>
            <a:r>
              <a:rPr sz="850">
                <a:solidFill>
                  <a:srgbClr val="6B7385"/>
                </a:solidFill>
                <a:latin typeface="Courier New"/>
              </a:rPr>
              <a:t>16 </a:t>
            </a:r>
            <a:r>
              <a:rPr sz="850">
                <a:solidFill>
                  <a:srgbClr val="E6EAF0"/>
                </a:solidFill>
                <a:latin typeface="Courier New"/>
              </a:rPr>
              <a:t>cham = lambda that, z, dien: (dien(z) - that)[z.isna()].abs().mean()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Chọn ngẫu nhiên 10% ô có số rồi xoá.</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9–15</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Xoá năm đoạn liền, mỗi đoạn 96 bước.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MAE chỉ tính trên những ô vừa bị che.</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Tuyến tính hạng 1 ở lỗ ngắn (MAE 0,291 °C) nhưng hạng 5 ở lỗ 48 giờ (2,171); hàng xóm đi ngược lại, hạng 5 lên hạng 1.</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rng.choice</a:t>
            </a:r>
            <a:r>
              <a:rPr sz="950" b="1" i="0">
                <a:solidFill>
                  <a:srgbClr val="5B6778"/>
                </a:solidFill>
                <a:latin typeface="Arial"/>
              </a:rPr>
              <a:t>   numpy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Rút ngẫu nhiên một số phần tử, replace=False để không trùng.</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rng.integers</a:t>
            </a:r>
            <a:r>
              <a:rPr sz="950" b="1" i="0">
                <a:solidFill>
                  <a:srgbClr val="5B6778"/>
                </a:solidFill>
                <a:latin typeface="Arial"/>
              </a:rPr>
              <a:t>   numpy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Rút một số nguyên ngẫu nhiên trong khoảng cho trước.</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iloc[a:b]</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các dòng theo vị trí từ a tới trước b.</a:t>
            </a:r>
          </a:p>
        </p:txBody>
      </p:sp>
      <p:pic>
        <p:nvPicPr>
          <p:cNvPr id="25" name="Picture 24" descr="kn-che-nhan-tao.png"/>
          <p:cNvPicPr>
            <a:picLocks noChangeAspect="1"/>
          </p:cNvPicPr>
          <p:nvPr/>
        </p:nvPicPr>
        <p:blipFill>
          <a:blip r:embed="rId2"/>
          <a:stretch>
            <a:fillRect/>
          </a:stretch>
        </p:blipFill>
        <p:spPr>
          <a:xfrm>
            <a:off x="7863840" y="4424755"/>
            <a:ext cx="3776472" cy="1711809"/>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chỉ điền lỗ ngắn, kiểm rò rỉ</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Gói làm sạch thành hàm chỉ điền lỗ ngắn kèm cột cờ, rồi dùng máy kiểm có rò rỉ không.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lam_sach(v, nghi, gioi_han=6, cach=dien_mua_vu):</a:t>
            </a:r>
          </a:p>
          <a:p>
            <a:r>
              <a:rPr sz="850">
                <a:solidFill>
                  <a:srgbClr val="6B7385"/>
                </a:solidFill>
                <a:latin typeface="Courier New"/>
              </a:rPr>
              <a:t> 4 </a:t>
            </a:r>
            <a:r>
              <a:rPr sz="850">
                <a:solidFill>
                  <a:srgbClr val="E6EAF0"/>
                </a:solidFill>
                <a:latin typeface="Courier New"/>
              </a:rPr>
              <a:t>    sach = v.where(~nghi)                  </a:t>
            </a:r>
            <a:r>
              <a:rPr sz="850">
                <a:solidFill>
                  <a:srgbClr val="8FC99A"/>
                </a:solidFill>
                <a:latin typeface="Courier New"/>
              </a:rPr>
              <a:t># loại số nghi ngờ TRƯỚC</a:t>
            </a:r>
          </a:p>
          <a:p>
            <a:r>
              <a:rPr sz="850">
                <a:solidFill>
                  <a:srgbClr val="6B7385"/>
                </a:solidFill>
                <a:latin typeface="Courier New"/>
              </a:rPr>
              <a:t> 5 </a:t>
            </a:r>
            <a:r>
              <a:rPr sz="850">
                <a:solidFill>
                  <a:srgbClr val="E6EAF0"/>
                </a:solidFill>
                <a:latin typeface="Courier New"/>
              </a:rPr>
              <a:t>    thieu = sach.isna()</a:t>
            </a:r>
          </a:p>
          <a:p>
            <a:r>
              <a:rPr sz="850">
                <a:solidFill>
                  <a:srgbClr val="6B7385"/>
                </a:solidFill>
                <a:latin typeface="Courier New"/>
              </a:rPr>
              <a:t> 6 </a:t>
            </a:r>
            <a:r>
              <a:rPr sz="850">
                <a:solidFill>
                  <a:srgbClr val="E6EAF0"/>
                </a:solidFill>
                <a:latin typeface="Courier New"/>
              </a:rPr>
              <a:t>    nhom = (thieu != thieu.shift()).cumsum()</a:t>
            </a:r>
          </a:p>
          <a:p>
            <a:r>
              <a:rPr sz="850">
                <a:solidFill>
                  <a:srgbClr val="6B7385"/>
                </a:solidFill>
                <a:latin typeface="Courier New"/>
              </a:rPr>
              <a:t> 7 </a:t>
            </a:r>
            <a:r>
              <a:rPr sz="850">
                <a:solidFill>
                  <a:srgbClr val="E6EAF0"/>
                </a:solidFill>
                <a:latin typeface="Courier New"/>
              </a:rPr>
              <a:t>    do_dai = nhom.map(nhom[thieu].value_counts()).where(thieu, 0)</a:t>
            </a:r>
          </a:p>
          <a:p>
            <a:r>
              <a:rPr sz="850">
                <a:solidFill>
                  <a:srgbClr val="6B7385"/>
                </a:solidFill>
                <a:latin typeface="Courier New"/>
              </a:rPr>
              <a:t> 8 </a:t>
            </a:r>
            <a:r>
              <a:rPr sz="850">
                <a:solidFill>
                  <a:srgbClr val="E6EAF0"/>
                </a:solidFill>
                <a:latin typeface="Courier New"/>
              </a:rPr>
              <a:t>    dien_duoc = thieu &amp; (do_dai &lt;= gioi_han)    </a:t>
            </a:r>
            <a:r>
              <a:rPr sz="850">
                <a:solidFill>
                  <a:srgbClr val="8FC99A"/>
                </a:solidFill>
                <a:latin typeface="Courier New"/>
              </a:rPr>
              <a:t># chỉ lỗ tới 3 giờ</a:t>
            </a:r>
          </a:p>
          <a:p>
            <a:r>
              <a:rPr sz="850">
                <a:solidFill>
                  <a:srgbClr val="6B7385"/>
                </a:solidFill>
                <a:latin typeface="Courier New"/>
              </a:rPr>
              <a:t> 9 </a:t>
            </a:r>
            <a:r>
              <a:rPr sz="850">
                <a:solidFill>
                  <a:srgbClr val="E6EAF0"/>
                </a:solidFill>
                <a:latin typeface="Courier New"/>
              </a:rPr>
              <a:t>    kq = sach.where(~dien_duoc, cach(sach))     </a:t>
            </a:r>
            <a:r>
              <a:rPr sz="850">
                <a:solidFill>
                  <a:srgbClr val="8FC99A"/>
                </a:solidFill>
                <a:latin typeface="Courier New"/>
              </a:rPr>
              <a:t># mùa vụ: nhân quả</a:t>
            </a:r>
          </a:p>
          <a:p>
            <a:r>
              <a:rPr sz="850">
                <a:solidFill>
                  <a:srgbClr val="6B7385"/>
                </a:solidFill>
                <a:latin typeface="Courier New"/>
              </a:rPr>
              <a:t>10 </a:t>
            </a:r>
            <a:r>
              <a:rPr sz="850">
                <a:solidFill>
                  <a:srgbClr val="E6EAF0"/>
                </a:solidFill>
                <a:latin typeface="Courier New"/>
              </a:rPr>
              <a:t>    return pd.DataFrame({"y": kq, "da_dien": dien_duoc &amp; kq.notna()})</a:t>
            </a:r>
          </a:p>
          <a:p>
            <a:r>
              <a:rPr sz="850">
                <a:solidFill>
                  <a:srgbClr val="6B7385"/>
                </a:solidFill>
                <a:latin typeface="Courier New"/>
              </a:rPr>
              <a:t>11 </a:t>
            </a:r>
          </a:p>
          <a:p>
            <a:r>
              <a:rPr sz="850">
                <a:solidFill>
                  <a:srgbClr val="6B7385"/>
                </a:solidFill>
                <a:latin typeface="Courier New"/>
              </a:rPr>
              <a:t>12 </a:t>
            </a:r>
            <a:r>
              <a:rPr sz="850">
                <a:solidFill>
                  <a:srgbClr val="E6EAF0"/>
                </a:solidFill>
                <a:latin typeface="Courier New"/>
              </a:rPr>
              <a:t>def kiem_ro_ri(ham, bang, moc_cat):        </a:t>
            </a:r>
            <a:r>
              <a:rPr sz="850">
                <a:solidFill>
                  <a:srgbClr val="8FC99A"/>
                </a:solidFill>
                <a:latin typeface="Courier New"/>
              </a:rPr>
              <a:t># moc_cat nằm TRONG một lỗ</a:t>
            </a:r>
          </a:p>
          <a:p>
            <a:r>
              <a:rPr sz="850">
                <a:solidFill>
                  <a:srgbClr val="6B7385"/>
                </a:solidFill>
                <a:latin typeface="Courier New"/>
              </a:rPr>
              <a:t>13 </a:t>
            </a:r>
            <a:r>
              <a:rPr sz="850">
                <a:solidFill>
                  <a:srgbClr val="E6EAF0"/>
                </a:solidFill>
                <a:latin typeface="Courier New"/>
              </a:rPr>
              <a:t>    truoc = moc_cat - pd.Timedelta("30min")</a:t>
            </a:r>
          </a:p>
          <a:p>
            <a:r>
              <a:rPr sz="850">
                <a:solidFill>
                  <a:srgbClr val="6B7385"/>
                </a:solidFill>
                <a:latin typeface="Courier New"/>
              </a:rPr>
              <a:t>14 </a:t>
            </a:r>
            <a:r>
              <a:rPr sz="850">
                <a:solidFill>
                  <a:srgbClr val="E6EAF0"/>
                </a:solidFill>
                <a:latin typeface="Courier New"/>
              </a:rPr>
              <a:t>    day = ham(bang).loc[:truoc, "y"]</a:t>
            </a:r>
          </a:p>
          <a:p>
            <a:r>
              <a:rPr sz="850">
                <a:solidFill>
                  <a:srgbClr val="6B7385"/>
                </a:solidFill>
                <a:latin typeface="Courier New"/>
              </a:rPr>
              <a:t>15 </a:t>
            </a:r>
            <a:r>
              <a:rPr sz="850">
                <a:solidFill>
                  <a:srgbClr val="E6EAF0"/>
                </a:solidFill>
                <a:latin typeface="Courier New"/>
              </a:rPr>
              <a:t>    cat = ham(bang.loc[:truoc])["y"]</a:t>
            </a:r>
          </a:p>
          <a:p>
            <a:r>
              <a:rPr sz="850">
                <a:solidFill>
                  <a:srgbClr val="6B7385"/>
                </a:solidFill>
                <a:latin typeface="Courier New"/>
              </a:rPr>
              <a:t>16 </a:t>
            </a:r>
            <a:r>
              <a:rPr sz="850">
                <a:solidFill>
                  <a:srgbClr val="E6EAF0"/>
                </a:solidFill>
                <a:latin typeface="Courier New"/>
              </a:rPr>
              <a:t>    return (day - cat).abs().max() &gt; 1e-9  </a:t>
            </a:r>
            <a:r>
              <a:rPr sz="850">
                <a:solidFill>
                  <a:srgbClr val="8FC99A"/>
                </a:solidFill>
                <a:latin typeface="Courier New"/>
              </a:rPr>
              <a:t># True là có rò rỉ</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Biến số nghi ngờ thành NaN trước tiên.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Đo lại độ dài lỗ cho từng ô thiếu.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Chỉ điền lỗ ngắn, lỗ dài để trống.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Xuất kèm cột cờ ô nào là số điền.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Làm sạch đủ và cắt, so phần trước mốc cắt.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Nội Bài: 130 ô bị loại vì nghi ngờ, 198 ô được điền, 181 ô để trống. Điền mọi lỗ bằng tuyến tính bị bắt khi cắt trong lỗ.</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where(dieu_kien, khac)</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Giữ ô thoả điều kiện, ô còn lại lấy từ chuỗi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value_counts</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Đếm mỗi giá trị xuất hiện bao nhiêu lần, ở đây là cỡ mỗi lỗ.</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kiem_ro_ri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So kết quả làm sạch trên dữ liệu đủ và dữ liệu cắt tại một mốc.</a:t>
            </a:r>
          </a:p>
        </p:txBody>
      </p:sp>
      <p:pic>
        <p:nvPicPr>
          <p:cNvPr id="29" name="Picture 28" descr="kn-nhan-qua-cach-dien.png"/>
          <p:cNvPicPr>
            <a:picLocks noChangeAspect="1"/>
          </p:cNvPicPr>
          <p:nvPr/>
        </p:nvPicPr>
        <p:blipFill>
          <a:blip r:embed="rId2"/>
          <a:stretch>
            <a:fillRect/>
          </a:stretch>
        </p:blipFill>
        <p:spPr>
          <a:xfrm>
            <a:off x="7863840" y="4327272"/>
            <a:ext cx="3776472" cy="1906774"/>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nhận loại bất thường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Bốn loại bất thường giống nhau ở mốc lạ; chỉ các điểm sau mốc đó mới tách được chúng.</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bon = {"AO (điểm đơn)": [10, 10, 10, 25, 10, 10, 10, 10],</a:t>
            </a:r>
          </a:p>
          <a:p>
            <a:r>
              <a:rPr sz="950">
                <a:solidFill>
                  <a:srgbClr val="6B7385"/>
                </a:solidFill>
                <a:latin typeface="Courier New"/>
              </a:rPr>
              <a:t> 5 </a:t>
            </a:r>
            <a:r>
              <a:rPr sz="950">
                <a:solidFill>
                  <a:srgbClr val="E6EAF0"/>
                </a:solidFill>
                <a:latin typeface="Courier New"/>
              </a:rPr>
              <a:t>       "dịch mức": [10, 10, 10, 20, 20, 20, 20, 20],</a:t>
            </a:r>
          </a:p>
          <a:p>
            <a:r>
              <a:rPr sz="950">
                <a:solidFill>
                  <a:srgbClr val="6B7385"/>
                </a:solidFill>
                <a:latin typeface="Courier New"/>
              </a:rPr>
              <a:t> 6 </a:t>
            </a:r>
            <a:r>
              <a:rPr sz="950">
                <a:solidFill>
                  <a:srgbClr val="E6EAF0"/>
                </a:solidFill>
                <a:latin typeface="Courier New"/>
              </a:rPr>
              <a:t>       "thay đổi tạm": [10, 10, 10, 20, 15, 12, 11, 10],</a:t>
            </a:r>
          </a:p>
          <a:p>
            <a:r>
              <a:rPr sz="950">
                <a:solidFill>
                  <a:srgbClr val="6B7385"/>
                </a:solidFill>
                <a:latin typeface="Courier New"/>
              </a:rPr>
              <a:t> 7 </a:t>
            </a:r>
            <a:r>
              <a:rPr sz="950">
                <a:solidFill>
                  <a:srgbClr val="E6EAF0"/>
                </a:solidFill>
                <a:latin typeface="Courier New"/>
              </a:rPr>
              <a:t>       "đổi phương sai": [10, 10, 10, 14, 6, 13, 7, 14]}</a:t>
            </a:r>
          </a:p>
          <a:p>
            <a:r>
              <a:rPr sz="950">
                <a:solidFill>
                  <a:srgbClr val="6B7385"/>
                </a:solidFill>
                <a:latin typeface="Courier New"/>
              </a:rPr>
              <a:t> 8 </a:t>
            </a:r>
            <a:r>
              <a:rPr sz="950">
                <a:solidFill>
                  <a:srgbClr val="E6EAF0"/>
                </a:solidFill>
                <a:latin typeface="Courier New"/>
              </a:rPr>
              <a:t>bang = pd.DataFrame({ten: {</a:t>
            </a:r>
          </a:p>
          <a:p>
            <a:r>
              <a:rPr sz="950">
                <a:solidFill>
                  <a:srgbClr val="6B7385"/>
                </a:solidFill>
                <a:latin typeface="Courier New"/>
              </a:rPr>
              <a:t> 9 </a:t>
            </a:r>
            <a:r>
              <a:rPr sz="950">
                <a:solidFill>
                  <a:srgbClr val="E6EAF0"/>
                </a:solidFill>
                <a:latin typeface="Courier New"/>
              </a:rPr>
              <a:t>    "điểm 4": v[3],</a:t>
            </a:r>
          </a:p>
          <a:p>
            <a:r>
              <a:rPr sz="950">
                <a:solidFill>
                  <a:srgbClr val="6B7385"/>
                </a:solidFill>
                <a:latin typeface="Courier New"/>
              </a:rPr>
              <a:t>10 </a:t>
            </a:r>
            <a:r>
              <a:rPr sz="950">
                <a:solidFill>
                  <a:srgbClr val="E6EAF0"/>
                </a:solidFill>
                <a:latin typeface="Courier New"/>
              </a:rPr>
              <a:t>    "TB 4 điểm sau": np.mean(v[4:]),               </a:t>
            </a:r>
            <a:r>
              <a:rPr sz="950">
                <a:solidFill>
                  <a:srgbClr val="8FC99A"/>
                </a:solidFill>
                <a:latin typeface="Courier New"/>
              </a:rPr>
              <a:t># có ở lại không</a:t>
            </a:r>
          </a:p>
          <a:p>
            <a:r>
              <a:rPr sz="950">
                <a:solidFill>
                  <a:srgbClr val="6B7385"/>
                </a:solidFill>
                <a:latin typeface="Courier New"/>
              </a:rPr>
              <a:t>11 </a:t>
            </a:r>
            <a:r>
              <a:rPr sz="950">
                <a:solidFill>
                  <a:srgbClr val="E6EAF0"/>
                </a:solidFill>
                <a:latin typeface="Courier New"/>
              </a:rPr>
              <a:t>    "điểm cuối": v[-1],                            </a:t>
            </a:r>
            <a:r>
              <a:rPr sz="950">
                <a:solidFill>
                  <a:srgbClr val="8FC99A"/>
                </a:solidFill>
                <a:latin typeface="Courier New"/>
              </a:rPr>
              <a:t># có hồi về không</a:t>
            </a:r>
          </a:p>
          <a:p>
            <a:r>
              <a:rPr sz="950">
                <a:solidFill>
                  <a:srgbClr val="6B7385"/>
                </a:solidFill>
                <a:latin typeface="Courier New"/>
              </a:rPr>
              <a:t>12 </a:t>
            </a:r>
            <a:r>
              <a:rPr sz="950">
                <a:solidFill>
                  <a:srgbClr val="E6EAF0"/>
                </a:solidFill>
                <a:latin typeface="Courier New"/>
              </a:rPr>
              <a:t>    "độ lệch chuẩn sau": np.std(v[4:], ddof=1),    </a:t>
            </a:r>
            <a:r>
              <a:rPr sz="950">
                <a:solidFill>
                  <a:srgbClr val="8FC99A"/>
                </a:solidFill>
                <a:latin typeface="Courier New"/>
              </a:rPr>
              <a:t># có rung mạnh hơn</a:t>
            </a:r>
          </a:p>
          <a:p>
            <a:r>
              <a:rPr sz="950">
                <a:solidFill>
                  <a:srgbClr val="6B7385"/>
                </a:solidFill>
                <a:latin typeface="Courier New"/>
              </a:rPr>
              <a:t>13 </a:t>
            </a:r>
            <a:r>
              <a:rPr sz="950">
                <a:solidFill>
                  <a:srgbClr val="E6EAF0"/>
                </a:solidFill>
                <a:latin typeface="Courier New"/>
              </a:rPr>
              <a:t>} for ten, v in bon.items()}).T</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4–7</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Bốn chuỗi tám điểm, cùng mức nền 10.</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Riêng điểm lạ thì chưa phân biệt được.</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Nhìn sau mốc lạ: ở lại, hồi về hay rung.</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Làm một bảng, mỗi dòng một loại.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Điểm 4 không tách được ba loại đầu; bốn điểm sau thì tách: AO về 10, dịch mức ở lại 20, thay đổi tạm hồi dần. Đổi phương sai: độ lệch chuẩn 4,08.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np.mean</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cộng các số.</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np.std(ddof=1)</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mẫu: số đo độ dao động quanh trung bình.</a:t>
            </a:r>
          </a:p>
        </p:txBody>
      </p:sp>
      <p:pic>
        <p:nvPicPr>
          <p:cNvPr id="25" name="Picture 24" descr="kn-ngoai-lai-outlier.png"/>
          <p:cNvPicPr>
            <a:picLocks noChangeAspect="1"/>
          </p:cNvPicPr>
          <p:nvPr/>
        </p:nvPicPr>
        <p:blipFill>
          <a:blip r:embed="rId2"/>
          <a:stretch>
            <a:fillRect/>
          </a:stretch>
        </p:blipFill>
        <p:spPr>
          <a:xfrm>
            <a:off x="7863840" y="4268896"/>
            <a:ext cx="3776472" cy="1365159"/>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ngưỡng 3σ bỏ sót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vì sao ngoại lai lớn kéo chính trung bình và độ lệch chuẩn dùng để bắt nó.</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z_score(y, nguong=3.0):</a:t>
            </a:r>
          </a:p>
          <a:p>
            <a:r>
              <a:rPr sz="950">
                <a:solidFill>
                  <a:srgbClr val="6B7385"/>
                </a:solidFill>
                <a:latin typeface="Courier New"/>
              </a:rPr>
              <a:t> 5 </a:t>
            </a:r>
            <a:r>
              <a:rPr sz="950">
                <a:solidFill>
                  <a:srgbClr val="E6EAF0"/>
                </a:solidFill>
                <a:latin typeface="Courier New"/>
              </a:rPr>
              <a:t>    return ((y - y.mean()) / y.std()).abs() &gt; nguong</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mot = np.array([10, 12, 11, 13, 12, 50, 11, 12, 13, 12.0])</a:t>
            </a:r>
          </a:p>
          <a:p>
            <a:r>
              <a:rPr sz="950">
                <a:solidFill>
                  <a:srgbClr val="6B7385"/>
                </a:solidFill>
                <a:latin typeface="Courier New"/>
              </a:rPr>
              <a:t> 8 </a:t>
            </a:r>
            <a:r>
              <a:rPr sz="950">
                <a:solidFill>
                  <a:srgbClr val="E6EAF0"/>
                </a:solidFill>
                <a:latin typeface="Courier New"/>
              </a:rPr>
              <a:t>z = (mot - mot.mean()) / mot.std(ddof=1)     </a:t>
            </a:r>
            <a:r>
              <a:rPr sz="950">
                <a:solidFill>
                  <a:srgbClr val="8FC99A"/>
                </a:solidFill>
                <a:latin typeface="Courier New"/>
              </a:rPr>
              <a:t># z của số 50</a:t>
            </a:r>
          </a:p>
          <a:p>
            <a:r>
              <a:rPr sz="950">
                <a:solidFill>
                  <a:srgbClr val="6B7385"/>
                </a:solidFill>
                <a:latin typeface="Courier New"/>
              </a:rPr>
              <a:t> 9 </a:t>
            </a:r>
            <a:r>
              <a:rPr sz="950">
                <a:solidFill>
                  <a:srgbClr val="E6EAF0"/>
                </a:solidFill>
                <a:latin typeface="Courier New"/>
              </a:rPr>
              <a:t>tran = (mot.size - 1) / np.sqrt(mot.size)   </a:t>
            </a:r>
            <a:r>
              <a:rPr sz="950">
                <a:solidFill>
                  <a:srgbClr val="8FC99A"/>
                </a:solidFill>
                <a:latin typeface="Courier New"/>
              </a:rPr>
              <a:t># trần của |z| khi n = 10</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them = tong.copy()                          </a:t>
            </a:r>
            <a:r>
              <a:rPr sz="950">
                <a:solidFill>
                  <a:srgbClr val="8FC99A"/>
                </a:solidFill>
                <a:latin typeface="Courier New"/>
              </a:rPr>
              <a:t># tong: lượt xem Wikipedia</a:t>
            </a:r>
          </a:p>
          <a:p>
            <a:r>
              <a:rPr sz="950">
                <a:solidFill>
                  <a:srgbClr val="6B7385"/>
                </a:solidFill>
                <a:latin typeface="Courier New"/>
              </a:rPr>
              <a:t>12 </a:t>
            </a:r>
            <a:r>
              <a:rPr sz="950">
                <a:solidFill>
                  <a:srgbClr val="E6EAF0"/>
                </a:solidFill>
                <a:latin typeface="Courier New"/>
              </a:rPr>
              <a:t>them.iloc[len(tong) // 2] = tong.max() * 8  </a:t>
            </a:r>
            <a:r>
              <a:rPr sz="950">
                <a:solidFill>
                  <a:srgbClr val="8FC99A"/>
                </a:solidFill>
                <a:latin typeface="Courier New"/>
              </a:rPr>
              <a:t># thêm một ngày giả</a:t>
            </a:r>
          </a:p>
          <a:p>
            <a:r>
              <a:rPr sz="950">
                <a:solidFill>
                  <a:srgbClr val="6B7385"/>
                </a:solidFill>
                <a:latin typeface="Courier New"/>
              </a:rPr>
              <a:t>13 </a:t>
            </a:r>
            <a:r>
              <a:rPr sz="950">
                <a:solidFill>
                  <a:srgbClr val="E6EAF0"/>
                </a:solidFill>
                <a:latin typeface="Courier New"/>
              </a:rPr>
              <a:t>z_score(tong).sum(), z_score(them).sum()    </a:t>
            </a:r>
            <a:r>
              <a:rPr sz="950">
                <a:solidFill>
                  <a:srgbClr val="8FC99A"/>
                </a:solidFill>
                <a:latin typeface="Courier New"/>
              </a:rPr>
              <a:t># số ngày bị gắn cờ</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2</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Gắn cờ khi cách trung bình quá 3σ.</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Mười số có một ngoại lai 50.</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Mười số thì |z| không bao giờ vượt 2,85.</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Thêm một ngày giả rồi đếm lại số cờ.</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z của 50 chỉ 2,84, dưới trần 2,85 nên không bị bắt. Wikipedia: thêm một ngày giả, số ngày bị gắn cờ tụt từ 16 xuống 5.</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y.mean(), y.std()</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và độ lệch chuẩn của cả chuỗi, ngoại lai kéo được cả hai.</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np.sqrt</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Căn bậc hai.</a:t>
            </a:r>
          </a:p>
        </p:txBody>
      </p:sp>
      <p:sp>
        <p:nvSpPr>
          <p:cNvPr id="25" name="Rounded Rectangle 24"/>
          <p:cNvSpPr/>
          <p:nvPr/>
        </p:nvSpPr>
        <p:spPr>
          <a:xfrm>
            <a:off x="7863840" y="3401567"/>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748c2105843c.png"/>
          <p:cNvPicPr>
            <a:picLocks noChangeAspect="1"/>
          </p:cNvPicPr>
          <p:nvPr/>
        </p:nvPicPr>
        <p:blipFill>
          <a:blip r:embed="rId2"/>
          <a:stretch>
            <a:fillRect/>
          </a:stretch>
        </p:blipFill>
        <p:spPr>
          <a:xfrm>
            <a:off x="9308592" y="3531107"/>
            <a:ext cx="886968" cy="289560"/>
          </a:xfrm>
          <a:prstGeom prst="rect">
            <a:avLst/>
          </a:prstGeom>
        </p:spPr>
      </p:pic>
      <p:pic>
        <p:nvPicPr>
          <p:cNvPr id="27" name="Picture 26" descr="masking-10-so.png"/>
          <p:cNvPicPr>
            <a:picLocks noChangeAspect="1"/>
          </p:cNvPicPr>
          <p:nvPr/>
        </p:nvPicPr>
        <p:blipFill>
          <a:blip r:embed="rId3"/>
          <a:stretch>
            <a:fillRect/>
          </a:stretch>
        </p:blipFill>
        <p:spPr>
          <a:xfrm>
            <a:off x="7863840" y="4635185"/>
            <a:ext cx="3776472" cy="1290949"/>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MAD và bộ lọc Hampel</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Đổi trung bình thành trung vị để ngoại lai không kéo được thước đo, rồi trượt theo cửa sổ.</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HE_SO_MAD = 1.4826             </a:t>
            </a:r>
            <a:r>
              <a:rPr sz="850">
                <a:solidFill>
                  <a:srgbClr val="8FC99A"/>
                </a:solidFill>
                <a:latin typeface="Courier New"/>
              </a:rPr>
              <a:t># đưa MAD về thang độ lệch chuẩn</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mad_score(y):</a:t>
            </a:r>
          </a:p>
          <a:p>
            <a:r>
              <a:rPr sz="850">
                <a:solidFill>
                  <a:srgbClr val="6B7385"/>
                </a:solidFill>
                <a:latin typeface="Courier New"/>
              </a:rPr>
              <a:t> 7 </a:t>
            </a:r>
            <a:r>
              <a:rPr sz="850">
                <a:solidFill>
                  <a:srgbClr val="E6EAF0"/>
                </a:solidFill>
                <a:latin typeface="Courier New"/>
              </a:rPr>
              <a:t>    tv = y.median()</a:t>
            </a:r>
          </a:p>
          <a:p>
            <a:r>
              <a:rPr sz="850">
                <a:solidFill>
                  <a:srgbClr val="6B7385"/>
                </a:solidFill>
                <a:latin typeface="Courier New"/>
              </a:rPr>
              <a:t> 8 </a:t>
            </a:r>
            <a:r>
              <a:rPr sz="850">
                <a:solidFill>
                  <a:srgbClr val="E6EAF0"/>
                </a:solidFill>
                <a:latin typeface="Courier New"/>
              </a:rPr>
              <a:t>    mad = (y - tv).abs().median()</a:t>
            </a:r>
          </a:p>
          <a:p>
            <a:r>
              <a:rPr sz="850">
                <a:solidFill>
                  <a:srgbClr val="6B7385"/>
                </a:solidFill>
                <a:latin typeface="Courier New"/>
              </a:rPr>
              <a:t> 9 </a:t>
            </a:r>
            <a:r>
              <a:rPr sz="850">
                <a:solidFill>
                  <a:srgbClr val="E6EAF0"/>
                </a:solidFill>
                <a:latin typeface="Courier New"/>
              </a:rPr>
              <a:t>    return (y - tv).abs() / (HE_SO_MAD * mad)</a:t>
            </a:r>
          </a:p>
          <a:p>
            <a:r>
              <a:rPr sz="850">
                <a:solidFill>
                  <a:srgbClr val="6B7385"/>
                </a:solidFill>
                <a:latin typeface="Courier New"/>
              </a:rPr>
              <a:t>10 </a:t>
            </a:r>
          </a:p>
          <a:p>
            <a:r>
              <a:rPr sz="850">
                <a:solidFill>
                  <a:srgbClr val="6B7385"/>
                </a:solidFill>
                <a:latin typeface="Courier New"/>
              </a:rPr>
              <a:t>11 </a:t>
            </a:r>
            <a:r>
              <a:rPr sz="850">
                <a:solidFill>
                  <a:srgbClr val="E6EAF0"/>
                </a:solidFill>
                <a:latin typeface="Courier New"/>
              </a:rPr>
              <a:t>def hampel(y, cua_so=15, nguong=3.0):     </a:t>
            </a:r>
            <a:r>
              <a:rPr sz="850">
                <a:solidFill>
                  <a:srgbClr val="8FC99A"/>
                </a:solidFill>
                <a:latin typeface="Courier New"/>
              </a:rPr>
              <a:t># cửa sổ ±15 ngày quanh điểm</a:t>
            </a:r>
          </a:p>
          <a:p>
            <a:r>
              <a:rPr sz="850">
                <a:solidFill>
                  <a:srgbClr val="6B7385"/>
                </a:solidFill>
                <a:latin typeface="Courier New"/>
              </a:rPr>
              <a:t>12 </a:t>
            </a:r>
            <a:r>
              <a:rPr sz="850">
                <a:solidFill>
                  <a:srgbClr val="E6EAF0"/>
                </a:solidFill>
                <a:latin typeface="Courier New"/>
              </a:rPr>
              <a:t>    k = 2 * cua_so + 1</a:t>
            </a:r>
          </a:p>
          <a:p>
            <a:r>
              <a:rPr sz="850">
                <a:solidFill>
                  <a:srgbClr val="6B7385"/>
                </a:solidFill>
                <a:latin typeface="Courier New"/>
              </a:rPr>
              <a:t>13 </a:t>
            </a:r>
            <a:r>
              <a:rPr sz="850">
                <a:solidFill>
                  <a:srgbClr val="E6EAF0"/>
                </a:solidFill>
                <a:latin typeface="Courier New"/>
              </a:rPr>
              <a:t>    tv = y.rolling(k, center=True, min_periods=cua_so).median()</a:t>
            </a:r>
          </a:p>
          <a:p>
            <a:r>
              <a:rPr sz="850">
                <a:solidFill>
                  <a:srgbClr val="6B7385"/>
                </a:solidFill>
                <a:latin typeface="Courier New"/>
              </a:rPr>
              <a:t>14 </a:t>
            </a:r>
            <a:r>
              <a:rPr sz="850">
                <a:solidFill>
                  <a:srgbClr val="E6EAF0"/>
                </a:solidFill>
                <a:latin typeface="Courier New"/>
              </a:rPr>
              <a:t>    mad = (y - tv).abs().rolling(k, center=True, min_periods=cua_so).median()</a:t>
            </a:r>
          </a:p>
          <a:p>
            <a:r>
              <a:rPr sz="850">
                <a:solidFill>
                  <a:srgbClr val="6B7385"/>
                </a:solidFill>
                <a:latin typeface="Courier New"/>
              </a:rPr>
              <a:t>15 </a:t>
            </a:r>
            <a:r>
              <a:rPr sz="850">
                <a:solidFill>
                  <a:srgbClr val="E6EAF0"/>
                </a:solidFill>
                <a:latin typeface="Courier New"/>
              </a:rPr>
              <a:t>    diem = (y - tv).abs() / (HE_SO_MAD * mad.replace(0, np.nan))</a:t>
            </a:r>
          </a:p>
          <a:p>
            <a:r>
              <a:rPr sz="850">
                <a:solidFill>
                  <a:srgbClr val="6B7385"/>
                </a:solidFill>
                <a:latin typeface="Courier New"/>
              </a:rPr>
              <a:t>16 </a:t>
            </a:r>
            <a:r>
              <a:rPr sz="850">
                <a:solidFill>
                  <a:srgbClr val="E6EAF0"/>
                </a:solidFill>
                <a:latin typeface="Courier New"/>
              </a:rPr>
              <a:t>    return diem.fillna(0) &gt; nguong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6–9</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Khoảng cách tới trung vị, chia cho MAD.</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Trung vị của 31 ngày quanh mỗi điểm.</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MAD cũng tính trên cửa sổ đó.</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Gắn cờ điểm cách mức địa phương quá 3.</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Điểm MAD của 50 là 25,6, bắt ngay. Wikipedia: Hampel gắn cờ 121 ngày rải đều mười năm, thêm ngày giả chỉ thành 123.</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median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số đứng giữa khi xếp thứ tự, ngoại lai không kéo được.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rolling(k, center=True)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Cửa sổ k điểm đặt giữa là điểm đang xét.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hampel</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Gắn cờ điểm lệch xa trung vị quanh nó, tính theo MAD.</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3cc676484421.png"/>
          <p:cNvPicPr>
            <a:picLocks noChangeAspect="1"/>
          </p:cNvPicPr>
          <p:nvPr/>
        </p:nvPicPr>
        <p:blipFill>
          <a:blip r:embed="rId2"/>
          <a:stretch>
            <a:fillRect/>
          </a:stretch>
        </p:blipFill>
        <p:spPr>
          <a:xfrm>
            <a:off x="9244584" y="4169663"/>
            <a:ext cx="1014984" cy="329184"/>
          </a:xfrm>
          <a:prstGeom prst="rect">
            <a:avLst/>
          </a:prstGeom>
        </p:spPr>
      </p:pic>
      <p:pic>
        <p:nvPicPr>
          <p:cNvPr id="29" name="Picture 28" descr="kn-bo-loc-hampel.png"/>
          <p:cNvPicPr>
            <a:picLocks noChangeAspect="1"/>
          </p:cNvPicPr>
          <p:nvPr/>
        </p:nvPicPr>
        <p:blipFill>
          <a:blip r:embed="rId3"/>
          <a:stretch>
            <a:fillRect/>
          </a:stretch>
        </p:blipFill>
        <p:spPr>
          <a:xfrm>
            <a:off x="8047929" y="4745735"/>
            <a:ext cx="3408292" cy="1728216"/>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giữ Tết, winsorize lỗi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Ngưỡng nào cũng gắn cờ Tết; nhật ký sự kiện giữ nó lại, còn lỗi đo thì thay chứ không xoá.</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dinh = [g.idxmax() for _, g in tet.groupby(tet.index.year)]  </a:t>
            </a:r>
            <a:r>
              <a:rPr sz="950">
                <a:solidFill>
                  <a:srgbClr val="8FC99A"/>
                </a:solidFill>
                <a:latin typeface="Courier New"/>
              </a:rPr>
              <a:t># đỉnh Tết</a:t>
            </a:r>
          </a:p>
          <a:p>
            <a:r>
              <a:rPr sz="950">
                <a:solidFill>
                  <a:srgbClr val="6B7385"/>
                </a:solidFill>
                <a:latin typeface="Courier New"/>
              </a:rPr>
              <a:t> 4 </a:t>
            </a:r>
            <a:r>
              <a:rPr sz="950">
                <a:solidFill>
                  <a:srgbClr val="E6EAF0"/>
                </a:solidFill>
                <a:latin typeface="Courier New"/>
              </a:rPr>
              <a:t>[bool(hampel(tet)[d]) for d in dinh]      </a:t>
            </a:r>
            <a:r>
              <a:rPr sz="950">
                <a:solidFill>
                  <a:srgbClr val="8FC99A"/>
                </a:solidFill>
                <a:latin typeface="Courier New"/>
              </a:rPr>
              <a:t># cả 10 đỉnh bị gắn cờ</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def xu_ly_ngoai_lai(y, cua_so=15, bo_qua_su_kien=()):</a:t>
            </a:r>
          </a:p>
          <a:p>
            <a:r>
              <a:rPr sz="950">
                <a:solidFill>
                  <a:srgbClr val="6B7385"/>
                </a:solidFill>
                <a:latin typeface="Courier New"/>
              </a:rPr>
              <a:t> 7 </a:t>
            </a:r>
            <a:r>
              <a:rPr sz="950">
                <a:solidFill>
                  <a:srgbClr val="E6EAF0"/>
                </a:solidFill>
                <a:latin typeface="Courier New"/>
              </a:rPr>
              <a:t>    y = y.astype(float)</a:t>
            </a:r>
          </a:p>
          <a:p>
            <a:r>
              <a:rPr sz="950">
                <a:solidFill>
                  <a:srgbClr val="6B7385"/>
                </a:solidFill>
                <a:latin typeface="Courier New"/>
              </a:rPr>
              <a:t> 8 </a:t>
            </a:r>
            <a:r>
              <a:rPr sz="950">
                <a:solidFill>
                  <a:srgbClr val="E6EAF0"/>
                </a:solidFill>
                <a:latin typeface="Courier New"/>
              </a:rPr>
              <a:t>    su_kien = y.index.isin(pd.DatetimeIndex(bo_qua_su_kien))</a:t>
            </a:r>
          </a:p>
          <a:p>
            <a:r>
              <a:rPr sz="950">
                <a:solidFill>
                  <a:srgbClr val="6B7385"/>
                </a:solidFill>
                <a:latin typeface="Courier New"/>
              </a:rPr>
              <a:t> 9 </a:t>
            </a:r>
            <a:r>
              <a:rPr sz="950">
                <a:solidFill>
                  <a:srgbClr val="E6EAF0"/>
                </a:solidFill>
                <a:latin typeface="Courier New"/>
              </a:rPr>
              <a:t>    co = hampel(y, cua_so) &amp; ~su_kien         </a:t>
            </a:r>
            <a:r>
              <a:rPr sz="950">
                <a:solidFill>
                  <a:srgbClr val="8FC99A"/>
                </a:solidFill>
                <a:latin typeface="Courier New"/>
              </a:rPr>
              <a:t># sự kiện thật thì bỏ qua</a:t>
            </a:r>
          </a:p>
          <a:p>
            <a:r>
              <a:rPr sz="950">
                <a:solidFill>
                  <a:srgbClr val="6B7385"/>
                </a:solidFill>
                <a:latin typeface="Courier New"/>
              </a:rPr>
              <a:t>10 </a:t>
            </a:r>
            <a:r>
              <a:rPr sz="950">
                <a:solidFill>
                  <a:srgbClr val="E6EAF0"/>
                </a:solidFill>
                <a:latin typeface="Courier New"/>
              </a:rPr>
              <a:t>    k = 2 * cua_so + 1</a:t>
            </a:r>
          </a:p>
          <a:p>
            <a:r>
              <a:rPr sz="950">
                <a:solidFill>
                  <a:srgbClr val="6B7385"/>
                </a:solidFill>
                <a:latin typeface="Courier New"/>
              </a:rPr>
              <a:t>11 </a:t>
            </a:r>
            <a:r>
              <a:rPr sz="950">
                <a:solidFill>
                  <a:srgbClr val="E6EAF0"/>
                </a:solidFill>
                <a:latin typeface="Courier New"/>
              </a:rPr>
              <a:t>    tv = y.rolling(k, center=True, min_periods=cua_so).median()</a:t>
            </a:r>
          </a:p>
          <a:p>
            <a:r>
              <a:rPr sz="950">
                <a:solidFill>
                  <a:srgbClr val="6B7385"/>
                </a:solidFill>
                <a:latin typeface="Courier New"/>
              </a:rPr>
              <a:t>12 </a:t>
            </a:r>
            <a:r>
              <a:rPr sz="950">
                <a:solidFill>
                  <a:srgbClr val="E6EAF0"/>
                </a:solidFill>
                <a:latin typeface="Courier New"/>
              </a:rPr>
              <a:t>    sach = y.where(~co, tv)                   </a:t>
            </a:r>
            <a:r>
              <a:rPr sz="950">
                <a:solidFill>
                  <a:srgbClr val="8FC99A"/>
                </a:solidFill>
                <a:latin typeface="Courier New"/>
              </a:rPr>
              <a:t># winsorize, không xoá mốc</a:t>
            </a:r>
          </a:p>
          <a:p>
            <a:r>
              <a:rPr sz="950">
                <a:solidFill>
                  <a:srgbClr val="6B7385"/>
                </a:solidFill>
                <a:latin typeface="Courier New"/>
              </a:rPr>
              <a:t>13 </a:t>
            </a:r>
            <a:r>
              <a:rPr sz="950">
                <a:solidFill>
                  <a:srgbClr val="E6EAF0"/>
                </a:solidFill>
                <a:latin typeface="Courier New"/>
              </a:rPr>
              <a:t>    return pd.DataFrame({"y": y, "sach": sach, "da_sua": co})</a:t>
            </a:r>
          </a:p>
          <a:p>
            <a:r>
              <a:rPr sz="950">
                <a:solidFill>
                  <a:srgbClr val="6B7385"/>
                </a:solidFill>
                <a:latin typeface="Courier New"/>
              </a:rPr>
              <a:t>14 </a:t>
            </a:r>
          </a:p>
          <a:p>
            <a:r>
              <a:rPr sz="950">
                <a:solidFill>
                  <a:srgbClr val="6B7385"/>
                </a:solidFill>
                <a:latin typeface="Courier New"/>
              </a:rPr>
              <a:t>15 </a:t>
            </a:r>
            <a:r>
              <a:rPr sz="950">
                <a:solidFill>
                  <a:srgbClr val="E6EAF0"/>
                </a:solidFill>
                <a:latin typeface="Courier New"/>
              </a:rPr>
              <a:t>xl = xu_ly_ngoai_lai(tet, bo_qua_su_kien=dinh)</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4</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Ngày đông nhất mỗi năm chính là Tết.</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xem Hampel có gắn cờ các đỉnh không.</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Bỏ cờ ở những mốc có trong nhật ký.</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Thay điểm lỗi bằng trung vị quanh nó.</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Chạy trên bài Tết, nhật ký là mười đỉnh.</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Năm cách gắn cờ đều bắt 10/10 đỉnh Tết. Xoá theo 3σ mất 54 mốc, cả mười đỉnh; winsorize cộng nhật ký giữ đủ 3.653 mốc.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idxmax</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mốc thời gian có giá trị lớn nhất.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index.isin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Đánh dấu mốc nào nằm trong một danh sách cho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xu_ly_ngoai_lai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Gắn cờ bằng Hampel, chừa sự kiện, thay điểm lỗi bằng trung vị.</a:t>
            </a:r>
          </a:p>
        </p:txBody>
      </p:sp>
      <p:pic>
        <p:nvPicPr>
          <p:cNvPr id="29" name="Picture 28" descr="kn-winsorize.png"/>
          <p:cNvPicPr>
            <a:picLocks noChangeAspect="1"/>
          </p:cNvPicPr>
          <p:nvPr/>
        </p:nvPicPr>
        <p:blipFill>
          <a:blip r:embed="rId2"/>
          <a:stretch>
            <a:fillRect/>
          </a:stretch>
        </p:blipFill>
        <p:spPr>
          <a:xfrm>
            <a:off x="7863840" y="4603331"/>
            <a:ext cx="3776472" cy="1354657"/>
          </a:xfrm>
          <a:prstGeom prst="rect">
            <a:avLst/>
          </a:prstGeom>
        </p:spPr>
      </p:pic>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PELT, lấy log, quét penalty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mốc chuỗi đổi hẳn bằng PELT, và chỉ tin điểm gãy không đổi khi penalty đổi.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ruptures as rpt</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v = np.array([10, 11, 10, 9, 10, 20, 21, 19, 20, 20.0])</a:t>
            </a:r>
          </a:p>
          <a:p>
            <a:r>
              <a:rPr sz="850">
                <a:solidFill>
                  <a:srgbClr val="6B7385"/>
                </a:solidFill>
                <a:latin typeface="Courier New"/>
              </a:rPr>
              <a:t> 5 </a:t>
            </a:r>
            <a:r>
              <a:rPr sz="850">
                <a:solidFill>
                  <a:srgbClr val="E6EAF0"/>
                </a:solidFill>
                <a:latin typeface="Courier New"/>
              </a:rPr>
              <a:t>beta = 3 * np.log(v.size)                 </a:t>
            </a:r>
            <a:r>
              <a:rPr sz="850">
                <a:solidFill>
                  <a:srgbClr val="8FC99A"/>
                </a:solidFill>
                <a:latin typeface="Courier New"/>
              </a:rPr>
              <a:t># phí mỗi điểm gãy</a:t>
            </a:r>
          </a:p>
          <a:p>
            <a:r>
              <a:rPr sz="850">
                <a:solidFill>
                  <a:srgbClr val="6B7385"/>
                </a:solidFill>
                <a:latin typeface="Courier New"/>
              </a:rPr>
              <a:t> 6 </a:t>
            </a:r>
            <a:r>
              <a:rPr sz="850">
                <a:solidFill>
                  <a:srgbClr val="E6EAF0"/>
                </a:solidFill>
                <a:latin typeface="Courier New"/>
              </a:rPr>
              <a:t>rpt.Pelt(model="l2", min_size=2).fit(v).predict(pen=beta)</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diem_gay(y, pen=None, log=True):</a:t>
            </a:r>
          </a:p>
          <a:p>
            <a:r>
              <a:rPr sz="850">
                <a:solidFill>
                  <a:srgbClr val="6B7385"/>
                </a:solidFill>
                <a:latin typeface="Courier New"/>
              </a:rPr>
              <a:t> 9 </a:t>
            </a:r>
            <a:r>
              <a:rPr sz="850">
                <a:solidFill>
                  <a:srgbClr val="E6EAF0"/>
                </a:solidFill>
                <a:latin typeface="Courier New"/>
              </a:rPr>
              <a:t>    x = np.log(y.to_numpy(float)) if log else y.to_numpy(float)</a:t>
            </a:r>
          </a:p>
          <a:p>
            <a:r>
              <a:rPr sz="850">
                <a:solidFill>
                  <a:srgbClr val="6B7385"/>
                </a:solidFill>
                <a:latin typeface="Courier New"/>
              </a:rPr>
              <a:t>10 </a:t>
            </a:r>
            <a:r>
              <a:rPr sz="850">
                <a:solidFill>
                  <a:srgbClr val="E6EAF0"/>
                </a:solidFill>
                <a:latin typeface="Courier New"/>
              </a:rPr>
              <a:t>    pen = 3 * np.log(x.size) if pen is None else pen</a:t>
            </a:r>
          </a:p>
          <a:p>
            <a:r>
              <a:rPr sz="850">
                <a:solidFill>
                  <a:srgbClr val="6B7385"/>
                </a:solidFill>
                <a:latin typeface="Courier New"/>
              </a:rPr>
              <a:t>11 </a:t>
            </a:r>
            <a:r>
              <a:rPr sz="850">
                <a:solidFill>
                  <a:srgbClr val="E6EAF0"/>
                </a:solidFill>
                <a:latin typeface="Courier New"/>
              </a:rPr>
              <a:t>    cat = rpt.Pelt(model="l2", min_size=3).fit(x).predict(pen=pen)</a:t>
            </a:r>
          </a:p>
          <a:p>
            <a:r>
              <a:rPr sz="850">
                <a:solidFill>
                  <a:srgbClr val="6B7385"/>
                </a:solidFill>
                <a:latin typeface="Courier New"/>
              </a:rPr>
              <a:t>12 </a:t>
            </a:r>
            <a:r>
              <a:rPr sz="850">
                <a:solidFill>
                  <a:srgbClr val="E6EAF0"/>
                </a:solidFill>
                <a:latin typeface="Courier New"/>
              </a:rPr>
              <a:t>    return [y.index[i] for i in cat[:-1]]   </a:t>
            </a:r>
            <a:r>
              <a:rPr sz="850">
                <a:solidFill>
                  <a:srgbClr val="8FC99A"/>
                </a:solidFill>
                <a:latin typeface="Courier New"/>
              </a:rPr>
              <a:t># phần tử cuối là độ dài</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ln_n = np.log(len(hk))                     </a:t>
            </a:r>
            <a:r>
              <a:rPr sz="850">
                <a:solidFill>
                  <a:srgbClr val="8FC99A"/>
                </a:solidFill>
                <a:latin typeface="Courier New"/>
              </a:rPr>
              <a:t># hk: hành khách hàng không EU</a:t>
            </a:r>
          </a:p>
          <a:p>
            <a:r>
              <a:rPr sz="850">
                <a:solidFill>
                  <a:srgbClr val="6B7385"/>
                </a:solidFill>
                <a:latin typeface="Courier New"/>
              </a:rPr>
              <a:t>15 </a:t>
            </a:r>
            <a:r>
              <a:rPr sz="850">
                <a:solidFill>
                  <a:srgbClr val="E6EAF0"/>
                </a:solidFill>
                <a:latin typeface="Courier New"/>
              </a:rPr>
              <a:t>for he_so in (0.5, 1, 2, 3, 4, 6, 10):     </a:t>
            </a:r>
            <a:r>
              <a:rPr sz="850">
                <a:solidFill>
                  <a:srgbClr val="8FC99A"/>
                </a:solidFill>
                <a:latin typeface="Courier New"/>
              </a:rPr>
              <a:t># quét penalty</a:t>
            </a:r>
          </a:p>
          <a:p>
            <a:r>
              <a:rPr sz="850">
                <a:solidFill>
                  <a:srgbClr val="6B7385"/>
                </a:solidFill>
                <a:latin typeface="Courier New"/>
              </a:rPr>
              <a:t>16 </a:t>
            </a:r>
            <a:r>
              <a:rPr sz="850">
                <a:solidFill>
                  <a:srgbClr val="E6EAF0"/>
                </a:solidFill>
                <a:latin typeface="Courier New"/>
              </a:rPr>
              <a:t>    print(he_so, diem_gay(hk, pen=he_so * ln_n))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Mười số có một bậc, phí cắt là 3 ln 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PELT tìm cách cắt rẻ nhất.</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Lấy log để mùa hè đông khách thôi gãy.</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11–12</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PELT, đổi vị trí cắt thành ngày tháng.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Thử bảy mức penalty, xem điểm nào trụ lại.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ruptures trả [5, 10]. Hàng không EU: mức gốc ra 43 điểm gãy, log ra 2, ổn định từ 1 tới 4 ln n: 2/2020 (−78,7%) và 5/2021.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rpt.Pelt</a:t>
            </a:r>
            <a:r>
              <a:rPr sz="950" b="1" i="0">
                <a:solidFill>
                  <a:srgbClr val="5B6778"/>
                </a:solidFill>
                <a:latin typeface="Arial"/>
              </a:rPr>
              <a:t>   ruptures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các mốc chia chuỗi thành đoạn, mỗi mốc phải trả một khoản phạt.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predict(pen=...)</a:t>
            </a:r>
            <a:r>
              <a:rPr sz="950" b="1" i="0">
                <a:solidFill>
                  <a:srgbClr val="5B6778"/>
                </a:solidFill>
                <a:latin typeface="Arial"/>
              </a:rPr>
              <a:t>   ruptures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vị trí kết thúc từng đoạn với mức phạt cho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np.log</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logarit, biến tăng theo tỷ lệ thành tăng đều.</a:t>
            </a:r>
          </a:p>
        </p:txBody>
      </p:sp>
      <p:pic>
        <p:nvPicPr>
          <p:cNvPr id="29" name="Picture 28" descr="kn-penalty-phat.png"/>
          <p:cNvPicPr>
            <a:picLocks noChangeAspect="1"/>
          </p:cNvPicPr>
          <p:nvPr/>
        </p:nvPicPr>
        <p:blipFill>
          <a:blip r:embed="rId2"/>
          <a:stretch>
            <a:fillRect/>
          </a:stretch>
        </p:blipFill>
        <p:spPr>
          <a:xfrm>
            <a:off x="7863840" y="4560550"/>
            <a:ext cx="3776472" cy="1440219"/>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cách xử lý COVID</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Giữ mô hình cố định, chỉ đổi cách xử lý COVID, để thấy lựa chọn đó đổi dự báo ra sao.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du_bao_mua_vu_xu_huong(hoc, tam):     </a:t>
            </a:r>
            <a:r>
              <a:rPr sz="850">
                <a:solidFill>
                  <a:srgbClr val="8FC99A"/>
                </a:solidFill>
                <a:latin typeface="Courier New"/>
              </a:rPr>
              <a:t># xu hướng thẳng × mùa vụ nhân</a:t>
            </a:r>
          </a:p>
          <a:p>
            <a:r>
              <a:rPr sz="850">
                <a:solidFill>
                  <a:srgbClr val="6B7385"/>
                </a:solidFill>
                <a:latin typeface="Courier New"/>
              </a:rPr>
              <a:t> 5 </a:t>
            </a:r>
            <a:r>
              <a:rPr sz="850">
                <a:solidFill>
                  <a:srgbClr val="E6EAF0"/>
                </a:solidFill>
                <a:latin typeface="Courier New"/>
              </a:rPr>
              <a:t>    x = hoc.to_numpy(float)</a:t>
            </a:r>
          </a:p>
          <a:p>
            <a:r>
              <a:rPr sz="850">
                <a:solidFill>
                  <a:srgbClr val="6B7385"/>
                </a:solidFill>
                <a:latin typeface="Courier New"/>
              </a:rPr>
              <a:t> 6 </a:t>
            </a:r>
            <a:r>
              <a:rPr sz="850">
                <a:solidFill>
                  <a:srgbClr val="E6EAF0"/>
                </a:solidFill>
                <a:latin typeface="Courier New"/>
              </a:rPr>
              <a:t>    t = np.arange(x.size)</a:t>
            </a:r>
          </a:p>
          <a:p>
            <a:r>
              <a:rPr sz="850">
                <a:solidFill>
                  <a:srgbClr val="6B7385"/>
                </a:solidFill>
                <a:latin typeface="Courier New"/>
              </a:rPr>
              <a:t> 7 </a:t>
            </a:r>
            <a:r>
              <a:rPr sz="850">
                <a:solidFill>
                  <a:srgbClr val="E6EAF0"/>
                </a:solidFill>
                <a:latin typeface="Courier New"/>
              </a:rPr>
              <a:t>    a, b = np.polyfit(t, x, 1)</a:t>
            </a:r>
          </a:p>
          <a:p>
            <a:r>
              <a:rPr sz="850">
                <a:solidFill>
                  <a:srgbClr val="6B7385"/>
                </a:solidFill>
                <a:latin typeface="Courier New"/>
              </a:rPr>
              <a:t> 8 </a:t>
            </a:r>
            <a:r>
              <a:rPr sz="850">
                <a:solidFill>
                  <a:srgbClr val="E6EAF0"/>
                </a:solidFill>
                <a:latin typeface="Courier New"/>
              </a:rPr>
              <a:t>    he_so = pd.Series(x / np.maximum(a * t + b, 1), index=hoc.index)</a:t>
            </a:r>
          </a:p>
          <a:p>
            <a:r>
              <a:rPr sz="850">
                <a:solidFill>
                  <a:srgbClr val="6B7385"/>
                </a:solidFill>
                <a:latin typeface="Courier New"/>
              </a:rPr>
              <a:t> 9 </a:t>
            </a:r>
            <a:r>
              <a:rPr sz="850">
                <a:solidFill>
                  <a:srgbClr val="E6EAF0"/>
                </a:solidFill>
                <a:latin typeface="Courier New"/>
              </a:rPr>
              <a:t>    he_so = he_so.groupby(hoc.index.month).mean()</a:t>
            </a:r>
          </a:p>
          <a:p>
            <a:r>
              <a:rPr sz="850">
                <a:solidFill>
                  <a:srgbClr val="6B7385"/>
                </a:solidFill>
                <a:latin typeface="Courier New"/>
              </a:rPr>
              <a:t>10 </a:t>
            </a:r>
            <a:r>
              <a:rPr sz="850">
                <a:solidFill>
                  <a:srgbClr val="E6EAF0"/>
                </a:solidFill>
                <a:latin typeface="Courier New"/>
              </a:rPr>
              <a:t>    moc = pd.date_range(hoc.index[-1], periods=tam + 1, freq="MS")[1:]</a:t>
            </a:r>
          </a:p>
          <a:p>
            <a:r>
              <a:rPr sz="850">
                <a:solidFill>
                  <a:srgbClr val="6B7385"/>
                </a:solidFill>
                <a:latin typeface="Courier New"/>
              </a:rPr>
              <a:t>11 </a:t>
            </a:r>
            <a:r>
              <a:rPr sz="850">
                <a:solidFill>
                  <a:srgbClr val="E6EAF0"/>
                </a:solidFill>
                <a:latin typeface="Courier New"/>
              </a:rPr>
              <a:t>    return np.array([(a * (x.size + i) + b) * he_so[m.month]</a:t>
            </a:r>
          </a:p>
          <a:p>
            <a:r>
              <a:rPr sz="850">
                <a:solidFill>
                  <a:srgbClr val="6B7385"/>
                </a:solidFill>
                <a:latin typeface="Courier New"/>
              </a:rPr>
              <a:t>12 </a:t>
            </a:r>
            <a:r>
              <a:rPr sz="850">
                <a:solidFill>
                  <a:srgbClr val="E6EAF0"/>
                </a:solidFill>
                <a:latin typeface="Courier New"/>
              </a:rPr>
              <a:t>                     for i, m in enumerate(moc)])</a:t>
            </a:r>
          </a:p>
          <a:p>
            <a:r>
              <a:rPr sz="850">
                <a:solidFill>
                  <a:srgbClr val="6B7385"/>
                </a:solidFill>
                <a:latin typeface="Courier New"/>
              </a:rPr>
              <a:t>13 </a:t>
            </a:r>
            <a:r>
              <a:rPr sz="850">
                <a:solidFill>
                  <a:srgbClr val="E6EAF0"/>
                </a:solidFill>
                <a:latin typeface="Courier New"/>
              </a:rPr>
              <a:t>hoc = hk[hk.index &lt; "2023-01-01"]         </a:t>
            </a:r>
            <a:r>
              <a:rPr sz="850">
                <a:solidFill>
                  <a:srgbClr val="8FC99A"/>
                </a:solidFill>
                <a:latin typeface="Courier New"/>
              </a:rPr>
              <a:t># học tới hết 2022</a:t>
            </a:r>
          </a:p>
          <a:p>
            <a:r>
              <a:rPr sz="850">
                <a:solidFill>
                  <a:srgbClr val="6B7385"/>
                </a:solidFill>
                <a:latin typeface="Courier New"/>
              </a:rPr>
              <a:t>14 </a:t>
            </a:r>
            <a:r>
              <a:rPr sz="850">
                <a:solidFill>
                  <a:srgbClr val="E6EAF0"/>
                </a:solidFill>
                <a:latin typeface="Courier New"/>
              </a:rPr>
              <a:t>covid = (hoc.index &gt;= "2020-03-01") &amp; (hoc.index &lt;= "2021-06-30")</a:t>
            </a:r>
          </a:p>
          <a:p>
            <a:r>
              <a:rPr sz="850">
                <a:solidFill>
                  <a:srgbClr val="6B7385"/>
                </a:solidFill>
                <a:latin typeface="Courier New"/>
              </a:rPr>
              <a:t>15 </a:t>
            </a:r>
            <a:r>
              <a:rPr sz="850">
                <a:solidFill>
                  <a:srgbClr val="E6EAF0"/>
                </a:solidFill>
                <a:latin typeface="Courier New"/>
              </a:rPr>
              <a:t>cach = {"giữ nguyên": hoc, "coi là thiếu": hoc.mask(covid).interpolate(),</a:t>
            </a:r>
          </a:p>
          <a:p>
            <a:r>
              <a:rPr sz="850">
                <a:solidFill>
                  <a:srgbClr val="6B7385"/>
                </a:solidFill>
                <a:latin typeface="Courier New"/>
              </a:rPr>
              <a:t>16 </a:t>
            </a:r>
            <a:r>
              <a:rPr sz="850">
                <a:solidFill>
                  <a:srgbClr val="E6EAF0"/>
                </a:solidFill>
                <a:latin typeface="Courier New"/>
              </a:rPr>
              <a:t>        "cắt": hoc[hoc.index &gt; "2021-06-30"]}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một đường thẳng làm xu hướng.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Mỗi tháng là một tỷ lệ so với xu hướng.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Kéo dài xu hướng, nhân hệ số tháng.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Đánh dấu 16 tháng COVID.</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Ba cách: giữ, coi là thiếu rồi nội suy, cắt.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MAPE 2023: coi là thiếu 8,71%, giữ nguyên 24,01%. Giữ nguyên thì 16 tháng sụt kéo xu hướng xuống, dự báo thấp gần 20 triệu khách/tháng.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np.polyfit(t, x, 1)</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đường thẳng khớp dữ liệu nhất, trả độ dốc và tung độ gốc.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groupby(month).mean()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từng tháng trong năm.</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mask().interpolate()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Coi đoạn đã chọn là thiếu rồi nối thẳng qua nó.</a:t>
            </a:r>
          </a:p>
        </p:txBody>
      </p:sp>
      <p:pic>
        <p:nvPicPr>
          <p:cNvPr id="29" name="Picture 28" descr="ba-cach-covid.png"/>
          <p:cNvPicPr>
            <a:picLocks noChangeAspect="1"/>
          </p:cNvPicPr>
          <p:nvPr/>
        </p:nvPicPr>
        <p:blipFill>
          <a:blip r:embed="rId2"/>
          <a:stretch>
            <a:fillRect/>
          </a:stretch>
        </p:blipFill>
        <p:spPr>
          <a:xfrm>
            <a:off x="7863840" y="4695410"/>
            <a:ext cx="3776472" cy="1170498"/>
          </a:xfrm>
          <a:prstGeom prst="rect">
            <a:avLst/>
          </a:prstGeom>
        </p:spPr>
      </p:pic>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trailing và centered</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kiểu centered viết lại quá khứ khi có số mới, còn trailing thì không.</a:t>
            </a:r>
          </a:p>
        </p:txBody>
      </p:sp>
      <p:sp>
        <p:nvSpPr>
          <p:cNvPr id="6" name="Rounded Rectangle 5"/>
          <p:cNvSpPr/>
          <p:nvPr/>
        </p:nvSpPr>
        <p:spPr>
          <a:xfrm>
            <a:off x="548640" y="1737360"/>
            <a:ext cx="7086600" cy="205092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730882"/>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y = pd.Series([10, 12, 14, 30, 16], index=range(1, 6), dtype=float)</a:t>
            </a:r>
          </a:p>
          <a:p>
            <a:r>
              <a:rPr sz="1050">
                <a:solidFill>
                  <a:srgbClr val="6B7385"/>
                </a:solidFill>
                <a:latin typeface="Courier New"/>
              </a:rPr>
              <a:t> 4 </a:t>
            </a:r>
            <a:r>
              <a:rPr sz="1050">
                <a:solidFill>
                  <a:srgbClr val="E6EAF0"/>
                </a:solidFill>
                <a:latin typeface="Courier New"/>
              </a:rPr>
              <a:t>trailing = y.rolling(3).mean()                </a:t>
            </a:r>
            <a:r>
              <a:rPr sz="1050">
                <a:solidFill>
                  <a:srgbClr val="8FC99A"/>
                </a:solidFill>
                <a:latin typeface="Courier New"/>
              </a:rPr>
              <a:t># chỉ quá khứ, nhưng trễ</a:t>
            </a:r>
          </a:p>
          <a:p>
            <a:r>
              <a:rPr sz="1050">
                <a:solidFill>
                  <a:srgbClr val="6B7385"/>
                </a:solidFill>
                <a:latin typeface="Courier New"/>
              </a:rPr>
              <a:t> 5 </a:t>
            </a:r>
            <a:r>
              <a:rPr sz="1050">
                <a:solidFill>
                  <a:srgbClr val="E6EAF0"/>
                </a:solidFill>
                <a:latin typeface="Courier New"/>
              </a:rPr>
              <a:t>centered = y.rolling(3, center=True).mean()   </a:t>
            </a:r>
            <a:r>
              <a:rPr sz="1050">
                <a:solidFill>
                  <a:srgbClr val="8FC99A"/>
                </a:solidFill>
                <a:latin typeface="Courier New"/>
              </a:rPr>
              <a:t># nửa cửa sổ ở tương lai</a:t>
            </a:r>
          </a:p>
          <a:p>
            <a:r>
              <a:rPr sz="1050">
                <a:solidFill>
                  <a:srgbClr val="6B7385"/>
                </a:solidFill>
                <a:latin typeface="Courier New"/>
              </a:rPr>
              <a:t> 6 </a:t>
            </a:r>
          </a:p>
          <a:p>
            <a:r>
              <a:rPr sz="1050">
                <a:solidFill>
                  <a:srgbClr val="6B7385"/>
                </a:solidFill>
                <a:latin typeface="Courier New"/>
              </a:rPr>
              <a:t> 7 </a:t>
            </a:r>
            <a:r>
              <a:rPr sz="1050">
                <a:solidFill>
                  <a:srgbClr val="E6EAF0"/>
                </a:solidFill>
                <a:latin typeface="Courier New"/>
              </a:rPr>
              <a:t>y2 = y.copy()</a:t>
            </a:r>
          </a:p>
          <a:p>
            <a:r>
              <a:rPr sz="1050">
                <a:solidFill>
                  <a:srgbClr val="6B7385"/>
                </a:solidFill>
                <a:latin typeface="Courier New"/>
              </a:rPr>
              <a:t> 8 </a:t>
            </a:r>
            <a:r>
              <a:rPr sz="1050">
                <a:solidFill>
                  <a:srgbClr val="E6EAF0"/>
                </a:solidFill>
                <a:latin typeface="Courier New"/>
              </a:rPr>
              <a:t>y2[5] = 40                                    </a:t>
            </a:r>
            <a:r>
              <a:rPr sz="1050">
                <a:solidFill>
                  <a:srgbClr val="8FC99A"/>
                </a:solidFill>
                <a:latin typeface="Courier New"/>
              </a:rPr>
              <a:t># số mới về khác đi</a:t>
            </a:r>
          </a:p>
          <a:p>
            <a:r>
              <a:rPr sz="1050">
                <a:solidFill>
                  <a:srgbClr val="6B7385"/>
                </a:solidFill>
                <a:latin typeface="Courier New"/>
              </a:rPr>
              <a:t> 9 </a:t>
            </a:r>
            <a:r>
              <a:rPr sz="1050">
                <a:solidFill>
                  <a:srgbClr val="E6EAF0"/>
                </a:solidFill>
                <a:latin typeface="Courier New"/>
              </a:rPr>
              <a:t>y2.rolling(3).mean()[4]                       </a:t>
            </a:r>
            <a:r>
              <a:rPr sz="1050">
                <a:solidFill>
                  <a:srgbClr val="8FC99A"/>
                </a:solidFill>
                <a:latin typeface="Courier New"/>
              </a:rPr>
              <a:t># giờ 4 giữ nguyên</a:t>
            </a:r>
          </a:p>
          <a:p>
            <a:r>
              <a:rPr sz="1050">
                <a:solidFill>
                  <a:srgbClr val="6B7385"/>
                </a:solidFill>
                <a:latin typeface="Courier New"/>
              </a:rPr>
              <a:t>10 </a:t>
            </a:r>
            <a:r>
              <a:rPr sz="1050">
                <a:solidFill>
                  <a:srgbClr val="E6EAF0"/>
                </a:solidFill>
                <a:latin typeface="Courier New"/>
              </a:rPr>
              <a:t>y2.rolling(3, center=True).mean()[4]          </a:t>
            </a:r>
            <a:r>
              <a:rPr sz="1050">
                <a:solidFill>
                  <a:srgbClr val="8FC99A"/>
                </a:solidFill>
                <a:latin typeface="Courier New"/>
              </a:rPr>
              <a:t># giờ 4 bị viết lại</a:t>
            </a:r>
          </a:p>
        </p:txBody>
      </p:sp>
      <p:sp>
        <p:nvSpPr>
          <p:cNvPr id="8" name="TextBox 7"/>
          <p:cNvSpPr txBox="1"/>
          <p:nvPr/>
        </p:nvSpPr>
        <p:spPr>
          <a:xfrm>
            <a:off x="685800" y="354139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1</a:t>
            </a:r>
          </a:p>
        </p:txBody>
      </p:sp>
      <p:sp>
        <p:nvSpPr>
          <p:cNvPr id="9" name="TextBox 8"/>
          <p:cNvSpPr txBox="1"/>
          <p:nvPr/>
        </p:nvSpPr>
        <p:spPr>
          <a:xfrm>
            <a:off x="548640" y="3898011"/>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Năm giờ điện, giờ 4 vọt lên 30.</a:t>
            </a:r>
          </a:p>
        </p:txBody>
      </p:sp>
      <p:sp>
        <p:nvSpPr>
          <p:cNvPr id="12" name="Rounded Rectangle 11"/>
          <p:cNvSpPr/>
          <p:nvPr/>
        </p:nvSpPr>
        <p:spPr>
          <a:xfrm>
            <a:off x="54864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3" name="TextBox 12"/>
          <p:cNvSpPr txBox="1"/>
          <p:nvPr/>
        </p:nvSpPr>
        <p:spPr>
          <a:xfrm>
            <a:off x="135331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Hai kiểu trung bình trượt ba điểm.</a:t>
            </a:r>
          </a:p>
        </p:txBody>
      </p:sp>
      <p:sp>
        <p:nvSpPr>
          <p:cNvPr id="14" name="Rounded Rectangle 13"/>
          <p:cNvSpPr/>
          <p:nvPr/>
        </p:nvSpPr>
        <p:spPr>
          <a:xfrm>
            <a:off x="416052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496519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riêng giờ cuối từ 16 thành 40.</a:t>
            </a:r>
          </a:p>
        </p:txBody>
      </p:sp>
      <p:sp>
        <p:nvSpPr>
          <p:cNvPr id="16" name="Rounded Rectangle 15"/>
          <p:cNvSpPr/>
          <p:nvPr/>
        </p:nvSpPr>
        <p:spPr>
          <a:xfrm>
            <a:off x="416052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Xem giá trị của giờ 4 có đổi theo không.</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3 kiểu centered ra 18,67 vì đã cộng số 30 của giờ 4. Đổi giờ 5 thành 40: centered giờ 4 nhảy từ 20 lên 28, trailing vẫn 18,67.</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rolling(3).mean()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ba điểm: điểm đang xét và hai điểm trước.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rolling(3, center=True)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Cửa sổ đặt giữa, nên dùng cả điểm ngay sau.</a:t>
            </a:r>
          </a:p>
        </p:txBody>
      </p:sp>
      <p:sp>
        <p:nvSpPr>
          <p:cNvPr id="25" name="Rounded Rectangle 24"/>
          <p:cNvSpPr/>
          <p:nvPr/>
        </p:nvSpPr>
        <p:spPr>
          <a:xfrm>
            <a:off x="7863840" y="3401567"/>
            <a:ext cx="3776472" cy="7437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8800babcb00d.png"/>
          <p:cNvPicPr>
            <a:picLocks noChangeAspect="1"/>
          </p:cNvPicPr>
          <p:nvPr/>
        </p:nvPicPr>
        <p:blipFill>
          <a:blip r:embed="rId2"/>
          <a:stretch>
            <a:fillRect/>
          </a:stretch>
        </p:blipFill>
        <p:spPr>
          <a:xfrm>
            <a:off x="9294876" y="3456431"/>
            <a:ext cx="914400" cy="633984"/>
          </a:xfrm>
          <a:prstGeom prst="rect">
            <a:avLst/>
          </a:prstGeom>
        </p:spPr>
      </p:pic>
      <p:pic>
        <p:nvPicPr>
          <p:cNvPr id="27" name="Picture 26" descr="kn-bo-loc-nhan-qua.png"/>
          <p:cNvPicPr>
            <a:picLocks noChangeAspect="1"/>
          </p:cNvPicPr>
          <p:nvPr/>
        </p:nvPicPr>
        <p:blipFill>
          <a:blip r:embed="rId3"/>
          <a:stretch>
            <a:fillRect/>
          </a:stretch>
        </p:blipFill>
        <p:spPr>
          <a:xfrm>
            <a:off x="7863840" y="4405632"/>
            <a:ext cx="3776472" cy="1945126"/>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đọc phổ bằng Welch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Trước khi lọc, đo xem dao động nhanh chiếm bao nhiêu năng lượng và nhịp nào mạnh nhất.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FS = 6.0                                  </a:t>
            </a:r>
            <a:r>
              <a:rPr sz="850">
                <a:solidFill>
                  <a:srgbClr val="8FC99A"/>
                </a:solidFill>
                <a:latin typeface="Courier New"/>
              </a:rPr>
              <a:t># 6 mẫu mỗi giờ (10 phút/mẫu)</a:t>
            </a:r>
          </a:p>
          <a:p>
            <a:r>
              <a:rPr sz="850">
                <a:solidFill>
                  <a:srgbClr val="6B7385"/>
                </a:solidFill>
                <a:latin typeface="Courier New"/>
              </a:rPr>
              <a:t> 5 </a:t>
            </a:r>
            <a:r>
              <a:rPr sz="850">
                <a:solidFill>
                  <a:srgbClr val="E6EAF0"/>
                </a:solidFill>
                <a:latin typeface="Courier New"/>
              </a:rPr>
              <a:t>for v in ([1, -1, 1, -1, 1, -1], [1, 1, 1, -1, -1, -1]):</a:t>
            </a:r>
          </a:p>
          <a:p>
            <a:r>
              <a:rPr sz="850">
                <a:solidFill>
                  <a:srgbClr val="6B7385"/>
                </a:solidFill>
                <a:latin typeface="Courier New"/>
              </a:rPr>
              <a:t> 6 </a:t>
            </a:r>
            <a:r>
              <a:rPr sz="850">
                <a:solidFill>
                  <a:srgbClr val="E6EAF0"/>
                </a:solidFill>
                <a:latin typeface="Courier New"/>
              </a:rPr>
              <a:t>    f, P = signal.periodogram(v)</a:t>
            </a:r>
          </a:p>
          <a:p>
            <a:r>
              <a:rPr sz="850">
                <a:solidFill>
                  <a:srgbClr val="6B7385"/>
                </a:solidFill>
                <a:latin typeface="Courier New"/>
              </a:rPr>
              <a:t> 7 </a:t>
            </a:r>
            <a:r>
              <a:rPr sz="850">
                <a:solidFill>
                  <a:srgbClr val="E6EAF0"/>
                </a:solidFill>
                <a:latin typeface="Courier New"/>
              </a:rPr>
              <a:t>    f[np.argmax(P)]                       </a:t>
            </a:r>
            <a:r>
              <a:rPr sz="850">
                <a:solidFill>
                  <a:srgbClr val="8FC99A"/>
                </a:solidFill>
                <a:latin typeface="Courier New"/>
              </a:rPr>
              <a:t># tần số mạnh nhất</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pho(y, fs=FS, nperseg=2048):          </a:t>
            </a:r>
            <a:r>
              <a:rPr sz="850">
                <a:solidFill>
                  <a:srgbClr val="8FC99A"/>
                </a:solidFill>
                <a:latin typeface="Courier New"/>
              </a:rPr>
              <a:t># trừ trung bình trước</a:t>
            </a:r>
          </a:p>
          <a:p>
            <a:r>
              <a:rPr sz="850">
                <a:solidFill>
                  <a:srgbClr val="6B7385"/>
                </a:solidFill>
                <a:latin typeface="Courier New"/>
              </a:rPr>
              <a:t>10 </a:t>
            </a:r>
            <a:r>
              <a:rPr sz="850">
                <a:solidFill>
                  <a:srgbClr val="E6EAF0"/>
                </a:solidFill>
                <a:latin typeface="Courier New"/>
              </a:rPr>
              <a:t>    y = np.asarray(y, dtype=float)</a:t>
            </a:r>
          </a:p>
          <a:p>
            <a:r>
              <a:rPr sz="850">
                <a:solidFill>
                  <a:srgbClr val="6B7385"/>
                </a:solidFill>
                <a:latin typeface="Courier New"/>
              </a:rPr>
              <a:t>11 </a:t>
            </a:r>
            <a:r>
              <a:rPr sz="850">
                <a:solidFill>
                  <a:srgbClr val="E6EAF0"/>
                </a:solidFill>
                <a:latin typeface="Courier New"/>
              </a:rPr>
              <a:t>    y = y - np.nanmean(y)</a:t>
            </a:r>
          </a:p>
          <a:p>
            <a:r>
              <a:rPr sz="850">
                <a:solidFill>
                  <a:srgbClr val="6B7385"/>
                </a:solidFill>
                <a:latin typeface="Courier New"/>
              </a:rPr>
              <a:t>12 </a:t>
            </a:r>
            <a:r>
              <a:rPr sz="850">
                <a:solidFill>
                  <a:srgbClr val="E6EAF0"/>
                </a:solidFill>
                <a:latin typeface="Courier New"/>
              </a:rPr>
              <a:t>    return signal.welch(y, fs=fs, nperseg=min(nperseg, y.size))</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f, P = pho(dien)                          </a:t>
            </a:r>
            <a:r>
              <a:rPr sz="850">
                <a:solidFill>
                  <a:srgbClr val="8FC99A"/>
                </a:solidFill>
                <a:latin typeface="Courier New"/>
              </a:rPr>
              <a:t># dien: điện thiết bị, Wh</a:t>
            </a:r>
          </a:p>
          <a:p>
            <a:r>
              <a:rPr sz="850">
                <a:solidFill>
                  <a:srgbClr val="6B7385"/>
                </a:solidFill>
                <a:latin typeface="Courier New"/>
              </a:rPr>
              <a:t>15 </a:t>
            </a:r>
            <a:r>
              <a:rPr sz="850">
                <a:solidFill>
                  <a:srgbClr val="E6EAF0"/>
                </a:solidFill>
                <a:latin typeface="Courier New"/>
              </a:rPr>
              <a:t>chu_ky_manh = 1 / f[1:][np.argmax(P[1:])]  </a:t>
            </a:r>
            <a:r>
              <a:rPr sz="850">
                <a:solidFill>
                  <a:srgbClr val="8FC99A"/>
                </a:solidFill>
                <a:latin typeface="Courier New"/>
              </a:rPr>
              <a:t># tính bằng giờ</a:t>
            </a:r>
          </a:p>
          <a:p>
            <a:r>
              <a:rPr sz="850">
                <a:solidFill>
                  <a:srgbClr val="6B7385"/>
                </a:solidFill>
                <a:latin typeface="Courier New"/>
              </a:rPr>
              <a:t>16 </a:t>
            </a:r>
            <a:r>
              <a:rPr sz="850">
                <a:solidFill>
                  <a:srgbClr val="E6EAF0"/>
                </a:solidFill>
                <a:latin typeface="Courier New"/>
              </a:rPr>
              <a:t>nhanh = P[f &gt; 1].sum() / P[1:].sum()      </a:t>
            </a:r>
            <a:r>
              <a:rPr sz="850">
                <a:solidFill>
                  <a:srgbClr val="8FC99A"/>
                </a:solidFill>
                <a:latin typeface="Courier New"/>
              </a:rPr>
              <a:t># phần năng lượng dưới 1 giờ</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Hai dãy tay: lặp mỗi 2 bước và mỗi 6 bước.</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Trừ trung bình để tần số 0 không át hết.</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Chu kỳ mạnh nhất, bỏ qua tần số 0.</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Tỷ lệ năng lượng ở dao động nhanh hơn 1 giờ.</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đỉnh ở 0,5 và 1/6. Cả hai cảm biến có đỉnh 24,38 giờ; điện thiết bị có 17,8% năng lượng dưới 1 giờ, nhiệt độ phòng 0,0.</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signal.periodogram</a:t>
            </a:r>
            <a:r>
              <a:rPr sz="950" b="1" i="0">
                <a:solidFill>
                  <a:srgbClr val="5B6778"/>
                </a:solidFill>
                <a:latin typeface="Arial"/>
              </a:rPr>
              <a:t>   scipy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năng lượng của từng tần số trong một dãy số.</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signal.welch</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Phổ ổn định: chia chuỗi thành đoạn, lấy trung bình phổ các đoạn.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np.argmax</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Vị trí của giá trị lớn nhất.</a:t>
            </a:r>
          </a:p>
        </p:txBody>
      </p:sp>
      <p:pic>
        <p:nvPicPr>
          <p:cNvPr id="27" name="Picture 26" descr="kn-periodogram-welch.png"/>
          <p:cNvPicPr>
            <a:picLocks noChangeAspect="1"/>
          </p:cNvPicPr>
          <p:nvPr/>
        </p:nvPicPr>
        <p:blipFill>
          <a:blip r:embed="rId2"/>
          <a:stretch>
            <a:fillRect/>
          </a:stretch>
        </p:blipFill>
        <p:spPr>
          <a:xfrm>
            <a:off x="7863840" y="4336542"/>
            <a:ext cx="3776472" cy="1888236"/>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lọc thông thấp rồi mới hạ mẫu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Hạ mẫu thô làm dao động nhanh gập thành chu kỳ giả; lọc trước thì chu kỳ đó biến mất.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r>
              <a:rPr sz="850">
                <a:solidFill>
                  <a:srgbClr val="E6EAF0"/>
                </a:solidFill>
                <a:latin typeface="Courier New"/>
              </a:rPr>
              <a:t>FS = 6.0                                   </a:t>
            </a:r>
            <a:r>
              <a:rPr sz="850">
                <a:solidFill>
                  <a:srgbClr val="8FC99A"/>
                </a:solidFill>
                <a:latin typeface="Courier New"/>
              </a:rPr>
              <a:t># 6 mẫu mỗi giờ</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f_gia(f, fs):                          </a:t>
            </a:r>
            <a:r>
              <a:rPr sz="850">
                <a:solidFill>
                  <a:srgbClr val="8FC99A"/>
                </a:solidFill>
                <a:latin typeface="Courier New"/>
              </a:rPr>
              <a:t># tần số giả sau khi lấy mẫu</a:t>
            </a:r>
          </a:p>
          <a:p>
            <a:r>
              <a:rPr sz="850">
                <a:solidFill>
                  <a:srgbClr val="6B7385"/>
                </a:solidFill>
                <a:latin typeface="Courier New"/>
              </a:rPr>
              <a:t> 6 </a:t>
            </a:r>
            <a:r>
              <a:rPr sz="850">
                <a:solidFill>
                  <a:srgbClr val="E6EAF0"/>
                </a:solidFill>
                <a:latin typeface="Courier New"/>
              </a:rPr>
              <a:t>    return abs(f - round(f / fs) * fs)</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ha_mau(y, buoc=6, loc_truoc=True):</a:t>
            </a:r>
          </a:p>
          <a:p>
            <a:r>
              <a:rPr sz="850">
                <a:solidFill>
                  <a:srgbClr val="6B7385"/>
                </a:solidFill>
                <a:latin typeface="Courier New"/>
              </a:rPr>
              <a:t> 9 </a:t>
            </a:r>
            <a:r>
              <a:rPr sz="850">
                <a:solidFill>
                  <a:srgbClr val="E6EAF0"/>
                </a:solidFill>
                <a:latin typeface="Courier New"/>
              </a:rPr>
              <a:t>    y = np.asarray(y, dtype=float)</a:t>
            </a:r>
          </a:p>
          <a:p>
            <a:r>
              <a:rPr sz="850">
                <a:solidFill>
                  <a:srgbClr val="6B7385"/>
                </a:solidFill>
                <a:latin typeface="Courier New"/>
              </a:rPr>
              <a:t>10 </a:t>
            </a:r>
            <a:r>
              <a:rPr sz="850">
                <a:solidFill>
                  <a:srgbClr val="E6EAF0"/>
                </a:solidFill>
                <a:latin typeface="Courier New"/>
              </a:rPr>
              <a:t>    if not loc_truoc:</a:t>
            </a:r>
          </a:p>
          <a:p>
            <a:r>
              <a:rPr sz="850">
                <a:solidFill>
                  <a:srgbClr val="6B7385"/>
                </a:solidFill>
                <a:latin typeface="Courier New"/>
              </a:rPr>
              <a:t>11 </a:t>
            </a:r>
            <a:r>
              <a:rPr sz="850">
                <a:solidFill>
                  <a:srgbClr val="E6EAF0"/>
                </a:solidFill>
                <a:latin typeface="Courier New"/>
              </a:rPr>
              <a:t>        return y[::buoc]                   </a:t>
            </a:r>
            <a:r>
              <a:rPr sz="850">
                <a:solidFill>
                  <a:srgbClr val="8FC99A"/>
                </a:solidFill>
                <a:latin typeface="Courier New"/>
              </a:rPr>
              <a:t># hạ mẫu thô</a:t>
            </a:r>
          </a:p>
          <a:p>
            <a:r>
              <a:rPr sz="850">
                <a:solidFill>
                  <a:srgbClr val="6B7385"/>
                </a:solidFill>
                <a:latin typeface="Courier New"/>
              </a:rPr>
              <a:t>12 </a:t>
            </a:r>
            <a:r>
              <a:rPr sz="850">
                <a:solidFill>
                  <a:srgbClr val="E6EAF0"/>
                </a:solidFill>
                <a:latin typeface="Courier New"/>
              </a:rPr>
              <a:t>    sos = signal.butter(8, 0.8 * FS / buoc / 2, fs=FS, output="sos")</a:t>
            </a:r>
          </a:p>
          <a:p>
            <a:r>
              <a:rPr sz="850">
                <a:solidFill>
                  <a:srgbClr val="6B7385"/>
                </a:solidFill>
                <a:latin typeface="Courier New"/>
              </a:rPr>
              <a:t>13 </a:t>
            </a:r>
            <a:r>
              <a:rPr sz="850">
                <a:solidFill>
                  <a:srgbClr val="E6EAF0"/>
                </a:solidFill>
                <a:latin typeface="Courier New"/>
              </a:rPr>
              <a:t>    return signal.sosfiltfilt(sos, y)[::buoc]   </a:t>
            </a:r>
            <a:r>
              <a:rPr sz="850">
                <a:solidFill>
                  <a:srgbClr val="8FC99A"/>
                </a:solidFill>
                <a:latin typeface="Courier New"/>
              </a:rPr>
              <a:t># hai chiều: chỉ lịch sử</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t = np.arange(6000) / FS                   </a:t>
            </a:r>
            <a:r>
              <a:rPr sz="850">
                <a:solidFill>
                  <a:srgbClr val="8FC99A"/>
                </a:solidFill>
                <a:latin typeface="Courier New"/>
              </a:rPr>
              <a:t># thời gian, tính bằng giờ</a:t>
            </a:r>
          </a:p>
          <a:p>
            <a:r>
              <a:rPr sz="850">
                <a:solidFill>
                  <a:srgbClr val="6B7385"/>
                </a:solidFill>
                <a:latin typeface="Courier New"/>
              </a:rPr>
              <a:t>16 </a:t>
            </a:r>
            <a:r>
              <a:rPr sz="850">
                <a:solidFill>
                  <a:srgbClr val="E6EAF0"/>
                </a:solidFill>
                <a:latin typeface="Courier New"/>
              </a:rPr>
              <a:t>y = 20 + 2 * np.sin(2 * np.pi * t / 24) + 0.5 * np.sin(2 * np.pi * 1.4 * t)</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tần số bị gập về sau khi lấy mẫu.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Lấy mỗi 6 mẫu một: dễ sinh chu kỳ giả.</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Bộ lọc cắt ở 0,8 lần Nyquist mới.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Lọc hai chiều rồi mới lấy mẫu.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Nhịp ngày cộng dao động 1,4 chu kỳ/giờ.</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1,4 chu kỳ/giờ lấy mẫu mỗi giờ gập thành 0,4: chu kỳ giả 2,5 giờ, công suất 64,0 khi hạ mẫu thô và 0,0 khi lọc trước.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signal.butter</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Thiết kế bộ lọc Butterworth: giữ tần số thấp, chặn tần số cao.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signal.sosfiltfilt</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Lọc xuôi rồi lọc ngược: không trễ nhưng dùng cả tương lai.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y[::buoc]</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một phần tử sau mỗi buoc phần tử.</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19d5f073c2b.png"/>
          <p:cNvPicPr>
            <a:picLocks noChangeAspect="1"/>
          </p:cNvPicPr>
          <p:nvPr/>
        </p:nvPicPr>
        <p:blipFill>
          <a:blip r:embed="rId2"/>
          <a:stretch>
            <a:fillRect/>
          </a:stretch>
        </p:blipFill>
        <p:spPr>
          <a:xfrm>
            <a:off x="9073895" y="4213859"/>
            <a:ext cx="1356360" cy="240791"/>
          </a:xfrm>
          <a:prstGeom prst="rect">
            <a:avLst/>
          </a:prstGeom>
        </p:spPr>
      </p:pic>
      <p:pic>
        <p:nvPicPr>
          <p:cNvPr id="31" name="Picture 30" descr="kn-aliasing.png"/>
          <p:cNvPicPr>
            <a:picLocks noChangeAspect="1"/>
          </p:cNvPicPr>
          <p:nvPr/>
        </p:nvPicPr>
        <p:blipFill>
          <a:blip r:embed="rId3"/>
          <a:stretch>
            <a:fillRect/>
          </a:stretch>
        </p:blipFill>
        <p:spPr>
          <a:xfrm>
            <a:off x="8129767" y="4745735"/>
            <a:ext cx="3244617" cy="1728216"/>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sáu họ bộ lọc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các họ bộ lọc trên cùng chuỗi mô phỏng để so độ trơn, độ trễ và việc nhìn tương lai.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r>
              <a:rPr sz="850">
                <a:solidFill>
                  <a:srgbClr val="E6EAF0"/>
                </a:solidFill>
                <a:latin typeface="Courier New"/>
              </a:rPr>
              <a:t>from statsmodels.tsa.statespace.structural import UnobservedComponents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s = pd.Series(mp)                    </a:t>
            </a:r>
            <a:r>
              <a:rPr sz="850">
                <a:solidFill>
                  <a:srgbClr val="8FC99A"/>
                </a:solidFill>
                <a:latin typeface="Courier New"/>
              </a:rPr>
              <a:t># mp: mô phỏng có nhiễu, seed 0</a:t>
            </a:r>
          </a:p>
          <a:p>
            <a:r>
              <a:rPr sz="850">
                <a:solidFill>
                  <a:srgbClr val="6B7385"/>
                </a:solidFill>
                <a:latin typeface="Courier New"/>
              </a:rPr>
              <a:t> 6 </a:t>
            </a:r>
            <a:r>
              <a:rPr sz="850">
                <a:solidFill>
                  <a:srgbClr val="E6EAF0"/>
                </a:solidFill>
                <a:latin typeface="Courier New"/>
              </a:rPr>
              <a:t>sos = signal.butter(4, 0.05, output="sos")        </a:t>
            </a:r>
            <a:r>
              <a:rPr sz="850">
                <a:solidFill>
                  <a:srgbClr val="8FC99A"/>
                </a:solidFill>
                <a:latin typeface="Courier New"/>
              </a:rPr>
              <a:t># Butterworth bậc 4</a:t>
            </a:r>
          </a:p>
          <a:p>
            <a:r>
              <a:rPr sz="850">
                <a:solidFill>
                  <a:srgbClr val="6B7385"/>
                </a:solidFill>
                <a:latin typeface="Courier New"/>
              </a:rPr>
              <a:t> 7 </a:t>
            </a:r>
            <a:r>
              <a:rPr sz="850">
                <a:solidFill>
                  <a:srgbClr val="E6EAF0"/>
                </a:solidFill>
                <a:latin typeface="Courier New"/>
              </a:rPr>
              <a:t>uc = UnobservedComponents(mp, level="local level")</a:t>
            </a:r>
          </a:p>
          <a:p>
            <a:r>
              <a:rPr sz="850">
                <a:solidFill>
                  <a:srgbClr val="6B7385"/>
                </a:solidFill>
                <a:latin typeface="Courier New"/>
              </a:rPr>
              <a:t> 8 </a:t>
            </a:r>
            <a:r>
              <a:rPr sz="850">
                <a:solidFill>
                  <a:srgbClr val="E6EAF0"/>
                </a:solidFill>
                <a:latin typeface="Courier New"/>
              </a:rPr>
              <a:t>p = UnobservedComponents(mp[:666], level="local level").fit(disp=0).params</a:t>
            </a:r>
          </a:p>
          <a:p>
            <a:r>
              <a:rPr sz="850">
                <a:solidFill>
                  <a:srgbClr val="6B7385"/>
                </a:solidFill>
                <a:latin typeface="Courier New"/>
              </a:rPr>
              <a:t> 9 </a:t>
            </a:r>
            <a:r>
              <a:rPr sz="850">
                <a:solidFill>
                  <a:srgbClr val="E6EAF0"/>
                </a:solidFill>
                <a:latin typeface="Courier New"/>
              </a:rPr>
              <a:t>ra = {"MA trailing 13": s.rolling(13, min_periods=1).mean(),</a:t>
            </a:r>
          </a:p>
          <a:p>
            <a:r>
              <a:rPr sz="850">
                <a:solidFill>
                  <a:srgbClr val="6B7385"/>
                </a:solidFill>
                <a:latin typeface="Courier New"/>
              </a:rPr>
              <a:t>10 </a:t>
            </a:r>
            <a:r>
              <a:rPr sz="850">
                <a:solidFill>
                  <a:srgbClr val="E6EAF0"/>
                </a:solidFill>
                <a:latin typeface="Courier New"/>
              </a:rPr>
              <a:t>      "MA centered 13": s.rolling(13, center=True, min_periods=1).mean(),</a:t>
            </a:r>
          </a:p>
          <a:p>
            <a:r>
              <a:rPr sz="850">
                <a:solidFill>
                  <a:srgbClr val="6B7385"/>
                </a:solidFill>
                <a:latin typeface="Courier New"/>
              </a:rPr>
              <a:t>11 </a:t>
            </a:r>
            <a:r>
              <a:rPr sz="850">
                <a:solidFill>
                  <a:srgbClr val="E6EAF0"/>
                </a:solidFill>
                <a:latin typeface="Courier New"/>
              </a:rPr>
              <a:t>      "EWMA α=0,15": s.ewm(alpha=0.15).mean(),</a:t>
            </a:r>
          </a:p>
          <a:p>
            <a:r>
              <a:rPr sz="850">
                <a:solidFill>
                  <a:srgbClr val="6B7385"/>
                </a:solidFill>
                <a:latin typeface="Courier New"/>
              </a:rPr>
              <a:t>12 </a:t>
            </a:r>
            <a:r>
              <a:rPr sz="850">
                <a:solidFill>
                  <a:srgbClr val="E6EAF0"/>
                </a:solidFill>
                <a:latin typeface="Courier New"/>
              </a:rPr>
              <a:t>      "Savitzky–Golay 13": signal.savgol_filter(mp, 13, 2),</a:t>
            </a:r>
          </a:p>
          <a:p>
            <a:r>
              <a:rPr sz="850">
                <a:solidFill>
                  <a:srgbClr val="6B7385"/>
                </a:solidFill>
                <a:latin typeface="Courier New"/>
              </a:rPr>
              <a:t>13 </a:t>
            </a:r>
            <a:r>
              <a:rPr sz="850">
                <a:solidFill>
                  <a:srgbClr val="E6EAF0"/>
                </a:solidFill>
                <a:latin typeface="Courier New"/>
              </a:rPr>
              <a:t>      "Butterworth nhân quả": signal.sosfilt(sos, mp),</a:t>
            </a:r>
          </a:p>
          <a:p>
            <a:r>
              <a:rPr sz="850">
                <a:solidFill>
                  <a:srgbClr val="6B7385"/>
                </a:solidFill>
                <a:latin typeface="Courier New"/>
              </a:rPr>
              <a:t>14 </a:t>
            </a:r>
            <a:r>
              <a:rPr sz="850">
                <a:solidFill>
                  <a:srgbClr val="E6EAF0"/>
                </a:solidFill>
                <a:latin typeface="Courier New"/>
              </a:rPr>
              <a:t>      "Butterworth filtfilt": signal.sosfiltfilt(sos, mp),</a:t>
            </a:r>
          </a:p>
          <a:p>
            <a:r>
              <a:rPr sz="850">
                <a:solidFill>
                  <a:srgbClr val="6B7385"/>
                </a:solidFill>
                <a:latin typeface="Courier New"/>
              </a:rPr>
              <a:t>15 </a:t>
            </a:r>
            <a:r>
              <a:rPr sz="850">
                <a:solidFill>
                  <a:srgbClr val="E6EAF0"/>
                </a:solidFill>
                <a:latin typeface="Courier New"/>
              </a:rPr>
              <a:t>      "Kalman filter": uc.filter(p).filtered_state[0],</a:t>
            </a:r>
          </a:p>
          <a:p>
            <a:r>
              <a:rPr sz="850">
                <a:solidFill>
                  <a:srgbClr val="6B7385"/>
                </a:solidFill>
                <a:latin typeface="Courier New"/>
              </a:rPr>
              <a:t>16 </a:t>
            </a:r>
            <a:r>
              <a:rPr sz="850">
                <a:solidFill>
                  <a:srgbClr val="E6EAF0"/>
                </a:solidFill>
                <a:latin typeface="Courier New"/>
              </a:rPr>
              <a:t>      "Kalman smoother": uc.smooth(p).smoothed_state[0]}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Tham số Kalman chỉ học trên 1/3 đầu.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trượt hai kiểu và EWMA.</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đa thức bậc 2 trong cửa sổ 13.</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Cùng bộ lọc, một chiều hay hai chiều.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Kalman: filter chỉ quá khứ, smoother cả hai.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Ba RMSE thấp nhất (centered 0,357, Kalman smoother, Savitzky–Golay) đều nhìn tương lai. Nhân quả tốt nhất: Kalman filter 0,584, trễ 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ewm(alpha).mean()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có trọng số giảm dần về quá khứ.</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signal.savgol_filter</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Khớp đa thức trong cửa sổ trượt có tâm, giữ đỉnh tốt.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UnobservedComponents</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Mô hình mức đổi dần; filter chỉ dùng quá khứ, smooth dùng cả hai phía.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0ab913f0582.png"/>
          <p:cNvPicPr>
            <a:picLocks noChangeAspect="1"/>
          </p:cNvPicPr>
          <p:nvPr/>
        </p:nvPicPr>
        <p:blipFill>
          <a:blip r:embed="rId2"/>
          <a:stretch>
            <a:fillRect/>
          </a:stretch>
        </p:blipFill>
        <p:spPr>
          <a:xfrm>
            <a:off x="8602980" y="4227575"/>
            <a:ext cx="2298192" cy="213360"/>
          </a:xfrm>
          <a:prstGeom prst="rect">
            <a:avLst/>
          </a:prstGeom>
        </p:spPr>
      </p:pic>
      <p:pic>
        <p:nvPicPr>
          <p:cNvPr id="31" name="Picture 30" descr="kn-tre-pha.png"/>
          <p:cNvPicPr>
            <a:picLocks noChangeAspect="1"/>
          </p:cNvPicPr>
          <p:nvPr/>
        </p:nvPicPr>
        <p:blipFill>
          <a:blip r:embed="rId3"/>
          <a:stretch>
            <a:fillRect/>
          </a:stretch>
        </p:blipFill>
        <p:spPr>
          <a:xfrm>
            <a:off x="8226046" y="4745735"/>
            <a:ext cx="3052058" cy="1728216"/>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đuôi, xem đầu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phép thử chạy được cho mọi bộ lọc: đổi đuôi chuỗi, xem quá khứ có bị đổi theo không.</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kiem_nhan_qua(ham_loc, y, so_diem_doi=10, thay_doi=50.0):</a:t>
            </a:r>
          </a:p>
          <a:p>
            <a:r>
              <a:rPr sz="950">
                <a:solidFill>
                  <a:srgbClr val="6B7385"/>
                </a:solidFill>
                <a:latin typeface="Courier New"/>
              </a:rPr>
              <a:t> 4 </a:t>
            </a:r>
            <a:r>
              <a:rPr sz="950">
                <a:solidFill>
                  <a:srgbClr val="E6EAF0"/>
                </a:solidFill>
                <a:latin typeface="Courier New"/>
              </a:rPr>
              <a:t>    y = np.asarray(y, dtype=float)</a:t>
            </a:r>
          </a:p>
          <a:p>
            <a:r>
              <a:rPr sz="950">
                <a:solidFill>
                  <a:srgbClr val="6B7385"/>
                </a:solidFill>
                <a:latin typeface="Courier New"/>
              </a:rPr>
              <a:t> 5 </a:t>
            </a:r>
            <a:r>
              <a:rPr sz="950">
                <a:solidFill>
                  <a:srgbClr val="E6EAF0"/>
                </a:solidFill>
                <a:latin typeface="Courier New"/>
              </a:rPr>
              <a:t>    k0 = y.size - so_diem_doi</a:t>
            </a:r>
          </a:p>
          <a:p>
            <a:r>
              <a:rPr sz="950">
                <a:solidFill>
                  <a:srgbClr val="6B7385"/>
                </a:solidFill>
                <a:latin typeface="Courier New"/>
              </a:rPr>
              <a:t> 6 </a:t>
            </a:r>
            <a:r>
              <a:rPr sz="950">
                <a:solidFill>
                  <a:srgbClr val="E6EAF0"/>
                </a:solidFill>
                <a:latin typeface="Courier New"/>
              </a:rPr>
              <a:t>    goc = np.asarray(ham_loc(y), dtype=float)</a:t>
            </a:r>
          </a:p>
          <a:p>
            <a:r>
              <a:rPr sz="950">
                <a:solidFill>
                  <a:srgbClr val="6B7385"/>
                </a:solidFill>
                <a:latin typeface="Courier New"/>
              </a:rPr>
              <a:t> 7 </a:t>
            </a:r>
            <a:r>
              <a:rPr sz="950">
                <a:solidFill>
                  <a:srgbClr val="E6EAF0"/>
                </a:solidFill>
                <a:latin typeface="Courier New"/>
              </a:rPr>
              <a:t>    y_doi = y.copy()</a:t>
            </a:r>
          </a:p>
          <a:p>
            <a:r>
              <a:rPr sz="950">
                <a:solidFill>
                  <a:srgbClr val="6B7385"/>
                </a:solidFill>
                <a:latin typeface="Courier New"/>
              </a:rPr>
              <a:t> 8 </a:t>
            </a:r>
            <a:r>
              <a:rPr sz="950">
                <a:solidFill>
                  <a:srgbClr val="E6EAF0"/>
                </a:solidFill>
                <a:latin typeface="Courier New"/>
              </a:rPr>
              <a:t>    y_doi[k0:] += thay_doi                 </a:t>
            </a:r>
            <a:r>
              <a:rPr sz="950">
                <a:solidFill>
                  <a:srgbClr val="8FC99A"/>
                </a:solidFill>
                <a:latin typeface="Courier New"/>
              </a:rPr>
              <a:t># cộng 50 vào 10 số cuối</a:t>
            </a:r>
          </a:p>
          <a:p>
            <a:r>
              <a:rPr sz="950">
                <a:solidFill>
                  <a:srgbClr val="6B7385"/>
                </a:solidFill>
                <a:latin typeface="Courier New"/>
              </a:rPr>
              <a:t> 9 </a:t>
            </a:r>
            <a:r>
              <a:rPr sz="950">
                <a:solidFill>
                  <a:srgbClr val="E6EAF0"/>
                </a:solidFill>
                <a:latin typeface="Courier New"/>
              </a:rPr>
              <a:t>    moi = np.asarray(ham_loc(y_doi), dtype=float)</a:t>
            </a:r>
          </a:p>
          <a:p>
            <a:r>
              <a:rPr sz="950">
                <a:solidFill>
                  <a:srgbClr val="6B7385"/>
                </a:solidFill>
                <a:latin typeface="Courier New"/>
              </a:rPr>
              <a:t>10 </a:t>
            </a:r>
            <a:r>
              <a:rPr sz="950">
                <a:solidFill>
                  <a:srgbClr val="E6EAF0"/>
                </a:solidFill>
                <a:latin typeface="Courier New"/>
              </a:rPr>
              <a:t>    lech = np.abs(np.nan_to_num(moi[:k0]) - np.nan_to_num(goc[:k0]))</a:t>
            </a:r>
          </a:p>
          <a:p>
            <a:r>
              <a:rPr sz="950">
                <a:solidFill>
                  <a:srgbClr val="6B7385"/>
                </a:solidFill>
                <a:latin typeface="Courier New"/>
              </a:rPr>
              <a:t>11 </a:t>
            </a:r>
            <a:r>
              <a:rPr sz="950">
                <a:solidFill>
                  <a:srgbClr val="E6EAF0"/>
                </a:solidFill>
                <a:latin typeface="Courier New"/>
              </a:rPr>
              <a:t>    nguong = max(1e-9, 1e-7 * float(np.nanmax(np.abs(y))))  </a:t>
            </a:r>
            <a:r>
              <a:rPr sz="950">
                <a:solidFill>
                  <a:srgbClr val="8FC99A"/>
                </a:solidFill>
                <a:latin typeface="Courier New"/>
              </a:rPr>
              <a:t># sai số máy</a:t>
            </a:r>
          </a:p>
          <a:p>
            <a:r>
              <a:rPr sz="950">
                <a:solidFill>
                  <a:srgbClr val="6B7385"/>
                </a:solidFill>
                <a:latin typeface="Courier New"/>
              </a:rPr>
              <a:t>12 </a:t>
            </a:r>
            <a:r>
              <a:rPr sz="950">
                <a:solidFill>
                  <a:srgbClr val="E6EAF0"/>
                </a:solidFill>
                <a:latin typeface="Courier New"/>
              </a:rPr>
              <a:t>    return lech.max() &gt; nguong             </a:t>
            </a:r>
            <a:r>
              <a:rPr sz="950">
                <a:solidFill>
                  <a:srgbClr val="8FC99A"/>
                </a:solidFill>
                <a:latin typeface="Courier New"/>
              </a:rPr>
              <a:t># True: có nhìn tương lai</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{ten: kiem_nhan_qua(ham, mp) for ten, ham in BO_LOC.items()}</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5</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Chạy bộ lọc trên chuỗi gốc.</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7–9</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Đổi đuôi chuỗi rồi chạy lại.</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So mọi mốc trước chỗ đổi.</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Lệch quá sai số máy tức là nhìn tương lai.</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Kiểm cả mười cấu hình bộ lọc.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6/10 cấu hình nhìn tương lai. Centered 13 đổi quá khứ 23,077; Kalman khớp lại cả chuỗi đổi 1,134; filtfilt làm bẩn ngược 274 bước.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np.nan_to_num</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NaN thành 0 để phép trừ không ra NaN.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np.nanmax</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Giá trị lớn nhất, bỏ qua các ô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kiem_nhan_qua</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Báo một hàm lọc có dùng số tương lai hay không.</a:t>
            </a:r>
          </a:p>
        </p:txBody>
      </p:sp>
      <p:pic>
        <p:nvPicPr>
          <p:cNvPr id="29" name="Picture 28" descr="kiem-nhan-qua.png"/>
          <p:cNvPicPr>
            <a:picLocks noChangeAspect="1"/>
          </p:cNvPicPr>
          <p:nvPr/>
        </p:nvPicPr>
        <p:blipFill>
          <a:blip r:embed="rId2"/>
          <a:stretch>
            <a:fillRect/>
          </a:stretch>
        </p:blipFill>
        <p:spPr>
          <a:xfrm>
            <a:off x="7863840" y="4345424"/>
            <a:ext cx="3776472" cy="1870470"/>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đo cái giá của rò rỉ</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feature nhìn tương lai làm sai số đẹp giả bao nhiêu, khi chấm trên chuỗi gốc.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danh_gia_feature(y, ham_loc, tam=6, ty_le_hoc=0.7):</a:t>
            </a:r>
          </a:p>
          <a:p>
            <a:r>
              <a:rPr sz="850">
                <a:solidFill>
                  <a:srgbClr val="6B7385"/>
                </a:solidFill>
                <a:latin typeface="Courier New"/>
              </a:rPr>
              <a:t> 5 </a:t>
            </a:r>
            <a:r>
              <a:rPr sz="850">
                <a:solidFill>
                  <a:srgbClr val="E6EAF0"/>
                </a:solidFill>
                <a:latin typeface="Courier New"/>
              </a:rPr>
              <a:t>    bang = pd.DataFrame({"loc": ham_loc(y.to_numpy()), "y": y.to_numpy(),</a:t>
            </a:r>
          </a:p>
          <a:p>
            <a:r>
              <a:rPr sz="850">
                <a:solidFill>
                  <a:srgbClr val="6B7385"/>
                </a:solidFill>
                <a:latin typeface="Courier New"/>
              </a:rPr>
              <a:t> 6 </a:t>
            </a:r>
            <a:r>
              <a:rPr sz="850">
                <a:solidFill>
                  <a:srgbClr val="E6EAF0"/>
                </a:solidFill>
                <a:latin typeface="Courier New"/>
              </a:rPr>
              <a:t>                         "muc_tieu": y.shift(-tam).to_numpy()}).dropna()</a:t>
            </a:r>
          </a:p>
          <a:p>
            <a:r>
              <a:rPr sz="850">
                <a:solidFill>
                  <a:srgbClr val="6B7385"/>
                </a:solidFill>
                <a:latin typeface="Courier New"/>
              </a:rPr>
              <a:t> 7 </a:t>
            </a:r>
            <a:r>
              <a:rPr sz="850">
                <a:solidFill>
                  <a:srgbClr val="E6EAF0"/>
                </a:solidFill>
                <a:latin typeface="Courier New"/>
              </a:rPr>
              <a:t>    cat = int(len(bang) * ty_le_hoc)       </a:t>
            </a:r>
            <a:r>
              <a:rPr sz="850">
                <a:solidFill>
                  <a:srgbClr val="8FC99A"/>
                </a:solidFill>
                <a:latin typeface="Courier New"/>
              </a:rPr>
              <a:t># 70% đầu học, 30% sau chấm</a:t>
            </a:r>
          </a:p>
          <a:p>
            <a:r>
              <a:rPr sz="850">
                <a:solidFill>
                  <a:srgbClr val="6B7385"/>
                </a:solidFill>
                <a:latin typeface="Courier New"/>
              </a:rPr>
              <a:t> 8 </a:t>
            </a:r>
            <a:r>
              <a:rPr sz="850">
                <a:solidFill>
                  <a:srgbClr val="E6EAF0"/>
                </a:solidFill>
                <a:latin typeface="Courier New"/>
              </a:rPr>
              <a:t>    hoc, kt = bang.iloc[:cat], bang.iloc[cat:]</a:t>
            </a:r>
          </a:p>
          <a:p>
            <a:r>
              <a:rPr sz="850">
                <a:solidFill>
                  <a:srgbClr val="6B7385"/>
                </a:solidFill>
                <a:latin typeface="Courier New"/>
              </a:rPr>
              <a:t> 9 </a:t>
            </a:r>
            <a:r>
              <a:rPr sz="850">
                <a:solidFill>
                  <a:srgbClr val="E6EAF0"/>
                </a:solidFill>
                <a:latin typeface="Courier New"/>
              </a:rPr>
              <a:t>    X = lambda d: np.column_stack([np.ones(len(d)), d["loc"], d["y"]])</a:t>
            </a:r>
          </a:p>
          <a:p>
            <a:r>
              <a:rPr sz="850">
                <a:solidFill>
                  <a:srgbClr val="6B7385"/>
                </a:solidFill>
                <a:latin typeface="Courier New"/>
              </a:rPr>
              <a:t>10 </a:t>
            </a:r>
            <a:r>
              <a:rPr sz="850">
                <a:solidFill>
                  <a:srgbClr val="E6EAF0"/>
                </a:solidFill>
                <a:latin typeface="Courier New"/>
              </a:rPr>
              <a:t>    he_so = np.linalg.lstsq(X(hoc), hoc["muc_tieu"], rcond=None)[0]</a:t>
            </a:r>
          </a:p>
          <a:p>
            <a:r>
              <a:rPr sz="850">
                <a:solidFill>
                  <a:srgbClr val="6B7385"/>
                </a:solidFill>
                <a:latin typeface="Courier New"/>
              </a:rPr>
              <a:t>11 </a:t>
            </a:r>
            <a:r>
              <a:rPr sz="850">
                <a:solidFill>
                  <a:srgbClr val="E6EAF0"/>
                </a:solidFill>
                <a:latin typeface="Courier New"/>
              </a:rPr>
              <a:t>    du_bao = X(kt) @ he_so</a:t>
            </a:r>
          </a:p>
          <a:p>
            <a:r>
              <a:rPr sz="850">
                <a:solidFill>
                  <a:srgbClr val="6B7385"/>
                </a:solidFill>
                <a:latin typeface="Courier New"/>
              </a:rPr>
              <a:t>12 </a:t>
            </a:r>
            <a:r>
              <a:rPr sz="850">
                <a:solidFill>
                  <a:srgbClr val="E6EAF0"/>
                </a:solidFill>
                <a:latin typeface="Courier New"/>
              </a:rPr>
              <a:t>    return np.mean(np.abs(du_bao - kt["muc_tieu"]))   </a:t>
            </a:r>
            <a:r>
              <a:rPr sz="850">
                <a:solidFill>
                  <a:srgbClr val="8FC99A"/>
                </a:solidFill>
                <a:latin typeface="Courier New"/>
              </a:rPr>
              <a:t># trên chuỗi gốc</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goc = danh_gia_feature(dien, lambda v: v)     </a:t>
            </a:r>
            <a:r>
              <a:rPr sz="850">
                <a:solidFill>
                  <a:srgbClr val="8FC99A"/>
                </a:solidFill>
                <a:latin typeface="Courier New"/>
              </a:rPr>
              <a:t># không lọc</a:t>
            </a:r>
          </a:p>
          <a:p>
            <a:r>
              <a:rPr sz="850">
                <a:solidFill>
                  <a:srgbClr val="6B7385"/>
                </a:solidFill>
                <a:latin typeface="Courier New"/>
              </a:rPr>
              <a:t>15 </a:t>
            </a:r>
            <a:r>
              <a:rPr sz="850">
                <a:solidFill>
                  <a:srgbClr val="E6EAF0"/>
                </a:solidFill>
                <a:latin typeface="Courier New"/>
              </a:rPr>
              <a:t>centered = danh_gia_feature(dien, ma_giua)    </a:t>
            </a:r>
            <a:r>
              <a:rPr sz="850">
                <a:solidFill>
                  <a:srgbClr val="8FC99A"/>
                </a:solidFill>
                <a:latin typeface="Courier New"/>
              </a:rPr>
              <a:t># nhìn tương lai</a:t>
            </a:r>
          </a:p>
          <a:p>
            <a:r>
              <a:rPr sz="850">
                <a:solidFill>
                  <a:srgbClr val="6B7385"/>
                </a:solidFill>
                <a:latin typeface="Courier New"/>
              </a:rPr>
              <a:t>16 </a:t>
            </a:r>
            <a:r>
              <a:rPr sz="850">
                <a:solidFill>
                  <a:srgbClr val="E6EAF0"/>
                </a:solidFill>
                <a:latin typeface="Courier New"/>
              </a:rPr>
              <a:t>trailing = danh_gia_feature(dien, ma_truoc)   </a:t>
            </a:r>
            <a:r>
              <a:rPr sz="850">
                <a:solidFill>
                  <a:srgbClr val="8FC99A"/>
                </a:solidFill>
                <a:latin typeface="Courier New"/>
              </a:rPr>
              <a:t># nhân quả</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Feature là bộ lọc và giá trị hiện tại.</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Mục tiêu là điện 6 bước sau, tức 1 giờ tới.</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Chia theo thời gian, không xáo trộn.</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Hồi quy tuyến tính bằng bình phương nhỏ nhất.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MAE khi không lọc và hai kiểu lọc.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Không lọc MAE 46,84 Wh. Centered giảm 27,7%, filtfilt 24,5%, đều giả; feature nhân quả chỉ giúp 0,9–5,9%.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shift(-6)</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Kéo chuỗi lên 6 bước: dòng t nhận giá trị của t + 6.</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np.linalg.lstsq</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hệ số hồi quy tuyến tính cho sai số bình phương nhỏ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np.column_stack</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các cột thành một ma trận.</a:t>
            </a:r>
          </a:p>
        </p:txBody>
      </p:sp>
      <p:pic>
        <p:nvPicPr>
          <p:cNvPr id="29" name="Picture 28" descr="gia-ro-ri.png"/>
          <p:cNvPicPr>
            <a:picLocks noChangeAspect="1"/>
          </p:cNvPicPr>
          <p:nvPr/>
        </p:nvPicPr>
        <p:blipFill>
          <a:blip r:embed="rId2"/>
          <a:stretch>
            <a:fillRect/>
          </a:stretch>
        </p:blipFill>
        <p:spPr>
          <a:xfrm>
            <a:off x="7863840" y="4362487"/>
            <a:ext cx="3776472" cy="1836345"/>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feature nào đã có lúc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Hỏi từng feature "lúc ra dự báo tôi có nó chưa?" rồi xếp vào đúng nhóm.</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t = pd.Timestamp("2010-06-07")              </a:t>
            </a:r>
            <a:r>
              <a:rPr sz="850">
                <a:solidFill>
                  <a:srgbClr val="8FC99A"/>
                </a:solidFill>
                <a:latin typeface="Courier New"/>
              </a:rPr>
              <a:t># tối thứ Hai ra dự báo</a:t>
            </a:r>
          </a:p>
          <a:p>
            <a:r>
              <a:rPr sz="850">
                <a:solidFill>
                  <a:srgbClr val="6B7385"/>
                </a:solidFill>
                <a:latin typeface="Courier New"/>
              </a:rPr>
              <a:t> 4 </a:t>
            </a:r>
            <a:r>
              <a:rPr sz="850">
                <a:solidFill>
                  <a:srgbClr val="E6EAF0"/>
                </a:solidFill>
                <a:latin typeface="Courier New"/>
              </a:rPr>
              <a:t>muc_tieu = t + pd.Timedelta(days=1)         </a:t>
            </a:r>
            <a:r>
              <a:rPr sz="850">
                <a:solidFill>
                  <a:srgbClr val="8FC99A"/>
                </a:solidFill>
                <a:latin typeface="Courier New"/>
              </a:rPr>
              <a:t># thứ Ba, h = 1</a:t>
            </a:r>
          </a:p>
          <a:p>
            <a:r>
              <a:rPr sz="850">
                <a:solidFill>
                  <a:srgbClr val="6B7385"/>
                </a:solidFill>
                <a:latin typeface="Courier New"/>
              </a:rPr>
              <a:t> 5 </a:t>
            </a:r>
            <a:r>
              <a:rPr sz="850">
                <a:solidFill>
                  <a:srgbClr val="E6EAF0"/>
                </a:solidFill>
                <a:latin typeface="Courier New"/>
              </a:rPr>
              <a:t>thu = muc_tieu.dayofweek                    </a:t>
            </a:r>
            <a:r>
              <a:rPr sz="850">
                <a:solidFill>
                  <a:srgbClr val="8FC99A"/>
                </a:solidFill>
                <a:latin typeface="Courier New"/>
              </a:rPr>
              <a:t># lịch: biết trước mãi mãi</a:t>
            </a:r>
          </a:p>
          <a:p>
            <a:r>
              <a:rPr sz="850">
                <a:solidFill>
                  <a:srgbClr val="6B7385"/>
                </a:solidFill>
                <a:latin typeface="Courier New"/>
              </a:rPr>
              <a:t> 6 </a:t>
            </a:r>
            <a:r>
              <a:rPr sz="850">
                <a:solidFill>
                  <a:srgbClr val="E6EAF0"/>
                </a:solidFill>
                <a:latin typeface="Courier New"/>
              </a:rPr>
              <a:t>tb_da_biet = y[:t].mean()                   </a:t>
            </a:r>
            <a:r>
              <a:rPr sz="850">
                <a:solidFill>
                  <a:srgbClr val="8FC99A"/>
                </a:solidFill>
                <a:latin typeface="Courier New"/>
              </a:rPr>
              <a:t># chỉ các ngày tới t</a:t>
            </a:r>
          </a:p>
          <a:p>
            <a:r>
              <a:rPr sz="850">
                <a:solidFill>
                  <a:srgbClr val="6B7385"/>
                </a:solidFill>
                <a:latin typeface="Courier New"/>
              </a:rPr>
              <a:t> 7 </a:t>
            </a:r>
            <a:r>
              <a:rPr sz="850">
                <a:solidFill>
                  <a:srgbClr val="E6EAF0"/>
                </a:solidFill>
                <a:latin typeface="Courier New"/>
              </a:rPr>
              <a:t>tb_ca_chuoi = y.mean()                      </a:t>
            </a:r>
            <a:r>
              <a:rPr sz="850">
                <a:solidFill>
                  <a:srgbClr val="8FC99A"/>
                </a:solidFill>
                <a:latin typeface="Courier New"/>
              </a:rPr>
              <a:t># gồm cả ngày chưa xảy ra</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bang_biet_truoc(cot):                   </a:t>
            </a:r>
            <a:r>
              <a:rPr sz="850">
                <a:solidFill>
                  <a:srgbClr val="8FC99A"/>
                </a:solidFill>
                <a:latin typeface="Courier New"/>
              </a:rPr>
              <a:t># xếp theo TÊN cột</a:t>
            </a:r>
          </a:p>
          <a:p>
            <a:r>
              <a:rPr sz="850">
                <a:solidFill>
                  <a:srgbClr val="6B7385"/>
                </a:solidFill>
                <a:latin typeface="Courier New"/>
              </a:rPr>
              <a:t>10 </a:t>
            </a:r>
            <a:r>
              <a:rPr sz="850">
                <a:solidFill>
                  <a:srgbClr val="E6EAF0"/>
                </a:solidFill>
                <a:latin typeface="Courier New"/>
              </a:rPr>
              <a:t>    if cot.startswith(("lag_", "tb_", "sd_")):</a:t>
            </a:r>
          </a:p>
          <a:p>
            <a:r>
              <a:rPr sz="850">
                <a:solidFill>
                  <a:srgbClr val="6B7385"/>
                </a:solidFill>
                <a:latin typeface="Courier New"/>
              </a:rPr>
              <a:t>11 </a:t>
            </a:r>
            <a:r>
              <a:rPr sz="850">
                <a:solidFill>
                  <a:srgbClr val="E6EAF0"/>
                </a:solidFill>
                <a:latin typeface="Courier New"/>
              </a:rPr>
              <a:t>        return "t-h"                        </a:t>
            </a:r>
            <a:r>
              <a:rPr sz="850">
                <a:solidFill>
                  <a:srgbClr val="8FC99A"/>
                </a:solidFill>
                <a:latin typeface="Courier New"/>
              </a:rPr>
              <a:t># quá khứ của chuỗi</a:t>
            </a:r>
          </a:p>
          <a:p>
            <a:r>
              <a:rPr sz="850">
                <a:solidFill>
                  <a:srgbClr val="6B7385"/>
                </a:solidFill>
                <a:latin typeface="Courier New"/>
              </a:rPr>
              <a:t>12 </a:t>
            </a:r>
            <a:r>
              <a:rPr sz="850">
                <a:solidFill>
                  <a:srgbClr val="E6EAF0"/>
                </a:solidFill>
                <a:latin typeface="Courier New"/>
              </a:rPr>
              <a:t>    if cot.startswith(("du_bao_", "khuyen_mai")):</a:t>
            </a:r>
          </a:p>
          <a:p>
            <a:r>
              <a:rPr sz="850">
                <a:solidFill>
                  <a:srgbClr val="6B7385"/>
                </a:solidFill>
                <a:latin typeface="Courier New"/>
              </a:rPr>
              <a:t>13 </a:t>
            </a:r>
            <a:r>
              <a:rPr sz="850">
                <a:solidFill>
                  <a:srgbClr val="E6EAF0"/>
                </a:solidFill>
                <a:latin typeface="Courier New"/>
              </a:rPr>
              <a:t>        return "kế hoạch"                   </a:t>
            </a:r>
            <a:r>
              <a:rPr sz="850">
                <a:solidFill>
                  <a:srgbClr val="8FC99A"/>
                </a:solidFill>
                <a:latin typeface="Courier New"/>
              </a:rPr>
              <a:t># đã công bố</a:t>
            </a:r>
          </a:p>
          <a:p>
            <a:r>
              <a:rPr sz="850">
                <a:solidFill>
                  <a:srgbClr val="6B7385"/>
                </a:solidFill>
                <a:latin typeface="Courier New"/>
              </a:rPr>
              <a:t>14 </a:t>
            </a:r>
            <a:r>
              <a:rPr sz="850">
                <a:solidFill>
                  <a:srgbClr val="E6EAF0"/>
                </a:solidFill>
                <a:latin typeface="Courier New"/>
              </a:rPr>
              <a:t>    if cot.endswith("_that"):</a:t>
            </a:r>
          </a:p>
          <a:p>
            <a:r>
              <a:rPr sz="850">
                <a:solidFill>
                  <a:srgbClr val="6B7385"/>
                </a:solidFill>
                <a:latin typeface="Courier New"/>
              </a:rPr>
              <a:t>15 </a:t>
            </a:r>
            <a:r>
              <a:rPr sz="850">
                <a:solidFill>
                  <a:srgbClr val="E6EAF0"/>
                </a:solidFill>
                <a:latin typeface="Courier New"/>
              </a:rPr>
              <a:t>        return "KHÔNG BIẾT TRƯỚC"</a:t>
            </a:r>
          </a:p>
          <a:p>
            <a:r>
              <a:rPr sz="850">
                <a:solidFill>
                  <a:srgbClr val="6B7385"/>
                </a:solidFill>
                <a:latin typeface="Courier New"/>
              </a:rPr>
              <a:t>16 </a:t>
            </a:r>
            <a:r>
              <a:rPr sz="850">
                <a:solidFill>
                  <a:srgbClr val="E6EAF0"/>
                </a:solidFill>
                <a:latin typeface="Courier New"/>
              </a:rPr>
              <a:t>    return "vô hạn"                         </a:t>
            </a:r>
            <a:r>
              <a:rPr sz="850">
                <a:solidFill>
                  <a:srgbClr val="8FC99A"/>
                </a:solidFill>
                <a:latin typeface="Courier New"/>
              </a:rPr>
              <a:t># lịch</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Tối thứ Hai dự báo doanh thu thứ Ba.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Thứ của ngày mai là lịch, biết từ trước.</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So trung bình tới t với trung bình cả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9–16</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Đọc tên cột để xếp feature vào một nhóm.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Tên đuôi _that là giá trị thật: loại.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189 ngày đã biết là 27.701, cả chuỗi là 33.454 vì gồm 550 ngày chưa xảy ra. z_score lọt vào nhóm "vô hạn": tên sai thì bảng sai.</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pd.Timestamp, pd.Timedelta</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một mốc thời gian rồi cộng thêm một khoảng, ở đây là 1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y[:t].mean()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chuỗi tới mốc t rồi lấy trung bình, bỏ phần tương lai.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bang_biet_truoc</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Xếp feature vào nhóm lịch, kế hoạch hay quá khứ theo tên cột.</a:t>
            </a:r>
          </a:p>
        </p:txBody>
      </p:sp>
      <p:pic>
        <p:nvPicPr>
          <p:cNvPr id="29" name="Picture 28" descr="biet-truoc.png"/>
          <p:cNvPicPr>
            <a:picLocks noChangeAspect="1"/>
          </p:cNvPicPr>
          <p:nvPr/>
        </p:nvPicPr>
        <p:blipFill>
          <a:blip r:embed="rId2"/>
          <a:stretch>
            <a:fillRect/>
          </a:stretch>
        </p:blipFill>
        <p:spPr>
          <a:xfrm>
            <a:off x="7863840" y="4539277"/>
            <a:ext cx="3776472" cy="1482765"/>
          </a:xfrm>
          <a:prstGeom prst="rect">
            <a:avLst/>
          </a:prstGeom>
        </p:spPr>
      </p:pic>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shift trước, rolling sau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vì sao phải shift trước rolling, rồi gói thành hàm tạo feature.</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v = pd.Series([10, 12, 8, 14, 20, 16], index=range(1, 7), dtype=float)</a:t>
            </a:r>
          </a:p>
          <a:p>
            <a:r>
              <a:rPr sz="850">
                <a:solidFill>
                  <a:srgbClr val="6B7385"/>
                </a:solidFill>
                <a:latin typeface="Courier New"/>
              </a:rPr>
              <a:t> 3 </a:t>
            </a:r>
            <a:r>
              <a:rPr sz="850">
                <a:solidFill>
                  <a:srgbClr val="E6EAF0"/>
                </a:solidFill>
                <a:latin typeface="Courier New"/>
              </a:rPr>
              <a:t>sai_1 = v.rolling(3, center=True).mean()     </a:t>
            </a:r>
            <a:r>
              <a:rPr sz="850">
                <a:solidFill>
                  <a:srgbClr val="8FC99A"/>
                </a:solidFill>
                <a:latin typeface="Courier New"/>
              </a:rPr>
              <a:t># nhìn cả ngày sau</a:t>
            </a:r>
          </a:p>
          <a:p>
            <a:r>
              <a:rPr sz="850">
                <a:solidFill>
                  <a:srgbClr val="6B7385"/>
                </a:solidFill>
                <a:latin typeface="Courier New"/>
              </a:rPr>
              <a:t> 4 </a:t>
            </a:r>
            <a:r>
              <a:rPr sz="850">
                <a:solidFill>
                  <a:srgbClr val="E6EAF0"/>
                </a:solidFill>
                <a:latin typeface="Courier New"/>
              </a:rPr>
              <a:t>sai_2 = v.rolling(3).mean()                  </a:t>
            </a:r>
            <a:r>
              <a:rPr sz="850">
                <a:solidFill>
                  <a:srgbClr val="8FC99A"/>
                </a:solidFill>
                <a:latin typeface="Courier New"/>
              </a:rPr>
              <a:t># chứa chính ngày t</a:t>
            </a:r>
          </a:p>
          <a:p>
            <a:r>
              <a:rPr sz="850">
                <a:solidFill>
                  <a:srgbClr val="6B7385"/>
                </a:solidFill>
                <a:latin typeface="Courier New"/>
              </a:rPr>
              <a:t> 5 </a:t>
            </a:r>
            <a:r>
              <a:rPr sz="850">
                <a:solidFill>
                  <a:srgbClr val="E6EAF0"/>
                </a:solidFill>
                <a:latin typeface="Courier New"/>
              </a:rPr>
              <a:t>dung = v.shift(1).rolling(3).mean()          </a:t>
            </a:r>
            <a:r>
              <a:rPr sz="850">
                <a:solidFill>
                  <a:srgbClr val="8FC99A"/>
                </a:solidFill>
                <a:latin typeface="Courier New"/>
              </a:rPr>
              <a:t># chỉ quá khứ</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feature_tre(y, tam=1, cac_lag=(1, 2, 3, 7, 14, 28),</a:t>
            </a:r>
          </a:p>
          <a:p>
            <a:r>
              <a:rPr sz="850">
                <a:solidFill>
                  <a:srgbClr val="6B7385"/>
                </a:solidFill>
                <a:latin typeface="Courier New"/>
              </a:rPr>
              <a:t> 8 </a:t>
            </a:r>
            <a:r>
              <a:rPr sz="850">
                <a:solidFill>
                  <a:srgbClr val="E6EAF0"/>
                </a:solidFill>
                <a:latin typeface="Courier New"/>
              </a:rPr>
              <a:t>                cac_cua_so=(7, 28)):</a:t>
            </a:r>
          </a:p>
          <a:p>
            <a:r>
              <a:rPr sz="850">
                <a:solidFill>
                  <a:srgbClr val="6B7385"/>
                </a:solidFill>
                <a:latin typeface="Courier New"/>
              </a:rPr>
              <a:t> 9 </a:t>
            </a:r>
            <a:r>
              <a:rPr sz="850">
                <a:solidFill>
                  <a:srgbClr val="E6EAF0"/>
                </a:solidFill>
                <a:latin typeface="Courier New"/>
              </a:rPr>
              <a:t>    f = pd.DataFrame(index=y.index)</a:t>
            </a:r>
          </a:p>
          <a:p>
            <a:r>
              <a:rPr sz="850">
                <a:solidFill>
                  <a:srgbClr val="6B7385"/>
                </a:solidFill>
                <a:latin typeface="Courier New"/>
              </a:rPr>
              <a:t>10 </a:t>
            </a:r>
            <a:r>
              <a:rPr sz="850">
                <a:solidFill>
                  <a:srgbClr val="E6EAF0"/>
                </a:solidFill>
                <a:latin typeface="Courier New"/>
              </a:rPr>
              <a:t>    tre = y.shift(tam)                       </a:t>
            </a:r>
            <a:r>
              <a:rPr sz="850">
                <a:solidFill>
                  <a:srgbClr val="8FC99A"/>
                </a:solidFill>
                <a:latin typeface="Courier New"/>
              </a:rPr>
              <a:t># lùi h bước TRƯỚC</a:t>
            </a:r>
          </a:p>
          <a:p>
            <a:r>
              <a:rPr sz="850">
                <a:solidFill>
                  <a:srgbClr val="6B7385"/>
                </a:solidFill>
                <a:latin typeface="Courier New"/>
              </a:rPr>
              <a:t>11 </a:t>
            </a:r>
            <a:r>
              <a:rPr sz="850">
                <a:solidFill>
                  <a:srgbClr val="E6EAF0"/>
                </a:solidFill>
                <a:latin typeface="Courier New"/>
              </a:rPr>
              <a:t>    for lag in cac_lag:</a:t>
            </a:r>
          </a:p>
          <a:p>
            <a:r>
              <a:rPr sz="850">
                <a:solidFill>
                  <a:srgbClr val="6B7385"/>
                </a:solidFill>
                <a:latin typeface="Courier New"/>
              </a:rPr>
              <a:t>12 </a:t>
            </a:r>
            <a:r>
              <a:rPr sz="850">
                <a:solidFill>
                  <a:srgbClr val="E6EAF0"/>
                </a:solidFill>
                <a:latin typeface="Courier New"/>
              </a:rPr>
              <a:t>        f[f"lag_{lag}"] = y.shift(max(lag, tam))   </a:t>
            </a:r>
            <a:r>
              <a:rPr sz="850">
                <a:solidFill>
                  <a:srgbClr val="8FC99A"/>
                </a:solidFill>
                <a:latin typeface="Courier New"/>
              </a:rPr>
              <a:t># lag nhỏ nhất ≥ h</a:t>
            </a:r>
          </a:p>
          <a:p>
            <a:r>
              <a:rPr sz="850">
                <a:solidFill>
                  <a:srgbClr val="6B7385"/>
                </a:solidFill>
                <a:latin typeface="Courier New"/>
              </a:rPr>
              <a:t>13 </a:t>
            </a:r>
            <a:r>
              <a:rPr sz="850">
                <a:solidFill>
                  <a:srgbClr val="E6EAF0"/>
                </a:solidFill>
                <a:latin typeface="Courier New"/>
              </a:rPr>
              <a:t>    for w in cac_cua_so:</a:t>
            </a:r>
          </a:p>
          <a:p>
            <a:r>
              <a:rPr sz="850">
                <a:solidFill>
                  <a:srgbClr val="6B7385"/>
                </a:solidFill>
                <a:latin typeface="Courier New"/>
              </a:rPr>
              <a:t>14 </a:t>
            </a:r>
            <a:r>
              <a:rPr sz="850">
                <a:solidFill>
                  <a:srgbClr val="E6EAF0"/>
                </a:solidFill>
                <a:latin typeface="Courier New"/>
              </a:rPr>
              <a:t>        f[f"tb_{w}"] = tre.rolling(w).mean()       </a:t>
            </a:r>
            <a:r>
              <a:rPr sz="850">
                <a:solidFill>
                  <a:srgbClr val="8FC99A"/>
                </a:solidFill>
                <a:latin typeface="Courier New"/>
              </a:rPr>
              <a:t># rolling SAU</a:t>
            </a:r>
          </a:p>
          <a:p>
            <a:r>
              <a:rPr sz="850">
                <a:solidFill>
                  <a:srgbClr val="6B7385"/>
                </a:solidFill>
                <a:latin typeface="Courier New"/>
              </a:rPr>
              <a:t>15 </a:t>
            </a:r>
            <a:r>
              <a:rPr sz="850">
                <a:solidFill>
                  <a:srgbClr val="E6EAF0"/>
                </a:solidFill>
                <a:latin typeface="Courier New"/>
              </a:rPr>
              <a:t>        f[f"sd_{w}"] = tre.rolling(w).std()</a:t>
            </a:r>
          </a:p>
          <a:p>
            <a:r>
              <a:rPr sz="850">
                <a:solidFill>
                  <a:srgbClr val="6B7385"/>
                </a:solidFill>
                <a:latin typeface="Courier New"/>
              </a:rPr>
              <a:t>16 </a:t>
            </a:r>
            <a:r>
              <a:rPr sz="850">
                <a:solidFill>
                  <a:srgbClr val="E6EAF0"/>
                </a:solidFill>
                <a:latin typeface="Courier New"/>
              </a:rPr>
              <a:t>    return f</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2</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Sáu ngày doanh thu, dự báo trước 1 ngày.</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Ba cách tính trung bình 3 ngày; chỉ dòng 5 đúng.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Lùi chuỗi tam bước trước khi làm gì khác.</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Lag nhỏ hơn tầm dự báo bị nâng lên bằng tam.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12–14</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Mọi rolling tính trên chuỗi đã lùi.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Ngày 4: có tâm ra 14, không shift ra 11,33, shift ra 10. Cắt dữ liệu rồi tính lại: bản shift lệch 0, bản có tâm lệch tới 5.113.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shift(k)</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Dời chuỗi xuống k bước: ngày t nhận giá trị ngày t − k.</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rolling(w).mean()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w điểm gần nhất, tính tới chính điểm đó.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feature_tre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các cột lag và rolling theo đúng quy tắc shift trước.</a:t>
            </a:r>
          </a:p>
        </p:txBody>
      </p:sp>
      <p:pic>
        <p:nvPicPr>
          <p:cNvPr id="29" name="Picture 28" descr="kn-rolling.png"/>
          <p:cNvPicPr>
            <a:picLocks noChangeAspect="1"/>
          </p:cNvPicPr>
          <p:nvPr/>
        </p:nvPicPr>
        <p:blipFill>
          <a:blip r:embed="rId2"/>
          <a:stretch>
            <a:fillRect/>
          </a:stretch>
        </p:blipFill>
        <p:spPr>
          <a:xfrm>
            <a:off x="7863840" y="4228056"/>
            <a:ext cx="3776472" cy="2105207"/>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sin/cos, Fourier và Tết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Mã hoá lịch sao cho Chủ nhật nằm sát thứ Hai và mùa vụ năm chỉ tốn vài cột.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so = np.array([5, 6, 0])                    </a:t>
            </a:r>
            <a:r>
              <a:rPr sz="850">
                <a:solidFill>
                  <a:srgbClr val="8FC99A"/>
                </a:solidFill>
                <a:latin typeface="Courier New"/>
              </a:rPr>
              <a:t># thứ Bảy, Chủ nhật, thứ Hai</a:t>
            </a:r>
          </a:p>
          <a:p>
            <a:r>
              <a:rPr sz="850">
                <a:solidFill>
                  <a:srgbClr val="6B7385"/>
                </a:solidFill>
                <a:latin typeface="Courier New"/>
              </a:rPr>
              <a:t> 4 </a:t>
            </a:r>
            <a:r>
              <a:rPr sz="850">
                <a:solidFill>
                  <a:srgbClr val="E6EAF0"/>
                </a:solidFill>
                <a:latin typeface="Courier New"/>
              </a:rPr>
              <a:t>vong = np.column_stack([np.sin(2 * np.pi * so / 7),</a:t>
            </a:r>
          </a:p>
          <a:p>
            <a:r>
              <a:rPr sz="850">
                <a:solidFill>
                  <a:srgbClr val="6B7385"/>
                </a:solidFill>
                <a:latin typeface="Courier New"/>
              </a:rPr>
              <a:t> 5 </a:t>
            </a:r>
            <a:r>
              <a:rPr sz="850">
                <a:solidFill>
                  <a:srgbClr val="E6EAF0"/>
                </a:solidFill>
                <a:latin typeface="Courier New"/>
              </a:rPr>
              <a:t>                        np.cos(2 * np.pi * so / 7)])</a:t>
            </a:r>
          </a:p>
          <a:p>
            <a:r>
              <a:rPr sz="850">
                <a:solidFill>
                  <a:srgbClr val="6B7385"/>
                </a:solidFill>
                <a:latin typeface="Courier New"/>
              </a:rPr>
              <a:t> 6 </a:t>
            </a:r>
            <a:r>
              <a:rPr sz="850">
                <a:solidFill>
                  <a:srgbClr val="E6EAF0"/>
                </a:solidFill>
                <a:latin typeface="Courier New"/>
              </a:rPr>
              <a:t>cn_t2 = np.linalg.norm(vong[1] - vong[2])   </a:t>
            </a:r>
            <a:r>
              <a:rPr sz="850">
                <a:solidFill>
                  <a:srgbClr val="8FC99A"/>
                </a:solidFill>
                <a:latin typeface="Courier New"/>
              </a:rPr>
              <a:t># Chủ nhật – thứ Hai</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feature_fourier(moc, chu_ky=365.25, k=3):</a:t>
            </a:r>
          </a:p>
          <a:p>
            <a:r>
              <a:rPr sz="850">
                <a:solidFill>
                  <a:srgbClr val="6B7385"/>
                </a:solidFill>
                <a:latin typeface="Courier New"/>
              </a:rPr>
              <a:t> 9 </a:t>
            </a:r>
            <a:r>
              <a:rPr sz="850">
                <a:solidFill>
                  <a:srgbClr val="E6EAF0"/>
                </a:solidFill>
                <a:latin typeface="Courier New"/>
              </a:rPr>
              <a:t>    t = (moc - moc[0]).days.to_numpy().astype(float)</a:t>
            </a:r>
          </a:p>
          <a:p>
            <a:r>
              <a:rPr sz="850">
                <a:solidFill>
                  <a:srgbClr val="6B7385"/>
                </a:solidFill>
                <a:latin typeface="Courier New"/>
              </a:rPr>
              <a:t>10 </a:t>
            </a:r>
            <a:r>
              <a:rPr sz="850">
                <a:solidFill>
                  <a:srgbClr val="E6EAF0"/>
                </a:solidFill>
                <a:latin typeface="Courier New"/>
              </a:rPr>
              <a:t>    f = pd.DataFrame(index=moc)</a:t>
            </a:r>
          </a:p>
          <a:p>
            <a:r>
              <a:rPr sz="850">
                <a:solidFill>
                  <a:srgbClr val="6B7385"/>
                </a:solidFill>
                <a:latin typeface="Courier New"/>
              </a:rPr>
              <a:t>11 </a:t>
            </a:r>
            <a:r>
              <a:rPr sz="850">
                <a:solidFill>
                  <a:srgbClr val="E6EAF0"/>
                </a:solidFill>
                <a:latin typeface="Courier New"/>
              </a:rPr>
              <a:t>    for i in range(1, k + 1):                </a:t>
            </a:r>
            <a:r>
              <a:rPr sz="850">
                <a:solidFill>
                  <a:srgbClr val="8FC99A"/>
                </a:solidFill>
                <a:latin typeface="Courier New"/>
              </a:rPr>
              <a:t># sóng lặp i lần mỗi năm</a:t>
            </a:r>
          </a:p>
          <a:p>
            <a:r>
              <a:rPr sz="850">
                <a:solidFill>
                  <a:srgbClr val="6B7385"/>
                </a:solidFill>
                <a:latin typeface="Courier New"/>
              </a:rPr>
              <a:t>12 </a:t>
            </a:r>
            <a:r>
              <a:rPr sz="850">
                <a:solidFill>
                  <a:srgbClr val="E6EAF0"/>
                </a:solidFill>
                <a:latin typeface="Courier New"/>
              </a:rPr>
              <a:t>        f[f"fourier_sin_{i}"] = np.sin(2 * np.pi * i * t / chu_ky)</a:t>
            </a:r>
          </a:p>
          <a:p>
            <a:r>
              <a:rPr sz="850">
                <a:solidFill>
                  <a:srgbClr val="6B7385"/>
                </a:solidFill>
                <a:latin typeface="Courier New"/>
              </a:rPr>
              <a:t>13 </a:t>
            </a:r>
            <a:r>
              <a:rPr sz="850">
                <a:solidFill>
                  <a:srgbClr val="E6EAF0"/>
                </a:solidFill>
                <a:latin typeface="Courier New"/>
              </a:rPr>
              <a:t>        f[f"fourier_cos_{i}"] = np.cos(2 * np.pi * i * t / chu_ky)</a:t>
            </a:r>
          </a:p>
          <a:p>
            <a:r>
              <a:rPr sz="850">
                <a:solidFill>
                  <a:srgbClr val="6B7385"/>
                </a:solidFill>
                <a:latin typeface="Courier New"/>
              </a:rPr>
              <a:t>14 </a:t>
            </a:r>
            <a:r>
              <a:rPr sz="850">
                <a:solidFill>
                  <a:srgbClr val="E6EAF0"/>
                </a:solidFill>
                <a:latin typeface="Courier New"/>
              </a:rPr>
              <a:t>    return f</a:t>
            </a:r>
          </a:p>
          <a:p>
            <a:r>
              <a:rPr sz="850">
                <a:solidFill>
                  <a:srgbClr val="6B7385"/>
                </a:solidFill>
                <a:latin typeface="Courier New"/>
              </a:rPr>
              <a:t>15 </a:t>
            </a:r>
          </a:p>
          <a:p>
            <a:r>
              <a:rPr sz="850">
                <a:solidFill>
                  <a:srgbClr val="6B7385"/>
                </a:solidFill>
                <a:latin typeface="Courier New"/>
              </a:rPr>
              <a:t>16 </a:t>
            </a:r>
            <a:r>
              <a:rPr sz="850">
                <a:solidFill>
                  <a:srgbClr val="E6EAF0"/>
                </a:solidFill>
                <a:latin typeface="Courier New"/>
              </a:rPr>
              <a:t>d = so_ngay_toi_tet(wiki.index)             </a:t>
            </a:r>
            <a:r>
              <a:rPr sz="850">
                <a:solidFill>
                  <a:srgbClr val="8FC99A"/>
                </a:solidFill>
                <a:latin typeface="Courier New"/>
              </a:rPr>
              <a:t># Tết tính từ lịch âm UTC+7</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Đặt ba ngày cuối, đầu tuần lên vòng tròn.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Đo khoảng cách Chủ nhật tới thứ Hai.</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ngày thành số ngày kể từ đầu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Mỗi i thêm một cặp sóng, K = 3 cho 6 cột.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Đếm số ngày tới mùng 1 Tết gần nhất.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Chủ nhật cách thứ Hai 0,868, đúng bằng cách thứ Bảy. Thêm 5 feature Tết: cả năm chỉ tốt hơn 1,9%, quanh Tết tốt hơn 16,9%.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np.sin, np.cos</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sin, cos cho cả mảng một lần; cả cặp mới định vị đúng.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np.linalg.norm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Độ dài của một vectơ: khoảng cách giữa hai điểm trên vòng.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so_ngay_toi_tet</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Số ngày tới mùng 1 Tết gần nhất theo lịch âm; âm là đã qua.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8c28e547595d.png"/>
          <p:cNvPicPr>
            <a:picLocks noChangeAspect="1"/>
          </p:cNvPicPr>
          <p:nvPr/>
        </p:nvPicPr>
        <p:blipFill>
          <a:blip r:embed="rId2"/>
          <a:stretch>
            <a:fillRect/>
          </a:stretch>
        </p:blipFill>
        <p:spPr>
          <a:xfrm>
            <a:off x="8514588" y="4181855"/>
            <a:ext cx="2474976" cy="304800"/>
          </a:xfrm>
          <a:prstGeom prst="rect">
            <a:avLst/>
          </a:prstGeom>
        </p:spPr>
      </p:pic>
      <p:pic>
        <p:nvPicPr>
          <p:cNvPr id="31" name="Picture 30" descr="kn-ma-hoa-tuan-hoan.png"/>
          <p:cNvPicPr>
            <a:picLocks noChangeAspect="1"/>
          </p:cNvPicPr>
          <p:nvPr/>
        </p:nvPicPr>
        <p:blipFill>
          <a:blip r:embed="rId3"/>
          <a:stretch>
            <a:fillRect/>
          </a:stretch>
        </p:blipFill>
        <p:spPr>
          <a:xfrm>
            <a:off x="8263638" y="4745735"/>
            <a:ext cx="2976874" cy="1728216"/>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kiểu rò rỉ cả chuỗi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Đặt bản sai cạnh bản đúng để thấy số tương lai lọt vào quá khứ ở đâu.</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v = pd.Series([10, 12, 8, 14, 20, 16], index=range(1, 7), dtype=float)</a:t>
            </a:r>
          </a:p>
          <a:p>
            <a:r>
              <a:rPr sz="950">
                <a:solidFill>
                  <a:srgbClr val="6B7385"/>
                </a:solidFill>
                <a:latin typeface="Courier New"/>
              </a:rPr>
              <a:t> 5 </a:t>
            </a:r>
            <a:r>
              <a:rPr sz="950">
                <a:solidFill>
                  <a:srgbClr val="E6EAF0"/>
                </a:solidFill>
                <a:latin typeface="Courier New"/>
              </a:rPr>
              <a:t>nhom = pd.Series(["A", "B"] * 3, index=v.index)</a:t>
            </a:r>
          </a:p>
          <a:p>
            <a:r>
              <a:rPr sz="950">
                <a:solidFill>
                  <a:srgbClr val="6B7385"/>
                </a:solidFill>
                <a:latin typeface="Courier New"/>
              </a:rPr>
              <a:t> 6 </a:t>
            </a:r>
            <a:r>
              <a:rPr sz="950">
                <a:solidFill>
                  <a:srgbClr val="E6EAF0"/>
                </a:solidFill>
                <a:latin typeface="Courier New"/>
              </a:rPr>
              <a:t>co_lo = v.copy()</a:t>
            </a:r>
          </a:p>
          <a:p>
            <a:r>
              <a:rPr sz="950">
                <a:solidFill>
                  <a:srgbClr val="6B7385"/>
                </a:solidFill>
                <a:latin typeface="Courier New"/>
              </a:rPr>
              <a:t> 7 </a:t>
            </a:r>
            <a:r>
              <a:rPr sz="950">
                <a:solidFill>
                  <a:srgbClr val="E6EAF0"/>
                </a:solidFill>
                <a:latin typeface="Courier New"/>
              </a:rPr>
              <a:t>co_lo[3] = np.nan                                  </a:t>
            </a:r>
            <a:r>
              <a:rPr sz="950">
                <a:solidFill>
                  <a:srgbClr val="8FC99A"/>
                </a:solidFill>
                <a:latin typeface="Courier New"/>
              </a:rPr>
              <a:t># ngày 3 mất số</a:t>
            </a:r>
          </a:p>
          <a:p>
            <a:r>
              <a:rPr sz="950">
                <a:solidFill>
                  <a:srgbClr val="6B7385"/>
                </a:solidFill>
                <a:latin typeface="Courier New"/>
              </a:rPr>
              <a:t> 8 </a:t>
            </a:r>
            <a:r>
              <a:rPr sz="950">
                <a:solidFill>
                  <a:srgbClr val="E6EAF0"/>
                </a:solidFill>
                <a:latin typeface="Courier New"/>
              </a:rPr>
              <a:t>z_sai = (v - v.mean()) / v.std()                   </a:t>
            </a:r>
            <a:r>
              <a:rPr sz="950">
                <a:solidFill>
                  <a:srgbClr val="8FC99A"/>
                </a:solidFill>
                <a:latin typeface="Courier New"/>
              </a:rPr>
              <a:t># dùng cả 6 ngày</a:t>
            </a:r>
          </a:p>
          <a:p>
            <a:r>
              <a:rPr sz="950">
                <a:solidFill>
                  <a:srgbClr val="6B7385"/>
                </a:solidFill>
                <a:latin typeface="Courier New"/>
              </a:rPr>
              <a:t> 9 </a:t>
            </a:r>
            <a:r>
              <a:rPr sz="950">
                <a:solidFill>
                  <a:srgbClr val="E6EAF0"/>
                </a:solidFill>
                <a:latin typeface="Courier New"/>
              </a:rPr>
              <a:t>tb_dung = v.shift(1).expanding().mean()            </a:t>
            </a:r>
            <a:r>
              <a:rPr sz="950">
                <a:solidFill>
                  <a:srgbClr val="8FC99A"/>
                </a:solidFill>
                <a:latin typeface="Courier New"/>
              </a:rPr>
              <a:t># chỉ ngày trước t</a:t>
            </a:r>
          </a:p>
          <a:p>
            <a:r>
              <a:rPr sz="950">
                <a:solidFill>
                  <a:srgbClr val="6B7385"/>
                </a:solidFill>
                <a:latin typeface="Courier New"/>
              </a:rPr>
              <a:t>10 </a:t>
            </a:r>
            <a:r>
              <a:rPr sz="950">
                <a:solidFill>
                  <a:srgbClr val="E6EAF0"/>
                </a:solidFill>
                <a:latin typeface="Courier New"/>
              </a:rPr>
              <a:t>nhom_sai = v.groupby(nhom).transform("mean")       </a:t>
            </a:r>
            <a:r>
              <a:rPr sz="950">
                <a:solidFill>
                  <a:srgbClr val="8FC99A"/>
                </a:solidFill>
                <a:latin typeface="Courier New"/>
              </a:rPr>
              <a:t># có số tương lai</a:t>
            </a:r>
          </a:p>
          <a:p>
            <a:r>
              <a:rPr sz="950">
                <a:solidFill>
                  <a:srgbClr val="6B7385"/>
                </a:solidFill>
                <a:latin typeface="Courier New"/>
              </a:rPr>
              <a:t>11 </a:t>
            </a:r>
            <a:r>
              <a:rPr sz="950">
                <a:solidFill>
                  <a:srgbClr val="E6EAF0"/>
                </a:solidFill>
                <a:latin typeface="Courier New"/>
              </a:rPr>
              <a:t>nhom_dung = v.groupby(nhom).transform(</a:t>
            </a:r>
          </a:p>
          <a:p>
            <a:r>
              <a:rPr sz="950">
                <a:solidFill>
                  <a:srgbClr val="6B7385"/>
                </a:solidFill>
                <a:latin typeface="Courier New"/>
              </a:rPr>
              <a:t>12 </a:t>
            </a:r>
            <a:r>
              <a:rPr sz="950">
                <a:solidFill>
                  <a:srgbClr val="E6EAF0"/>
                </a:solidFill>
                <a:latin typeface="Courier New"/>
              </a:rPr>
              <a:t>    lambda s: s.shift(1).expanding().mean())       </a:t>
            </a:r>
            <a:r>
              <a:rPr sz="950">
                <a:solidFill>
                  <a:srgbClr val="8FC99A"/>
                </a:solidFill>
                <a:latin typeface="Courier New"/>
              </a:rPr>
              <a:t># nhóm, chỉ quá khứ</a:t>
            </a:r>
          </a:p>
          <a:p>
            <a:r>
              <a:rPr sz="950">
                <a:solidFill>
                  <a:srgbClr val="6B7385"/>
                </a:solidFill>
                <a:latin typeface="Courier New"/>
              </a:rPr>
              <a:t>13 </a:t>
            </a:r>
            <a:r>
              <a:rPr sz="950">
                <a:solidFill>
                  <a:srgbClr val="E6EAF0"/>
                </a:solidFill>
                <a:latin typeface="Courier New"/>
              </a:rPr>
              <a:t>dien_sai = co_lo.interpolate(limit_direction="both")  </a:t>
            </a:r>
            <a:r>
              <a:rPr sz="950">
                <a:solidFill>
                  <a:srgbClr val="8FC99A"/>
                </a:solidFill>
                <a:latin typeface="Courier New"/>
              </a:rPr>
              <a:t># nhìn ngày 4</a:t>
            </a:r>
          </a:p>
          <a:p>
            <a:r>
              <a:rPr sz="950">
                <a:solidFill>
                  <a:srgbClr val="6B7385"/>
                </a:solidFill>
                <a:latin typeface="Courier New"/>
              </a:rPr>
              <a:t>14 </a:t>
            </a:r>
            <a:r>
              <a:rPr sz="950">
                <a:solidFill>
                  <a:srgbClr val="E6EAF0"/>
                </a:solidFill>
                <a:latin typeface="Courier New"/>
              </a:rPr>
              <a:t>dien_dung = co_lo.ffill()                          </a:t>
            </a:r>
            <a:r>
              <a:rPr sz="950">
                <a:solidFill>
                  <a:srgbClr val="8FC99A"/>
                </a:solidFill>
                <a:latin typeface="Courier New"/>
              </a:rPr>
              <a:t># lấy hôm trước</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4–7</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Sáu ngày, hai nhóm, ngày 3 bị mất số.</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Chuẩn hoá: toàn chuỗi so với chỉ quá khứ.</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nhóm: toàn chuỗi so với quá khứ.</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Điền chỗ thiếu: hai phía so với lấy hôm trước.</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Mọi ô z dùng trung bình 13,33 có cả hai ngày cuối. Ngày 1 mang trung bình nhóm A 12,67 có số 20 của ngày 5. Điền hai phía ra 13, ffill ra 12.</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shift(1).expanding().mean()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từ đầu chuỗi tới hôm qua, không chạm ngày t.</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groupby(nhom).transform</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theo từng nhóm rồi trả về đúng chỗ của mỗi dòng.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interpolate(limit_direction="both")</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Điền chỗ thiếu bằng đường nối hai phía, tức dùng cả ngày sau.</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bài kiểm cắt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Để máy tự tìm rò rỉ: cắt dữ liệu, tính lại feature, so từng dòng trước mốc.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def kiem_ro_ri(ham_feature, y, cac_moc=None, bo_cuoi=0):</a:t>
            </a:r>
          </a:p>
          <a:p>
            <a:r>
              <a:rPr sz="850">
                <a:solidFill>
                  <a:srgbClr val="6B7385"/>
                </a:solidFill>
                <a:latin typeface="Courier New"/>
              </a:rPr>
              <a:t> 3 </a:t>
            </a:r>
            <a:r>
              <a:rPr sz="850">
                <a:solidFill>
                  <a:srgbClr val="E6EAF0"/>
                </a:solidFill>
                <a:latin typeface="Courier New"/>
              </a:rPr>
              <a:t>    day_du, bi_bat = ham_feature(y), {}            </a:t>
            </a:r>
            <a:r>
              <a:rPr sz="850">
                <a:solidFill>
                  <a:srgbClr val="8FC99A"/>
                </a:solidFill>
                <a:latin typeface="Courier New"/>
              </a:rPr>
              <a:t># tính trên cả chuỗi</a:t>
            </a:r>
          </a:p>
          <a:p>
            <a:r>
              <a:rPr sz="850">
                <a:solidFill>
                  <a:srgbClr val="6B7385"/>
                </a:solidFill>
                <a:latin typeface="Courier New"/>
              </a:rPr>
              <a:t> 4 </a:t>
            </a:r>
            <a:r>
              <a:rPr sz="850">
                <a:solidFill>
                  <a:srgbClr val="E6EAF0"/>
                </a:solidFill>
                <a:latin typeface="Courier New"/>
              </a:rPr>
              <a:t>    cac_moc = cac_moc or [y.index[int(len(y) * p)]</a:t>
            </a:r>
          </a:p>
          <a:p>
            <a:r>
              <a:rPr sz="850">
                <a:solidFill>
                  <a:srgbClr val="6B7385"/>
                </a:solidFill>
                <a:latin typeface="Courier New"/>
              </a:rPr>
              <a:t> 5 </a:t>
            </a:r>
            <a:r>
              <a:rPr sz="850">
                <a:solidFill>
                  <a:srgbClr val="E6EAF0"/>
                </a:solidFill>
                <a:latin typeface="Courier New"/>
              </a:rPr>
              <a:t>                          for p in (0.5, 0.7, 0.9)]   </a:t>
            </a:r>
            <a:r>
              <a:rPr sz="850">
                <a:solidFill>
                  <a:srgbClr val="8FC99A"/>
                </a:solidFill>
                <a:latin typeface="Courier New"/>
              </a:rPr>
              <a:t># nhiều mốc</a:t>
            </a:r>
          </a:p>
          <a:p>
            <a:r>
              <a:rPr sz="850">
                <a:solidFill>
                  <a:srgbClr val="6B7385"/>
                </a:solidFill>
                <a:latin typeface="Courier New"/>
              </a:rPr>
              <a:t> 6 </a:t>
            </a:r>
            <a:r>
              <a:rPr sz="850">
                <a:solidFill>
                  <a:srgbClr val="E6EAF0"/>
                </a:solidFill>
                <a:latin typeface="Courier New"/>
              </a:rPr>
              <a:t>    for moc in cac_moc:</a:t>
            </a:r>
          </a:p>
          <a:p>
            <a:r>
              <a:rPr sz="850">
                <a:solidFill>
                  <a:srgbClr val="6B7385"/>
                </a:solidFill>
                <a:latin typeface="Courier New"/>
              </a:rPr>
              <a:t> 7 </a:t>
            </a:r>
            <a:r>
              <a:rPr sz="850">
                <a:solidFill>
                  <a:srgbClr val="E6EAF0"/>
                </a:solidFill>
                <a:latin typeface="Courier New"/>
              </a:rPr>
              <a:t>        cat = ham_feature(y[y.index &lt;= moc])       </a:t>
            </a:r>
            <a:r>
              <a:rPr sz="850">
                <a:solidFill>
                  <a:srgbClr val="8FC99A"/>
                </a:solidFill>
                <a:latin typeface="Courier New"/>
              </a:rPr>
              <a:t># cắt rồi tính lại</a:t>
            </a:r>
          </a:p>
          <a:p>
            <a:r>
              <a:rPr sz="850">
                <a:solidFill>
                  <a:srgbClr val="6B7385"/>
                </a:solidFill>
                <a:latin typeface="Courier New"/>
              </a:rPr>
              <a:t> 8 </a:t>
            </a:r>
            <a:r>
              <a:rPr sz="850">
                <a:solidFill>
                  <a:srgbClr val="E6EAF0"/>
                </a:solidFill>
                <a:latin typeface="Courier New"/>
              </a:rPr>
              <a:t>        chung = day_du.index[day_du.index &lt;= moc]</a:t>
            </a:r>
          </a:p>
          <a:p>
            <a:r>
              <a:rPr sz="850">
                <a:solidFill>
                  <a:srgbClr val="6B7385"/>
                </a:solidFill>
                <a:latin typeface="Courier New"/>
              </a:rPr>
              <a:t> 9 </a:t>
            </a:r>
            <a:r>
              <a:rPr sz="850">
                <a:solidFill>
                  <a:srgbClr val="E6EAF0"/>
                </a:solidFill>
                <a:latin typeface="Courier New"/>
              </a:rPr>
              <a:t>        chung = chung[:len(chung) - bo_cuoi]       </a:t>
            </a:r>
            <a:r>
              <a:rPr sz="850">
                <a:solidFill>
                  <a:srgbClr val="8FC99A"/>
                </a:solidFill>
                <a:latin typeface="Courier New"/>
              </a:rPr>
              <a:t># bo_cuoi=0: so MỌI dòng</a:t>
            </a:r>
          </a:p>
          <a:p>
            <a:r>
              <a:rPr sz="850">
                <a:solidFill>
                  <a:srgbClr val="6B7385"/>
                </a:solidFill>
                <a:latin typeface="Courier New"/>
              </a:rPr>
              <a:t>10 </a:t>
            </a:r>
            <a:r>
              <a:rPr sz="850">
                <a:solidFill>
                  <a:srgbClr val="E6EAF0"/>
                </a:solidFill>
                <a:latin typeface="Courier New"/>
              </a:rPr>
              <a:t>        for cot in day_du.columns:</a:t>
            </a:r>
          </a:p>
          <a:p>
            <a:r>
              <a:rPr sz="850">
                <a:solidFill>
                  <a:srgbClr val="6B7385"/>
                </a:solidFill>
                <a:latin typeface="Courier New"/>
              </a:rPr>
              <a:t>11 </a:t>
            </a:r>
            <a:r>
              <a:rPr sz="850">
                <a:solidFill>
                  <a:srgbClr val="E6EAF0"/>
                </a:solidFill>
                <a:latin typeface="Courier New"/>
              </a:rPr>
              <a:t>            a = day_du.loc[chung, cot].to_numpy(float)</a:t>
            </a:r>
          </a:p>
          <a:p>
            <a:r>
              <a:rPr sz="850">
                <a:solidFill>
                  <a:srgbClr val="6B7385"/>
                </a:solidFill>
                <a:latin typeface="Courier New"/>
              </a:rPr>
              <a:t>12 </a:t>
            </a:r>
            <a:r>
              <a:rPr sz="850">
                <a:solidFill>
                  <a:srgbClr val="E6EAF0"/>
                </a:solidFill>
                <a:latin typeface="Courier New"/>
              </a:rPr>
              <a:t>            b = cat.reindex(chung)[cot].to_numpy(float)</a:t>
            </a:r>
          </a:p>
          <a:p>
            <a:r>
              <a:rPr sz="850">
                <a:solidFill>
                  <a:srgbClr val="6B7385"/>
                </a:solidFill>
                <a:latin typeface="Courier New"/>
              </a:rPr>
              <a:t>13 </a:t>
            </a:r>
            <a:r>
              <a:rPr sz="850">
                <a:solidFill>
                  <a:srgbClr val="E6EAF0"/>
                </a:solidFill>
                <a:latin typeface="Courier New"/>
              </a:rPr>
              <a:t>            khac = ~np.isclose(a, b, rtol=0, atol=1e-9, equal_nan=True)</a:t>
            </a:r>
          </a:p>
          <a:p>
            <a:r>
              <a:rPr sz="850">
                <a:solidFill>
                  <a:srgbClr val="6B7385"/>
                </a:solidFill>
                <a:latin typeface="Courier New"/>
              </a:rPr>
              <a:t>14 </a:t>
            </a:r>
            <a:r>
              <a:rPr sz="850">
                <a:solidFill>
                  <a:srgbClr val="E6EAF0"/>
                </a:solidFill>
                <a:latin typeface="Courier New"/>
              </a:rPr>
              <a:t>            if khac.any():</a:t>
            </a:r>
          </a:p>
          <a:p>
            <a:r>
              <a:rPr sz="850">
                <a:solidFill>
                  <a:srgbClr val="6B7385"/>
                </a:solidFill>
                <a:latin typeface="Courier New"/>
              </a:rPr>
              <a:t>15 </a:t>
            </a:r>
            <a:r>
              <a:rPr sz="850">
                <a:solidFill>
                  <a:srgbClr val="E6EAF0"/>
                </a:solidFill>
                <a:latin typeface="Courier New"/>
              </a:rPr>
              <a:t>                bi_bat[cot] = max(bi_bat.get(cot, 0), int(khac.sum()))</a:t>
            </a:r>
          </a:p>
          <a:p>
            <a:r>
              <a:rPr sz="850">
                <a:solidFill>
                  <a:srgbClr val="6B7385"/>
                </a:solidFill>
                <a:latin typeface="Courier New"/>
              </a:rPr>
              <a:t>16 </a:t>
            </a:r>
            <a:r>
              <a:rPr sz="850">
                <a:solidFill>
                  <a:srgbClr val="E6EAF0"/>
                </a:solidFill>
                <a:latin typeface="Courier New"/>
              </a:rPr>
              <a:t>    return bi_bat                                  </a:t>
            </a:r>
            <a:r>
              <a:rPr sz="850">
                <a:solidFill>
                  <a:srgbClr val="8FC99A"/>
                </a:solidFill>
                <a:latin typeface="Courier New"/>
              </a:rPr>
              <a:t># {feature: số dòng đổi}</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feature một lần trên dữ liệu đầy đủ.</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Cắt ở 50, 70, 90% chuỗi, không chỉ một mốc.</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Bỏ phần sau mốc rồi tính lại feature.</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So mọi dòng trước mốc, không bỏ dòng cuối.</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Cột nào đổi dù chỉ một dòng là rò rỉ.</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 ẩu (một mốc, bỏ 10 dòng cuối) bắt 4 cột, lọt tb_7. Bản đúng bắt đủ 5 cột. Bộ 41 cột đã sửa qua sạch cả hai bài kiểm.</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np.isclose(equal_nan=True)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So hai mảng từng ô; NaN gặp NaN là bằng, NaN gặp số là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lại bảng theo danh sách mốc cho trước; mốc thiếu thành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kiem_ro_ri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Trả các cột bị đổi khi cắt tương lai, kèm số dòng đổi.</a:t>
            </a:r>
          </a:p>
        </p:txBody>
      </p:sp>
      <p:pic>
        <p:nvPicPr>
          <p:cNvPr id="29" name="Picture 28" descr="kiem-ro-ri.png"/>
          <p:cNvPicPr>
            <a:picLocks noChangeAspect="1"/>
          </p:cNvPicPr>
          <p:nvPr/>
        </p:nvPicPr>
        <p:blipFill>
          <a:blip r:embed="rId2"/>
          <a:stretch>
            <a:fillRect/>
          </a:stretch>
        </p:blipFill>
        <p:spPr>
          <a:xfrm>
            <a:off x="7863840" y="4692103"/>
            <a:ext cx="3776472" cy="1177112"/>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nhiệt độ thật hay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cái giá của rò rỉ: học bằng nhiệt độ thật, chạy bằng bản dự báo nhiệt độ.</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TAM = 24</a:t>
            </a:r>
          </a:p>
          <a:p>
            <a:r>
              <a:rPr sz="950">
                <a:solidFill>
                  <a:srgbClr val="6B7385"/>
                </a:solidFill>
                <a:latin typeface="Courier New"/>
              </a:rPr>
              <a:t> 4 </a:t>
            </a:r>
            <a:r>
              <a:rPr sz="950">
                <a:solidFill>
                  <a:srgbClr val="E6EAF0"/>
                </a:solidFill>
                <a:latin typeface="Courier New"/>
              </a:rPr>
              <a:t>d["muc_tieu"] = d["phu_tai"].shift(-TAM)            </a:t>
            </a:r>
            <a:r>
              <a:rPr sz="950">
                <a:solidFill>
                  <a:srgbClr val="8FC99A"/>
                </a:solidFill>
                <a:latin typeface="Courier New"/>
              </a:rPr>
              <a:t># tải của giờ t + 24</a:t>
            </a:r>
          </a:p>
          <a:p>
            <a:r>
              <a:rPr sz="950">
                <a:solidFill>
                  <a:srgbClr val="6B7385"/>
                </a:solidFill>
                <a:latin typeface="Courier New"/>
              </a:rPr>
              <a:t> 5 </a:t>
            </a:r>
            <a:r>
              <a:rPr sz="950">
                <a:solidFill>
                  <a:srgbClr val="E6EAF0"/>
                </a:solidFill>
                <a:latin typeface="Courier New"/>
              </a:rPr>
              <a:t>d["lag_24"], d["lag_168"] = d["phu_tai"], d["phu_tai"].shift(144)</a:t>
            </a:r>
          </a:p>
          <a:p>
            <a:r>
              <a:rPr sz="950">
                <a:solidFill>
                  <a:srgbClr val="6B7385"/>
                </a:solidFill>
                <a:latin typeface="Courier New"/>
              </a:rPr>
              <a:t> 6 </a:t>
            </a:r>
            <a:r>
              <a:rPr sz="950">
                <a:solidFill>
                  <a:srgbClr val="E6EAF0"/>
                </a:solidFill>
                <a:latin typeface="Courier New"/>
              </a:rPr>
              <a:t>for c in ("nhiet_do_that", "du_bao_1_ngay", "du_bao_3_ngay"):</a:t>
            </a:r>
          </a:p>
          <a:p>
            <a:r>
              <a:rPr sz="950">
                <a:solidFill>
                  <a:srgbClr val="6B7385"/>
                </a:solidFill>
                <a:latin typeface="Courier New"/>
              </a:rPr>
              <a:t> 7 </a:t>
            </a:r>
            <a:r>
              <a:rPr sz="950">
                <a:solidFill>
                  <a:srgbClr val="E6EAF0"/>
                </a:solidFill>
                <a:latin typeface="Courier New"/>
              </a:rPr>
              <a:t>    d[f"{c}_muc_tieu"] = d[c].shift(-TAM)           </a:t>
            </a:r>
            <a:r>
              <a:rPr sz="950">
                <a:solidFill>
                  <a:srgbClr val="8FC99A"/>
                </a:solidFill>
                <a:latin typeface="Courier New"/>
              </a:rPr>
              <a:t># nhiệt độ ở giờ đích</a:t>
            </a:r>
          </a:p>
          <a:p>
            <a:r>
              <a:rPr sz="950">
                <a:solidFill>
                  <a:srgbClr val="6B7385"/>
                </a:solidFill>
                <a:latin typeface="Courier New"/>
              </a:rPr>
              <a:t> 8 </a:t>
            </a:r>
            <a:r>
              <a:rPr sz="950">
                <a:solidFill>
                  <a:srgbClr val="E6EAF0"/>
                </a:solidFill>
                <a:latin typeface="Courier New"/>
              </a:rPr>
              <a:t>NEN = ["lag_24", "lag_168", "gio_sin", "gio_cos"]</a:t>
            </a:r>
          </a:p>
          <a:p>
            <a:r>
              <a:rPr sz="950">
                <a:solidFill>
                  <a:srgbClr val="6B7385"/>
                </a:solidFill>
                <a:latin typeface="Courier New"/>
              </a:rPr>
              <a:t> 9 </a:t>
            </a:r>
            <a:r>
              <a:rPr sz="950">
                <a:solidFill>
                  <a:srgbClr val="E6EAF0"/>
                </a:solidFill>
                <a:latin typeface="Courier New"/>
              </a:rPr>
              <a:t>ro_ri = mae(NEN + ["nhiet_do_that_muc_tieu"])       </a:t>
            </a:r>
            <a:r>
              <a:rPr sz="950">
                <a:solidFill>
                  <a:srgbClr val="8FC99A"/>
                </a:solidFill>
                <a:latin typeface="Courier New"/>
              </a:rPr>
              <a:t># backtest bằng sự thật</a:t>
            </a:r>
          </a:p>
          <a:p>
            <a:r>
              <a:rPr sz="950">
                <a:solidFill>
                  <a:srgbClr val="6B7385"/>
                </a:solidFill>
                <a:latin typeface="Courier New"/>
              </a:rPr>
              <a:t>10 </a:t>
            </a:r>
            <a:r>
              <a:rPr sz="950">
                <a:solidFill>
                  <a:srgbClr val="E6EAF0"/>
                </a:solidFill>
                <a:latin typeface="Courier New"/>
              </a:rPr>
              <a:t>chay_that = mae(NEN + ["nhiet_do_that_muc_tieu"],   </a:t>
            </a:r>
            <a:r>
              <a:rPr sz="950">
                <a:solidFill>
                  <a:srgbClr val="8FC99A"/>
                </a:solidFill>
                <a:latin typeface="Courier New"/>
              </a:rPr>
              <a:t># học bằng thật,</a:t>
            </a:r>
          </a:p>
          <a:p>
            <a:r>
              <a:rPr sz="950">
                <a:solidFill>
                  <a:srgbClr val="6B7385"/>
                </a:solidFill>
                <a:latin typeface="Courier New"/>
              </a:rPr>
              <a:t>11 </a:t>
            </a:r>
            <a:r>
              <a:rPr sz="950">
                <a:solidFill>
                  <a:srgbClr val="E6EAF0"/>
                </a:solidFill>
                <a:latin typeface="Courier New"/>
              </a:rPr>
              <a:t>                NEN + ["du_bao_3_ngay_muc_tieu"])   </a:t>
            </a:r>
            <a:r>
              <a:rPr sz="950">
                <a:solidFill>
                  <a:srgbClr val="8FC99A"/>
                </a:solidFill>
                <a:latin typeface="Courier New"/>
              </a:rPr>
              <a:t># chạy bằng dự báo</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ghep = pd.merge_asof(trai, phai, left_index=True, right_index=True,</a:t>
            </a:r>
          </a:p>
          <a:p>
            <a:r>
              <a:rPr sz="950">
                <a:solidFill>
                  <a:srgbClr val="6B7385"/>
                </a:solidFill>
                <a:latin typeface="Courier New"/>
              </a:rPr>
              <a:t>14 </a:t>
            </a:r>
            <a:r>
              <a:rPr sz="950">
                <a:solidFill>
                  <a:srgbClr val="E6EAF0"/>
                </a:solidFill>
                <a:latin typeface="Courier New"/>
              </a:rPr>
              <a:t>                     direction="backward",           </a:t>
            </a:r>
            <a:r>
              <a:rPr sz="950">
                <a:solidFill>
                  <a:srgbClr val="8FC99A"/>
                </a:solidFill>
                <a:latin typeface="Courier New"/>
              </a:rPr>
              <a:t># chỉ bản tin cũ hơn</a:t>
            </a:r>
          </a:p>
          <a:p>
            <a:r>
              <a:rPr sz="950">
                <a:solidFill>
                  <a:srgbClr val="6B7385"/>
                </a:solidFill>
                <a:latin typeface="Courier New"/>
              </a:rPr>
              <a:t>15 </a:t>
            </a:r>
            <a:r>
              <a:rPr sz="950">
                <a:solidFill>
                  <a:srgbClr val="E6EAF0"/>
                </a:solidFill>
                <a:latin typeface="Courier New"/>
              </a:rPr>
              <a:t>                     tolerance=pd.Timedelta("3h"))   </a:t>
            </a:r>
            <a:r>
              <a:rPr sz="950">
                <a:solidFill>
                  <a:srgbClr val="8FC99A"/>
                </a:solidFill>
                <a:latin typeface="Courier New"/>
              </a:rPr>
              <a:t># quá 3 giờ: để trống</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Đích là tải điện 24 giờ sau lúc dự báo.</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Ba nguồn nhiệt độ cho đúng giờ cần dự báo.</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Backtest bằng nhiệt độ thật: con số hứa hẹn.</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Kịch bản hay gặp: học thật, chạy dự báo.</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Ghép bản tin gần nhất trước đó, có hạn 3 giờ.</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Nhiệt độ thật hứa giảm 3,85% sai số. Học bằng thật, chạy bằng dự báo trước 3 ngày thì sai số tăng 2,20%, tệ hơn không dùng nhiệt độ.</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shift(-24)</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Kéo giá trị 24 giờ sau về dòng hiện tại để làm đích dự báo.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pd.merge_asof</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Ghép mỗi dòng với dòng gần nhất của bảng kia, không cần trùng mốc.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Hồi quy tuyến tính học 70% đầu, trả MAE trên 30% cuối.</a:t>
            </a:r>
          </a:p>
        </p:txBody>
      </p:sp>
      <p:pic>
        <p:nvPicPr>
          <p:cNvPr id="29" name="Picture 28" descr="kn-merge-asof.png"/>
          <p:cNvPicPr>
            <a:picLocks noChangeAspect="1"/>
          </p:cNvPicPr>
          <p:nvPr/>
        </p:nvPicPr>
        <p:blipFill>
          <a:blip r:embed="rId2"/>
          <a:stretch>
            <a:fillRect/>
          </a:stretch>
        </p:blipFill>
        <p:spPr>
          <a:xfrm>
            <a:off x="7863840" y="4250452"/>
            <a:ext cx="3776472" cy="2060415"/>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bốn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Bốn câu đoán đơn giản nhất về tương lai; mọi mô hình phải thắng cả bốn.</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bl_trung_binh(y, tam=14):</a:t>
            </a:r>
          </a:p>
          <a:p>
            <a:r>
              <a:rPr sz="950">
                <a:solidFill>
                  <a:srgbClr val="6B7385"/>
                </a:solidFill>
                <a:latin typeface="Courier New"/>
              </a:rPr>
              <a:t> 4 </a:t>
            </a:r>
            <a:r>
              <a:rPr sz="950">
                <a:solidFill>
                  <a:srgbClr val="E6EAF0"/>
                </a:solidFill>
                <a:latin typeface="Courier New"/>
              </a:rPr>
              <a:t>    return np.repeat(float(np.mean(y)), tam)       </a:t>
            </a:r>
            <a:r>
              <a:rPr sz="950">
                <a:solidFill>
                  <a:srgbClr val="8FC99A"/>
                </a:solidFill>
                <a:latin typeface="Courier New"/>
              </a:rPr>
              <a:t># mức trung bình</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def bl_naive(y, tam=14):</a:t>
            </a:r>
          </a:p>
          <a:p>
            <a:r>
              <a:rPr sz="950">
                <a:solidFill>
                  <a:srgbClr val="6B7385"/>
                </a:solidFill>
                <a:latin typeface="Courier New"/>
              </a:rPr>
              <a:t> 7 </a:t>
            </a:r>
            <a:r>
              <a:rPr sz="950">
                <a:solidFill>
                  <a:srgbClr val="E6EAF0"/>
                </a:solidFill>
                <a:latin typeface="Courier New"/>
              </a:rPr>
              <a:t>    return np.repeat(float(y[-1]), tam)            </a:t>
            </a:r>
            <a:r>
              <a:rPr sz="950">
                <a:solidFill>
                  <a:srgbClr val="8FC99A"/>
                </a:solidFill>
                <a:latin typeface="Courier New"/>
              </a:rPr>
              <a:t># giá trị cuối</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bl_naive_mua_vu(y, tam=14, m=7):</a:t>
            </a:r>
          </a:p>
          <a:p>
            <a:r>
              <a:rPr sz="950">
                <a:solidFill>
                  <a:srgbClr val="6B7385"/>
                </a:solidFill>
                <a:latin typeface="Courier New"/>
              </a:rPr>
              <a:t>10 </a:t>
            </a:r>
            <a:r>
              <a:rPr sz="950">
                <a:solidFill>
                  <a:srgbClr val="E6EAF0"/>
                </a:solidFill>
                <a:latin typeface="Courier New"/>
              </a:rPr>
              <a:t>    mua = y[-m:]                                   </a:t>
            </a:r>
            <a:r>
              <a:rPr sz="950">
                <a:solidFill>
                  <a:srgbClr val="8FC99A"/>
                </a:solidFill>
                <a:latin typeface="Courier New"/>
              </a:rPr>
              <a:t># vòng mùa vụ vừa qua</a:t>
            </a:r>
          </a:p>
          <a:p>
            <a:r>
              <a:rPr sz="950">
                <a:solidFill>
                  <a:srgbClr val="6B7385"/>
                </a:solidFill>
                <a:latin typeface="Courier New"/>
              </a:rPr>
              <a:t>11 </a:t>
            </a:r>
            <a:r>
              <a:rPr sz="950">
                <a:solidFill>
                  <a:srgbClr val="E6EAF0"/>
                </a:solidFill>
                <a:latin typeface="Courier New"/>
              </a:rPr>
              <a:t>    return np.array([mua[i % m] for i in range(tam)], dtype=float)</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def bl_drift(y, tam=14):</a:t>
            </a:r>
          </a:p>
          <a:p>
            <a:r>
              <a:rPr sz="950">
                <a:solidFill>
                  <a:srgbClr val="6B7385"/>
                </a:solidFill>
                <a:latin typeface="Courier New"/>
              </a:rPr>
              <a:t>14 </a:t>
            </a:r>
            <a:r>
              <a:rPr sz="950">
                <a:solidFill>
                  <a:srgbClr val="E6EAF0"/>
                </a:solidFill>
                <a:latin typeface="Courier New"/>
              </a:rPr>
              <a:t>    doc = (y[-1] - y[0]) / (len(y) - 1)            </a:t>
            </a:r>
            <a:r>
              <a:rPr sz="950">
                <a:solidFill>
                  <a:srgbClr val="8FC99A"/>
                </a:solidFill>
                <a:latin typeface="Courier New"/>
              </a:rPr>
              <a:t># độ dốc đầu tới cuối</a:t>
            </a:r>
          </a:p>
          <a:p>
            <a:r>
              <a:rPr sz="950">
                <a:solidFill>
                  <a:srgbClr val="6B7385"/>
                </a:solidFill>
                <a:latin typeface="Courier New"/>
              </a:rPr>
              <a:t>15 </a:t>
            </a:r>
            <a:r>
              <a:rPr sz="950">
                <a:solidFill>
                  <a:srgbClr val="E6EAF0"/>
                </a:solidFill>
                <a:latin typeface="Courier New"/>
              </a:rPr>
              <a:t>    return y[-1] + doc * np.arange(1, tam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mức trung bình cả lịch sử 14 lần.</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giá trị cuối cùng 14 lần.</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lại tuần vừa qua, m = 7 ngày.</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Kéo dài đường thẳng nối điểm đầu và cuối.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MASE trung vị trên 1.000 chuỗi M4 theo ngày: trung bình 8,85; naive 0,835; seasonal naive 1,077; drift 0,810.</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np.repeat</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Lặp một con số thành mảng dài tam phần tử.</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y[-m:]</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m giá trị cuối của mảng: một vòng mùa vụ.</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np.arange(1, tam + 1)</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Dãy 1, 2, …, tam: số bước đi tiếp theo đường thẳng.</a:t>
            </a:r>
          </a:p>
        </p:txBody>
      </p:sp>
      <p:pic>
        <p:nvPicPr>
          <p:cNvPr id="27" name="Picture 26" descr="bon-baseline.png"/>
          <p:cNvPicPr>
            <a:picLocks noChangeAspect="1"/>
          </p:cNvPicPr>
          <p:nvPr/>
        </p:nvPicPr>
        <p:blipFill>
          <a:blip r:embed="rId2"/>
          <a:stretch>
            <a:fillRect/>
          </a:stretch>
        </p:blipFill>
        <p:spPr>
          <a:xfrm>
            <a:off x="7863840" y="4643199"/>
            <a:ext cx="3776472" cy="1274921"/>
          </a:xfrm>
          <a:prstGeom prst="rect">
            <a:avLst/>
          </a:prstGeom>
        </p:spPr>
      </p:pic>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chẩn đoán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xem phần dư còn quy luật không, để biết mô hình tốt hơn có chỗ để thắng.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phan_du_mua_vu(y, m=7):</a:t>
            </a:r>
          </a:p>
          <a:p>
            <a:r>
              <a:rPr sz="850">
                <a:solidFill>
                  <a:srgbClr val="6B7385"/>
                </a:solidFill>
                <a:latin typeface="Courier New"/>
              </a:rPr>
              <a:t> 5 </a:t>
            </a:r>
            <a:r>
              <a:rPr sz="850">
                <a:solidFill>
                  <a:srgbClr val="E6EAF0"/>
                </a:solidFill>
                <a:latin typeface="Courier New"/>
              </a:rPr>
              <a:t>    return y[m:] - y[:-m]                          </a:t>
            </a:r>
            <a:r>
              <a:rPr sz="850">
                <a:solidFill>
                  <a:srgbClr val="8FC99A"/>
                </a:solidFill>
                <a:latin typeface="Courier New"/>
              </a:rPr>
              <a:t># thực tế trừ khớp</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ljung_box(e, so_tre=14):</a:t>
            </a:r>
          </a:p>
          <a:p>
            <a:r>
              <a:rPr sz="850">
                <a:solidFill>
                  <a:srgbClr val="6B7385"/>
                </a:solidFill>
                <a:latin typeface="Courier New"/>
              </a:rPr>
              <a:t> 8 </a:t>
            </a:r>
            <a:r>
              <a:rPr sz="850">
                <a:solidFill>
                  <a:srgbClr val="E6EAF0"/>
                </a:solidFill>
                <a:latin typeface="Courier New"/>
              </a:rPr>
              <a:t>    x = e - np.mean(e)</a:t>
            </a:r>
          </a:p>
          <a:p>
            <a:r>
              <a:rPr sz="850">
                <a:solidFill>
                  <a:srgbClr val="6B7385"/>
                </a:solidFill>
                <a:latin typeface="Courier New"/>
              </a:rPr>
              <a:t> 9 </a:t>
            </a:r>
            <a:r>
              <a:rPr sz="850">
                <a:solidFill>
                  <a:srgbClr val="E6EAF0"/>
                </a:solidFill>
                <a:latin typeface="Courier New"/>
              </a:rPr>
              <a:t>    r = np.array([np.dot(x[k:], x[:-k]) / np.dot(x, x)</a:t>
            </a:r>
          </a:p>
          <a:p>
            <a:r>
              <a:rPr sz="850">
                <a:solidFill>
                  <a:srgbClr val="6B7385"/>
                </a:solidFill>
                <a:latin typeface="Courier New"/>
              </a:rPr>
              <a:t>10 </a:t>
            </a:r>
            <a:r>
              <a:rPr sz="850">
                <a:solidFill>
                  <a:srgbClr val="E6EAF0"/>
                </a:solidFill>
                <a:latin typeface="Courier New"/>
              </a:rPr>
              <a:t>                  for k in range(1, so_tre + 1)])   </a:t>
            </a:r>
            <a:r>
              <a:rPr sz="850">
                <a:solidFill>
                  <a:srgbClr val="8FC99A"/>
                </a:solidFill>
                <a:latin typeface="Courier New"/>
              </a:rPr>
              <a:t># ACF trễ 1 tới 14</a:t>
            </a:r>
          </a:p>
          <a:p>
            <a:r>
              <a:rPr sz="850">
                <a:solidFill>
                  <a:srgbClr val="6B7385"/>
                </a:solidFill>
                <a:latin typeface="Courier New"/>
              </a:rPr>
              <a:t>11 </a:t>
            </a:r>
            <a:r>
              <a:rPr sz="850">
                <a:solidFill>
                  <a:srgbClr val="E6EAF0"/>
                </a:solidFill>
                <a:latin typeface="Courier New"/>
              </a:rPr>
              <a:t>    n = e.size</a:t>
            </a:r>
          </a:p>
          <a:p>
            <a:r>
              <a:rPr sz="850">
                <a:solidFill>
                  <a:srgbClr val="6B7385"/>
                </a:solidFill>
                <a:latin typeface="Courier New"/>
              </a:rPr>
              <a:t>12 </a:t>
            </a:r>
            <a:r>
              <a:rPr sz="850">
                <a:solidFill>
                  <a:srgbClr val="E6EAF0"/>
                </a:solidFill>
                <a:latin typeface="Courier New"/>
              </a:rPr>
              <a:t>    q = n * (n + 2) * np.sum(r ** 2 / (n - np.arange(1, so_tre + 1)))</a:t>
            </a:r>
          </a:p>
          <a:p>
            <a:r>
              <a:rPr sz="850">
                <a:solidFill>
                  <a:srgbClr val="6B7385"/>
                </a:solidFill>
                <a:latin typeface="Courier New"/>
              </a:rPr>
              <a:t>13 </a:t>
            </a:r>
            <a:r>
              <a:rPr sz="850">
                <a:solidFill>
                  <a:srgbClr val="E6EAF0"/>
                </a:solidFill>
                <a:latin typeface="Courier New"/>
              </a:rPr>
              <a:t>    return stats.chi2.sf(q, so_tre)                </a:t>
            </a:r>
            <a:r>
              <a:rPr sz="850">
                <a:solidFill>
                  <a:srgbClr val="8FC99A"/>
                </a:solidFill>
                <a:latin typeface="Courier New"/>
              </a:rPr>
              <a:t># p nhỏ: còn quy luật</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e = phan_du_mua_vu(y)</a:t>
            </a:r>
          </a:p>
          <a:p>
            <a:r>
              <a:rPr sz="850">
                <a:solidFill>
                  <a:srgbClr val="6B7385"/>
                </a:solidFill>
                <a:latin typeface="Courier New"/>
              </a:rPr>
              <a:t>16 </a:t>
            </a:r>
            <a:r>
              <a:rPr sz="850">
                <a:solidFill>
                  <a:srgbClr val="E6EAF0"/>
                </a:solidFill>
                <a:latin typeface="Courier New"/>
              </a:rPr>
              <a:t>p_jb = stats.jarque_bera(e).pvalue                 </a:t>
            </a:r>
            <a:r>
              <a:rPr sz="850">
                <a:solidFill>
                  <a:srgbClr val="8FC99A"/>
                </a:solidFill>
                <a:latin typeface="Courier New"/>
              </a:rPr>
              <a:t># có hình chuông không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4–5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Phần dư seasonal naive: y_t trừ y_(t−7).</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Tự tương quan của phần dư ở 14 trễ.</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Gộp 14 trễ thành một con số Q.</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Q thành p: nhỏ là còn quy luật.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Kiểm phần dư có gần hình chuông không.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1.000 chuỗi M4: 99,8% còn tự tương quan (Ljung–Box p &lt; 0,05), 92,5% không hình chuông, 46,4% phương sai đổi hơn 2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np.dot</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Nhân từng cặp rồi cộng lại: tử số và mẫu số của ACF.</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stats.chi2.sf</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gặp Q lớn cỡ này nếu phần dư chỉ là nhiễu: chính là p.</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stats.jarque_bera</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phân phối có gần hình chuông; p nhỏ là không.</a:t>
            </a:r>
          </a:p>
        </p:txBody>
      </p:sp>
      <p:pic>
        <p:nvPicPr>
          <p:cNvPr id="29" name="Picture 28" descr="chan-doan-phan-du.png"/>
          <p:cNvPicPr>
            <a:picLocks noChangeAspect="1"/>
          </p:cNvPicPr>
          <p:nvPr/>
        </p:nvPicPr>
        <p:blipFill>
          <a:blip r:embed="rId2"/>
          <a:stretch>
            <a:fillRect/>
          </a:stretch>
        </p:blipFill>
        <p:spPr>
          <a:xfrm>
            <a:off x="7863840" y="4728820"/>
            <a:ext cx="3776472" cy="1103679"/>
          </a:xfrm>
          <a:prstGeom prst="rect">
            <a:avLst/>
          </a:prstGeom>
        </p:spPr>
      </p:pic>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MAE, RMSE, ME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ba chỉ số rồi thấy mỗi chỉ số ưa một con số dự báo khác nhau.</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mae(y, d):</a:t>
            </a:r>
          </a:p>
          <a:p>
            <a:r>
              <a:rPr sz="850">
                <a:solidFill>
                  <a:srgbClr val="6B7385"/>
                </a:solidFill>
                <a:latin typeface="Courier New"/>
              </a:rPr>
              <a:t> 4 </a:t>
            </a:r>
            <a:r>
              <a:rPr sz="850">
                <a:solidFill>
                  <a:srgbClr val="E6EAF0"/>
                </a:solidFill>
                <a:latin typeface="Courier New"/>
              </a:rPr>
              <a:t>    return float(np.mean(np.abs(y - d)))           </a:t>
            </a:r>
            <a:r>
              <a:rPr sz="850">
                <a:solidFill>
                  <a:srgbClr val="8FC99A"/>
                </a:solidFill>
                <a:latin typeface="Courier New"/>
              </a:rPr>
              <a:t># ưa trung vị</a:t>
            </a:r>
          </a:p>
          <a:p>
            <a:r>
              <a:rPr sz="850">
                <a:solidFill>
                  <a:srgbClr val="6B7385"/>
                </a:solidFill>
                <a:latin typeface="Courier New"/>
              </a:rPr>
              <a:t> 5 </a:t>
            </a:r>
            <a:r>
              <a:rPr sz="850">
                <a:solidFill>
                  <a:srgbClr val="E6EAF0"/>
                </a:solidFill>
                <a:latin typeface="Courier New"/>
              </a:rPr>
              <a:t>def rmse(y, d):</a:t>
            </a:r>
          </a:p>
          <a:p>
            <a:r>
              <a:rPr sz="850">
                <a:solidFill>
                  <a:srgbClr val="6B7385"/>
                </a:solidFill>
                <a:latin typeface="Courier New"/>
              </a:rPr>
              <a:t> 6 </a:t>
            </a:r>
            <a:r>
              <a:rPr sz="850">
                <a:solidFill>
                  <a:srgbClr val="E6EAF0"/>
                </a:solidFill>
                <a:latin typeface="Courier New"/>
              </a:rPr>
              <a:t>    return float(np.sqrt(np.mean((y - d) ** 2)))   </a:t>
            </a:r>
            <a:r>
              <a:rPr sz="850">
                <a:solidFill>
                  <a:srgbClr val="8FC99A"/>
                </a:solidFill>
                <a:latin typeface="Courier New"/>
              </a:rPr>
              <a:t># ưa trung bình</a:t>
            </a:r>
          </a:p>
          <a:p>
            <a:r>
              <a:rPr sz="850">
                <a:solidFill>
                  <a:srgbClr val="6B7385"/>
                </a:solidFill>
                <a:latin typeface="Courier New"/>
              </a:rPr>
              <a:t> 7 </a:t>
            </a:r>
            <a:r>
              <a:rPr sz="850">
                <a:solidFill>
                  <a:srgbClr val="E6EAF0"/>
                </a:solidFill>
                <a:latin typeface="Courier New"/>
              </a:rPr>
              <a:t>def me(y, d):</a:t>
            </a:r>
          </a:p>
          <a:p>
            <a:r>
              <a:rPr sz="850">
                <a:solidFill>
                  <a:srgbClr val="6B7385"/>
                </a:solidFill>
                <a:latin typeface="Courier New"/>
              </a:rPr>
              <a:t> 8 </a:t>
            </a:r>
            <a:r>
              <a:rPr sz="850">
                <a:solidFill>
                  <a:srgbClr val="E6EAF0"/>
                </a:solidFill>
                <a:latin typeface="Courier New"/>
              </a:rPr>
              <a:t>    return float(np.mean(y - d))                   </a:t>
            </a:r>
            <a:r>
              <a:rPr sz="850">
                <a:solidFill>
                  <a:srgbClr val="8FC99A"/>
                </a:solidFill>
                <a:latin typeface="Courier New"/>
              </a:rPr>
              <a:t># dương: dự báo thấp</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that = np.array([10, 12, 8, 14, 16.0])</a:t>
            </a:r>
          </a:p>
          <a:p>
            <a:r>
              <a:rPr sz="850">
                <a:solidFill>
                  <a:srgbClr val="6B7385"/>
                </a:solidFill>
                <a:latin typeface="Courier New"/>
              </a:rPr>
              <a:t>11 </a:t>
            </a:r>
            <a:r>
              <a:rPr sz="850">
                <a:solidFill>
                  <a:srgbClr val="E6EAF0"/>
                </a:solidFill>
                <a:latin typeface="Courier New"/>
              </a:rPr>
              <a:t>du_bao = np.array([11, 10, 9, 14, 12.0])</a:t>
            </a:r>
          </a:p>
          <a:p>
            <a:r>
              <a:rPr sz="850">
                <a:solidFill>
                  <a:srgbClr val="6B7385"/>
                </a:solidFill>
                <a:latin typeface="Courier New"/>
              </a:rPr>
              <a:t>12 </a:t>
            </a:r>
            <a:r>
              <a:rPr sz="850">
                <a:solidFill>
                  <a:srgbClr val="E6EAF0"/>
                </a:solidFill>
                <a:latin typeface="Courier New"/>
              </a:rPr>
              <a:t>mau = np.random.default_rng(0).lognormal(3.0, 0.9, 20000)  </a:t>
            </a:r>
            <a:r>
              <a:rPr sz="850">
                <a:solidFill>
                  <a:srgbClr val="8FC99A"/>
                </a:solidFill>
                <a:latin typeface="Courier New"/>
              </a:rPr>
              <a:t># lệch phải</a:t>
            </a:r>
          </a:p>
          <a:p>
            <a:r>
              <a:rPr sz="850">
                <a:solidFill>
                  <a:srgbClr val="6B7385"/>
                </a:solidFill>
                <a:latin typeface="Courier New"/>
              </a:rPr>
              <a:t>13 </a:t>
            </a:r>
            <a:r>
              <a:rPr sz="850">
                <a:solidFill>
                  <a:srgbClr val="E6EAF0"/>
                </a:solidFill>
                <a:latin typeface="Courier New"/>
              </a:rPr>
              <a:t>luoi = np.linspace(mau.min(), np.quantile(mau, 0.999), 2000)</a:t>
            </a:r>
          </a:p>
          <a:p>
            <a:r>
              <a:rPr sz="850">
                <a:solidFill>
                  <a:srgbClr val="6B7385"/>
                </a:solidFill>
                <a:latin typeface="Courier New"/>
              </a:rPr>
              <a:t>14 </a:t>
            </a:r>
            <a:r>
              <a:rPr sz="850">
                <a:solidFill>
                  <a:srgbClr val="E6EAF0"/>
                </a:solidFill>
                <a:latin typeface="Courier New"/>
              </a:rPr>
              <a:t>mae_theo = [np.mean(np.abs(mau - c)) for c in luoi]</a:t>
            </a:r>
          </a:p>
          <a:p>
            <a:r>
              <a:rPr sz="850">
                <a:solidFill>
                  <a:srgbClr val="6B7385"/>
                </a:solidFill>
                <a:latin typeface="Courier New"/>
              </a:rPr>
              <a:t>15 </a:t>
            </a:r>
            <a:r>
              <a:rPr sz="850">
                <a:solidFill>
                  <a:srgbClr val="E6EAF0"/>
                </a:solidFill>
                <a:latin typeface="Courier New"/>
              </a:rPr>
              <a:t>rmse_theo = [np.sqrt(np.mean((mau - c) ** 2)) for c in luoi]</a:t>
            </a:r>
          </a:p>
          <a:p>
            <a:r>
              <a:rPr sz="850">
                <a:solidFill>
                  <a:srgbClr val="6B7385"/>
                </a:solidFill>
                <a:latin typeface="Courier New"/>
              </a:rPr>
              <a:t>16 </a:t>
            </a:r>
            <a:r>
              <a:rPr sz="850">
                <a:solidFill>
                  <a:srgbClr val="E6EAF0"/>
                </a:solidFill>
                <a:latin typeface="Courier New"/>
              </a:rPr>
              <a:t>c_mae, c_rmse = luoi[np.argmin(mae_theo)], luoi[np.argmin(rmse_theo)]</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Ba chỉ số, sai số là thực tế trừ dự báo.</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Bảng năm ngày để tính tay đối chiếu.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20.000 số lệch phải như doanh số, seed 0.</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Thử 2.000 hằng số c, tính MAE và RMSE.</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Tìm c cho mỗi chỉ số thấp nhất.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Năm ngày: MAE 1,6; RMSE 2,10; ME 0,8. Trên số lệch phải, MAE đáy ở 20,0 (trung vị), RMSE đáy ở 30,1 (trung bình).</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np.random.default_rng(0).lognormal</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số ngẫu nhiên lệch phải, có seed để chạy lại ra y hệt.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np.linspace</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một khoảng thành 2.000 điểm cách đều để thử lần lượt.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np.argmin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Vị trí phần tử nhỏ nhất: hằng số c cho chỉ số thấp nhất.</a:t>
            </a:r>
          </a:p>
        </p:txBody>
      </p:sp>
      <p:sp>
        <p:nvSpPr>
          <p:cNvPr id="29" name="Rounded Rectangle 28"/>
          <p:cNvSpPr/>
          <p:nvPr/>
        </p:nvSpPr>
        <p:spPr>
          <a:xfrm>
            <a:off x="7863840" y="4059935"/>
            <a:ext cx="3776472" cy="6278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f971939715d.png"/>
          <p:cNvPicPr>
            <a:picLocks noChangeAspect="1"/>
          </p:cNvPicPr>
          <p:nvPr/>
        </p:nvPicPr>
        <p:blipFill>
          <a:blip r:embed="rId2"/>
          <a:stretch>
            <a:fillRect/>
          </a:stretch>
        </p:blipFill>
        <p:spPr>
          <a:xfrm>
            <a:off x="8889492" y="4114799"/>
            <a:ext cx="1725168" cy="518160"/>
          </a:xfrm>
          <a:prstGeom prst="rect">
            <a:avLst/>
          </a:prstGeom>
        </p:spPr>
      </p:pic>
      <p:pic>
        <p:nvPicPr>
          <p:cNvPr id="31" name="Picture 30" descr="chi-so-quyet-dinh.png"/>
          <p:cNvPicPr>
            <a:picLocks noChangeAspect="1"/>
          </p:cNvPicPr>
          <p:nvPr/>
        </p:nvPicPr>
        <p:blipFill>
          <a:blip r:embed="rId3"/>
          <a:stretch>
            <a:fillRect/>
          </a:stretch>
        </p:blipFill>
        <p:spPr>
          <a:xfrm>
            <a:off x="7863840" y="5016830"/>
            <a:ext cx="3776472" cy="1265275"/>
          </a:xfrm>
          <a:prstGeom prst="rect">
            <a:avLst/>
          </a:prstGeom>
        </p:spPr>
      </p:pic>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MAPE, sMAPE, WAPE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Ba chỉ số phần trăm và cách mỗi cái xử lý ngày có thực tế bằng 0.</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mape(y, d):                                    </a:t>
            </a:r>
            <a:r>
              <a:rPr sz="850">
                <a:solidFill>
                  <a:srgbClr val="8FC99A"/>
                </a:solidFill>
                <a:latin typeface="Courier New"/>
              </a:rPr>
              <a:t># vô hạn khi có y = 0</a:t>
            </a:r>
          </a:p>
          <a:p>
            <a:r>
              <a:rPr sz="850">
                <a:solidFill>
                  <a:srgbClr val="6B7385"/>
                </a:solidFill>
                <a:latin typeface="Courier New"/>
              </a:rPr>
              <a:t> 4 </a:t>
            </a:r>
            <a:r>
              <a:rPr sz="850">
                <a:solidFill>
                  <a:srgbClr val="E6EAF0"/>
                </a:solidFill>
                <a:latin typeface="Courier New"/>
              </a:rPr>
              <a:t>    with np.errstate(divide="ignore", invalid="ignore"):</a:t>
            </a:r>
          </a:p>
          <a:p>
            <a:r>
              <a:rPr sz="850">
                <a:solidFill>
                  <a:srgbClr val="6B7385"/>
                </a:solidFill>
                <a:latin typeface="Courier New"/>
              </a:rPr>
              <a:t> 5 </a:t>
            </a:r>
            <a:r>
              <a:rPr sz="850">
                <a:solidFill>
                  <a:srgbClr val="E6EAF0"/>
                </a:solidFill>
                <a:latin typeface="Courier New"/>
              </a:rPr>
              <a:t>        v = np.abs((y - d) / y)</a:t>
            </a:r>
          </a:p>
          <a:p>
            <a:r>
              <a:rPr sz="850">
                <a:solidFill>
                  <a:srgbClr val="6B7385"/>
                </a:solidFill>
                <a:latin typeface="Courier New"/>
              </a:rPr>
              <a:t> 6 </a:t>
            </a:r>
            <a:r>
              <a:rPr sz="850">
                <a:solidFill>
                  <a:srgbClr val="E6EAF0"/>
                </a:solidFill>
                <a:latin typeface="Courier New"/>
              </a:rPr>
              <a:t>    return float(np.mean(v) * 100)</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smape(y, d):                                   </a:t>
            </a:r>
            <a:r>
              <a:rPr sz="850">
                <a:solidFill>
                  <a:srgbClr val="8FC99A"/>
                </a:solidFill>
                <a:latin typeface="Courier New"/>
              </a:rPr>
              <a:t># thang 0–200 kiểu M4</a:t>
            </a:r>
          </a:p>
          <a:p>
            <a:r>
              <a:rPr sz="850">
                <a:solidFill>
                  <a:srgbClr val="6B7385"/>
                </a:solidFill>
                <a:latin typeface="Courier New"/>
              </a:rPr>
              <a:t> 9 </a:t>
            </a:r>
            <a:r>
              <a:rPr sz="850">
                <a:solidFill>
                  <a:srgbClr val="E6EAF0"/>
                </a:solidFill>
                <a:latin typeface="Courier New"/>
              </a:rPr>
              <a:t>    mau = np.abs(y) + np.abs(d)</a:t>
            </a:r>
          </a:p>
          <a:p>
            <a:r>
              <a:rPr sz="850">
                <a:solidFill>
                  <a:srgbClr val="6B7385"/>
                </a:solidFill>
                <a:latin typeface="Courier New"/>
              </a:rPr>
              <a:t>10 </a:t>
            </a:r>
            <a:r>
              <a:rPr sz="850">
                <a:solidFill>
                  <a:srgbClr val="E6EAF0"/>
                </a:solidFill>
                <a:latin typeface="Courier New"/>
              </a:rPr>
              <a:t>    with np.errstate(divide="ignore", invalid="ignore"):</a:t>
            </a:r>
          </a:p>
          <a:p>
            <a:r>
              <a:rPr sz="850">
                <a:solidFill>
                  <a:srgbClr val="6B7385"/>
                </a:solidFill>
                <a:latin typeface="Courier New"/>
              </a:rPr>
              <a:t>11 </a:t>
            </a:r>
            <a:r>
              <a:rPr sz="850">
                <a:solidFill>
                  <a:srgbClr val="E6EAF0"/>
                </a:solidFill>
                <a:latin typeface="Courier New"/>
              </a:rPr>
              <a:t>        v = np.where(mau == 0, 0.0, 2 * np.abs(y - d) / mau)</a:t>
            </a:r>
          </a:p>
          <a:p>
            <a:r>
              <a:rPr sz="850">
                <a:solidFill>
                  <a:srgbClr val="6B7385"/>
                </a:solidFill>
                <a:latin typeface="Courier New"/>
              </a:rPr>
              <a:t>12 </a:t>
            </a:r>
            <a:r>
              <a:rPr sz="850">
                <a:solidFill>
                  <a:srgbClr val="E6EAF0"/>
                </a:solidFill>
                <a:latin typeface="Courier New"/>
              </a:rPr>
              <a:t>    return float(np.mean(v) * 100)</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def wape(y, d):                                    </a:t>
            </a:r>
            <a:r>
              <a:rPr sz="850">
                <a:solidFill>
                  <a:srgbClr val="8FC99A"/>
                </a:solidFill>
                <a:latin typeface="Courier New"/>
              </a:rPr>
              <a:t># tổng chia tổng</a:t>
            </a:r>
          </a:p>
          <a:p>
            <a:r>
              <a:rPr sz="850">
                <a:solidFill>
                  <a:srgbClr val="6B7385"/>
                </a:solidFill>
                <a:latin typeface="Courier New"/>
              </a:rPr>
              <a:t>15 </a:t>
            </a:r>
            <a:r>
              <a:rPr sz="850">
                <a:solidFill>
                  <a:srgbClr val="E6EAF0"/>
                </a:solidFill>
                <a:latin typeface="Courier New"/>
              </a:rPr>
              <a:t>    tong = float(np.sum(np.abs(y)))</a:t>
            </a:r>
          </a:p>
          <a:p>
            <a:r>
              <a:rPr sz="850">
                <a:solidFill>
                  <a:srgbClr val="6B7385"/>
                </a:solidFill>
                <a:latin typeface="Courier New"/>
              </a:rPr>
              <a:t>16 </a:t>
            </a:r>
            <a:r>
              <a:rPr sz="850">
                <a:solidFill>
                  <a:srgbClr val="E6EAF0"/>
                </a:solidFill>
                <a:latin typeface="Courier New"/>
              </a:rPr>
              <a:t>    return float(np.sum(np.abs(y - d)) / tong * 100) if tong else np.nan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Chia từng sai số cho từng thực tế.</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Có y = 0 thì ra vô hạn, không giấu đi.</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Chia cho tổng thực tế và dự báo, nhân 200.</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Tổng sai số chia tổng thực tế.</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Bảng năm ngày: MAPE 12,8%, sMAPE 13,6, WAPE 13,3%. Thêm một ngày thực tế 0 thì MAPE thành vô hạn; trên 300 mã bán lẻ MAPE không tính được.</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np.errstate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Tắt cảnh báo chia cho 0 trong khối with để tự xử lý kết quả.</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từng ô: mẫu bằng 0 thì lấy 0, còn lại lấy phép chia.</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np.sum(np.abs(...))</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độ lớn sai số của mọi ngày thành một tổng.</a:t>
            </a:r>
          </a:p>
        </p:txBody>
      </p:sp>
      <p:sp>
        <p:nvSpPr>
          <p:cNvPr id="27" name="Rounded Rectangle 26"/>
          <p:cNvSpPr/>
          <p:nvPr/>
        </p:nvSpPr>
        <p:spPr>
          <a:xfrm>
            <a:off x="7863840" y="4059935"/>
            <a:ext cx="3776472" cy="75590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05ad8f672bd8.png"/>
          <p:cNvPicPr>
            <a:picLocks noChangeAspect="1"/>
          </p:cNvPicPr>
          <p:nvPr/>
        </p:nvPicPr>
        <p:blipFill>
          <a:blip r:embed="rId2"/>
          <a:stretch>
            <a:fillRect/>
          </a:stretch>
        </p:blipFill>
        <p:spPr>
          <a:xfrm>
            <a:off x="8883396" y="4114799"/>
            <a:ext cx="1737360" cy="646176"/>
          </a:xfrm>
          <a:prstGeom prst="rect">
            <a:avLst/>
          </a:prstGeom>
        </p:spPr>
      </p:pic>
      <p:pic>
        <p:nvPicPr>
          <p:cNvPr id="29" name="Picture 28" descr="chi-so-quyet-dinh.png"/>
          <p:cNvPicPr>
            <a:picLocks noChangeAspect="1"/>
          </p:cNvPicPr>
          <p:nvPr/>
        </p:nvPicPr>
        <p:blipFill>
          <a:blip r:embed="rId3"/>
          <a:stretch>
            <a:fillRect/>
          </a:stretch>
        </p:blipFill>
        <p:spPr>
          <a:xfrm>
            <a:off x="7863840" y="5080838"/>
            <a:ext cx="3776472" cy="1265275"/>
          </a:xfrm>
          <a:prstGeom prst="rect">
            <a:avLst/>
          </a:prstGeom>
        </p:spPr>
      </p:pic>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MASE, RMSSE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Chia sai số cho mức sai quen thuộc của baseline để so được giữa các chuỗi.</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_mau_so_scaled(hoc, m, binh_phuong=False):</a:t>
            </a:r>
          </a:p>
          <a:p>
            <a:r>
              <a:rPr sz="950">
                <a:solidFill>
                  <a:srgbClr val="6B7385"/>
                </a:solidFill>
                <a:latin typeface="Courier New"/>
              </a:rPr>
              <a:t> 4 </a:t>
            </a:r>
            <a:r>
              <a:rPr sz="950">
                <a:solidFill>
                  <a:srgbClr val="E6EAF0"/>
                </a:solidFill>
                <a:latin typeface="Courier New"/>
              </a:rPr>
              <a:t>    lech = hoc[m:] - hoc[:-m]              </a:t>
            </a:r>
            <a:r>
              <a:rPr sz="950">
                <a:solidFill>
                  <a:srgbClr val="8FC99A"/>
                </a:solidFill>
                <a:latin typeface="Courier New"/>
              </a:rPr>
              <a:t># seasonal naive TRÊN PHẦN HỌC</a:t>
            </a:r>
          </a:p>
          <a:p>
            <a:r>
              <a:rPr sz="950">
                <a:solidFill>
                  <a:srgbClr val="6B7385"/>
                </a:solidFill>
                <a:latin typeface="Courier New"/>
              </a:rPr>
              <a:t> 5 </a:t>
            </a:r>
            <a:r>
              <a:rPr sz="950">
                <a:solidFill>
                  <a:srgbClr val="E6EAF0"/>
                </a:solidFill>
                <a:latin typeface="Courier New"/>
              </a:rPr>
              <a:t>    if binh_phuong:</a:t>
            </a:r>
          </a:p>
          <a:p>
            <a:r>
              <a:rPr sz="950">
                <a:solidFill>
                  <a:srgbClr val="6B7385"/>
                </a:solidFill>
                <a:latin typeface="Courier New"/>
              </a:rPr>
              <a:t> 6 </a:t>
            </a:r>
            <a:r>
              <a:rPr sz="950">
                <a:solidFill>
                  <a:srgbClr val="E6EAF0"/>
                </a:solidFill>
                <a:latin typeface="Courier New"/>
              </a:rPr>
              <a:t>        return float(np.mean(lech ** 2))</a:t>
            </a:r>
          </a:p>
          <a:p>
            <a:r>
              <a:rPr sz="950">
                <a:solidFill>
                  <a:srgbClr val="6B7385"/>
                </a:solidFill>
                <a:latin typeface="Courier New"/>
              </a:rPr>
              <a:t> 7 </a:t>
            </a:r>
            <a:r>
              <a:rPr sz="950">
                <a:solidFill>
                  <a:srgbClr val="E6EAF0"/>
                </a:solidFill>
                <a:latin typeface="Courier New"/>
              </a:rPr>
              <a:t>    return float(np.mean(np.abs(lech)))</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mase(y, d, hoc, m=7):</a:t>
            </a:r>
          </a:p>
          <a:p>
            <a:r>
              <a:rPr sz="950">
                <a:solidFill>
                  <a:srgbClr val="6B7385"/>
                </a:solidFill>
                <a:latin typeface="Courier New"/>
              </a:rPr>
              <a:t>10 </a:t>
            </a:r>
            <a:r>
              <a:rPr sz="950">
                <a:solidFill>
                  <a:srgbClr val="E6EAF0"/>
                </a:solidFill>
                <a:latin typeface="Courier New"/>
              </a:rPr>
              <a:t>    mau = _mau_so_scaled(hoc, m)</a:t>
            </a:r>
          </a:p>
          <a:p>
            <a:r>
              <a:rPr sz="950">
                <a:solidFill>
                  <a:srgbClr val="6B7385"/>
                </a:solidFill>
                <a:latin typeface="Courier New"/>
              </a:rPr>
              <a:t>11 </a:t>
            </a:r>
            <a:r>
              <a:rPr sz="950">
                <a:solidFill>
                  <a:srgbClr val="E6EAF0"/>
                </a:solidFill>
                <a:latin typeface="Courier New"/>
              </a:rPr>
              <a:t>    return float("nan") if not mau else mae(y, d) / mau   </a:t>
            </a:r>
            <a:r>
              <a:rPr sz="950">
                <a:solidFill>
                  <a:srgbClr val="8FC99A"/>
                </a:solidFill>
                <a:latin typeface="Courier New"/>
              </a:rPr>
              <a:t># 0 thì NaN</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def rmsse(y, d, hoc, m=7):</a:t>
            </a:r>
          </a:p>
          <a:p>
            <a:r>
              <a:rPr sz="950">
                <a:solidFill>
                  <a:srgbClr val="6B7385"/>
                </a:solidFill>
                <a:latin typeface="Courier New"/>
              </a:rPr>
              <a:t>14 </a:t>
            </a:r>
            <a:r>
              <a:rPr sz="950">
                <a:solidFill>
                  <a:srgbClr val="E6EAF0"/>
                </a:solidFill>
                <a:latin typeface="Courier New"/>
              </a:rPr>
              <a:t>    mau = _mau_so_scaled(hoc, m, binh_phuong=True)</a:t>
            </a:r>
          </a:p>
          <a:p>
            <a:r>
              <a:rPr sz="950">
                <a:solidFill>
                  <a:srgbClr val="6B7385"/>
                </a:solidFill>
                <a:latin typeface="Courier New"/>
              </a:rPr>
              <a:t>15 </a:t>
            </a:r>
            <a:r>
              <a:rPr sz="950">
                <a:solidFill>
                  <a:srgbClr val="E6EAF0"/>
                </a:solidFill>
                <a:latin typeface="Courier New"/>
              </a:rPr>
              <a:t>    return float("nan") if not mau else rmse(y, d) / np.sqrt(mau)</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4</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Sai số seasonal naive, chỉ trên phần học.</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Trung bình bình phương hoặc trị tuyệt đối.</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MAE kỳ chấm chia mẫu số của phần học.</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Mẫu số bằng 0 thì trả NaN, không trả 0.</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RMSSE làm y hệt với bình phương.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MASE 1,6 / 1,5 ≈ 1,07, RMSSE ≈ 1,33. Lấy mẫu số trên đoạn chấm (code đầu buổi) thì MASE của naive trên M4 ra 0,972 thay vì 0,835.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hoc[m:] - hoc[:-m]</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mỗi điểm cho điểm cách m bước trước: sai số seasonal naive.</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np.sqrt</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Căn bậc hai, đưa mẫu số bình phương về cùng đơn vị với RMSE.</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mase, rmsse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MAE hoặc RMSE cho sai số seasonal naive trên phần học.</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11eeeb4686a.png"/>
          <p:cNvPicPr>
            <a:picLocks noChangeAspect="1"/>
          </p:cNvPicPr>
          <p:nvPr/>
        </p:nvPicPr>
        <p:blipFill>
          <a:blip r:embed="rId2"/>
          <a:stretch>
            <a:fillRect/>
          </a:stretch>
        </p:blipFill>
        <p:spPr>
          <a:xfrm>
            <a:off x="8673084" y="4151375"/>
            <a:ext cx="2157984" cy="365760"/>
          </a:xfrm>
          <a:prstGeom prst="rect">
            <a:avLst/>
          </a:prstGeom>
        </p:spPr>
      </p:pic>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gộp, xếp hạng, đối chiếu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Gộp chỉ số qua nhiều chuỗi mà không giấu ô vô hạn, rồi soát thang của thư viện.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utilsforecast.losses import smape as uf_smape</a:t>
            </a:r>
          </a:p>
          <a:p>
            <a:r>
              <a:rPr sz="850">
                <a:solidFill>
                  <a:srgbClr val="6B7385"/>
                </a:solidFill>
                <a:latin typeface="Courier New"/>
              </a:rPr>
              <a:t> 3 </a:t>
            </a:r>
            <a:r>
              <a:rPr sz="850">
                <a:solidFill>
                  <a:srgbClr val="E6EAF0"/>
                </a:solidFill>
                <a:latin typeface="Courier New"/>
              </a:rPr>
              <a:t>arr = np.array(v, dtype=float)                    </a:t>
            </a:r>
            <a:r>
              <a:rPr sz="850">
                <a:solidFill>
                  <a:srgbClr val="8FC99A"/>
                </a:solidFill>
                <a:latin typeface="Courier New"/>
              </a:rPr>
              <a:t># một số mỗi chuỗi</a:t>
            </a:r>
          </a:p>
          <a:p>
            <a:r>
              <a:rPr sz="850">
                <a:solidFill>
                  <a:srgbClr val="6B7385"/>
                </a:solidFill>
                <a:latin typeface="Courier New"/>
              </a:rPr>
              <a:t> 4 </a:t>
            </a:r>
            <a:r>
              <a:rPr sz="850">
                <a:solidFill>
                  <a:srgbClr val="E6EAF0"/>
                </a:solidFill>
                <a:latin typeface="Courier New"/>
              </a:rPr>
              <a:t>huu_han = arr[np.isfinite(arr)]                   </a:t>
            </a:r>
            <a:r>
              <a:rPr sz="850">
                <a:solidFill>
                  <a:srgbClr val="8FC99A"/>
                </a:solidFill>
                <a:latin typeface="Courier New"/>
              </a:rPr>
              <a:t># bỏ ô vô hạn, NaN...</a:t>
            </a:r>
          </a:p>
          <a:p>
            <a:r>
              <a:rPr sz="850">
                <a:solidFill>
                  <a:srgbClr val="6B7385"/>
                </a:solidFill>
                <a:latin typeface="Courier New"/>
              </a:rPr>
              <a:t> 5 </a:t>
            </a:r>
            <a:r>
              <a:rPr sz="850">
                <a:solidFill>
                  <a:srgbClr val="E6EAF0"/>
                </a:solidFill>
                <a:latin typeface="Courier New"/>
              </a:rPr>
              <a:t>so_vo_han = int(np.sum(~np.isfinite(arr)))        </a:t>
            </a:r>
            <a:r>
              <a:rPr sz="850">
                <a:solidFill>
                  <a:srgbClr val="8FC99A"/>
                </a:solidFill>
                <a:latin typeface="Courier New"/>
              </a:rPr>
              <a:t># ...nhưng đếm, báo ra</a:t>
            </a:r>
          </a:p>
          <a:p>
            <a:r>
              <a:rPr sz="850">
                <a:solidFill>
                  <a:srgbClr val="6B7385"/>
                </a:solidFill>
                <a:latin typeface="Courier New"/>
              </a:rPr>
              <a:t> 6 </a:t>
            </a:r>
            <a:r>
              <a:rPr sz="850">
                <a:solidFill>
                  <a:srgbClr val="E6EAF0"/>
                </a:solidFill>
                <a:latin typeface="Courier New"/>
              </a:rPr>
              <a:t>trung_vi, trung_binh = np.median(huu_han), np.mean(huu_han)</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xep_hang(bang, cac_cot):</a:t>
            </a:r>
          </a:p>
          <a:p>
            <a:r>
              <a:rPr sz="850">
                <a:solidFill>
                  <a:srgbClr val="6B7385"/>
                </a:solidFill>
                <a:latin typeface="Courier New"/>
              </a:rPr>
              <a:t> 9 </a:t>
            </a:r>
            <a:r>
              <a:rPr sz="850">
                <a:solidFill>
                  <a:srgbClr val="E6EAF0"/>
                </a:solidFill>
                <a:latin typeface="Courier New"/>
              </a:rPr>
              <a:t>    ra = bang[["mô hình"]].copy()</a:t>
            </a:r>
          </a:p>
          <a:p>
            <a:r>
              <a:rPr sz="850">
                <a:solidFill>
                  <a:srgbClr val="6B7385"/>
                </a:solidFill>
                <a:latin typeface="Courier New"/>
              </a:rPr>
              <a:t>10 </a:t>
            </a:r>
            <a:r>
              <a:rPr sz="850">
                <a:solidFill>
                  <a:srgbClr val="E6EAF0"/>
                </a:solidFill>
                <a:latin typeface="Courier New"/>
              </a:rPr>
              <a:t>    for cot in cac_cot:                           </a:t>
            </a:r>
            <a:r>
              <a:rPr sz="850">
                <a:solidFill>
                  <a:srgbClr val="8FC99A"/>
                </a:solidFill>
                <a:latin typeface="Courier New"/>
              </a:rPr>
              <a:t># ME xếp theo trị tuyệt đối</a:t>
            </a:r>
          </a:p>
          <a:p>
            <a:r>
              <a:rPr sz="850">
                <a:solidFill>
                  <a:srgbClr val="6B7385"/>
                </a:solidFill>
                <a:latin typeface="Courier New"/>
              </a:rPr>
              <a:t>11 </a:t>
            </a:r>
            <a:r>
              <a:rPr sz="850">
                <a:solidFill>
                  <a:srgbClr val="E6EAF0"/>
                </a:solidFill>
                <a:latin typeface="Courier New"/>
              </a:rPr>
              <a:t>        v = bang[cot].abs() if cot == "ME" else bang[cot]</a:t>
            </a:r>
          </a:p>
          <a:p>
            <a:r>
              <a:rPr sz="850">
                <a:solidFill>
                  <a:srgbClr val="6B7385"/>
                </a:solidFill>
                <a:latin typeface="Courier New"/>
              </a:rPr>
              <a:t>12 </a:t>
            </a:r>
            <a:r>
              <a:rPr sz="850">
                <a:solidFill>
                  <a:srgbClr val="E6EAF0"/>
                </a:solidFill>
                <a:latin typeface="Courier New"/>
              </a:rPr>
              <a:t>        ra[cot] = v.rank(method="min").astype("Int64")</a:t>
            </a:r>
          </a:p>
          <a:p>
            <a:r>
              <a:rPr sz="850">
                <a:solidFill>
                  <a:srgbClr val="6B7385"/>
                </a:solidFill>
                <a:latin typeface="Courier New"/>
              </a:rPr>
              <a:t>13 </a:t>
            </a:r>
            <a:r>
              <a:rPr sz="850">
                <a:solidFill>
                  <a:srgbClr val="E6EAF0"/>
                </a:solidFill>
                <a:latin typeface="Courier New"/>
              </a:rPr>
              <a:t>    return ra</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tl = uf_smape(dai_kiem, models=["du_bao"])["du_bao"].mean()   </a:t>
            </a:r>
            <a:r>
              <a:rPr sz="850">
                <a:solidFill>
                  <a:srgbClr val="8FC99A"/>
                </a:solidFill>
                <a:latin typeface="Courier New"/>
              </a:rPr>
              <a:t># tỷ lệ 0–1</a:t>
            </a:r>
          </a:p>
          <a:p>
            <a:r>
              <a:rPr sz="850">
                <a:solidFill>
                  <a:srgbClr val="6B7385"/>
                </a:solidFill>
                <a:latin typeface="Courier New"/>
              </a:rPr>
              <a:t>16 </a:t>
            </a:r>
            <a:r>
              <a:rPr sz="850">
                <a:solidFill>
                  <a:srgbClr val="E6EAF0"/>
                </a:solidFill>
                <a:latin typeface="Courier New"/>
              </a:rPr>
              <a:t>smape_m4 = tl * 200                               </a:t>
            </a:r>
            <a:r>
              <a:rPr sz="850">
                <a:solidFill>
                  <a:srgbClr val="8FC99A"/>
                </a:solidFill>
                <a:latin typeface="Courier New"/>
              </a:rPr>
              <a:t># về thang 0–200 của M4</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3–5</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Bỏ ô không tính được nhưng đếm để báo.</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Gộp bằng trung vị và cả trung bình.</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Xếp hạng mô hình theo từng chỉ số.</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Thư viện trả tỷ lệ, nhân 200 mới ra M4.</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Bán lẻ 300 mã: hạng nhất đổi theo chỉ số (naive theo MAE, seasonal naive theo sMAPE). sMAPE tự viết 3,59, utilsforecast 0,0179: lệch 200 lần.</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np.isfinite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Đánh dấu ô là số bình thường, loại vô hạn và NaN.</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rank(method="min")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giá trị thành thứ hạng, 1 là nhỏ nhất; bằng nhau cùng hạng.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utilsforecast.losses.smape</a:t>
            </a:r>
            <a:r>
              <a:rPr sz="950" b="1" i="0">
                <a:solidFill>
                  <a:srgbClr val="5B6778"/>
                </a:solidFill>
                <a:latin typeface="Arial"/>
              </a:rPr>
              <a:t>   utilsforecast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Tính sMAPE trên bảng dạng dài; trả tỷ lệ 0–1, không phải phần trăm.</a:t>
            </a:r>
          </a:p>
        </p:txBody>
      </p:sp>
      <p:pic>
        <p:nvPicPr>
          <p:cNvPr id="27" name="Picture 26" descr="doi-chi-so-doi-hang.png"/>
          <p:cNvPicPr>
            <a:picLocks noChangeAspect="1"/>
          </p:cNvPicPr>
          <p:nvPr/>
        </p:nvPicPr>
        <p:blipFill>
          <a:blip r:embed="rId2"/>
          <a:stretch>
            <a:fillRect/>
          </a:stretch>
        </p:blipFill>
        <p:spPr>
          <a:xfrm>
            <a:off x="7863840" y="4670472"/>
            <a:ext cx="3776472" cy="1220374"/>
          </a:xfrm>
          <a:prstGeom prst="rect">
            <a:avLst/>
          </a:prstGeom>
        </p:spPr>
      </p:pic>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K-fold xáo trộn so với hold-out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bằng số xem chia ngẫu nhiên hứa sai số thấp hơn thật bao nhiêu.</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r>
              <a:rPr sz="950">
                <a:solidFill>
                  <a:srgbClr val="E6EAF0"/>
                </a:solidFill>
                <a:latin typeface="Courier New"/>
              </a:rPr>
              <a:t>from sklearn.model_selection import KFold</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moc = pd.Timestamp("2024-10-01")                  </a:t>
            </a:r>
            <a:r>
              <a:rPr sz="950">
                <a:solidFill>
                  <a:srgbClr val="8FC99A"/>
                </a:solidFill>
                <a:latin typeface="Courier New"/>
              </a:rPr>
              <a:t># hold-out: 3 tháng cuối</a:t>
            </a:r>
          </a:p>
          <a:p>
            <a:r>
              <a:rPr sz="950">
                <a:solidFill>
                  <a:srgbClr val="6B7385"/>
                </a:solidFill>
                <a:latin typeface="Courier New"/>
              </a:rPr>
              <a:t> 6 </a:t>
            </a:r>
            <a:r>
              <a:rPr sz="950">
                <a:solidFill>
                  <a:srgbClr val="E6EAF0"/>
                </a:solidFill>
                <a:latin typeface="Courier New"/>
              </a:rPr>
              <a:t>bang = bang_feature(y).assign(y=y).dropna()       </a:t>
            </a:r>
            <a:r>
              <a:rPr sz="950">
                <a:solidFill>
                  <a:srgbClr val="8FC99A"/>
                </a:solidFill>
                <a:latin typeface="Courier New"/>
              </a:rPr>
              <a:t># lag ≥ 24 giờ + lịch</a:t>
            </a:r>
          </a:p>
          <a:p>
            <a:r>
              <a:rPr sz="950">
                <a:solidFill>
                  <a:srgbClr val="6B7385"/>
                </a:solidFill>
                <a:latin typeface="Courier New"/>
              </a:rPr>
              <a:t> 7 </a:t>
            </a:r>
            <a:r>
              <a:rPr sz="950">
                <a:solidFill>
                  <a:srgbClr val="E6EAF0"/>
                </a:solidFill>
                <a:latin typeface="Courier New"/>
              </a:rPr>
              <a:t>hoc, kiem = bang[bang.index &lt; moc], bang[bang.index &gt;= moc]</a:t>
            </a:r>
          </a:p>
          <a:p>
            <a:r>
              <a:rPr sz="950">
                <a:solidFill>
                  <a:srgbClr val="6B7385"/>
                </a:solidFill>
                <a:latin typeface="Courier New"/>
              </a:rPr>
              <a:t> 8 </a:t>
            </a:r>
            <a:r>
              <a:rPr sz="950">
                <a:solidFill>
                  <a:srgbClr val="E6EAF0"/>
                </a:solidFill>
                <a:latin typeface="Courier New"/>
              </a:rPr>
              <a:t>X, t = hoc.drop(columns="y"), hoc["y"]</a:t>
            </a:r>
          </a:p>
          <a:p>
            <a:r>
              <a:rPr sz="950">
                <a:solidFill>
                  <a:srgbClr val="6B7385"/>
                </a:solidFill>
                <a:latin typeface="Courier New"/>
              </a:rPr>
              <a:t> 9 </a:t>
            </a:r>
            <a:r>
              <a:rPr sz="950">
                <a:solidFill>
                  <a:srgbClr val="E6EAF0"/>
                </a:solidFill>
                <a:latin typeface="Courier New"/>
              </a:rPr>
              <a:t>loi = []</a:t>
            </a:r>
          </a:p>
          <a:p>
            <a:r>
              <a:rPr sz="950">
                <a:solidFill>
                  <a:srgbClr val="6B7385"/>
                </a:solidFill>
                <a:latin typeface="Courier New"/>
              </a:rPr>
              <a:t>10 </a:t>
            </a:r>
            <a:r>
              <a:rPr sz="950">
                <a:solidFill>
                  <a:srgbClr val="E6EAF0"/>
                </a:solidFill>
                <a:latin typeface="Courier New"/>
              </a:rPr>
              <a:t>for a, b in KFold(5, shuffle=True, random_state=0).split(X):  </a:t>
            </a:r>
            <a:r>
              <a:rPr sz="950">
                <a:solidFill>
                  <a:srgbClr val="8FC99A"/>
                </a:solidFill>
                <a:latin typeface="Courier New"/>
              </a:rPr>
              <a:t># XÁO TRỘN</a:t>
            </a:r>
          </a:p>
          <a:p>
            <a:r>
              <a:rPr sz="950">
                <a:solidFill>
                  <a:srgbClr val="6B7385"/>
                </a:solidFill>
                <a:latin typeface="Courier New"/>
              </a:rPr>
              <a:t>11 </a:t>
            </a:r>
            <a:r>
              <a:rPr sz="950">
                <a:solidFill>
                  <a:srgbClr val="E6EAF0"/>
                </a:solidFill>
                <a:latin typeface="Courier New"/>
              </a:rPr>
              <a:t>    mo_hinh = tao_rung().fit(X.iloc[a], t.iloc[a])</a:t>
            </a:r>
          </a:p>
          <a:p>
            <a:r>
              <a:rPr sz="950">
                <a:solidFill>
                  <a:srgbClr val="6B7385"/>
                </a:solidFill>
                <a:latin typeface="Courier New"/>
              </a:rPr>
              <a:t>12 </a:t>
            </a:r>
            <a:r>
              <a:rPr sz="950">
                <a:solidFill>
                  <a:srgbClr val="E6EAF0"/>
                </a:solidFill>
                <a:latin typeface="Courier New"/>
              </a:rPr>
              <a:t>    loi.append(_mae(mo_hinh.predict(X.iloc[b]), t.iloc[b]))</a:t>
            </a:r>
          </a:p>
          <a:p>
            <a:r>
              <a:rPr sz="950">
                <a:solidFill>
                  <a:srgbClr val="6B7385"/>
                </a:solidFill>
                <a:latin typeface="Courier New"/>
              </a:rPr>
              <a:t>13 </a:t>
            </a:r>
            <a:r>
              <a:rPr sz="950">
                <a:solidFill>
                  <a:srgbClr val="E6EAF0"/>
                </a:solidFill>
                <a:latin typeface="Courier New"/>
              </a:rPr>
              <a:t>mae_kfold = float(np.mean(loi))</a:t>
            </a:r>
          </a:p>
          <a:p>
            <a:r>
              <a:rPr sz="950">
                <a:solidFill>
                  <a:srgbClr val="6B7385"/>
                </a:solidFill>
                <a:latin typeface="Courier New"/>
              </a:rPr>
              <a:t>14 </a:t>
            </a:r>
            <a:r>
              <a:rPr sz="950">
                <a:solidFill>
                  <a:srgbClr val="E6EAF0"/>
                </a:solidFill>
                <a:latin typeface="Courier New"/>
              </a:rPr>
              <a:t>mo_hinh = tao_rung().fit(X, t)                    </a:t>
            </a:r>
            <a:r>
              <a:rPr sz="950">
                <a:solidFill>
                  <a:srgbClr val="8FC99A"/>
                </a:solidFill>
                <a:latin typeface="Courier New"/>
              </a:rPr>
              <a:t># học một lần trên quá khứ</a:t>
            </a:r>
          </a:p>
          <a:p>
            <a:r>
              <a:rPr sz="950">
                <a:solidFill>
                  <a:srgbClr val="6B7385"/>
                </a:solidFill>
                <a:latin typeface="Courier New"/>
              </a:rPr>
              <a:t>15 </a:t>
            </a:r>
            <a:r>
              <a:rPr sz="950">
                <a:solidFill>
                  <a:srgbClr val="E6EAF0"/>
                </a:solidFill>
                <a:latin typeface="Courier New"/>
              </a:rPr>
              <a:t>mae_that = _mae(mo_hinh.predict(kiem.drop(columns="y")), kiem["y"])</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Để riêng 3 tháng cuối năm 2024 làm hold-out.</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Feature lag ≥ 24 giờ, chỉ phần trước mốc.</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10–13</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K-fold xáo trộn: điểm kiểm xen giữa điểm học.</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Học trên quá khứ, chấm trên 3 tháng sau.</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Rừng ngẫu nhiên: K-fold hứa 1.639 MW, hold-out thật 2.129 MW, lệch −23,0%. Hồi quy tuyến tính lệch −11,8%.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KFold(5, shuffle=True)</a:t>
            </a:r>
            <a:r>
              <a:rPr sz="950" b="1" i="0">
                <a:solidFill>
                  <a:srgbClr val="5B6778"/>
                </a:solidFill>
                <a:latin typeface="Arial"/>
              </a:rPr>
              <a:t>   sklearn</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Xáo trộn rồi chia 5 phần, lần lượt lấy một phần làm kiểm.</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tao_rung().fit / predict</a:t>
            </a:r>
            <a:r>
              <a:rPr sz="950" b="1" i="0">
                <a:solidFill>
                  <a:srgbClr val="5B6778"/>
                </a:solidFill>
                <a:latin typeface="Arial"/>
              </a:rPr>
              <a:t>   sklearn</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Rừng ngẫu nhiên 200 cây: học trên phần học, rồi dự báo.</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_mae</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độ lớn sai số giữa dự báo và thực tế, đơn vị MW.</a:t>
            </a:r>
          </a:p>
        </p:txBody>
      </p:sp>
      <p:pic>
        <p:nvPicPr>
          <p:cNvPr id="27" name="Picture 26" descr="ba-cach-chia.png"/>
          <p:cNvPicPr>
            <a:picLocks noChangeAspect="1"/>
          </p:cNvPicPr>
          <p:nvPr/>
        </p:nvPicPr>
        <p:blipFill>
          <a:blip r:embed="rId2"/>
          <a:stretch>
            <a:fillRect/>
          </a:stretch>
        </p:blipFill>
        <p:spPr>
          <a:xfrm>
            <a:off x="7863840" y="4413263"/>
            <a:ext cx="3776472" cy="1734793"/>
          </a:xfrm>
          <a:prstGeom prst="rect">
            <a:avLst/>
          </a:prstGeom>
        </p:spPr>
      </p:pic>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bộ backtest rolling origin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viết bộ backtest: nhiều cutoff, mỗi lần chỉ học trên quá khứ rồi dự báo.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def chia_cua_so(df, h, so_cua_so, buoc=None, gap=0):</a:t>
            </a:r>
          </a:p>
          <a:p>
            <a:r>
              <a:rPr sz="850">
                <a:solidFill>
                  <a:srgbClr val="6B7385"/>
                </a:solidFill>
                <a:latin typeface="Courier New"/>
              </a:rPr>
              <a:t> 4 </a:t>
            </a:r>
            <a:r>
              <a:rPr sz="850">
                <a:solidFill>
                  <a:srgbClr val="E6EAF0"/>
                </a:solidFill>
                <a:latin typeface="Courier New"/>
              </a:rPr>
              <a:t>    buoc = h if buoc is None else buoc</a:t>
            </a:r>
          </a:p>
          <a:p>
            <a:r>
              <a:rPr sz="850">
                <a:solidFill>
                  <a:srgbClr val="6B7385"/>
                </a:solidFill>
                <a:latin typeface="Courier New"/>
              </a:rPr>
              <a:t> 5 </a:t>
            </a:r>
            <a:r>
              <a:rPr sz="850">
                <a:solidFill>
                  <a:srgbClr val="E6EAF0"/>
                </a:solidFill>
                <a:latin typeface="Courier New"/>
              </a:rPr>
              <a:t>    truc = np.sort(df["ds"].unique())</a:t>
            </a:r>
          </a:p>
          <a:p>
            <a:r>
              <a:rPr sz="850">
                <a:solidFill>
                  <a:srgbClr val="6B7385"/>
                </a:solidFill>
                <a:latin typeface="Courier New"/>
              </a:rPr>
              <a:t> 6 </a:t>
            </a:r>
            <a:r>
              <a:rPr sz="850">
                <a:solidFill>
                  <a:srgbClr val="E6EAF0"/>
                </a:solidFill>
                <a:latin typeface="Courier New"/>
              </a:rPr>
              <a:t>    cuoi = len(truc) - 1 - gap - h              </a:t>
            </a:r>
            <a:r>
              <a:rPr sz="850">
                <a:solidFill>
                  <a:srgbClr val="8FC99A"/>
                </a:solidFill>
                <a:latin typeface="Courier New"/>
              </a:rPr>
              <a:t># cutoff cửa sổ cuối</a:t>
            </a:r>
          </a:p>
          <a:p>
            <a:r>
              <a:rPr sz="850">
                <a:solidFill>
                  <a:srgbClr val="6B7385"/>
                </a:solidFill>
                <a:latin typeface="Courier New"/>
              </a:rPr>
              <a:t> 7 </a:t>
            </a:r>
            <a:r>
              <a:rPr sz="850">
                <a:solidFill>
                  <a:srgbClr val="E6EAF0"/>
                </a:solidFill>
                <a:latin typeface="Courier New"/>
              </a:rPr>
              <a:t>    return [(truc[c], truc[c + gap + 1], truc[c + gap + h])</a:t>
            </a:r>
          </a:p>
          <a:p>
            <a:r>
              <a:rPr sz="850">
                <a:solidFill>
                  <a:srgbClr val="6B7385"/>
                </a:solidFill>
                <a:latin typeface="Courier New"/>
              </a:rPr>
              <a:t> 8 </a:t>
            </a:r>
            <a:r>
              <a:rPr sz="850">
                <a:solidFill>
                  <a:srgbClr val="E6EAF0"/>
                </a:solidFill>
                <a:latin typeface="Courier New"/>
              </a:rPr>
              <a:t>            for c in range(cuoi - buoc * (so_cua_so - 1), cuoi + 1, buoc)]</a:t>
            </a:r>
          </a:p>
          <a:p>
            <a:r>
              <a:rPr sz="850">
                <a:solidFill>
                  <a:srgbClr val="6B7385"/>
                </a:solidFill>
                <a:latin typeface="Courier New"/>
              </a:rPr>
              <a:t> 9 </a:t>
            </a:r>
            <a:r>
              <a:rPr sz="850">
                <a:solidFill>
                  <a:srgbClr val="E6EAF0"/>
                </a:solidFill>
                <a:latin typeface="Courier New"/>
              </a:rPr>
              <a:t>def backtest(df, ham_du_bao, h, so_cua_so, buoc=None, gap=0):</a:t>
            </a:r>
          </a:p>
          <a:p>
            <a:r>
              <a:rPr sz="850">
                <a:solidFill>
                  <a:srgbClr val="6B7385"/>
                </a:solidFill>
                <a:latin typeface="Courier New"/>
              </a:rPr>
              <a:t>10 </a:t>
            </a:r>
            <a:r>
              <a:rPr sz="850">
                <a:solidFill>
                  <a:srgbClr val="E6EAF0"/>
                </a:solidFill>
                <a:latin typeface="Courier New"/>
              </a:rPr>
              <a:t>    ket_qua = []</a:t>
            </a:r>
          </a:p>
          <a:p>
            <a:r>
              <a:rPr sz="850">
                <a:solidFill>
                  <a:srgbClr val="6B7385"/>
                </a:solidFill>
                <a:latin typeface="Courier New"/>
              </a:rPr>
              <a:t>11 </a:t>
            </a:r>
            <a:r>
              <a:rPr sz="850">
                <a:solidFill>
                  <a:srgbClr val="E6EAF0"/>
                </a:solidFill>
                <a:latin typeface="Courier New"/>
              </a:rPr>
              <a:t>    for cutoff, bd, kt in chia_cua_so(df, h, so_cua_so, buoc, gap):</a:t>
            </a:r>
          </a:p>
          <a:p>
            <a:r>
              <a:rPr sz="850">
                <a:solidFill>
                  <a:srgbClr val="6B7385"/>
                </a:solidFill>
                <a:latin typeface="Courier New"/>
              </a:rPr>
              <a:t>12 </a:t>
            </a:r>
            <a:r>
              <a:rPr sz="850">
                <a:solidFill>
                  <a:srgbClr val="E6EAF0"/>
                </a:solidFill>
                <a:latin typeface="Courier New"/>
              </a:rPr>
              <a:t>        lich_su = df[df["ds"] &lt;= cutoff]        </a:t>
            </a:r>
            <a:r>
              <a:rPr sz="850">
                <a:solidFill>
                  <a:srgbClr val="8FC99A"/>
                </a:solidFill>
                <a:latin typeface="Courier New"/>
              </a:rPr>
              <a:t># KHÔNG thấy đoạn kiểm</a:t>
            </a:r>
          </a:p>
          <a:p>
            <a:r>
              <a:rPr sz="850">
                <a:solidFill>
                  <a:srgbClr val="6B7385"/>
                </a:solidFill>
                <a:latin typeface="Courier New"/>
              </a:rPr>
              <a:t>13 </a:t>
            </a:r>
            <a:r>
              <a:rPr sz="850">
                <a:solidFill>
                  <a:srgbClr val="E6EAF0"/>
                </a:solidFill>
                <a:latin typeface="Courier New"/>
              </a:rPr>
              <a:t>        test = df[(df["ds"] &gt;= bd) &amp; (df["ds"] &lt;= kt)]</a:t>
            </a:r>
          </a:p>
          <a:p>
            <a:r>
              <a:rPr sz="850">
                <a:solidFill>
                  <a:srgbClr val="6B7385"/>
                </a:solidFill>
                <a:latin typeface="Courier New"/>
              </a:rPr>
              <a:t>14 </a:t>
            </a:r>
            <a:r>
              <a:rPr sz="850">
                <a:solidFill>
                  <a:srgbClr val="E6EAF0"/>
                </a:solidFill>
                <a:latin typeface="Courier New"/>
              </a:rPr>
              <a:t>        du_bao = ham_du_bao(lich_su.copy(), test[["unique_id", "ds"]])</a:t>
            </a:r>
          </a:p>
          <a:p>
            <a:r>
              <a:rPr sz="850">
                <a:solidFill>
                  <a:srgbClr val="6B7385"/>
                </a:solidFill>
                <a:latin typeface="Courier New"/>
              </a:rPr>
              <a:t>15 </a:t>
            </a:r>
            <a:r>
              <a:rPr sz="850">
                <a:solidFill>
                  <a:srgbClr val="E6EAF0"/>
                </a:solidFill>
                <a:latin typeface="Courier New"/>
              </a:rPr>
              <a:t>        ket_qua.append(test.merge(du_bao, on=["unique_id", "ds"]))</a:t>
            </a:r>
          </a:p>
          <a:p>
            <a:r>
              <a:rPr sz="850">
                <a:solidFill>
                  <a:srgbClr val="6B7385"/>
                </a:solidFill>
                <a:latin typeface="Courier New"/>
              </a:rPr>
              <a:t>16 </a:t>
            </a:r>
            <a:r>
              <a:rPr sz="850">
                <a:solidFill>
                  <a:srgbClr val="E6EAF0"/>
                </a:solidFill>
                <a:latin typeface="Courier New"/>
              </a:rPr>
              <a:t>    return pd.concat(ket_qua)</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Cửa sổ cuối kết thúc đúng ở mốc cuối.</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Lùi đều từng buoc; gap bỏ trống sau cutoff.</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Hàm dự báo chỉ nhận dòng tới cutoff.</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Dự báo đúng các mốc của đoạn kiểm.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dự báo với thực tế để chấm.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Tải ERCOT, 28 cửa sổ 24 giờ: rừng ngẫu nhiên 1.944 MW so với hold-out 2.129 MW (−8,7%). Seasonal naive khớp statsforecast, chênh 0,0.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np.sort(df["ds"].unique())</a:t>
            </a:r>
            <a:r>
              <a:rPr sz="950" b="1" i="0">
                <a:solidFill>
                  <a:srgbClr val="5B6778"/>
                </a:solidFill>
                <a:latin typeface="Arial"/>
              </a:rPr>
              <a:t>   numpy,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các mốc thời gian khác nhau, xếp tăng dần làm trục.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merge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Ghép dự báo với thực tế theo cặp mã chuỗi và mốc thời gian.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cross_validation</a:t>
            </a:r>
            <a:r>
              <a:rPr sz="950" b="1" i="0">
                <a:solidFill>
                  <a:srgbClr val="5B6778"/>
                </a:solidFill>
                <a:latin typeface="Arial"/>
              </a:rPr>
              <a:t>   statsforecast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Bản thư viện làm cùng việc nhưng không có gap.</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8a7b78e24cb7.png"/>
          <p:cNvPicPr>
            <a:picLocks noChangeAspect="1"/>
          </p:cNvPicPr>
          <p:nvPr/>
        </p:nvPicPr>
        <p:blipFill>
          <a:blip r:embed="rId2"/>
          <a:stretch>
            <a:fillRect/>
          </a:stretch>
        </p:blipFill>
        <p:spPr>
          <a:xfrm>
            <a:off x="8590788" y="4227575"/>
            <a:ext cx="2322576" cy="213360"/>
          </a:xfrm>
          <a:prstGeom prst="rect">
            <a:avLst/>
          </a:prstGeom>
        </p:spPr>
      </p:pic>
      <p:pic>
        <p:nvPicPr>
          <p:cNvPr id="31" name="Picture 30" descr="uoc-luong-sai-so.png"/>
          <p:cNvPicPr>
            <a:picLocks noChangeAspect="1"/>
          </p:cNvPicPr>
          <p:nvPr/>
        </p:nvPicPr>
        <p:blipFill>
          <a:blip r:embed="rId3"/>
          <a:stretch>
            <a:fillRect/>
          </a:stretch>
        </p:blipFill>
        <p:spPr>
          <a:xfrm>
            <a:off x="7863840" y="4906521"/>
            <a:ext cx="3776472" cy="1406644"/>
          </a:xfrm>
          <a:prstGeom prst="rect">
            <a:avLst/>
          </a:prstGeom>
        </p:spPr>
      </p:pic>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sai số theo cửa sổ và theo 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một MAE gộp ra từng cửa sổ và từng bước h để thấy nó dao động cỡ nào.</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_mae(a, b):</a:t>
            </a:r>
          </a:p>
          <a:p>
            <a:r>
              <a:rPr sz="950">
                <a:solidFill>
                  <a:srgbClr val="6B7385"/>
                </a:solidFill>
                <a:latin typeface="Courier New"/>
              </a:rPr>
              <a:t> 5 </a:t>
            </a:r>
            <a:r>
              <a:rPr sz="950">
                <a:solidFill>
                  <a:srgbClr val="E6EAF0"/>
                </a:solidFill>
                <a:latin typeface="Courier New"/>
              </a:rPr>
              <a:t>    return float(np.mean(np.abs(np.asarray(a, float) - np.asarray(b, float))))</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kq = backtest(dang_dai(y[y.index &lt; moc]), ca_hai, h=24, so_cua_so=28,</a:t>
            </a:r>
          </a:p>
          <a:p>
            <a:r>
              <a:rPr sz="950">
                <a:solidFill>
                  <a:srgbClr val="6B7385"/>
                </a:solidFill>
                <a:latin typeface="Courier New"/>
              </a:rPr>
              <a:t> 8 </a:t>
            </a:r>
            <a:r>
              <a:rPr sz="950">
                <a:solidFill>
                  <a:srgbClr val="E6EAF0"/>
                </a:solidFill>
                <a:latin typeface="Courier New"/>
              </a:rPr>
              <a:t>              buoc=24)                            </a:t>
            </a:r>
            <a:r>
              <a:rPr sz="950">
                <a:solidFill>
                  <a:srgbClr val="8FC99A"/>
                </a:solidFill>
                <a:latin typeface="Courier New"/>
              </a:rPr>
              <a:t># rừng và seasonal naive</a:t>
            </a:r>
          </a:p>
          <a:p>
            <a:r>
              <a:rPr sz="950">
                <a:solidFill>
                  <a:srgbClr val="6B7385"/>
                </a:solidFill>
                <a:latin typeface="Courier New"/>
              </a:rPr>
              <a:t> 9 </a:t>
            </a:r>
            <a:r>
              <a:rPr sz="950">
                <a:solidFill>
                  <a:srgbClr val="E6EAF0"/>
                </a:solidFill>
                <a:latin typeface="Courier New"/>
              </a:rPr>
              <a:t>theo_cua_so = kq.groupby("cutoff").apply(lambda g: pd.Series({</a:t>
            </a:r>
          </a:p>
          <a:p>
            <a:r>
              <a:rPr sz="950">
                <a:solidFill>
                  <a:srgbClr val="6B7385"/>
                </a:solidFill>
                <a:latin typeface="Courier New"/>
              </a:rPr>
              <a:t>10 </a:t>
            </a:r>
            <a:r>
              <a:rPr sz="950">
                <a:solidFill>
                  <a:srgbClr val="E6EAF0"/>
                </a:solidFill>
                <a:latin typeface="Courier New"/>
              </a:rPr>
              <a:t>    "rừng": _mae(g["y"], g["du_bao"]),</a:t>
            </a:r>
          </a:p>
          <a:p>
            <a:r>
              <a:rPr sz="950">
                <a:solidFill>
                  <a:srgbClr val="6B7385"/>
                </a:solidFill>
                <a:latin typeface="Courier New"/>
              </a:rPr>
              <a:t>11 </a:t>
            </a:r>
            <a:r>
              <a:rPr sz="950">
                <a:solidFill>
                  <a:srgbClr val="E6EAF0"/>
                </a:solidFill>
                <a:latin typeface="Courier New"/>
              </a:rPr>
              <a:t>    "seasonal naive": _mae(g["y"], g["seasonal_naive"])}))</a:t>
            </a:r>
          </a:p>
          <a:p>
            <a:r>
              <a:rPr sz="950">
                <a:solidFill>
                  <a:srgbClr val="6B7385"/>
                </a:solidFill>
                <a:latin typeface="Courier New"/>
              </a:rPr>
              <a:t>12 </a:t>
            </a:r>
            <a:r>
              <a:rPr sz="950">
                <a:solidFill>
                  <a:srgbClr val="E6EAF0"/>
                </a:solidFill>
                <a:latin typeface="Courier New"/>
              </a:rPr>
              <a:t>dao_dong = theo_cua_so.describe()                 </a:t>
            </a:r>
            <a:r>
              <a:rPr sz="950">
                <a:solidFill>
                  <a:srgbClr val="8FC99A"/>
                </a:solidFill>
                <a:latin typeface="Courier New"/>
              </a:rPr>
              <a:t># nhỏ nhất tới lớn nhất</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def sai_so_theo_h(kq, cot):</a:t>
            </a:r>
          </a:p>
          <a:p>
            <a:r>
              <a:rPr sz="950">
                <a:solidFill>
                  <a:srgbClr val="6B7385"/>
                </a:solidFill>
                <a:latin typeface="Courier New"/>
              </a:rPr>
              <a:t>15 </a:t>
            </a:r>
            <a:r>
              <a:rPr sz="950">
                <a:solidFill>
                  <a:srgbClr val="E6EAF0"/>
                </a:solidFill>
                <a:latin typeface="Courier New"/>
              </a:rPr>
              <a:t>    return (kq["y"] - kq[cot]).abs().groupby(kq["buoc_h"]).mean()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7–8</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28 ngày, hai mô hình trên cùng cửa sổ.</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9–11</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Một MAE cho mỗi cửa sổ, mỗi mô hình.</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Tóm độ dao động giữa các cửa sổ.</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MAE theo từng bước sau cutoff.</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MAE một ngày của rừng ngẫu nhiên đi từ 583 tới 4.328 MW, gấp bảy lần. Trên M4, seasonal naive 24 giờ nhảy lên từ bước 25.</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groupby("cutoff").apply</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Chia kết quả theo từng cửa sổ rồi tính MAE riêng mỗi nhóm.</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describe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Tóm tắt nhanh: số lượng, trung bình, nhỏ nhất, phân vị, lớn nhất.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groupby(kq["buoc_h"]).mean()</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sai số theo bước thứ mấy sau cutoff.</a:t>
            </a:r>
          </a:p>
        </p:txBody>
      </p:sp>
      <p:pic>
        <p:nvPicPr>
          <p:cNvPr id="27" name="Picture 26" descr="sai-so-cua-so-va-h.png"/>
          <p:cNvPicPr>
            <a:picLocks noChangeAspect="1"/>
          </p:cNvPicPr>
          <p:nvPr/>
        </p:nvPicPr>
        <p:blipFill>
          <a:blip r:embed="rId2"/>
          <a:stretch>
            <a:fillRect/>
          </a:stretch>
        </p:blipFill>
        <p:spPr>
          <a:xfrm>
            <a:off x="7863840" y="4675086"/>
            <a:ext cx="3776472" cy="1211147"/>
          </a:xfrm>
          <a:prstGeom prst="rect">
            <a:avLst/>
          </a:prstGeom>
        </p:spPr>
      </p:pic>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tune, chọn, báo cáo ba đoạn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ba đoạn riêng để con số báo cáo không được hưởng phần may lúc chọn.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LUOI_W = np.round(np.arange(0, 1.01, 0.1), 1)      </a:t>
            </a:r>
            <a:r>
              <a:rPr sz="850">
                <a:solidFill>
                  <a:srgbClr val="8FC99A"/>
                </a:solidFill>
                <a:latin typeface="Courier New"/>
              </a:rPr>
              <a:t># 11 giá trị w</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chon_va_bao_cao(chuoi, h=48):</a:t>
            </a:r>
          </a:p>
          <a:p>
            <a:r>
              <a:rPr sz="850">
                <a:solidFill>
                  <a:srgbClr val="6B7385"/>
                </a:solidFill>
                <a:latin typeface="Courier New"/>
              </a:rPr>
              <a:t> 6 </a:t>
            </a:r>
            <a:r>
              <a:rPr sz="850">
                <a:solidFill>
                  <a:srgbClr val="E6EAF0"/>
                </a:solidFill>
                <a:latin typeface="Courier New"/>
              </a:rPr>
              <a:t>    hang = []</a:t>
            </a:r>
          </a:p>
          <a:p>
            <a:r>
              <a:rPr sz="850">
                <a:solidFill>
                  <a:srgbClr val="6B7385"/>
                </a:solidFill>
                <a:latin typeface="Courier New"/>
              </a:rPr>
              <a:t> 7 </a:t>
            </a:r>
            <a:r>
              <a:rPr sz="850">
                <a:solidFill>
                  <a:srgbClr val="E6EAF0"/>
                </a:solidFill>
                <a:latin typeface="Courier New"/>
              </a:rPr>
              <a:t>    for ten, v in chuoi.items():</a:t>
            </a:r>
          </a:p>
          <a:p>
            <a:r>
              <a:rPr sz="850">
                <a:solidFill>
                  <a:srgbClr val="6B7385"/>
                </a:solidFill>
                <a:latin typeface="Courier New"/>
              </a:rPr>
              <a:t> 8 </a:t>
            </a:r>
            <a:r>
              <a:rPr sz="850">
                <a:solidFill>
                  <a:srgbClr val="E6EAF0"/>
                </a:solidFill>
                <a:latin typeface="Courier New"/>
              </a:rPr>
              <a:t>        n = len(v)</a:t>
            </a:r>
          </a:p>
          <a:p>
            <a:r>
              <a:rPr sz="850">
                <a:solidFill>
                  <a:srgbClr val="6B7385"/>
                </a:solidFill>
                <a:latin typeface="Courier New"/>
              </a:rPr>
              <a:t> 9 </a:t>
            </a:r>
            <a:r>
              <a:rPr sz="850">
                <a:solidFill>
                  <a:srgbClr val="E6EAF0"/>
                </a:solidFill>
                <a:latin typeface="Courier New"/>
              </a:rPr>
              <a:t>        T, A, B = n - 3 * h, n - 2 * h, n - h        </a:t>
            </a:r>
            <a:r>
              <a:rPr sz="850">
                <a:solidFill>
                  <a:srgbClr val="8FC99A"/>
                </a:solidFill>
                <a:latin typeface="Courier New"/>
              </a:rPr>
              <a:t># ba đoạn 48 giờ cuối</a:t>
            </a:r>
          </a:p>
          <a:p>
            <a:r>
              <a:rPr sz="850">
                <a:solidFill>
                  <a:srgbClr val="6B7385"/>
                </a:solidFill>
                <a:latin typeface="Courier New"/>
              </a:rPr>
              <a:t>10 </a:t>
            </a:r>
            <a:r>
              <a:rPr sz="850">
                <a:solidFill>
                  <a:srgbClr val="E6EAF0"/>
                </a:solidFill>
                <a:latin typeface="Courier New"/>
              </a:rPr>
              <a:t>        w = min(LUOI_W, key=lambda x: _cham(v, T, x, h)["trộn"])  </a:t>
            </a:r>
            <a:r>
              <a:rPr sz="850">
                <a:solidFill>
                  <a:srgbClr val="8FC99A"/>
                </a:solidFill>
                <a:latin typeface="Courier New"/>
              </a:rPr>
              <a:t># tune</a:t>
            </a:r>
          </a:p>
          <a:p>
            <a:r>
              <a:rPr sz="850">
                <a:solidFill>
                  <a:srgbClr val="6B7385"/>
                </a:solidFill>
                <a:latin typeface="Courier New"/>
              </a:rPr>
              <a:t>11 </a:t>
            </a:r>
            <a:r>
              <a:rPr sz="850">
                <a:solidFill>
                  <a:srgbClr val="E6EAF0"/>
                </a:solidFill>
                <a:latin typeface="Courier New"/>
              </a:rPr>
              <a:t>        diem_A = _cham(v, A, w, h)</a:t>
            </a:r>
          </a:p>
          <a:p>
            <a:r>
              <a:rPr sz="850">
                <a:solidFill>
                  <a:srgbClr val="6B7385"/>
                </a:solidFill>
                <a:latin typeface="Courier New"/>
              </a:rPr>
              <a:t>12 </a:t>
            </a:r>
            <a:r>
              <a:rPr sz="850">
                <a:solidFill>
                  <a:srgbClr val="E6EAF0"/>
                </a:solidFill>
                <a:latin typeface="Courier New"/>
              </a:rPr>
              <a:t>        chon = min(diem_A, key=diem_A.get)           </a:t>
            </a:r>
            <a:r>
              <a:rPr sz="850">
                <a:solidFill>
                  <a:srgbClr val="8FC99A"/>
                </a:solidFill>
                <a:latin typeface="Courier New"/>
              </a:rPr>
              <a:t># chọn trên A</a:t>
            </a:r>
          </a:p>
          <a:p>
            <a:r>
              <a:rPr sz="850">
                <a:solidFill>
                  <a:srgbClr val="6B7385"/>
                </a:solidFill>
                <a:latin typeface="Courier New"/>
              </a:rPr>
              <a:t>13 </a:t>
            </a:r>
            <a:r>
              <a:rPr sz="850">
                <a:solidFill>
                  <a:srgbClr val="E6EAF0"/>
                </a:solidFill>
                <a:latin typeface="Courier New"/>
              </a:rPr>
              <a:t>        diem_B = _cham(v, B, w, h)                   </a:t>
            </a:r>
            <a:r>
              <a:rPr sz="850">
                <a:solidFill>
                  <a:srgbClr val="8FC99A"/>
                </a:solidFill>
                <a:latin typeface="Courier New"/>
              </a:rPr>
              <a:t># báo cáo trên B</a:t>
            </a:r>
          </a:p>
          <a:p>
            <a:r>
              <a:rPr sz="850">
                <a:solidFill>
                  <a:srgbClr val="6B7385"/>
                </a:solidFill>
                <a:latin typeface="Courier New"/>
              </a:rPr>
              <a:t>14 </a:t>
            </a:r>
            <a:r>
              <a:rPr sz="850">
                <a:solidFill>
                  <a:srgbClr val="E6EAF0"/>
                </a:solidFill>
                <a:latin typeface="Courier New"/>
              </a:rPr>
              <a:t>        hang.append({"chuỗi": ten, "chọn": chon,</a:t>
            </a:r>
          </a:p>
          <a:p>
            <a:r>
              <a:rPr sz="850">
                <a:solidFill>
                  <a:srgbClr val="6B7385"/>
                </a:solidFill>
                <a:latin typeface="Courier New"/>
              </a:rPr>
              <a:t>15 </a:t>
            </a:r>
            <a:r>
              <a:rPr sz="850">
                <a:solidFill>
                  <a:srgbClr val="E6EAF0"/>
                </a:solidFill>
                <a:latin typeface="Courier New"/>
              </a:rPr>
              <a:t>                     "MASE báo cáo (B)": diem_B[chon]})</a:t>
            </a:r>
          </a:p>
          <a:p>
            <a:r>
              <a:rPr sz="850">
                <a:solidFill>
                  <a:srgbClr val="6B7385"/>
                </a:solidFill>
                <a:latin typeface="Courier New"/>
              </a:rPr>
              <a:t>16 </a:t>
            </a:r>
            <a:r>
              <a:rPr sz="850">
                <a:solidFill>
                  <a:srgbClr val="E6EAF0"/>
                </a:solidFill>
                <a:latin typeface="Courier New"/>
              </a:rPr>
              <a:t>    return pd.DataFrame(hang)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Lưới trọng số w từ 0 tới 1, bước 0,1.</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Chia ba đoạn: T tune, A chọn, B báo cáo.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w cho MASE thấp nhất trên đoạn 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11–12</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phương pháp tốt nhất trên đoạn A.</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Chỉ báo MASE trên đoạn B chưa dùng.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414 chuỗi M4 theo giờ: tune, chọn, báo cáo cùng đoạn B cho MASE trung vị 0,775; ba đoạn riêng cho 1,039, lạc quan 25%.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 np.round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lưới 0; 0,1; …; 1 và làm tròn cho khỏi sai số lẻ.</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_cham</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MASE của sáu phương pháp đơn giản trên một đoạn 48 giờ.</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Gom kết quả mỗi chuỗi thành một bảng để lấy trung vị.</a:t>
            </a:r>
          </a:p>
        </p:txBody>
      </p:sp>
      <p:pic>
        <p:nvPicPr>
          <p:cNvPr id="29" name="Picture 28" descr="chon-bao-cao.png"/>
          <p:cNvPicPr>
            <a:picLocks noChangeAspect="1"/>
          </p:cNvPicPr>
          <p:nvPr/>
        </p:nvPicPr>
        <p:blipFill>
          <a:blip r:embed="rId2"/>
          <a:stretch>
            <a:fillRect/>
          </a:stretch>
        </p:blipFill>
        <p:spPr>
          <a:xfrm>
            <a:off x="7863840" y="4577991"/>
            <a:ext cx="3776472" cy="1405337"/>
          </a:xfrm>
          <a:prstGeom prst="rect">
            <a:avLst/>
          </a:prstGeom>
        </p:spPr>
      </p:pic>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kiểm định Diebold–Mariano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Hỏi chênh sai số giữa hai dự báo là thật hay chỉ là may trên đoạn này.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diebold_mariano(e1, e2, h=1, hieu_chinh=True):</a:t>
            </a:r>
          </a:p>
          <a:p>
            <a:r>
              <a:rPr sz="850">
                <a:solidFill>
                  <a:srgbClr val="6B7385"/>
                </a:solidFill>
                <a:latin typeface="Courier New"/>
              </a:rPr>
              <a:t> 5 </a:t>
            </a:r>
            <a:r>
              <a:rPr sz="850">
                <a:solidFill>
                  <a:srgbClr val="E6EAF0"/>
                </a:solidFill>
                <a:latin typeface="Courier New"/>
              </a:rPr>
              <a:t>    d = np.abs(e1) - np.abs(e2)                    </a:t>
            </a:r>
            <a:r>
              <a:rPr sz="850">
                <a:solidFill>
                  <a:srgbClr val="8FC99A"/>
                </a:solidFill>
                <a:latin typeface="Courier New"/>
              </a:rPr>
              <a:t># chênh mất mát từng giờ</a:t>
            </a:r>
          </a:p>
          <a:p>
            <a:r>
              <a:rPr sz="850">
                <a:solidFill>
                  <a:srgbClr val="6B7385"/>
                </a:solidFill>
                <a:latin typeface="Courier New"/>
              </a:rPr>
              <a:t> 6 </a:t>
            </a:r>
            <a:r>
              <a:rPr sz="850">
                <a:solidFill>
                  <a:srgbClr val="E6EAF0"/>
                </a:solidFill>
                <a:latin typeface="Courier New"/>
              </a:rPr>
              <a:t>    n = len(d)</a:t>
            </a:r>
          </a:p>
          <a:p>
            <a:r>
              <a:rPr sz="850">
                <a:solidFill>
                  <a:srgbClr val="6B7385"/>
                </a:solidFill>
                <a:latin typeface="Courier New"/>
              </a:rPr>
              <a:t> 7 </a:t>
            </a:r>
            <a:r>
              <a:rPr sz="850">
                <a:solidFill>
                  <a:srgbClr val="E6EAF0"/>
                </a:solidFill>
                <a:latin typeface="Courier New"/>
              </a:rPr>
              <a:t>    lech = d - d.mean()</a:t>
            </a:r>
          </a:p>
          <a:p>
            <a:r>
              <a:rPr sz="850">
                <a:solidFill>
                  <a:srgbClr val="6B7385"/>
                </a:solidFill>
                <a:latin typeface="Courier New"/>
              </a:rPr>
              <a:t> 8 </a:t>
            </a:r>
            <a:r>
              <a:rPr sz="850">
                <a:solidFill>
                  <a:srgbClr val="E6EAF0"/>
                </a:solidFill>
                <a:latin typeface="Courier New"/>
              </a:rPr>
              <a:t>    gamma = [np.sum(lech[k:] * lech[: n - k]) / n for k in range(h)]</a:t>
            </a:r>
          </a:p>
          <a:p>
            <a:r>
              <a:rPr sz="850">
                <a:solidFill>
                  <a:srgbClr val="6B7385"/>
                </a:solidFill>
                <a:latin typeface="Courier New"/>
              </a:rPr>
              <a:t> 9 </a:t>
            </a:r>
            <a:r>
              <a:rPr sz="850">
                <a:solidFill>
                  <a:srgbClr val="E6EAF0"/>
                </a:solidFill>
                <a:latin typeface="Courier New"/>
              </a:rPr>
              <a:t>    v = (gamma[0] + 2 * sum(gamma[1:])) / n        </a:t>
            </a:r>
            <a:r>
              <a:rPr sz="850">
                <a:solidFill>
                  <a:srgbClr val="8FC99A"/>
                </a:solidFill>
                <a:latin typeface="Courier New"/>
              </a:rPr>
              <a:t># cộng tự hiệp phương sai</a:t>
            </a:r>
          </a:p>
          <a:p>
            <a:r>
              <a:rPr sz="850">
                <a:solidFill>
                  <a:srgbClr val="6B7385"/>
                </a:solidFill>
                <a:latin typeface="Courier New"/>
              </a:rPr>
              <a:t>10 </a:t>
            </a:r>
            <a:r>
              <a:rPr sz="850">
                <a:solidFill>
                  <a:srgbClr val="E6EAF0"/>
                </a:solidFill>
                <a:latin typeface="Courier New"/>
              </a:rPr>
              <a:t>    if v &lt;= 0:                                     </a:t>
            </a:r>
            <a:r>
              <a:rPr sz="850">
                <a:solidFill>
                  <a:srgbClr val="8FC99A"/>
                </a:solidFill>
                <a:latin typeface="Courier New"/>
              </a:rPr>
              <a:t># lùi về h = 1</a:t>
            </a:r>
          </a:p>
          <a:p>
            <a:r>
              <a:rPr sz="850">
                <a:solidFill>
                  <a:srgbClr val="6B7385"/>
                </a:solidFill>
                <a:latin typeface="Courier New"/>
              </a:rPr>
              <a:t>11 </a:t>
            </a:r>
            <a:r>
              <a:rPr sz="850">
                <a:solidFill>
                  <a:srgbClr val="E6EAF0"/>
                </a:solidFill>
                <a:latin typeface="Courier New"/>
              </a:rPr>
              <a:t>        h, v = 1, gamma[0] / n</a:t>
            </a:r>
          </a:p>
          <a:p>
            <a:r>
              <a:rPr sz="850">
                <a:solidFill>
                  <a:srgbClr val="6B7385"/>
                </a:solidFill>
                <a:latin typeface="Courier New"/>
              </a:rPr>
              <a:t>12 </a:t>
            </a:r>
            <a:r>
              <a:rPr sz="850">
                <a:solidFill>
                  <a:srgbClr val="E6EAF0"/>
                </a:solidFill>
                <a:latin typeface="Courier New"/>
              </a:rPr>
              <a:t>    s = d.mean() / np.sqrt(v)</a:t>
            </a:r>
          </a:p>
          <a:p>
            <a:r>
              <a:rPr sz="850">
                <a:solidFill>
                  <a:srgbClr val="6B7385"/>
                </a:solidFill>
                <a:latin typeface="Courier New"/>
              </a:rPr>
              <a:t>13 </a:t>
            </a:r>
            <a:r>
              <a:rPr sz="850">
                <a:solidFill>
                  <a:srgbClr val="E6EAF0"/>
                </a:solidFill>
                <a:latin typeface="Courier New"/>
              </a:rPr>
              <a:t>    if not hieu_chinh:</a:t>
            </a:r>
          </a:p>
          <a:p>
            <a:r>
              <a:rPr sz="850">
                <a:solidFill>
                  <a:srgbClr val="6B7385"/>
                </a:solidFill>
                <a:latin typeface="Courier New"/>
              </a:rPr>
              <a:t>14 </a:t>
            </a:r>
            <a:r>
              <a:rPr sz="850">
                <a:solidFill>
                  <a:srgbClr val="E6EAF0"/>
                </a:solidFill>
                <a:latin typeface="Courier New"/>
              </a:rPr>
              <a:t>        return s, 2 * stats.norm.sf(abs(s))        </a:t>
            </a:r>
            <a:r>
              <a:rPr sz="850">
                <a:solidFill>
                  <a:srgbClr val="8FC99A"/>
                </a:solidFill>
                <a:latin typeface="Courier New"/>
              </a:rPr>
              <a:t># bản bỏ tự tương quan</a:t>
            </a:r>
          </a:p>
          <a:p>
            <a:r>
              <a:rPr sz="850">
                <a:solidFill>
                  <a:srgbClr val="6B7385"/>
                </a:solidFill>
                <a:latin typeface="Courier New"/>
              </a:rPr>
              <a:t>15 </a:t>
            </a:r>
            <a:r>
              <a:rPr sz="850">
                <a:solidFill>
                  <a:srgbClr val="E6EAF0"/>
                </a:solidFill>
                <a:latin typeface="Courier New"/>
              </a:rPr>
              <a:t>    s *= np.sqrt((n + 1 - 2 * h + h * (h - 1) / n) / n)   </a:t>
            </a:r>
            <a:r>
              <a:rPr sz="850">
                <a:solidFill>
                  <a:srgbClr val="8FC99A"/>
                </a:solidFill>
                <a:latin typeface="Courier New"/>
              </a:rPr>
              <a:t># sửa mẫu nhỏ</a:t>
            </a:r>
          </a:p>
          <a:p>
            <a:r>
              <a:rPr sz="850">
                <a:solidFill>
                  <a:srgbClr val="6B7385"/>
                </a:solidFill>
                <a:latin typeface="Courier New"/>
              </a:rPr>
              <a:t>16 </a:t>
            </a:r>
            <a:r>
              <a:rPr sz="850">
                <a:solidFill>
                  <a:srgbClr val="E6EAF0"/>
                </a:solidFill>
                <a:latin typeface="Courier New"/>
              </a:rPr>
              <a:t>    return s, 2 * stats.t(df=n - 1).sf(abs(s))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Chênh độ lớn sai số của hai dự báo.</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Cộng tự hiệp phương sai tới trễ h − 1.</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Chênh trung bình chia sai số chuẩn.</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Bản ngây thơ: so với hình chuông chuẩn.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Bản HLN: hệ số mẫu nhỏ, phân phối 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Trộn so với seasonal naive trên 2.215 giờ: bỏ tự tương quan ra p = 0,0000012; bản HLN h = 24 ra −1,41, p = 0,16: chưa có bằng chứng.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np.sum(lech[k:] * lech[: n - k])</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Tự hiệp phương sai trễ k: d_t và d_(t+k) cùng lên xuống cỡ nào.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stats.t(df=n - 1).sf</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đuôi phân phối t; nhân 2 được p hai phía.</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stats.norm.sf</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đuôi của hình chuông chuẩn, dùng cho bản bỏ tự tương quan.</a:t>
            </a:r>
          </a:p>
        </p:txBody>
      </p:sp>
      <p:sp>
        <p:nvSpPr>
          <p:cNvPr id="29" name="Rounded Rectangle 28"/>
          <p:cNvSpPr/>
          <p:nvPr/>
        </p:nvSpPr>
        <p:spPr>
          <a:xfrm>
            <a:off x="7863840" y="4059935"/>
            <a:ext cx="3776472" cy="551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619b15dea33.png"/>
          <p:cNvPicPr>
            <a:picLocks noChangeAspect="1"/>
          </p:cNvPicPr>
          <p:nvPr/>
        </p:nvPicPr>
        <p:blipFill>
          <a:blip r:embed="rId2"/>
          <a:stretch>
            <a:fillRect/>
          </a:stretch>
        </p:blipFill>
        <p:spPr>
          <a:xfrm>
            <a:off x="9180576" y="4114799"/>
            <a:ext cx="1142999" cy="441959"/>
          </a:xfrm>
          <a:prstGeom prst="rect">
            <a:avLst/>
          </a:prstGeom>
        </p:spPr>
      </p:pic>
      <p:pic>
        <p:nvPicPr>
          <p:cNvPr id="31" name="Picture 30" descr="dm-tu-tuong-quan.png"/>
          <p:cNvPicPr>
            <a:picLocks noChangeAspect="1"/>
          </p:cNvPicPr>
          <p:nvPr/>
        </p:nvPicPr>
        <p:blipFill>
          <a:blip r:embed="rId3"/>
          <a:stretch>
            <a:fillRect/>
          </a:stretch>
        </p:blipFill>
        <p:spPr>
          <a:xfrm>
            <a:off x="7863840" y="5042358"/>
            <a:ext cx="3776472" cy="11380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