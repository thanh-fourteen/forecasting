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418" r:id="rId169"/>
    <p:sldId id="268" r:id="rId19"/>
    <p:sldId id="269" r:id="rId20"/>
    <p:sldId id="270" r:id="rId21"/>
    <p:sldId id="494" r:id="rId245"/>
    <p:sldId id="271" r:id="rId22"/>
    <p:sldId id="419" r:id="rId170"/>
    <p:sldId id="272" r:id="rId23"/>
    <p:sldId id="273" r:id="rId24"/>
    <p:sldId id="420" r:id="rId171"/>
    <p:sldId id="274" r:id="rId25"/>
    <p:sldId id="421" r:id="rId172"/>
    <p:sldId id="275" r:id="rId26"/>
    <p:sldId id="276" r:id="rId27"/>
    <p:sldId id="422" r:id="rId173"/>
    <p:sldId id="277" r:id="rId28"/>
    <p:sldId id="423" r:id="rId174"/>
    <p:sldId id="278" r:id="rId29"/>
    <p:sldId id="279" r:id="rId30"/>
    <p:sldId id="280" r:id="rId31"/>
    <p:sldId id="424" r:id="rId175"/>
    <p:sldId id="281" r:id="rId32"/>
    <p:sldId id="282" r:id="rId33"/>
    <p:sldId id="283" r:id="rId34"/>
    <p:sldId id="425" r:id="rId176"/>
    <p:sldId id="284" r:id="rId35"/>
    <p:sldId id="285" r:id="rId36"/>
    <p:sldId id="427" r:id="rId178"/>
    <p:sldId id="286" r:id="rId37"/>
    <p:sldId id="428" r:id="rId179"/>
    <p:sldId id="287" r:id="rId38"/>
    <p:sldId id="429" r:id="rId180"/>
    <p:sldId id="288" r:id="rId39"/>
    <p:sldId id="431" r:id="rId182"/>
    <p:sldId id="289" r:id="rId40"/>
    <p:sldId id="290" r:id="rId41"/>
    <p:sldId id="433" r:id="rId184"/>
    <p:sldId id="291" r:id="rId42"/>
    <p:sldId id="292" r:id="rId43"/>
    <p:sldId id="434" r:id="rId185"/>
    <p:sldId id="293" r:id="rId44"/>
    <p:sldId id="294" r:id="rId45"/>
    <p:sldId id="295" r:id="rId46"/>
    <p:sldId id="296" r:id="rId47"/>
    <p:sldId id="436" r:id="rId187"/>
    <p:sldId id="297" r:id="rId48"/>
    <p:sldId id="437" r:id="rId188"/>
    <p:sldId id="298" r:id="rId49"/>
    <p:sldId id="299" r:id="rId50"/>
    <p:sldId id="438" r:id="rId189"/>
    <p:sldId id="452" r:id="rId203"/>
    <p:sldId id="300" r:id="rId51"/>
    <p:sldId id="301" r:id="rId52"/>
    <p:sldId id="302" r:id="rId53"/>
    <p:sldId id="303" r:id="rId54"/>
    <p:sldId id="304" r:id="rId55"/>
    <p:sldId id="305" r:id="rId56"/>
    <p:sldId id="443" r:id="rId194"/>
    <p:sldId id="306" r:id="rId57"/>
    <p:sldId id="307" r:id="rId58"/>
    <p:sldId id="308" r:id="rId59"/>
    <p:sldId id="446" r:id="rId197"/>
    <p:sldId id="447" r:id="rId198"/>
    <p:sldId id="309" r:id="rId60"/>
    <p:sldId id="310" r:id="rId61"/>
    <p:sldId id="449" r:id="rId200"/>
    <p:sldId id="311" r:id="rId62"/>
    <p:sldId id="450" r:id="rId201"/>
    <p:sldId id="312" r:id="rId63"/>
    <p:sldId id="313" r:id="rId64"/>
    <p:sldId id="314" r:id="rId65"/>
    <p:sldId id="453" r:id="rId204"/>
    <p:sldId id="315" r:id="rId66"/>
    <p:sldId id="316" r:id="rId67"/>
    <p:sldId id="454" r:id="rId205"/>
    <p:sldId id="317" r:id="rId68"/>
    <p:sldId id="318" r:id="rId69"/>
    <p:sldId id="455" r:id="rId206"/>
    <p:sldId id="319" r:id="rId70"/>
    <p:sldId id="320" r:id="rId71"/>
    <p:sldId id="456" r:id="rId207"/>
    <p:sldId id="321" r:id="rId72"/>
    <p:sldId id="322" r:id="rId73"/>
    <p:sldId id="426" r:id="rId177"/>
    <p:sldId id="323" r:id="rId74"/>
    <p:sldId id="458" r:id="rId209"/>
    <p:sldId id="324" r:id="rId75"/>
    <p:sldId id="325" r:id="rId76"/>
    <p:sldId id="326" r:id="rId77"/>
    <p:sldId id="327" r:id="rId78"/>
    <p:sldId id="328" r:id="rId79"/>
    <p:sldId id="329" r:id="rId80"/>
    <p:sldId id="461" r:id="rId212"/>
    <p:sldId id="330" r:id="rId81"/>
    <p:sldId id="462" r:id="rId213"/>
    <p:sldId id="331" r:id="rId82"/>
    <p:sldId id="463" r:id="rId214"/>
    <p:sldId id="332" r:id="rId83"/>
    <p:sldId id="464" r:id="rId215"/>
    <p:sldId id="333" r:id="rId84"/>
    <p:sldId id="334" r:id="rId85"/>
    <p:sldId id="465" r:id="rId216"/>
    <p:sldId id="335" r:id="rId86"/>
    <p:sldId id="466" r:id="rId217"/>
    <p:sldId id="336" r:id="rId87"/>
    <p:sldId id="467" r:id="rId218"/>
    <p:sldId id="337" r:id="rId88"/>
    <p:sldId id="468" r:id="rId219"/>
    <p:sldId id="338" r:id="rId89"/>
    <p:sldId id="469" r:id="rId220"/>
    <p:sldId id="339" r:id="rId90"/>
    <p:sldId id="488" r:id="rId239"/>
    <p:sldId id="340" r:id="rId91"/>
    <p:sldId id="489" r:id="rId240"/>
    <p:sldId id="341" r:id="rId92"/>
    <p:sldId id="490" r:id="rId241"/>
    <p:sldId id="342" r:id="rId93"/>
    <p:sldId id="343" r:id="rId94"/>
    <p:sldId id="344" r:id="rId95"/>
    <p:sldId id="345" r:id="rId96"/>
    <p:sldId id="346" r:id="rId97"/>
    <p:sldId id="347" r:id="rId98"/>
    <p:sldId id="430" r:id="rId181"/>
    <p:sldId id="432" r:id="rId183"/>
    <p:sldId id="348" r:id="rId99"/>
    <p:sldId id="435" r:id="rId186"/>
    <p:sldId id="349" r:id="rId100"/>
    <p:sldId id="439" r:id="rId190"/>
    <p:sldId id="350" r:id="rId101"/>
    <p:sldId id="440" r:id="rId191"/>
    <p:sldId id="441" r:id="rId192"/>
    <p:sldId id="442" r:id="rId193"/>
    <p:sldId id="351" r:id="rId102"/>
    <p:sldId id="444" r:id="rId195"/>
    <p:sldId id="445" r:id="rId196"/>
    <p:sldId id="352" r:id="rId103"/>
    <p:sldId id="448" r:id="rId199"/>
    <p:sldId id="451" r:id="rId202"/>
    <p:sldId id="353" r:id="rId104"/>
    <p:sldId id="457" r:id="rId208"/>
    <p:sldId id="354" r:id="rId105"/>
    <p:sldId id="459" r:id="rId210"/>
    <p:sldId id="355" r:id="rId106"/>
    <p:sldId id="460" r:id="rId211"/>
    <p:sldId id="356" r:id="rId107"/>
    <p:sldId id="470" r:id="rId221"/>
    <p:sldId id="357" r:id="rId108"/>
    <p:sldId id="358" r:id="rId109"/>
    <p:sldId id="471" r:id="rId222"/>
    <p:sldId id="359" r:id="rId110"/>
    <p:sldId id="360" r:id="rId111"/>
    <p:sldId id="472" r:id="rId223"/>
    <p:sldId id="361" r:id="rId112"/>
    <p:sldId id="362" r:id="rId113"/>
    <p:sldId id="473" r:id="rId224"/>
    <p:sldId id="474" r:id="rId225"/>
    <p:sldId id="363" r:id="rId114"/>
    <p:sldId id="364" r:id="rId115"/>
    <p:sldId id="475" r:id="rId226"/>
    <p:sldId id="365" r:id="rId116"/>
    <p:sldId id="476" r:id="rId227"/>
    <p:sldId id="366" r:id="rId117"/>
    <p:sldId id="367" r:id="rId118"/>
    <p:sldId id="477" r:id="rId228"/>
    <p:sldId id="368" r:id="rId119"/>
    <p:sldId id="369" r:id="rId120"/>
    <p:sldId id="478" r:id="rId229"/>
    <p:sldId id="370" r:id="rId121"/>
    <p:sldId id="371" r:id="rId122"/>
    <p:sldId id="479" r:id="rId230"/>
    <p:sldId id="372" r:id="rId123"/>
    <p:sldId id="373" r:id="rId124"/>
    <p:sldId id="480" r:id="rId231"/>
    <p:sldId id="374" r:id="rId125"/>
    <p:sldId id="481" r:id="rId232"/>
    <p:sldId id="375" r:id="rId126"/>
    <p:sldId id="376" r:id="rId127"/>
    <p:sldId id="377" r:id="rId128"/>
    <p:sldId id="483" r:id="rId234"/>
    <p:sldId id="484" r:id="rId235"/>
    <p:sldId id="378" r:id="rId129"/>
    <p:sldId id="379" r:id="rId130"/>
    <p:sldId id="380" r:id="rId131"/>
    <p:sldId id="485" r:id="rId236"/>
    <p:sldId id="381" r:id="rId132"/>
    <p:sldId id="382" r:id="rId133"/>
    <p:sldId id="482" r:id="rId233"/>
    <p:sldId id="486" r:id="rId237"/>
    <p:sldId id="383" r:id="rId134"/>
    <p:sldId id="487" r:id="rId238"/>
    <p:sldId id="384" r:id="rId135"/>
    <p:sldId id="491" r:id="rId242"/>
    <p:sldId id="492" r:id="rId243"/>
    <p:sldId id="385" r:id="rId136"/>
    <p:sldId id="493" r:id="rId244"/>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95" r:id="rId246"/>
    <p:sldId id="400" r:id="rId151"/>
    <p:sldId id="496" r:id="rId247"/>
    <p:sldId id="401" r:id="rId152"/>
    <p:sldId id="402" r:id="rId153"/>
    <p:sldId id="497" r:id="rId248"/>
    <p:sldId id="403" r:id="rId154"/>
    <p:sldId id="498" r:id="rId249"/>
    <p:sldId id="499" r:id="rId250"/>
    <p:sldId id="404" r:id="rId155"/>
    <p:sldId id="500" r:id="rId251"/>
    <p:sldId id="405" r:id="rId156"/>
    <p:sldId id="406" r:id="rId157"/>
    <p:sldId id="501" r:id="rId252"/>
    <p:sldId id="407" r:id="rId158"/>
    <p:sldId id="502" r:id="rId253"/>
    <p:sldId id="408" r:id="rId159"/>
    <p:sldId id="503" r:id="rId254"/>
    <p:sldId id="409" r:id="rId160"/>
    <p:sldId id="504" r:id="rId255"/>
    <p:sldId id="410" r:id="rId161"/>
    <p:sldId id="411" r:id="rId162"/>
    <p:sldId id="412" r:id="rId163"/>
    <p:sldId id="413" r:id="rId164"/>
    <p:sldId id="414" r:id="rId165"/>
    <p:sldId id="415" r:id="rId166"/>
    <p:sldId id="416" r:id="rId167"/>
    <p:sldId id="417" r:id="rId16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 Id="rId208" Type="http://schemas.openxmlformats.org/officeDocument/2006/relationships/slide" Target="slides/slide202.xml"/><Relationship Id="rId209" Type="http://schemas.openxmlformats.org/officeDocument/2006/relationships/slide" Target="slides/slide203.xml"/><Relationship Id="rId210" Type="http://schemas.openxmlformats.org/officeDocument/2006/relationships/slide" Target="slides/slide204.xml"/><Relationship Id="rId211" Type="http://schemas.openxmlformats.org/officeDocument/2006/relationships/slide" Target="slides/slide205.xml"/><Relationship Id="rId212" Type="http://schemas.openxmlformats.org/officeDocument/2006/relationships/slide" Target="slides/slide206.xml"/><Relationship Id="rId213" Type="http://schemas.openxmlformats.org/officeDocument/2006/relationships/slide" Target="slides/slide207.xml"/><Relationship Id="rId214" Type="http://schemas.openxmlformats.org/officeDocument/2006/relationships/slide" Target="slides/slide208.xml"/><Relationship Id="rId215" Type="http://schemas.openxmlformats.org/officeDocument/2006/relationships/slide" Target="slides/slide209.xml"/><Relationship Id="rId216" Type="http://schemas.openxmlformats.org/officeDocument/2006/relationships/slide" Target="slides/slide210.xml"/><Relationship Id="rId217" Type="http://schemas.openxmlformats.org/officeDocument/2006/relationships/slide" Target="slides/slide211.xml"/><Relationship Id="rId218" Type="http://schemas.openxmlformats.org/officeDocument/2006/relationships/slide" Target="slides/slide212.xml"/><Relationship Id="rId219" Type="http://schemas.openxmlformats.org/officeDocument/2006/relationships/slide" Target="slides/slide213.xml"/><Relationship Id="rId220" Type="http://schemas.openxmlformats.org/officeDocument/2006/relationships/slide" Target="slides/slide214.xml"/><Relationship Id="rId221" Type="http://schemas.openxmlformats.org/officeDocument/2006/relationships/slide" Target="slides/slide215.xml"/><Relationship Id="rId222" Type="http://schemas.openxmlformats.org/officeDocument/2006/relationships/slide" Target="slides/slide216.xml"/><Relationship Id="rId223" Type="http://schemas.openxmlformats.org/officeDocument/2006/relationships/slide" Target="slides/slide217.xml"/><Relationship Id="rId224" Type="http://schemas.openxmlformats.org/officeDocument/2006/relationships/slide" Target="slides/slide218.xml"/><Relationship Id="rId225" Type="http://schemas.openxmlformats.org/officeDocument/2006/relationships/slide" Target="slides/slide219.xml"/><Relationship Id="rId226" Type="http://schemas.openxmlformats.org/officeDocument/2006/relationships/slide" Target="slides/slide220.xml"/><Relationship Id="rId227" Type="http://schemas.openxmlformats.org/officeDocument/2006/relationships/slide" Target="slides/slide221.xml"/><Relationship Id="rId228" Type="http://schemas.openxmlformats.org/officeDocument/2006/relationships/slide" Target="slides/slide222.xml"/><Relationship Id="rId229" Type="http://schemas.openxmlformats.org/officeDocument/2006/relationships/slide" Target="slides/slide223.xml"/><Relationship Id="rId230" Type="http://schemas.openxmlformats.org/officeDocument/2006/relationships/slide" Target="slides/slide224.xml"/><Relationship Id="rId231" Type="http://schemas.openxmlformats.org/officeDocument/2006/relationships/slide" Target="slides/slide225.xml"/><Relationship Id="rId232" Type="http://schemas.openxmlformats.org/officeDocument/2006/relationships/slide" Target="slides/slide226.xml"/><Relationship Id="rId233" Type="http://schemas.openxmlformats.org/officeDocument/2006/relationships/slide" Target="slides/slide227.xml"/><Relationship Id="rId234" Type="http://schemas.openxmlformats.org/officeDocument/2006/relationships/slide" Target="slides/slide228.xml"/><Relationship Id="rId235" Type="http://schemas.openxmlformats.org/officeDocument/2006/relationships/slide" Target="slides/slide229.xml"/><Relationship Id="rId236" Type="http://schemas.openxmlformats.org/officeDocument/2006/relationships/slide" Target="slides/slide230.xml"/><Relationship Id="rId237" Type="http://schemas.openxmlformats.org/officeDocument/2006/relationships/slide" Target="slides/slide231.xml"/><Relationship Id="rId238" Type="http://schemas.openxmlformats.org/officeDocument/2006/relationships/slide" Target="slides/slide232.xml"/><Relationship Id="rId239" Type="http://schemas.openxmlformats.org/officeDocument/2006/relationships/slide" Target="slides/slide233.xml"/><Relationship Id="rId240" Type="http://schemas.openxmlformats.org/officeDocument/2006/relationships/slide" Target="slides/slide234.xml"/><Relationship Id="rId241" Type="http://schemas.openxmlformats.org/officeDocument/2006/relationships/slide" Target="slides/slide235.xml"/><Relationship Id="rId242" Type="http://schemas.openxmlformats.org/officeDocument/2006/relationships/slide" Target="slides/slide236.xml"/><Relationship Id="rId243" Type="http://schemas.openxmlformats.org/officeDocument/2006/relationships/slide" Target="slides/slide237.xml"/><Relationship Id="rId244" Type="http://schemas.openxmlformats.org/officeDocument/2006/relationships/slide" Target="slides/slide238.xml"/><Relationship Id="rId245" Type="http://schemas.openxmlformats.org/officeDocument/2006/relationships/slide" Target="slides/slide239.xml"/><Relationship Id="rId246" Type="http://schemas.openxmlformats.org/officeDocument/2006/relationships/slide" Target="slides/slide240.xml"/><Relationship Id="rId247" Type="http://schemas.openxmlformats.org/officeDocument/2006/relationships/slide" Target="slides/slide241.xml"/><Relationship Id="rId248" Type="http://schemas.openxmlformats.org/officeDocument/2006/relationships/slide" Target="slides/slide242.xml"/><Relationship Id="rId249" Type="http://schemas.openxmlformats.org/officeDocument/2006/relationships/slide" Target="slides/slide243.xml"/><Relationship Id="rId250" Type="http://schemas.openxmlformats.org/officeDocument/2006/relationships/slide" Target="slides/slide244.xml"/><Relationship Id="rId251" Type="http://schemas.openxmlformats.org/officeDocument/2006/relationships/slide" Target="slides/slide245.xml"/><Relationship Id="rId252" Type="http://schemas.openxmlformats.org/officeDocument/2006/relationships/slide" Target="slides/slide246.xml"/><Relationship Id="rId253" Type="http://schemas.openxmlformats.org/officeDocument/2006/relationships/slide" Target="slides/slide247.xml"/><Relationship Id="rId254" Type="http://schemas.openxmlformats.org/officeDocument/2006/relationships/slide" Target="slides/slide248.xml"/><Relationship Id="rId255" Type="http://schemas.openxmlformats.org/officeDocument/2006/relationships/slide" Target="slides/slide249.xml"/><Relationship Id="rId256"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4.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5.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6.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2.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3.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4.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3.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4.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5.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5.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6.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2.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0.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1.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7.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8.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Chào các bạn. Hôm nay chúng ta đi qua 15 buổi đầu của khoá, gom lại trong một bộ slide: dữ liệu cho dự báo.</a:t>
            </a:r>
          </a:p>
          <a:p>
            <a:r>
              <a:t>Ba chữ ở dưới tiêu đề là ba việc chúng ta làm: hiểu dữ liệu, làm sạch nó, và đánh giá trung thực. Buổi 1 đến 3 là nền móng, buổi 4 đến 13 là hiểu và chuẩn bị dữ liệu, đây là phần làm kỹ nhất. Buổi 14 và 15 là đánh giá, và nó được gộp vào đây vì một lý do đơn giản: không chấm trung thực thì chúng ta không biết tiền xử lý có giúp thật hay không.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bản đồ của buổi hôm nay, sáu phần xoay quanh một tâm.</a:t>
            </a:r>
          </a:p>
          <a:p>
            <a:r>
              <a:t>Phần A là khái niệm nền, mỗi khái niệm một slide. Phần B là các vấn đề dữ liệu hay gặp: mỗi vấn đề có một hình thật và ba thẻ, dấu hiệu, kiểm bằng gì, sửa thế nào. Phần C gom bảng tra, mười chỗ hay hiểu nhầm và từ điển Việt – Anh để các bạn tra nhanh. Phần D là đánh giá trung thực của buổi 14 và 15. Phần E ráp mọi thứ thành một quy trình tiền xử lý, tách rõ bước nào làm một lần, bước nào làm lại ở mỗi mốc cắt. Phần F điểm lại bộ dữ liệu đã dùng và những gì còn ở các buổi sau.</a:t>
            </a:r>
          </a:p>
          <a:p>
            <a:r>
              <a:t>Mỗi khi mở một phần mới, bản đồ này sẽ hiện lại, sáng đúng phần đang nói.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Cả khoá có 44 buổi, đi từ thống kê cổ điển tới deep learning, foundation model và production. Nhìn dải ô ở dưới: 15 ô có màu là hôm nay, các ô xám là phần sau.</a:t>
            </a:r>
          </a:p>
          <a:p>
            <a:r>
              <a:t>Ba con số lớn chia 15 buổi này: 3 buổi nền móng, 10 buổi hiểu và chuẩn bị dữ liệu, 2 buổi đánh giá trung thực.</a:t>
            </a:r>
          </a:p>
          <a:p>
            <a:r>
              <a:t>Vì sao kéo hai buổi đánh giá vào đây? Vì nhiều bước tiền xử lý có "học" từ dữ liệu, ví dụ giá trị dùng để điền chỗ trống hay tham số của một phép biến đổi. Những bước đó chỉ đúng khi chúng ta biết nó được học trên đoạn nào. Mọi buổi sau đều đứng lên trên phần móng này.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Cả giai đoạn dữ liệu đi theo một nhịp năm bước, các bạn nhìn năm vòng tròn: nhìn, đặt giả thuyết, kiểm bằng con số, xử lý, rồi kiểm lại.</a:t>
            </a:r>
          </a:p>
          <a:p>
            <a:r>
              <a:t>Ví dụ ở khung dưới: thấy một giờ bằng 0 lúc rạng sáng Chủ nhật tháng 3. Đừng vội điền. Nghi là do đổi giờ mùa hè, đếm lại số giờ của ngày đó, đổi sang UTC rồi mới gộp, cuối cùng vẽ lại ngày đó để chắc.</a:t>
            </a:r>
          </a:p>
          <a:p>
            <a:r>
              <a:t>(dừng) Bài học chính của cả phần này: không xoá, không điền khi chưa biết nguyên nhân. Một con số lạ có thể là lỗi, nhưng cũng có thể là sự kiện thật cần giữ lại.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Chúng ta vào phần A: khái niệm nền, đi theo thứ tự buổi 1 đến 13.</a:t>
            </a:r>
          </a:p>
          <a:p>
            <a:r>
              <a:t>Năm trang đầu là "Từ nền", gom những từ dùng nhiều mà không có slide riêng. Sau đó mỗi slide là một khái niệm, và luôn trả lời bốn câu: để làm gì, là gì, con số cao hay thấp nghĩa là gì, và một ví dụ có số.</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Năm trang "Từ nền" là chỗ để tra: gặp từ lạ ở slide nào thì quay lại đây. Mỗi dòng có ba cột, từ, nghĩa, và một ví dụ nhỏ.</a:t>
            </a:r>
          </a:p>
          <a:p>
            <a:r>
              <a:t>Trang này là các từ về dự báo và sai số. Dòng quan trọng nhất là sai số dự báo: sai số bằng thực tế trừ dự báo. Vậy sai số dương nghĩa là chúng ta dự báo thấp hơn thực tế, như 1,7 trừ 1,5 bằng cộng 0,2. Quy ước này dùng cho cả khoá, các bạn nhớ giúp.</a:t>
            </a:r>
          </a:p>
          <a:p>
            <a:r>
              <a:t>Dòng thứ hai nên nhớ là MAE với RMSE: MAE bỏ dấu rồi lấy trung bình, sai số cộng 2 và trừ 4 thì MAE là 3. RMSE bình phương trước nên phạt nặng sai số lớn. Và NaN là "không biết", khác hẳn số 0.</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Trang 2 là các từ thống kê, dùng ở buổi 2, 8, 9 và 14.</a:t>
            </a:r>
          </a:p>
          <a:p>
            <a:r>
              <a:t>Cặp từ nền nhất là mẫu và tổng thể. Mẫu là số liệu đang có trong tay, tổng thể là mọi giá trị nếu đo mãi. Mọi khoảng tin cậy và p-value đều là cách đoán về tổng thể từ một mẫu, nên khi thấy hai thứ đó, hãy tự hỏi: mẫu của mình có đại diện không.</a:t>
            </a:r>
          </a:p>
          <a:p>
            <a:r>
              <a:t>Hai dòng nữa đáng nhớ: phân phối chuẩn, 95% nằm trong trung bình cộng trừ 1,96 lần độ lệch chuẩn; và sai số chuẩn, tức độ lệch chuẩn của chính con số ước lượng, như trung bình 25 giờ dao động cỡ 181 chia căn 25, xấp xỉ 36.</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Trang 3 là các từ về biến đổi, tính dừng và bất thường, dùng ở buổi 5, 6, 7 và 11.</a:t>
            </a:r>
          </a:p>
          <a:p>
            <a:r>
              <a:t>Ba dòng nên nhớ. Nhiễu trắng: không tự tương quan ở trễ nào, quá khứ không giúp gì để đoán, như tung xúc xắc. Random walk: giá trị mới bằng giá trị cũ cộng một bước ngẫu nhiên, nên nó trôi đi không quay về. Và winsorize: kéo giá trị bị gắn cờ về mức hợp lý, ví dụ 50 kéo về 12, chứ không xoá. Cách này khớp với bài học ở slide nhịp: không xoá khi chưa chắc. Còn MAD là thước đo độ tản mà ngoại lai không kéo được.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Trang 4 là tần số và bộ lọc của buổi 12. Với mọi bộ lọc, chúng ta hỏi hai câu trước: nó có nhìn tương lai không, và nó trễ bao nhiêu bước.</a:t>
            </a:r>
          </a:p>
          <a:p>
            <a:r>
              <a:t>Nhìn dòng trailing và centered: trailing chỉ nhìn các điểm trước, centered lấy cả trước lẫn sau, tức dùng số tương lai. Dòng trễ pha: trung bình 13 điểm trễ 6 bước. Và dòng sosfilt với sosfiltfilt: sosfiltfilt chạy xuôi rồi chạy ngược, nên nó nhìn tương lai. Làm sạch bằng bộ lọc nhìn tương lai là một kiểu rò rỉ mà chúng ta sẽ gặp lại ở phần B.</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Trang cuối của "Từ nền": làm sạch, feature và đánh giá, dùng ở buổi 10, 13 và 15.</a:t>
            </a:r>
          </a:p>
          <a:p>
            <a:r>
              <a:t>Ba dòng đáng nhớ nhất đều xoay quanh câu hỏi "lúc dự báo đã biết gì". Scaler phải fit trên phần học, không fit trên cả chuỗi. Ex-ante là chỉ dùng thông tin có lúc dự báo, như nhiệt độ dự báo; ex-post dùng cả số thật về sau, như nhiệt độ đo. Point-in-time là dùng số liệu đúng như lúc đó, ví dụ GDP bản công bố đầu tiên chứ không phải bản đã sửa. Cả ba đều là cách tránh để tương lai lọt vào quá khứ.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Khái niệm đầu tiên: dự báo là gì. Có ba thứ hay bị gộp làm một, các bạn nhìn bảng bên trái.</a:t>
            </a:r>
          </a:p>
          <a:p>
            <a:r>
              <a:t>Dự báo là điều sẽ xảy ra, mục tiêu là điều ta muốn, kế hoạch là việc ta làm để tới gần mục tiêu. Ở quán cà phê: dự báo tuần tới khoảng 1.900 ly, mục tiêu 2.500 ly. Nếu sếp muốn 2.500 nên bảo "dự báo 2.500", kho đặt hàng cho 2.500, tuần đó bán 1.900, thừa 600 ly, và không ai còn biết dự báo đúng hay sai. Muốn đạt mục tiêu thì sửa kế hoạch, đừng sửa dự báo.</a:t>
            </a:r>
          </a:p>
          <a:p>
            <a:r>
              <a:t>Bảng bên phải là bốn điều quyết định một thứ dự báo được tới đâu. Điện ngày mai thoả cả bốn. Tỷ giá chỉ thoả một, là có nhiều dữ liệu, vì người ta mua bán theo dự báo nên dự báo tự làm mình sai.</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 từ các bạn sẽ nghe suốt khoá: gốc dự báo và tầm dự báo.</a:t>
            </a:r>
          </a:p>
          <a:p>
            <a:r>
              <a:t>Nhìn hình: vạch cam là gốc, tức lúc ra dự báo. Bên trái vạch là những gì đã biết, dải xanh bên phải là phần phải đoán. Tầm h là đếm từ gốc bao nhiêu bước. Đứng ở 00:00 thứ Hai dự báo 168 giờ tới thì h chạy từ 1, là 01:00, tới 168, là giờ cuối Chủ nhật. h càng lớn càng xa gốc, thường sai số càng lớn.</a:t>
            </a:r>
          </a:p>
          <a:p>
            <a:r>
              <a:t>(dừng) Mọi quy tắc chống rò rỉ về sau đều quy về đúng một câu: chỉ được dùng thứ nằm bên trái gốc.</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code đầu tiên, từ buổi 1: dữ liệu điện của một hộ, đo từng phút.</a:t>
            </a:r>
          </a:p>
          <a:p>
            <a:r>
              <a:t>Dòng 3 đến 6 đọc số đo và ghép ngày với giờ thành mốc thời gian. Dòng 8 và 9 gộp về từng giờ bằng resample rồi lấy trung bình. Vì số đo là kW, trung bình kW trong một giờ chính là số kWh của giờ đó. Giờ nào thiếu hơn 30 phút thì để trống, không đoán. Dòng 10 và 11 dùng groupby để lấy trung bình theo giờ trong ngày, rồi idxmin, idxmax tìm giờ thấp nhất và cao nhất. Dòng 12 và 13 so ngày thường với cuối tuần.</a:t>
            </a:r>
          </a:p>
          <a:p>
            <a:r>
              <a:t>Kết quả: thấp nhất lúc 4 giờ sáng, cao nhất lúc 20 giờ, và cuối tuần dùng nhiều hơn ngày thường. Nhịp lặp đều này gọi là mùa vụ, và chính nó làm điện dự báo được.</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Mô hình là một cách tính ra dự báo; tham số là các con số bên trong nó. "Mai bằng trung bình 7 ngày qua" là một mô hình có một tham số, là số 7. Khớp, hay học, là chọn tham số từ dữ liệu.</a:t>
            </a:r>
          </a:p>
          <a:p>
            <a:r>
              <a:t>Nhìn thanh ở trên: phần học là đoạn mô hình được thấy, kỳ chấm là đoạn giấu đi, nằm sau gốc dự báo. Vì sao phải giấu? Sai số đo trên phần học, gọi là phần dư, luôn đẹp hơn thật. Mô hình đủ nhiều tham số có thể khớp gần hoàn hảo những gì đã thấy mà dự báo cái mới vẫn tệ. Đó là học thuộc: thuộc đề cũ được 10 điểm, đề mới chỉ 6.</a:t>
            </a:r>
          </a:p>
          <a:p>
            <a:r>
              <a:t>Nên trong cả khoá, mọi chỉ số chính xác đều tính trên kỳ chấm; phần dư chỉ để chẩn đoán.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Trước khi mở dữ liệu, chúng ta điền phiếu 6 ô. Ví dụ là một công ty mua trước điện cho một khu dân cư.</a:t>
            </a:r>
          </a:p>
          <a:p>
            <a:r>
              <a:t>Ô 1 là quyết định, và năm ô còn lại đều suy ra từ nó: cuối Chủ nhật đặt mua điện theo giờ cho 7 ngày tới. Từ đó ra ô 2, biến mục tiêu là kWh mỗi giờ, và ô 3, tầm dự báo 1 đến 168 giờ. Ô 5, mốc cắt: lúc dự báo chỉ có số đo tới 23:59 Chủ nhật và thời tiết bản dự báo, chưa có thời tiết thật.</a:t>
            </a:r>
          </a:p>
          <a:p>
            <a:r>
              <a:t>Hai ô các bạn sẽ gặp lại ngay trong vài slide tới: ô 4, độ chi tiết, quyết định cách chấm; ô 6, chi phí sai hai chiều, thiếu mất khoảng 4 đồng mỗi kWh, thừa mất khoảng 1 đồng, quyết định nên báo con số nào.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Giả sử một mô hình báo sai số 0,38. Tốt hay xấu? Chưa nói được gì, vì không có gì để so. Baseline là cách dự báo đơn giản nhất làm mốc.</a:t>
            </a:r>
          </a:p>
          <a:p>
            <a:r>
              <a:t>Hình này là một chuỗi M4 theo ngày. Trên chuỗi này seasonal naive thắng vì bắt được nhịp tuần. Nhưng trên cả tập M4 theo ngày thì ngược lại: naive có MASE 0,835 và drift 0,810, cả hai đều thắng seasonal naive ở 1,077. Nên quy tắc của khoá là mô hình phải thắng cả bốn baseline trên backtest, và bảng kết quả luôn có seasonal naive.</a:t>
            </a:r>
          </a:p>
          <a:p>
            <a:r>
              <a:t>Thêm một điều: độ trễ của baseline phải ít nhất bằng tầm dự báo. Dự báo 7 ngày mà dùng "cùng giờ hôm qua" là đã dùng số chưa có tại gốc; phải dùng "cùng giờ tuần trước".</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bốn baseline viết bằng NumPy, lấy từ buổi 14. Mỗi hàm nhận lịch sử y và trả về 14 bước dự báo.</a:t>
            </a:r>
          </a:p>
          <a:p>
            <a:r>
              <a:t>Dòng 3 và 4: lặp mức trung bình cả lịch sử 14 lần bằng np.repeat. Dòng 6 và 7: lặp giá trị cuối. Dòng 9 đến 11 là seasonal naive: lấy m giá trị cuối, ở đây m bằng 7 ngày, tức một vòng mùa vụ, rồi lặp lại vòng đó. Dòng 13 đến 15 là drift: tính độ dốc từ điểm đầu tới điểm cuối, rồi đi tiếp theo đường thẳng đó.</a:t>
            </a:r>
          </a:p>
          <a:p>
            <a:r>
              <a:t>Kết quả, MASE trung vị trên 1.000 chuỗi M4 theo ngày: trung bình 8,85, naive 0,835, seasonal naive 1,077, drift 0,810. Để ý baseline mean tệ hẳn, còn baseline thắng lại không phải seasonal naive.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Để chắc là hiểu bốn baseline, chúng ta tính tay trên chuỗi 10, 14, 12, 16, 14, 18, mùa dài 2, dự báo 2 bước tới.</a:t>
            </a:r>
          </a:p>
          <a:p>
            <a:r>
              <a:t>Đọc bảng theo cột "giả định": mỗi baseline là một giả định đơn giản về tương lai. Mean: tổng 84 chia 6 bằng 14, nên dự báo 14 và 14. Naive: lấy số cuối, 18 và 18. Seasonal naive: lấy cùng vị trí ở mùa trước, ra 14 rồi 18. Drift: độ dốc là 18 trừ 10, chia 5, bằng 1,6 mỗi bước, nên ra 19,6 rồi 21,2.</a:t>
            </a:r>
          </a:p>
          <a:p>
            <a:r>
              <a:t>Hai quy tắc ở dưới các bạn đã nghe: độ trễ ít nhất bằng tầm dự báo, và phải thắng cả bốn.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Quay lại dữ liệu điện buổi 1, lần này là MAE và bốn baseline cho tầm 168 giờ.</a:t>
            </a:r>
          </a:p>
          <a:p>
            <a:r>
              <a:t>Dòng 4 đến 7 là hàm MAE: lấy trị tuyệt đối từng sai số rồi trung bình, bỏ qua giờ không có số đo. Dòng 10 là naive, lặp số cuối cùng đã biết. Dòng 11 là trung bình mọi giờ đã biết. Dòng 12 là seasonal naive: cùng giờ tuần trước, lấy 168 giờ cuối bằng iloc. Dòng 13 và 14 là trung bình 4 tuần: xếp 4 tuần gần nhất thành 4 hàng bằng reshape, rồi lấy trung bình theo cột, tức mỗi giờ trong tuần là trung bình của 4 lần.</a:t>
            </a:r>
          </a:p>
          <a:p>
            <a:r>
              <a:t>Kết quả chấm cuốn năm 2010, tính bằng kWh mỗi giờ: trung bình 4 tuần 0,490, tuần trước 0,576, trung bình 0,652, giờ trước 0,770. Con số 0,490 là mốc mọi mô hình sau phải vượt.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Giờ đến một lỗi rất hay gặp. Sai số ảo là sai số đo trên chính dữ liệu đã dùng để dựng dự báo, nên nó đẹp hơn thật.</a:t>
            </a:r>
          </a:p>
          <a:p>
            <a:r>
              <a:t>Nhìn hình: cùng một mô hình "bảng lịch". Khi bảng được tính cả trên các giờ đang chấm, MAE là 0,380, đứng đầu bảng. Chấm trung thực thì MAE là 0,508, thua cả trung bình 4 tuần ở 0,490. Khoảng cách giữa hai con số càng lớn thì mô hình càng học thuộc thay vì học quy luật.</a:t>
            </a:r>
          </a:p>
          <a:p>
            <a:r>
              <a:t>Có một phép thử rẻ: đổi số đo ở giai đoạn chấm rồi chạy lại. Dự báo trung thực không được đổi theo; nếu đổi, mô hình đã nhìn thấy đáp án. Cách chấm đúng là dự báo cuốn, ở slide ngay sau.</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Dự báo cuốn là chấm đúng như lúc dùng thật. Bốn bước bên phải: chọn một gốc, ví dụ 00:00 thứ Hai; dựng dự báo chỉ từ dữ liệu trước gốc; dự báo 168 giờ tới rồi mới mở số thật để tính sai số; dời gốc sang thứ Hai sau và làm lại.</a:t>
            </a:r>
          </a:p>
          <a:p>
            <a:r>
              <a:t>Nhìn hình bên trái: mỗi hàng là một gốc. Phần xám là dữ liệu được dùng, ô xanh là tuần được dự báo và chấm. Xuống mỗi hàng, gốc dời thêm một tuần, và phần xám dài thêm. Buổi 1 làm vậy với 46 thứ Hai năm 2010, rồi lấy trung bình sai số.</a:t>
            </a:r>
          </a:p>
          <a:p>
            <a:r>
              <a:t>Làm như vậy trên quá khứ gọi là backtest. Buổi 15 sẽ tổng quát nó thành rolling origin, với các lựa chọn học trên đoạn nào, bỏ trống bao nhiêu, và học lại bao lâu một lần.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mô hình bảng lịch và vòng dự báo cuốn.</a:t>
            </a:r>
          </a:p>
          <a:p>
            <a:r>
              <a:t>Dòng 3 đến 7 dựng bảng lịch: với mỗi tổ hợp tuần trong năm, thứ, và giờ, lấy một trung bình, bằng groupby nhiều khoá. Dòng 8 và 9 tra bảng đó cho các giờ cần dự báo, dùng reindex; khoá nào không có thì ra NaN. Dòng 12 và 13: mỗi thứ Hai là một gốc, sinh bằng date_range cách nhau 168 giờ. Dòng 14 là dòng quan trọng nhất (chỉ vào dòng 14): bảng chỉ được khớp trên dữ liệu có chỉ số nhỏ hơn gốc. Dòng 15 và 16 ghép dự báo của mọi tuần để chấm.</a:t>
            </a:r>
          </a:p>
          <a:p>
            <a:r>
              <a:t>Kết quả: nếu lập bảng từ cả 4 năm, MAE là 0,380, đó là sai số ảo. Chấm cuốn 46 tuần thì 0,508, thua trung bình 4 tuần ở 0,490.</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Nhớ ô 4 của phiếu, độ chi tiết. Slide này cho thấy vì sao nó quan trọng.</a:t>
            </a:r>
          </a:p>
          <a:p>
            <a:r>
              <a:t>Nhìn hình: cùng ba cách dự báo, chấm ở hai mức. Theo giờ, trung bình 4 tuần thắng với MAE 0,490, bảng lịch 0,508. Cộng lên tổng tuần thì thứ hạng đảo: bảng lịch 16,4 kWh mỗi tuần, thắng xa trung bình 4 tuần ở 27,9.</a:t>
            </a:r>
          </a:p>
          <a:p>
            <a:r>
              <a:t>Vì sao? Khi cộng lên tuần, phần lệch lên và lệch xuống do nhiễu bù trừ nhau. Chỉ những lệch cùng một chiều trong nhiều ngày mới dồn lại. Vậy nếu công ty mua điện theo giờ thì chấm theo giờ, nếu ký hợp đồng theo tuần thì chấm theo tuần. Phải chấm ở đúng mức của quyết định trước khi chọn mô hình.</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cho phép so ở hai mức. Bảng cuon có mỗi dòng một giờ, cột goc, cột y và các cột dự báo.</a:t>
            </a:r>
          </a:p>
          <a:p>
            <a:r>
              <a:t>Dòng 4 đến 7 là MAE như trước, bỏ giờ trống. Dòng 11 cộng 168 giờ của mỗi gốc thành tổng tuần. Chú ý min_count bằng 1: nhóm toàn trống thì ra NaN chứ không ra 0. Dòng 12 và 13 hỏi từng tuần có đủ số đo mọi giờ không; tuần thiếu thì gán trống, không chấm, vì tổng của một tuần thiếu giờ sẽ thấp giả. Dòng 14 và 15 tính MAE ở hai mức.</a:t>
            </a:r>
          </a:p>
          <a:p>
            <a:r>
              <a:t>Kết quả: theo giờ, trung bình 4 tuần 0,490 thắng bảng lịch 0,508. Theo tổng tuần, bảng lịch 16,4 thắng xa trung bình 4 tuần 27,9 kWh mỗi tuần.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Ô 6 của phiếu: thiếu và thừa đắt khác nhau. Lúc đó con số nên báo không còn là trung bình nữa, mà là một quantile.</a:t>
            </a:r>
          </a:p>
          <a:p>
            <a:r>
              <a:t>Quantile p là giá trị nhỏ nhất mà ít nhất tỷ lệ p số liệu nằm dưới hoặc bằng nó; trung vị là quantile 0,5. Nhìn hình: đây là đường tích luỹ. Đi ngang từ tỷ lệ trên trục dọc tới đường cong, rồi thả xuống trục ngang là ra quantile.</a:t>
            </a:r>
          </a:p>
          <a:p>
            <a:r>
              <a:t>Khi thiếu mất 4 đồng, thừa mất 1 đồng, ta đặt dự báo ở quantile 4 chia 4 cộng 1, bằng 0,8: chấp nhận thừa để ít khi thiếu. Ở buổi 1, làm vậy giảm chi phí 18,6% dù MAE lại tệ hơn. Vậy chọn mô hình theo MAE sẽ chọn sai khi hai chiều đắt khác nhau.</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Bài toán này có tên: newsvendor, người bán báo. Mỗi sáng đặt số báo một lần; thiếu thì mất khách, thừa thì lỗ tiền in. Công ty mua điện ở buổi 1 cũng vậy: thiếu mất Cu đồng mỗi kWh, thừa mất Co đồng.</a:t>
            </a:r>
          </a:p>
          <a:p>
            <a:r>
              <a:t>Lượng nên đặt là quantile Cu chia tổng Cu cộng Co. Nhìn cột thang: hai chiều bằng nhau thì báo trung vị, thiếu đắt gấp 4 thì báo quantile 0,8. Trên 10 ngày mẫu: mua 8 kWh tốn 33 đồng, mua 9 tốn 28, ít nhất, mua 10 lại tốn 33.</a:t>
            </a:r>
          </a:p>
          <a:p>
            <a:r>
              <a:t>Dự báo kiểu này chấm bằng pinball loss mức tau: thiếu mỗi đơn vị phạt tau, thừa mỗi đơn vị phạt 1 trừ tau. Tau 0,8, thật 10, báo 8: thiếu 2, phạt 1,6. Cách phạt này có đáy đúng ở quantile tau.</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code này kiểm lại bằng số điều vừa nói.</a:t>
            </a:r>
          </a:p>
          <a:p>
            <a:r>
              <a:t>Dòng 3 đến 6: với 10 ngày nhu cầu, thử từng mức mua từ 6 đến 12, tính tiền mất; np.clip cắt số âm về 0 để tách riêng phần thiếu, phạt 4, và phần thừa, phạt 1. Dòng 7 tính quantile 0,8 theo kiểu đếm tay. Dòng 9 đến 12 là hàm tiền mất trên dữ liệu thật. Dòng 14 và 15 là chỗ cần để ý: phần cộng thêm lấy từ quantile 0,8 của sai số năm 2009, không nhìn năm 2010. Dòng 16 so tiền mất năm 2010 trước và sau.</a:t>
            </a:r>
          </a:p>
          <a:p>
            <a:r>
              <a:t>Kết quả: mua 9 kWh rẻ nhất, 28 đồng, đúng bằng quantile 0,8, không phải trung bình 7,7. Trên dữ liệu thật, cộng thêm 0,455 kWh làm tiền mất từ 1,213 xuống 0,987, giảm 18,6%, trong khi MAE tệ đi.</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Quantile là một cách đọc phân phối. Trước khi tóm số liệu bằng một con số, chúng ta nhìn hình dạng của nó.</a:t>
            </a:r>
          </a:p>
          <a:p>
            <a:r>
              <a:t>Hình có hai phần: histogram đếm số lần gặp mỗi khoảng giá trị; đường tích luỹ cho biết bao nhiêu phần số liệu nằm dưới mỗi mốc. Đây là lượt thuê xe theo giờ. Histogram lệch phải: phần lớn giờ vắng, vài giờ rất đông, đuôi phải kéo dài.</a:t>
            </a:r>
          </a:p>
          <a:p>
            <a:r>
              <a:t>Chính cái đuôi đó kéo trung bình lên 189, trong khi trung vị chỉ 142. Hệ số lệch dương báo đuôi phải dài. Độ lệch chuẩn đo số liệu tản rộng cỡ nào, cùng đơn vị với dữ liệu. Hai con số trung bình và trung vị cách nhau thế này là dấu hiệu phải hỏi: mình cần báo con số nào.</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Sang buổi 2. Code này tính quantile như đếm tay, rồi thấy trung bình và trung vị lệch nhau trên dữ liệu thật.</a:t>
            </a:r>
          </a:p>
          <a:p>
            <a:r>
              <a:t>Dòng 6 và 7: chín giờ, xếp tăng dần là 2, 3, 5, 6, 8, 9, 12, 18, 36. Dòng 8: quantile 0,8 kiểu đếm tay, vị trí là 0,8 nhân 9 bằng 7,2, làm tròn lên số thứ 8, tức 18. Dòng 9: mặc định của NumPy nội suy giữa hai số kề nhau, nên ra 14,4. Hai cách cho hai số khác nhau, nên khi so với tính tay các bạn nhớ ghi rõ method. Dòng 11 đến 13 đọc lượt thuê theo giờ của Capital Bikeshare, dòng 14 so ba con số.</a:t>
            </a:r>
          </a:p>
          <a:p>
            <a:r>
              <a:t>Kết quả: trung bình 189, trung vị 142, quantile 0,9 khoảng 451 lượt mỗi giờ.</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con số nền của thống kê: trung bình, phương sai, độ lệch chuẩn.</a:t>
            </a:r>
          </a:p>
          <a:p>
            <a:r>
              <a:t>Nhìn hình với ví dụ 2, 4, 6. Trung bình là 4. Khoảng cách tới trung bình là trừ 2, 0, 2; tổng bình phương là 8; chia cho n trừ 1, tức chia 2, ra phương sai 4. Căn của phương sai là độ lệch chuẩn, bằng 2, cùng đơn vị với dữ liệu.</a:t>
            </a:r>
          </a:p>
          <a:p>
            <a:r>
              <a:t>Từ đây có z-score: giá trị trừ trung bình, chia độ lệch chuẩn. Trung bình 10, độ lệch chuẩn 2, giá trị 16 thì z bằng 3, tức rất xa, nghi ngoại lai. Đây là gốc của quy tắc 3 sigma ở buổi 11, khoảng cộng trừ 1,96 s ở buổi 2, và CV ở buổi 9. Chuẩn hoá z-score bỏ mức và biên độ, chỉ giữ hình dạng: 100, 300, 100, 300 thành trừ 1, 1, trừ 1, 1.</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Chín giờ thuê xe có trung bình 11 mà trung vị chỉ 8. Số liệu lệch về phía nào, và lệch cỡ nào? Hệ số lệch trả lời bằng một con số.</a:t>
            </a:r>
          </a:p>
          <a:p/>
          <a:p>
            <a:r>
              <a:t>Cách tính: lấy độ lệch của mỗi số khỏi trung bình, chia cho độ lệch chuẩn, lập phương, rồi lấy trung bình. Lập phương giữ dấu và phóng to số ở xa. Số 36 lệch cộng 25 nên góp gần hết tổng, còn số 8 lệch trừ 3 góp rất ít. Kết quả là cộng 1,35, tức đuôi phải dài.</a:t>
            </a:r>
          </a:p>
          <a:p/>
          <a:p>
            <a:r>
              <a:t>(chỉ vào hình) Ô trái đối xứng quanh giữa, hệ số lệch gần 0. Ô phải dồn về bên trái, đuôi kéo dài sang phải, hệ số lệch dương. Lượt thuê theo giờ của cả bộ dữ liệu có hệ số lệch 1,277.</a:t>
            </a:r>
          </a:p>
          <a:p/>
          <a:p>
            <a:r>
              <a:t>Hệ số lệch dương thì trung bình nằm trên trung vị, và các công thức giả định hình chuông sẽ không còn hợp.</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Vậy nên báo trung bình, trung vị hay quantile? Câu trả lời nằm ở cách sai lệch bị tính tiền, gọi là hàm mất mát.</a:t>
            </a:r>
          </a:p>
          <a:p>
            <a:r>
              <a:t>Nhìn hình: ba đường phạt trên lượt thuê xe, trục ngang là con số ta báo, trục dọc là mức phạt; chỗ cần nhìn là đáy của mỗi đường. Phạt bình phương, lệch 2 phạt 4, lệch 10 phạt 100, nên rất sợ lệch xa; đáy ở 189,46, chính là trung bình. Phạt tuyệt đối, lệch bao nhiêu phạt bấy nhiêu; đáy ở 142, trung vị. Pinball với tau 0,9; đáy ở 452, quantile 0,9.</a:t>
            </a:r>
          </a:p>
          <a:p>
            <a:r>
              <a:t>Ba cách phạt, ba đáy khác nhau. Đây là lý do buổi 14 nói: chọn chỉ số là chọn dự báo.</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Kiểm lại ba cách phạt trên chín con số nhỏ.</a:t>
            </a:r>
          </a:p>
          <a:p>
            <a:r>
              <a:t>Dòng 5 tính độ lệch chuẩn mẫu, ddof bằng 1 nghĩa là chia cho n trừ 1. Dòng 7 đến 9 là hàm pinball: sai số dương, tức dự báo thấp, phạt tau lần; sai số âm phạt 1 trừ tau lần, viết bằng np.where. Dòng 11 đến 14 thử báo cùng một số c cho cả 9 giờ, với ba giá trị c: 8 là trung vị, 11 là trung bình, 18 là quantile 0,8. Mỗi c tính ba mức phạt.</a:t>
            </a:r>
          </a:p>
          <a:p>
            <a:r>
              <a:t>Kết quả: độ lệch chuẩn 10,57. Phạt tuyệt đối thấp nhất ở c bằng 8, là 6,56. Bình phương thấp nhất ở c bằng 11, là 99,3. Pinball 0,8 thấp nhất ở c bằng 18, là 3,40. Mỗi cách phạt chọn đúng con số của nó.</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Khoảng 95% hay được dựng bằng trung bình cộng trừ 1,96 lần độ lệch chuẩn. Con số 1,96 ở đâu ra?</a:t>
            </a:r>
          </a:p>
          <a:p/>
          <a:p>
            <a:r>
              <a:t>Nó đến từ phân phối chuẩn, đường cong hình chuông đối xứng quanh trung bình. (chỉ vào hình) Diện tích dưới đường cong là tỷ lệ giá trị. Phần xanh ở giữa, từ trung bình trừ 1,96 s tới trung bình cộng 1,96 s, chiếm đúng 95%. Hai phần cam ở hai đuôi mỗi phần 2,5%. Nên 1,96 chính là quantile 0,975 của phân phối chuẩn. Để so sánh, cộng trừ 1 độ lệch chuẩn chỉ chứa 68,3%.</a:t>
            </a:r>
          </a:p>
          <a:p/>
          <a:p>
            <a:r>
              <a:t>Ví dụ trung bình 100, độ lệch chuẩn 10 thì khoảng 95% là 80,4 tới 119,6. Nhưng với chín giờ thuê xe lệch phải, 11 trừ 1,96 nhân 10,57 cho cận dưới âm 9,7 lượt thuê, một con số vô lý.</a:t>
            </a:r>
          </a:p>
          <a:p/>
          <a:p>
            <a:r>
              <a:t>Vậy 1,96 chỉ đúng khi dữ liệu gần hình chuông; dữ liệu lệch thì lấy thẳng quantile của lịch sử.</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Một con số chưa đủ; nhiều khi chúng ta báo cả khoảng. Khoảng dự báo 95% hứa rằng cứ 100 lần thì khoảng 95 lần giá trị thật rơi vào trong. Tỷ lệ phủ đo lời hứa đó có giữ được không.</a:t>
            </a:r>
          </a:p>
          <a:p>
            <a:r>
              <a:t>Nhìn hình: khoảng cộng trừ 1,96 lần độ lệch chuẩn, dựng từ lượt thuê năm 2011. Ngay trên năm 2011, tức trong mẫu, nó phủ 96,4%. Sang năm 2012 chỉ phủ 72,5%, vì lượt thuê trung bình mỗi giờ tăng từ 143,8 lên 234,7; gần 3 trên 10 giờ vượt cận trên. Vì vậy phải báo riêng hai đuôi để biết lệch phía nào.</a:t>
            </a:r>
          </a:p>
          <a:p>
            <a:r>
              <a:t>Dữ liệu lệch phải thì dùng quantile thực nghiệm để hai đuôi cân. Nhưng không cách nào cứu được khi tương lai dịch mức. Luôn chấm khoảng ngoài mẫu.</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 loại khoảng hay bị nhầm. Khoảng dự báo trả lời: một giá trị mới, như giờ tới, sẽ rơi vào đâu. Khoảng tin cậy trả lời: một con số tóm tắt, như trung bình thật, nằm ở đâu.</a:t>
            </a:r>
          </a:p>
          <a:p>
            <a:r>
              <a:t>Nhìn hình: dù từng giá trị lệch phải, trung bình của nhiều giá trị vẫn gần hình chuông, đó là định lý giới hạn trung tâm. Và nó dao động theo độ lệch chuẩn chia căn n. Với lượt thuê xe, độ lệch chuẩn 181,4: trung bình 25 giờ dao động 36,1, 100 giờ còn 18,2, 400 giờ còn 9,1. n gấp 4 thì hẹp một nửa. Khoảng dự báo thì không hẹp về 0, vì từng giờ vẫn lên xuống như cũ.</a:t>
            </a:r>
          </a:p>
          <a:p>
            <a:r>
              <a:t>Còn chữ "95%" của khoảng tin cậy nói về quy trình: dựng 20 khoảng từ 20 mẫu thì khoảng 19 khoảng chứa trung bình thật.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này dựng khoảng từ năm 2011 theo hai cách rồi chấm trên năm chưa dùng.</a:t>
            </a:r>
          </a:p>
          <a:p>
            <a:r>
              <a:t>Dòng 5 đến 7 là hai cách: công thức cộng trừ 1,96 s, và quantile thực nghiệm lấy thẳng mốc 2,5% và 97,5%. Dòng 10 và 11: mỗi giờ trong ngày một khoảng riêng, chỉ dựng từ 2011. Dòng 13 dùng merge theo cột giờ để gắn khoảng vào từng dòng. Dòng 14 tính tỷ lệ phủ, dòng 15 đếm riêng hai đuôi.</a:t>
            </a:r>
          </a:p>
          <a:p>
            <a:r>
              <a:t>Kết quả: trên 2011, cộng trừ 1,96 s phủ 96,4%, quantile phủ 95,3%, cả hai đều đẹp. Trên 2012 chỉ còn 72,5% và 70,1%, phần vượt cận trên là 27,4% và 29,3%. Cách nào cũng hỏng như nhau, vì mức đã dịch lên.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Kiểm định giả thuyết hỏi: nếu H0, giả định "không có gì đặc biệt", là đúng, thì dữ liệu như ta thấy hiếm cỡ nào? Con số đó là p-value. p nhỏ hơn mức ý nghĩa chọn trước, thường 0,05, thì bác bỏ H0.</a:t>
            </a:r>
          </a:p>
          <a:p>
            <a:r>
              <a:t>Ví dụ tung đồng xu 10 lần được 9 ngửa. Có 1.024 dãy kết quả, 10 dãy có đúng 9 ngửa và 1 dãy 10 ngửa, nên p bằng 11 trên 1.024, xấp xỉ 0,011, nhỏ hơn 0,05: bác bỏ "đồng xu cân đối".</a:t>
            </a:r>
          </a:p>
          <a:p>
            <a:r>
              <a:t>Hình dùng kiểm định hoán vị: xáo nhãn ngày làm việc, ngày nghỉ hàng nghìn lần, xem chênh lệch thật nằm ở đâu so với các lần xáo. (dừng) Ba chỗ hay sai: không bác bỏ không có nghĩa H0 đúng; p không phải xác suất H0 đúng; có ý nghĩa thống kê không có nghĩa là chênh lệch lớn.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Năm 2012, ngày làm việc hơn ngày nghỉ 456 lượt thuê. Làm sao tính p-value mà không cần công thức?</a:t>
            </a:r>
          </a:p>
          <a:p/>
          <a:p>
            <a:r>
              <a:t>Ý của kiểm định hoán vị: nếu nhãn làm việc hay nghỉ không liên quan tới lượt thuê, thì gán nhãn kiểu nào cũng như nhau. Ví dụ nhỏ, ngày làm việc 5, 7, 6, ngày nghỉ 3, 2, 4, chênh trung bình là 3. Có 20 cách chọn ba ngày làm nhóm làm việc, và chỉ 2 cách cho chênh cỡ 3 trở lên về một trong hai phía. Vậy p bằng 2 chia 20, tức 0,10.</a:t>
            </a:r>
          </a:p>
          <a:p/>
          <a:p>
            <a:r>
              <a:t>Với dữ liệu thật, máy xáo nhãn 9.999 lần. (chỉ vào ô trái) Cột xanh là các chênh lệch khi xáo, vạch cam là chênh thật 456. Chỉ một mẩu nhỏ nằm ngoài vạch cam, p bằng 0,025. Ô phải, thứ Bảy so với Chủ nhật, p bằng 0,078.</a:t>
            </a:r>
          </a:p>
          <a:p/>
          <a:p>
            <a:r>
              <a:t>Cách này giả định các ngày độc lập, nên với chuỗi thời gian p thật thường lớn hơn.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Kiểm định hoán vị viết trong mười dòng.</a:t>
            </a:r>
          </a:p>
          <a:p>
            <a:r>
              <a:t>Dòng 5 tính chênh lệch thật giữa hai nhóm ngày. Dòng 6 cố định seed để chạy lại ra đúng p. Dòng 8 đến 10: xáo nhãn 9.999 lần bằng rng.permutation, giữ nguyên số ngày mỗi loại, và đếm số lần chênh lệch sau xáo lớn bằng hoặc hơn chênh lệch thật. Nếu nhãn vô nghĩa thì xáo hay không cũng như nhau. Dòng 11: p là tỷ lệ lần xáo lệch cỡ thật. Dòng 14 và 15 áp vào ngày làm việc so với ngày nghỉ năm 2012.</a:t>
            </a:r>
          </a:p>
          <a:p>
            <a:r>
              <a:t>Kết quả: ngày làm việc hơn ngày nghỉ 456 lượt mỗi ngày, p bằng 0,025, bác bỏ H0. Thứ Bảy trừ Chủ nhật chênh tới 695 mà p lớn hơn 0,05. Chênh lớn chưa chắc là có ý nghĩa. Một lưu ý: phép này giả định các ngày độc lập, nên với chuỗi tự tương quan p thật thường lớn hơn.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Bootstrap ước lượng độ bấp bênh của một con số mà không cần công thức: rút lại từ chính mẫu, có hoàn lại, vài nghìn lần; mỗi lần tính trung bình; khoảng 95% là quantile 0,025 và 0,975 của các trung bình đó.</a:t>
            </a:r>
          </a:p>
          <a:p>
            <a:r>
              <a:t>Nhưng chuỗi thời gian có tự tương quan. Giờ này đông thì giờ sau gần như chắc cũng đông, nên giờ sau mang ít thông tin mới. Rút từng điểm làm mất điều đó, và khoảng hẹp giả. Nhìn hình: trục ngang là độ dài khối, trục dọc là tỷ lệ khoảng chứa trung bình thật trên mô phỏng AR(1). Rút từng điểm chỉ 60,3%, thay vì 95%. Block bootstrap rút cả khối liền nhau: khối 20 lên 89,3%. Nhưng khối 40 lại tụt còn 81,3%, nên hãy thử vài độ dài và báo độ nhạy.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bootstrap với hai chế độ: từng điểm và theo khối.</a:t>
            </a:r>
          </a:p>
          <a:p>
            <a:r>
              <a:t>Dòng 5 và 6: khối dài 1 thì rút ngẫu nhiên có hoàn lại từng vị trí bằng rng.integers. Dòng 8 đến 10: rút điểm đầu của các khối, cộng thêm np.arange để thành các khối liền nhau, rồi nối lại. Dòng 11: lấy quantile 0,025 và 0,975 của 999 trung bình, ra khoảng 95%. Dòng 13 đến 16 chạy trên 300 chuỗi AR(1) với rho bằng 0,7, trung bình thật bằng 0, và đếm bao nhiêu khoảng chứa số 0.</a:t>
            </a:r>
          </a:p>
          <a:p>
            <a:r>
              <a:t>Kết quả: rút từng điểm chỉ 60,3% khoảng chứa trung bình thật. Khối 10 lên 89,0%, khối 20 là 89,3%, khối 40 tụt còn 81,3%. Rút khối sửa được phần lớn độ tự tin giả, nhưng không về đúng 95%.</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Sang buổi 3: thời gian. Một con số giờ chưa đủ, phải có múi giờ.</a:t>
            </a:r>
          </a:p>
          <a:p>
            <a:r>
              <a:t>UTC là giờ chung, không đổi theo mùa: 07:00 ở Hà Nội là 00:00 UTC. Thời điểm naive không ghi múi giờ, aware thì có ghi. Rắc rối đến từ giờ mùa hè. Ở New York, ngày 10/3/2024 đồng hồ nhảy từ 1:59 lên 3:00, nên giờ 2:00 không tồn tại. Ngày 3/11 thì giờ 1:00 xảy ra hai lần.</a:t>
            </a:r>
          </a:p>
          <a:p>
            <a:r>
              <a:t>Nhìn hình: trục ngang là giờ UTC chạy đều, trục dọc là đồng hồ New York. Các bạn thấy một đoạn nhảy qua, "không tồn tại", và một đoạn lùi lại, "xảy ra 2 lần". Cách sửa: gắn đúng múi giờ rồi đổi sang UTC trước khi gộp hay ghép bất cứ thứ gì.</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này cho thấy một giờ New York có thể ứng với một, không, hoặc hai thời điểm UTC.</a:t>
            </a:r>
          </a:p>
          <a:p>
            <a:r>
              <a:t>Dòng 4 và 5 liệt kê bốn giờ quanh hai ngày vặn đồng hồ năm 2024. Dòng 7 thử cả hai cách hiểu, giờ hè và giờ đông, cho trường hợp giờ lặp. Dòng 9 và 10 dùng tz_localize để gắn múi giờ New York, biến một con số giờ thành một thời điểm thật. Dòng 11 dùng tz_convert đổi sang UTC. Dòng 12 và 13: giờ bị nhảy qua thì pandas báo lỗi, ta bắt lỗi và bỏ qua.</a:t>
            </a:r>
          </a:p>
          <a:p>
            <a:r>
              <a:t>Kết quả: ngày 10/3, 01:30 ra 06:30 UTC, 02:30 không tồn tại, 03:30 ra 07:30 UTC. Còn 01:30 ngày 3/11 có hai đáp án, 05:30 hoặc 06:30 UTC. Đây là lý do đếm theo giờ địa phương sẽ ra một giờ bằng 0 và một giờ gấp đôi.</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Đổi tần suất, ví dụ từ chuyến lẻ sang số chuyến mỗi giờ, phải trả lời ba câu.</a:t>
            </a:r>
          </a:p>
          <a:p>
            <a:r>
              <a:t>Câu 1: khoảng nào. Nhìn hình: closed chọn mốc biên thuộc khoảng nào, label chọn đặt tên khoảng bằng mốc đầu hay cuối. Mặc định của pandas với giờ là đóng trái, nhãn trái: từ 9:00 tới trước 10:00, tên "9:00". Bốn chuyến lúc 9:00, 9:40, 10:00, 10:20 cho ô "9:00" 2 chuyến, ô "10:00" 2 chuyến; chuyến 10:00 thuộc ô sau.</a:t>
            </a:r>
          </a:p>
          <a:p>
            <a:r>
              <a:t>Câu 2: gộp thế nào. Số lượng thì cộng; trạng thái như nhiệt độ thì trung bình hoặc lấy giá trị cuối. Câu 3: giờ trống là gì. Với số đếm, giờ trống là 0; với số đo, giờ trống là NaN, không biết.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này đi qua đúng ba câu hỏi vừa rồi.</a:t>
            </a:r>
          </a:p>
          <a:p>
            <a:r>
              <a:t>Dòng 3 đến 5: ba sự kiện lúc 00:10, 00:50 và 02:20. Dòng 6 resample rồi cộng: giờ 01:00 không có gì, ra 0. Dòng 7 resample rồi lấy trung bình: giờ đó ra NaN. Dòng 9 là cách hay gặp khác: floor về đầu giờ rồi groupby; cách này không tự thêm giờ trống, nên giờ 01 biến mất khỏi chuỗi. Dòng 11 đến 13 sinh lưới giờ tháng 3 theo múi giờ New York và đếm.</a:t>
            </a:r>
          </a:p>
          <a:p>
            <a:r>
              <a:t>Kết quả: cộng ra 3, 0, 5; trung bình ra 1,5, NaN, 5; floor chỉ ra 3 và 5, mất hẳn một giờ. Và tháng 3 có 743 giờ, không phải 744, vì ngày 10/3 chỉ dài 23 giờ.</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Ghép hai nguồn theo thời gian, ví dụ gắn giá hay thời tiết vào từng dòng, dùng merge_asof: mỗi dòng lấy giá trị gần nhất về thời gian từ bảng kia.</a:t>
            </a:r>
          </a:p>
          <a:p>
            <a:r>
              <a:t>Nhìn hình: dòng lúc 10:00, bảng giá có số lúc 9:30 và 10:30. Hướng backward, cũng là mặc định, lấy giá 9 của lúc 9:30, tức số đã có, đúng. Hướng forward lấy giá 10 của lúc 10:30, tức lấy tương lai. Đây là rò rỉ, và nó cho kết quả đẹp giả.</a:t>
            </a:r>
          </a:p>
          <a:p>
            <a:r>
              <a:t>Hai điều thêm: đặt tolerance để không ghép một con số quá cũ, và luôn đưa cả hai nguồn về UTC trước khi ghép, như slide múi giờ vừa nói.</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cuối của buổi 3: dạng dữ liệu mà mọi buổi sau nhận vào.</a:t>
            </a:r>
          </a:p>
          <a:p>
            <a:r>
              <a:t>Nhìn bảng bên trái: dạng dài có ba cột. unique_id là chuỗi nào, ds là khi nào theo UTC, y là giá trị bao nhiêu. Bảng bên phải là dạng rộng, mỗi chuỗi một cột: dễ nhìn, nhưng thêm chuỗi là thêm cột. Tháng 3/2024 có 259 khu vực taxi có chuyến, thì dạng rộng có 259 cột, còn dạng dài vẫn ba cột, chỉ nhiều dòng hơn.</a:t>
            </a:r>
          </a:p>
          <a:p>
            <a:r>
              <a:t>Bảng sạch khi thoả ba điều: mỗi cặp unique_id và ds chỉ một dòng, đủ mọi mốc thời gian, không trùng. Mọi chuỗi trải lên cùng một lưới UTC, và tháng 3/2024 có 743 giờ, vì New York mất một giờ ngày đổi giờ.</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Giờ chúng ta dựng đúng cái bảng ba cột vừa nói. Dòng 4 làm tròn giờ đón, đã đổi sang UTC, xuống đầu giờ. Dòng 5 đếm chuyến theo khu vực và giờ, nhưng chỉ ra những giờ có chuyến; giờ vắng thì biến mất hẳn khỏi bảng.</a:t>
            </a:r>
          </a:p>
          <a:p/>
          <a:p>
            <a:r>
              <a:t>Vì vậy dòng 6 và 7 dựng lưới giờ UTC của cả tháng 3 theo lịch New York, lấy mốc đầu, không lấy mốc cuối. Dòng 8 đến 10 là chỗ quan trọng: MultiIndex.from_product tạo mọi cặp khu vực nhân giờ, reindex trải số đếm lên lưới đó và điền 0 cho giờ không có chuyến. Đây là số đếm nên 0 là đúng; nếu là số đo như nhiệt độ thì phải để NaN.</a:t>
            </a:r>
          </a:p>
          <a:p/>
          <a:p>
            <a:r>
              <a:t>Kết quả: 192.437 dòng, đúng bằng 259 khu vực nhân 743 giờ, không mất chuyến nào. Và 53,7% số ô bằng 0, tức hơn một nửa bảng là giờ vắng khách.</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Bắt đầu phần đọc biểu đồ, trước hết cần ba từ. Nhìn hình: hàng trên là xu hướng, mức chung đi lên dần. Hàng giữa là mùa vụ, lặp đúng mỗi 12 bước, các vạch dọc cách đều nhau. Hàng dưới là chu kỳ: cũng lên xuống, nhưng vòng dài vòng ngắn khác nhau.</a:t>
            </a:r>
          </a:p>
          <a:p/>
          <a:p>
            <a:r>
              <a:t>Chỗ phân biệt là con số m cố định. Lượt thuê xe đông lúc 8h và 17h mỗi ngày làm việc là mùa vụ với m bằng 24, nên biết trước giờ đỉnh. Kinh tế tăng rồi suy thoái là chu kỳ, không ai hẹn trước lúc nó đổi chiều. Vì vậy mùa vụ là phần dự báo được nhờ lịch, còn chu kỳ khó hơn nhiều.</a:t>
            </a:r>
          </a:p>
          <a:p/>
          <a:p>
            <a:r>
              <a:t>Nhớ gọn: mùa vụ lặp đều, chu kỳ không hẹn trước.</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 ba khái niệm rồi, giờ cần một cách đọc hình để thấy chúng. Năm bước, áp cho mọi biểu đồ. Thử ngay với heatmap này.</a:t>
            </a:r>
          </a:p>
          <a:p/>
          <a:p>
            <a:r>
              <a:t>Bước một, trục ngang là giờ từ 0 đến 23. Bước hai, trục dọc là thứ Hai tới Chủ nhật, còn màu là lượt thuê trung bình mỗi giờ, thang màu bên phải. Bước ba, tối là thấp, sáng là cao. Bước bốn, nhìn vào hai cột sáng lúc 8h và 17h: chúng chạy suốt năm ngày làm việc rồi tắt ở cuối tuần, còn cuối tuần sáng đều giữa ngày. Bước năm, kết luận một câu: có mùa vụ ngày lồng trong mùa vụ tuần. Để ý tiêu đề hình chính là câu kết luận đó, quy ước của cả khoá.</a:t>
            </a:r>
          </a:p>
          <a:p/>
          <a:p>
            <a:r>
              <a:t>Một lưu ý: heatmap chỉ cho trung bình mỗi ô, không cho độ tản, nên hai ô chênh nhau chút ít chưa chắc là thật. Độ tản thì phải xem boxplot, lát nữa sẽ gặp.</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Trước khi vẽ, ta tính tay để thấy mùa vụ bằng số. Dòng 4 đến 6 là hai tuần lượt thuê, đơn vị trăm lượt mỗi ngày, từ thứ Hai tới Chủ nhật; tuần sau cao hơn tuần trước. Dòng 7 lấy trung bình mỗi tuần, keepdims để giữ dạng cột mà trừ được cả bảng: ra 10 và 12, đó là xu hướng. Dòng 8 trừ trung bình đi, phần còn lại của hai tuần giống hệt nhau: 0, 2, 2, 2, 4, âm 4, âm 6. Phần lặp lại y nguyên đó chính là mùa vụ tuần.</a:t>
            </a:r>
          </a:p>
          <a:p/>
          <a:p>
            <a:r>
              <a:t>Sang dữ liệu thật, dòng 11 và 12 gộp giờ thành ngày và tháng. min_count bằng 12 để ngày có dưới 12 giờ số liệu thì để trống, thay vì ra một tổng thấp giả. Dòng 13 lấy ba ngày thấp nhất: những ngày rơi sát 0 mà hình theo tháng giấu mất.</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cách làm hình dễ nhìn hay dùng nhất là gộp tần suất, làm trơn và thang log. Slide này là làm trơn.</a:t>
            </a:r>
          </a:p>
          <a:p/>
          <a:p>
            <a:r>
              <a:t>Trung bình trượt có tâm thay mỗi điểm bằng trung bình của nó với các điểm hai bên, trong một cửa sổ w điểm, như công thức trên dải. Ví dụ bảy ngày 50, 52, 48, 2, 51, 49, 50: ngày thứ tư gần như trống. Cửa sổ 3 ngày biến nó thành 33,7; cửa sổ 7 ngày thành 43,1.</a:t>
            </a:r>
          </a:p>
          <a:p/>
          <a:p>
            <a:r>
              <a:t>(chỉ vào mũi tên) Đây là ngày bão Sandy, tệp chỉ còn một giờ với 22 lượt. Vậy mà đường cam 7 ngày ở ngày đó vẫn là 4.632 lượt, chỉ lõm nhẹ. Ai chỉ nhìn đường làm trơn sẽ không biết có một ngày dữ liệu gần như trống.</a:t>
            </a:r>
          </a:p>
          <a:p/>
          <a:p>
            <a:r>
              <a:t>Nên nhớ một thói quen: vẽ đường làm trơn đè lên dữ liệu gốc, đừng thay nó.</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Cùng dữ liệu, đổi thang dọc là đổi câu trả lời. Trên thang log, mỗi điểm đặt ở độ cao log cơ số 10 của nó. Gấp đôi thì cao thêm đúng 0,301, dù từ 100 lên 200 hay từ 200 lên 400. Nên hai đoạn dốc như nhau nghĩa là tăng cùng một phần trăm.</a:t>
            </a:r>
          </a:p>
          <a:p/>
          <a:p>
            <a:r>
              <a:t>Nhìn hai ô. Ô trái thang thường: tháng 4 sang tháng 5 tăng nhiều lượt nhất, thêm 40.951 lượt. Ô phải thang log: đoạn dốc nhất lại là tháng 3 sang tháng 4, tăng 48,1%.</a:t>
            </a:r>
          </a:p>
          <a:p/>
          <a:p>
            <a:r>
              <a:t>Không ô nào sai; hai ô trả lời hai câu hỏi khác nhau. Cần thêm bao nhiêu xe thì đọc thang thường. Tăng nhanh cỡ nào thì đọc thang log.</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Không có biểu đồ nào nói hết, nên buổi 4 dùng bộ 8 biểu đồ, mỗi hình trả lời đúng một câu hỏi. Các thẻ bên phải là danh sách; hình bên trái là cả tám hình trên dữ liệu thuê xe.</a:t>
            </a:r>
          </a:p>
          <a:p/>
          <a:p>
            <a:r>
              <a:t>Ba hình đáng nhớ nhất. Seasonal plot tuần: mỗi tuần một đường xám chồng lên nhau, thấy ngay thứ Hai tới thứ Sáu hai đỉnh, cuối tuần một đỉnh. Lag plot: trễ 168 giờ bám đường chéo nhất, r bằng 0,876, còn trễ 12 tản thành hai nhánh. Scatter với nhiệt độ tô màu theo năm: cùng nhiệt độ mà 2012 cao hơn 2011, tức quan hệ dời theo năm.</a:t>
            </a:r>
          </a:p>
          <a:p/>
          <a:p>
            <a:r>
              <a:t>Thêm hai thói quen khi vẽ: đường làm trơn vẽ đè lên dữ liệu gốc chứ đừng thay nó, để không mất ngày bất thường; và trên thang log, cùng độ dốc nghĩa là cùng phần trăm thay đổi.</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Nhìn đường theo thời gian thì khó thấy mùa vụ. Xếp lại theo thứ, theo tháng thì thấy gì?</a:t>
            </a:r>
          </a:p>
          <a:p/>
          <a:p>
            <a:r>
              <a:t>Có hai cách xếp. (chỉ vào ô trái) Seasonal plot vẽ mỗi tuần một đường rồi chồng lên nhau. Hai tuần ở đây song song: cùng hình dạng, tuần 2 cao hơn tuần 1 đúng 2 đơn vị ở mọi thứ.</a:t>
            </a:r>
          </a:p>
          <a:p/>
          <a:p>
            <a:r>
              <a:t>(chỉ vào ô phải) Subseries plot gom mỗi thứ vào một ô. Vạch cam là trung bình của thứ đó: 11, 13, 13, 13, 15, 7, 5, chính là hình dạng mùa vụ tuần. Trong mỗi ô, điểm sau cao hơn điểm trước, tức là có xu hướng.</a:t>
            </a:r>
          </a:p>
          <a:p/>
          <a:p>
            <a:r>
              <a:t>Trên lượt thuê theo giờ, seasonal plot theo tuần cho thấy thứ Hai tới thứ Sáu có hai đỉnh sáng chiều, cuối tuần chỉ một bướu giữa ngày: mùa vụ kép. Theo tháng, mỗi tháng 2012 gấp 1,41 tới 2,57 lần cùng tháng 2011.</a:t>
            </a:r>
          </a:p>
          <a:p/>
          <a:p>
            <a:r>
              <a:t>Seasonal plot cho hình dạng mùa vụ, subseries cho biết mỗi mùa đổi ra sao qua thời gian.</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Seasonal plot tuần dựng thế nào? Dòng 4 tính giờ trong tuần: thứ nhân 24 cộng giờ, ra số từ 0 đến 167. Dòng 5 gắn nhãn tuần bằng to_period W-SUN, tức tuần kết thúc vào Chủ nhật. Dòng 6 pivot_table xoay bảng: mỗi dòng một giờ trong tuần, mỗi tuần một cột; vẽ mỗi cột một đường là ra các đường xám chồng nhau. Dòng 7 lấy trung vị các tuần làm khuôn tuần điển hình.</a:t>
            </a:r>
          </a:p>
          <a:p/>
          <a:p>
            <a:r>
              <a:t>Dòng 9 đến 11 so tổng ngày theo thứ, và chỉ giữ ngày đủ 24 giờ để ngày thiếu số liệu không làm thứ đó thấp giả.</a:t>
            </a:r>
          </a:p>
          <a:p/>
          <a:p>
            <a:r>
              <a:t>Kết quả: 106 tuần chồng nhau, thứ Hai tới thứ Sáu hai đỉnh, cuối tuần một bướu. Nhưng tổng ngày lại gần nhau: thứ Bảy 4.653 lượt, thứ Sáu 4.933. Khác nhau là hình dạng trong ngày, không phải tổng.</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Heatmap cho trung bình; boxplot cho thêm độ tản. Nhìn hình: trục ngang là giờ, trục dọc là lượt mỗi giờ, xanh là ngày làm việc, cam là ngày nghỉ. Mỗi hộp chứa một nửa số ngày ở giữa, từ quantile 0,25 tới 0,75; độ rộng đó gọi là IQR, vạch giữa là trung vị. Hộp dài nghĩa là hôm đông hôm vắng, khó đoán.</a:t>
            </a:r>
          </a:p>
          <a:p/>
          <a:p>
            <a:r>
              <a:t>(chỉ vào 17h) 17h ngày làm việc: trung vị 539, hộp từ 348 tới 704, rộng nhất cả hình, nên đây là giờ khó dự báo nhất.</a:t>
            </a:r>
          </a:p>
          <a:p/>
          <a:p>
            <a:r>
              <a:t>Rồi nhìn 8h: hộp ngày nghỉ chỉ 57 tới 141, nằm hẳn dưới hộp ngày làm việc 365 tới 646. Hai hộp không chồng lên nhau, nên khi dự báo giờ đó, biết hôm nay là ngày làm việc hay ngày nghỉ là thông tin bắt buộc.</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 hình vừa rồi ra từ vài dòng tính. Dòng 4 và 5: năm thứ Hai lúc 8h, trong đó một ngày lễ chỉ 60 lượt. Trung bình ra 356, bị ngày lễ kéo xuống. Dòng 6: quantile 0,25, 0,5 và 0,75 cho trung vị 420 và hộp 410 tới 440, không bị kéo. Đó là lý do boxplot dùng quantile chứ không dùng trung bình.</a:t>
            </a:r>
          </a:p>
          <a:p/>
          <a:p>
            <a:r>
              <a:t>Dòng 9 và 10: pivot_table với aggfunc mean ra bảng 7 thứ nhân 24 giờ, đúng những số được tô lên heatmap; ví dụ 8h thứ Hai 412, Chủ nhật 84. Dòng 11 đến 14 lọc từng giờ, tách ngày làm việc và ngày nghỉ, rồi lấy ba quantile làm mép dưới, vạch giữa, mép trên của hộp.</a:t>
            </a:r>
          </a:p>
          <a:p/>
          <a:p>
            <a:r>
              <a:t>Kết quả khớp slide trước: 8h ngày nghỉ 57 tới 141, ngày làm việc 365 tới 646.</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Giờ trước, cùng giờ hôm qua hay cùng giờ tuần trước: cái nào giống giờ này nhất? </a:t>
            </a:r>
          </a:p>
          <a:p/>
          <a:p>
            <a:r>
              <a:t>Lag plot là scatter, mỗi chấm ghép giá trị bây giờ với giá trị cách nó k bước về trước. Ví dụ chuỗi 2, 4, 6, 4 lặp lại, xét trễ 2. (chỉ vào hình) Trục ngang là y lúc t trừ 2, trục dọc là y lúc t. Cặp 2 với 6 nằm góc trên trái, cặp 6 với 2 nằm góc dưới phải. Các chấm đi xuống, ngược đường chéo cam: trễ 2 là nửa vòng lặp nên đỉnh ghép với đáy.</a:t>
            </a:r>
          </a:p>
          <a:p/>
          <a:p>
            <a:r>
              <a:t>Trên lượt thuê theo giờ, trễ 168, tức cùng giờ tuần trước, bám đường chéo hẹp nhất với r bằng 0,88. Trễ 12 tách thành hai nhánh, r bằng âm 0,14, và con số đó chỉ là trung bình của hai nhánh.</a:t>
            </a:r>
          </a:p>
          <a:p/>
          <a:p>
            <a:r>
              <a:t>Chấm bám đường chéo ở trễ k nghĩa là giá trị cách k bước đoán tốt hiện tại.</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Lag plot cho ta nhìn bằng mắt; ACF đo cùng ý đó bằng số, cho mọi trễ một lúc. ACF ở trễ k là mức giống nhau giữa giá trị bây giờ và giá trị cách k bước, từ âm 1 tới 1.</a:t>
            </a:r>
          </a:p>
          <a:p/>
          <a:p>
            <a:r>
              <a:t>Nhìn hình: trục ngang là độ trễ k tính bằng giờ, tới 336; trục dọc là hệ số r_k. Cứ mỗi 24 giờ có một đỉnh, đó là nhịp ngày. Nhưng chỉ vào hai vạch đứt ở 168 và 336: đỉnh ở đó cao hơn các đỉnh quanh nó, vì cùng giờ cùng thứ tuần trước giống bây giờ nhất. Vậy là nhịp ngày lồng trong nhịp tuần.</a:t>
            </a:r>
          </a:p>
          <a:p/>
          <a:p>
            <a:r>
              <a:t>Còn ở trễ 12, tức nửa vòng ngày, đỉnh ghép với đáy nên r chỉ là âm 0,143. Cho nên đọc ACF theo vòng lặp, đừng đọc theo dấu của từng cột.</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Tự viết ACF để thấy nó không có gì bí ẩn. Dòng 6 và 7 lấy độ lệch của từng điểm khỏi trung bình; mẫu số là tổng bình phương độ lệch trên cả chuỗi. Dòng 8 và 9: với mỗi trễ k, cộng tích độ lệch bây giờ với độ lệch k bước trước, rồi chia cho mẫu số đó. nansum để ô trống không biến cả phép cộng thành NaN.</a:t>
            </a:r>
          </a:p>
          <a:p/>
          <a:p>
            <a:r>
              <a:t>Dòng 11 kiểm trên chuỗi 2, 4, 6, 4 lặp lại, chu kỳ 4: r2 bằng âm 0,75 ở nửa chu kỳ, r4 bằng 0,5 ở đủ chu kỳ. Dòng 12 chạy 336 giờ trên dữ liệu thật: r ở trễ 168 là 0,864, cao hơn trễ 144 là 0,786, xác nhận nhịp tuần. Dòng 13 đến 15 dùng shift ghép giờ t với giờ t trừ k, đúng là một lag plot; trễ 168 cho r bằng 0,876.</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Buổi 7 quay lại ACF với mục đích khác: nhận ra hình dạng. Hàm ở dòng 6 đến 9 giống hệt buổi 4. Dòng 11 đến 13 chạy trên sáu số 2, 3, 5, 6, 5, 3 và so với hàm acf của statsmodels. Chú ý adjusted bằng False, để thư viện cũng chia cho tổng của cả chuỗi như ta; khác tuỳ chọn là khác số. Kết quả r1 bằng 0,333, r2 bằng âm 0,417, đúng như tính tay và khớp thư viện.</a:t>
            </a:r>
          </a:p>
          <a:p/>
          <a:p>
            <a:r>
              <a:t>Dòng 14 đến 16 tạo 500 điểm nhiễu trắng, cộng dồn bằng cumsum thành random walk, rồi tính ACF 30 trễ. Ba hình dạng cần nhớ: nhiễu trắng quanh 0; random walk giảm rất chậm; lượt thuê có đỉnh ở trễ 24, 48. ACF giảm rất chậm là dấu hiệu đầu tiên của chuỗi chưa dừng.</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Doanh thu chỉ tăng 4,1% mà cột sau trông cao gấp ba. Vì sao?</a:t>
            </a:r>
          </a:p>
          <a:p/>
          <a:p>
            <a:r>
              <a:t>Vì người vẽ chọn thang. (chỉ vào ô trái) Trục dọc ở đây bắt đầu từ 480 chứ không từ 0, gọi là trục y cắt. Độ cao một cột bằng giá trị trừ đáy trục, chia cho khoảng từ đáy tới đỉnh trục. Tháng 5 là 490 triệu, cao 10 trên 40, tức 25% hình. Tháng 6 là 510 triệu, cao 30 trên 40, tức 75%. Mắt thấy gấp ba. (chỉ vào ô phải) Vẽ trục từ 0 thì hai cột gần bằng nhau.</a:t>
            </a:r>
          </a:p>
          <a:p/>
          <a:p>
            <a:r>
              <a:t>Trục kép cũng vậy: hai trục dọc, hai thang. Chọn thang phải hẹp thì hai đường trùng khít, chọn rộng thì một đường nằm ngang.</a:t>
            </a:r>
          </a:p>
          <a:p/>
          <a:p>
            <a:r>
              <a:t>Quy ước của khoá: số đếm và tổng vẽ trục từ 0. Hai chuỗi khác đơn vị thì tách hai hình, hoặc đánh chỉ số: chia cho tháng đầu rồi nhân 100. Đọc thang trước khi đọc đường.</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Mỗi năm, tương quan giữa nhiệt độ và lượt thuê đều trên 0,7. Gộp hai năm lại chỉ còn 0,627. Quan hệ yếu đi thật sao?</a:t>
            </a:r>
          </a:p>
          <a:p/>
          <a:p>
            <a:r>
              <a:t>(chỉ vào hình) Trục ngang là nhiệt độ trung bình ngày, trục dọc là lượt thuê mỗi ngày. Chấm xanh là năm 2011, chấm cam là 2012. Các bạn nhìn một cột dọc bất kỳ, ví dụ quanh 25 độ: chấm cam nằm trên chấm xanh. Cùng nhiệt độ mà năm 2012 cao hơn, vì có nhiều người dùng hơn.</a:t>
            </a:r>
          </a:p>
          <a:p/>
          <a:p>
            <a:r>
              <a:t>Hai đám mây song song. Năm 2011 r là 0,771, năm 2012 là 0,714. Khi gộp, hai mức khác nhau chồng lên nhau làm đám điểm dày ra theo chiều dọc, nên r chỉ còn 0,627, thấp hơn cả hai năm.</a:t>
            </a:r>
          </a:p>
          <a:p/>
          <a:p>
            <a:r>
              <a:t>Cách nhận ra rất đơn giản: tô màu scatter theo năm. Thấy các đám song song thì tính r riêng từng năm.</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Buổi 5 bắt đầu bằng câu hỏi: doanh số tăng vì người ta mua nhiều hơn thật, hay vì những lý do đã biết trước?</a:t>
            </a:r>
          </a:p>
          <a:p/>
          <a:p>
            <a:r>
              <a:t>Có ba lý do hay gặp, mỗi lý do một phép chia. Tháng dài hơn thì chia cho số ngày. Giá cao hơn thì chia cho CPI rồi nhân CPI năm gốc. Người đông hơn thì chia thêm cho dân số. Ví dụ doanh thu 100 lên 150, CPI 100 lên 125, dân số 10 lên 12: giá thực chỉ 120, tăng 20% chứ không phải 50%; chia đầu người thì 10 vẫn là 10, mỗi người mua y như cũ.</a:t>
            </a:r>
          </a:p>
          <a:p/>
          <a:p>
            <a:r>
              <a:t>(chỉ vào hình) Bán lẻ Mỹ đầu 2023: theo tổng tháng, tháng 2 giảm; chia số ngày thì tháng 2 tăng. Dấu của kết luận đảo ngược. Vì vậy mọi con số tăng trưởng phải nói rõ đã bỏ những gì.</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trước bỏ phần tăng do lịch, giá và dân số. Còn một vấn đề nữa: năm bán nhiều thì chênh lệch giữa tháng đông và tháng vắng cũng lớn, trong khi nhiều mô hình giả định dao động to như nhau ở mọi mức.</a:t>
            </a:r>
          </a:p>
          <a:p/>
          <a:p>
            <a:r>
              <a:t>Log giải quyết bằng cách biến nhân thành cộng. Cửa hàng nhỏ tăng 20%, từ 100 lên 120; siêu thị cũng tăng 20%, từ 1.000 lên 1.200. Trên thang gốc, một bên chênh 20, một bên chênh 200. Trên thang log, cả hai đều cao thêm 0,182. (chỉ vào hình) Hai đoạn rộng khác hẳn nhau theo chiều ngang nhưng cao bằng nhau theo chiều dọc.</a:t>
            </a:r>
          </a:p>
          <a:p/>
          <a:p>
            <a:r>
              <a:t>Log chỉ dùng cho số dương, và hợp nhất khi dao động tỷ lệ đúng với mức. Bán lẻ Mỹ thì mức gấp 3,1 lần mà dao động chỉ gấp 2,4, nên log ép quá tay. Slide sau là cái núm vặn ở giữa: Box-Cox.</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Sang buổi 5: khi dao động cứ lớn dần theo mức, mô hình khó học. Box-Cox là một núm vặn λ: λ bằng 1 gần như giữ nguyên, λ bằng 0 là log, ở giữa là nén vừa phải.</a:t>
            </a:r>
          </a:p>
          <a:p/>
          <a:p>
            <a:r>
              <a:t>Nhìn nửa trái hình: trục ngang là λ, trục dọc là tiêu chí Guerrero, đo dao động các năm lệch nhau tới đâu; đáy nằm ở λ khoảng 0,34. Nửa phải: độ lệch chuẩn mỗi năm chia cho năm 1992, bán lẻ Mỹ. Không biến đổi, đường xám, tới 2019 gấp 2,45 lần. Với λ 0,34, đường cam, chỉ còn 1,21, gần đều nhất. Log, đường xanh, xuống 0,84, tức ép quá tay.</a:t>
            </a:r>
          </a:p>
          <a:p/>
          <a:p>
            <a:r>
              <a:t>Hai lưu ý: Box-Cox và log cần số dương, gặp 0 hay số âm thì dùng Yeo-Johnson; và λ là tham số của mô hình, nên tính lại ở mỗi gốc dự báo.</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 ép quá tay, để nguyên thì dao động phình ra. Chọn lambda ở giữa bằng cách nào?</a:t>
            </a:r>
          </a:p>
          <a:p/>
          <a:p>
            <a:r>
              <a:t>Cách của Guerrero: chia chuỗi thành từng năm. Sau Box-Cox, dao động của năm có mức mu gần bằng s chia mu mũ một trừ lambda. Ta chọn lambda làm các tỷ số này đều nhất, đo bằng CV, tức độ lệch chuẩn của chúng chia trung bình.</a:t>
            </a:r>
          </a:p>
          <a:p/>
          <a:p>
            <a:r>
              <a:t>Ví dụ ba năm có mức 100, 400, 900 và độ lệch chuẩn 10, 20, 30. Lambda bằng 1 thì tỷ số là 10, 20, 30, CV bằng 0,5. Lambda bằng 0,5 thì chia cho căn của mức: năm 400 có 20 chia 20 bằng 1, cả ba năm đều bằng 1, CV bằng 0. Lambda bằng 0, tức log, cho 0,1 rồi 0,05, ép quá tay.</a:t>
            </a:r>
          </a:p>
          <a:p/>
          <a:p>
            <a:r>
              <a:t>(chỉ vào ô trái) Trên bán lẻ Mỹ, đường CV theo lambda có đáy ở khoảng 0,34. (chỉ vào ô phải) Với lambda đó, đường cam nằm sát mức 1 nhất, còn log tụt xuống dưới.</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Guerrero tự viết chỉ khoảng mười dòng. Dòng 5 dựng lưới 3.001 giá trị λ từ âm 1 tới 2. Dòng 7 cắt chuỗi thành từng năm, mỗi dòng 12 tháng; dòng 8 lấy mức và độ lệch chuẩn từng năm. Dòng 9 và 10 là ý chính: với mỗi λ, tính cho từng năm tỷ số độ lệch chuẩn chia mức mũ một trừ λ, rồi đo các tỷ số đó đều tới đâu bằng hệ số biến thiên CV. Dòng 11 giữ λ cho CV nhỏ nhất: ra 0,34.</a:t>
            </a:r>
          </a:p>
          <a:p/>
          <a:p>
            <a:r>
              <a:t>Dòng 14: scipy boxcox chọn λ theo tiêu chí khác, làm dữ liệu giống hình chuông nhất, ra 0,595. Hai con số khác nhau vì hỏi hai câu khác nhau, nên phải biết mình cần gì. Dòng 15 và 16: phần trăm tăng so với cùng tháng năm trước có số âm, nên dùng Yeo-Johnson, ra khoảng 1,02, tức gần như giữ nguyên.</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Dự báo trên thang log rồi exp về: vì sao cộng lại thì hụt so với tổng thật?</a:t>
            </a:r>
          </a:p>
          <a:p/>
          <a:p>
            <a:r>
              <a:t>Ví dụ ba giá trị log 0, 1, 2. (chỉ vào hàng trên) Trên thang log chúng cách đều, trung bình là 1. Exp của 1 là 2,72. (chỉ vào hàng dưới) Đổi từng giá trị về thang gốc thì được 1, 2,72 và 7,39. Trung bình thật là 3,70, nằm bên phải vạch 2,72.</a:t>
            </a:r>
          </a:p>
          <a:p/>
          <a:p>
            <a:r>
              <a:t>Lý do: exp giữ thứ tự, nên số đứng giữa vẫn đứng giữa. 2,72 là trung vị. Nhưng exp kéo giãn phía trên, đẩy số lớn ra xa và kéo trung bình lên. Độ lệch chuẩn trên thang log bằng 0,5 thì trung vị thấp hơn trung bình 11,75%.</a:t>
            </a:r>
          </a:p>
          <a:p/>
          <a:p>
            <a:r>
              <a:t>Khi cần tổng hay trung bình, nhân thêm một cộng sigma bình phương chia hai. Khi chấm bằng MAE thì không cần, vì MAE ưa trung vị. Sigma nhỏ thì phần hụt không đáng kể.</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Buổi 6: tách chuỗi ra từng phần. Phân rã viết chuỗi thành xu hướng, mùa vụ và phần dư. Kiểu cộng: mùa hè luôn cao hơn nền 10 GW, dù nền là 80 hay 150 GW. Kiểu nhân: cao hơn một tỷ lệ, nền 100 thì thêm 10, nền 200 thì thêm 20.</a:t>
            </a:r>
          </a:p>
          <a:p/>
          <a:p>
            <a:r>
              <a:t>Nhìn hình, tháng 7/2024 của vùng PJM, năm hàng từ trên xuống: dữ liệu, xu hướng, mùa vụ ngày, mùa vụ tuần, phần dư, đều tính bằng GW. Tải điện có hai nhịp lồng nhau, 24 giờ và 168 giờ, nên dùng MSTL với hai chu kỳ đó. Xu hướng trơn; nhịp cuối tuần nằm gọn trong hàng mùa vụ tuần, ở những chỗ lõm xuống; còn phần dư chủ yếu là thời tiết. Phần dư là thứ còn lại để mô hình và biến ngoài giải thích.</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 ba cách phân rã, khác nhau ở chỗ mùa vụ cố định hay được đổi dần. Phân rã cổ điển: xu hướng là trung bình trượt dài đúng một vòng, mùa vụ là trung bình theo từng vị trí trong vòng, nên ra một khuôn cố định cho cả năm. STL làm trơn cục bộ bằng LOESS nên mùa vụ đổi dần; MSTL làm việc đó cho nhiều chu kỳ.</a:t>
            </a:r>
          </a:p>
          <a:p/>
          <a:p>
            <a:r>
              <a:t>Nhìn hình: trục ngang là giờ New York, trục dọc là mùa vụ ngày tính bằng GW, mỗi đường một tháng. Tháng 1, xanh đậm, hai đỉnh sáng và tối; tháng 7, đỏ đậm, một đỉnh chiều, biên độ lớn hẳn vì điều hoà. Một khuôn cố định không chứa được cả hai.</a:t>
            </a:r>
          </a:p>
          <a:p/>
          <a:p>
            <a:r>
              <a:t>Lưu ý: biên độ đổi theo mùa không phải lý do dùng phân rã nhân; nhân dành cho dao động tỷ lệ với mức. Và phần dư nhỏ bất thường thì nghi cửa sổ xu hướng quá ngắn.</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Tự viết phân rã cổ điển để thấy nó chỉ là các phép trung bình. Dòng 6 tạo trọng số 2×m-MA: m cộng 1 trọng số, hai đầu mỗi đầu một nửa, tổng bằng 1. Dòng 7 và 8: np.convolve trượt bộ trọng số dọc chuỗi, mode valid chỉ giữ chỗ đủ hàng xóm, nên hai đầu xu hướng để NaN. Dòng 9 và 10: lấy dữ liệu trừ xu hướng, rồi trung bình theo từng vị trí trong vòng. Dòng 11 dời cho tổng mùa vụ một vòng bằng 0, để mức chung nằm hết ở xu hướng.</a:t>
            </a:r>
          </a:p>
          <a:p/>
          <a:p>
            <a:r>
              <a:t>Chạy trên 12 quý: quý 3 có xu hướng 22; mùa vụ bốn quý là 4, âm 3, âm 7, 6; phần dư chỉ cộng trừ 0,5 và cộng trừ 1,5. Và khớp seasonal_decompose của statsmodels tới từng số.</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Trước khi chọn cách phân rã, ta đo xem mùa vụ ngày có đổi theo mùa không. Dòng 5 và 6: gom theo ngày, lấy giờ cao nhất trừ giờ thấp nhất, chia 1000 để ra GW. Dòng 7 và 8 lấy trung bình biên độ đó theo tháng. Kết quả: tháng 7 trung bình 44 GW, tháng 1 chỉ 17 GW. Mùa vụ đổi theo mùa như vậy thì khuôn cố định của phân rã cổ điển không hợp.</a:t>
            </a:r>
          </a:p>
          <a:p/>
          <a:p>
            <a:r>
              <a:t>Dòng 10 và 11 là một phát hiện phụ: soi giờ 17:00 UTC ngày 21/11 cùng hai giờ hai bên. Giờ đó báo 56.260 MW, kẹp giữa hai giờ khoảng 95.000 MW. Tải cả vùng không tụt mạnh như thế trong một giờ rồi hồi lại; đây là số liệu hỏng, phải sửa trước khi phân rã.</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Phân rã xong, phần dư trông lộn xộn. Nó đã hết nhịp theo giờ, theo tháng chưa?</a:t>
            </a:r>
          </a:p>
          <a:p/>
          <a:p>
            <a:r>
              <a:t>Tỷ lệ mẫu hình kiểm bằng một con số. Nhóm phần dư theo lịch, ví dụ tháng nhân giờ, lấy trung bình mỗi nhóm, rồi đo các trung bình đó lệch nhau cỡ nào so với dao động của cả chuỗi. Ví dụ phần dư buổi sáng là âm 3, âm 5, buổi chiều là cộng 3, cộng 5. Trung bình hai nhóm là âm 4 và cộng 4, phương sai 32. Chuỗi có phương sai 320 thì tỷ lệ là 0,1: phần dư còn nhịp sáng chiều.</a:t>
            </a:r>
          </a:p>
          <a:p/>
          <a:p>
            <a:r>
              <a:t>(chỉ vào cột trái) Với tải điện PJM, phân rã cổ điển chu kỳ 24 còn vệt đỏ vào chiều hè, tỷ lệ 0,102, tức một phần mười phương sai vẫn là mẫu hình. (chỉ vào cột phải) MSTL gần như trắng, tỷ lệ 0,0006.</a:t>
            </a:r>
          </a:p>
          <a:p/>
          <a:p>
            <a:r>
              <a:t>Phần dư trông lộn xộn chưa đủ, hãy nhóm theo lịch rồi đo.</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Mùa vụ lớn dần qua các năm. Một khuôn mùa vụ cố định sẽ bỏ sót điều gì?</a:t>
            </a:r>
          </a:p>
          <a:p/>
          <a:p>
            <a:r>
              <a:t>Ví dụ phần dữ liệu trừ xu hướng của quý 1 qua năm năm là 2, 4, 6, 8, 10. (chỉ vào đường xám) Phân rã cổ điển lấy một trung bình cho mọi năm, bằng 6. Phần dư đi từ âm 4 tới 4, vẫn còn một đường đi lên. (chỉ vào đường cam) Nếu mỗi năm chỉ lấy trung bình ba năm quanh nó, ta được 3, 4, 6, 8, 9, phần dư chỉ từ âm 1 tới 1.</a:t>
            </a:r>
          </a:p>
          <a:p/>
          <a:p>
            <a:r>
              <a:t>STL làm đúng ý đó bằng LOESS: ở mỗi điểm, khớp một đường qua các điểm lân cận, điểm gần nặng hơn. Nhờ vậy mùa vụ được đổi dần.</a:t>
            </a:r>
          </a:p>
          <a:p/>
          <a:p>
            <a:r>
              <a:t>Cửa sổ xu hướng quá ngắn thì xu hướng ôm luôn nhịp tuần và thời tiết. Trên PJM, STL chu kỳ 24 mặc định còn phương sai phần dư 2,8 GW bình phương, MSTL 16,5. Nhỏ ở đây là nhỏ giả tạo.</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Giờ chạy STL và MSTL thật, và gặp hai lỗi hay gặp. Dòng 4 và 5, lỗi thứ nhất: đưa vào chuỗi còn giờ trống, MSTL không báo lỗi mà trả kết quả toàn NaN. Vì vậy phải lấp giờ trống trước.</a:t>
            </a:r>
          </a:p>
          <a:p/>
          <a:p>
            <a:r>
              <a:t>Dòng 7, lỗi thứ hai: STL với period 24 có cửa sổ xu hướng mặc định chỉ 47 giờ, quá ngắn, nên đường xu hướng ôm luôn cả biến động do thời tiết. Dòng 8 và 9 so phương sai phần dư: STL mặc định 2,8 GW bình phương, MSTL 16,5. Phần dư nhỏ hơn không có nghĩa là tốt hơn; ở đây nó nhỏ giả tạo.</a:t>
            </a:r>
          </a:p>
          <a:p/>
          <a:p>
            <a:r>
              <a:t>Dòng 11 đến 13 lấy cột seasonal_24, gom theo tháng và giờ, unstack thành bảng tháng nhân giờ, rồi đo biên độ: tháng 7 là 43,3 GW, tháng 1 là 14,4 GW. Dòng 14 tìm giờ đỉnh mùa đông và mùa hè, chính là hình hai đỉnh và một đỉnh vừa xem.</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 phân rã rồi, ta muốn một con số nói mùa vụ mạnh tới đâu. F_S bằng 1 trừ phương sai phần dư chia phương sai của mùa vụ cộng phần dư. Nói bằng lời: phần dư chiếm bao nhiêu trong tổng mùa vụ cộng phần dư, lấy 1 trừ đi.</a:t>
            </a:r>
          </a:p>
          <a:p/>
          <a:p>
            <a:r>
              <a:t>Nhìn hình: cùng một mùa vụ. Bên trái phần dư có độ lệch chuẩn 0,15, nhịp lặp rõ, F_S bằng 0,96. Bên phải phần dư độ lệch chuẩn 1,0, nhịp chìm trong nhiễu, F_S chỉ 0,34. F_T tính y hệt cho xu hướng.</a:t>
            </a:r>
          </a:p>
          <a:p/>
          <a:p>
            <a:r>
              <a:t>Điều cần nhớ: F phụ thuộc cách phân rã. PJM 2024, mùa vụ 24 giờ: 0,618 với phân rã cổ điển, 0,829 với MSTL. Nên khi báo con số này, luôn ghi kèm tên phương pháp.</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Hàm do_manh tính cả F_T lẫn F_S từ một bảng phân rã. Dòng 6: F_T là 1 trừ phương sai phần dư chia phương sai của xu hướng cộng phần dư. Dòng 7 và 8 làm y hệt cho từng cột có tên bắt đầu bằng seasonal, dùng chung một phần dư. max với 0 để kẹp số âm về 0.</a:t>
            </a:r>
          </a:p>
          <a:p/>
          <a:p>
            <a:r>
              <a:t>Dòng 12 đến 14 gom kết quả MSTL vào một bảng, join thêm hai cột seasonal_24 và seasonal_168. Dòng 15 tính độ mạnh, rồi so với cùng hàm chạy trên phân rã cổ điển.</a:t>
            </a:r>
          </a:p>
          <a:p/>
          <a:p>
            <a:r>
              <a:t>Kết quả: F_S của mùa vụ ngày là 0,618 với cổ điển, 0,829 với MSTL; mùa vụ tuần của MSTL 0,415. Cùng chuỗi, khác phân rã, khác số. Và trên chuỗi này nhịp ngày mạnh hơn nhịp tuần khá rõ.</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Phân rã có một điểm yếu: một giờ số liệu hỏng có thể làm méo cả xu hướng và mùa vụ.</a:t>
            </a:r>
          </a:p>
          <a:p/>
          <a:p>
            <a:r>
              <a:t>Robust làm phân rã hai lượt. Lượt đầu tính phần dư. Lượt sau, điểm nào có phần dư quá lớn so với 6 lần phần dư điển hình thì bị bớt tin, trọng số giảm tới 0. Ví dụ phần dư 1, âm 2, 1, 20, âm 1: mốc là 6, điểm 20 vượt mốc nên trọng số 0; điểm âm 2 còn trọng số 0,79. Điểm không bị xoá mà nằm lại trong phần dư.</a:t>
            </a:r>
          </a:p>
          <a:p/>
          <a:p>
            <a:r>
              <a:t>(chỉ vào hàng mùa vụ) Dữ liệu PJM có một giờ báo tụt còn 56.260 MW. Không robust, các vết lõm cam xuất hiện mỗi trưa: mùa vụ lúc 17 giờ UTC của ngày 20/11, ngày không có lỗi, là âm 4.051 MW. Robust thì là cộng 2.117 MW, và lỗi nằm gọn trong phần dư.</a:t>
            </a:r>
          </a:p>
          <a:p/>
          <a:p>
            <a:r>
              <a:t>Nhưng robust không tách được đợt nắng nóng kéo dài nhiều ngày; việc đó cần thêm biến nhiệt độ.</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Sang buổi 7. Trước khi nói PACF hay tính dừng, cần một mô hình nhỏ nhất cho tự tương quan: AR(1). Giá trị mới bằng ρ nhân giá trị cũ, cộng một phần ngẫu nhiên.</a:t>
            </a:r>
          </a:p>
          <a:p/>
          <a:p>
            <a:r>
              <a:t>Nhìn hình: đường xám có tự tương quan gần 0, lộn xộn; đường xanh có tự tương quan khoảng 0,9, lên thì ở trên một lúc. ρ bằng 0 là nhiễu trắng, không nhớ gì. ρ bằng 0,7 thì nhớ, nhưng mỗi bước kéo về trung bình: trung bình 0, đang ở 10, kỳ vọng bước sau là 7, rồi 4,9, dần về 0. Chuỗi đó dừng. ρ bằng 1 là random walk: kỳ vọng mãi là 10, không có mức để quay về.</a:t>
            </a:r>
          </a:p>
          <a:p/>
          <a:p>
            <a:r>
              <a:t>AR(p) dùng p bước trước. Mấy slide tới đều dựa vào mô hình này: PACF chỉ ra p, ADF kiểm ρ có bằng 1 không, prewhitening dùng AR để lọc.</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ACF ở trễ 2 lớn có thể chỉ vì hôm nay giống hôm qua và hôm qua giống hôm kia. PACF tách phần đó ra: PACF trễ k là phần tương quan còn lại sau khi bỏ những gì các trễ ngắn hơn đã giải thích.</a:t>
            </a:r>
          </a:p>
          <a:p/>
          <a:p>
            <a:r>
              <a:t>Nhìn hình: bốn hàng là bốn chuỗi dựng từ cùng một dãy nhiễu; cột giữa là ACF, cột phải là PACF, dải xám là vùng coi như 0. Hàng AR(1) φ bằng 0,7: ACF giảm dần qua vài trễ, còn PACF trễ 1 là 0,713 rồi trễ 2 chỉ còn âm 0,110. PACF cắt sau trễ 1 nghĩa là chỉ cần hôm qua, tức AR(1).</a:t>
            </a:r>
          </a:p>
          <a:p/>
          <a:p>
            <a:r>
              <a:t>Giờ so hai hàng dưới: random walk và chuỗi có xu hướng đều có ACF giảm rất chậm, trông gần như nhau. Chỉ nhìn ACF không phân biệt được, nên lát nữa cần kiểm định ADF và KPSS.</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dựng bốn chuỗi của hình vừa rồi. Dòng 4 đến 8 dựng AR(1): mỗi bước bằng 0,7 lần bước trước cộng nhiễu mới; np.empty tạo mảng trống để điền dần. Dòng 9 và 10: bốn chuỗi dùng chung một dãy nhiễu seed 42, nên mọi khác biệt là do cấu trúc, không do may rủi. Dòng 11 là dải cộng trừ 1,96 chia căn T, để biết cột nào đáng chú ý.</a:t>
            </a:r>
          </a:p>
          <a:p/>
          <a:p>
            <a:r>
              <a:t>Dòng 14 đến 16 tính ACF, PACF 30 trễ và giữ vài con số. Để ý dòng 15 khai method bằng ywm rõ ràng, vì mặc định của hai hàm khác nhau; không khai thì con số lệch với cách tính tay.</a:t>
            </a:r>
          </a:p>
          <a:p/>
          <a:p>
            <a:r>
              <a:t>Kết quả: AR(1) có ACF giảm nhanh, PACF cắt sau trễ 1. Random walk và xu hướng đều có r1 gần 0,98, không phân biệt được bằng ACF.</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Cách đọc ACF hay gặp là đếm cột vượt dải. Slide này cho thấy vì sao không nên.</a:t>
            </a:r>
          </a:p>
          <a:p/>
          <a:p>
            <a:r>
              <a:t>Hình trái: nhiễu trắng 500 điểm, trục ngang là độ trễ tới 20, dải xám là cộng trừ 1,96 chia căn T; vẫn có cột chạm ra ngoài. Hình phải mô phỏng 1.000 chuỗi nhiễu trắng thuần: trục ngang là số cột vượt dải trong 20 trễ, trục dọc là số chuỗi. Trung bình mỗi chuỗi có 0,95 cột vượt, và 62% số chuỗi có ít nhất một cột vượt, dù chẳng có quy luật nào.</a:t>
            </a:r>
          </a:p>
          <a:p/>
          <a:p>
            <a:r>
              <a:t>Ljung-Box gộp nhiều trễ vào một kiểm định, H0 là chuỗi là nhiễu trắng. p nhỏ hơn 0,05 là còn quy luật chưa khai thác. Ta dùng nó để kiểm phần dư của mô hình đã sạch chưa, và khi đó nhớ truyền model_df, tức số tham số của mô hình.</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 sao bằng 5,16 là lớn hay nhỏ? Phải so với ngưỡng nào?</a:t>
            </a:r>
          </a:p>
          <a:p/>
          <a:p>
            <a:r>
              <a:t>Nếu chuỗi là nhiễu trắng, Q sao theo phân phối khi bình phương. Bậc tự do bằng số trễ gộp vào, trừ số tham số nếu ta kiểm sai số của một mô hình. Ví dụ chuỗi 100 điểm, r1 bằng 0,2, r2 bằng 0,1. Q sao bằng 100 nhân 102, nhân tổng 0,2 bình phương chia 99 với 0,1 bình phương chia 98, ra khoảng 5,16.</a:t>
            </a:r>
          </a:p>
          <a:p/>
          <a:p>
            <a:r>
              <a:t>(chỉ vào hình) Đây là đường cong khi bình phương với 2 bậc tự do. Vùng đỏ là 5% giá trị lớn nhất, bắt đầu từ 5,99. Vạch xanh 5,16 chưa chạm vùng đỏ, nên chưa bác bỏ nhiễu trắng, p khoảng 0,076.</a:t>
            </a:r>
          </a:p>
          <a:p/>
          <a:p>
            <a:r>
              <a:t>Nhớ trừ bậc tự do: 10 trễ trên sai số của mô hình 2 tham số thì còn 8 bậc, ngưỡng 15,51 thay vì 18,31. Quên trừ thì p cao hơn thật.</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Ljung-Box thay việc đếm cột bằng một con số Q sao và một p-value. Dòng 5 và 6 tính tay với 100 điểm, r1 bằng 0,2, r2 bằng 0,1: Q sao bằng T nhân T cộng 2, nhân với tổng của r_k bình phương chia T trừ k. Dòng 7 và 8 tra ngưỡng 5% của phân phối khi bình phương với 2 bậc tự do, và p-value bằng chi2.sf. Q sao bằng 5,16, nhỏ hơn ngưỡng 5,99, nên không bác bỏ: chưa thấy quy luật.</a:t>
            </a:r>
          </a:p>
          <a:p/>
          <a:p>
            <a:r>
              <a:t>Dòng 10 đến 12 dùng acorr_ljungbox kiểm 10 trễ trên ba chuỗi nhiễu trắng: p từ 0,081 tới 0,885, đều không bác bỏ, đúng như mong đợi. Dòng 14 thêm model_df bằng 2, như khi kiểm sai số của một mô hình hai tham số: bậc tự do giảm, p nhỏ đi. Quên model_df thì dễ tin nhầm phần dư đã sạch.</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Giờ là khái niệm trung tâm của buổi 7: chuỗi dừng, tức mức trung bình và độ dao động ổn định theo thời gian.</a:t>
            </a:r>
          </a:p>
          <a:p/>
          <a:p>
            <a:r>
              <a:t>Nhìn hình, ba hàng. Hàng trên là dừng: như nhiệt độ phòng máy lạnh đặt 25 độ, lúc 24,5, lúc 25,8, nhưng luôn bị kéo về 25. Hàng giữa là dừng quanh xu hướng: như chiều cao một đứa trẻ, bám theo một đường; bỏ đường đó đi thì phần còn lại dừng. Hàng dưới là random walk: như tung đồng xu rồi bước tới hoặc lùi, không có chỗ nào để quay về.</a:t>
            </a:r>
          </a:p>
          <a:p/>
          <a:p>
            <a:r>
              <a:t>Hai loại không dừng cần hai cách chữa: random walk thì sai phân, dừng quanh xu hướng thì khử xu hướng. Nhìn hình rất khó phân biệt, nên phải kiểm bằng ADF và KPSS. Thêm hai ý: chuỗi có chu kỳ lên xuống không đều vẫn có thể dừng; và với random walk, dự báo tốt nhất là naive, lấy giá trị cuối.</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Số liệu tăng vài tháng liền: có xu hướng thật, hay chỉ là các bước ngẫu nhiên cộng dồn?</a:t>
            </a:r>
          </a:p>
          <a:p/>
          <a:p>
            <a:r>
              <a:t>Random walk là vị trí mới bằng vị trí cũ cộng một bước ngẫu nhiên. Ví dụ tung đồng xu, ngửa tiến 1, sấp lùi 1. Sáu lần tung cộng, trừ, cộng, cộng, trừ, cộng cho vị trí 1, 0, 1, 2, 1, 2.</a:t>
            </a:r>
          </a:p>
          <a:p/>
          <a:p>
            <a:r>
              <a:t>(chỉ vào hình) Trục ngang là số bước, trục dọc là vị trí, mỗi đường xám là một người. Không có mức nào để quay về, nên càng lâu càng có thể đi xa. Hai đường cam đứt là cộng trừ một độ lệch chuẩn, nở ra theo căn bậc hai số bước. Mô phỏng 10.000 người: 4 bước độ lệch chuẩn là 2,0, 25 bước là 5,0, 100 bước là 10,1. Số bước gấp 25 lần thì độ lệch chuẩn gấp 5 lần.</a:t>
            </a:r>
          </a:p>
          <a:p/>
          <a:p>
            <a:r>
              <a:t>Vì vậy random walk không dừng, phải sai phân, và dự báo tốt nhất cho nó là giá trị cuối cùng.</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này cho thấy random walk khác chuỗi dừng ở đâu, và vì sao mỗi loại cần thuốc riêng. Dòng 4 đến 6 mô phỏng 10.000 người tung đồng xu, mỗi người 100 bước, cumsum ra vị trí. Dòng 7 đo độ lệch chuẩn vị trí sau 4, 25 và 100 bước. Kết quả: số bước gấp 25 lần thì độ lệch chuẩn gấp 5 lần, từ 2,0 lên 10,1. Dao động lớn dần theo thời gian, nên random walk không dừng.</a:t>
            </a:r>
          </a:p>
          <a:p/>
          <a:p>
            <a:r>
              <a:t>Dòng 11 là thuốc một: polyfit tìm đường thẳng khớp nhất, polyval tính nó, rồi trừ đi. Dòng 12 là thuốc hai: np.diff, tức sai phân. Dòng 13 đo r1 phần còn lại.</a:t>
            </a:r>
          </a:p>
          <a:p/>
          <a:p>
            <a:r>
              <a:t>Chọn nhầm cách xử lý thì thấy ngay: khử xu hướng cho random walk thì r1 vẫn rất lớn; sai phân chuỗi xu hướng thì r1 âm rõ, dấu hiệu sai phân thừa.</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Chuỗi có thành phần random walk không? Hai kiểm định hỏi câu này theo hai chiều ngược nhau.</a:t>
            </a:r>
          </a:p>
          <a:p/>
          <a:p>
            <a:r>
              <a:t>ADF hỏi: khi chuỗi đang cao hơn mức thường, bước sau có bị kéo xuống không? Nhìn hình: trục ngang là độ cao hiện tại trừ mức trung bình, trục dọc là bước kế tiếp. Bên trái, chuỗi dừng ρ bằng 0,7, đám chấm dốc xuống: cao thì bị kéo về. Bên phải, random walk, đường gần nằm ngang: độ cao không nói gì về bước sau. H0 của ADF là không dừng, nên p nhỏ hơn 0,05 là có bằng chứng dừng. KPSS ngược lại: H0 là dừng, p nhỏ hơn 0,05 là có bằng chứng không dừng.</a:t>
            </a:r>
          </a:p>
          <a:p/>
          <a:p>
            <a:r>
              <a:t>Ví dụ tay ở dưới: 5, 8, 4, 6, 5 cứ cao hơn 5 là đi xuống; 5, 6, 7, 6, 7 thì không đoán được.</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Vì hai kiểm định có H0 ngược nhau, ta chạy cả hai rồi đọc bảng 2 nhân 2 này. ADF bác bỏ mà KPSS không, ô xanh: dừng, không cần sai phân. ADF không bác bỏ mà KPSS bác bỏ, ô cam: không dừng, sai phân rồi kiểm lại. Cả hai cùng bác bỏ là mâu thuẫn, thường do cú sốc hay đổi mức.</a:t>
            </a:r>
          </a:p>
          <a:p/>
          <a:p>
            <a:r>
              <a:t>Ví dụ thật bên phải: tăng trưởng GDP Mỹ theo quý 1947 đến 2026, ADF p bằng 0,000, KPSS p bằng 0,048, rơi vào ô mâu thuẫn. Chỉ lấy 1985 đến 2019, bỏ cú sốc đại dịch, thì cả hai đồng ý dừng.</a:t>
            </a:r>
          </a:p>
          <a:p/>
          <a:p>
            <a:r>
              <a:t>Hai điều nữa: khai cùng một dạng cho cả hai, c là quanh một mức, ct là quanh một đường xu hướng; và p của KPSS bị cắt ở 0,01 và 0,1, nên "p bằng 0,10" nghĩa là từ 0,1 trở lên, không phải "rất dừng".</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Gói bảng 2 nhân 2 thành hai hàm. Dòng 4: tham số dang là c hoặc ct, dùng chung cho cả hai kiểm định. Dòng 6 và 7: adfuller với autolag AIC tự chọn số trễ; p nhỏ là có bằng chứng dừng. Dòng 8 và 9: kpss với nlags auto; p nhỏ là có bằng chứng không dừng. Dòng 11 đến 14: o_bang đổi cặp câu hỏi "ADF có bác bỏ, KPSS có bác bỏ" thành một trong bốn kết luận.</a:t>
            </a:r>
          </a:p>
          <a:p/>
          <a:p>
            <a:r>
              <a:t>Dòng 15 và 16 thử chuỗi xu hướng 0,05t với cả hai dạng. Kết quả: dạng c nói không dừng; chỉ dạng ct mới cho thấy đây là chuỗi dừng quanh xu hướng, nên cần khử xu hướng chứ không sai phân. Khai sai dạng là kết luận sai.</a:t>
            </a:r>
          </a:p>
          <a:p/>
          <a:p>
            <a:r>
              <a:t>Còn với random walk, ADF cho p bằng 0,073, không bác bỏ, và KPSS bắt được: đúng ô không dừng.</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Thuốc cho random walk là sai phân. Sai phân thay mỗi giá trị bằng hiệu với giá trị trước: 100, 103, 105 thành 3, 2. Sai phân mùa vụ lấy hiệu với cùng vị trí vòng trước, ví dụ tháng này trừ cùng tháng năm ngoái.</a:t>
            </a:r>
          </a:p>
          <a:p/>
          <a:p>
            <a:r>
              <a:t>Nhìn hình: góc trên trái là log GDP thực của Mỹ theo quý, trôi lên mãi, và ACF ngay dưới giảm rất chậm. Góc trên phải là sai phân log, gần bằng phần trăm tăng mỗi quý: dao động quanh 0,76%, và ACF bên dưới chỉ còn vài trễ đầu. Chuỗi trôi đi đã thành chuỗi có mức để quay về.</a:t>
            </a:r>
          </a:p>
          <a:p/>
          <a:p>
            <a:r>
              <a:t>Khi nào dùng: random walk thì sai phân một lần; có mùa vụ thì sai phân mùa vụ trước; dừng quanh xu hướng thì khử xu hướng, sai phân thêm là thừa. Để ý cú sốc lớn quanh năm 2020 bên phải, chính là lý do ô mâu thuẫn ở slide trước.</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Buổi 8: quan hệ giữa hai biến. Pearson r đo quan hệ đường thẳng; Spearman đo hai biến có cùng tăng theo thứ hạng không.</a:t>
            </a:r>
          </a:p>
          <a:p/>
          <a:p>
            <a:r>
              <a:t>Nhìn hình, bộ tứ Anscombe: bốn bộ dữ liệu cùng r bằng 0,82 và cùng đường hồi quy. Bộ một là quan hệ thẳng có nhiễu. Bộ hai là một đường cong. Bộ ba là thẳng chặt với một điểm lạ. Bộ bốn là một cột điểm dựng đứng cộng một điểm ở xa kéo lệch cả đường. Bốn câu chuyện khác nhau, cùng một con số.</a:t>
            </a:r>
          </a:p>
          <a:p/>
          <a:p>
            <a:r>
              <a:t>Ngược lại, hình chữ U đối xứng cho cả Pearson lẫn Spearman bằng 0 dù quan hệ rất chặt. Nên quy tắc là vẽ scatter trước khi tin r. Và nhớ: tương quan không phải nhân quả; cuối phần này ta sẽ thấy cả kiểm định Granger cũng không nói "gây ra".</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Quay lại code buổi 2 để thấy r sai lệch thế nào trên dữ liệu thật. Dòng 3 và 4: x từ âm 2 tới 2, y bằng x bình phương; y phụ thuộc hẳn vào x mà r bằng 0.</a:t>
            </a:r>
          </a:p>
          <a:p/>
          <a:p>
            <a:r>
              <a:t>Dòng 6 đến 8: r giữa nhiệt độ và lượt thuê trên mọi giờ là 0,405; chỉ giữ giờ 17 thì lên 0,588. Giờ trong ngày là biến gây nhiễu: trộn mọi giờ lại thì nhịp giờ che bớt quan hệ với nhiệt độ. Dòng 9: giờ trong ngày quyết định lượt thuê rất mạnh, nhưng r chỉ 0,394 vì quan hệ cong, có hai đỉnh.</a:t>
            </a:r>
          </a:p>
          <a:p/>
          <a:p>
            <a:r>
              <a:t>Dòng 10 đến 12 tính tự tương quan trễ 1 bằng tay: nhân độ lệch mỗi giờ với độ lệch giờ trước, chia tổng bình phương độ lệch. Ra 0,844: giờ này rất giống giờ trước.</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trước nói Pearson đo đường thẳng. Nhưng nhiều khi ta chỉ cần biết: x tăng thì y có tăng không, dù tăng theo đường cong.</a:t>
            </a:r>
          </a:p>
          <a:p/>
          <a:p>
            <a:r>
              <a:t>Spearman làm đúng việc đó. Nó xếp hạng từng biến, số nhỏ nhất là hạng 1, rồi tính Pearson trên các hạng. (chỉ vào hình trái) y bằng x bình phương, x từ 1 tới 5: y luôn tăng nhưng cong. Pearson chỉ 0,981, còn Spearman bằng đúng 1, vì hai dãy hạng trùng nhau.</a:t>
            </a:r>
          </a:p>
          <a:p/>
          <a:p>
            <a:r>
              <a:t>(chỉ vào hình phải) Nhưng với hình chữ U, x từ âm 2 tới 2, cả Pearson lẫn Spearman đều bằng 0, dù y hoàn toàn theo x. Nên Spearman giúp với đường cong cùng chiều, còn chữ U thì cần cách khác, lát nữa chúng ta sẽ gặp. Kendall cũng dùng hạng, đếm số cặp cùng chiều, và ít bị vài điểm lạ kéo đi khi mẫu nhỏ.</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Giờ kiểm hai hệ số bằng scipy. Dòng 4 và 5: y bằng x bình phương trên hai khoảng. Với x từ 1 tới 5, quan hệ cùng tăng; với x từ âm 2 tới 2, hình chữ U, và Pearson ra 0 dù y phụ thuộc hoàn toàn vào x. pearsonr và spearmanr đều trả kèm p-value; ta lấy phần tử đầu là hệ số.</a:t>
            </a:r>
          </a:p>
          <a:p/>
          <a:p>
            <a:r>
              <a:t>Dòng 7 đến 14 nhập hai trong bốn bộ Anscombe: bộ I thẳng có nhiễu, bộ IV là một cột x bằng 8 cộng một điểm x bằng 19. Dòng 15 và 16 tính hai hệ số cho từng bộ.</a:t>
            </a:r>
          </a:p>
          <a:p/>
          <a:p>
            <a:r>
              <a:t>Kết quả: bốn bộ cùng Pearson 0,82, nhưng Spearman trải từ 0,5 tới 0,99. Khi hai hệ số lệch nhau nhiều như vậy, đó là tín hiệu phải mở scatter ra xem.</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CPI và dân số Mỹ có R bình phương 0,95, hệ số t là 88,6. Nhìn con số thì tưởng hai thứ liên quan cực mạnh. Durbin–Watson giúp kiểm lại.</a:t>
            </a:r>
          </a:p>
          <a:p/>
          <a:p>
            <a:r>
              <a:t>Cách làm: hồi quy chuỗi này theo chuỗi kia, rồi nhìn phần dư, tức phần đường thẳng không giải thích được. Durbin–Watson so bước nhảy giữa hai phần dư liền nhau với độ lớn của phần dư. (chỉ vào hình trái) Phần dư đổi chậm, một tràng dương rồi một tràng âm: bước nhảy nhỏ, DW nhỏ, ví dụ 1, 1, 1, âm 1, âm 1, âm 1 cho DW khoảng 0,67. (chỉ vào hình phải) Phần dư đổi dấu liên tục thì DW lớn, khoảng 3,33.</a:t>
            </a:r>
          </a:p>
          <a:p/>
          <a:p>
            <a:r>
              <a:t>DW gần 2 là ổn. Còn CPI theo dân số có DW chỉ 0,0051, gần như bằng 0. Nghĩa là các con số R bình phương và t ở trên dựa trên một giả định sai, không tin được. R bình phương cao đi cùng DW gần 0 là dấu hiệu của tương quan giả.</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Ở Texas, trời lạnh người ta bật sưởi, trời nóng bật điều hoà. Tải điện tăng ở cả hai phía, nên một đường thẳng theo nhiệt độ không tả được.</a:t>
            </a:r>
          </a:p>
          <a:p/>
          <a:p>
            <a:r>
              <a:t>Ngành năng lượng xử lý bằng hai biến mới quanh một mốc 18,33 độ, tức 65 độ F. CDD là số độ nóng hơn mốc, HDD là số độ lạnh hơn mốc; phía còn lại bằng 0. (chỉ vào hình) Đường đỏ là CDD, đi lên khi nóng hơn mốc; đường xanh là HDD, đi lên khi lạnh hơn mốc. Ví dụ 25 độ thì CDD là 6,67, HDD bằng 0; 10 độ thì HDD là 8,33.</a:t>
            </a:r>
          </a:p>
          <a:p/>
          <a:p>
            <a:r>
              <a:t>Đưa cả hai vào một hồi quy: phía nóng có một độ dốc, phía lạnh có một độ dốc, thành hình chữ V. Không cần chia dữ liệu làm hai nhóm. Trên tải điện ERCOT, R bình phương tăng từ 0,379 khi dùng nhiệt độ thẳng lên 0,812 khi dùng CDD và HDD, tức giải thích gấp đôi.</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CDD và HDD cần ta biết trước hình dạng của quan hệ. Nếu chưa biết thì sao? Mutual information đo mọi kiểu phụ thuộc, không cần đoán hình dạng.</a:t>
            </a:r>
          </a:p>
          <a:p/>
          <a:p>
            <a:r>
              <a:t>Câu hỏi của MI là: biết x có giúp đoán y không, theo bất kỳ cách nào. Ví dụ nhỏ: ngày lạnh tải cao, ngày vừa tải thấp, ngày nóng tải cao, mỗi loại một phần ba số ngày. Pearson bằng 0, vì đây là chữ U. Nhưng biết loại ngày là biết chắc tải. MI so tỷ lệ thật của mỗi ô với tỷ lệ nếu hai biến độc lập. Ô "vừa, thấp" xảy ra một phần ba số ngày, gấp 3 lần mức độc lập là một phần chín, nên góp một phần ba nhân ln 3, khoảng 0,366. Cộng ba ô được 0,637 nat.</a:t>
            </a:r>
          </a:p>
          <a:p/>
          <a:p>
            <a:r>
              <a:t>Độc lập thì MI bằng 0. (chỉ vào hình) Với nhiệt độ và tải điện ERCOT, MI là 0,862 nat. MI nói có phụ thuộc, nhưng không nói hình dạng; muốn thấy hình dạng vẫn phải nhìn scatter như hình này.</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 của nhiệt độ và tải là 0,862. Con số đó lớn thật, hay chỉ do may? Ta kiểm bằng hoán vị, giống buổi 2: xáo y nhiều lần để phá quan hệ, rồi xem MI thật có vượt xa MI của dữ liệu xáo không.</a:t>
            </a:r>
          </a:p>
          <a:p/>
          <a:p>
            <a:r>
              <a:t>Nhưng với chuỗi thời gian có một chỗ cần cẩn thận. Hai chuỗi trơn không liên quan gì vẫn hay có những quãng dài tình cờ cùng cao, cùng thấp, nên MI của chúng không nhỏ. (chỉ vào hàng giữa) Xáo từng điểm thì chuỗi thành nhiễu lộn xộn, mất hết độ trơn, MI của dữ liệu xáo rất nhỏ, và dữ liệu thật trông như đặc biệt. (chỉ vào hàng dưới) Xáo cả khối thì trong mỗi khối chuỗi vẫn trơn như thật, so sánh mới công bằng.</a:t>
            </a:r>
          </a:p>
          <a:p/>
          <a:p>
            <a:r>
              <a:t>Thử trên hai chuỗi độc lập: xáo từng điểm cho p bằng 0,005, kết luận nhầm là có quan hệ; xáo theo khối cho p bằng 0,055, không bác bỏ. Với dữ liệu ERCOT, xáo theo khối một tuần, MI thật 0,862 vượt xa ngưỡng 0,124. Quan hệ có thật.</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 chuỗi có quan hệ rồi, câu hỏi tiếp: ai đi trước, trước bao nhiêu bước? Tương quan chéo r_k đo x lúc t giống y lúc t cộng k tới đâu.</a:t>
            </a:r>
          </a:p>
          <a:p/>
          <a:p>
            <a:r>
              <a:t>Nhìn hình trái, CCF thô giữa CDD, tức độ nóng, và tải điện: trục ngang là độ trễ k tính bằng giờ, CDD đi trước tải k giờ. Cao ở mọi trễ và lặp theo nhịp 24 giờ: 0,848 ở trễ 0, vẫn 0,828 ở trễ 24. Đó chỉ là nhịp ngày của chính CDD, chưa phải quan hệ.</a:t>
            </a:r>
          </a:p>
          <a:p/>
          <a:p>
            <a:r>
              <a:t>Hình phải, sau prewhitening: còn 0,205 ở trễ 0 và 0,061 ở trễ 24; đỉnh chỉ ở trễ 0 rồi tắt sau vài giờ. Kết luận: tải phản ứng với trời nóng gần như ngay trong giờ. Một lưu ý: quy ước hướng của hàm ccf khác nhau giữa các thư viện, nên thử trên chuỗi giả trước khi tin.</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Prewhitening làm thế nào? Bốn bước ở dưới hình.</a:t>
            </a:r>
          </a:p>
          <a:p/>
          <a:p>
            <a:r>
              <a:t>Bước 1: dựng mô hình AR cho x, ở đây AR(48), tức phần của CDD tự đoán được từ 48 giờ trước của chính nó. Bước 2: lọc x, trừ phần tự đoán được, còn lại phần "bất ngờ". Bước 3 là chỗ hay sai: lọc y bằng đúng bộ lọc của x, không dựng mô hình riêng cho y. Bước 4: tính tương quan chéo trên hai chuỗi đã lọc; đỉnh còn lại ở trễ nào thì x đi trước y chừng ấy bước.</a:t>
            </a:r>
          </a:p>
          <a:p/>
          <a:p>
            <a:r>
              <a:t>Nhìn lại hình: trước lọc, tương quan nhoè ra mọi trễ và lặp theo nhịp ngày; sau lọc chỉ còn đỉnh 0,205 ở trễ 0 và gần như tắt ở trễ 24, còn 0,061. Kết quả này là căn cứ để chọn độ trễ cho feature ở các buổi sau.</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gồm hai hàm tự viết. Dòng 4 đến 6, ccf_tu_viet: chuẩn hoá hai chuỗi, rồi nhân x lúc t với y lúc t cộng k và lấy trung bình; k dương nghĩa là x đi trước. Tự viết để biết chắc chiều, vì các thư viện quy ước khác nhau.</a:t>
            </a:r>
          </a:p>
          <a:p/>
          <a:p>
            <a:r>
              <a:t>Dòng 8: AutoReg khớp AR(48) cho x, lấy các hệ số phi, bỏ hệ số chặn. Dòng 9 đến 12: hàm loc trừ khỏi mỗi điểm phần dự đoán từ 48 điểm trước, và áp đúng bộ phi đó cho cả x lẫn y. Dòng 14 và 15 so CCF thô với CCF sau lọc trên CDD và tải.</a:t>
            </a:r>
          </a:p>
          <a:p/>
          <a:p>
            <a:r>
              <a:t>Kết quả: thô, trễ 24 là 0,828, cao gần bằng trễ 0, là nhịp ngày của CDD. Sau lọc chỉ còn đỉnh ở trễ 0, bằng 0,205, tắt sau vài giờ.</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Kể cả khi đo đúng, một hệ số cho cả năm có thể là trung bình của các chế độ ngược nhau. Tương quan trượt tính r trên từng cửa sổ thời gian rồi trượt dần cửa sổ đi.</a:t>
            </a:r>
          </a:p>
          <a:p/>
          <a:p>
            <a:r>
              <a:t>Nhìn hình: trục ngang là ngày trong 2024, trục dọc là tương quan nhiệt độ với tải; đường xám là cửa sổ 30 ngày, đường xanh đậm là 90 ngày, vạch cam đứt là con số cả năm. Cửa sổ 90 ngày tới 31/3 là âm 0,801: mùa đông, lạnh thì sưởi. Cửa sổ tới 14/10 là 0,968: mùa hè, nóng thì điều hoà. Còn cả năm 0,616, không đúng với mùa nào.</a:t>
            </a:r>
          </a:p>
          <a:p/>
          <a:p>
            <a:r>
              <a:t>Quan hệ đổi dấu theo mùa thì tách thành từng chế độ, hoặc dùng CDD và HDD. Lưu ý kỹ thuật: rolling 90D mặc định chỉ cần 1 điểm, nên vài giá trị đầu là cộng trừ 1 giả; đặt min_periods rõ ràng.</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Dòng 5 là ví dụ tay: ba ngày đông tương quan âm 1 hoàn toàn, ba ngày hè dương 1 hoàn toàn. Gộp sáu ngày lại chỉ ra r bằng 0,48, một con số lưng chừng không đúng với ngày nào.</a:t>
            </a:r>
          </a:p>
          <a:p/>
          <a:p>
            <a:r>
              <a:t>Dòng 7 gộp dữ liệu giờ thành trung bình ngày. Dòng 8 và 9 tính r trên cửa sổ trượt 90 và 30 ngày, với min_periods bằng đúng độ dài cửa sổ: chưa đủ điểm thì để trống, thay vì ra số giả. Dòng 10 tính con số cả năm để so.</a:t>
            </a:r>
          </a:p>
          <a:p/>
          <a:p>
            <a:r>
              <a:t>Kết quả: cửa sổ 90 ngày cho âm 0,801 ngày 31/3 và 0,968 ngày 14/10; cửa sổ 30 ngày xuống tới âm 0,971. Cả năm chỉ 0,616. Ví dụ tay và dữ liệu thật kể cùng một chuyện: gộp hai chế độ ngược dấu thì ra một số lưng chừng.</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Kiểm định Granger so sai số dự báo Y khi có và khi không có quá khứ của X. p nhỏ nghĩa là quá khứ X giúp dự báo Y, không phải X gây ra Y.</a:t>
            </a:r>
          </a:p>
          <a:p/>
          <a:p>
            <a:r>
              <a:t>Nhìn hình phải: tương quan chéo cao ở cả hai chiều, CDD trước tải và tải trước CDD. Granger cũng có ý nghĩa ở cả hai chiều, p nhỏ hơn 0,001. Nhưng "tải điện gây ra nhiệt độ" là vô lý. Hình trái giải thích: trục ngang là giờ UTC, trục dọc là giá trị chuẩn hoá; tải và nhiệt độ theo cùng một nhịp 24 giờ. Nhịp ngày là biến gây nhiễu, điều khiển cả hai.</a:t>
            </a:r>
          </a:p>
          <a:p/>
          <a:p>
            <a:r>
              <a:t>Ba điều kiện khi dùng Granger: chạy cả hai chiều; chuỗi phải dừng, sai phân trước; và hỏi thêm lúc ra dự báo ta có biết giá trị tương lai của X không.</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Dòng 5 và 6 là chỗ dễ sai nhất: grangercausalitytests hỏi cột 2 có giúp dự báo cột 1 không. Nên ta xếp kết quả vào cột 1, nguyên nhân nghi ngờ vào cột 2; đảo thứ tự là trả lời câu hỏi ngược. Dòng 7 lấy p nhỏ nhất của kiểm định F qua các độ trễ 1 tới 4.</a:t>
            </a:r>
          </a:p>
          <a:p/>
          <a:p>
            <a:r>
              <a:t>Dòng 10 và 11 hỏi cả hai chiều: CDD giúp dự báo tải không, và tải giúp dự báo CDD không. Dòng 13 và 14 đi tìm biến thứ ba: trung bình tải và nhiệt độ theo giờ trong ngày, chuẩn hoá để cùng thang, ra hai đường gần trùng nhau.</a:t>
            </a:r>
          </a:p>
          <a:p/>
          <a:p>
            <a:r>
              <a:t>Kết quả: cả hai chiều p gần 0, kể cả "tải giúp dự báo nhiệt độ". Vô lý, vì cả hai cùng chạy theo nhịp ngày. Granger có ý nghĩa hai chiều là tín hiệu đi tìm biến gây nhiễu.</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48.000 chuỗi thì không ai xem từng hình. Chuỗi nào khó, chuỗi nào giống nhau?</a:t>
            </a:r>
          </a:p>
          <a:p/>
          <a:p>
            <a:r>
              <a:t>Ta tóm mỗi chuỗi thành vài con số gọi là đặc trưng, như CV, r1, entropy. Mỗi chuỗi thành một hàng số, cả tập thành một bảng.</a:t>
            </a:r>
          </a:p>
          <a:p/>
          <a:p>
            <a:r>
              <a:t>Đặc trưng tốt phải không đổi theo đơn vị. Ví dụ chuỗi a là 2, 4, 6, 4 lặp lại, và chuỗi 1.000 lần a. Trung bình là 4 và 4.000, đổi theo đơn vị. CV là 1,51 chia 4 và 1.512 chia 4.000, cùng bằng 0,378. Nhân chuỗi với 1.000 mà đặc trưng đổi theo thì nó đang đo độ lớn, không đo hình dạng. Trong 20 đặc trưng của buổi, chỉ trung bình và độ lệch chuẩn đổi.</a:t>
            </a:r>
          </a:p>
          <a:p/>
          <a:p>
            <a:r>
              <a:t>(chỉ vào hình) Ô trái, hai chuỗi cùng hình nhưng một chuỗi lớn gấp 100 lần. Ô phải, sau z-score hai đường trùng khít. Code chạy STL trên chuỗi đã z-score để nhóm đặc trưng xu hướng cũng không đổi.</a:t>
            </a:r>
          </a:p>
          <a:p/>
          <a:p>
            <a:r>
              <a:t>Và tính mọi chuỗi trên cùng độ dài.</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Hàm dac_trung biến một chuỗi thành một hàng số; ở đây là 6 trong 20 đặc trưng. Dòng 7: chuẩn hoá z-score trước khi chạy STL, để độ mạnh mùa vụ không tính bằng USD. Dòng 8 đến 10: gắn lịch tháng rồi tách xu hướng, mùa vụ, phần dư bằng STL. Dòng 11 đến 15: mỗi đặc trưng một con số: trung bình, hệ số biến thiên, hệ số lệch và độ nhọn để đo đuôi, độ mạnh mùa vụ tính như F_S, tỷ lệ số 0.</a:t>
            </a:r>
          </a:p>
          <a:p/>
          <a:p>
            <a:r>
              <a:t>Dòng 16 là chi tiết trung thực: chỉ tính trên phần học, bỏ 18 tháng dùng để chấm, để đặc trưng không nhìn thấy tương lai.</a:t>
            </a:r>
          </a:p>
          <a:p/>
          <a:p>
            <a:r>
              <a:t>Kết quả: nhân mọi chuỗi với 1.000 thì chỉ trung bình và độ lệch chuẩn đổi, 18 đặc trưng còn lại giữ nguyên. Bảng này còn cho thấy 1 chuỗi hằng và 50 chuỗi bậc thang, những chuỗi hỏng cần xem riêng.</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Giờ nhìn chuỗi theo nhịp lặp thay vì theo thời gian. Tần số là số vòng lặp mỗi bước, bằng 1 chia chu kỳ.</a:t>
            </a:r>
          </a:p>
          <a:p/>
          <a:p>
            <a:r>
              <a:t>Nhìn hình: sóng trên lặp mỗi 12 tháng, tần số 1 chia 12, khoảng 0,083 vòng mỗi tháng. Sóng dưới lặp mỗi 2 tháng, tần số 0,5, nhanh nhất mà dữ liệu tháng thể hiện được.</a:t>
            </a:r>
          </a:p>
          <a:p/>
          <a:p>
            <a:r>
              <a:t>Phổ, hay periodogram, cho biết mỗi tần số góp bao nhiêu phần dao động, gọi là năng lượng. Tần số thấp là dao động chậm như xu hướng, mùa năm; tần số giữa là nhịp ngày, nhịp tuần; tần số cao thường là nhiễu. Ví dụ ở buổi 12: phổ điện thiết bị có đỉnh ở một vòng mỗi ngày, và 17,8% năng lượng nằm ở dao động nhanh hơn một giờ. Phổ cho ta biết nhịp nào là tín hiệu cần giữ, nhịp nào là nhiễu có thể lọc.</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Chuỗi này có nhịp đều để khai thác, hay gần như ngẫu nhiên?</a:t>
            </a:r>
          </a:p>
          <a:p/>
          <a:p>
            <a:r>
              <a:t>Phổ cho biết mỗi tần số góp bao nhiêu năng lượng. Ta đổi phổ thành các phần cộng lại bằng 1, như chia một chiếc bánh. Spectral entropy đo bánh chia đều tới đâu: 0 là dồn vào một đĩa, 1 là chia đều. Công thức cộng trừ p nhân log p của từng phần, rồi chia cho log số tần số để kết quả nằm từ 0 tới 1. Ví dụ phổ bốn tần số: dồn cả vào một tần số thì entropy 0, hai nhịp chia đôi thì 0,5, mỗi tần số một phần tư thì 1.</a:t>
            </a:r>
          </a:p>
          <a:p/>
          <a:p>
            <a:r>
              <a:t>(chỉ vào hàng dưới) Chuỗi mùa vụ 12 tháng dồn gần hết vào một cột, entropy 0,33. Nhiễu thuần trải đều, entropy 0,94. Trên 4.000 chuỗi M4, trung vị là 0,462.</a:t>
            </a:r>
          </a:p>
          <a:p/>
          <a:p>
            <a:r>
              <a:t>Nhờ vậy ta xếp hạng độ khó hàng nghìn chuỗi mà chưa chạy mô hình nào.</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Tính spectral entropy chỉ trong bốn dòng. Dòng 5: signal.welch ước lượng phổ bằng cách chia chuỗi thành nhiều đoạn chồng nhau rồi lấy trung bình phổ của các đoạn. Dòng 6 bỏ tần số 0, vì đó chỉ là mức trung bình. Dòng 7 chia cho tổng để các phần năng lượng cộng lại bằng 1. Dòng 8 là entropy của các phần đó, chia cho ln của số tần số để luôn nằm trong 0 tới 1.</a:t>
            </a:r>
          </a:p>
          <a:p/>
          <a:p>
            <a:r>
              <a:t>Dòng 11 đến 13 so chuỗi sin 12 tháng có nhiễu nhỏ với nhiễu thuần: 0,33 và 0,94, đúng hình vừa xem. Dòng 14 và 15 xem phân bố trên 4.000 chuỗi M4: trung vị 0,462, và một phần năm số chuỗi từ 0,666 trở lên. Nhóm entropy cao đó giống nhiễu, là nhóm khoanh lại để xét có đáng làm mô hình hay chỉ cần baseline.</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Muốn biết entropy có báo trước độ khó không, trước hết phải đo độ khó cho đúng.</a:t>
            </a:r>
          </a:p>
          <a:p/>
          <a:p>
            <a:r>
              <a:t>Nhìn hình: trục ngang ở cả hai ô là entropy, đường cam nối trung vị của năm nhóm. Ô trái là sMAPE: đường cam đi lên, nhóm entropy cao nhất có sai số trung vị gấp đôi các nhóm còn lại. Ô phải là MASE: mọi nhóm nằm ngang quanh vạch 1.</a:t>
            </a:r>
          </a:p>
          <a:p/>
          <a:p>
            <a:r>
              <a:t>Vì sao? MASE chia sai số cho sai số seasonal naive của chính chuỗi đó. Chuỗi khó thì mẫu số cũng lớn, nên độ khó tự triệt tiêu. Tương quan với entropy: sMAPE cộng 0,245, MASE chia seasonal naive chỉ âm 0,048, còn chia naive một bước thì ra âm 0,381. (dừng) Cùng dữ liệu, chỉ đổi mẫu số mà kết luận đi từ dương qua 0 tới âm.</a:t>
            </a:r>
          </a:p>
          <a:p/>
          <a:p>
            <a:r>
              <a:t>Nên nhớ: MASE để so mô hình trên cùng một chuỗi, sMAPE để xếp độ khó giữa các chuỗi dương.</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Giờ xem bằng code chỉ đổi mẫu số thì kết luận đổi ra sao.</a:t>
            </a:r>
          </a:p>
          <a:p/>
          <a:p>
            <a:r>
              <a:t>Dòng 5 đến 7 là sMAPE: chia sai số cho mức của chuỗi, có np.where để khỏi chia cho 0. Dòng 8 đến 10 là MASE: chia cho sai số seasonal naive tính trên phần học. Dòng 13 đến 14 giữ 18 tháng cuối để chấm, và dự báo bằng cách lặp lại năm cuối; hàm np.resize làm việc lặp 12 tháng thành 18 tháng. Dòng 16 tính tương quan Pearson giữa entropy và độ khó.</a:t>
            </a:r>
          </a:p>
          <a:p/>
          <a:p>
            <a:r>
              <a:t>Kết quả: ví dụ tay với hai chuỗi, MASE nói B dễ hơn A, 0,92 so với 1,00, còn sMAPE nói B khó hơn hẳn, 76,2% so với 6,7%. Trên cả tập, tương quan với entropy là cộng 0,245 theo sMAPE và âm 0,048 theo MASE. Hai thước đo trả lời hai câu hỏi khác nhau.</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 độ khó rồi, giờ chúng ta muốn nhìn cả 4.000 chuỗi M4 trên một hình.</a:t>
            </a:r>
          </a:p>
          <a:p/>
          <a:p>
            <a:r>
              <a:t>Chúng ta giữ 15 đặc trưng không phụ thuộc đơn vị, chuẩn hoá từng cột, rồi dùng PCA, phép chiếu giữ nhiều khác biệt nhất, để nén về hai trục. Mỗi chấm là một chuỗi. Trục ngang PC1 giữ 41% khác biệt, là độ lởm chởm: phải là chuỗi lởm chởm, trái là chuỗi trơn. Trục dọc PC2 thêm 15%, là mức xu hướng và mùa vụ.</a:t>
            </a:r>
          </a:p>
          <a:p/>
          <a:p>
            <a:r>
              <a:t>Ba ô cùng vị trí chấm, chỉ khác màu: entropy, F_S và sMAPE. (chỉ vào phía phải) Vùng phải sáng ở ô entropy cũng sáng ở ô sMAPE và tối ở ô F_S: chuỗi lởm chởm, mùa vụ yếu là chuỗi khó. Quy tắc thực hành: entropy từ 0,666 trở lên và F_S dưới 0,4 thì chỉ cần baseline. Còn mấy chấm lẻ ở góc trên phải là chuỗi lạ, phải xem tận mắt.</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làm bản đồ và tách nhóm dùng baseline.</a:t>
            </a:r>
          </a:p>
          <a:p/>
          <a:p>
            <a:r>
              <a:t>Dòng 5 đến 7 chọn cột: chỉ giữ đặc trưng đủ số, bỏ hai cột quy mô, và bỏ cột sai số. Bỏ cột sai số là quan trọng: để sai số lẫn vào bản đồ thì bản đồ tự "biết" chuỗi nào khó, đó là rò rỉ. Dòng 8 dùng StandardScaler để cột có số to không lấn át. Dòng 9 đến 11 nén về hai trục, explained_variance_ratio_ cho biết mỗi trục giữ bao nhiêu phần trăm. Dòng 13 đến 14 gắn nhãn "dùng baseline" theo quy tắc entropy và F_S, dòng 15 kiểm lại bằng sMAPE thật.</a:t>
            </a:r>
          </a:p>
          <a:p/>
          <a:p>
            <a:r>
              <a:t>Kết quả: PC1 giữ 41%, PC2 15%. 137 chuỗi dùng baseline có sMAPE trung vị 18,11%, gấp ba nhóm 3.863 chuỗi còn lại, 6,05%. Quy tắc tách đúng nhóm khó.</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PCA nhóm theo đặc trưng. Còn muốn gom các chuỗi cùng hình dạng thì dùng DTW.</a:t>
            </a:r>
          </a:p>
          <a:p/>
          <a:p>
            <a:r>
              <a:t>DTW đo hai chuỗi giống hình dạng tới đâu, cho phép lệch thời gian đôi chút, ví dụ đỉnh Tết năm sớm năm muộn. Nhưng DTW so giá trị, nên phải chuẩn hoá z-score từng chuỗi trước.</a:t>
            </a:r>
          </a:p>
          <a:p/>
          <a:p>
            <a:r>
              <a:t>Nhìn hình: mỗi cột là một cụm. Hàng trên phân cụm sau chuẩn hoá, ra bốn hình dạng: giảm, tăng đều, bướu giữa, dao động quanh mức. Hàng dưới không chuẩn hoá: các đường trong mỗi ô na ná nhau, chỉ có thang trục dọc tăng dần từ trái sang phải. Mức trung vị bốn cụm là 1.585, 3.310, 6.835, 9.832, tức là đang xếp theo độ lớn, việc một phép sort cũng làm được.</a:t>
            </a:r>
          </a:p>
          <a:p/>
          <a:p>
            <a:r>
              <a:t>Kiểm nhanh: mức trung vị các cụm tăng đều thì bạn đã quên chuẩn hoá.</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phân cụm DTW, có công tắc chuẩn hoá để so hai trường hợp.</a:t>
            </a:r>
          </a:p>
          <a:p/>
          <a:p>
            <a:r>
              <a:t>Dòng 7 đến 8 là hàm z: trừ trung bình, chia độ lệch chuẩn, bỏ độ lớn chỉ giữ hình dạng. Dòng 10 chọn có chuẩn hoá hay không. Dòng 11 tính khoảng cách DTW giữa mọi cặp chuỗi, cửa sổ 10 nghĩa là cho lệch tối đa 10 bước. Dòng 12 đến 13 sửa ma trận: thư viện chỉ điền một nửa, nên đổi vô cực thành 0 rồi cộng với chuyển vị cho đối xứng. Dòng 14 đến 16: linkage theo Ward gộp dần hai nhóm gần nhau nhất, fcluster cắt cây ra đúng 4 cụm.</a:t>
            </a:r>
          </a:p>
          <a:p/>
          <a:p>
            <a:r>
              <a:t>Kết quả: không chuẩn hoá thì mức trung vị các cụm tăng đều từ 1.585 tới 9.832, chỉ là xếp theo độ lớn. Chuẩn hoá thì bốn cụm là bốn hình dạng.</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Trong bán lẻ, cách phân loại mã hàng quen thuộc là ABC–XYZ. Nó trả lời hai câu hỏi khác nhau, và cả hai đều không phải "chuỗi nào khó".</a:t>
            </a:r>
          </a:p>
          <a:p/>
          <a:p>
            <a:r>
              <a:t>ABC xếp theo doanh thu. Nhìn ô phải, dòng A: một phần năm số mã mang 74,7% doanh thu. Đó là nơi dự báo sai đắt nhất, đáng làm mô hình kỹ nhất. XYZ xếp theo CV, độ lệch chuẩn chia trung bình, tức chỉ đo dao động.</a:t>
            </a:r>
          </a:p>
          <a:p/>
          <a:p>
            <a:r>
              <a:t>Dao động không phải độ khó. Chuỗi 10, 30, 10, 30 có CV 0,58, khá cao, nhưng mùa vụ đều đặn nên rất dễ đoán. Muốn đo độ khó thì dùng sai số thật của một baseline.</a:t>
            </a:r>
          </a:p>
          <a:p/>
          <a:p>
            <a:r>
              <a:t>Cách nhớ: ABC hỏi cái nào quan trọng, CV hỏi cái nào dao động, sai số baseline mới hỏi cái nào khó.</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dựng bảng ABC–XYZ rồi kiểm CV có đo được độ khó không.</a:t>
            </a:r>
          </a:p>
          <a:p/>
          <a:p>
            <a:r>
              <a:t>Dòng 4 đến 6 tổng hợp từng mã hàng bằng groupby và agg, chỉ giữ mã có đủ 12 tháng. Dòng 7 tính CV. Dòng 8 đến 9 xếp theo doanh thu: 20% mã đầu là A, 30% tiếp là B, còn lại C. Dòng 10 đến 11 chia X, Y, Z theo CV, rồi unstack thành bảng 3 nhân 3. Dòng 13 đến 14 đối chiếu CV với sMAPE thật trên 4.000 chuỗi M4 bằng tương quan Spearman.</a:t>
            </a:r>
          </a:p>
          <a:p/>
          <a:p>
            <a:r>
              <a:t>Kết quả: 2.773 mã hàng, nhóm A mang 74,7% doanh thu, ô CZ đông gần gấp bốn ô AX. Trên M4, Spearman giữa CV và sMAPE là 0,765, khá cao, nhưng CV vẫn xếp sai đúng loại chuỗi mùa vụ đều. Nên dùng CV để sàng sơ bộ, không thay được sai số baseline.</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Chuyển sang buổi 13: tạo feature. Feature là một cột đầu vào của mô hình, và chỉ có một quy tắc: mỗi feature phải trả lời được "biết trước bao lâu".</a:t>
            </a:r>
          </a:p>
          <a:p/>
          <a:p>
            <a:r>
              <a:t>Có ba nhóm hợp lệ. Lịch, như thứ, giờ, ngày lễ, biết mãi mãi. Kế hoạch, như khuyến mãi đã công bố, biết từ lúc công bố. Quá khứ của chuỗi thì chỉ biết tới thời điểm ra dự báo, nên phải cách mốc cần dự báo ít nhất h bước.</a:t>
            </a:r>
          </a:p>
          <a:p/>
          <a:p>
            <a:r>
              <a:t>Nhìn hình: hai thanh là hai nhóm. 41 feature của buổi 13 có 23 cột lịch và 18 cột lấy từ quá khứ, không cột nào nằm ngoài. Feature nào không xếp được vào ba nhóm là nghi rò rỉ.</a:t>
            </a:r>
          </a:p>
          <a:p/>
          <a:p>
            <a:r>
              <a:t>Bảng "biết trước bao lâu" nộp kèm mô hình, để người xem lại bắt được rò rỉ mà không cần đọc code.</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đặt câu hỏi "lúc ra dự báo tôi đã có nó chưa" cho từng feature.</a:t>
            </a:r>
          </a:p>
          <a:p/>
          <a:p>
            <a:r>
              <a:t>Dòng 3 đến 4: tối thứ Hai chúng ta dự báo doanh thu thứ Ba, tức h bằng 1. Dòng 5: thứ của ngày mai là lịch, biết từ trước. Dòng 6 đến 7 so hai cách lấy trung bình: y cắt tới t chỉ gồm các ngày đã biết, còn y.mean() gồm cả những ngày chưa xảy ra. Dòng 9 đến 16 là hàm bang_biet_truoc, xếp feature vào nhóm theo tên cột; đuôi _that là giá trị thật, bị loại.</a:t>
            </a:r>
          </a:p>
          <a:p/>
          <a:p>
            <a:r>
              <a:t>Kết quả: trung bình 189 ngày đã biết là 27.701, còn trung bình cả chuỗi là 33.454, vì gồm 550 ngày chưa xảy ra. Đó là rò rỉ bằng một dòng code. Và lưu ý: cột z_score lọt vào nhóm "vô hạn" chỉ vì tên không theo quy ước. Tên sai thì bảng sai, nên đặt tên cột cẩn thận.</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Lag nhìn về một điểm quá khứ, ví dụ lag_7 của thứ Hai là giá trị thứ Hai tuần trước. Rolling lấy trung bình một vùng gần đây. Khi dự báo trước h bước thì phải shift h trước, rolling sau.</a:t>
            </a:r>
          </a:p>
          <a:p/>
          <a:p>
            <a:r>
              <a:t>Nhìn bảng: h bằng 3, chuỗi 10, 20 tới 60. Dòng xanh là đúng thứ tự: shift 3 rồi rolling 2 cho ngày 6 giá trị 25, là trung bình ngày 2 và 3, đã biết từ ngày 3. Dòng đỏ là quên shift: rolling 2 cho ngày 6 giá trị 55, trung bình ngày 5 và 6. (dừng) Lúc ra dự báo, tức ngày 3, chúng ta chưa có hai ngày đó. Đó là rò rỉ.</a:t>
            </a:r>
          </a:p>
          <a:p/>
          <a:p>
            <a:r>
              <a:t>Lỗi này không báo lỗi gì cả, chỉ làm backtest đẹp giả tạo.</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cho thấy bằng số vì sao phải shift trước, rồi gói thành hàm tạo feature.</a:t>
            </a:r>
          </a:p>
          <a:p/>
          <a:p>
            <a:r>
              <a:t>Dòng 2 là sáu ngày doanh thu, dự báo trước 1 ngày. Dòng 3 đến 5 là ba cách tính trung bình 3 ngày: có tâm thì nhìn cả ngày sau, không shift thì chứa chính ngày t, chỉ dòng 5 là đúng. Hàm feature_tre ở dưới: dòng 9 lùi chuỗi tam bước trước khi làm gì khác; dòng 10 đến 11, lag nhỏ hơn tầm dự báo bị nâng lên bằng tam; dòng 12 đến 14, mọi rolling tính trên chuỗi đã lùi.</a:t>
            </a:r>
          </a:p>
          <a:p/>
          <a:p>
            <a:r>
              <a:t>Kết quả ngày 4: có tâm ra 14, không shift ra 11,33, shift đúng ra 10. Phép thử: cắt bớt dữ liệu tương lai rồi tính lại feature. Bản shift lệch 0, bản có tâm lệch tới 5.113. Feature đổi khi cắt tương lai tức là feature đang nhìn tương lai.</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Feature lịch biết trước mãi mãi, nhưng phải đưa vào theo cách mô hình hiểu được.</a:t>
            </a:r>
          </a:p>
          <a:p/>
          <a:p>
            <a:r>
              <a:t>Ghi thứ là số 1 tới 7 thì Chủ nhật cách thứ Hai rất xa, dù thực tế chúng liền nhau. Một cặp sin, cos đặt các thứ lên vòng tròn, Chủ nhật đứng cạnh thứ Hai. Mùa vụ dài 365 ngày thì dùng vài cặp Fourier thay vì 365 biến giả.</a:t>
            </a:r>
          </a:p>
          <a:p/>
          <a:p>
            <a:r>
              <a:t>Tết âm lịch khó hơn. Nhìn ô trái: chấm xanh là Tết âm lịch, xê dịch gần một tháng giữa các năm dương. Nên không ghi cứng ngày mà tính số ngày tới Tết, theo múi giờ Việt Nam; thư viện lịch Trung Quốc dùng UTC+8 có năm lệch một ngày. Ô phải xếp theo số ngày tới Tết: lượt xem Wikipedia còn 0,62 lần mức thường vào mùng 1.</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mã hoá lịch.</a:t>
            </a:r>
          </a:p>
          <a:p/>
          <a:p>
            <a:r>
              <a:t>Dòng 3 đến 5 đặt thứ Bảy, Chủ nhật, thứ Hai lên vòng tròn bằng sin và cos của 2 pi nhân số thứ chia 7. Dòng 6 dùng np.linalg.norm đo khoảng cách Chủ nhật tới thứ Hai. Hàm feature_fourier: dòng 9 đổi ngày thành số ngày kể từ đầu chuỗi; dòng 11 đến 13, mỗi i thêm một cặp sóng lặp i lần mỗi năm, K bằng 3 cho 6 cột. Dòng 16 đếm số ngày tới mùng 1 Tết gần nhất theo lịch âm.</a:t>
            </a:r>
          </a:p>
          <a:p/>
          <a:p>
            <a:r>
              <a:t>Kết quả: Chủ nhật cách thứ Hai 0,868, đúng bằng khoảng cách thứ Bảy tới Chủ nhật. Thêm 5 feature Tết: cả năm chỉ tốt hơn 1,9%, nhưng quanh Tết tốt hơn 16,9%. Bài học: báo cải thiện ở đúng vùng feature có tác dụng, báo trung bình cả năm sẽ loại oan nó.</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Chuẩn hoá cả tập dữ liệu rồi mới chia học và kiểm. Tương lai lọt vào ở đâu?</a:t>
            </a:r>
          </a:p>
          <a:p/>
          <a:p>
            <a:r>
              <a:t>Lấy sáu ngày doanh thu 10, 12, 8, 14, 20, 16. Trung bình cả sáu ngày là 13,33, đã chứa hai ngày cuối. Vậy khi ngày 1 được chuẩn hoá và biết mình thấp hơn trung bình, nó đã biết các ngày sau cao. Target encoding cũng vậy: trung bình nhóm A là 12,67, tính gộp cả số 20 của ngày 5, rồi gán ngược cho ngày 1.</a:t>
            </a:r>
          </a:p>
          <a:p/>
          <a:p>
            <a:r>
              <a:t>Kiểu thứ ba các bạn đã gặp ở buổi 10. (chỉ vào hình) Nội suy hai phía điền ô trống bằng cách nhìn sang số bên phải mốc cắt, còn ffill chỉ nhìn quá khứ. Rò rỉ này chỉ thấy ở mép lỗ, những ngày không thiếu thì hai cách giống hệt nhau.</a:t>
            </a:r>
          </a:p>
          <a:p/>
          <a:p>
            <a:r>
              <a:t>Cách sửa chung: tính mọi tham số, trung bình, độ lệch chuẩn hay trung bình nhóm, chỉ trên phần học hoặc từ những ngày trước t.</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41 feature, không ai đọc hết từng dòng code. Máy kiểm rò rỉ giúp được không? Được, bằng hai bài kiểm.</a:t>
            </a:r>
          </a:p>
          <a:p/>
          <a:p>
            <a:r>
              <a:t>Bài thứ nhất, cắt tương lai: tính feature trên dữ liệu đầy đủ, cắt tại một mốc, tính lại, so mọi dòng trước mốc. Cắt sau ngày thứ tư thì cột trung bình có tâm đổi từ 14 thành NaN, còn cột đã shift giữ nguyên.</a:t>
            </a:r>
          </a:p>
          <a:p/>
          <a:p>
            <a:r>
              <a:t>Nhưng cắt ở đâu thì lag_1 vẫn y như nhau, nên cần bài thứ hai là nhiễu mục tiêu. (chỉ vào hình) Ô trên, y bị cộng nhiễu từ vạch đứt. Ô dưới, mỗi vạch là một dòng có feature đổi. Vùng xanh là các dòng mà lúc ra dự báo, tức 3 bước trước, nhiễu chưa xảy ra. lag_1 đổi ngay trong vùng xanh nên bị bắt, lag_3 chỉ đổi sau vùng đó. Với tầm dự báo 24 giờ, lag_1 đổi ở 23 dòng ngay sau mốc.</a:t>
            </a:r>
          </a:p>
          <a:p/>
          <a:p>
            <a:r>
              <a:t>Bài kiểm xanh chỉ nói không thấy rò rỉ ở những mốc đã cắt.</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Tối nay dự báo tải điện trưa mai. Nhiệt độ trưa mai trong tay ta là số nào? Là bản dự báo, không phải số thật.</a:t>
            </a:r>
          </a:p>
          <a:p/>
          <a:p>
            <a:r>
              <a:t>Nhiệt độ ở đây là biến ngoại sinh, biến ngoài chuỗi dùng làm feature. Trưa mai thật 35 °C, nhưng tối nay ta chỉ có bản dự báo 33 °C, nên feature phải là 33. Dùng bản có trong tay lúc dự báo gọi là ex-ante. Dùng số thật biết về sau là ex-post, và trong backtest đó là rò rỉ.</a:t>
            </a:r>
          </a:p>
          <a:p/>
          <a:p>
            <a:r>
              <a:t>(chỉ vào hình) Ô trái là nhiệt độ Dallas nửa đầu tháng 7 năm 2024: đường đen là thật, xanh là dự báo trước 1 ngày, cam là trước 3 ngày. Ô phải là phân phối sai số. Dự báo trước 1 ngày sai trung bình 1,32 °C, trước 3 ngày 2,07 °C.</a:t>
            </a:r>
          </a:p>
          <a:p/>
          <a:p>
            <a:r>
              <a:t>Với từng biến, các bạn hỏi: lúc ra dự báo, con số này đã có chưa?</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Hết phần A về khái niệm. Phần B là các vấn đề dữ liệu, đi theo thứ tự buổi 3 tới 13.</a:t>
            </a:r>
          </a:p>
          <a:p/>
          <a:p>
            <a:r>
              <a:t>Mỗi slide vấn đề có ba thẻ: dấu hiệu, tức thấy gì thì nên nghi; kiểm bằng, tức con số hay lệnh nào xác nhận nghi ngờ; và cách sửa. Khi gặp dữ liệu mới, các bạn có thể dùng đúng ba câu hỏi này làm danh sách kiểm.</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Trước khi đi từng vấn đề, nhìn bức tranh chung.</a:t>
            </a:r>
          </a:p>
          <a:p/>
          <a:p>
            <a:r>
              <a:t>Cách đọc: mỗi dòng là một loại vấn đề, mỗi cột là một buổi, chấm cam là buổi dạy cách nhận ra và sửa nó. Đọc theo dòng để biết một vấn đề quay lại ở đâu.</a:t>
            </a:r>
          </a:p>
          <a:p/>
          <a:p>
            <a:r>
              <a:t>Dòng tô nền là rò rỉ tương lai, dùng thông tin chưa có lúc dự báo: gặp ở 8 buổi, nhiều nhất bảng. Mỗi lần một dạng khác: sai số ảo ở buổi 1, lambda Box-Cox tính trên cả chuỗi ở buổi 5, điền thiếu trước khi chia tập ở buổi 10, feature không shift ở buổi 13, chia dữ liệu ngẫu nhiên ở buổi 15. Dòng thứ hai đáng nhớ là thiếu dữ liệu, gặp ở 5 buổi.</a:t>
            </a:r>
          </a:p>
          <a:p/>
          <a:p>
            <a:r>
              <a:t>Nghĩa là: đừng coi rò rỉ là một bước kiểm một lần, nó có mặt ở gần như mọi khâu.</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Vấn đề đầu tiên, buổi 3: múi giờ. Khi làm dữ liệu, lưu tâm múi giờ trước tiên.</a:t>
            </a:r>
          </a:p>
          <a:p/>
          <a:p>
            <a:r>
              <a:t>Dấu hiệu: nhìn hình trái, đếm chuyến taxi New York theo giờ địa phương naive. Rạng sáng Chủ nhật 10/3, giờ 02:00 có 0 chuyến, vì giờ đó không tồn tại khi vặn đồng hồ. Ngày 3/11, giờ 01:00 có 9.869 chuyến, gần gấp đôi cùng giờ tuần sau, vì hai giờ thật bị gộp làm một. Hình phải: ghép taxi giờ địa phương với thời tiết giờ UTC thì New York "nóng nhất lúc 20h", đường cam trượt phải khoảng 4 giờ.</a:t>
            </a:r>
          </a:p>
          <a:p/>
          <a:p>
            <a:r>
              <a:t>Kiểm bằng: in 00:00 tới 05:00 của ngày đổi giờ, và xem giờ nóng nhất có rơi vào buổi chiều không.</a:t>
            </a:r>
          </a:p>
          <a:p/>
          <a:p>
            <a:r>
              <a:t>Sửa: gắn múi giờ, đổi sang UTC, rồi mới gộp và ghép. Bỏ qua thì ghép lệch không báo lỗi mà lặng lẽ dời dữ liệu.</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tái hiện lỗi: đếm thẳng trên giờ không có múi giờ.</a:t>
            </a:r>
          </a:p>
          <a:p/>
          <a:p>
            <a:r>
              <a:t>Dòng 3 đến 5 đọc giờ đón và giờ trả của tháng 3 và tháng 11, chỉ lấy hai cột cho nhanh. Dòng 7 đến 8 là hàm dem_naive: đặt giờ đón làm chỉ mục, resample theo giờ rồi đếm số dòng. Dòng 10 đến 11 xem quanh hai ngày vặn đồng hồ. Dòng 12 lấy cùng giờ tuần sau làm mốc so. Dòng 14 tìm chuyến có giờ trả trước giờ đón.</a:t>
            </a:r>
          </a:p>
          <a:p/>
          <a:p>
            <a:r>
              <a:t>Kết quả: giờ 02:00 ngày 10/3 có 0 chuyến; giờ 01:00 ngày 3/11 có 9.869 chuyến, trong khi tuần sau chỉ 5.318. Còn chuyến có thời lượng âm, khách xuống xe trước khi lên, là dấu hiệu trừ thẳng hai giờ naive qua lúc vặn đồng hồ. Code không báo lỗi nào, chỉ có số là sai.</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Giờ là cách sửa: đưa cả hai bảng về UTC rồi mới ghép.</a:t>
            </a:r>
          </a:p>
          <a:p/>
          <a:p>
            <a:r>
              <a:t>Dòng 5: thời tiết vốn là UTC, chỉ cần ghi rõ bằng tz_localize. Dòng 6 đến 7: taxi gắn giờ New York rồi đổi sang UTC; giờ không tồn tại hay giờ lặp thì ghi NaT thay vì đoán. Dòng 8 đến 9 đếm chuyến mỗi giờ UTC rồi ghép với thời tiết. Dòng 10 đến 11 là phép thử: giờ nóng nhất phải là buổi chiều. Dòng 13 đến 16: khi bảng phải thưa, dùng merge_asof, mặc định lấy dòng gần nhất ở trước, tức chỉ nhìn quá khứ.</a:t>
            </a:r>
          </a:p>
          <a:p/>
          <a:p>
            <a:r>
              <a:t>Kết quả: giờ nóng nhất, ghép sai ra 20h, ghép đúng ra 16h. Tương quan mưa và số chuyến đổi dấu: ghép sai âm 0,100, ghép đúng cộng 0,136. merge_asof lấy giá 9 lúc 09:30, không lấy giá 10 của tương lai.</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Buổi 4: gộp dữ liệu. Nhìn ba ô, cùng dữ liệu thuê xe ở ba mức gộp.</a:t>
            </a:r>
          </a:p>
          <a:p/>
          <a:p>
            <a:r>
              <a:t>Ô trên theo giờ, 17.544 điểm, thành một khối màu, không đọc được gì. Ô giữa theo ngày: thấy dao động trong tuần và những ngày rơi sát 0. Ô dưới theo tháng: mượt, đẹp, thấy xu hướng và mùa vụ năm, nhưng đã gộp mất mùa vụ ngày, tuần và các ngày bất thường.</a:t>
            </a:r>
          </a:p>
          <a:p/>
          <a:p>
            <a:r>
              <a:t>Dấu hiệu: kết luận "không có mùa vụ tuần" từ một hình như ô dưới; hoặc giờ thiếu hiện thành số 0. Kiểm bằng heatmap giờ nhân thứ và ACF tới trễ 168, và đếm NaN trên lưới giờ đầy đủ. Sửa: vẽ ở nhiều mức gộp. Khi cộng, dùng sum với min_count bằng 1, vì resample().sum() mặc định biến giờ thiếu thành 0 và kéo tổng xuống.</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này cho thấy hai điều: làm trơn xoá mất ngày bất thường, và thang log đo tăng theo phần trăm, như slide khái niệm đã nói.</a:t>
            </a:r>
          </a:p>
          <a:p/>
          <a:p>
            <a:r>
              <a:t>Dòng 4 cộng lượt thuê mỗi ngày, có min_count bằng 1 để ngày thiếu vẫn là NaN. Dòng 5 lấy trung bình trượt 7 ngày có tâm: 3 ngày trước, 3 ngày sau. Dòng 6 so ngày bão Sandy: số thật và số đã làm trơn. Dòng 8 lấy tổng tháng năm 2011. Dòng 9 đến 12 đặt cạnh nhau diff, tăng bao nhiêu lượt, và pct_change, tăng bao nhiêu phần trăm.</a:t>
            </a:r>
          </a:p>
          <a:p/>
          <a:p>
            <a:r>
              <a:t>Kết quả: ngày bão chỉ còn 1 giờ số liệu mà đường trơn vẫn hơn 4.600 lượt; ngày bất thường đã bị xoá. Tháng 4 so tháng 3 tăng 48,1%, tháng 5 so tháng 4 tăng 43,2%, dù tháng 5 thêm nhiều lượt nhất, 40.951. Thang thường nói tháng 5 tăng mạnh nhất, thang log nói tháng 4.</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Biểu đồ đẹp chưa chắc đúng: đọc thang trước khi đọc đường.</a:t>
            </a:r>
          </a:p>
          <a:p/>
          <a:p>
            <a:r>
              <a:t>Hình trái: lượt thuê và nhiệt độ trên trục kép, hai trục dọc, trục trái cắt ở 90.000. Hai đường gần như đè nhau, trông như "lượt thuê bám sát nhiệt độ". Nhưng sự trùng khít là do chọn thang bên phải, còn trục cắt làm tháng 1 trông gần bằng 0.</a:t>
            </a:r>
          </a:p>
          <a:p/>
          <a:p>
            <a:r>
              <a:t>Dấu hiệu: hai trục dọc trên một hình, hoặc trục y không bắt đầu từ 0. Kiểm bằng cách đọc thang từng trục. Sửa: hình phải, tách hai hình, số đếm vẽ từ 0, nói về quan hệ bằng scatter. Scatter cho thấy quan hệ có thật, r bằng 0,91 qua 12 tháng, nhưng không tăng mãi: tháng 9 mát hơn tháng 7 khoảng 5 độ mà lượt thuê cao nhất năm. Trục kép giấu mất điều đó.</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Thay trục kép bằng con số: đo r, và thấy trộn hai năm làm quan hệ trông yếu đi.</a:t>
            </a:r>
          </a:p>
          <a:p/>
          <a:p>
            <a:r>
              <a:t>Dòng 4 đến 5 gộp theo tháng năm 2012, mỗi cột một kiểu: lượt thuê thì cộng, nhiệt độ thì lấy trung bình. Dòng 6 tính r qua 12 tháng. Dòng 8 đến 10 chuyển sang theo ngày và tính r riêng cho từng năm bằng groupby. Dòng 11 gộp hai năm rồi tính r để so. Dòng 14: muốn đặt hai chuỗi lên chung một trục thì đánh chỉ số, tháng đầu bằng 100.</a:t>
            </a:r>
          </a:p>
          <a:p/>
          <a:p>
            <a:r>
              <a:t>Kết quả: 12 tháng 2012, r bằng 0,91. Theo ngày, năm 2011 r bằng 0,771, năm 2012 bằng 0,714, nhưng gộp hai năm chỉ còn 0,627, vì cả đám chấm năm 2012 dời lên cao hơn. Scatter trộn nhiều năm thì tô màu theo thời gian.</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Buổi 5. Doanh thu tăng có thể vì ba lý do: giá tăng, dân số tăng, hoặc mỗi người mua nhiều hơn thật.</a:t>
            </a:r>
          </a:p>
          <a:p/>
          <a:p>
            <a:r>
              <a:t>Hình phải: doanh số bán lẻ Mỹ, năm 1993 bằng 100. Danh nghĩa lên 416, trừ lạm phát còn 187, chia thêm dân số còn 142. "Tăng hơn 4 lần" chỉ còn tăng thật khoảng 42%.</a:t>
            </a:r>
          </a:p>
          <a:p/>
          <a:p>
            <a:r>
              <a:t>Vấn đề thứ hai, hình trái: mỗi chấm là một năm, ngang là mức, dọc là độ lệch chuẩn trong năm. Năm bán nhiều thì dao động cũng lớn, từ 15,6 lên 38,1 tỷ USD. Như slide khái niệm về log đã nói, log hoặc Box-Cox làm dao động đều lại.</a:t>
            </a:r>
          </a:p>
          <a:p/>
          <a:p>
            <a:r>
              <a:t>Kiểm bằng: so độ lệch chuẩn từng năm với mức, vẽ cạnh nhau chuỗi danh nghĩa và chuỗi thực. Sửa: log hoặc Box-Cox; chia CPI, dân số, và số ngày trong tháng. Khi báo "tăng bao nhiêu", nói rõ là danh nghĩa, thực, hay thực trên đầu người.</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đầu tiên: chia số ngày của tháng, vì tháng 2 ngắn nên mỗi năm "sụt" giả.</a:t>
            </a:r>
          </a:p>
          <a:p/>
          <a:p>
            <a:r>
              <a:t>Dòng 4 lấy ba tháng đầu năm 2023. Dòng 5 lấy số ngày lịch bằng days_in_month: 31, 28, 31. Dòng 6 đến 8 đếm số ngày không phải Chủ nhật, dùng MonthEnd để nhảy tới cuối tháng. Dòng 9 đến 10 tính doanh số mỗi ngày theo hai cách đếm. Dòng 11 so với tháng trước theo phần trăm.</a:t>
            </a:r>
          </a:p>
          <a:p/>
          <a:p>
            <a:r>
              <a:t>Kết quả: tháng 2 so tháng 1, tổng giảm 3,4% nhưng mỗi ngày lại tăng 7,0%: dấu đảo ngược. Tháng 3 so tháng 2: tăng 14,15% nếu so thẳng, 3,11% khi chia ngày, 1,47% khi bỏ Chủ nhật, và âm 1,05% theo chuỗi ADJUSTED. Cùng một câu hỏi, bốn câu trả lời. Và đừng dùng chuỗi ADJUSTED rồi lại chia số ngày, vì như vậy chênh lệch số ngày bị bỏ hai lần.</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bóc lạm phát và dân số khỏi doanh số.</a:t>
            </a:r>
          </a:p>
          <a:p/>
          <a:p>
            <a:r>
              <a:t>Dòng 4 lấp đúng một tháng CPI không được công bố, tháng 10/2025, bằng interpolate với limit bằng 1. Dòng 5 đến 6 đổi ra giá năm gốc 2025: chia CPI của tháng đó, nhân CPI trung bình năm 2025. Dòng 7 chia dân số ra mức mỗi người. Dòng 8 đến 10 cộng thành tổng năm cho cả ba chuỗi. Dòng 11 đánh chỉ số 1993 bằng 100 để ba chuỗi khác đơn vị so được với nhau.</a:t>
            </a:r>
          </a:p>
          <a:p/>
          <a:p>
            <a:r>
              <a:t>Kết quả: chỉ số năm 2025 là 416 danh nghĩa, 187 giá thực, 142 thực trên đầu người. Tức là giá chung tăng 2,23 lần và dân số tăng 1,31 lần; phần còn lại mới là mỗi người mua nhiều hơn thật.</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kiểm hai điều về log.</a:t>
            </a:r>
          </a:p>
          <a:p/>
          <a:p>
            <a:r>
              <a:t>Dòng 3 đến 4: 100 lên 120 và 1.000 lên 1.200 đều tăng 20%. Trên thang log cả hai cặp cách nhau đúng log của 1,2, tức 0,182. Log biến cùng phần trăm thành cùng khoảng cách, cửa hàng nhỏ và siêu thị được đối xử như nhau.</a:t>
            </a:r>
          </a:p>
          <a:p/>
          <a:p>
            <a:r>
              <a:t>Dòng 7 đến 8 cắt chuỗi bán lẻ 1992 tới 2019 thành bảng, mỗi dòng một năm, bằng reshape 12 cột. Dòng 9 đến 10 tính mức và độ lệch chuẩn của từng năm. Dòng 11 so năm cuối với năm đầu.</a:t>
            </a:r>
          </a:p>
          <a:p/>
          <a:p>
            <a:r>
              <a:t>Kết quả: mức gấp 3,1 lần, dao động gấp 2,4 lần. Dao động lớn lên theo mức, nhưng chậm hơn mức. Đó là lý do có khi log hơi quá tay, và Box-Cox cho chúng ta một núm vặn lambda ở giữa.</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Dự báo trên thang log xong, chúng ta phải exp để về đơn vị gốc. Như slide khái niệm về log đã nói, log ép số lớn lại; exp thì kéo chúng giãn ra. Hệ quả: đổi ngược thẳng cho ra trung vị, không phải trung bình.</a:t>
            </a:r>
          </a:p>
          <a:p/>
          <a:p>
            <a:r>
              <a:t>Nhìn hình: histogram 100.000 mẫu. Vạch đen là trung bình thật, vạch cam là exp của trung bình log, thấp hơn 11,9%. Vạch xanh là có hiệu chỉnh, gần khớp.</a:t>
            </a:r>
          </a:p>
          <a:p/>
          <a:p>
            <a:r>
              <a:t>Dấu hiệu: cộng dự báo nhiều cửa hàng ra tổng thấp hơn thật. Kiểm bằng so tổng dự báo với tổng thực tế trên kỳ chấm. Sửa: cần tổng hay trung bình thì nhân với 1 cộng sigma bình phương chia 2, sigma là độ lệch chuẩn sai số trên thang log. Chấm bằng MAE, vốn ưa trung vị, thì không cần. Hiệu chỉnh không sửa lệch do mô hình.</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kiểm bằng mô phỏng.</a:t>
            </a:r>
          </a:p>
          <a:p/>
          <a:p>
            <a:r>
              <a:t>Dòng 3 đến 4 là ví dụ tay: ba số log 0, 1, 2. Exp của trung bình là 2,72, còn trung bình của các exp là 3,70. Hai con số khác nhau, đó là toàn bộ vấn đề.</a:t>
            </a:r>
          </a:p>
          <a:p/>
          <a:p>
            <a:r>
              <a:t>Dòng 6 sinh 100.000 mẫu log-normal, seed 42: log của chúng có hình chuông. Dòng 8 đổi ngược thẳng, ra trung vị. Dòng 9 nhân thêm 1 cộng nửa phương sai log, đó là hiệu chỉnh bias. Dòng 10 đo mỗi cách hụt bao nhiêu so với trung bình thật.</a:t>
            </a:r>
          </a:p>
          <a:p/>
          <a:p>
            <a:r>
              <a:t>Kết quả: đổi ngược thẳng hụt 11,9%, có hiệu chỉnh gần khớp. Khoảng hụt nhỏ khi sigma nhỏ và lớn nhanh khi sigma gần 1, nên chỉ bật hiệu chỉnh khi cần trung bình và sigma đủ lớn.</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Giờ ghép lại thành một backtest thật: seasonal naive có drift trên thang log.</a:t>
            </a:r>
          </a:p>
          <a:p/>
          <a:p>
            <a:r>
              <a:t>Hàm du_bao_log: dòng 5 đến 6 lấy 96 tháng ngay trước gốc, rồi lấy log. Điểm quan trọng là chỉ dùng dữ liệu trước gốc. Dòng 7 đến 8 tính sai phân mùa vụ của log, từ đó ra drift và sigma bình phương. Dòng 10 dự báo bằng cùng tháng năm trước cộng drift. Dòng 11 đến 13 đổi ngược hai cách: thẳng ra trung vị, có hiệu chỉnh ra trung bình. Dòng 15 đến 16 chạy lại ở mỗi gốc từ tháng 1/2012 tới tháng 12/2018, 84 gốc.</a:t>
            </a:r>
          </a:p>
          <a:p/>
          <a:p>
            <a:r>
              <a:t>Kết quả: 1.008 dự báo. Hiệu chỉnh đẩy tổng dự báo lên đúng cỡ sigma bình phương chia 2, nhưng chỉ giúp khi dự báo đang thấp. Chuỗi bách hoá vốn đã lệch gần cộng 10%, hiệu chỉnh còn làm tệ thêm. Luôn kiểm lệch trước khi bật.</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Buổi 6: phân rã. Khai chu kỳ 24 cho chuỗi có nhịp tuần thì nhịp tuần chạy vào xu hướng.</a:t>
            </a:r>
          </a:p>
          <a:p/>
          <a:p>
            <a:r>
              <a:t>Nhìn hình: tải điện tháng 7/2024 theo giờ, bốn hàng là dữ liệu, xu hướng, mùa vụ, phần dư. Dải xám là thứ Bảy, Chủ nhật. Hàng xu hướng lõm xuống đúng mỗi dải xám. Lý do: xu hướng là trung bình một ngày, Chủ nhật thấp thì trung bình quanh Chủ nhật cũng thấp. Hàng phần dư còn dao động đều mỗi ngày khoảng cộng trừ 15 GW, là mùa vụ ngày của tháng 7 mà khuôn chung cả năm không chứa được.</a:t>
            </a:r>
          </a:p>
          <a:p/>
          <a:p>
            <a:r>
              <a:t>Kiểm bằng: trung bình xu hướng theo thứ; cuối tuần thấp hẳn là có vấn đề. Sửa: MSTL với hai chu kỳ 24 và 168. Giờ hỏng lẻ thì bật robust. Nhưng đợt nắng nóng nhiều ngày thì robust không tách được, cần thêm biến nhiệt độ.</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kiểm hai chỗ mùa vụ hay trốn.</a:t>
            </a:r>
          </a:p>
          <a:p/>
          <a:p>
            <a:r>
              <a:t>Dòng 5 phân rã cổ điển chu kỳ 24 giờ. Dòng 6 đến 7 lấy xu hướng trung bình theo thứ: nếu có nhịp tuần thì sẽ thấy nó ở đây. Dòng 9 đến 12 là hàm ty_le_mau_hinh: lấy trung bình phần dư theo tháng và giờ, rồi chia phương sai cho phương sai chuỗi. Gần 0 nghĩa là phần dư sạch, không còn mẫu hình theo lịch. Dòng 14 đến 15 chạy MSTL với 24 và 168, rồi so bằng cùng thước đo.</a:t>
            </a:r>
          </a:p>
          <a:p/>
          <a:p>
            <a:r>
              <a:t>Kết quả: xu hướng thứ Bảy, Chủ nhật thấp hơn giữa tuần khoảng 5.500 đến 6.600 MW. Tỷ lệ mẫu hình tháng nhân giờ: cổ điển 0,102, MSTL 0,0006. Một con số đủ để nói phân rã nào sạch hơn, không phải ngồi so hình.</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thứ hai: robust làm gì với một giờ hỏng.</a:t>
            </a:r>
          </a:p>
          <a:p/>
          <a:p>
            <a:r>
              <a:t>Dòng 5 đến 6 là ví dụ tay: năm phần dư, trong đó có một số 20. Lấy trị tuyệt đối chia 6 lần trung vị của trị tuyệt đối. Dòng 7 tính trọng số: gần 1 là tin, bằng 0 là bỏ qua. Dòng 10 bật robust cho từng lượt STL bên trong MSTL. Dòng 13 đến 14 xem mùa vụ ngày hôm trước giờ hỏng có bị kéo lệch không. Dòng 15 xem phần dư ở chính giờ hỏng.</a:t>
            </a:r>
          </a:p>
          <a:p/>
          <a:p>
            <a:r>
              <a:t>Kết quả: ví dụ tay, điểm 20 có trọng số 0, điểm âm 2 có trọng số 0,79. Trên dữ liệu thật, không robust thì mùa vụ ngày 20/11, một ngày không lỗi, lệch khoảng 6.200 MW vì lỗi bị chia ra cả tuần. Robust giữ trọn cú rơi trong phần dư, đúng chỗ nó thuộc về.</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Buổi 7. Sai phân như thuốc: đúng liều thì khỏi, quá liều thì hại.</a:t>
            </a:r>
          </a:p>
          <a:p/>
          <a:p>
            <a:r>
              <a:t>Hình có hai cột. Cột phải: sai phân random walk, đúng liều, độ lệch chuẩn giảm từ 4,55 xuống 0,96, r một chỉ còn 0,100. Cột trái: sai phân nhiễu trắng vốn đã dừng, tức là thừa. Nhìn cột ACF trễ 1 ở ô dưới: r một bằng âm 0,447, và tiêu đề ghi độ lệch chuẩn tăng từ 0,96 lên 1,29. Chuỗi nhiễu hơn trước.</a:t>
            </a:r>
          </a:p>
          <a:p/>
          <a:p>
            <a:r>
              <a:t>Dấu hiệu sai phân thừa: r một gần âm 0,5 kèm độ lệch chuẩn tăng. Kiểm bằng ADF, KPSS trước khi sai phân, và ACF sau khi sai phân. Sửa: bớt một lần sai phân; xu hướng thẳng thì khử xu hướng thay vì sai phân; có mùa vụ thì sai phân mùa vụ trước. Bỏ qua thì dự báo tệ hơn chỉ vì chúng ta đã tự thêm nhiễu.</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biết khi nào dừng sai phân.</a:t>
            </a:r>
          </a:p>
          <a:p/>
          <a:p>
            <a:r>
              <a:t>Dòng 5 đến 8 là hàm dau_hieu: sai phân một lần, trả r một sau sai phân và độ lệch chuẩn trước, sau. Dòng 11 chạy trên nhiễu trắng, chuỗi đã dừng, để thấy dấu hiệu thừa. Dòng 12 chạy trên random walk, tạo bằng cumsum, để thấy đúng liều. Dòng 14 lấy log của 1 cộng lượt thuê xe theo giờ, dùng log1p vì có giờ không ai thuê. Dòng 15 đến 16 so ba cách: sai phân thường, sai phân mùa vụ 168, và cả hai.</a:t>
            </a:r>
          </a:p>
          <a:p/>
          <a:p>
            <a:r>
              <a:t>Kết quả: nhiễu trắng r một bằng âm 0,447, độ lệch chuẩn 0,96 lên 1,29, là thừa. Random walk 4,55 xuống 0,96, đúng liều. Lượt thuê: sai phân 168 rồi sai phân thường thì độ lệch chuẩn giảm từ 0,589 xuống 0,427. r một là âm 0,249, chưa tới dấu hiệu thừa: ở đây cả hai lần sai phân đều đáng.</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Buổi 8: tương quan. Tương quan giả là r rất cao chỉ vì hai chuỗi cùng tăng theo thời gian.</a:t>
            </a:r>
          </a:p>
          <a:p/>
          <a:p>
            <a:r>
              <a:t>Nhìn hình: ô trái, CPI và dân số Mỹ cùng đi lên. Ô giữa, scatter trên mức: chấm nằm gần như một đường, r bằng 0,974. Ô phải, scatter trên thay đổi hằng tháng: đám chấm không có hình dạng, r chỉ còn âm 0,207. Câu hỏi đúng là: tháng nào dân số tăng nhanh thì giá có tăng nhanh không? Câu trả lời là không.</a:t>
            </a:r>
          </a:p>
          <a:p/>
          <a:p>
            <a:r>
              <a:t>Kiểm bằng hai cách: sai phân rồi đo lại r, và Durbin–Watson của phần dư hồi quy. Durbin–Watson gần 2 là tốt, gần 0 là phần dư tự tương quan mạnh, dấu hiệu tương quan giả. Bỏ qua thì chúng ta chọn một biến giải thích vô dụng. Khi viết kết luận, nói "đi cùng", đừng nói "gây ra".</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bắt tương quan giả bằng hai phép kiểm.</a:t>
            </a:r>
          </a:p>
          <a:p/>
          <a:p>
            <a:r>
              <a:t>Dòng 3 đến 4 là Durbin–Watson: tổng bình phương bước nhảy của phần dư chia tổng bình phương phần dư. Phần dư đổi chậm thì bước nhảy nhỏ, con số gần 0. Dòng 6 đến 8 khớp đường thẳng bằng lstsq, bình phương nhỏ nhất, rồi lấy phần dư. Dòng 9 đến 10 trả R bình phương, thống kê t của hệ số, và DW. Dòng 13 hồi quy dân số theo CPI trên mức. Dòng 14 đến 15 hỏi lại câu đúng: lấy thay đổi hằng tháng rồi tính tương quan.</a:t>
            </a:r>
          </a:p>
          <a:p/>
          <a:p>
            <a:r>
              <a:t>Kết quả: trên mức, r bằng 0,974, R bình phương 0,95, t bằng 88,6, trông cực kỳ chắc chắn. Nhưng DW chỉ 0,0051, và r sau sai phân là âm 0,207. R bình phương cao, t lớn, DW gần 0: đó là bộ ba của hồi quy giả.</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Pearson chỉ đo quan hệ thẳng. Tải điện ERCOT ở Texas theo nhiệt độ có hình chữ U: trời nóng bật điều hoà, trời lạnh bật sưởi.</a:t>
            </a:r>
          </a:p>
          <a:p/>
          <a:p>
            <a:r>
              <a:t>Nhìn ô trái: mỗi chấm một giờ năm 2024. Đường đen là hồi quy thẳng, đường cam là hồi quy theo hai nhánh. Phía bên trái 18 độ, đường đen đi xuống mà chấm đi lên: đường thẳng bỏ sót hẳn nhánh lạnh. Pearson 0,616 trông khá mạnh, nhưng là trộn nhánh lạnh âm 0,649 với nhánh nóng cộng 0,910.</a:t>
            </a:r>
          </a:p>
          <a:p/>
          <a:p>
            <a:r>
              <a:t>Kiểm bằng: vẽ scatter trước, đo thêm mutual information vì nó bắt được quan hệ cong. Sửa: tách nhiệt độ thành CDD, độ nóng, bằng nhiệt độ trừ 18,33 nếu dương, và HDD, độ lạnh, bằng 18,33 trừ nhiệt độ nếu dương. R bình phương tăng từ 0,379 lên 0,812. Ô phải cho thấy mốc 18,33 là quy ước, gần mốc tốt nhất 19,5 độ.</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tách chữ U và kiểm mutual information có thật không.</a:t>
            </a:r>
          </a:p>
          <a:p/>
          <a:p>
            <a:r>
              <a:t>Dòng 4 tính CDD và HDD bằng np.maximum với 0, mốc 18,33 độ, tức 65 độ F. Dòng 5 đến 9 so R bình phương của hồi quy theo nhiệt độ với theo CDD cộng HDD. Dòng 10 đến 11 tính MI bằng mutual_info_regression. Dòng 13 đến 15 là phần tinh tế: để biết MI bao nhiêu thì đáng tin, chúng ta xáo thứ tự các khối một tuần, 100 lần. Xáo từng điểm sẽ phá tự tương quan, khiến cả hai chuỗi độc lập cũng trông "có quan hệ". Dòng 16 lấy ngưỡng 95% của MI khi không có quan hệ.</a:t>
            </a:r>
          </a:p>
          <a:p/>
          <a:p>
            <a:r>
              <a:t>Kết quả: R bình phương từ 0,379 lên 0,812. MI thật 0,862, vượt xa ngưỡng xáo khối 0,124. Quan hệ có thật, chỉ là không thẳng.</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Buổi 10: dữ liệu thiếu. Có hai loại. Thiếu giá trị là có dòng, ô rỗng. Thiếu mốc là mất cả dòng. isna() chỉ thấy loại thứ nhất.</a:t>
            </a:r>
          </a:p>
          <a:p/>
          <a:p>
            <a:r>
              <a:t>Ví dụ: đo mỗi 30 phút từ 00:00 tới 02:30 phải có 6 mốc, tệp có 5 dòng. isna() báo 1 ô thiếu lúc 02:00, nhưng mốc 01:00 mất cả dòng mà không ai biết.</a:t>
            </a:r>
          </a:p>
          <a:p/>
          <a:p>
            <a:r>
              <a:t>Nhìn hình trạm Nội Bài: ô trái, số mốc thiếu theo tháng, dồn vào vài tháng, nhiều nhất tháng 7, dấu hiệu sự cố hệ thống. Ô phải, độ dài lỗ: hai phần ba số lỗ chỉ dài một bước, lỗ dài nhất 8 giờ.</a:t>
            </a:r>
          </a:p>
          <a:p/>
          <a:p>
            <a:r>
              <a:t>Kiểm bằng: so số dòng với số mốc của lưới đầy đủ, đếm mốc trùng. Sửa: reindex lên lưới đầy đủ trước mọi việc khác. Bỏ qua thì lag và rolling đếm sai số bước.</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dựng lưới rồi mới đếm thiếu.</a:t>
            </a:r>
          </a:p>
          <a:p/>
          <a:p>
            <a:r>
              <a:t>Dòng 4 đến 6 tạo năm dòng đo, mốc 01:00 không có dòng nào, mốc 02:00 có dòng nhưng ô rỗng. Dòng 7 dùng pd.date_range dựng lưới đủ mọi mốc 30 phút từ đầu tới cuối. Dòng 8 đến 9 đếm thiếu hai lần: trước và sau khi reindex lên lưới. reindex đặt chuỗi lên bộ mốc mới, mốc nào chưa có dòng thì thành NaN. Dòng 11 đến 14 là hàm do_dai_lo: đánh số từng đoạn NaN liền nhau rồi đếm độ dài, để biết lỗ ngắn hay dài.</a:t>
            </a:r>
          </a:p>
          <a:p/>
          <a:p>
            <a:r>
              <a:t>Kết quả: ví dụ nhỏ, isna() báo 1, lên lưới ra 2. Trạm Nội Bài năm 2024: lưới có 17.568 mốc, tệp chỉ có 17.319 dòng, thiếu 249 mốc, trong khi isna() chỉ thấy 2 ô. Đếm trước khi dựng lưới là đếm sai.</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Biết có bao nhiêu chỗ thiếu rồi, câu hỏi tiếp theo quan trọng hơn: vì sao thiếu. Điền được hay không phụ thuộc vào lý do, không phụ thuộc cách điền giỏi tới đâu.</a:t>
            </a:r>
          </a:p>
          <a:p/>
          <a:p>
            <a:r>
              <a:t>Nhìn hình: chấm xanh là số còn lại, chấm đỏ là số bị mất. MCAR mất rải đều, như mất mạng vài phút: phần còn lại vẫn đại diện, điền thoải mái. MAR mất dồn trong vùng xám, như trạm hay hỏng mùa mưa: điền được nếu cách điền dùng thông tin mùa. MNAR mất đúng các đỉnh trên vạch đứt: phần còn lại đã bị lọc lệch.</a:t>
            </a:r>
          </a:p>
          <a:p/>
          <a:p>
            <a:r>
              <a:t>Ví dụ tính tay: bốn giờ PM2.5 thật 10, 20, 30, 40, trung bình 25. Cảm biến tắt khi trên 30, chỉ còn 10, 20, 30, trung bình 20. (dừng) Lệch 5 trước khi chúng ta điền bất cứ gì.</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trước là định nghĩa, slide này là hậu quả khi thiếu vì chính giá trị.</a:t>
            </a:r>
          </a:p>
          <a:p/>
          <a:p>
            <a:r>
              <a:t>Nhìn ô trái: xám là dữ liệu thật, vạch đứt là ngưỡng 1 mà cảm biến tắt. MNAR mất 16,2% số điểm, toàn ở phía cao. Cam là sau khi điền bằng nội suy: vẫn không có phần bên phải vạch. Ô phải: trung bình sau khi điền là âm 0,30, trong khi thật là âm 0,005. MCAR chỉ lệch một phần nghìn. Điền kiểu gì cũng không lấy lại được thứ đã bị lọc.</a:t>
            </a:r>
          </a:p>
          <a:p/>
          <a:p>
            <a:r>
              <a:t>Kiểm trên dữ liệu thật: so các trạm hàng xóm lúc một trạm thiếu và lúc có số. Khi trạm Dongsi ở Bắc Kinh thiếu, các trạm khác còn thấp hơn 3%: không có bằng chứng MNAR. Phải đo, đừng giả định. Sửa: MCAR, MAR thì điền được; MNAR thì đừng điền, và báo tỷ lệ thiếu theo trạm, theo tháng.</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mô phỏng, nơi chúng ta biết trước đáp án.</a:t>
            </a:r>
          </a:p>
          <a:p/>
          <a:p>
            <a:r>
              <a:t>Dòng 4 đến 6 sinh 5.000 điểm thật, hình chuông tâm 0, seed 0. Dòng 7 tạo MCAR: xoá ngẫu nhiên 10% bằng mask. Dòng 8 tạo MNAR: xoá đúng những điểm cao hơn 1, như cảm biến tắt khi giá trị cao. Dòng 9 đến 10 nội suy cả hai rồi so trung bình với số thật. Dòng 12 đến 15 là hàm bang_chung_mnar cho dữ liệu thật: lấy trung bình 11 trạm còn lại, so lúc trạm đang xét thiếu với lúc có số.</a:t>
            </a:r>
          </a:p>
          <a:p/>
          <a:p>
            <a:r>
              <a:t>Kết quả: MNAR mất 16,2%, điền xong trung bình âm 0,30 thay vì âm 0,005; MCAR gần như không lệch. Trên dữ liệu Bắc Kinh, Dongsi thiếu thì các trạm khác thấp hơn 3,0%. Nếu MNAR, lúc thiếu phải là lúc ô nhiễm cao, tức trạm khác phải cao hơn, chứ không phải thấp hơn.</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Không phải chỗ thiếu nào cũng hiện ra là NaN. Mã trá hình là con số quy ước của nguồn, không phải số đo.</a:t>
            </a:r>
          </a:p>
          <a:p/>
          <a:p>
            <a:r>
              <a:t>Nhìn hình trạm Nội Bài, ba ô. Ô trái: cột cao vọt ở mép phải, tầm nhìn đúng bằng 9,999 km, chiếm 35% số dòng. Nó nghĩa là "10 km trở lên", không phải một phép đo. Ô giữa: độ ẩm chạm trần 100%. Ô phải: các khe trống đều đặn, nhiệt độ chỉ ghi số nguyên.</a:t>
            </a:r>
          </a:p>
          <a:p/>
          <a:p>
            <a:r>
              <a:t>Kiểm bằng value_counts().head() và đọc tài liệu nguồn; đo độ phân giải trước khi gọi một đoạn lặp là cảm biến kẹt. Sửa: đổi thành NaN kèm cột cờ ghi lý do. Đừng dropna() cả dòng, vì dòng có tầm nhìn 9,999 vẫn có nhiệt độ hợp lệ. Số 0 do hết hàng cũng là thiếu: không đánh dấu thì mô hình dự báo thấp, cửa hàng nhập ít, lại hết hàng, vòng lặp tự củng cố.</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Nhiệt độ ghi đúng 26,0 °C suốt nhiều giờ: cảm biến hỏng, hay trời đổi quá ít? Trước khi trả lời, chúng ta phải biết độ phân giải, tức bước nhỏ nhất cảm biến ghi được.</a:t>
            </a:r>
          </a:p>
          <a:p/>
          <a:p>
            <a:r>
              <a:t>(chỉ vào hình) Trục ngang là giờ, đường xanh là nhiệt độ thật, đường cam là số ghi được. Ô trái, nhiệt độ thật đi từ 25,6 lên 26,4 °C, nhưng cảm biến ghi tới 1 °C nên cả năm số đều là 26. Đường cam nằm ngang mà cảm biến vẫn khoẻ. Ô phải thì khác: nhiệt độ thật đổi vài độ, cả ngày lẫn đêm, mà số ghi không nhúc nhích. Đó mới là kẹt.</a:t>
            </a:r>
          </a:p>
          <a:p/>
          <a:p>
            <a:r>
              <a:t>Ở trạm Nội Bài, nếu đặt ngưỡng đứng yên 12 giờ thì ra 24 đoạn, quá nhiều để đều là hỏng, nên buổi 10 dùng 18 giờ. Vậy các bạn nhớ thứ tự: đo độ phân giải trước, rồi mới đặt ngưỡng gọi cảm biến là kẹt.</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Mã trá hình, trần cảm biến, độ phân giải và đoạn kẹt có một điểm chung: không cái nào để lại NaN, nên phải đo từng dấu vết. Dòng 5: gọi min trên cột độ ẩm ra chữ '100', vì cột số đang lưu dạng chữ và pandas so theo thứ tự chữ cái. Dòng 6 và 7 ép về số, chữ lạ thành NaN. Dòng 8 đo tỷ lệ mã 9,999 km và tỷ lệ độ ẩm chạm 100. Dòng 9 và 10 lấy bước nhỏ nhất giữa hai giá trị khác nhau, tức độ phân giải. Dòng 12 đến 16 đánh số từng đoạn lặp liền nhau rồi giữ đoạn đủ dài. Kết quả: độ ẩm dạng chữ cho min '100' mà max '94'; hơn một phần ba dòng tầm nhìn là mã 9,999; 5,7% độ ẩm chạm trần; ngưỡng 18 giờ tìm ra 2 đoạn kẹt, dài nhất 33,5 giờ.</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Trước khi chấm cách điền, cần biết mỗi cách làm gì. Có bảy cách, và ba câu hỏi chọn giữa chúng: lỗ dài hay ngắn, chuỗi có nhịp ngày không, và cách điền có dùng số tương lai không.</a:t>
            </a:r>
          </a:p>
          <a:p/>
          <a:p>
            <a:r>
              <a:t>(chỉ vào hình) Sáu giờ liền, hai ô giữa bị thiếu, giá trị thật là 26 và 28, đúng lúc nhiệt độ lên đỉnh. ffill giữ số gần nhất nên điền 23, 23, sai nhiều nhất. Tuyến tính nối 23 với 27 theo công thức trên dải, ra 24,33 và 25,67. Mùa vụ lấy cùng giờ hôm qua, ra 25 và 27. Trạm hàng xóm cộng 1 độ ra đúng 26 và 28, vì nó mang theo hình dạng của đoạn bị mất.</a:t>
            </a:r>
          </a:p>
          <a:p/>
          <a:p>
            <a:r>
              <a:t>Tóm lại: lỗ ngắn thì ffill hay tuyến tính đều ổn; lỗ dài thì cần mùa vụ hoặc hàng xóm. Và nhớ tuyến tính, spline, Kalman smoother đều dùng số ở phía sau lỗ.</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 bảy cách điền rồi, vậy làm sao biết cách nào tốt khi ta không có số thật ở chỗ thiếu? Ta tự tạo đáp án: che nhân tạo, tức xoá bớt những ô đang có số, điền lại, rồi so với số vừa xoá. (chỉ vào bảng) Cùng bảy cách, cùng chuỗi Nội Bài, chỉ đổi kiểu che. Che rải rác 10% điểm thì tuyến tính đứng hạng 1, MAE 0,291; che khối 48 giờ thì nó tụt xuống hạng 5, MAE 2,171. Trạm hàng xóm đi ngược lại, từ hạng 5 lên hạng 1. Vì sao? Lỗ ngắn thì nối hai đầu là đủ; lỗ dài thì cần một nguồn mang theo hình dạng nhịp ngày. Nếu chỉ che một kiểu, ta sẽ chọn cách điền giỏi ở lỗ ngắn mà tệ ở lỗ dài. Nguyên tắc: dữ liệu có kiểu lỗ nào thì che và chấm đúng kiểu đó.</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Dòng 5 và 6: hôm nay mất hai giờ, số thật là 26 và 28; bên dưới là số cùng giờ hôm qua. Dòng 7 đến 9 là ba cách chỉ biết hai đầu lỗ: ffill chép số trước, tuyến tính nối thẳng, spline nối cong. Dòng 10 và 11 mượn hình dạng từ nguồn khác: mùa vụ lấy cùng giờ hôm qua, hàng xóm lấy hôm qua cộng 1. Dòng 12 đến 16 là cách Kalman: UnobservedComponents khớp một mô hình gồm mức đổi dần cộng nhịp ngày rồi lấy giá trị làm trơn, tức nhìn cả hai phía. Kết quả: ffill sai nhiều nhất, lệch 3 và 5; tuyến tính lệch 1,67 và 2,33; mùa vụ lệch 1 và 1; hàng xóm trúng cả hai. Ngoài đời, Nội Bài với Open-Meteo tương quan r bằng 0,976, nên hàng xóm là nguồn rất tốt.</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code sinh ra bảng hai kiểu che ở slide “Chấm cách điền” vừa xem. Dòng 3 đến 7, che điểm: lấy vị trí các ô đang có số, rút ngẫu nhiên 10% không trùng, rồi xoá. Dòng 9 đến 15, che khối: xoá năm đoạn liền, mỗi đoạn 96 bước, tức 48 giờ với dữ liệu nửa giờ một lần. Cả hai đều có seed để chạy lại ra đúng số. Dòng 16 là chỗ quan trọng nhất: MAE chỉ tính trên những ô vừa bị che, vì các ô còn lại vẫn là số thật, tính vào chỉ làm sai số nhỏ đi giả tạo. Kết quả: tuyến tính hạng 1 ở lỗ ngắn với MAE 0,291 °C nhưng hạng 5 ở lỗ 48 giờ với 2,171; hàng xóm đi ngược lại, từ hạng 5 lên hạng 1.</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Điền chỗ thiếu xong thì backtest đẹp hẳn. Câu hỏi đầu tiên: cách điền có dùng số của tập kiểm không?</a:t>
            </a:r>
          </a:p>
          <a:p/>
          <a:p>
            <a:r>
              <a:t>(chỉ vào hình) Ba mốc: 20, một ô trống, rồi 30. Vạch đứt là mốc cắt, bên phải là tương lai. Ô vuông xanh là ffill, lấy số gần nhất phía trước, nên điền 20. Hình thoi đỏ là nội suy tuyến tính, điền 25, nhưng con số 25 chỉ có được nhờ số 30 nằm bên phải vạch. Nếu số 30 thuộc tập kiểm thì thông tin tập kiểm đã chảy vào tập học.</a:t>
            </a:r>
          </a:p>
          <a:p/>
          <a:p>
            <a:r>
              <a:t>Kiểm bằng máy: làm sạch dữ liệu đầy đủ và dữ liệu bị cắt tại một mốc, rồi so phần trước mốc. Điều kiện là mốc cắt phải nằm trong một lỗ, nếu cắt ở chỗ dữ liệu liền thì bài kiểm luôn báo sạch.</a:t>
            </a:r>
          </a:p>
          <a:p/>
          <a:p>
            <a:r>
              <a:t>Điền nhân quả chỉ dùng số trước ô đang điền: có số mới thì số cũ không đổi.</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Giờ nhìn một lỗ dài cụ thể. (chỉ vào hình) Lỗ 48 giờ: ffill và nội suy tuyến tính đều vẽ thành một đường phẳng quanh 24 °C, trong khi thật nhiệt độ dao động 21 đến 27 °C mỗi ngày. Nhịp ngày bị xoá sạch, và mô hình học từ đoạn phẳng đó sẽ học sai. Trạm hàng xóm thì giữ được hình dạng. Dấu hiệu cần để ý là đoạn phẳng dài bất thường, hoặc backtest đẹp hẳn lên sau khi làm sạch. Cái sau là do nội suy dùng điểm phía sau: điền ngày 3 bằng cách nối ngày 2 với ngày 4 là đã dùng ngày 4. Kiểm bằng kiem_ro_ri với mốc cắt đặt ngay trong lỗ. Sửa: chia tập trước rồi mới điền, chỉ dùng cách điền nhân quả, lỗ ngắn thì điền, lỗ dài để trống, và luôn giữ cột cờ da_dien. Riêng dữ liệu MNAR thì điền kiểu gì cũng lệch.</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Gói hai nguyên tắc vừa rồi thành một hàm. Dòng 4: biến các số nghi ngờ thành NaN trước tiên, để chúng không bị dùng làm đầu mút khi điền. Dòng 5 đến 7 đo độ dài lỗ cho từng ô thiếu, cùng mẹo đánh số đoạn như slide đoạn kẹt. Dòng 8 và 9 chỉ điền lỗ tới 6 bước, tức 3 giờ, bằng cách mùa vụ vì nó nhân quả; lỗ dài để trống. Dòng 10 xuất kèm cột cờ da_dien. Dòng 12 đến 16 là máy kiểm: làm sạch trên dữ liệu đủ và trên dữ liệu cắt tại một mốc nằm trong lỗ, rồi so phần trước mốc; khác nhau là có rò rỉ. Kết quả trên Nội Bài: 130 ô bị loại vì nghi ngờ, 198 ô được điền, 181 ô để trống. Còn bản điền mọi lỗ bằng tuyến tính thì bị máy kiểm bắt ngay khi mốc cắt rơi vào lỗ.</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Sang buổi 11: ngoại lai. Chữ "ngoại lai" thật ra gộp bốn thứ khác nhau. (chỉ vào hình) Quanh mức 10: điểm đơn AO lệch lên 25 rồi về ngay; dịch mức LS nhảy lên 20 và ở lại; thay đổi tạm TC nhảy lên 20 rồi tắt dần 15, 12, 11, 10; còn đổi phương sai thì mức giữ nguyên nhưng dao động to ra. Vì sao phải phân loại? Vì loại quyết định cách bắt và cách sửa, không phải độ lớn. Hampel bắt điểm đơn, tìm điểm gãy bắt dịch mức, MAD trên phần dư STL bắt đổi phương sai. Nên trước một điểm lạ, câu hỏi đầu tiên là: đây là lỗi, giai đoạn tạm thời, hay một trạng thái mới?</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Bốn loại giống hệt nhau ở đúng cái mốc lạ; chỉ các điểm sau mốc mới tách được chúng. Dòng 4 đến 7 là bốn chuỗi tám điểm, cùng nền 10. Dòng 9 lấy riêng điểm 4, và các bạn sẽ thấy nó chưa phân biệt được gì. Dòng 10 đến 12 là ba câu hỏi về phần sau mốc: trung bình bốn điểm sau cho biết nó có ở lại không, điểm cuối cho biết có hồi về không, độ lệch chuẩn sau cho biết có rung mạnh hơn không. Dòng 13 gom thành bảng, mỗi dòng một loại. Kết quả: điểm 4 không tách được ba loại đầu; nhìn bốn điểm sau thì tách rõ: AO về 10, dịch mức ở lại 20, thay đổi tạm hồi dần. Đổi phương sai có độ lệch chuẩn phần sau là 4,08. Bài học: đừng phán loại khi mới thấy một điểm, hãy chờ thêm vài bước.</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Mười số quanh 12 có một số 50. Vì sao ngưỡng 3σ không gắn cờ nó?</a:t>
            </a:r>
          </a:p>
          <a:p/>
          <a:p>
            <a:r>
              <a:t>z-score hỏi một điểm cách trung bình bao nhiêu lần độ lệch chuẩn. Nhưng chính số 50 kéo trung bình lên 15,6 và kéo độ lệch chuẩn lên khoảng 12,1, trong khi bỏ nó đi thì độ lệch chuẩn chỉ khoảng 1. Lấy 50 trừ 15,6 rồi chia 12,1, được 2,84, không vượt 3.</a:t>
            </a:r>
          </a:p>
          <a:p/>
          <a:p>
            <a:r>
              <a:t>(chỉ vào hình) Trục ngang là vị trí, trục dọc là giá trị. Vạch cam đứt là trung bình cộng ba lần độ lệch chuẩn: ở ô trái nó nằm ở 52, cao hơn chính số 50. Ô phải thêm số 60, vạch cam bị đẩy lên gần 76, và cả hai ngoại lai cùng lọt. Ngoại lai tự che mình và che nhau, đó gọi là masking.</a:t>
            </a:r>
          </a:p>
          <a:p/>
          <a:p>
            <a:r>
              <a:t>Trên lượt xem Wikipedia, thêm một ngày giả thật lớn làm số ngày bị gắn cờ tụt từ 16 xuống 5. Không vượt 3σ không có nghĩa là dữ liệu sạch.</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Cách bắt ngoại lai quen nhất là z-score: điểm cách trung bình bao nhiêu lần độ lệch chuẩn, quá 3 thì gắn cờ. Vấn đề là chính ngoại lai kéo trung bình lên và làm độ lệch chuẩn phình ra, nên nó tự che mình. Hiện tượng này gọi là masking. Ví dụ năm số 5, 5, 5, 5, 100: điểm 100 chỉ có z bằng 1,79, không bị gắn cờ. (chỉ vào hình) Trên lượt xem Wikipedia, 3σ gắn cờ 16 ngày; thêm đúng một ngày cực lớn thì chỉ còn 5. Đó cũng là cách kiểm: thêm một điểm cực lớn rồi đếm lại, số cờ giảm là đang bị che. Còn nữa, với mẫu nhỏ z có trần: mười số thì tối đa 2,85, ngưỡng 3 không bao giờ bắt được gì. Sửa bằng MAD và Hampel, dựa trên trung vị nên ngoại lai không kéo được.</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Giờ thấy masking bằng số. Dòng 4 và 5 là hàm z_score quen thuộc: cách trung bình quá 3 độ lệch chuẩn thì gắn cờ. Dòng 7 và 8: mười số quanh 11, 12, có một số 50 nổi bật, tính z của nó. Dòng 9 tính trần của trị tuyệt đối z khi n bằng 10, bằng n trừ 1 chia căn n, ra 2,85. Dòng 11 đến 13: lấy chuỗi lượt xem Wikipedia, chèn một ngày giả lớn gấp 8 lần ngày cao nhất vào giữa, rồi đếm số cờ trước và sau. Kết quả: z của 50 chỉ 2,84, nằm dưới trần 2,85, nên dù nhìn bằng mắt là thấy ngay, ngưỡng 3 không bao giờ bắt được. Trên Wikipedia, thêm một ngày giả làm số ngày bị gắn cờ tụt từ 16 xuống 5. Một ngoại lai lớn làm các ngoại lai khác biến mất.</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Lượt xem tăng suốt mười năm. So mỗi ngày với trung bình cả chuỗi còn có nghĩa không? Không, nên ta sửa hai chỗ.</a:t>
            </a:r>
          </a:p>
          <a:p/>
          <a:p>
            <a:r>
              <a:t>Chỗ thứ nhất: đo bằng trung vị. Với mười số vừa rồi, trung vị là 12. Khoảng cách tới 12 có trung vị là 1, nhân 1,4826 để cùng thang với độ lệch chuẩn, ra MAD khoảng 1,48. Điểm của số 50 là 38 chia 1,48, khoảng 25,6, vượt xa 3. Điểm của số 10 chỉ 1,35.</a:t>
            </a:r>
          </a:p>
          <a:p/>
          <a:p>
            <a:r>
              <a:t>Chỗ thứ hai: so tại chỗ. Bộ lọc Hampel tính trung vị và MAD trong cửa sổ quanh mỗi điểm. (chỉ vào hình) Dải xanh là trung vị cộng trừ ba MAD của cửa sổ, nó đi lên theo xu hướng. Điểm vọt khỏi dải bị tô đỏ, còn ngưỡng 3σ toàn chuỗi nằm cao hơn mọi điểm.</a:t>
            </a:r>
          </a:p>
          <a:p/>
          <a:p>
            <a:r>
              <a:t>Hampel dùng cửa sổ có tâm, nên chỉ dùng để làm sạch lịch sử, không làm feature dự báo.</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Cách sửa masking có hai bước. MAD đo độ dao động bằng trung vị thay vì trung bình, nên ngoại lai không kéo được. Hampel đi thêm một bước: so mỗi điểm với trung vị và MAD của cửa sổ quanh nó, nên xu hướng dài hạn không làm nó mù. (chỉ vào hình và bảng) Trên 3.653 ngày Wikipedia, 3σ toàn chuỗi gắn cờ 16 ngày, toàn là ngày ở giai đoạn mức cao, bỏ sót bất thường ở vùng mức thấp. Hampel ±15 ngày gắn cờ 121 ngày, 3,31%, rải đều mười năm. STL robust thì tới 16,86%, quá nhiều để gọi là ngoại lai. Vậy trước khi tin một ngưỡng, xem nó gắn cờ bao nhiêu phần trăm dữ liệu. Sửa bằng winsorize, kéo điểm về trung vị địa phương, không xoá mốc. Lưu ý Hampel dùng cửa sổ giữa, nên chỉ để làm sạch, không làm feature.</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Đổi trung bình thành trung vị là xong phần khó. Dòng 4: hệ số 1,4826 đưa MAD về cùng thang với độ lệch chuẩn, để ngưỡng 3 vẫn có nghĩa như trước. Dòng 6 đến 9 là điểm MAD toàn chuỗi: khoảng cách tới trung vị chia cho 1,4826 lần MAD. Dòng 11 đến 13: Hampel lấy trung vị của 31 ngày quanh mỗi điểm, cửa sổ đặt giữa. Dòng 14 tính MAD cũng trên cửa sổ đó. Dòng 15 và 16 gắn cờ điểm cách mức địa phương quá 3; chỗ MAD bằng 0 được đổi thành NaN để khỏi chia cho 0. Kết quả: điểm MAD của số 50 là 25,6, bắt ngay, trong khi z chỉ 2,84. Trên Wikipedia, Hampel gắn cờ 121 ngày rải đều mười năm, và thêm ngày giả chỉ làm con số thành 123. Ngoại lai không còn che được nhau.</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Điểm 90 bị gắn cờ giữa các số quanh 12: xoá, kéo về 12, hay giữ nguyên?</a:t>
            </a:r>
          </a:p>
          <a:p/>
          <a:p>
            <a:r>
              <a:t>(chỉ vào hình) Dấu nhân xám là số 90 bị gắn cờ. Xoá nó thì lưới thời gian thủng một mốc. Winsorize thì kéo nó về trung vị địa phương là 12, chuỗi thành 12, 11, 13, 12, 12, giữ đủ mốc, kèm cột da_sua bằng 1.</a:t>
            </a:r>
          </a:p>
          <a:p/>
          <a:p>
            <a:r>
              <a:t>Nhưng nếu ngày đó là Tết thì sao? Trên lượt xem bài Tết Nguyên Đán, mọi cách tìm ngoại lai đều gắn cờ cả 10 đỉnh Tết. Ngưỡng thống kê chỉ biết điểm này khác, không biết khác vì lỗi hay vì sự kiện thật. Việc đó cần nhật ký sự kiện, tức danh sách các mốc có sự kiện đã biết. Có trong nhật ký thì giữ nguyên 90.</a:t>
            </a:r>
          </a:p>
          <a:p/>
          <a:p>
            <a:r>
              <a:t>Tóm lại, chọn theo loại: lỗi đo thì winsorize, sự kiện thật thì giữ và ghi nhật ký, dịch mức thì thêm biến giả, là cột 0 và 1 đánh dấu sự kiện.</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Giờ là mặt ngược lại: bắt được ngoại lai rồi, có nên sửa hết không? (chỉ vào hình) Chạy bộ bắt ngoại lai trên lượt xem Wikipedia tiếng Việt thì cả 10 trên 10 đỉnh Tết bị gắn cờ. Nhưng Tết là bất thường thật, và là thứ đáng dự báo nhất trong năm; xoá đi là xoá mất nó. Đỉnh Tết còn xê dịch tới 25 ngày giữa các năm vì theo lịch âm, nên phân rã theo lịch dương không học được. Kiểm bằng cách vẽ chuỗi quanh những mốc bị sửa rồi đối chiếu với lịch lễ. Sửa: giữ nguyên, ghi vào nhật ký sự kiện, thêm biến giả theo lịch âm. Và chọn cách sửa theo loại: điểm đơn là lỗi thì winsorize, dịch mức hay thay đổi tạm thì biến giả. Ngoại lai không đồng nghĩa với lỗi.</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Ngưỡng nào cũng gắn cờ Tết, nên phải có nhật ký sự kiện chặn lại. Dòng 3: ngày đông nhất mỗi năm chính là đỉnh Tết. Dòng 4 kiểm xem Hampel có gắn cờ các đỉnh đó không. Dòng 6 đến 13 là hàm xu_ly_ngoai_lai: dòng 8 và 9 bỏ cờ ở những mốc có trong nhật ký, dòng 10 đến 12 thay các điểm lỗi còn lại bằng trung vị quanh nó, tức winsorize, và dòng 13 trả kèm cột da_sua để biết ô nào đã bị thay. Dòng 15 chạy trên chuỗi Tết với nhật ký là mười đỉnh. Kết quả: năm cách gắn cờ khác nhau đều bắt 10 trên 10 đỉnh Tết. Xoá theo 3σ làm mất 54 mốc, trong đó có cả mười đỉnh; winsorize cộng nhật ký giữ đủ 3.653 mốc, lưới thời gian không bị thủng.</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Mức đổi đột ngột mà từng điểm riêng lẻ trông vẫn bình thường. Tìm mốc đổi đó thế nào?</a:t>
            </a:r>
          </a:p>
          <a:p/>
          <a:p>
            <a:r>
              <a:t>Ta chia chuỗi thành đoạn, mỗi đoạn có trung bình riêng. Chi phí một đoạn là tổng bình phương khoảng cách tới trung bình đoạn. Chia càng nhiều càng khớp, nên mỗi điểm gãy phải trả một khoản phạt gọi là penalty.</a:t>
            </a:r>
          </a:p>
          <a:p/>
          <a:p>
            <a:r>
              <a:t>(chỉ vào hình) Ô trái là mười số, năm số quanh 10 rồi năm số quanh 20. Ô phải, trục ngang là số điểm gãy, cột xanh là chi phí, phần cam là penalty khoảng 6,9 cho mỗi điểm gãy. Không cắt tốn 254. Cắt một lần còn 4, cộng 6,9 là 10,9. Cắt hai lần chi phí còn 3,17 nhưng phải trả 13,8, tổng 17,0. Một điểm gãy thắng.</a:t>
            </a:r>
          </a:p>
          <a:p/>
          <a:p>
            <a:r>
              <a:t>Thuật toán PELT tìm đúng cách chia có tổng chi phí cộng penalty nhỏ nhất. Penalty nhỏ thì cắt vụn, lớn thì không còn điểm gãy, nên các bạn quét nhiều mức và giữ kết quả ổn định.</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Loại bất thường thứ hai cần công cụ riêng là dịch mức, tức điểm gãy: mốc mà trước và sau khác hẳn nhau. PELT cắt chuỗi thành các đoạn sao cho tổng chi phí các đoạn cộng penalty là nhỏ nhất; mỗi điểm gãy thêm vào phải giảm chi phí nhiều hơn penalty. Penalty thấp thì cắt vụn, cao thì bỏ sót. (chỉ vào hình) Trên hành khách bay EU, chạy trên mức gốc ra 43 điểm gãy. Vì sao? Dao động lớn dần theo mức, nên mỗi mùa hè đông khách trông như một đoạn mới. Lấy log trước thì dao động đều lại, chỉ còn 2 điểm gãy, đúng quanh COVID, và ổn định khi penalty đi từ 1 tới 4 lần ln n. Kiểm nhanh: số điểm gãy phải giảm khi penalty tăng. PELT hợp để phân tích lịch sử, không hợp để báo động thời gian thực.</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Dòng 4 và 5: mười số có một bậc từ 10 lên 20, penalty đặt bằng 3 lần ln n. Dòng 6 gọi ruptures: Pelt tìm cách cắt rẻ nhất, predict trả vị trí kết thúc từng đoạn. Dòng 8 đến 12 là hàm diem_gay: dòng 9 lấy log để mùa hè đông khách thôi bị coi là gãy, dòng 11 và 12 chạy PELT rồi đổi vị trí cắt thành ngày tháng, bỏ phần tử cuối vì đó chỉ là độ dài chuỗi. Dòng 14 đến 16 quét bảy mức penalty từ 0,5 đến 10 lần ln n, để xem điểm nào trụ lại. Kết quả: ví dụ tay ra 5 và 10, tức một điểm gãy sau vị trí 5. Hàng không EU: mức gốc ra 43 điểm gãy, log ra 2, ổn định từ 1 tới 4 lần ln n, là 2/2020, giảm 78,7%, và 5/2021. Điểm gãy đáng tin là điểm không đổi khi penalty đổi.</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Tìm ra điểm gãy COVID rồi, xử lý đoạn đó thế nào? (chỉ vào bảng) Cùng một mô hình, chỉ đổi cách xử lý, MAPE năm 2023 chênh gần 3 lần. Giữ nguyên: 24,01%, vì đoạn sụt kéo cả đường xu hướng xuống. Cắt, chỉ học sau hồi phục: 18,11%, vì chỉ còn 18 tháng, quá ngắn để học mùa vụ. Coi COVID là thiếu rồi nội suy qua: 8,71%, tốt nhất ở đây. Nhưng đừng nhớ "nội suy luôn thắng". Nội suy chỉ hợp khi hành vi quay về như cũ; nếu sau cú sốc là một mức mới kéo dài thì dùng biến giả. Chọn cách nào là một giả định về tương lai, nên phải thử từng cách, chấm dự báo trên năm sau đó, và ghi rõ giả định vào báo cáo.</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Mô hình ở đây cố tình đơn giản và giữ cố định, để chỉ còn một thứ thay đổi là cách xử lý COVID. Dòng 5 đến 7 dùng np.polyfit khớp một đường thẳng làm xu hướng. Dòng 8 và 9 tính mỗi tháng là một tỷ lệ so với xu hướng, rồi lấy trung bình theo tháng trong năm, tức mùa vụ nhân. Dòng 10 đến 12 kéo dài xu hướng và nhân hệ số tháng để ra dự báo. Dòng 14 học tới hết 2022 và đánh dấu 16 tháng COVID, từ 3/2020 tới 6/2021. Dòng 15 và 16 là ba cách: giữ, dùng mask rồi interpolate để coi là thiếu, và cắt chỉ giữ sau 6/2021. Kết quả: coi là thiếu cho MAPE 8,71%, giữ nguyên 24,01%. Giữ nguyên thì 16 tháng sụt kéo xu hướng xuống, dự báo thấp gần 20 triệu khách mỗi tháng.</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Buổi 12 là khử nhiễu. Chuỗi bằng tín hiệu cộng nhiễu, và bộ lọc cố ước lượng phần tín hiệu. Câu hỏi đầu tiên với mọi bộ lọc: đầu ra tại thời điểm t có dùng số sau t không?</a:t>
            </a:r>
          </a:p>
          <a:p/>
          <a:p>
            <a:r>
              <a:t>(chỉ vào hình) Năm giờ điện 10, 12, 14, 30, 16. Đứng ở giờ 3. Kiểu trailing chỉ lấy ba giờ đã qua: 10, 12, 14, ra 12. Kiểu centered lấy giờ trước, giờ này và giờ sau: 12, 14, 30, ra 18,67. Con số 30 là của giờ 4, lúc đứng ở giờ 3 chưa ai biết.</a:t>
            </a:r>
          </a:p>
          <a:p/>
          <a:p>
            <a:r>
              <a:t>Nên centered chỉ để mô tả, vẽ báo cáo, tách xu hướng; không bao giờ làm feature dự báo. Trailing dùng được, nhưng phải trả giá bằng độ trễ: trung bình 13 điểm có đỉnh đến sau tín hiệu 6 bước.</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Hạ dữ liệu 10 phút xuống 1 giờ thì hiện ra một chu kỳ 2,5 giờ. Nó từ đâu ra?</a:t>
            </a:r>
          </a:p>
          <a:p/>
          <a:p>
            <a:r>
              <a:t>(chỉ vào hình) Đường xám là sóng thật, lặp mỗi 4 bước. Chấm đỏ là các mẫu, lấy mỗi 3 bước một lần. Nối các chấm lại được sóng nét đứt, lặp mỗi 12 bước, không có thật. Hiện tượng này gọi là aliasing, giống bánh xe trong phim cũ trông như quay ngược.</a:t>
            </a:r>
          </a:p>
          <a:p/>
          <a:p>
            <a:r>
              <a:t>Quy tắc Nyquist: lấy mẫu với tần số f_s thì chỉ thấy đúng dao động chậm hơn một nửa f_s. Dao động nhanh hơn bị gập xuống: lấy tần số thật trừ bội số gần nhất của tần số lấy mẫu. Ở đây một phần tư trừ một phần ba, trị tuyệt đối là một phần mười hai, tức chu kỳ giả 12 bước. Với dữ liệu 10 phút, dao động 43 phút gập thành đúng chu kỳ giả 2,5 giờ đó.</a:t>
            </a:r>
          </a:p>
          <a:p/>
          <a:p>
            <a:r>
              <a:t>Cách tránh: lọc thông thấp, bỏ dao động nhanh, rồi mới hạ mẫu.</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Sang buổi 12: nhiễu và tần số. Trước khi lọc hay hạ mẫu, ta đọc phổ, tức xem dao động của chuỗi nằm ở tần số nào. (chỉ vào hình trái) Trục ngang là tần số, trục đứng là năng lượng. Cả hai cảm biến có đỉnh ở chu kỳ khoảng một ngày, nhưng điện thiết bị còn 17,8% năng lượng ở dao động nhanh hơn một giờ, còn nhiệt độ phòng gần như không có. Nên lọc nhiệt độ chỉ thêm trễ. (chỉ vào hình phải) Lấy mẫu quá thưa thì dao động nhanh biến thành nhịp chậm không có thật, gọi là aliasing, như bánh xe quay ngược trong phim cũ. Giới hạn Nyquist là nửa tần số lấy mẫu; nhanh hơn mức đó sẽ bị gập xuống. Dao động 43 phút, hạ mẫu thô xuống 1 giờ, sinh chu kỳ giả 2,5 giờ. Sửa: lọc thông thấp trước khi hạ mẫu.</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Trước khi lọc, đo hai thứ: nhịp nào mạnh nhất, và dao động nhanh chiếm bao nhiêu năng lượng. Dòng 5 đến 7 là hai dãy tính tay: dãy đổi dấu mỗi bước lặp mỗi 2 bước, dãy ba cộng ba trừ lặp mỗi 6 bước; periodogram phải cho đỉnh ở 0,5 và một phần sáu. Dòng 9 đến 12 là hàm pho: trừ trung bình trước, để thành phần tần số 0 không át hết, rồi dùng Welch, tức chia chuỗi thành đoạn và lấy trung bình phổ các đoạn cho ổn định. Dòng 14 và 15 tìm chu kỳ mạnh nhất, bỏ qua tần số 0. Dòng 16 là tỷ lệ năng lượng ở tần số trên 1 vòng mỗi giờ. Kết quả: ví dụ tay đúng ở 0,5 và một phần sáu; cả hai cảm biến có đỉnh 24,38 giờ; điện thiết bị có 17,8% năng lượng dưới 1 giờ, nhiệt độ phòng 0,0.</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Dòng 5 và 6 là công thức tần số giả: lấy trị tuyệt đối của f trừ k lần tần số lấy mẫu, với k là số nguyên gần f chia tần số lấy mẫu nhất. Dòng 11 là hạ mẫu thô: cứ 6 mẫu lấy một, từ 10 phút lên 1 giờ. Dòng 12 thiết kế bộ lọc Butterworth cắt ở 0,8 lần Nyquist mới, tức chừa một khoảng an toàn. Dòng 13 lọc hai chiều rồi mới lấy mẫu; ở đây ta xử lý dữ liệu lịch sử nên lọc hai chiều không sao, nhưng không dùng cách này làm feature. Dòng 15 và 16 tạo chuỗi thử: nhịp ngày cộng dao động 1,4 chu kỳ mỗi giờ. Kết quả: 1,4 lấy mẫu mỗi giờ gập thành 0,4, tức chu kỳ giả 2,5 giờ; công suất ở đó là 64,0 khi hạ mẫu thô và 0,0 khi lọc trước.</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 cách làm trơn nhân quả nào trễ ít hơn không? Có: EWMA, trung bình trượt hàm mũ.</a:t>
            </a:r>
          </a:p>
          <a:p/>
          <a:p>
            <a:r>
              <a:t>Công thức rất gọn: đầu ra mới bằng alpha nhân số mới, cộng một trừ alpha nhân đầu ra trước. Với alpha 0,5 và chuỗi 10, 20, 10, ta được 10, rồi 15, rồi 12,5. Mỗi bước chỉ cần nhớ một con số.</a:t>
            </a:r>
          </a:p>
          <a:p/>
          <a:p>
            <a:r>
              <a:t>(chỉ vào hình) Trục ngang là số bước lùi về quá khứ, trục dọc là trọng số. Trung bình 13 điểm chia đều rồi cắt hẳn; EWMA dồn phần lớn vào vài điểm mới nhất. Vì vậy cùng độ trơn mà trễ ít hơn: đo được trung bình 13 điểm trễ 6 bước, EWMA alpha 0,15 trễ 4.</a:t>
            </a:r>
          </a:p>
          <a:p/>
          <a:p>
            <a:r>
              <a:t>Một lưu ý khi dùng pandas: alpha, span và com là ba cách khai cùng một tham số. span bằng 9 là alpha 0,2, còn com bằng 9 là alpha 0,1. Luôn ghi rõ đã khai cái nào.</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Sáu họ bộ lọc, mười cấu hình. Cái nào dùng được làm feature dự báo?</a:t>
            </a:r>
          </a:p>
          <a:p/>
          <a:p>
            <a:r>
              <a:t>Savitzky–Golay khớp đa thức quanh mỗi điểm. Butterworth cắt tần số theo ngưỡng. Kalman ước lượng tín hiệu ẩn.</a:t>
            </a:r>
          </a:p>
          <a:p/>
          <a:p>
            <a:r>
              <a:t>(chỉ vào hình) Tín hiệu nhảy từ 0 lên 1 tại vạch chấm. Bản một chiều, màu xanh, chỉ lên sau vạch: nó trễ. Bản xuôi rồi ngược, màu cam, đã lên trước vạch. Nó không trễ vì đầu ra lúc đó đã dùng số của tương lai.</a:t>
            </a:r>
          </a:p>
          <a:p/>
          <a:p>
            <a:r>
              <a:t>Trên tín hiệu mô phỏng, ba bộ lọc có sai số thấp nhất đều nhìn tương lai. Đổi 10 số cuối chuỗi thì sosfilt giữ nguyên quá khứ, còn filtfilt đổi quá khứ tới 23,615 và kéo ngược 274 bước. Bù lại, Butterworth nhân quả trễ 19 bước. Dùng được làm feature chỉ có trailing, EWMA, sosfilt và Kalman filter với tham số cố định từ phần học.</a:t>
            </a:r>
          </a:p>
          <a:p/>
          <a:p>
            <a:r>
              <a:t>Độ trơn luôn phải trả bằng trễ, hoặc bằng việc nhìn tương lai.</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Như slide trước đã nói, độ trơn luôn phải trả giá: hoặc trễ, hoặc nhìn tương lai. Trung bình trượt 13 điểm kiểu trailing chạy sau tín hiệu 6 bước. (chỉ vào hình) Buổi 12 so sáu họ bộ lọc trong mười cấu hình. Ba cái RMSE thấp nhất, trung bình trượt centered, Kalman smoother và Savitzky–Golay, đều nhìn tương lai, nên không dùng được làm feature. Nếu chỉ nhìn bảng RMSE, ta sẽ chọn đúng bộ lọc không chạy được lúc dự báo. Sửa: thêm cột "nhân quả" vào bảng xếp hạng và chỉ so các bộ lọc nhân quả với nhau. Trong nhóm này Kalman filter tốt nhất, RMSE 0,584; Butterworth nhân quả tệ nhất, 2,419, vì trễ 19 bước. Thêm một lưu ý: khử nhiễu bôi nhoè bước nhảy, nên tìm điểm gãy trước rồi mới lọc.</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chạy các họ bộ lọc trên cùng một chuỗi mô phỏng có nhiễu, seed 0, nên biết được tín hiệu thật để tính RMSE. Dòng 7 và 8: tham số Kalman chỉ học trên một phần ba đầu, để không rò rỉ qua tham số. Dòng 9 đến 11: trung bình trượt trailing, centered và EWMA. Dòng 12: Savitzky–Golay khớp đa thức bậc 2 trong cửa sổ 13 điểm có tâm, giữ đỉnh tốt nhưng dùng điểm phía sau. Dòng 13 và 14 là cùng một bộ Butterworth, chạy một chiều bằng sosfilt hoặc hai chiều bằng sosfiltfilt. Dòng 15 và 16: Kalman filter chỉ dùng quá khứ, Kalman smoother dùng cả hai phía. Kết quả: ba RMSE thấp nhất, centered 0,357, Kalman smoother và Savitzky–Golay, đều nhìn tương lai. Nhân quả tốt nhất là Kalman filter, 0,584, trễ chỉ 1 bước.</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Tài liệu thư viện không nói bộ lọc có dùng số của giờ sau không. Kiểm thế nào? Đổi đuôi, xem đầu.</a:t>
            </a:r>
          </a:p>
          <a:p/>
          <a:p>
            <a:r>
              <a:t>Năm giờ điện 10, 12, 14, 30, 16, đổi giờ cuối từ 16 thành 40. Trung bình trượt kiểu centered ở giờ 4 đổi từ 20 thành 28: một con số quá khứ bị sửa khi dữ liệu mới về. Kiểu trailing ở giờ 4 vẫn 18,67.</a:t>
            </a:r>
          </a:p>
          <a:p/>
          <a:p>
            <a:r>
              <a:t>(chỉ vào hình) Ô dưới, trục dọc là đầu ra mới trừ đầu ra cũ, thang log. Nhìn bên trái vạch đen đứt, chỗ bắt đầu đổi: đường xanh trailing nằm ở 0, đường cam centered nhảy lên ở 6 mốc ngay trước vạch, đúng nửa cửa sổ 13.</a:t>
            </a:r>
          </a:p>
          <a:p/>
          <a:p>
            <a:r>
              <a:t>Ba chỗ hay sai: so mọi mốc trước điểm đổi, không bỏ đoạn cuối; dung sai theo thang dữ liệu; và tham số ước lượng trên cả chuỗi cũng làm quá khứ đổi, như Kalman filter khớp lại trên cả chuỗi đổi quá khứ 1,134.</a:t>
            </a:r>
          </a:p>
          <a:p/>
          <a:p>
            <a:r>
              <a:t>Nhân quả thì quá khứ đứng yên.</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Như slide trước đã nói, bộ lọc nhân quả chỉ dùng dữ liệu tới thời điểm đang xét. Nhưng đọc code không phải lúc nào cũng thấy nó có nhìn tương lai hay không, nên ta cần một phép thử: đổi vài điểm cuối chuỗi rồi chạy lại. Quá khứ mà đổi theo là bộ lọc đã nhìn tương lai. (chỉ vào hình) Sau khi đổi 10 giá trị cuối, trailing không đổi ở mốc nào trước đó; centered đổi ở 6 mốc ngay trước. Cái giá nếu bỏ qua: feature làm trơn kiểu centered hay filtfilt hứa giảm MAE 24 đến 28%, còn mọi feature nhân quả chỉ giúp 1 đến 6%, và phần thưởng giả mất sạch khi chạy thật. Sửa: dùng trailing, EWMA hay sosfilt; tham số ước lượng trên phần học rồi cố định; và luôn chấm trên chuỗi gốc.</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Bắt đầu bằng ví dụ năm giờ tính tay được. Dòng 3: năm giờ điện, giờ 4 vọt lên 30. Dòng 4 và 5 là hai kiểu trung bình trượt ba điểm: trailing lấy điểm đang xét và hai điểm trước, centered lấy một trước, một sau. Dòng 7 và 8: giả sử số của giờ 5 về khác đi, đổi từ 16 thành 40. Dòng 9 và 10 xem giá trị ở giờ 4 có đổi theo không. Kết quả: ngay từ đầu, centered ở giờ 3 đã ra 18,67, vì nó cộng cả số 30 của giờ 4, tức biết trước cú vọt. Khi giờ 5 đổi thành 40, centered ở giờ 4 nhảy từ 20 lên 28, nghĩa là quá khứ bị viết lại; trailing ở giờ 4 vẫn là 18,67. Đó chính là phép thử đổi đuôi, ở quy mô năm số.</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Giờ biến phép thử đó thành một hàm chạy được cho mọi bộ lọc. Dòng 6: chạy bộ lọc trên chuỗi gốc. Dòng 7 đến 9: cộng 50 vào 10 số cuối rồi chạy lại. Dòng 10: so mọi mốc trước chỗ đổi, NaN đổi thành 0 để phép trừ không ra NaN. Dòng 11 và 12: lệch vượt sai số máy tính thì báo có nhìn tương lai; ngưỡng tính theo độ lớn chuỗi để không báo nhầm vì sai số làm tròn. Dòng 14 kiểm cả mười cấu hình bộ lọc. Kết quả: 6 trên 10 cấu hình nhìn tương lai. Centered 13 đổi quá khứ tới 23,077. Kalman khớp lại trên cả chuỗi đổi 1,134, tức bộ lọc nhân quả vẫn rò rỉ qua tham số. filtfilt làm bẩn ngược tới 274 bước, xa hơn nhiều so với độ rộng cửa sổ mà ta tưởng.</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Làm trơn feature bằng bộ lọc nhân quả thì được. Còn làm trơn chính mục tiêu thì sao?</a:t>
            </a:r>
          </a:p>
          <a:p/>
          <a:p>
            <a:r>
              <a:t>Cùng một mô hình dự báo điện một giờ tới. Chấm trên điện thật, MAE là 46,84 Wh. Chấm trên điện đã làm trơn bằng trung bình centered 13 điểm, MAE còn 35,78, giảm 23,6%. Mô hình không đổi một chút nào; nó chỉ được chấm trên một đề dễ hơn và không có thật, vì không ai trả tiền điện đã làm trơn.</a:t>
            </a:r>
          </a:p>
          <a:p/>
          <a:p>
            <a:r>
              <a:t>(chỉ vào hình) Đường làm trơn cắt mất các đỉnh nhọn, đúng những chỗ mô hình sai nhiều nhất.</a:t>
            </a:r>
          </a:p>
          <a:p/>
          <a:p>
            <a:r>
              <a:t>Cách sửa: luôn chấm trên chuỗi gốc. Nếu người dùng thật sự cần trung bình 3 giờ tới, thì định nghĩa lại mục tiêu thành đúng đại lượng đó và ghi rõ trong báo cáo.</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Như mấy slide trước đã nói, feature nhìn tương lai làm sai số đẹp giả; slide này đo đẹp giả bao nhiêu. Dòng 5 và 6: feature là giá trị đã lọc cộng giá trị hiện tại, mục tiêu là điện 6 bước sau, tức 1 giờ tới, lấy bằng shift âm 6. Dòng 7 và 8 chia theo thời gian, 70% đầu học, 30% sau chấm, không xáo trộn. Dòng 9 đến 11 hồi quy tuyến tính bằng bình phương nhỏ nhất với lstsq. Dòng 12 tính MAE trên chuỗi gốc, không phải chuỗi đã lọc. Dòng 14 đến 16 so ba trường hợp: không lọc, centered, trailing. Kết quả: không lọc MAE 46,84 Wh. Centered giảm 27,7%, filtfilt giảm 24,5%, đều là giả. Feature nhân quả chỉ giúp 0,9 đến 5,9%. Đó mới là con số ta được hưởng khi chạy thật.</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Sang buổi 13: rò rỉ tương lai, tức dùng thông tin chưa có lúc ra dự báo. Nó không bao giờ báo lỗi; triệu chứng duy nhất là backtest đẹp còn dùng thật thì tệ. Nên ta phải có máy kiểm. kiem_ro_ri làm ba bước: cắt dữ liệu tại một mốc, tính lại feature, so từng dòng trước mốc. Giống hệt thì chưa thấy rò rỉ; khác là feature đã dùng tương lai. (chỉ vào hình) Bản shift 1 rồi rolling 7 trùng khít; bản rolling center bằng True lệch ngay trước mốc cắt. Ba kiểu rò rỉ qua cả chuỗi hay gặp: scaler tính trên toàn bộ dữ liệu, target encoding tính trên cả chuỗi, nội suy dùng điểm phía sau. Cách sửa chung: chỉ fit trên phần học. Thêm kiểm nhiễu mục tiêu để bắt lag nhỏ hơn tầm dự báo. Và nhớ: kiểm xanh không chứng minh là sạch.</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này đặt bản sai cạnh bản đúng cho ba kiểu rò rỉ, trên sáu ngày tính tay được. Dòng 4 đến 7: sáu ngày, hai nhóm A và B xen kẽ, ngày 3 bị mất số. Dòng 8 và 9, chuẩn hoá: bản sai dùng trung bình cả sáu ngày, bản đúng dùng shift 1 rồi expanding, tức chỉ trung bình tới hôm qua. Dòng 10 đến 12, trung bình nhóm: bản sai lấy trung bình cả nhóm, bản đúng tính theo nhóm nhưng chỉ trên quá khứ. Dòng 13 và 14, điền chỗ thiếu: nội suy hai phía so với ffill lấy hôm trước. Kết quả: mọi ô z đều dùng trung bình 13,33, trong đó có cả hai ngày cuối. Ngày 1 mang trung bình nhóm A là 12,67, chứa số 20 của ngày 5. Điền hai phía ra 13 vì đã nhìn ngày 4, ffill ra 12.</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máy tự tìm rò rỉ. Dòng 3: tính feature một lần trên dữ liệu đầy đủ. Dòng 4 và 5: chọn ba mốc cắt ở 50, 70 và 90% chuỗi, vì ở một mốc, rò rỉ có thể không hiện ra. Dòng 7: bỏ phần sau mốc rồi tính lại. Dòng 9: so mọi dòng trước mốc, không bỏ dòng cuối nào, vì rò rỉ hay nằm sát mốc. Dòng 11 đến 15: so từng cột bằng isclose với equal_nan bằng True, nên NaN gặp số vẫn tính là khác; cột nào đổi dù chỉ một dòng là rò rỉ, trả về kèm số dòng đổi. Kết quả: bản làm ẩu, một mốc và bỏ 10 dòng cuối, chỉ bắt 4 cột, để lọt tb_7. Bản đúng bắt đủ 5 cột. Bộ 41 cột đã sửa qua sạch cả hai bài kiểm.</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Kiểu rò rỉ cuối khó thấy nhất: biến ngoại sinh, ví dụ nhiệt độ khi dự báo tải điện. Lúc dự báo, ta chỉ có bản dự báo nhiệt độ, không có nhiệt độ thật. (chỉ vào hình) Backtest dùng nhiệt độ thật hứa giảm sai số 3,85%. Chạy thật bằng dự báo trước 1 ngày còn giảm 3,10%. Chạy bằng dự báo trước 3 ngày thì sai số tăng 2,20%, tệ hơn không dùng nhiệt độ, vì mô hình học tin nhiệt độ quá mức. Kiểm bằng một câu hỏi cho từng biến: lúc ra dự báo, con số này đã có trong tay chưa? Sửa: huấn luyện bằng các bản dự báo đã lưu lại, ghép bằng merge_asof có tolerance. Dự báo trước 3 ngày kém tới mức huấn luyện bằng chính nó vẫn tăng sai số 2,92%, nên bỏ hẳn feature đó.</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Dòng 4: mục tiêu là tải điện 24 giờ sau, lấy bằng shift âm 24. Dòng 5: vì mục tiêu đã ở t cộng 24, tải hiện tại chính là lag 24, còn shift 144 là lag 168 tính từ giờ đích. Dòng 6 và 7 đưa ba nguồn nhiệt độ về đúng giờ cần dự báo: nhiệt độ thật, dự báo trước 1 ngày, dự báo trước 3 ngày. Dòng 9 là backtest bằng nhiệt độ thật, con số hứa hẹn. Dòng 10 và 11 là kịch bản hay gặp ngoài đời: học bằng thật, chạy bằng dự báo. Dòng 13 đến 15 ghép bằng merge_asof: direction backward chỉ lấy bản tin cũ hơn, tolerance 3 giờ để quá cũ thì bỏ trống. Kết quả: nhiệt độ thật hứa giảm 3,85% sai số; học bằng thật, chạy bằng dự báo trước 3 ngày thì sai số tăng 2,20%, tệ hơn không dùng nhiệt độ.</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C là phần để tra khi làm thật, không phải để học thuộc. Nó gom 24 lỗi hay gặp vào ba bảng, thêm 10 chỗ người mới hay hiểu nhầm, và từ điển Việt – Anh 100 thuật ngữ để các bạn đọc tài liệu gốc. Cách dùng bảng tra: thấy dấu hiệu ở cột trái, chạy phép kiểm ở cột giữa, rồi sửa theo cột phải.</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đầu gom tám lỗi của buổi 3 đến 6: múi giờ, gộp tần suất, điều chỉnh lịch, biến đổi, phân rã. Đọc từ trái sang: dấu hiệu, kiểm bằng gì, sửa thế nào, buổi nào để xem lại. Ba dòng nên nhớ. Dòng "Nóng nhất lúc 20h": giờ nóng nhất trung bình lệch lạ là dấu hiệu các nguồn chưa về cùng UTC. Dòng "Data must be positive": đó là lỗi Box-Cox khi gặp số 0 hay số âm; kiểm y.min, rồi dùng Yeo-Johnson, bản nhận cả số 0 và số âm. Và dòng "Tổng dự báo thấp hơn thật": đổi ngược từ log mà quên hiệu chỉnh bias thì tổng luôn hụt.</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thứ hai là tám lỗi của buổi 7 đến 10: dừng, tương quan, thiếu. Nhấn ba dòng. ADF và KPSS cùng bác bỏ không phải "dừng quanh xu hướng" mà thường do cú sốc hay đổi mức đột ngột; vẽ chuỗi, tìm cú sốc, tách đoạn. Hai chuỗi lạ có r bằng 0,97 thường là tương quan giả do cùng có xu hướng; sai phân rồi tính lại r. Và "min lớn hơn max" nghe vô lý nhưng gặp thật: cột số lưu dạng chữ, kiểm dtypes rồi dùng to_numeric với errors bằng coerce. Dòng cuối, một giá trị chiếm 35%, là mã trá hình ta vừa gặp ở Nội Bài.</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cuối là tám lỗi của buổi 10 đến 15, nhiều dòng các bạn vừa gặp trong phần B. Nhấn ba dòng. "3σ không bắt được gì": thêm một điểm cực lớn để thử, rồi chuyển sang MAD hay Hampel. "Backtest đẹp, dùng thật tệ": chạy kiem_ro_ri nhiều mốc cắt, sửa bằng lag không nhỏ hơn tầm dự báo và chỉ fit trên phần học. Và dòng cuối về gap: gap là số bước bỏ trống giữa mốc cắt và đoạn dự báo khi dữ liệu về trễ. Số liệu về trễ 1 ngày thì gap bằng 24 giờ. Quên gap là backtest đang dùng số liệu mà lúc chạy thật chưa về.</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Mười chỗ này là những câu nghe hợp lý nhưng sai. Cột trái là điều hay nghĩ, cột giữa là thật ra thế nào. Tôi nhấn ba câu. Thứ nhất, "ADF dừng, KPSS không dừng thì là dừng quanh xu hướng": sai, đó là mâu thuẫn, vì hai kiểm định có giả thuyết ngược nhau; thường có cú sốc hoặc đổi mức, hãy vẽ chuỗi. Thứ hai, "CV cao là khó dự báo": chuỗi 10, 30, 10, 30 có CV 0,58 mà rất dễ đoán; độ khó phải đo bằng sai số của baseline. Thứ ba, "chỉ cần thắng seasonal naive": phải thắng cả bốn baseline; trên M4 theo ngày, naive 0,835 và drift 0,810 còn thắng seasonal naive 1,077.</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Năm slide từ điển này để tra, không cần đọc hết. Tên tiếng Anh thống nhất theo Phụ lục E, dùng khi các bạn đọc tài liệu gốc như FPP, statsmodels hay Nixtla. Cột cuối cho biết buổi nào dạy từ đó. Slide đầu là nền móng và hiểu dữ liệu, buổi 1 đến 6. Hai cặp nên nhớ vì gặp liên tục trong tài liệu tiếng Anh: gốc dự báo là forecast origin hay cutoff, và tầm dự báo h là forecast horizon. Thêm "sai số ảo" là in-sample error: sai số đo trên chính dữ liệu đã học, luôn đẹp hơn thật.</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thứ hai: dừng và làm sạch, buổi 6 đến 11. Khi đọc tài liệu tiếng Anh, để ý ba từ. Stationarity là tính dừng, và unit root test là tên chung của ADF với KPSS. Sentinel value là mã trá hình, như 9,999 km ở Nội Bài; tra bằng từ này sẽ ra tài liệu nguồn giải thích mã. Và MCAR, MAR, MNAR là ba kiểu thiếu: thiếu hoàn toàn ngẫu nhiên, thiếu ngẫu nhiên có điều kiện, thiếu vì chính giá trị của nó.</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thứ ba: ngoại lai, bộ lọc, rò rỉ và đánh giá, buổi 11 đến 15. Ba từ đáng nhớ. Masking là che khuất, ngoại lai tự che mình; swamping là mặt ngược lại, gắn cờ oan điểm bình thường. Data leakage hay look-ahead bias là rò rỉ tương lai; tìm bằng cả hai từ vì mỗi cộng đồng quen một cách gọi. Và rolling origin còn được gọi là time series cross-validation, cùng một ý: dự báo cuốn qua nhiều gốc.</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thứ tư gom các thuật ngữ nền về xác suất, biểu đồ và biến đổi từ bảng "Từ mới" của buổi 1 đến 6. Hai dòng đáng nhớ. Point và probabilistic forecast: dự báo điểm cho một số, dự báo phân phối cho cả khoảng khả năng. Và effective sample size, cỡ mẫu hiệu dụng: dữ liệu tự tương quan thì số điểm "đáng giá" ít hơn số dòng, nên khoảng tin cậy phải rộng hơn. Còn random seed là thứ ta ghi kèm mọi con số trong khoá để chạy lại ra đúng số.</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cuối của từ điển: tương quan, làm sạch và bộ lọc, từ buổi 8 đến 15. Ba dòng đáng nhớ. Confounder, biến gây nhiễu, là biến thứ ba làm hai chuỗi trông như liên quan. Artificial masking là che nhân tạo, cách ta chấm các cách điền ở buổi 10; đừng nhầm với masking của ngoại lai ở buổi 11. Và target encoding, mã hoá target, là nguồn rò rỉ hay gặp nếu tính trên cả chuỗi.</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cuối cho biết mỗi thư viện lo phần nào, để khi mở code các bạn biết tra ở đâu. pandas và NumPy có mặt ở mọi buổi: pandas lo bảng dữ liệu theo thời gian như resample, shift, rolling, merge_asof; NumPy lo tính toán trên mảng. statsmodels là thư viện thống kê: ACF, ADF, KPSS, STL. SciPy lo Box-Cox, tương quan và bộ lọc tín hiệu buổi 12. ruptures chỉ để tìm điểm gãy. statsforecast và utilsforecast của Nixtla chạy baseline, backtest và chỉ số nhanh cho hàng nghìn chuỗi. Dòng cuối quan trọng: nhiều hàm như du_bao_cuon hay kiem_ro_ri là tự viết, để thấy rõ từng bước trước khi giao cho thư viện.</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này là bảng tra ngược, các bạn không cần nhớ ngay. Cột trái là lý thuyết, cột giữa là tên hàm, cột thứ ba là thư viện, cột cuối là buổi dạy. Khi ôn lại một khái niệm, ví dụ Box-Cox, các bạn tìm dòng đó, thấy hàm stats.boxcox của SciPy ở buổi 5, rồi mở slide code của buổi 5 để xem cách dùng. Hai điều đáng để ý: pandas xuất hiện ở hầu hết các dòng, vì phần lớn tiền xử lý là thao tác bảng theo thời gian; và dòng cuối, chỉ số sai số, có cả bản tự viết lẫn utilsforecast, vì chúng ta sẽ thấy ở phần sau rằng hai bản này có thể lệch nhau nếu không đọc quy ước.</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Đến đây chúng ta đã làm sạch, biến đổi, tạo feature. Nhưng mọi bước đó chỉ có giá trị nếu dự báo tốt hơn thật, và "tốt hơn thật" phải đo trung thực. Phần D đi qua sáu việc: chẩn đoán phần dư, chọn chỉ số, chia dữ liệu theo thời gian, backtest rolling origin, tách ba đoạn dữ liệu, và kiểm định Diebold–Mariano để biết chênh lệch là thật hay may.</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Câu hỏi đầu tiên: mô hình đã khai thác hết quy luật trong dữ liệu chưa? Phần dư trả lời câu đó. Phần dư là thực tế trừ giá trị khớp trên phần học; còn sai số dự báo đo trên kỳ chấm, phần mô hình chưa thấy. Hai thứ này khác nhau, và chỉ số chính xác luôn tính trên kỳ chấm. (chỉ vào hình) Ô trái là phần dư theo ngày, có một cú rơi rất lớn. Ô giữa là ACF theo trễ: các cột đầu cao vượt hẳn hai đường đứt, trễ 1 tới 0,86. Ô phải là phân phối, lệch khỏi hình chuông. Ljung-Box cho p gần 0, tức còn quy luật bị bỏ sót. Nghĩa là seasonal naive chưa dùng hết thông tin, mô hình tốt hơn có chỗ để thắng, và khoảng dự báo của baseline này không đáng tin.</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Giờ chúng ta kiểm bằng code. Dòng 4 đến 5 tính phần dư seasonal naive: mỗi ngày trừ ngày cùng thứ tuần trước. Dòng 8 đến 10 tính tự tương quan của phần dư ở 14 trễ, bằng np.dot: nhân từng cặp rồi cộng. Dòng 11 đến 12 gộp 14 trễ đó thành một con số Q, cộng bình phương các tự tương quan có trọng số. Dòng 13 đổi Q thành p bằng phân phối chi bình phương: p là xác suất gặp Q lớn cỡ này nếu phần dư chỉ là nhiễu. Dòng 16 dùng Jarque–Bera để hỏi phần dư có gần hình chuông không. Kết quả trên 1.000 chuỗi M4: 99,8% còn tự tương quan, 92,5% không hình chuông, và 46,4% có phương sai đổi hơn 2 lần. Tức là gần như chuỗi nào cũng còn chỗ để cải thiện.</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Chọn chỉ số nghe như việc kỹ thuật, nhưng thật ra là chọn luôn dự báo. Ba chỉ số cơ bản, sai số bằng thực tế trừ dự báo. MAE là trung bình độ lớn sai số. RMSE bình phương trước khi lấy trung bình rồi căn lại, nên phạt nặng sai số lớn. ME giữ dấu: dương nghĩa là dự báo thấp có hệ thống. (chỉ vào hình) Ô trái là 20.000 số lệch phải như doanh số. Ô phải thử từng hằng số dự báo và xem mỗi chỉ số đáy ở đâu: MAE đáy ở trung vị 20,0, RMSE đáy ở trung bình 30,1, MAPE còn đáy thấp hơn cả hai, ở 9,1. Vì vậy hãy chọn chỉ số theo cái giá thật của sai lệch. Một lưu ý: utilsforecast tính bias là dự báo trừ thực tế, ngược dấu với khoá.</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Dòng 3 đến 8 là ba chỉ số, mỗi cái một dòng, sai số là thực tế trừ dự báo. Dòng 10 đến 11 là bảng năm ngày để các bạn tính tay đối chiếu. Dòng 12 sinh 20.000 số lệch phải bằng lognormal, seed 0 để chạy lại ra y hệt. Dòng 13 đến 15 là thí nghiệm chính: chia khoảng giá trị thành 2.000 hằng số c, với mỗi c tính MAE và RMSE nếu ta luôn dự báo c. Dòng 16 dùng np.argmin tìm c làm mỗi chỉ số nhỏ nhất. Kết quả: năm ngày cho MAE 1,6, RMSE 2,10, ME 0,8. Trên số lệch phải, MAE nhỏ nhất ở 20,0, đúng trung vị; RMSE nhỏ nhất ở 30,1, đúng trung bình. Cùng dữ liệu, hai chỉ số đòi hai con số dự báo khác nhau.</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Muốn so sai số giữa các chuỗi khác đơn vị, người ta hay dùng phần trăm, và MAPE là lựa chọn phổ biến. MAPE chia sai số cho thực tế nên có hai điểm yếu. Thực tế bằng 0 thì chia cho 0, ra vô hạn. Và nó lệch không đối xứng: thật 100, dự báo 150 ra 50%, nhưng thật 150, dự báo 100 chỉ ra 33,3%. (chỉ vào hình) Mỗi ô là hạng của một baseline theo một chỉ số, ô trái là M4, ô phải là bán lẻ có 75% ngày bằng 0. M4 gần như cùng thứ hạng ở mọi chỉ số; bán lẻ thì hạng nhất đổi theo chỉ số, còn cột MAPE toàn gạch vì không tính được. Thay thế là WAPE, lấy tổng chia tổng, và MASE, chia cho sai số của baseline. Ngay sau slide code, một slide riêng nói kỹ MASE.</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Cùng lệch 50 đơn vị, vì sao dự báo cao bị MAPE phạt nặng hơn dự báo thấp?</a:t>
            </a:r>
          </a:p>
          <a:p/>
          <a:p>
            <a:r>
              <a:t>MAPE chia sai số cho thực tế. Thực tế 100, dự báo 150: lệch 50 chia 100, ra 50%. Thực tế 150, dự báo 100: vẫn lệch 50 nhưng chia 150, chỉ còn 33,3%. Dự báo thấp sai nhiều nhất là 100%, khi dự báo bằng 0, còn dự báo cao thì sai bao nhiêu phần trăm cũng được. Nên tối ưu MAPE sẽ kéo dự báo xuống thấp.</a:t>
            </a:r>
          </a:p>
          <a:p/>
          <a:p>
            <a:r>
              <a:t>(chỉ vào hình) Với 20.000 số mô phỏng lệch phải như doanh số, ở ô phải trục ngang là hằng số dự báo, trục dọc là chỉ số, chia cho giá trị nhỏ nhất của chính nó. Nhìn đáy ba đường: MAE đáy ở 20,0, đúng trung vị; RMSE ở 30,1, là trung bình; MAPE ở 9,1, thấp hơn cả hai.</a:t>
            </a:r>
          </a:p>
          <a:p/>
          <a:p>
            <a:r>
              <a:t>sMAPE mang tên đối xứng nhưng cũng không đối xứng. Chọn mô hình bằng MAPE là nghiêng về dự báo thấp.</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 chỉ số phần trăm, mỗi hàm xử lý số 0 một kiểu. Dòng 3 đến 6 là MAPE: chia từng sai số cho từng thực tế. Dòng 5 có np.errstate để tắt cảnh báo chia cho 0, nhưng chúng ta cố ý để kết quả vô hạn hiện ra, không giấu đi. Dòng 8 đến 12 là sMAPE kiểu M4: chia cho tổng độ lớn thực tế và dự báo, nhân 200, nên thang đi từ 0 tới 200; ô nào mẫu bằng 0 thì np.where cho 0. Dòng 14 đến 16 là WAPE: tổng sai số chia tổng thực tế, chỉ hỏng khi cả chuỗi bằng 0. Kết quả trên bảng năm ngày: MAPE 12,8%, sMAPE 13,6, WAPE 13,3%. Thêm một ngày thực tế bằng 0 thì MAPE thành vô hạn ngay, và trên 300 mã bán lẻ, MAPE không tính được.</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Chỉ số phần trăm vỡ khi có số 0. MASE tránh việc chia cho thực tế.</a:t>
            </a:r>
          </a:p>
          <a:p/>
          <a:p>
            <a:r>
              <a:t>MASE lấy MAE trên kỳ chấm, chia cho MAE của seasonal naive trên phần học. Kết quả đọc là: mô hình sai bằng bao nhiêu lần mức sai quen thuộc của baseline trên chuỗi này. Ví dụ phần học 9, 11, 10, 12, 13: bước nhảy trung bình 1,5. MAE kỳ chấm 1,6 thì MASE là 1,07. RMSSE làm tương tự với bình phương, dùng ở cuộc thi M5.</a:t>
            </a:r>
          </a:p>
          <a:p/>
          <a:p>
            <a:r>
              <a:t>Có hai chỗ hay nhầm. Một, mẫu số phải lấy trên phần học; lấy trên kỳ chấm là dùng thông tin tương lai, và MASE của naive trên M4 ra 0,972 thay vì 0,835. Hai, MASE dưới 1 chưa chắc thắng seasonal naive trên kỳ chấm, vì kỳ chấm thường khó hơn. Muốn biết thì chạy baseline trên cùng kỳ.</a:t>
            </a:r>
          </a:p>
          <a:p/>
          <a:p>
            <a:r>
              <a:t>(chỉ vào hình buổi 9) Vì mẫu số lớn lên theo độ khó của chuỗi, MASE của seasonal naive nằm ngang quanh 1. MASE dùng để so mô hình, không để đo độ khó.</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Như slide trước, MASE chia sai số cho sai số của seasonal naive trên phần học. Dòng 4 là chỗ quan trọng nhất: sai số seasonal naive tính trên phần học, không phải trên kỳ chấm. Dòng 5 đến 7 lấy trung bình trị tuyệt đối cho MASE, hoặc trung bình bình phương cho RMSSE. Dòng 9 đến 11 chia MAE kỳ chấm cho mẫu số đó. Dòng 11 còn một chi tiết: mẫu số bằng 0, ví dụ chuỗi phẳng, thì trả NaN chứ không trả 0, để khỏi lẫn với dự báo hoàn hảo. Dòng 13 đến 15 là RMSSE, làm y hệt với bình phương rồi căn. Ví dụ tay: MASE bằng 1,6 chia 1,5, khoảng 1,07; RMSSE khoảng 1,33. Nếu lấy nhầm mẫu số trên đoạn chấm như code đầu buổi, MASE của naive trên M4 ra 0,972 thay vì 0,835.</a:t>
            </a:r>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 nhiều chuỗi thì phải gộp, và gộp là chỗ dễ giấu lỗi. Dòng 3 đến 5 bỏ các ô vô hạn hay NaN, nhưng đếm số ô đó để báo ra. Dòng 6 gộp bằng cả trung vị và trung bình: trung vị không bị vài chuỗi cực đoan kéo, trung bình thì bị. Dòng 8 đến 12 xếp hạng mô hình theo từng chỉ số bằng rank; riêng ME xếp theo trị tuyệt đối vì ME âm hay dương đều là lệch. Dòng 15 đến 16 đối chiếu với utilsforecast: thư viện trả tỷ lệ 0 tới 1, phải nhân 200 mới về thang M4. Kết quả trên 300 mã bán lẻ: hạng nhất đổi theo chỉ số, naive thắng theo MAE, seasonal naive thắng theo sMAPE. Còn sMAPE tự viết 3,59 so với utilsforecast 0,0179, lệch 200 lần chỉ vì quy ước.</a:t>
            </a:r>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Có chỉ số rồi, câu hỏi tiếp theo là chấm trên đoạn nào. Học máy thông thường chia ngẫu nhiên. Với chuỗi thời gian, đó là nhìn trộm tương lai. (chỉ vào hình) Trục ngang là thời gian, xanh là điểm học, cam là điểm kiểm. Hàng trên là chia ngẫu nhiên: chấm cam nằm xen giữa chấm xanh, tức mô hình được học cả hôm qua lẫn ngày mai của điểm đang kiểm. Hai hàng dưới là hai cách đúng: hold-out kiểm một lần trên đoạn cuối; rolling origin kiểm nhiều lần, lần nào cũng chỉ học quá khứ. Triệu chứng của chia ngẫu nhiên là sai số lúc kiểm rất đẹp, chạy thật thì tệ, và ta dễ chọn nhầm mô hình giỏi học thuộc. Cách kiểm đơn giản: nhìn xem điểm kiểm có xen giữa điểm học không.</a:t>
            </a:r>
          </a:p>
        </p:txBody>
      </p:sp>
      <p:sp>
        <p:nvSpPr>
          <p:cNvPr id="4" name="Slide Number Placeholder 3"/>
          <p:cNvSpPr>
            <a:spLocks noGrp="1"/>
          </p:cNvSpPr>
          <p:nvPr>
            <p:ph type="sldNum" idx="5" sz="quarter"/>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Giờ đo bằng số xem chia ngẫu nhiên hứa sai bao nhiêu. Dòng 5 đặt mốc 1 tháng 10 năm 2024: ba tháng cuối là hold-out, không đụng tới. Dòng 6 đến 8 dựng feature lag từ 24 giờ trở lên cộng lịch, và chỉ lấy phần trước mốc để học. Dòng 10 đến 13 chạy KFold 5 phần có xáo trộn, ước lượng sai số theo kiểu học máy thông thường. Dòng 14 đến 15 làm cách trung thực: học một lần trên quá khứ, chấm trên ba tháng sau. Kết quả với rừng ngẫu nhiên: K-fold hứa 1.639 MW, hold-out thật 2.129 MW, tức K-fold hứa thấp hơn thật 23,0%. Hồi quy tuyến tính cũng lệch, nhưng ít hơn, 11,8%, vì mô hình tuyến tính khó học thuộc hơn.</a:t>
            </a:r>
          </a:p>
        </p:txBody>
      </p:sp>
      <p:sp>
        <p:nvSpPr>
          <p:cNvPr id="4" name="Slide Number Placeholder 3"/>
          <p:cNvSpPr>
            <a:spLocks noGrp="1"/>
          </p:cNvSpPr>
          <p:nvPr>
            <p:ph type="sldNum" idx="5" sz="quarter"/>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(chỉ vào hình) Trục ngang là hai mô hình, trục dọc là MAE tính bằng MW. Cột cam là K-fold xáo trộn, cột xanh là rolling origin, cột đen là hold-out thật. Nhìn vào độ cao cột cam và cột xanh so với cột đen. Với rừng ngẫu nhiên, K-fold hứa thấp hơn thật 23%, còn rolling origin chỉ lệch 9%. Nhưng đừng coi rolling origin là tiên tri: nó chỉ đúng khi giai đoạn backtest giống tương lai; với hồi quy tuyến tính, cả hai cách đều hứa thấp hơn thật 12 đến 16%. K-fold cũng không phải lúc nào cũng sai: Bergmeir, Hyndman và Koo năm 2018 chỉ ra rằng nếu mô hình chỉ dùng lag và phần dư không còn tự tương quan thì K-fold dùng được. Mô hình càng giỏi nhớ thì K-fold càng lạc quan.</a:t>
            </a:r>
          </a:p>
        </p:txBody>
      </p:sp>
      <p:sp>
        <p:nvSpPr>
          <p:cNvPr id="4" name="Slide Number Placeholder 3"/>
          <p:cNvSpPr>
            <a:spLocks noGrp="1"/>
          </p:cNvSpPr>
          <p:nvPr>
            <p:ph type="sldNum" idx="5" sz="quarter"/>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Rolling origin là backtest như chạy thật. Ta đặt nhiều mốc cắt, gọi là cutoff; ở mỗi cutoff học trên quá khứ rồi dự báo đoạn ngay sau. (chỉ vào ô trái) Trục ngang là cutoff trong tháng 9 năm 2024, trục dọc là MAE của từng cửa sổ 24 giờ. Đường xanh của rừng ngẫu nhiên lên xuống rất mạnh: mỗi cửa sổ là một lần may rủi, nên phải báo cả phân bố sai số chứ không chỉ trung bình. (chỉ vào ô phải) Trục ngang là bước h từ 1 tới 48 giờ; sai số nhảy lên ở bước 25. Tầm thật là 24 giờ thì chỉ nhìn 24 giờ đầu. Cách tính cutoff: cutoff cuối bằng n trừ 1 trừ gap trừ h. Với 30 mốc, h bằng 4, gap bằng 2 thì cutoff cuối là 23, lùi đều 4 bước được 19 và 15.</a:t>
            </a:r>
          </a:p>
        </p:txBody>
      </p:sp>
      <p:sp>
        <p:nvSpPr>
          <p:cNvPr id="4" name="Slide Number Placeholder 3"/>
          <p:cNvSpPr>
            <a:spLocks noGrp="1"/>
          </p:cNvSpPr>
          <p:nvPr>
            <p:ph type="sldNum" idx="5" sz="quarter"/>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Chúng ta tự viết bộ backtest để thấy từng bước. Dòng 6 tính cutoff của cửa sổ cuối sao cho cửa sổ đó kết thúc đúng ở mốc cuối. Dòng 7 đến 8 lùi đều từng buoc để ra các cutoff trước, và chừa gap bước trống sau mỗi cutoff. Dòng 12 là dòng chống rò rỉ: hàm dự báo chỉ nhận các dòng tới cutoff, không thấy đoạn kiểm. Dòng 13 đến 14 dự báo đúng các mốc của đoạn kiểm, và dòng 15 dùng merge ghép dự báo với thực tế để chấm. statsforecast có hàm cross_validation làm cùng việc nhưng không có gap. Kết quả trên tải ERCOT, 28 cửa sổ 24 giờ: rừng ngẫu nhiên 1.944 MW so với hold-out 2.129 MW, lệch 8,7%. Seasonal naive tự viết khớp statsforecast, chênh 0,0, nên ta tin bộ tự viết đúng.</a:t>
            </a:r>
          </a:p>
        </p:txBody>
      </p:sp>
      <p:sp>
        <p:nvSpPr>
          <p:cNvPr id="4" name="Slide Number Placeholder 3"/>
          <p:cNvSpPr>
            <a:spLocks noGrp="1"/>
          </p:cNvSpPr>
          <p:nvPr>
            <p:ph type="sldNum" idx="5" sz="quarter"/>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Rolling origin có bốn lựa chọn, và cả bốn phải khớp với cách mô hình chạy thật. (chỉ vào hình) Mỗi hàng là một cutoff: phần xám là dữ liệu được học, dài dần qua từng hàng, tức là expanding; ô xanh là đoạn được dự báo và chấm. Expanding học toàn bộ quá khứ, dùng khi quá khứ xa vẫn giống hiện tại. Sliding chỉ học L bước gần nhất, ví dụ 90 ngày, dùng khi quá khứ xa đã khác. Gap là số bước bỏ trống bằng đúng độ trễ công bố dữ liệu: số liệu điện về trễ 1 ngày thì gap bằng 24 giờ; quên gap là cho mô hình thấy số liệu chưa về. Refit là học lại mỗi cửa sổ; mô hình nặng thì refit mỗi vài cửa sổ.</a:t>
            </a:r>
          </a:p>
        </p:txBody>
      </p:sp>
      <p:sp>
        <p:nvSpPr>
          <p:cNvPr id="4" name="Slide Number Placeholder 3"/>
          <p:cNvSpPr>
            <a:spLocks noGrp="1"/>
          </p:cNvSpPr>
          <p:nvPr>
            <p:ph type="sldNum" idx="5" sz="quarter"/>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Một con số MAE gộp che mất độ dao động, nên ta tách ra. Dòng 7 đến 8 chạy backtest 28 cửa sổ, mỗi cửa sổ 24 giờ, cho rừng ngẫu nhiên và seasonal naive trên cùng các cửa sổ. Dòng 9 đến 11 dùng groupby theo cutoff để tính một MAE cho mỗi cửa sổ, mỗi mô hình. Dòng 12 gọi describe để tóm từ nhỏ nhất tới lớn nhất. Dòng 14 đến 15 gộp sai số theo buoc_h, tức bước thứ mấy sau cutoff. Kết quả: MAE một ngày của rừng ngẫu nhiên đi từ 583 tới 4.328 MW, gấp bảy lần. Nếu hold-out chỉ rơi vào một ngày, các bạn có thể báo bất kỳ con số nào trong khoảng đó. Trên M4, seasonal naive 24 giờ nhảy lên từ bước 25, vì ngày thứ hai nó lặp lại một ngày đã cũ hơn.</a:t>
            </a:r>
          </a:p>
        </p:txBody>
      </p:sp>
      <p:sp>
        <p:nvSpPr>
          <p:cNvPr id="4" name="Slide Number Placeholder 3"/>
          <p:cNvSpPr>
            <a:spLocks noGrp="1"/>
          </p:cNvSpPr>
          <p:nvPr>
            <p:ph type="sldNum" idx="5" sz="quarter"/>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Hãy nghĩ như đi thi: đề luyện để tune tham số, đề thi thử để chọn mô hình, đề thi thật để báo cáo, và chỉ mở một lần. Học sinh luyện đúng đề thi thật thì điểm cao mà không giỏi hơn. (chỉ vào hình) Trục dọc là MASE trung vị của 414 chuỗi M4 theo giờ, vạch đen là 1. Cột cam là tune, chọn và báo cáo cùng một đoạn: 0,775. Cột xanh là ba đoạn riêng: 1,039. Cùng quy trình, con số cam lạc quan 25%. Lý do: cái thắng trên một đoạn được hưởng cả phần may của đoạn đó. Chọn trên tập kiểm cũng là rò rỉ; đã mở hold-out rồi quay lại chỉnh mô hình thì cần một hold-out mới.</a:t>
            </a:r>
          </a:p>
        </p:txBody>
      </p:sp>
      <p:sp>
        <p:nvSpPr>
          <p:cNvPr id="4" name="Slide Number Placeholder 3"/>
          <p:cNvSpPr>
            <a:spLocks noGrp="1"/>
          </p:cNvSpPr>
          <p:nvPr>
            <p:ph type="sldNum" idx="5" sz="quarter"/>
          </p:nvPr>
        </p:nvSpPr>
        <p:spPr/>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 này tách ba đoạn 48 giờ cuối của mỗi chuỗi. Dòng 3 tạo lưới trọng số w từ 0 tới 1, bước 0,1, tức 11 giá trị. Dòng 9 chia ba đoạn: T để tune, A để chọn, B để báo cáo. Dòng 10 chọn w cho MASE thấp nhất trên đoạn T. Dòng 11 đến 12 chấm sáu phương pháp đơn giản trên đoạn A và chọn cái tốt nhất. Dòng 13 đến 15 chỉ báo MASE của phương pháp đã chọn trên đoạn B, đoạn chưa dùng cho việc gì. Hàm _cham là hàm tự viết tính MASE trên một đoạn 48 giờ. Kết quả trên 414 chuỗi M4 theo giờ: làm tất cả trên đoạn B cho MASE trung vị 0,775; ba đoạn riêng cho 1,039. Con số trung thực tệ hơn 25%.</a:t>
            </a:r>
          </a:p>
        </p:txBody>
      </p:sp>
      <p:sp>
        <p:nvSpPr>
          <p:cNvPr id="4" name="Slide Number Placeholder 3"/>
          <p:cNvSpPr>
            <a:spLocks noGrp="1"/>
          </p:cNvSpPr>
          <p:nvPr>
            <p:ph type="sldNum" idx="5" sz="quarter"/>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Hai mô hình chênh nhau vài phần trăm: thật, hay chỉ may? Kiểm định Diebold–Mariano lấy chênh lệch sai số trung bình chia cho sai số chuẩn của chính chênh lệch đó. p dưới 0,05 thì chênh có thật; từ 0,05 trở lên thì chưa có bằng chứng. (chỉ vào hình) Ô trái là chênh sai số trung bình từng ngày của 92 ngày hold-out: mô hình trộn thắng 53 ngày, thua nhiều ngày khác. Ô phải là ACF của chênh lệch từng giờ: trễ 1 tới 0,91 và còn vượt đường đứt tới khoảng trễ 18. Đó là chỗ cần cẩn thận: bỏ qua tự tương quan này thì p nhỏ giả tạo. Phải cộng tự hiệp phương sai tới trễ h trừ 1 và dùng bản hiệu chỉnh HLN. Thêm nữa, so 20 cặp mô hình thì trung bình khoảng một cặp p dưới 0,05 chỉ do may.</a:t>
            </a:r>
          </a:p>
        </p:txBody>
      </p:sp>
      <p:sp>
        <p:nvSpPr>
          <p:cNvPr id="4" name="Slide Number Placeholder 3"/>
          <p:cNvSpPr>
            <a:spLocks noGrp="1"/>
          </p:cNvSpPr>
          <p:nvPr>
            <p:ph type="sldNum" idx="5" sz="quarter"/>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Dòng 5 tính chênh độ lớn sai số của hai dự báo ở từng giờ. Dòng 8 đến 9 là phần mấu chốt: tính tự hiệp phương sai của chênh lệch ở các trễ từ 0 tới h trừ 1 rồi cộng vào phương sai, vì các giờ gần nhau dùng chung thông tin. Dòng 10 đến 11 là phòng hờ: phương sai ra âm thì lùi về h bằng 1. Dòng 12 lấy chênh trung bình chia sai số chuẩn. Dòng 13 đến 14 là bản ngây thơ, so với hình chuông chuẩn. Dòng 15 đến 16 là bản HLN: nhân hệ số sửa mẫu nhỏ rồi so với phân phối t. Kết quả, mô hình trộn so với seasonal naive trên 2.215 giờ: bản bỏ tự tương quan cho p bằng 0,0000012, trông rất chắc chắn; bản HLN với h bằng 24 cho p bằng 0,16, tức chưa có bằng chứng.</a:t>
            </a:r>
          </a:p>
        </p:txBody>
      </p:sp>
      <p:sp>
        <p:nvSpPr>
          <p:cNvPr id="4" name="Slide Number Placeholder 3"/>
          <p:cNvSpPr>
            <a:spLocks noGrp="1"/>
          </p:cNvSpPr>
          <p:nvPr>
            <p:ph type="sldNum" idx="5" sz="quarter"/>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E ghép mọi thứ từ đầu khoá thành một quy trình. Chỉ cần một câu hỏi để xếp từng bước vào đúng chỗ: bước này có học gì từ dữ liệu không? Nếu có, nó phải làm lại ở mỗi cutoff, chỉ trên dữ liệu trước cutoff.</a:t>
            </a:r>
          </a:p>
        </p:txBody>
      </p:sp>
      <p:sp>
        <p:nvSpPr>
          <p:cNvPr id="4" name="Slide Number Placeholder 3"/>
          <p:cNvSpPr>
            <a:spLocks noGrp="1"/>
          </p:cNvSpPr>
          <p:nvPr>
            <p:ph type="sldNum" idx="5" sz="quarter"/>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Sơ đồ có ba tầng, đọc từ trên xuống; số nhỏ dưới mỗi ô là buổi dạy bước đó. Tầng 1 làm một lần trên toàn bộ dữ liệu, vì các bước này không học tham số nào: nạp và ép kiểu số, đưa về UTC, dựng lưới đủ, đổi mã trá hình thành NaN, nhìn bộ biểu đồ, ghi nhật ký sự kiện, điều chỉnh lịch và lạm phát. Tầng 2, trong khung viền đứt, là nơi rò rỉ hay xảy ra nhất: điền nhân quả, ngưỡng Hampel, λ của Box-Cox, bộ lọc nhân quả, feature với lag từ h trở lên, scaler. Các bước này học từ dữ liệu, nên phải làm lại ở mỗi cutoff; làm trên toàn bộ rồi mới backtest là để tương lai rò vào quá khứ. Tầng 3 là kiểm: rolling origin có gap, chấm MASE hoặc WAPE trên chuỗi gốc so với seasonal naive, và chạy kiem_ro_ri.</a:t>
            </a:r>
          </a:p>
        </p:txBody>
      </p:sp>
      <p:sp>
        <p:nvSpPr>
          <p:cNvPr id="4" name="Slide Number Placeholder 3"/>
          <p:cNvSpPr>
            <a:spLocks noGrp="1"/>
          </p:cNvSpPr>
          <p:nvPr>
            <p:ph type="sldNum" idx="5" sz="quarter"/>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Nếu chỉ nhớ ba điều cho mọi bước tiền xử lý thì là ba điều này. Thứ nhất, chỉ dùng thông tin có trước cutoff: áp cho feature, giá trị điền, tham số biến đổi, và cả biến ngoại sinh, nghĩa là dùng bản dự báo đã lưu chứ không dùng số thật. Đây là lỗi gặp lại ở nhiều buổi nhất. Thứ hai, giữ dữ liệu gốc, gắn cờ thay vì xoá, vì xoá làm thủng lưới thời gian và mất dấu vết; cột cờ cho biết chỗ nào đã sửa. Thứ ba, phải thắng các baseline trên backtest, luôn có seasonal naive. Bước tiền xử lý nào không làm sai số trung thực tốt lên thì bỏ, dù nó trông hợp lý đến đâu.</a:t>
            </a:r>
          </a:p>
        </p:txBody>
      </p:sp>
      <p:sp>
        <p:nvSpPr>
          <p:cNvPr id="4" name="Slide Number Placeholder 3"/>
          <p:cNvSpPr>
            <a:spLocks noGrp="1"/>
          </p:cNvSpPr>
          <p:nvPr>
            <p:ph type="sldNum" idx="5" sz="quarter"/>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cuối nói về dữ liệu dùng trong khoá: dữ liệu thật, bẩn thật, có giấy phép mở đã xác minh. Sau đó là bảng tra mỗi buổi nằm ở slide nào để các bạn ôn, và những phần tiền xử lý các buổi sau sẽ dạy thêm.</a:t>
            </a:r>
          </a:p>
        </p:txBody>
      </p:sp>
      <p:sp>
        <p:nvSpPr>
          <p:cNvPr id="4" name="Slide Number Placeholder 3"/>
          <p:cNvSpPr>
            <a:spLocks noGrp="1"/>
          </p:cNvSpPr>
          <p:nvPr>
            <p:ph type="sldNum" idx="5" sz="quarter"/>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Mười bốn bộ dữ liệu này không được chọn vì sạch, mà vì mỗi bộ dạy một kiểu bẩn. Mỗi thẻ ghi tên bộ, nội dung, dòng đỏ là kiểu bẩn, dòng dưới cùng là tần suất, giấy phép và buổi dùng. Vài ví dụ: điện hộ gia đình ghi thiếu bằng dấu hỏi; taxi New York có giờ naive quanh ngày đổi giờ; Census có ô "(S)" và đổi định nghĩa; EIA-930 đổi cột giữa năm; trạm Nội Bài dùng mã 9,999 và cờ chất lượng; Wikipedia có đỉnh Tết theo lịch âm; Eurostat gãy do COVID; bán lẻ trực tuyến nhiều số 0. Mọi bộ đều tải kèm kiểm sha256, tức dấu vân tay của tệp. Khoá không dùng FRED vì điều khoản cấm dùng cho machine learning; chuỗi kinh tế lấy từ cơ quan gốc.</a:t>
            </a:r>
          </a:p>
        </p:txBody>
      </p:sp>
      <p:sp>
        <p:nvSpPr>
          <p:cNvPr id="4" name="Slide Number Placeholder 3"/>
          <p:cNvSpPr>
            <a:spLocks noGrp="1"/>
          </p:cNvSpPr>
          <p:nvPr>
            <p:ph type="sldNum" idx="5" sz="quarter"/>
          </p:nvPr>
        </p:nvSpPr>
        <p:spPr/>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này dùng khi các bạn muốn ôn một buổi cụ thể. Mỗi dòng là một buổi, bên cạnh là các slide tóm buổi đó. Script sinh slide có kiểm để mọi mục lý thuyết 4.x của buổi 1 đến 15 đều có ít nhất một slide, nên không buổi nào bị bỏ sót. Cách ôn gợi ý: mở các slide của buổi đó, đọc mục tương ứng trong bài đọc kèm, rồi mới quay về tài liệu gốc của buổi khi cần chi tiết.</a:t>
            </a:r>
          </a:p>
        </p:txBody>
      </p:sp>
      <p:sp>
        <p:nvSpPr>
          <p:cNvPr id="4" name="Slide Number Placeholder 3"/>
          <p:cNvSpPr>
            <a:spLocks noGrp="1"/>
          </p:cNvSpPr>
          <p:nvPr>
            <p:ph type="sldNum" idx="5" sz="quarter"/>
          </p:nvPr>
        </p:nvSpPr>
        <p:spPr/>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Buổi 1 đến 15 cho chúng ta quy trình chung. Tiền xử lý chưa dừng ở đây; mỗi loại bài toán sau này thêm phần riêng. (chỉ vào đường thời gian) Số trong vòng tròn là buổi dạy. Buổi 19 xử lý chuỗi thưa nhiều số 0, nối tiếp bộ bán lẻ các bạn đã thấy. Buổi 20 là dữ liệu khác tần suất và số liệu bị sửa lại. Buổi 22 biến chuỗi thành bảng hồi quy, buổi 24 là chuỗi mới chưa có lịch sử, buổi 28 là gộp theo cấp bậc, buổi 29 là cửa sổ cho deep learning. Hai mốc cuối, buổi 41 và 43, đưa lên production: pipeline point-in-time chạy lại ra đúng kết quả, và giám sát drift khi dữ liệu mới đổi.</a:t>
            </a:r>
          </a:p>
        </p:txBody>
      </p:sp>
      <p:sp>
        <p:nvSpPr>
          <p:cNvPr id="4" name="Slide Number Placeholder 3"/>
          <p:cNvSpPr>
            <a:spLocks noGrp="1"/>
          </p:cNvSpPr>
          <p:nvPr>
            <p:ph type="sldNum" idx="5" sz="quarter"/>
          </p:nvPr>
        </p:nvSpPr>
        <p:spPr/>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Năm điều mang về. Nhìn trước, xử lý sau. NaN là không biết, 0 là đo được và bằng không: gắn cờ, đừng xoá. Mọi mốc thời gian về UTC, trên lưới đầy đủ. Chỉ dùng thông tin có trước cutoff. Và mọi mô hình, mọi bước tiền xử lý phải thắng các baseline, luôn có seasonal naive, trên rolling origin. Nếu một bước không qua được bài kiểm cuối cùng này, nó không đáng giữ. Cảm ơn các bạn.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2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notesSlide" Target="../notesSlides/notesSlide2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notesSlide" Target="../notesSlides/notesSlide3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15.png"/><Relationship Id="rId4" Type="http://schemas.openxmlformats.org/officeDocument/2006/relationships/notesSlide" Target="../notesSlides/notesSlide3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image" Target="../media/image17.png"/><Relationship Id="rId4" Type="http://schemas.openxmlformats.org/officeDocument/2006/relationships/notesSlide" Target="../notesSlides/notesSlide3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9.png"/><Relationship Id="rId4" Type="http://schemas.openxmlformats.org/officeDocument/2006/relationships/notesSlide" Target="../notesSlides/notesSlide3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21.png"/><Relationship Id="rId4" Type="http://schemas.openxmlformats.org/officeDocument/2006/relationships/notesSlide" Target="../notesSlides/notesSlide3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notesSlide" Target="../notesSlides/notesSlide3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25.png"/><Relationship Id="rId4" Type="http://schemas.openxmlformats.org/officeDocument/2006/relationships/notesSlide" Target="../notesSlides/notesSlide3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image" Target="../media/image27.png"/><Relationship Id="rId4" Type="http://schemas.openxmlformats.org/officeDocument/2006/relationships/notesSlide" Target="../notesSlides/notesSlide3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notesSlide" Target="../notesSlides/notesSlide4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image" Target="../media/image31.png"/><Relationship Id="rId4" Type="http://schemas.openxmlformats.org/officeDocument/2006/relationships/notesSlide" Target="../notesSlides/notesSlide4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notesSlide" Target="../notesSlides/notesSlide4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4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50.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5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image" Target="../media/image38.png"/><Relationship Id="rId4" Type="http://schemas.openxmlformats.org/officeDocument/2006/relationships/notesSlide" Target="../notesSlides/notesSlide5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notesSlide" Target="../notesSlides/notesSlide5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5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5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58.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image" Target="../media/image45.png"/><Relationship Id="rId4" Type="http://schemas.openxmlformats.org/officeDocument/2006/relationships/notesSlide" Target="../notesSlides/notesSlide60.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image" Target="../media/image47.png"/><Relationship Id="rId4" Type="http://schemas.openxmlformats.org/officeDocument/2006/relationships/notesSlide" Target="../notesSlides/notesSlide6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 Id="rId3" Type="http://schemas.openxmlformats.org/officeDocument/2006/relationships/image" Target="../media/image49.png"/><Relationship Id="rId4" Type="http://schemas.openxmlformats.org/officeDocument/2006/relationships/notesSlide" Target="../notesSlides/notesSlide6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 Id="rId3" Type="http://schemas.openxmlformats.org/officeDocument/2006/relationships/notesSlide" Target="../notesSlides/notesSlide6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notesSlide" Target="../notesSlides/notesSlide6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notesSlide" Target="../notesSlides/notesSlide6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image" Target="../media/image56.png"/><Relationship Id="rId4" Type="http://schemas.openxmlformats.org/officeDocument/2006/relationships/notesSlide" Target="../notesSlides/notesSlide68.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 Id="rId3" Type="http://schemas.openxmlformats.org/officeDocument/2006/relationships/image" Target="../media/image58.png"/><Relationship Id="rId4" Type="http://schemas.openxmlformats.org/officeDocument/2006/relationships/notesSlide" Target="../notesSlides/notesSlide6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 Id="rId3" Type="http://schemas.openxmlformats.org/officeDocument/2006/relationships/notesSlide" Target="../notesSlides/notesSlide7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 Id="rId3" Type="http://schemas.openxmlformats.org/officeDocument/2006/relationships/image" Target="../media/image61.png"/><Relationship Id="rId4" Type="http://schemas.openxmlformats.org/officeDocument/2006/relationships/notesSlide" Target="../notesSlides/notesSlide7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notesSlide" Target="../notesSlides/notesSlide7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 Id="rId3" Type="http://schemas.openxmlformats.org/officeDocument/2006/relationships/notesSlide" Target="../notesSlides/notesSlide76.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 Id="rId3" Type="http://schemas.openxmlformats.org/officeDocument/2006/relationships/notesSlide" Target="../notesSlides/notesSlide7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png"/><Relationship Id="rId3" Type="http://schemas.openxmlformats.org/officeDocument/2006/relationships/image" Target="../media/image67.png"/><Relationship Id="rId4" Type="http://schemas.openxmlformats.org/officeDocument/2006/relationships/notesSlide" Target="../notesSlides/notesSlide7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png"/><Relationship Id="rId3" Type="http://schemas.openxmlformats.org/officeDocument/2006/relationships/image" Target="../media/image69.png"/><Relationship Id="rId4" Type="http://schemas.openxmlformats.org/officeDocument/2006/relationships/notesSlide" Target="../notesSlides/notesSlide8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 Id="rId3" Type="http://schemas.openxmlformats.org/officeDocument/2006/relationships/image" Target="../media/image71.png"/><Relationship Id="rId4" Type="http://schemas.openxmlformats.org/officeDocument/2006/relationships/notesSlide" Target="../notesSlides/notesSlide8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notesSlide" Target="../notesSlides/notesSlide8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png"/><Relationship Id="rId3" Type="http://schemas.openxmlformats.org/officeDocument/2006/relationships/image" Target="../media/image75.png"/><Relationship Id="rId4" Type="http://schemas.openxmlformats.org/officeDocument/2006/relationships/notesSlide" Target="../notesSlides/notesSlide8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png"/><Relationship Id="rId3" Type="http://schemas.openxmlformats.org/officeDocument/2006/relationships/image" Target="../media/image77.png"/><Relationship Id="rId4" Type="http://schemas.openxmlformats.org/officeDocument/2006/relationships/notesSlide" Target="../notesSlides/notesSlide86.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8.png"/><Relationship Id="rId3" Type="http://schemas.openxmlformats.org/officeDocument/2006/relationships/image" Target="../media/image79.png"/><Relationship Id="rId4" Type="http://schemas.openxmlformats.org/officeDocument/2006/relationships/notesSlide" Target="../notesSlides/notesSlide8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png"/><Relationship Id="rId3" Type="http://schemas.openxmlformats.org/officeDocument/2006/relationships/image" Target="../media/image81.png"/><Relationship Id="rId4" Type="http://schemas.openxmlformats.org/officeDocument/2006/relationships/notesSlide" Target="../notesSlides/notesSlide89.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png"/><Relationship Id="rId3" Type="http://schemas.openxmlformats.org/officeDocument/2006/relationships/notesSlide" Target="../notesSlides/notesSlide9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3.png"/><Relationship Id="rId3" Type="http://schemas.openxmlformats.org/officeDocument/2006/relationships/image" Target="../media/image84.png"/><Relationship Id="rId4" Type="http://schemas.openxmlformats.org/officeDocument/2006/relationships/notesSlide" Target="../notesSlides/notesSlide9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5.png"/><Relationship Id="rId3" Type="http://schemas.openxmlformats.org/officeDocument/2006/relationships/image" Target="../media/image86.png"/><Relationship Id="rId4" Type="http://schemas.openxmlformats.org/officeDocument/2006/relationships/notesSlide" Target="../notesSlides/notesSlide9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7.png"/><Relationship Id="rId3" Type="http://schemas.openxmlformats.org/officeDocument/2006/relationships/image" Target="../media/image88.png"/><Relationship Id="rId4" Type="http://schemas.openxmlformats.org/officeDocument/2006/relationships/notesSlide" Target="../notesSlides/notesSlide9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9.png"/><Relationship Id="rId3" Type="http://schemas.openxmlformats.org/officeDocument/2006/relationships/image" Target="../media/image90.png"/><Relationship Id="rId4" Type="http://schemas.openxmlformats.org/officeDocument/2006/relationships/notesSlide" Target="../notesSlides/notesSlide9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1.png"/><Relationship Id="rId3" Type="http://schemas.openxmlformats.org/officeDocument/2006/relationships/image" Target="../media/image92.png"/><Relationship Id="rId4" Type="http://schemas.openxmlformats.org/officeDocument/2006/relationships/notesSlide" Target="../notesSlides/notesSlide10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3.png"/><Relationship Id="rId3" Type="http://schemas.openxmlformats.org/officeDocument/2006/relationships/image" Target="../media/image94.png"/><Relationship Id="rId4" Type="http://schemas.openxmlformats.org/officeDocument/2006/relationships/notesSlide" Target="../notesSlides/notesSlide10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95.png"/><Relationship Id="rId4" Type="http://schemas.openxmlformats.org/officeDocument/2006/relationships/notesSlide" Target="../notesSlides/notesSlide10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6.png"/><Relationship Id="rId3" Type="http://schemas.openxmlformats.org/officeDocument/2006/relationships/image" Target="../media/image97.png"/><Relationship Id="rId4" Type="http://schemas.openxmlformats.org/officeDocument/2006/relationships/notesSlide" Target="../notesSlides/notesSlide10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7.png"/><Relationship Id="rId3" Type="http://schemas.openxmlformats.org/officeDocument/2006/relationships/notesSlide" Target="../notesSlides/notesSlide10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8.png"/><Relationship Id="rId3" Type="http://schemas.openxmlformats.org/officeDocument/2006/relationships/image" Target="../media/image99.png"/><Relationship Id="rId4" Type="http://schemas.openxmlformats.org/officeDocument/2006/relationships/notesSlide" Target="../notesSlides/notesSlide106.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0.png"/><Relationship Id="rId3" Type="http://schemas.openxmlformats.org/officeDocument/2006/relationships/image" Target="../media/image101.png"/><Relationship Id="rId4" Type="http://schemas.openxmlformats.org/officeDocument/2006/relationships/notesSlide" Target="../notesSlides/notesSlide108.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notesSlide" Target="../notesSlides/notesSlide110.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4.png"/><Relationship Id="rId3" Type="http://schemas.openxmlformats.org/officeDocument/2006/relationships/image" Target="../media/image105.png"/><Relationship Id="rId4" Type="http://schemas.openxmlformats.org/officeDocument/2006/relationships/notesSlide" Target="../notesSlides/notesSlide11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6.png"/><Relationship Id="rId3" Type="http://schemas.openxmlformats.org/officeDocument/2006/relationships/image" Target="../media/image107.png"/><Relationship Id="rId4" Type="http://schemas.openxmlformats.org/officeDocument/2006/relationships/notesSlide" Target="../notesSlides/notesSlide113.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8.png"/><Relationship Id="rId3" Type="http://schemas.openxmlformats.org/officeDocument/2006/relationships/image" Target="../media/image109.png"/><Relationship Id="rId4" Type="http://schemas.openxmlformats.org/officeDocument/2006/relationships/notesSlide" Target="../notesSlides/notesSlide11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0.png"/><Relationship Id="rId3" Type="http://schemas.openxmlformats.org/officeDocument/2006/relationships/notesSlide" Target="../notesSlides/notesSlide11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notesSlide" Target="../notesSlides/notesSlide119.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3.png"/><Relationship Id="rId3" Type="http://schemas.openxmlformats.org/officeDocument/2006/relationships/image" Target="../media/image114.png"/><Relationship Id="rId4" Type="http://schemas.openxmlformats.org/officeDocument/2006/relationships/notesSlide" Target="../notesSlides/notesSlide12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5.png"/><Relationship Id="rId3" Type="http://schemas.openxmlformats.org/officeDocument/2006/relationships/image" Target="../media/image116.png"/><Relationship Id="rId4" Type="http://schemas.openxmlformats.org/officeDocument/2006/relationships/notesSlide" Target="../notesSlides/notesSlide12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7.png"/><Relationship Id="rId3" Type="http://schemas.openxmlformats.org/officeDocument/2006/relationships/image" Target="../media/image118.png"/><Relationship Id="rId4" Type="http://schemas.openxmlformats.org/officeDocument/2006/relationships/notesSlide" Target="../notesSlides/notesSlide12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9.png"/><Relationship Id="rId3" Type="http://schemas.openxmlformats.org/officeDocument/2006/relationships/notesSlide" Target="../notesSlides/notesSlide129.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0.png"/><Relationship Id="rId3" Type="http://schemas.openxmlformats.org/officeDocument/2006/relationships/notesSlide" Target="../notesSlides/notesSlide130.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1.png"/><Relationship Id="rId3" Type="http://schemas.openxmlformats.org/officeDocument/2006/relationships/notesSlide" Target="../notesSlides/notesSlide13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notesSlide" Target="../notesSlides/notesSlide13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4.png"/><Relationship Id="rId3" Type="http://schemas.openxmlformats.org/officeDocument/2006/relationships/notesSlide" Target="../notesSlides/notesSlide13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5.png"/><Relationship Id="rId3" Type="http://schemas.openxmlformats.org/officeDocument/2006/relationships/image" Target="../media/image126.png"/><Relationship Id="rId4" Type="http://schemas.openxmlformats.org/officeDocument/2006/relationships/notesSlide" Target="../notesSlides/notesSlide139.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7.png"/><Relationship Id="rId3" Type="http://schemas.openxmlformats.org/officeDocument/2006/relationships/image" Target="../media/image128.png"/><Relationship Id="rId4" Type="http://schemas.openxmlformats.org/officeDocument/2006/relationships/notesSlide" Target="../notesSlides/notesSlide14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9.png"/><Relationship Id="rId3" Type="http://schemas.openxmlformats.org/officeDocument/2006/relationships/image" Target="../media/image130.png"/><Relationship Id="rId4" Type="http://schemas.openxmlformats.org/officeDocument/2006/relationships/notesSlide" Target="../notesSlides/notesSlide145.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1.png"/><Relationship Id="rId3" Type="http://schemas.openxmlformats.org/officeDocument/2006/relationships/notesSlide" Target="../notesSlides/notesSlide148.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2.png"/><Relationship Id="rId3" Type="http://schemas.openxmlformats.org/officeDocument/2006/relationships/notesSlide" Target="../notesSlides/notesSlide15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3.png"/><Relationship Id="rId3" Type="http://schemas.openxmlformats.org/officeDocument/2006/relationships/notesSlide" Target="../notesSlides/notesSlide15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4.png"/><Relationship Id="rId3" Type="http://schemas.openxmlformats.org/officeDocument/2006/relationships/notesSlide" Target="../notesSlides/notesSlide155.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4.png"/><Relationship Id="rId3" Type="http://schemas.openxmlformats.org/officeDocument/2006/relationships/notesSlide" Target="../notesSlides/notesSlide15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5.png"/><Relationship Id="rId3" Type="http://schemas.openxmlformats.org/officeDocument/2006/relationships/notesSlide" Target="../notesSlides/notesSlide159.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6.png"/><Relationship Id="rId3" Type="http://schemas.openxmlformats.org/officeDocument/2006/relationships/notesSlide" Target="../notesSlides/notesSlide160.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7.png"/><Relationship Id="rId3" Type="http://schemas.openxmlformats.org/officeDocument/2006/relationships/notesSlide" Target="../notesSlides/notesSlide16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8.png"/><Relationship Id="rId3" Type="http://schemas.openxmlformats.org/officeDocument/2006/relationships/notesSlide" Target="../notesSlides/notesSlide163.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9.png"/><Relationship Id="rId3" Type="http://schemas.openxmlformats.org/officeDocument/2006/relationships/image" Target="../media/image140.png"/><Relationship Id="rId4" Type="http://schemas.openxmlformats.org/officeDocument/2006/relationships/notesSlide" Target="../notesSlides/notesSlide165.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png"/><Relationship Id="rId3" Type="http://schemas.openxmlformats.org/officeDocument/2006/relationships/notesSlide" Target="../notesSlides/notesSlide166.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9.png"/><Relationship Id="rId3" Type="http://schemas.openxmlformats.org/officeDocument/2006/relationships/notesSlide" Target="../notesSlides/notesSlide169.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2.png"/><Relationship Id="rId3" Type="http://schemas.openxmlformats.org/officeDocument/2006/relationships/notesSlide" Target="../notesSlides/notesSlide170.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3.png"/><Relationship Id="rId3" Type="http://schemas.openxmlformats.org/officeDocument/2006/relationships/notesSlide" Target="../notesSlides/notesSlide17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4.png"/><Relationship Id="rId3" Type="http://schemas.openxmlformats.org/officeDocument/2006/relationships/image" Target="../media/image145.png"/><Relationship Id="rId4" Type="http://schemas.openxmlformats.org/officeDocument/2006/relationships/notesSlide" Target="../notesSlides/notesSlide174.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6.png"/><Relationship Id="rId3" Type="http://schemas.openxmlformats.org/officeDocument/2006/relationships/notesSlide" Target="../notesSlides/notesSlide175.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7.png"/><Relationship Id="rId3" Type="http://schemas.openxmlformats.org/officeDocument/2006/relationships/image" Target="../media/image148.png"/><Relationship Id="rId4" Type="http://schemas.openxmlformats.org/officeDocument/2006/relationships/notesSlide" Target="../notesSlides/notesSlide17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9.png"/><Relationship Id="rId3" Type="http://schemas.openxmlformats.org/officeDocument/2006/relationships/notesSlide" Target="../notesSlides/notesSlide178.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0.png"/><Relationship Id="rId3" Type="http://schemas.openxmlformats.org/officeDocument/2006/relationships/notesSlide" Target="../notesSlides/notesSlide180.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1.png"/><Relationship Id="rId3" Type="http://schemas.openxmlformats.org/officeDocument/2006/relationships/notesSlide" Target="../notesSlides/notesSlide181.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notesSlide" Target="../notesSlides/notesSlide18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4.png"/><Relationship Id="rId3" Type="http://schemas.openxmlformats.org/officeDocument/2006/relationships/notesSlide" Target="../notesSlides/notesSlide184.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5.png"/><Relationship Id="rId3" Type="http://schemas.openxmlformats.org/officeDocument/2006/relationships/notesSlide" Target="../notesSlides/notesSlide186.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6.png"/><Relationship Id="rId3" Type="http://schemas.openxmlformats.org/officeDocument/2006/relationships/image" Target="../media/image157.png"/><Relationship Id="rId4" Type="http://schemas.openxmlformats.org/officeDocument/2006/relationships/notesSlide" Target="../notesSlides/notesSlide188.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8.png"/><Relationship Id="rId3" Type="http://schemas.openxmlformats.org/officeDocument/2006/relationships/image" Target="../media/image159.png"/><Relationship Id="rId4" Type="http://schemas.openxmlformats.org/officeDocument/2006/relationships/notesSlide" Target="../notesSlides/notesSlide189.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0.png"/><Relationship Id="rId3" Type="http://schemas.openxmlformats.org/officeDocument/2006/relationships/image" Target="../media/image161.png"/><Relationship Id="rId4" Type="http://schemas.openxmlformats.org/officeDocument/2006/relationships/notesSlide" Target="../notesSlides/notesSlide190.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notesSlide" Target="../notesSlides/notesSlide19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4.png"/><Relationship Id="rId3" Type="http://schemas.openxmlformats.org/officeDocument/2006/relationships/notesSlide" Target="../notesSlides/notesSlide19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5.png"/><Relationship Id="rId3" Type="http://schemas.openxmlformats.org/officeDocument/2006/relationships/notesSlide" Target="../notesSlides/notesSlide19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6.png"/><Relationship Id="rId3" Type="http://schemas.openxmlformats.org/officeDocument/2006/relationships/notesSlide" Target="../notesSlides/notesSlide19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7.png"/><Relationship Id="rId3" Type="http://schemas.openxmlformats.org/officeDocument/2006/relationships/notesSlide" Target="../notesSlides/notesSlide198.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8.png"/><Relationship Id="rId3" Type="http://schemas.openxmlformats.org/officeDocument/2006/relationships/notesSlide" Target="../notesSlides/notesSlide20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9.png"/><Relationship Id="rId3" Type="http://schemas.openxmlformats.org/officeDocument/2006/relationships/notesSlide" Target="../notesSlides/notesSlide203.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0.png"/><Relationship Id="rId3" Type="http://schemas.openxmlformats.org/officeDocument/2006/relationships/notesSlide" Target="../notesSlides/notesSlide206.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8.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9.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0.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1.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3.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4.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5.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6.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8.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9.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0.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1.png"/><Relationship Id="rId3" Type="http://schemas.openxmlformats.org/officeDocument/2006/relationships/image" Target="../media/image172.png"/><Relationship Id="rId4" Type="http://schemas.openxmlformats.org/officeDocument/2006/relationships/notesSlide" Target="../notesSlides/notesSlide221.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3.png"/><Relationship Id="rId3" Type="http://schemas.openxmlformats.org/officeDocument/2006/relationships/image" Target="../media/image174.png"/><Relationship Id="rId4" Type="http://schemas.openxmlformats.org/officeDocument/2006/relationships/notesSlide" Target="../notesSlides/notesSlide223.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5.png"/><Relationship Id="rId3" Type="http://schemas.openxmlformats.org/officeDocument/2006/relationships/image" Target="../media/image176.png"/><Relationship Id="rId4" Type="http://schemas.openxmlformats.org/officeDocument/2006/relationships/notesSlide" Target="../notesSlides/notesSlide225.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4.png"/><Relationship Id="rId3" Type="http://schemas.openxmlformats.org/officeDocument/2006/relationships/notesSlide" Target="../notesSlides/notesSlide226.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7.png"/><Relationship Id="rId3" Type="http://schemas.openxmlformats.org/officeDocument/2006/relationships/image" Target="../media/image109.png"/><Relationship Id="rId4" Type="http://schemas.openxmlformats.org/officeDocument/2006/relationships/notesSlide" Target="../notesSlides/notesSlide22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8.png"/><Relationship Id="rId3" Type="http://schemas.openxmlformats.org/officeDocument/2006/relationships/notesSlide" Target="../notesSlides/notesSlide231.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9.png"/><Relationship Id="rId3" Type="http://schemas.openxmlformats.org/officeDocument/2006/relationships/notesSlide" Target="../notesSlides/notesSlide233.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0.png"/><Relationship Id="rId3" Type="http://schemas.openxmlformats.org/officeDocument/2006/relationships/image" Target="../media/image181.png"/><Relationship Id="rId4" Type="http://schemas.openxmlformats.org/officeDocument/2006/relationships/notesSlide" Target="../notesSlides/notesSlide234.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2.png"/><Relationship Id="rId3" Type="http://schemas.openxmlformats.org/officeDocument/2006/relationships/notesSlide" Target="../notesSlides/notesSlide236.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3.png"/><Relationship Id="rId3" Type="http://schemas.openxmlformats.org/officeDocument/2006/relationships/notesSlide" Target="../notesSlides/notesSlide238.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4.png"/><Relationship Id="rId3" Type="http://schemas.openxmlformats.org/officeDocument/2006/relationships/image" Target="../media/image185.png"/><Relationship Id="rId4" Type="http://schemas.openxmlformats.org/officeDocument/2006/relationships/notesSlide" Target="../notesSlides/notesSlide240.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3.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4.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5.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6.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8.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9.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6.png"/><Relationship Id="rId3" Type="http://schemas.openxmlformats.org/officeDocument/2006/relationships/notesSlide" Target="../notesSlides/notesSlide1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7.png"/><Relationship Id="rId3" Type="http://schemas.openxmlformats.org/officeDocument/2006/relationships/image" Target="../media/image1.png"/><Relationship Id="rId4" Type="http://schemas.openxmlformats.org/officeDocument/2006/relationships/notesSlide" Target="../notesSlides/notesSlide19.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4.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8.png"/><Relationship Id="rId3" Type="http://schemas.openxmlformats.org/officeDocument/2006/relationships/image" Target="../media/image10.png"/><Relationship Id="rId4" Type="http://schemas.openxmlformats.org/officeDocument/2006/relationships/notesSlide" Target="../notesSlides/notesSlide2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9.png"/><Relationship Id="rId3" Type="http://schemas.openxmlformats.org/officeDocument/2006/relationships/image" Target="../media/image8.png"/><Relationship Id="rId4" Type="http://schemas.openxmlformats.org/officeDocument/2006/relationships/notesSlide" Target="../notesSlides/notesSlide29.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0.png"/><Relationship Id="rId3" Type="http://schemas.openxmlformats.org/officeDocument/2006/relationships/image" Target="../media/image191.png"/><Relationship Id="rId4" Type="http://schemas.openxmlformats.org/officeDocument/2006/relationships/notesSlide" Target="../notesSlides/notesSlide33.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notesSlide" Target="../notesSlides/notesSlide3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4.png"/><Relationship Id="rId3" Type="http://schemas.openxmlformats.org/officeDocument/2006/relationships/image" Target="../media/image195.png"/><Relationship Id="rId4" Type="http://schemas.openxmlformats.org/officeDocument/2006/relationships/notesSlide" Target="../notesSlides/notesSlide96.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6.png"/><Relationship Id="rId3" Type="http://schemas.openxmlformats.org/officeDocument/2006/relationships/image" Target="../media/image25.png"/><Relationship Id="rId4" Type="http://schemas.openxmlformats.org/officeDocument/2006/relationships/notesSlide" Target="../notesSlides/notesSlide40.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7.png"/><Relationship Id="rId3" Type="http://schemas.openxmlformats.org/officeDocument/2006/relationships/image" Target="../media/image198.png"/><Relationship Id="rId4" Type="http://schemas.openxmlformats.org/officeDocument/2006/relationships/notesSlide" Target="../notesSlides/notesSlide4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4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2.png"/><Relationship Id="rId3" Type="http://schemas.openxmlformats.org/officeDocument/2006/relationships/notesSlide" Target="../notesSlides/notesSlide13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9.png"/><Relationship Id="rId3" Type="http://schemas.openxmlformats.org/officeDocument/2006/relationships/image" Target="../media/image33.png"/><Relationship Id="rId4" Type="http://schemas.openxmlformats.org/officeDocument/2006/relationships/notesSlide" Target="../notesSlides/notesSlide4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136.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2.png"/><Relationship Id="rId3" Type="http://schemas.openxmlformats.org/officeDocument/2006/relationships/notesSlide" Target="../notesSlides/notesSlide49.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52.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0.png"/><Relationship Id="rId3" Type="http://schemas.openxmlformats.org/officeDocument/2006/relationships/image" Target="../media/image201.png"/><Relationship Id="rId4" Type="http://schemas.openxmlformats.org/officeDocument/2006/relationships/notesSlide" Target="../notesSlides/notesSlide138.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2.png"/><Relationship Id="rId3" Type="http://schemas.openxmlformats.org/officeDocument/2006/relationships/notesSlide" Target="../notesSlides/notesSlide57.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3.png"/><Relationship Id="rId3" Type="http://schemas.openxmlformats.org/officeDocument/2006/relationships/notesSlide" Target="../notesSlides/notesSlide59.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4.png"/><Relationship Id="rId3" Type="http://schemas.openxmlformats.org/officeDocument/2006/relationships/image" Target="../media/image205.png"/><Relationship Id="rId4" Type="http://schemas.openxmlformats.org/officeDocument/2006/relationships/notesSlide" Target="../notesSlides/notesSlide6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 Id="rId3" Type="http://schemas.openxmlformats.org/officeDocument/2006/relationships/notesSlide" Target="../notesSlides/notesSlide140.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6.png"/><Relationship Id="rId3" Type="http://schemas.openxmlformats.org/officeDocument/2006/relationships/image" Target="../media/image52.png"/><Relationship Id="rId4" Type="http://schemas.openxmlformats.org/officeDocument/2006/relationships/notesSlide" Target="../notesSlides/notesSlide14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7.png"/><Relationship Id="rId3" Type="http://schemas.openxmlformats.org/officeDocument/2006/relationships/image" Target="../media/image128.png"/><Relationship Id="rId4" Type="http://schemas.openxmlformats.org/officeDocument/2006/relationships/notesSlide" Target="../notesSlides/notesSlide143.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8.png"/><Relationship Id="rId3" Type="http://schemas.openxmlformats.org/officeDocument/2006/relationships/image" Target="../media/image54.png"/><Relationship Id="rId4" Type="http://schemas.openxmlformats.org/officeDocument/2006/relationships/notesSlide" Target="../notesSlides/notesSlide144.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9.png"/><Relationship Id="rId3" Type="http://schemas.openxmlformats.org/officeDocument/2006/relationships/image" Target="../media/image56.png"/><Relationship Id="rId4" Type="http://schemas.openxmlformats.org/officeDocument/2006/relationships/notesSlide" Target="../notesSlides/notesSlide70.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0.png"/><Relationship Id="rId3" Type="http://schemas.openxmlformats.org/officeDocument/2006/relationships/image" Target="../media/image59.png"/><Relationship Id="rId4" Type="http://schemas.openxmlformats.org/officeDocument/2006/relationships/notesSlide" Target="../notesSlides/notesSlide146.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1.png"/><Relationship Id="rId3" Type="http://schemas.openxmlformats.org/officeDocument/2006/relationships/notesSlide" Target="../notesSlides/notesSlide14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notesSlide" Target="../notesSlides/notesSlide74.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4.png"/><Relationship Id="rId3" Type="http://schemas.openxmlformats.org/officeDocument/2006/relationships/notesSlide" Target="../notesSlides/notesSlide75.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1.png"/><Relationship Id="rId3" Type="http://schemas.openxmlformats.org/officeDocument/2006/relationships/notesSlide" Target="../notesSlides/notesSlide149.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 Id="rId3" Type="http://schemas.openxmlformats.org/officeDocument/2006/relationships/notesSlide" Target="../notesSlides/notesSlide78.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5.png"/><Relationship Id="rId3" Type="http://schemas.openxmlformats.org/officeDocument/2006/relationships/image" Target="../media/image67.png"/><Relationship Id="rId4" Type="http://schemas.openxmlformats.org/officeDocument/2006/relationships/notesSlide" Target="../notesSlides/notesSlide80.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6.png"/><Relationship Id="rId3" Type="http://schemas.openxmlformats.org/officeDocument/2006/relationships/image" Target="../media/image217.png"/><Relationship Id="rId4" Type="http://schemas.openxmlformats.org/officeDocument/2006/relationships/notesSlide" Target="../notesSlides/notesSlide150.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4.png"/><Relationship Id="rId3" Type="http://schemas.openxmlformats.org/officeDocument/2006/relationships/image" Target="../media/image205.png"/><Relationship Id="rId4" Type="http://schemas.openxmlformats.org/officeDocument/2006/relationships/notesSlide" Target="../notesSlides/notesSlide63.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8.png"/><Relationship Id="rId3" Type="http://schemas.openxmlformats.org/officeDocument/2006/relationships/image" Target="../media/image219.png"/><Relationship Id="rId4" Type="http://schemas.openxmlformats.org/officeDocument/2006/relationships/notesSlide" Target="../notesSlides/notesSlide84.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0.png"/><Relationship Id="rId3" Type="http://schemas.openxmlformats.org/officeDocument/2006/relationships/image" Target="../media/image77.png"/><Relationship Id="rId4" Type="http://schemas.openxmlformats.org/officeDocument/2006/relationships/notesSlide" Target="../notesSlides/notesSlide8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1.png"/><Relationship Id="rId3" Type="http://schemas.openxmlformats.org/officeDocument/2006/relationships/image" Target="../media/image81.png"/><Relationship Id="rId4" Type="http://schemas.openxmlformats.org/officeDocument/2006/relationships/notesSlide" Target="../notesSlides/notesSlide90.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png"/><Relationship Id="rId3" Type="http://schemas.openxmlformats.org/officeDocument/2006/relationships/notesSlide" Target="../notesSlides/notesSlide93.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2.png"/><Relationship Id="rId3" Type="http://schemas.openxmlformats.org/officeDocument/2006/relationships/image" Target="../media/image132.png"/><Relationship Id="rId4" Type="http://schemas.openxmlformats.org/officeDocument/2006/relationships/notesSlide" Target="../notesSlides/notesSlide152.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8.png"/><Relationship Id="rId3" Type="http://schemas.openxmlformats.org/officeDocument/2006/relationships/notesSlide" Target="../notesSlides/notesSlide98.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3.png"/><Relationship Id="rId3" Type="http://schemas.openxmlformats.org/officeDocument/2006/relationships/image" Target="../media/image90.png"/><Relationship Id="rId4" Type="http://schemas.openxmlformats.org/officeDocument/2006/relationships/notesSlide" Target="../notesSlides/notesSlide154.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4.png"/><Relationship Id="rId3" Type="http://schemas.openxmlformats.org/officeDocument/2006/relationships/image" Target="../media/image92.png"/><Relationship Id="rId4" Type="http://schemas.openxmlformats.org/officeDocument/2006/relationships/notesSlide" Target="../notesSlides/notesSlide156.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7.png"/><Relationship Id="rId3" Type="http://schemas.openxmlformats.org/officeDocument/2006/relationships/notesSlide" Target="../notesSlides/notesSlide105.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5.png"/><Relationship Id="rId3" Type="http://schemas.openxmlformats.org/officeDocument/2006/relationships/image" Target="../media/image99.png"/><Relationship Id="rId4" Type="http://schemas.openxmlformats.org/officeDocument/2006/relationships/notesSlide" Target="../notesSlides/notesSlide10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6.png"/><Relationship Id="rId3" Type="http://schemas.openxmlformats.org/officeDocument/2006/relationships/notesSlide" Target="../notesSlides/notesSlide109.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7.png"/><Relationship Id="rId3" Type="http://schemas.openxmlformats.org/officeDocument/2006/relationships/notesSlide" Target="../notesSlides/notesSlide111.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8.png"/><Relationship Id="rId3" Type="http://schemas.openxmlformats.org/officeDocument/2006/relationships/image" Target="../media/image107.png"/><Relationship Id="rId4" Type="http://schemas.openxmlformats.org/officeDocument/2006/relationships/notesSlide" Target="../notesSlides/notesSlide114.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9.png"/><Relationship Id="rId3" Type="http://schemas.openxmlformats.org/officeDocument/2006/relationships/image" Target="../media/image230.png"/><Relationship Id="rId4" Type="http://schemas.openxmlformats.org/officeDocument/2006/relationships/notesSlide" Target="../notesSlides/notesSlide116.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1.png"/><Relationship Id="rId3" Type="http://schemas.openxmlformats.org/officeDocument/2006/relationships/notesSlide" Target="../notesSlides/notesSlide118.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2.png"/><Relationship Id="rId3" Type="http://schemas.openxmlformats.org/officeDocument/2006/relationships/notesSlide" Target="../notesSlides/notesSlide120.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3.png"/><Relationship Id="rId3" Type="http://schemas.openxmlformats.org/officeDocument/2006/relationships/image" Target="../media/image234.png"/><Relationship Id="rId4" Type="http://schemas.openxmlformats.org/officeDocument/2006/relationships/notesSlide" Target="../notesSlides/notesSlide122.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5.png"/><Relationship Id="rId3" Type="http://schemas.openxmlformats.org/officeDocument/2006/relationships/notesSlide" Target="../notesSlides/notesSlide158.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5.png"/><Relationship Id="rId3" Type="http://schemas.openxmlformats.org/officeDocument/2006/relationships/notesSlide" Target="../notesSlides/notesSlide161.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8.png"/><Relationship Id="rId3" Type="http://schemas.openxmlformats.org/officeDocument/2006/relationships/notesSlide" Target="../notesSlides/notesSlide164.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6.png"/><Relationship Id="rId3" Type="http://schemas.openxmlformats.org/officeDocument/2006/relationships/image" Target="../media/image140.png"/><Relationship Id="rId4" Type="http://schemas.openxmlformats.org/officeDocument/2006/relationships/notesSlide" Target="../notesSlides/notesSlide16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7.png"/><Relationship Id="rId3" Type="http://schemas.openxmlformats.org/officeDocument/2006/relationships/notesSlide" Target="../notesSlides/notesSlide168.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9.png"/><Relationship Id="rId3" Type="http://schemas.openxmlformats.org/officeDocument/2006/relationships/notesSlide" Target="../notesSlides/notesSlide171.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8.png"/><Relationship Id="rId3" Type="http://schemas.openxmlformats.org/officeDocument/2006/relationships/notesSlide" Target="../notesSlides/notesSlide173.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9.png"/><Relationship Id="rId3" Type="http://schemas.openxmlformats.org/officeDocument/2006/relationships/image" Target="../media/image145.png"/><Relationship Id="rId4" Type="http://schemas.openxmlformats.org/officeDocument/2006/relationships/notesSlide" Target="../notesSlides/notesSlide176.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0.png"/><Relationship Id="rId3" Type="http://schemas.openxmlformats.org/officeDocument/2006/relationships/image" Target="../media/image148.png"/><Relationship Id="rId4" Type="http://schemas.openxmlformats.org/officeDocument/2006/relationships/notesSlide" Target="../notesSlides/notesSlide179.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0.png"/><Relationship Id="rId3" Type="http://schemas.openxmlformats.org/officeDocument/2006/relationships/notesSlide" Target="../notesSlides/notesSlide182.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3.png"/><Relationship Id="rId3" Type="http://schemas.openxmlformats.org/officeDocument/2006/relationships/notesSlide" Target="../notesSlides/notesSlide18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5.png"/><Relationship Id="rId3" Type="http://schemas.openxmlformats.org/officeDocument/2006/relationships/notesSlide" Target="../notesSlides/notesSlide18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1.png"/><Relationship Id="rId3" Type="http://schemas.openxmlformats.org/officeDocument/2006/relationships/image" Target="../media/image157.png"/><Relationship Id="rId4" Type="http://schemas.openxmlformats.org/officeDocument/2006/relationships/notesSlide" Target="../notesSlides/notesSlide199.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2.png"/><Relationship Id="rId3" Type="http://schemas.openxmlformats.org/officeDocument/2006/relationships/notesSlide" Target="../notesSlides/notesSlide191.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3.png"/><Relationship Id="rId3" Type="http://schemas.openxmlformats.org/officeDocument/2006/relationships/image" Target="../media/image159.png"/><Relationship Id="rId4" Type="http://schemas.openxmlformats.org/officeDocument/2006/relationships/notesSlide" Target="../notesSlides/notesSlide192.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4.png"/><Relationship Id="rId3" Type="http://schemas.openxmlformats.org/officeDocument/2006/relationships/image" Target="../media/image245.png"/><Relationship Id="rId4" Type="http://schemas.openxmlformats.org/officeDocument/2006/relationships/notesSlide" Target="../notesSlides/notesSlide196.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6.png"/><Relationship Id="rId3" Type="http://schemas.openxmlformats.org/officeDocument/2006/relationships/notesSlide" Target="../notesSlides/notesSlide200.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7.png"/><Relationship Id="rId3" Type="http://schemas.openxmlformats.org/officeDocument/2006/relationships/notesSlide" Target="../notesSlides/notesSlide202.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6.png"/><Relationship Id="rId3" Type="http://schemas.openxmlformats.org/officeDocument/2006/relationships/notesSlide" Target="../notesSlides/notesSlide124.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6.png"/><Relationship Id="rId3" Type="http://schemas.openxmlformats.org/officeDocument/2006/relationships/notesSlide" Target="../notesSlides/notesSlide126.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7.png"/><Relationship Id="rId3" Type="http://schemas.openxmlformats.org/officeDocument/2006/relationships/image" Target="../media/image248.png"/><Relationship Id="rId4" Type="http://schemas.openxmlformats.org/officeDocument/2006/relationships/notesSlide" Target="../notesSlides/notesSlide128.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4.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9.png"/><Relationship Id="rId3" Type="http://schemas.openxmlformats.org/officeDocument/2006/relationships/notesSlide" Target="../notesSlides/notesSlide205.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9.png"/><Relationship Id="rId3" Type="http://schemas.openxmlformats.org/officeDocument/2006/relationships/notesSlide" Target="../notesSlides/notesSlide20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2.png"/><Relationship Id="rId3" Type="http://schemas.openxmlformats.org/officeDocument/2006/relationships/notesSlide" Target="../notesSlides/notesSlide222.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0.png"/><Relationship Id="rId3" Type="http://schemas.openxmlformats.org/officeDocument/2006/relationships/image" Target="../media/image174.png"/><Relationship Id="rId4" Type="http://schemas.openxmlformats.org/officeDocument/2006/relationships/notesSlide" Target="../notesSlides/notesSlide224.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1.png"/><Relationship Id="rId3" Type="http://schemas.openxmlformats.org/officeDocument/2006/relationships/image" Target="../media/image174.png"/><Relationship Id="rId4" Type="http://schemas.openxmlformats.org/officeDocument/2006/relationships/notesSlide" Target="../notesSlides/notesSlide227.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2.png"/><Relationship Id="rId3" Type="http://schemas.openxmlformats.org/officeDocument/2006/relationships/notesSlide" Target="../notesSlides/notesSlide229.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6.png"/><Relationship Id="rId3" Type="http://schemas.openxmlformats.org/officeDocument/2006/relationships/notesSlide" Target="../notesSlides/notesSlide230.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8.png"/><Relationship Id="rId3" Type="http://schemas.openxmlformats.org/officeDocument/2006/relationships/notesSlide" Target="../notesSlides/notesSlide232.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3.png"/><Relationship Id="rId3" Type="http://schemas.openxmlformats.org/officeDocument/2006/relationships/image" Target="../media/image179.png"/><Relationship Id="rId4" Type="http://schemas.openxmlformats.org/officeDocument/2006/relationships/notesSlide" Target="../notesSlides/notesSlide235.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1.png"/><Relationship Id="rId3" Type="http://schemas.openxmlformats.org/officeDocument/2006/relationships/notesSlide" Target="../notesSlides/notesSlide23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3.png"/><Relationship Id="rId3" Type="http://schemas.openxmlformats.org/officeDocument/2006/relationships/notesSlide" Target="../notesSlides/notesSlide239.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4.png"/><Relationship Id="rId3" Type="http://schemas.openxmlformats.org/officeDocument/2006/relationships/image" Target="../media/image185.png"/><Relationship Id="rId4" Type="http://schemas.openxmlformats.org/officeDocument/2006/relationships/notesSlide" Target="../notesSlides/notesSlide24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41"/>
        </a:solidFill>
        <a:effectLst/>
      </p:bgPr>
    </p:bg>
    <p:spTree>
      <p:nvGrpSpPr>
        <p:cNvPr id="1" name=""/>
        <p:cNvGrpSpPr/>
        <p:nvPr/>
      </p:nvGrpSpPr>
      <p:grpSpPr/>
      <p:sp>
        <p:nvSpPr>
          <p:cNvPr id="2" name="TextBox 1"/>
          <p:cNvSpPr txBox="1"/>
          <p:nvPr/>
        </p:nvSpPr>
        <p:spPr>
          <a:xfrm>
            <a:off x="822960" y="914400"/>
            <a:ext cx="7315200" cy="365760"/>
          </a:xfrm>
          <a:prstGeom prst="rect">
            <a:avLst/>
          </a:prstGeom>
          <a:noFill/>
        </p:spPr>
        <p:txBody>
          <a:bodyPr wrap="square" lIns="0" rIns="0" tIns="0" bIns="0" anchor="t">
            <a:spAutoFit/>
          </a:bodyPr>
          <a:lstStyle/>
          <a:p>
            <a:pPr algn="l"/>
            <a:r>
              <a:rPr sz="1400" b="1" i="0">
                <a:solidFill>
                  <a:srgbClr val="8FA3BF"/>
                </a:solidFill>
                <a:latin typeface="Arial"/>
              </a:rPr>
              <a:t>KHOÁ FORECASTING IN AI · BUỔI 1–15</a:t>
            </a:r>
          </a:p>
        </p:txBody>
      </p:sp>
      <p:sp>
        <p:nvSpPr>
          <p:cNvPr id="3" name="TextBox 2"/>
          <p:cNvSpPr txBox="1"/>
          <p:nvPr/>
        </p:nvSpPr>
        <p:spPr>
          <a:xfrm>
            <a:off x="822960" y="1554480"/>
            <a:ext cx="10515600" cy="2194560"/>
          </a:xfrm>
          <a:prstGeom prst="rect">
            <a:avLst/>
          </a:prstGeom>
          <a:noFill/>
        </p:spPr>
        <p:txBody>
          <a:bodyPr wrap="square" lIns="0" rIns="0" tIns="0" bIns="0" anchor="t">
            <a:spAutoFit/>
          </a:bodyPr>
          <a:lstStyle/>
          <a:p>
            <a:pPr algn="l">
              <a:spcAft>
                <a:spcPts val="1000"/>
              </a:spcAft>
            </a:pPr>
            <a:r>
              <a:rPr sz="6000" b="1" i="0">
                <a:solidFill>
                  <a:srgbClr val="FFFFFF"/>
                </a:solidFill>
                <a:latin typeface="Arial"/>
              </a:rPr>
              <a:t>Dữ liệu cho dự báo</a:t>
            </a:r>
          </a:p>
          <a:p>
            <a:pPr algn="l">
              <a:spcAft>
                <a:spcPts val="1000"/>
              </a:spcAft>
            </a:pPr>
            <a:r>
              <a:rPr sz="2600" b="0" i="0">
                <a:solidFill>
                  <a:srgbClr val="C9D3E0"/>
                </a:solidFill>
                <a:latin typeface="Arial"/>
              </a:rPr>
              <a:t>hiểu · làm sạch · đánh giá trung thực</a:t>
            </a:r>
          </a:p>
        </p:txBody>
      </p:sp>
      <p:sp>
        <p:nvSpPr>
          <p:cNvPr id="4" name="Oval 3"/>
          <p:cNvSpPr/>
          <p:nvPr/>
        </p:nvSpPr>
        <p:spPr>
          <a:xfrm>
            <a:off x="822960" y="4754880"/>
            <a:ext cx="457200" cy="4572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A</a:t>
            </a:r>
          </a:p>
        </p:txBody>
      </p:sp>
      <p:sp>
        <p:nvSpPr>
          <p:cNvPr id="5" name="Oval 4"/>
          <p:cNvSpPr/>
          <p:nvPr/>
        </p:nvSpPr>
        <p:spPr>
          <a:xfrm>
            <a:off x="1508760" y="4754880"/>
            <a:ext cx="457200" cy="457200"/>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B</a:t>
            </a:r>
          </a:p>
        </p:txBody>
      </p:sp>
      <p:sp>
        <p:nvSpPr>
          <p:cNvPr id="6" name="Oval 5"/>
          <p:cNvSpPr/>
          <p:nvPr/>
        </p:nvSpPr>
        <p:spPr>
          <a:xfrm>
            <a:off x="2194560" y="4754880"/>
            <a:ext cx="457200" cy="457200"/>
          </a:xfrm>
          <a:prstGeom prst="ellipse">
            <a:avLst/>
          </a:prstGeom>
          <a:solidFill>
            <a:srgbClr val="A77B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C</a:t>
            </a:r>
          </a:p>
        </p:txBody>
      </p:sp>
      <p:sp>
        <p:nvSpPr>
          <p:cNvPr id="7" name="Oval 6"/>
          <p:cNvSpPr/>
          <p:nvPr/>
        </p:nvSpPr>
        <p:spPr>
          <a:xfrm>
            <a:off x="2880360" y="4754880"/>
            <a:ext cx="457200" cy="457200"/>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D</a:t>
            </a:r>
          </a:p>
        </p:txBody>
      </p:sp>
      <p:sp>
        <p:nvSpPr>
          <p:cNvPr id="8" name="Oval 7"/>
          <p:cNvSpPr/>
          <p:nvPr/>
        </p:nvSpPr>
        <p:spPr>
          <a:xfrm>
            <a:off x="3566160" y="4754880"/>
            <a:ext cx="457200" cy="457200"/>
          </a:xfrm>
          <a:prstGeom prst="ellipse">
            <a:avLst/>
          </a:prstGeom>
          <a:solidFill>
            <a:srgbClr val="2E6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E</a:t>
            </a:r>
          </a:p>
        </p:txBody>
      </p:sp>
      <p:sp>
        <p:nvSpPr>
          <p:cNvPr id="9" name="Oval 8"/>
          <p:cNvSpPr/>
          <p:nvPr/>
        </p:nvSpPr>
        <p:spPr>
          <a:xfrm>
            <a:off x="4251960" y="4754880"/>
            <a:ext cx="457200" cy="457200"/>
          </a:xfrm>
          <a:prstGeom prst="ellipse">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F</a:t>
            </a:r>
          </a:p>
        </p:txBody>
      </p:sp>
      <p:sp>
        <p:nvSpPr>
          <p:cNvPr id="10" name="TextBox 9"/>
          <p:cNvSpPr txBox="1"/>
          <p:nvPr/>
        </p:nvSpPr>
        <p:spPr>
          <a:xfrm>
            <a:off x="822960" y="5486400"/>
            <a:ext cx="10058400" cy="457200"/>
          </a:xfrm>
          <a:prstGeom prst="rect">
            <a:avLst/>
          </a:prstGeom>
          <a:noFill/>
        </p:spPr>
        <p:txBody>
          <a:bodyPr wrap="square" lIns="0" rIns="0" tIns="0" bIns="0" anchor="t">
            <a:spAutoFit/>
          </a:bodyPr>
          <a:lstStyle/>
          <a:p>
            <a:pPr algn="l"/>
            <a:r>
              <a:rPr sz="1600" b="0" i="0">
                <a:solidFill>
                  <a:srgbClr val="A9B4C4"/>
                </a:solidFill>
                <a:latin typeface="Arial"/>
              </a:rPr>
              <a:t>Nền móng (1–3) · Hiểu &amp; chuẩn bị dữ liệu (4–13) · Đánh giá trung thực (14–15)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0972800" cy="731520"/>
          </a:xfrm>
          <a:prstGeom prst="rect">
            <a:avLst/>
          </a:prstGeom>
          <a:noFill/>
        </p:spPr>
        <p:txBody>
          <a:bodyPr wrap="square" lIns="0" rIns="0" tIns="0" bIns="0" anchor="ctr">
            <a:spAutoFit/>
          </a:bodyPr>
          <a:lstStyle/>
          <a:p>
            <a:pPr algn="l"/>
            <a:r>
              <a:rPr sz="3200" b="1" i="0">
                <a:solidFill>
                  <a:srgbClr val="1B2A41"/>
                </a:solidFill>
                <a:latin typeface="Arial"/>
              </a:rPr>
              <a:t>Hôm nay nói gì: sáu phần</a:t>
            </a:r>
          </a:p>
        </p:txBody>
      </p:sp>
      <p:cxnSp>
        <p:nvCxnSpPr>
          <p:cNvPr id="3" name="Connector 2"/>
          <p:cNvCxnSpPr/>
          <p:nvPr/>
        </p:nvCxnSpPr>
        <p:spPr>
          <a:xfrm flipH="1" flipV="1">
            <a:off x="2212848" y="2103120"/>
            <a:ext cx="3886200" cy="1874519"/>
          </a:xfrm>
          <a:prstGeom prst="line">
            <a:avLst/>
          </a:prstGeom>
          <a:ln w="28575">
            <a:solidFill>
              <a:srgbClr val="0F8B8D"/>
            </a:solidFill>
          </a:ln>
        </p:spPr>
        <p:style>
          <a:lnRef idx="2">
            <a:schemeClr val="accent1"/>
          </a:lnRef>
          <a:fillRef idx="0">
            <a:schemeClr val="accent1"/>
          </a:fillRef>
          <a:effectRef idx="1">
            <a:schemeClr val="accent1"/>
          </a:effectRef>
          <a:fontRef idx="minor">
            <a:schemeClr val="tx1"/>
          </a:fontRef>
        </p:style>
      </p:cxnSp>
      <p:cxnSp>
        <p:nvCxnSpPr>
          <p:cNvPr id="4" name="Connector 3"/>
          <p:cNvCxnSpPr/>
          <p:nvPr/>
        </p:nvCxnSpPr>
        <p:spPr>
          <a:xfrm flipH="1">
            <a:off x="2212848" y="3977639"/>
            <a:ext cx="3886200" cy="0"/>
          </a:xfrm>
          <a:prstGeom prst="line">
            <a:avLst/>
          </a:prstGeom>
          <a:ln w="28575">
            <a:solidFill>
              <a:srgbClr val="D9642B"/>
            </a:solidFill>
          </a:ln>
        </p:spPr>
        <p:style>
          <a:lnRef idx="2">
            <a:schemeClr val="accent1"/>
          </a:lnRef>
          <a:fillRef idx="0">
            <a:schemeClr val="accent1"/>
          </a:fillRef>
          <a:effectRef idx="1">
            <a:schemeClr val="accent1"/>
          </a:effectRef>
          <a:fontRef idx="minor">
            <a:schemeClr val="tx1"/>
          </a:fontRef>
        </p:style>
      </p:cxnSp>
      <p:cxnSp>
        <p:nvCxnSpPr>
          <p:cNvPr id="5" name="Connector 4"/>
          <p:cNvCxnSpPr/>
          <p:nvPr/>
        </p:nvCxnSpPr>
        <p:spPr>
          <a:xfrm flipH="1">
            <a:off x="2212848" y="3977639"/>
            <a:ext cx="3886200" cy="1874520"/>
          </a:xfrm>
          <a:prstGeom prst="line">
            <a:avLst/>
          </a:prstGeom>
          <a:ln w="28575">
            <a:solidFill>
              <a:srgbClr val="A77B06"/>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flipV="1">
            <a:off x="6099048" y="2103120"/>
            <a:ext cx="3886200" cy="1874519"/>
          </a:xfrm>
          <a:prstGeom prst="line">
            <a:avLst/>
          </a:prstGeom>
          <a:ln w="28575">
            <a:solidFill>
              <a:srgbClr val="6C4AB6"/>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099048" y="3977639"/>
            <a:ext cx="3886200" cy="0"/>
          </a:xfrm>
          <a:prstGeom prst="line">
            <a:avLst/>
          </a:prstGeom>
          <a:ln w="28575">
            <a:solidFill>
              <a:srgbClr val="2E6FBF"/>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6099048" y="3977639"/>
            <a:ext cx="3886200" cy="1874520"/>
          </a:xfrm>
          <a:prstGeom prst="line">
            <a:avLst/>
          </a:prstGeom>
          <a:ln w="28575">
            <a:solidFill>
              <a:srgbClr val="4A5568"/>
            </a:solidFill>
          </a:ln>
        </p:spPr>
        <p:style>
          <a:lnRef idx="2">
            <a:schemeClr val="accent1"/>
          </a:lnRef>
          <a:fillRef idx="0">
            <a:schemeClr val="accent1"/>
          </a:fillRef>
          <a:effectRef idx="1">
            <a:schemeClr val="accent1"/>
          </a:effectRef>
          <a:fontRef idx="minor">
            <a:schemeClr val="tx1"/>
          </a:fontRef>
        </p:style>
      </p:cxnSp>
      <p:sp>
        <p:nvSpPr>
          <p:cNvPr id="9" name="Oval 8"/>
          <p:cNvSpPr/>
          <p:nvPr/>
        </p:nvSpPr>
        <p:spPr>
          <a:xfrm>
            <a:off x="4498848" y="3246120"/>
            <a:ext cx="3200400" cy="146304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800" b="1" i="0">
                <a:solidFill>
                  <a:srgbClr val="FFFFFF"/>
                </a:solidFill>
                <a:latin typeface="Arial"/>
              </a:rPr>
              <a:t>Dữ liệu cho dự báo</a:t>
            </a:r>
          </a:p>
          <a:p>
            <a:pPr algn="ctr"/>
            <a:r>
              <a:rPr sz="1300" b="0" i="0">
                <a:solidFill>
                  <a:srgbClr val="C9D3E0"/>
                </a:solidFill>
                <a:latin typeface="Arial"/>
              </a:rPr>
              <a:t>buổi 1–15</a:t>
            </a:r>
          </a:p>
        </p:txBody>
      </p:sp>
      <p:sp>
        <p:nvSpPr>
          <p:cNvPr id="10" name="Rounded Rectangle 9"/>
          <p:cNvSpPr/>
          <p:nvPr/>
        </p:nvSpPr>
        <p:spPr>
          <a:xfrm>
            <a:off x="612648" y="1485900"/>
            <a:ext cx="3200400" cy="1234440"/>
          </a:xfrm>
          <a:prstGeom prst="roundRect">
            <a:avLst>
              <a:gd name="adj" fmla="val 18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27432" bIns="27432"/>
          <a:lstStyle/>
          <a:p>
            <a:pPr algn="ctr"/>
            <a:r>
              <a:rPr sz="1700" b="1" i="0">
                <a:solidFill>
                  <a:srgbClr val="FFFFFF"/>
                </a:solidFill>
                <a:latin typeface="Arial"/>
              </a:rPr>
              <a:t>A. Khái niệm nền</a:t>
            </a:r>
          </a:p>
          <a:p>
            <a:pPr algn="ctr"/>
            <a:r>
              <a:rPr sz="1200" b="1" i="0">
                <a:solidFill>
                  <a:srgbClr val="FFFFFF"/>
                </a:solidFill>
                <a:latin typeface="Arial"/>
              </a:rPr>
              <a:t>Buổi 1–13</a:t>
            </a:r>
          </a:p>
          <a:p>
            <a:pPr algn="ctr"/>
            <a:r>
              <a:rPr sz="1100" b="0" i="0">
                <a:solidFill>
                  <a:srgbClr val="FFFFFF"/>
                </a:solidFill>
                <a:latin typeface="Arial"/>
              </a:rPr>
              <a:t>6 ô · quantile · p-value · UTC · biểu đồ · ACF · ADF/KPSS · tương quan · feature</a:t>
            </a:r>
          </a:p>
        </p:txBody>
      </p:sp>
      <p:sp>
        <p:nvSpPr>
          <p:cNvPr id="11" name="Rounded Rectangle 10"/>
          <p:cNvSpPr/>
          <p:nvPr/>
        </p:nvSpPr>
        <p:spPr>
          <a:xfrm>
            <a:off x="612648" y="3360420"/>
            <a:ext cx="3200400" cy="1234440"/>
          </a:xfrm>
          <a:prstGeom prst="roundRect">
            <a:avLst>
              <a:gd name="adj" fmla="val 18000"/>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27432" bIns="27432"/>
          <a:lstStyle/>
          <a:p>
            <a:pPr algn="ctr"/>
            <a:r>
              <a:rPr sz="1700" b="1" i="0">
                <a:solidFill>
                  <a:srgbClr val="FFFFFF"/>
                </a:solidFill>
                <a:latin typeface="Arial"/>
              </a:rPr>
              <a:t>B. Vấn đề dữ liệu</a:t>
            </a:r>
          </a:p>
          <a:p>
            <a:pPr algn="ctr"/>
            <a:r>
              <a:rPr sz="1200" b="1" i="0">
                <a:solidFill>
                  <a:srgbClr val="FFFFFF"/>
                </a:solidFill>
                <a:latin typeface="Arial"/>
              </a:rPr>
              <a:t>Buổi 3–13</a:t>
            </a:r>
          </a:p>
          <a:p>
            <a:pPr algn="ctr"/>
            <a:r>
              <a:rPr sz="1100" b="0" i="0">
                <a:solidFill>
                  <a:srgbClr val="FFFFFF"/>
                </a:solidFill>
                <a:latin typeface="Arial"/>
              </a:rPr>
              <a:t>múi giờ · thiếu · MNAR · mã trá hình · ngoại lai · điểm gãy · bộ lọc · rò rỉ</a:t>
            </a:r>
          </a:p>
        </p:txBody>
      </p:sp>
      <p:sp>
        <p:nvSpPr>
          <p:cNvPr id="12" name="Rounded Rectangle 11"/>
          <p:cNvSpPr/>
          <p:nvPr/>
        </p:nvSpPr>
        <p:spPr>
          <a:xfrm>
            <a:off x="612648" y="5234940"/>
            <a:ext cx="3200400" cy="1234440"/>
          </a:xfrm>
          <a:prstGeom prst="roundRect">
            <a:avLst>
              <a:gd name="adj" fmla="val 18000"/>
            </a:avLst>
          </a:prstGeom>
          <a:solidFill>
            <a:srgbClr val="A77B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27432" bIns="27432"/>
          <a:lstStyle/>
          <a:p>
            <a:pPr algn="ctr"/>
            <a:r>
              <a:rPr sz="1700" b="1" i="0">
                <a:solidFill>
                  <a:srgbClr val="FFFFFF"/>
                </a:solidFill>
                <a:latin typeface="Arial"/>
              </a:rPr>
              <a:t>C. Bảng tra &amp; từ điển</a:t>
            </a:r>
          </a:p>
          <a:p>
            <a:pPr algn="ctr"/>
            <a:r>
              <a:rPr sz="1200" b="1" i="0">
                <a:solidFill>
                  <a:srgbClr val="FFFFFF"/>
                </a:solidFill>
                <a:latin typeface="Arial"/>
              </a:rPr>
              <a:t>24 lỗi · 10 chỗ nhầm · 100 từ</a:t>
            </a:r>
          </a:p>
          <a:p>
            <a:pPr algn="ctr"/>
            <a:r>
              <a:rPr sz="1100" b="0" i="0">
                <a:solidFill>
                  <a:srgbClr val="FFFFFF"/>
                </a:solidFill>
                <a:latin typeface="Arial"/>
              </a:rPr>
              <a:t>dấu hiệu, cách kiểm, cách sửa · Việt – Anh</a:t>
            </a:r>
          </a:p>
        </p:txBody>
      </p:sp>
      <p:sp>
        <p:nvSpPr>
          <p:cNvPr id="13" name="Rounded Rectangle 12"/>
          <p:cNvSpPr/>
          <p:nvPr/>
        </p:nvSpPr>
        <p:spPr>
          <a:xfrm>
            <a:off x="8385048" y="1485900"/>
            <a:ext cx="3200400" cy="1234440"/>
          </a:xfrm>
          <a:prstGeom prst="roundRect">
            <a:avLst>
              <a:gd name="adj" fmla="val 18000"/>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27432" bIns="27432"/>
          <a:lstStyle/>
          <a:p>
            <a:pPr algn="ctr"/>
            <a:r>
              <a:rPr sz="1700" b="1" i="0">
                <a:solidFill>
                  <a:srgbClr val="FFFFFF"/>
                </a:solidFill>
                <a:latin typeface="Arial"/>
              </a:rPr>
              <a:t>D. Đánh giá trung thực</a:t>
            </a:r>
          </a:p>
          <a:p>
            <a:pPr algn="ctr"/>
            <a:r>
              <a:rPr sz="1200" b="1" i="0">
                <a:solidFill>
                  <a:srgbClr val="FFFFFF"/>
                </a:solidFill>
                <a:latin typeface="Arial"/>
              </a:rPr>
              <a:t>Buổi 14–15</a:t>
            </a:r>
          </a:p>
          <a:p>
            <a:pPr algn="ctr"/>
            <a:r>
              <a:rPr sz="1100" b="0" i="0">
                <a:solidFill>
                  <a:srgbClr val="FFFFFF"/>
                </a:solidFill>
                <a:latin typeface="Arial"/>
              </a:rPr>
              <a:t>phần dư · chỉ số · chia theo thời gian · rolling origin · DM</a:t>
            </a:r>
          </a:p>
        </p:txBody>
      </p:sp>
      <p:sp>
        <p:nvSpPr>
          <p:cNvPr id="14" name="Rounded Rectangle 13"/>
          <p:cNvSpPr/>
          <p:nvPr/>
        </p:nvSpPr>
        <p:spPr>
          <a:xfrm>
            <a:off x="8385048" y="3360420"/>
            <a:ext cx="3200400" cy="1234440"/>
          </a:xfrm>
          <a:prstGeom prst="roundRect">
            <a:avLst>
              <a:gd name="adj" fmla="val 18000"/>
            </a:avLst>
          </a:prstGeom>
          <a:solidFill>
            <a:srgbClr val="2E6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27432" bIns="27432"/>
          <a:lstStyle/>
          <a:p>
            <a:pPr algn="ctr"/>
            <a:r>
              <a:rPr sz="1700" b="1" i="0">
                <a:solidFill>
                  <a:srgbClr val="FFFFFF"/>
                </a:solidFill>
                <a:latin typeface="Arial"/>
              </a:rPr>
              <a:t>E. Quy trình tiền xử lý</a:t>
            </a:r>
          </a:p>
          <a:p>
            <a:pPr algn="ctr"/>
            <a:r>
              <a:rPr sz="1200" b="1" i="0">
                <a:solidFill>
                  <a:srgbClr val="FFFFFF"/>
                </a:solidFill>
                <a:latin typeface="Arial"/>
              </a:rPr>
              <a:t>Buổi 1–15</a:t>
            </a:r>
          </a:p>
          <a:p>
            <a:pPr algn="ctr"/>
            <a:r>
              <a:rPr sz="1100" b="0" i="0">
                <a:solidFill>
                  <a:srgbClr val="FFFFFF"/>
                </a:solidFill>
                <a:latin typeface="Arial"/>
              </a:rPr>
              <a:t>làm một lần · lặp ở mỗi cutoff · kiểm</a:t>
            </a:r>
          </a:p>
        </p:txBody>
      </p:sp>
      <p:sp>
        <p:nvSpPr>
          <p:cNvPr id="15" name="Rounded Rectangle 14"/>
          <p:cNvSpPr/>
          <p:nvPr/>
        </p:nvSpPr>
        <p:spPr>
          <a:xfrm>
            <a:off x="8385048" y="5234940"/>
            <a:ext cx="3200400" cy="1234440"/>
          </a:xfrm>
          <a:prstGeom prst="roundRect">
            <a:avLst>
              <a:gd name="adj" fmla="val 18000"/>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tIns="27432" bIns="27432"/>
          <a:lstStyle/>
          <a:p>
            <a:pPr algn="ctr"/>
            <a:r>
              <a:rPr sz="1700" b="1" i="0">
                <a:solidFill>
                  <a:srgbClr val="FFFFFF"/>
                </a:solidFill>
                <a:latin typeface="Arial"/>
              </a:rPr>
              <a:t>F. Dữ liệu &amp; phía trước</a:t>
            </a:r>
          </a:p>
          <a:p>
            <a:pPr algn="ctr"/>
            <a:r>
              <a:rPr sz="1200" b="1" i="0">
                <a:solidFill>
                  <a:srgbClr val="FFFFFF"/>
                </a:solidFill>
                <a:latin typeface="Arial"/>
              </a:rPr>
              <a:t>14 bộ dữ liệu</a:t>
            </a:r>
          </a:p>
          <a:p>
            <a:pPr algn="ctr"/>
            <a:r>
              <a:rPr sz="1100" b="0" i="0">
                <a:solidFill>
                  <a:srgbClr val="FFFFFF"/>
                </a:solidFill>
                <a:latin typeface="Arial"/>
              </a:rPr>
              <a:t>bộ dữ liệu · tra theo buổi · buổi sau còn gì</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0972800" cy="731520"/>
          </a:xfrm>
          <a:prstGeom prst="rect">
            <a:avLst/>
          </a:prstGeom>
          <a:noFill/>
        </p:spPr>
        <p:txBody>
          <a:bodyPr wrap="square" lIns="0" rIns="0" tIns="0" bIns="0" anchor="ctr">
            <a:spAutoFit/>
          </a:bodyPr>
          <a:lstStyle/>
          <a:p>
            <a:pPr algn="l"/>
            <a:r>
              <a:rPr sz="3200" b="1" i="0">
                <a:solidFill>
                  <a:srgbClr val="1B2A41"/>
                </a:solidFill>
                <a:latin typeface="Arial"/>
              </a:rPr>
              <a:t>15 buổi móng của lộ trình 44 buổi</a:t>
            </a:r>
          </a:p>
        </p:txBody>
      </p:sp>
      <p:sp>
        <p:nvSpPr>
          <p:cNvPr id="3" name="TextBox 2"/>
          <p:cNvSpPr txBox="1"/>
          <p:nvPr/>
        </p:nvSpPr>
        <p:spPr>
          <a:xfrm>
            <a:off x="548640" y="1463040"/>
            <a:ext cx="3566160" cy="1188720"/>
          </a:xfrm>
          <a:prstGeom prst="rect">
            <a:avLst/>
          </a:prstGeom>
          <a:noFill/>
        </p:spPr>
        <p:txBody>
          <a:bodyPr wrap="square" lIns="0" rIns="0" tIns="0" bIns="0" anchor="t">
            <a:spAutoFit/>
          </a:bodyPr>
          <a:lstStyle/>
          <a:p>
            <a:pPr algn="l"/>
            <a:r>
              <a:rPr sz="7200" b="1" i="0">
                <a:solidFill>
                  <a:srgbClr val="0F8B8D"/>
                </a:solidFill>
                <a:latin typeface="Arial"/>
              </a:rPr>
              <a:t>3</a:t>
            </a:r>
          </a:p>
        </p:txBody>
      </p:sp>
      <p:sp>
        <p:nvSpPr>
          <p:cNvPr id="4" name="TextBox 3"/>
          <p:cNvSpPr txBox="1"/>
          <p:nvPr/>
        </p:nvSpPr>
        <p:spPr>
          <a:xfrm>
            <a:off x="548640" y="2697480"/>
            <a:ext cx="3566160" cy="411480"/>
          </a:xfrm>
          <a:prstGeom prst="rect">
            <a:avLst/>
          </a:prstGeom>
          <a:noFill/>
        </p:spPr>
        <p:txBody>
          <a:bodyPr wrap="square" lIns="0" rIns="0" tIns="0" bIns="0" anchor="t">
            <a:spAutoFit/>
          </a:bodyPr>
          <a:lstStyle/>
          <a:p>
            <a:pPr algn="l"/>
            <a:r>
              <a:rPr sz="2000" b="1" i="0">
                <a:solidFill>
                  <a:srgbClr val="1B2A41"/>
                </a:solidFill>
                <a:latin typeface="Arial"/>
              </a:rPr>
              <a:t>nền móng</a:t>
            </a:r>
          </a:p>
        </p:txBody>
      </p:sp>
      <p:sp>
        <p:nvSpPr>
          <p:cNvPr id="5" name="TextBox 4"/>
          <p:cNvSpPr txBox="1"/>
          <p:nvPr/>
        </p:nvSpPr>
        <p:spPr>
          <a:xfrm>
            <a:off x="548640" y="3108960"/>
            <a:ext cx="3566160" cy="365760"/>
          </a:xfrm>
          <a:prstGeom prst="rect">
            <a:avLst/>
          </a:prstGeom>
          <a:noFill/>
        </p:spPr>
        <p:txBody>
          <a:bodyPr wrap="square" lIns="0" rIns="0" tIns="0" bIns="0" anchor="t">
            <a:spAutoFit/>
          </a:bodyPr>
          <a:lstStyle/>
          <a:p>
            <a:pPr algn="l"/>
            <a:r>
              <a:rPr sz="1400" b="0" i="0">
                <a:solidFill>
                  <a:srgbClr val="5B6778"/>
                </a:solidFill>
                <a:latin typeface="Arial"/>
              </a:rPr>
              <a:t>buổi 1–3</a:t>
            </a:r>
          </a:p>
        </p:txBody>
      </p:sp>
      <p:sp>
        <p:nvSpPr>
          <p:cNvPr id="6" name="TextBox 5"/>
          <p:cNvSpPr txBox="1"/>
          <p:nvPr/>
        </p:nvSpPr>
        <p:spPr>
          <a:xfrm>
            <a:off x="4343400" y="1463040"/>
            <a:ext cx="3566160" cy="1188720"/>
          </a:xfrm>
          <a:prstGeom prst="rect">
            <a:avLst/>
          </a:prstGeom>
          <a:noFill/>
        </p:spPr>
        <p:txBody>
          <a:bodyPr wrap="square" lIns="0" rIns="0" tIns="0" bIns="0" anchor="t">
            <a:spAutoFit/>
          </a:bodyPr>
          <a:lstStyle/>
          <a:p>
            <a:pPr algn="l"/>
            <a:r>
              <a:rPr sz="7200" b="1" i="0">
                <a:solidFill>
                  <a:srgbClr val="D9642B"/>
                </a:solidFill>
                <a:latin typeface="Arial"/>
              </a:rPr>
              <a:t>10</a:t>
            </a:r>
          </a:p>
        </p:txBody>
      </p:sp>
      <p:sp>
        <p:nvSpPr>
          <p:cNvPr id="7" name="TextBox 6"/>
          <p:cNvSpPr txBox="1"/>
          <p:nvPr/>
        </p:nvSpPr>
        <p:spPr>
          <a:xfrm>
            <a:off x="4343400" y="2697480"/>
            <a:ext cx="3566160" cy="411480"/>
          </a:xfrm>
          <a:prstGeom prst="rect">
            <a:avLst/>
          </a:prstGeom>
          <a:noFill/>
        </p:spPr>
        <p:txBody>
          <a:bodyPr wrap="square" lIns="0" rIns="0" tIns="0" bIns="0" anchor="t">
            <a:spAutoFit/>
          </a:bodyPr>
          <a:lstStyle/>
          <a:p>
            <a:pPr algn="l"/>
            <a:r>
              <a:rPr sz="2000" b="1" i="0">
                <a:solidFill>
                  <a:srgbClr val="1B2A41"/>
                </a:solidFill>
                <a:latin typeface="Arial"/>
              </a:rPr>
              <a:t>hiểu &amp; chuẩn bị dữ liệu</a:t>
            </a:r>
          </a:p>
        </p:txBody>
      </p:sp>
      <p:sp>
        <p:nvSpPr>
          <p:cNvPr id="8" name="TextBox 7"/>
          <p:cNvSpPr txBox="1"/>
          <p:nvPr/>
        </p:nvSpPr>
        <p:spPr>
          <a:xfrm>
            <a:off x="4343400" y="3108960"/>
            <a:ext cx="3566160" cy="365760"/>
          </a:xfrm>
          <a:prstGeom prst="rect">
            <a:avLst/>
          </a:prstGeom>
          <a:noFill/>
        </p:spPr>
        <p:txBody>
          <a:bodyPr wrap="square" lIns="0" rIns="0" tIns="0" bIns="0" anchor="t">
            <a:spAutoFit/>
          </a:bodyPr>
          <a:lstStyle/>
          <a:p>
            <a:pPr algn="l"/>
            <a:r>
              <a:rPr sz="1400" b="0" i="0">
                <a:solidFill>
                  <a:srgbClr val="5B6778"/>
                </a:solidFill>
                <a:latin typeface="Arial"/>
              </a:rPr>
              <a:t>buổi 4–13</a:t>
            </a:r>
          </a:p>
        </p:txBody>
      </p:sp>
      <p:sp>
        <p:nvSpPr>
          <p:cNvPr id="9" name="TextBox 8"/>
          <p:cNvSpPr txBox="1"/>
          <p:nvPr/>
        </p:nvSpPr>
        <p:spPr>
          <a:xfrm>
            <a:off x="8138160" y="1463040"/>
            <a:ext cx="3566160" cy="1188720"/>
          </a:xfrm>
          <a:prstGeom prst="rect">
            <a:avLst/>
          </a:prstGeom>
          <a:noFill/>
        </p:spPr>
        <p:txBody>
          <a:bodyPr wrap="square" lIns="0" rIns="0" tIns="0" bIns="0" anchor="t">
            <a:spAutoFit/>
          </a:bodyPr>
          <a:lstStyle/>
          <a:p>
            <a:pPr algn="l"/>
            <a:r>
              <a:rPr sz="7200" b="1" i="0">
                <a:solidFill>
                  <a:srgbClr val="6C4AB6"/>
                </a:solidFill>
                <a:latin typeface="Arial"/>
              </a:rPr>
              <a:t>2</a:t>
            </a:r>
          </a:p>
        </p:txBody>
      </p:sp>
      <p:sp>
        <p:nvSpPr>
          <p:cNvPr id="10" name="TextBox 9"/>
          <p:cNvSpPr txBox="1"/>
          <p:nvPr/>
        </p:nvSpPr>
        <p:spPr>
          <a:xfrm>
            <a:off x="8138160" y="2697480"/>
            <a:ext cx="3566160" cy="411480"/>
          </a:xfrm>
          <a:prstGeom prst="rect">
            <a:avLst/>
          </a:prstGeom>
          <a:noFill/>
        </p:spPr>
        <p:txBody>
          <a:bodyPr wrap="square" lIns="0" rIns="0" tIns="0" bIns="0" anchor="t">
            <a:spAutoFit/>
          </a:bodyPr>
          <a:lstStyle/>
          <a:p>
            <a:pPr algn="l"/>
            <a:r>
              <a:rPr sz="2000" b="1" i="0">
                <a:solidFill>
                  <a:srgbClr val="1B2A41"/>
                </a:solidFill>
                <a:latin typeface="Arial"/>
              </a:rPr>
              <a:t>đánh giá trung thực</a:t>
            </a:r>
          </a:p>
        </p:txBody>
      </p:sp>
      <p:sp>
        <p:nvSpPr>
          <p:cNvPr id="11" name="TextBox 10"/>
          <p:cNvSpPr txBox="1"/>
          <p:nvPr/>
        </p:nvSpPr>
        <p:spPr>
          <a:xfrm>
            <a:off x="8138160" y="3108960"/>
            <a:ext cx="3566160" cy="365760"/>
          </a:xfrm>
          <a:prstGeom prst="rect">
            <a:avLst/>
          </a:prstGeom>
          <a:noFill/>
        </p:spPr>
        <p:txBody>
          <a:bodyPr wrap="square" lIns="0" rIns="0" tIns="0" bIns="0" anchor="t">
            <a:spAutoFit/>
          </a:bodyPr>
          <a:lstStyle/>
          <a:p>
            <a:pPr algn="l"/>
            <a:r>
              <a:rPr sz="1400" b="0" i="0">
                <a:solidFill>
                  <a:srgbClr val="5B6778"/>
                </a:solidFill>
                <a:latin typeface="Arial"/>
              </a:rPr>
              <a:t>buổi 14–15</a:t>
            </a:r>
          </a:p>
        </p:txBody>
      </p:sp>
      <p:sp>
        <p:nvSpPr>
          <p:cNvPr id="12" name="Rounded Rectangle 11"/>
          <p:cNvSpPr/>
          <p:nvPr/>
        </p:nvSpPr>
        <p:spPr>
          <a:xfrm>
            <a:off x="548640" y="4160520"/>
            <a:ext cx="224028" cy="502920"/>
          </a:xfrm>
          <a:prstGeom prst="roundRect">
            <a:avLst>
              <a:gd name="adj" fmla="val 20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800100" y="4160520"/>
            <a:ext cx="224028" cy="502920"/>
          </a:xfrm>
          <a:prstGeom prst="roundRect">
            <a:avLst>
              <a:gd name="adj" fmla="val 20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051560" y="4160520"/>
            <a:ext cx="224028" cy="502920"/>
          </a:xfrm>
          <a:prstGeom prst="roundRect">
            <a:avLst>
              <a:gd name="adj" fmla="val 20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1303020" y="4160520"/>
            <a:ext cx="224028" cy="502920"/>
          </a:xfrm>
          <a:prstGeom prst="roundRect">
            <a:avLst>
              <a:gd name="adj" fmla="val 20000"/>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554480" y="4160520"/>
            <a:ext cx="224028" cy="502920"/>
          </a:xfrm>
          <a:prstGeom prst="roundRect">
            <a:avLst>
              <a:gd name="adj" fmla="val 20000"/>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1805940" y="4160520"/>
            <a:ext cx="224028" cy="502920"/>
          </a:xfrm>
          <a:prstGeom prst="roundRect">
            <a:avLst>
              <a:gd name="adj" fmla="val 20000"/>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2057400" y="4160520"/>
            <a:ext cx="224028" cy="502920"/>
          </a:xfrm>
          <a:prstGeom prst="roundRect">
            <a:avLst>
              <a:gd name="adj" fmla="val 20000"/>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2308860" y="4160520"/>
            <a:ext cx="224028" cy="502920"/>
          </a:xfrm>
          <a:prstGeom prst="roundRect">
            <a:avLst>
              <a:gd name="adj" fmla="val 20000"/>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2560320" y="4160520"/>
            <a:ext cx="224028" cy="502920"/>
          </a:xfrm>
          <a:prstGeom prst="roundRect">
            <a:avLst>
              <a:gd name="adj" fmla="val 20000"/>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811780" y="4160520"/>
            <a:ext cx="224028" cy="502920"/>
          </a:xfrm>
          <a:prstGeom prst="roundRect">
            <a:avLst>
              <a:gd name="adj" fmla="val 20000"/>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3063240" y="4160520"/>
            <a:ext cx="224028" cy="502920"/>
          </a:xfrm>
          <a:prstGeom prst="roundRect">
            <a:avLst>
              <a:gd name="adj" fmla="val 20000"/>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3314700" y="4160520"/>
            <a:ext cx="224028" cy="502920"/>
          </a:xfrm>
          <a:prstGeom prst="roundRect">
            <a:avLst>
              <a:gd name="adj" fmla="val 20000"/>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3566160" y="4160520"/>
            <a:ext cx="224028" cy="502920"/>
          </a:xfrm>
          <a:prstGeom prst="roundRect">
            <a:avLst>
              <a:gd name="adj" fmla="val 20000"/>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3817620" y="4160520"/>
            <a:ext cx="224028" cy="502920"/>
          </a:xfrm>
          <a:prstGeom prst="roundRect">
            <a:avLst>
              <a:gd name="adj" fmla="val 20000"/>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069080" y="4160520"/>
            <a:ext cx="224028" cy="502920"/>
          </a:xfrm>
          <a:prstGeom prst="roundRect">
            <a:avLst>
              <a:gd name="adj" fmla="val 20000"/>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432054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457200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482346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507492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532638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57784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582930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08076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33222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58368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683514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708660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733806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758952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784098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809244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834390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859536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884682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909828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934974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960120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985266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1010412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1035558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1060704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1085850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1110996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11361420" y="4160520"/>
            <a:ext cx="224028" cy="502920"/>
          </a:xfrm>
          <a:prstGeom prst="roundRect">
            <a:avLst>
              <a:gd name="adj" fmla="val 20000"/>
            </a:avLst>
          </a:prstGeom>
          <a:solidFill>
            <a:srgbClr val="E1E5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48640" y="4800600"/>
            <a:ext cx="3931920" cy="365760"/>
          </a:xfrm>
          <a:prstGeom prst="rect">
            <a:avLst/>
          </a:prstGeom>
          <a:noFill/>
        </p:spPr>
        <p:txBody>
          <a:bodyPr wrap="square" lIns="0" rIns="0" tIns="0" bIns="0" anchor="t">
            <a:spAutoFit/>
          </a:bodyPr>
          <a:lstStyle/>
          <a:p>
            <a:pPr algn="l"/>
            <a:r>
              <a:rPr sz="1400" b="1" i="0">
                <a:solidFill>
                  <a:srgbClr val="1B2A41"/>
                </a:solidFill>
                <a:latin typeface="Arial"/>
              </a:rPr>
              <a:t>buổi 1 → 15: hôm nay</a:t>
            </a:r>
          </a:p>
        </p:txBody>
      </p:sp>
      <p:sp>
        <p:nvSpPr>
          <p:cNvPr id="57" name="TextBox 56"/>
          <p:cNvSpPr txBox="1"/>
          <p:nvPr/>
        </p:nvSpPr>
        <p:spPr>
          <a:xfrm>
            <a:off x="4389120" y="4800600"/>
            <a:ext cx="7223760" cy="731520"/>
          </a:xfrm>
          <a:prstGeom prst="rect">
            <a:avLst/>
          </a:prstGeom>
          <a:noFill/>
        </p:spPr>
        <p:txBody>
          <a:bodyPr wrap="square" lIns="0" rIns="0" tIns="0" bIns="0" anchor="t">
            <a:spAutoFit/>
          </a:bodyPr>
          <a:lstStyle/>
          <a:p>
            <a:pPr algn="l"/>
            <a:r>
              <a:rPr sz="1200" b="0" i="0">
                <a:solidFill>
                  <a:srgbClr val="5B6778"/>
                </a:solidFill>
                <a:latin typeface="Arial"/>
              </a:rPr>
              <a:t>16–21 thống kê · 22–24 ML · 25–28 bất định · 29–33 deep learning · 34–37 foundation model &amp; LLM · 38–40 nhân quả · 41–43 production · 44 dự án cuối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84048"/>
            <a:ext cx="10972800" cy="731520"/>
          </a:xfrm>
          <a:prstGeom prst="rect">
            <a:avLst/>
          </a:prstGeom>
          <a:noFill/>
        </p:spPr>
        <p:txBody>
          <a:bodyPr wrap="square" lIns="0" rIns="0" tIns="0" bIns="0" anchor="ctr">
            <a:spAutoFit/>
          </a:bodyPr>
          <a:lstStyle/>
          <a:p>
            <a:pPr algn="l"/>
            <a:r>
              <a:rPr sz="3200" b="1" i="0">
                <a:solidFill>
                  <a:srgbClr val="1B2A41"/>
                </a:solidFill>
                <a:latin typeface="Arial"/>
              </a:rPr>
              <a:t>Nhìn trước, xử lý sau, kiểm lại cuối</a:t>
            </a:r>
          </a:p>
        </p:txBody>
      </p:sp>
      <p:sp>
        <p:nvSpPr>
          <p:cNvPr id="3" name="Oval 2"/>
          <p:cNvSpPr/>
          <p:nvPr/>
        </p:nvSpPr>
        <p:spPr>
          <a:xfrm>
            <a:off x="563727" y="1920240"/>
            <a:ext cx="1554480" cy="155448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4400" b="1" i="0">
                <a:solidFill>
                  <a:srgbClr val="FFFFFF"/>
                </a:solidFill>
                <a:latin typeface="Arial"/>
              </a:rPr>
              <a:t>1</a:t>
            </a:r>
          </a:p>
        </p:txBody>
      </p:sp>
      <p:sp>
        <p:nvSpPr>
          <p:cNvPr id="4" name="TextBox 3"/>
          <p:cNvSpPr txBox="1"/>
          <p:nvPr/>
        </p:nvSpPr>
        <p:spPr>
          <a:xfrm>
            <a:off x="197967" y="3657600"/>
            <a:ext cx="2286000" cy="457200"/>
          </a:xfrm>
          <a:prstGeom prst="rect">
            <a:avLst/>
          </a:prstGeom>
          <a:noFill/>
        </p:spPr>
        <p:txBody>
          <a:bodyPr wrap="square" lIns="0" rIns="0" tIns="0" bIns="0" anchor="t">
            <a:spAutoFit/>
          </a:bodyPr>
          <a:lstStyle/>
          <a:p>
            <a:pPr algn="ctr"/>
            <a:r>
              <a:rPr sz="2000" b="1" i="0">
                <a:solidFill>
                  <a:srgbClr val="1B2A41"/>
                </a:solidFill>
                <a:latin typeface="Arial"/>
              </a:rPr>
              <a:t>Nhìn</a:t>
            </a:r>
          </a:p>
        </p:txBody>
      </p:sp>
      <p:sp>
        <p:nvSpPr>
          <p:cNvPr id="5" name="TextBox 4"/>
          <p:cNvSpPr txBox="1"/>
          <p:nvPr/>
        </p:nvSpPr>
        <p:spPr>
          <a:xfrm>
            <a:off x="197967" y="4114800"/>
            <a:ext cx="2286000" cy="365760"/>
          </a:xfrm>
          <a:prstGeom prst="rect">
            <a:avLst/>
          </a:prstGeom>
          <a:noFill/>
        </p:spPr>
        <p:txBody>
          <a:bodyPr wrap="square" lIns="0" rIns="0" tIns="0" bIns="0" anchor="t">
            <a:spAutoFit/>
          </a:bodyPr>
          <a:lstStyle/>
          <a:p>
            <a:pPr algn="ctr"/>
            <a:r>
              <a:rPr sz="1500" b="0" i="0">
                <a:solidFill>
                  <a:srgbClr val="5B6778"/>
                </a:solidFill>
                <a:latin typeface="Arial"/>
              </a:rPr>
              <a:t>vẽ đủ biểu đồ</a:t>
            </a:r>
          </a:p>
        </p:txBody>
      </p:sp>
      <p:cxnSp>
        <p:nvCxnSpPr>
          <p:cNvPr id="6" name="Connector 5"/>
          <p:cNvCxnSpPr/>
          <p:nvPr/>
        </p:nvCxnSpPr>
        <p:spPr>
          <a:xfrm>
            <a:off x="2227935" y="2697480"/>
            <a:ext cx="603504" cy="0"/>
          </a:xfrm>
          <a:prstGeom prst="line">
            <a:avLst/>
          </a:prstGeom>
          <a:ln w="31750">
            <a:solidFill>
              <a:srgbClr val="9AA5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Oval 6"/>
          <p:cNvSpPr/>
          <p:nvPr/>
        </p:nvSpPr>
        <p:spPr>
          <a:xfrm>
            <a:off x="2941167" y="1920240"/>
            <a:ext cx="1554480" cy="155448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4400" b="1" i="0">
                <a:solidFill>
                  <a:srgbClr val="FFFFFF"/>
                </a:solidFill>
                <a:latin typeface="Arial"/>
              </a:rPr>
              <a:t>2</a:t>
            </a:r>
          </a:p>
        </p:txBody>
      </p:sp>
      <p:sp>
        <p:nvSpPr>
          <p:cNvPr id="8" name="TextBox 7"/>
          <p:cNvSpPr txBox="1"/>
          <p:nvPr/>
        </p:nvSpPr>
        <p:spPr>
          <a:xfrm>
            <a:off x="2575407" y="3657600"/>
            <a:ext cx="2286000" cy="457200"/>
          </a:xfrm>
          <a:prstGeom prst="rect">
            <a:avLst/>
          </a:prstGeom>
          <a:noFill/>
        </p:spPr>
        <p:txBody>
          <a:bodyPr wrap="square" lIns="0" rIns="0" tIns="0" bIns="0" anchor="t">
            <a:spAutoFit/>
          </a:bodyPr>
          <a:lstStyle/>
          <a:p>
            <a:pPr algn="ctr"/>
            <a:r>
              <a:rPr sz="2000" b="1" i="0">
                <a:solidFill>
                  <a:srgbClr val="1B2A41"/>
                </a:solidFill>
                <a:latin typeface="Arial"/>
              </a:rPr>
              <a:t>Giả thuyết</a:t>
            </a:r>
          </a:p>
        </p:txBody>
      </p:sp>
      <p:sp>
        <p:nvSpPr>
          <p:cNvPr id="9" name="TextBox 8"/>
          <p:cNvSpPr txBox="1"/>
          <p:nvPr/>
        </p:nvSpPr>
        <p:spPr>
          <a:xfrm>
            <a:off x="2575407" y="4114800"/>
            <a:ext cx="2286000" cy="365760"/>
          </a:xfrm>
          <a:prstGeom prst="rect">
            <a:avLst/>
          </a:prstGeom>
          <a:noFill/>
        </p:spPr>
        <p:txBody>
          <a:bodyPr wrap="square" lIns="0" rIns="0" tIns="0" bIns="0" anchor="t">
            <a:spAutoFit/>
          </a:bodyPr>
          <a:lstStyle/>
          <a:p>
            <a:pPr algn="ctr"/>
            <a:r>
              <a:rPr sz="1500" b="0" i="0">
                <a:solidFill>
                  <a:srgbClr val="5B6778"/>
                </a:solidFill>
                <a:latin typeface="Arial"/>
              </a:rPr>
              <a:t>nghi điều gì?</a:t>
            </a:r>
          </a:p>
        </p:txBody>
      </p:sp>
      <p:cxnSp>
        <p:nvCxnSpPr>
          <p:cNvPr id="10" name="Connector 9"/>
          <p:cNvCxnSpPr/>
          <p:nvPr/>
        </p:nvCxnSpPr>
        <p:spPr>
          <a:xfrm>
            <a:off x="4605375" y="2697480"/>
            <a:ext cx="603504" cy="0"/>
          </a:xfrm>
          <a:prstGeom prst="line">
            <a:avLst/>
          </a:prstGeom>
          <a:ln w="31750">
            <a:solidFill>
              <a:srgbClr val="9AA5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a:off x="5318607" y="1920240"/>
            <a:ext cx="1554480" cy="155448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4400" b="1" i="0">
                <a:solidFill>
                  <a:srgbClr val="FFFFFF"/>
                </a:solidFill>
                <a:latin typeface="Arial"/>
              </a:rPr>
              <a:t>3</a:t>
            </a:r>
          </a:p>
        </p:txBody>
      </p:sp>
      <p:sp>
        <p:nvSpPr>
          <p:cNvPr id="12" name="TextBox 11"/>
          <p:cNvSpPr txBox="1"/>
          <p:nvPr/>
        </p:nvSpPr>
        <p:spPr>
          <a:xfrm>
            <a:off x="4952847" y="3657600"/>
            <a:ext cx="2286000" cy="457200"/>
          </a:xfrm>
          <a:prstGeom prst="rect">
            <a:avLst/>
          </a:prstGeom>
          <a:noFill/>
        </p:spPr>
        <p:txBody>
          <a:bodyPr wrap="square" lIns="0" rIns="0" tIns="0" bIns="0" anchor="t">
            <a:spAutoFit/>
          </a:bodyPr>
          <a:lstStyle/>
          <a:p>
            <a:pPr algn="ctr"/>
            <a:r>
              <a:rPr sz="2000" b="1" i="0">
                <a:solidFill>
                  <a:srgbClr val="1B2A41"/>
                </a:solidFill>
                <a:latin typeface="Arial"/>
              </a:rPr>
              <a:t>Kiểm bằng số</a:t>
            </a:r>
          </a:p>
        </p:txBody>
      </p:sp>
      <p:sp>
        <p:nvSpPr>
          <p:cNvPr id="13" name="TextBox 12"/>
          <p:cNvSpPr txBox="1"/>
          <p:nvPr/>
        </p:nvSpPr>
        <p:spPr>
          <a:xfrm>
            <a:off x="4952847" y="4114800"/>
            <a:ext cx="2286000" cy="365760"/>
          </a:xfrm>
          <a:prstGeom prst="rect">
            <a:avLst/>
          </a:prstGeom>
          <a:noFill/>
        </p:spPr>
        <p:txBody>
          <a:bodyPr wrap="square" lIns="0" rIns="0" tIns="0" bIns="0" anchor="t">
            <a:spAutoFit/>
          </a:bodyPr>
          <a:lstStyle/>
          <a:p>
            <a:pPr algn="ctr"/>
            <a:r>
              <a:rPr sz="1500" b="0" i="0">
                <a:solidFill>
                  <a:srgbClr val="5B6778"/>
                </a:solidFill>
                <a:latin typeface="Arial"/>
              </a:rPr>
              <a:t>đếm, đo, test</a:t>
            </a:r>
          </a:p>
        </p:txBody>
      </p:sp>
      <p:cxnSp>
        <p:nvCxnSpPr>
          <p:cNvPr id="14" name="Connector 13"/>
          <p:cNvCxnSpPr/>
          <p:nvPr/>
        </p:nvCxnSpPr>
        <p:spPr>
          <a:xfrm>
            <a:off x="6982815" y="2697480"/>
            <a:ext cx="603504" cy="0"/>
          </a:xfrm>
          <a:prstGeom prst="line">
            <a:avLst/>
          </a:prstGeom>
          <a:ln w="31750">
            <a:solidFill>
              <a:srgbClr val="9AA5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7696047" y="1920240"/>
            <a:ext cx="1554480" cy="1554480"/>
          </a:xfrm>
          <a:prstGeom prst="ellipse">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4400" b="1" i="0">
                <a:solidFill>
                  <a:srgbClr val="FFFFFF"/>
                </a:solidFill>
                <a:latin typeface="Arial"/>
              </a:rPr>
              <a:t>4</a:t>
            </a:r>
          </a:p>
        </p:txBody>
      </p:sp>
      <p:sp>
        <p:nvSpPr>
          <p:cNvPr id="16" name="TextBox 15"/>
          <p:cNvSpPr txBox="1"/>
          <p:nvPr/>
        </p:nvSpPr>
        <p:spPr>
          <a:xfrm>
            <a:off x="7330287" y="3657600"/>
            <a:ext cx="2286000" cy="457200"/>
          </a:xfrm>
          <a:prstGeom prst="rect">
            <a:avLst/>
          </a:prstGeom>
          <a:noFill/>
        </p:spPr>
        <p:txBody>
          <a:bodyPr wrap="square" lIns="0" rIns="0" tIns="0" bIns="0" anchor="t">
            <a:spAutoFit/>
          </a:bodyPr>
          <a:lstStyle/>
          <a:p>
            <a:pPr algn="ctr"/>
            <a:r>
              <a:rPr sz="2000" b="1" i="0">
                <a:solidFill>
                  <a:srgbClr val="1B2A41"/>
                </a:solidFill>
                <a:latin typeface="Arial"/>
              </a:rPr>
              <a:t>Xử lý</a:t>
            </a:r>
          </a:p>
        </p:txBody>
      </p:sp>
      <p:sp>
        <p:nvSpPr>
          <p:cNvPr id="17" name="TextBox 16"/>
          <p:cNvSpPr txBox="1"/>
          <p:nvPr/>
        </p:nvSpPr>
        <p:spPr>
          <a:xfrm>
            <a:off x="7330287" y="4114800"/>
            <a:ext cx="2286000" cy="365760"/>
          </a:xfrm>
          <a:prstGeom prst="rect">
            <a:avLst/>
          </a:prstGeom>
          <a:noFill/>
        </p:spPr>
        <p:txBody>
          <a:bodyPr wrap="square" lIns="0" rIns="0" tIns="0" bIns="0" anchor="t">
            <a:spAutoFit/>
          </a:bodyPr>
          <a:lstStyle/>
          <a:p>
            <a:pPr algn="ctr"/>
            <a:r>
              <a:rPr sz="1500" b="0" i="0">
                <a:solidFill>
                  <a:srgbClr val="5B6778"/>
                </a:solidFill>
                <a:latin typeface="Arial"/>
              </a:rPr>
              <a:t>sửa có ghi lại</a:t>
            </a:r>
          </a:p>
        </p:txBody>
      </p:sp>
      <p:cxnSp>
        <p:nvCxnSpPr>
          <p:cNvPr id="18" name="Connector 17"/>
          <p:cNvCxnSpPr/>
          <p:nvPr/>
        </p:nvCxnSpPr>
        <p:spPr>
          <a:xfrm>
            <a:off x="9360255" y="2697480"/>
            <a:ext cx="603504" cy="0"/>
          </a:xfrm>
          <a:prstGeom prst="line">
            <a:avLst/>
          </a:prstGeom>
          <a:ln w="31750">
            <a:solidFill>
              <a:srgbClr val="9AA5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10073487" y="1920240"/>
            <a:ext cx="1554480" cy="155448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4400" b="1" i="0">
                <a:solidFill>
                  <a:srgbClr val="FFFFFF"/>
                </a:solidFill>
                <a:latin typeface="Arial"/>
              </a:rPr>
              <a:t>5</a:t>
            </a:r>
          </a:p>
        </p:txBody>
      </p:sp>
      <p:sp>
        <p:nvSpPr>
          <p:cNvPr id="20" name="TextBox 19"/>
          <p:cNvSpPr txBox="1"/>
          <p:nvPr/>
        </p:nvSpPr>
        <p:spPr>
          <a:xfrm>
            <a:off x="9707727" y="3657600"/>
            <a:ext cx="2286000" cy="457200"/>
          </a:xfrm>
          <a:prstGeom prst="rect">
            <a:avLst/>
          </a:prstGeom>
          <a:noFill/>
        </p:spPr>
        <p:txBody>
          <a:bodyPr wrap="square" lIns="0" rIns="0" tIns="0" bIns="0" anchor="t">
            <a:spAutoFit/>
          </a:bodyPr>
          <a:lstStyle/>
          <a:p>
            <a:pPr algn="ctr"/>
            <a:r>
              <a:rPr sz="2000" b="1" i="0">
                <a:solidFill>
                  <a:srgbClr val="1B2A41"/>
                </a:solidFill>
                <a:latin typeface="Arial"/>
              </a:rPr>
              <a:t>Kiểm lại</a:t>
            </a:r>
          </a:p>
        </p:txBody>
      </p:sp>
      <p:sp>
        <p:nvSpPr>
          <p:cNvPr id="21" name="TextBox 20"/>
          <p:cNvSpPr txBox="1"/>
          <p:nvPr/>
        </p:nvSpPr>
        <p:spPr>
          <a:xfrm>
            <a:off x="9707727" y="4114800"/>
            <a:ext cx="2286000" cy="365760"/>
          </a:xfrm>
          <a:prstGeom prst="rect">
            <a:avLst/>
          </a:prstGeom>
          <a:noFill/>
        </p:spPr>
        <p:txBody>
          <a:bodyPr wrap="square" lIns="0" rIns="0" tIns="0" bIns="0" anchor="t">
            <a:spAutoFit/>
          </a:bodyPr>
          <a:lstStyle/>
          <a:p>
            <a:pPr algn="ctr"/>
            <a:r>
              <a:rPr sz="1500" b="0" i="0">
                <a:solidFill>
                  <a:srgbClr val="5B6778"/>
                </a:solidFill>
                <a:latin typeface="Arial"/>
              </a:rPr>
              <a:t>so trước / sau</a:t>
            </a:r>
          </a:p>
        </p:txBody>
      </p:sp>
      <p:sp>
        <p:nvSpPr>
          <p:cNvPr id="22" name="Rounded Rectangle 21"/>
          <p:cNvSpPr/>
          <p:nvPr/>
        </p:nvSpPr>
        <p:spPr>
          <a:xfrm>
            <a:off x="548640" y="4892040"/>
            <a:ext cx="11091672" cy="118872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5029200"/>
            <a:ext cx="10515600" cy="914400"/>
          </a:xfrm>
          <a:prstGeom prst="rect">
            <a:avLst/>
          </a:prstGeom>
          <a:noFill/>
        </p:spPr>
        <p:txBody>
          <a:bodyPr wrap="square" lIns="0" rIns="0" tIns="0" bIns="0" anchor="ctr">
            <a:spAutoFit/>
          </a:bodyPr>
          <a:lstStyle/>
          <a:p>
            <a:pPr algn="l"/>
            <a:r>
              <a:rPr sz="1600" b="1" i="0">
                <a:solidFill>
                  <a:srgbClr val="0F8B8D"/>
                </a:solidFill>
                <a:latin typeface="Arial"/>
              </a:rPr>
              <a:t>Ví dụ:  </a:t>
            </a:r>
            <a:r>
              <a:rPr sz="1600" b="0" i="0">
                <a:solidFill>
                  <a:srgbClr val="1B2A41"/>
                </a:solidFill>
                <a:latin typeface="Arial"/>
              </a:rPr>
              <a:t>thấy một giờ bằng 0 lúc rạng sáng Chủ nhật tháng 3, nghi do đổi giờ mùa hè, đếm lại số giờ của ngày đó, đổi sang UTC rồi mới gộp, và vẽ lại ngày đó để chắc chắn.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1B2A41"/>
        </a:solidFill>
        <a:effectLst/>
      </p:bgPr>
    </p:bg>
    <p:spTree>
      <p:nvGrpSpPr>
        <p:cNvPr id="1" name=""/>
        <p:cNvGrpSpPr/>
        <p:nvPr/>
      </p:nvGrpSpPr>
      <p:grpSpPr/>
      <p:sp>
        <p:nvSpPr>
          <p:cNvPr id="2" name="Oval 1"/>
          <p:cNvSpPr/>
          <p:nvPr/>
        </p:nvSpPr>
        <p:spPr>
          <a:xfrm>
            <a:off x="822960" y="1828800"/>
            <a:ext cx="1463040" cy="146304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6000" b="1" i="0">
                <a:solidFill>
                  <a:srgbClr val="FFFFFF"/>
                </a:solidFill>
                <a:latin typeface="Arial"/>
              </a:rPr>
              <a:t>A</a:t>
            </a:r>
          </a:p>
        </p:txBody>
      </p:sp>
      <p:sp>
        <p:nvSpPr>
          <p:cNvPr id="3" name="TextBox 2"/>
          <p:cNvSpPr txBox="1"/>
          <p:nvPr/>
        </p:nvSpPr>
        <p:spPr>
          <a:xfrm>
            <a:off x="822960" y="3611880"/>
            <a:ext cx="6035040" cy="822960"/>
          </a:xfrm>
          <a:prstGeom prst="rect">
            <a:avLst/>
          </a:prstGeom>
          <a:noFill/>
        </p:spPr>
        <p:txBody>
          <a:bodyPr wrap="square" lIns="0" rIns="0" tIns="0" bIns="0" anchor="t">
            <a:spAutoFit/>
          </a:bodyPr>
          <a:lstStyle/>
          <a:p>
            <a:pPr algn="l"/>
            <a:r>
              <a:rPr sz="3800" b="1" i="0">
                <a:solidFill>
                  <a:srgbClr val="FFFFFF"/>
                </a:solidFill>
                <a:latin typeface="Arial"/>
              </a:rPr>
              <a:t>Khái niệm nền</a:t>
            </a:r>
          </a:p>
        </p:txBody>
      </p:sp>
      <p:sp>
        <p:nvSpPr>
          <p:cNvPr id="4" name="TextBox 3"/>
          <p:cNvSpPr txBox="1"/>
          <p:nvPr/>
        </p:nvSpPr>
        <p:spPr>
          <a:xfrm>
            <a:off x="822960" y="4434840"/>
            <a:ext cx="5120640" cy="457200"/>
          </a:xfrm>
          <a:prstGeom prst="rect">
            <a:avLst/>
          </a:prstGeom>
          <a:noFill/>
        </p:spPr>
        <p:txBody>
          <a:bodyPr wrap="square" lIns="0" rIns="0" tIns="0" bIns="0" anchor="t">
            <a:spAutoFit/>
          </a:bodyPr>
          <a:lstStyle/>
          <a:p>
            <a:pPr algn="l"/>
            <a:r>
              <a:rPr sz="1800" b="1" i="0">
                <a:solidFill>
                  <a:srgbClr val="0F8B8D"/>
                </a:solidFill>
                <a:latin typeface="Arial"/>
              </a:rPr>
              <a:t>Buổi 1–13</a:t>
            </a:r>
          </a:p>
        </p:txBody>
      </p:sp>
      <p:sp>
        <p:nvSpPr>
          <p:cNvPr id="5" name="TextBox 4"/>
          <p:cNvSpPr txBox="1"/>
          <p:nvPr/>
        </p:nvSpPr>
        <p:spPr>
          <a:xfrm>
            <a:off x="822960" y="4937760"/>
            <a:ext cx="4937760" cy="914400"/>
          </a:xfrm>
          <a:prstGeom prst="rect">
            <a:avLst/>
          </a:prstGeom>
          <a:noFill/>
        </p:spPr>
        <p:txBody>
          <a:bodyPr wrap="square" lIns="0" rIns="0" tIns="0" bIns="0" anchor="t">
            <a:spAutoFit/>
          </a:bodyPr>
          <a:lstStyle/>
          <a:p>
            <a:pPr algn="l"/>
            <a:r>
              <a:rPr sz="1600" b="0" i="0">
                <a:solidFill>
                  <a:srgbClr val="C9D3E0"/>
                </a:solidFill>
                <a:latin typeface="Arial"/>
              </a:rPr>
              <a:t>Mỗi khái niệm: để làm gì, là gì, cao thấp nghĩa là gì, và một ví dụ có số.</a:t>
            </a:r>
          </a:p>
        </p:txBody>
      </p:sp>
      <p:cxnSp>
        <p:nvCxnSpPr>
          <p:cNvPr id="6" name="Connector 5"/>
          <p:cNvCxnSpPr/>
          <p:nvPr/>
        </p:nvCxnSpPr>
        <p:spPr>
          <a:xfrm flipH="1" flipV="1">
            <a:off x="7155180" y="2125980"/>
            <a:ext cx="1943100" cy="937259"/>
          </a:xfrm>
          <a:prstGeom prst="line">
            <a:avLst/>
          </a:prstGeom>
          <a:ln w="19050">
            <a:solidFill>
              <a:srgbClr val="0F8B8D"/>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7155180" y="3063239"/>
            <a:ext cx="1943100" cy="0"/>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7155180" y="3063239"/>
            <a:ext cx="1943100" cy="937261"/>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9098280" y="2125980"/>
            <a:ext cx="1943100" cy="937259"/>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098280" y="3063239"/>
            <a:ext cx="1943100" cy="0"/>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098280" y="3063239"/>
            <a:ext cx="1943100" cy="937261"/>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8298179" y="2697479"/>
            <a:ext cx="1600200" cy="731520"/>
          </a:xfrm>
          <a:prstGeom prst="ellipse">
            <a:avLst/>
          </a:prstGeom>
          <a:solidFill>
            <a:srgbClr val="1B2A41"/>
          </a:solidFill>
          <a:ln w="15875">
            <a:solidFill>
              <a:srgbClr val="8FA3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55080" y="1817369"/>
            <a:ext cx="1600200" cy="617220"/>
          </a:xfrm>
          <a:prstGeom prst="roundRect">
            <a:avLst>
              <a:gd name="adj" fmla="val 18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FFFFFF"/>
                </a:solidFill>
                <a:latin typeface="Arial"/>
              </a:rPr>
              <a:t>A. Khái niệm nền</a:t>
            </a:r>
          </a:p>
        </p:txBody>
      </p:sp>
      <p:sp>
        <p:nvSpPr>
          <p:cNvPr id="14" name="Rounded Rectangle 13"/>
          <p:cNvSpPr/>
          <p:nvPr/>
        </p:nvSpPr>
        <p:spPr>
          <a:xfrm>
            <a:off x="6355080" y="2754630"/>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B. Vấn đề dữ liệu</a:t>
            </a:r>
          </a:p>
        </p:txBody>
      </p:sp>
      <p:sp>
        <p:nvSpPr>
          <p:cNvPr id="15" name="Rounded Rectangle 14"/>
          <p:cNvSpPr/>
          <p:nvPr/>
        </p:nvSpPr>
        <p:spPr>
          <a:xfrm>
            <a:off x="6355080" y="3691889"/>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C. Bảng tra &amp; từ điển</a:t>
            </a:r>
          </a:p>
        </p:txBody>
      </p:sp>
      <p:sp>
        <p:nvSpPr>
          <p:cNvPr id="16" name="Rounded Rectangle 15"/>
          <p:cNvSpPr/>
          <p:nvPr/>
        </p:nvSpPr>
        <p:spPr>
          <a:xfrm>
            <a:off x="10241280" y="1817369"/>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D. Đánh giá trung thực</a:t>
            </a:r>
          </a:p>
        </p:txBody>
      </p:sp>
      <p:sp>
        <p:nvSpPr>
          <p:cNvPr id="17" name="Rounded Rectangle 16"/>
          <p:cNvSpPr/>
          <p:nvPr/>
        </p:nvSpPr>
        <p:spPr>
          <a:xfrm>
            <a:off x="10241280" y="2754630"/>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E. Quy trình tiền xử lý</a:t>
            </a:r>
          </a:p>
        </p:txBody>
      </p:sp>
      <p:sp>
        <p:nvSpPr>
          <p:cNvPr id="18" name="Rounded Rectangle 17"/>
          <p:cNvSpPr/>
          <p:nvPr/>
        </p:nvSpPr>
        <p:spPr>
          <a:xfrm>
            <a:off x="10241280" y="3691889"/>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F. Dữ liệu &amp; phía trước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10332720" cy="731520"/>
          </a:xfrm>
          <a:prstGeom prst="rect">
            <a:avLst/>
          </a:prstGeom>
          <a:noFill/>
        </p:spPr>
        <p:txBody>
          <a:bodyPr wrap="square" lIns="0" rIns="0" tIns="0" bIns="0" anchor="ctr">
            <a:spAutoFit/>
          </a:bodyPr>
          <a:lstStyle/>
          <a:p>
            <a:pPr algn="l"/>
            <a:r>
              <a:rPr sz="3000" b="1" i="0">
                <a:solidFill>
                  <a:srgbClr val="1B2A41"/>
                </a:solidFill>
                <a:latin typeface="Arial"/>
              </a:rPr>
              <a:t>Từ nền 1/5: dự báo, sai số, dữ liệu</a:t>
            </a:r>
          </a:p>
        </p:txBody>
      </p:sp>
      <p:sp>
        <p:nvSpPr>
          <p:cNvPr id="4" name="TextBox 3"/>
          <p:cNvSpPr txBox="1"/>
          <p:nvPr/>
        </p:nvSpPr>
        <p:spPr>
          <a:xfrm>
            <a:off x="685800" y="1188720"/>
            <a:ext cx="2103120" cy="365760"/>
          </a:xfrm>
          <a:prstGeom prst="rect">
            <a:avLst/>
          </a:prstGeom>
          <a:noFill/>
        </p:spPr>
        <p:txBody>
          <a:bodyPr wrap="square" lIns="0" rIns="0" tIns="0" bIns="0" anchor="t">
            <a:spAutoFit/>
          </a:bodyPr>
          <a:lstStyle/>
          <a:p>
            <a:pPr algn="l"/>
            <a:r>
              <a:rPr sz="1100" b="1" i="0">
                <a:solidFill>
                  <a:srgbClr val="0F8B8D"/>
                </a:solidFill>
                <a:latin typeface="Arial"/>
              </a:rPr>
              <a:t>TỪ</a:t>
            </a:r>
          </a:p>
        </p:txBody>
      </p:sp>
      <p:sp>
        <p:nvSpPr>
          <p:cNvPr id="5" name="TextBox 4"/>
          <p:cNvSpPr txBox="1"/>
          <p:nvPr/>
        </p:nvSpPr>
        <p:spPr>
          <a:xfrm>
            <a:off x="3063240" y="1188720"/>
            <a:ext cx="5120640" cy="365760"/>
          </a:xfrm>
          <a:prstGeom prst="rect">
            <a:avLst/>
          </a:prstGeom>
          <a:noFill/>
        </p:spPr>
        <p:txBody>
          <a:bodyPr wrap="square" lIns="0" rIns="0" tIns="0" bIns="0" anchor="t">
            <a:spAutoFit/>
          </a:bodyPr>
          <a:lstStyle/>
          <a:p>
            <a:pPr algn="l"/>
            <a:r>
              <a:rPr sz="1100" b="1" i="0">
                <a:solidFill>
                  <a:srgbClr val="5B6778"/>
                </a:solidFill>
                <a:latin typeface="Arial"/>
              </a:rPr>
              <a:t>LÀ GÌ</a:t>
            </a:r>
          </a:p>
        </p:txBody>
      </p:sp>
      <p:sp>
        <p:nvSpPr>
          <p:cNvPr id="6" name="TextBox 5"/>
          <p:cNvSpPr txBox="1"/>
          <p:nvPr/>
        </p:nvSpPr>
        <p:spPr>
          <a:xfrm>
            <a:off x="8458200" y="1188720"/>
            <a:ext cx="3044952" cy="365760"/>
          </a:xfrm>
          <a:prstGeom prst="rect">
            <a:avLst/>
          </a:prstGeom>
          <a:noFill/>
        </p:spPr>
        <p:txBody>
          <a:bodyPr wrap="square" lIns="0" rIns="0" tIns="0" bIns="0" anchor="t">
            <a:spAutoFit/>
          </a:bodyPr>
          <a:lstStyle/>
          <a:p>
            <a:pPr algn="l"/>
            <a:r>
              <a:rPr sz="1100" b="1" i="0">
                <a:solidFill>
                  <a:srgbClr val="5B6778"/>
                </a:solidFill>
                <a:latin typeface="Arial"/>
              </a:rPr>
              <a:t>VÍ DỤ</a:t>
            </a:r>
          </a:p>
        </p:txBody>
      </p:sp>
      <p:sp>
        <p:nvSpPr>
          <p:cNvPr id="7" name="Rounded Rectangle 6"/>
          <p:cNvSpPr/>
          <p:nvPr/>
        </p:nvSpPr>
        <p:spPr>
          <a:xfrm>
            <a:off x="548639" y="1600200"/>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799" y="1600200"/>
            <a:ext cx="2103120" cy="347472"/>
          </a:xfrm>
          <a:prstGeom prst="rect">
            <a:avLst/>
          </a:prstGeom>
          <a:noFill/>
        </p:spPr>
        <p:txBody>
          <a:bodyPr wrap="square" lIns="0" rIns="0" tIns="0" bIns="0" anchor="ctr">
            <a:spAutoFit/>
          </a:bodyPr>
          <a:lstStyle/>
          <a:p>
            <a:pPr algn="l"/>
            <a:r>
              <a:rPr sz="1200" b="1" i="0">
                <a:solidFill>
                  <a:srgbClr val="1B2A41"/>
                </a:solidFill>
                <a:latin typeface="Arial"/>
              </a:rPr>
              <a:t>mô hình, tham số</a:t>
            </a:r>
          </a:p>
        </p:txBody>
      </p:sp>
      <p:sp>
        <p:nvSpPr>
          <p:cNvPr id="9" name="TextBox 8"/>
          <p:cNvSpPr txBox="1"/>
          <p:nvPr/>
        </p:nvSpPr>
        <p:spPr>
          <a:xfrm>
            <a:off x="3063239" y="1600200"/>
            <a:ext cx="5120640" cy="347472"/>
          </a:xfrm>
          <a:prstGeom prst="rect">
            <a:avLst/>
          </a:prstGeom>
          <a:noFill/>
        </p:spPr>
        <p:txBody>
          <a:bodyPr wrap="square" lIns="0" rIns="0" tIns="0" bIns="0" anchor="ctr">
            <a:spAutoFit/>
          </a:bodyPr>
          <a:lstStyle/>
          <a:p>
            <a:pPr algn="l"/>
            <a:r>
              <a:rPr sz="1200" b="0" i="0">
                <a:solidFill>
                  <a:srgbClr val="1B2A41"/>
                </a:solidFill>
                <a:latin typeface="Arial"/>
              </a:rPr>
              <a:t>Cách tính ra dự báo; tham số là các con số bên trong nó</a:t>
            </a:r>
          </a:p>
        </p:txBody>
      </p:sp>
      <p:sp>
        <p:nvSpPr>
          <p:cNvPr id="10" name="TextBox 9"/>
          <p:cNvSpPr txBox="1"/>
          <p:nvPr/>
        </p:nvSpPr>
        <p:spPr>
          <a:xfrm>
            <a:off x="8458200" y="1600200"/>
            <a:ext cx="3044952" cy="347472"/>
          </a:xfrm>
          <a:prstGeom prst="rect">
            <a:avLst/>
          </a:prstGeom>
          <a:noFill/>
        </p:spPr>
        <p:txBody>
          <a:bodyPr wrap="square" lIns="0" rIns="0" tIns="0" bIns="0" anchor="ctr">
            <a:spAutoFit/>
          </a:bodyPr>
          <a:lstStyle/>
          <a:p>
            <a:pPr algn="l"/>
            <a:r>
              <a:rPr sz="1200" b="0" i="0">
                <a:solidFill>
                  <a:srgbClr val="5B6778"/>
                </a:solidFill>
                <a:latin typeface="Arial"/>
              </a:rPr>
              <a:t>“Mai = trung bình 7 ngày qua”</a:t>
            </a:r>
          </a:p>
        </p:txBody>
      </p:sp>
      <p:sp>
        <p:nvSpPr>
          <p:cNvPr id="11" name="TextBox 10"/>
          <p:cNvSpPr txBox="1"/>
          <p:nvPr/>
        </p:nvSpPr>
        <p:spPr>
          <a:xfrm>
            <a:off x="685799" y="1984248"/>
            <a:ext cx="2103120" cy="347472"/>
          </a:xfrm>
          <a:prstGeom prst="rect">
            <a:avLst/>
          </a:prstGeom>
          <a:noFill/>
        </p:spPr>
        <p:txBody>
          <a:bodyPr wrap="square" lIns="0" rIns="0" tIns="0" bIns="0" anchor="ctr">
            <a:spAutoFit/>
          </a:bodyPr>
          <a:lstStyle/>
          <a:p>
            <a:pPr algn="l"/>
            <a:r>
              <a:rPr sz="1200" b="1" i="0">
                <a:solidFill>
                  <a:srgbClr val="1B2A41"/>
                </a:solidFill>
                <a:latin typeface="Arial"/>
              </a:rPr>
              <a:t>khớp (fit), học</a:t>
            </a:r>
          </a:p>
        </p:txBody>
      </p:sp>
      <p:sp>
        <p:nvSpPr>
          <p:cNvPr id="12" name="TextBox 11"/>
          <p:cNvSpPr txBox="1"/>
          <p:nvPr/>
        </p:nvSpPr>
        <p:spPr>
          <a:xfrm>
            <a:off x="3063239" y="1984248"/>
            <a:ext cx="5120640" cy="347472"/>
          </a:xfrm>
          <a:prstGeom prst="rect">
            <a:avLst/>
          </a:prstGeom>
          <a:noFill/>
        </p:spPr>
        <p:txBody>
          <a:bodyPr wrap="square" lIns="0" rIns="0" tIns="0" bIns="0" anchor="ctr">
            <a:spAutoFit/>
          </a:bodyPr>
          <a:lstStyle/>
          <a:p>
            <a:pPr algn="l"/>
            <a:r>
              <a:rPr sz="1200" b="0" i="0">
                <a:solidFill>
                  <a:srgbClr val="1B2A41"/>
                </a:solidFill>
                <a:latin typeface="Arial"/>
              </a:rPr>
              <a:t>Chọn các tham số từ dữ liệu quá khứ</a:t>
            </a:r>
          </a:p>
        </p:txBody>
      </p:sp>
      <p:sp>
        <p:nvSpPr>
          <p:cNvPr id="13" name="TextBox 12"/>
          <p:cNvSpPr txBox="1"/>
          <p:nvPr/>
        </p:nvSpPr>
        <p:spPr>
          <a:xfrm>
            <a:off x="8458200" y="1984248"/>
            <a:ext cx="3044952" cy="347472"/>
          </a:xfrm>
          <a:prstGeom prst="rect">
            <a:avLst/>
          </a:prstGeom>
          <a:noFill/>
        </p:spPr>
        <p:txBody>
          <a:bodyPr wrap="square" lIns="0" rIns="0" tIns="0" bIns="0" anchor="ctr">
            <a:spAutoFit/>
          </a:bodyPr>
          <a:lstStyle/>
          <a:p>
            <a:pPr algn="l"/>
            <a:r>
              <a:rPr sz="1200" b="0" i="0">
                <a:solidFill>
                  <a:srgbClr val="5B6778"/>
                </a:solidFill>
                <a:latin typeface="Arial"/>
              </a:rPr>
              <a:t>Tính trung bình 7 ngày từ lịch sử</a:t>
            </a:r>
          </a:p>
        </p:txBody>
      </p:sp>
      <p:sp>
        <p:nvSpPr>
          <p:cNvPr id="14" name="Rounded Rectangle 13"/>
          <p:cNvSpPr/>
          <p:nvPr/>
        </p:nvSpPr>
        <p:spPr>
          <a:xfrm>
            <a:off x="548639" y="2368296"/>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799" y="2368296"/>
            <a:ext cx="2103120" cy="347472"/>
          </a:xfrm>
          <a:prstGeom prst="rect">
            <a:avLst/>
          </a:prstGeom>
          <a:noFill/>
        </p:spPr>
        <p:txBody>
          <a:bodyPr wrap="square" lIns="0" rIns="0" tIns="0" bIns="0" anchor="ctr">
            <a:spAutoFit/>
          </a:bodyPr>
          <a:lstStyle/>
          <a:p>
            <a:pPr algn="l"/>
            <a:r>
              <a:rPr sz="1200" b="1" i="0">
                <a:solidFill>
                  <a:srgbClr val="1B2A41"/>
                </a:solidFill>
                <a:latin typeface="Arial"/>
              </a:rPr>
              <a:t>phần học / kỳ chấm</a:t>
            </a:r>
          </a:p>
        </p:txBody>
      </p:sp>
      <p:sp>
        <p:nvSpPr>
          <p:cNvPr id="16" name="TextBox 15"/>
          <p:cNvSpPr txBox="1"/>
          <p:nvPr/>
        </p:nvSpPr>
        <p:spPr>
          <a:xfrm>
            <a:off x="3063239" y="2368296"/>
            <a:ext cx="5120640" cy="347472"/>
          </a:xfrm>
          <a:prstGeom prst="rect">
            <a:avLst/>
          </a:prstGeom>
          <a:noFill/>
        </p:spPr>
        <p:txBody>
          <a:bodyPr wrap="square" lIns="0" rIns="0" tIns="0" bIns="0" anchor="ctr">
            <a:spAutoFit/>
          </a:bodyPr>
          <a:lstStyle/>
          <a:p>
            <a:pPr algn="l"/>
            <a:r>
              <a:rPr sz="1200" b="0" i="0">
                <a:solidFill>
                  <a:srgbClr val="1B2A41"/>
                </a:solidFill>
                <a:latin typeface="Arial"/>
              </a:rPr>
              <a:t>Đoạn dùng để khớp / đoạn giữ riêng để chấm</a:t>
            </a:r>
          </a:p>
        </p:txBody>
      </p:sp>
      <p:sp>
        <p:nvSpPr>
          <p:cNvPr id="17" name="TextBox 16"/>
          <p:cNvSpPr txBox="1"/>
          <p:nvPr/>
        </p:nvSpPr>
        <p:spPr>
          <a:xfrm>
            <a:off x="8458200" y="2368296"/>
            <a:ext cx="3044952" cy="347472"/>
          </a:xfrm>
          <a:prstGeom prst="rect">
            <a:avLst/>
          </a:prstGeom>
          <a:noFill/>
        </p:spPr>
        <p:txBody>
          <a:bodyPr wrap="square" lIns="0" rIns="0" tIns="0" bIns="0" anchor="ctr">
            <a:spAutoFit/>
          </a:bodyPr>
          <a:lstStyle/>
          <a:p>
            <a:pPr algn="l"/>
            <a:r>
              <a:rPr sz="1200" b="0" i="0">
                <a:solidFill>
                  <a:srgbClr val="5B6778"/>
                </a:solidFill>
                <a:latin typeface="Arial"/>
              </a:rPr>
              <a:t>Học 2009, chấm 2010</a:t>
            </a:r>
          </a:p>
        </p:txBody>
      </p:sp>
      <p:sp>
        <p:nvSpPr>
          <p:cNvPr id="18" name="TextBox 17"/>
          <p:cNvSpPr txBox="1"/>
          <p:nvPr/>
        </p:nvSpPr>
        <p:spPr>
          <a:xfrm>
            <a:off x="685799" y="2752344"/>
            <a:ext cx="2103120" cy="347472"/>
          </a:xfrm>
          <a:prstGeom prst="rect">
            <a:avLst/>
          </a:prstGeom>
          <a:noFill/>
        </p:spPr>
        <p:txBody>
          <a:bodyPr wrap="square" lIns="0" rIns="0" tIns="0" bIns="0" anchor="ctr">
            <a:spAutoFit/>
          </a:bodyPr>
          <a:lstStyle/>
          <a:p>
            <a:pPr algn="l"/>
            <a:r>
              <a:rPr sz="1200" b="1" i="0">
                <a:solidFill>
                  <a:srgbClr val="1B2A41"/>
                </a:solidFill>
                <a:latin typeface="Arial"/>
              </a:rPr>
              <a:t>học thuộc (overfit)</a:t>
            </a:r>
          </a:p>
        </p:txBody>
      </p:sp>
      <p:sp>
        <p:nvSpPr>
          <p:cNvPr id="19" name="TextBox 18"/>
          <p:cNvSpPr txBox="1"/>
          <p:nvPr/>
        </p:nvSpPr>
        <p:spPr>
          <a:xfrm>
            <a:off x="3063239" y="2752344"/>
            <a:ext cx="5120640" cy="347472"/>
          </a:xfrm>
          <a:prstGeom prst="rect">
            <a:avLst/>
          </a:prstGeom>
          <a:noFill/>
        </p:spPr>
        <p:txBody>
          <a:bodyPr wrap="square" lIns="0" rIns="0" tIns="0" bIns="0" anchor="ctr">
            <a:spAutoFit/>
          </a:bodyPr>
          <a:lstStyle/>
          <a:p>
            <a:pPr algn="l"/>
            <a:r>
              <a:rPr sz="1200" b="0" i="0">
                <a:solidFill>
                  <a:srgbClr val="1B2A41"/>
                </a:solidFill>
                <a:latin typeface="Arial"/>
              </a:rPr>
              <a:t>Khớp quá sát phần học, dự báo mới thì tệ</a:t>
            </a:r>
          </a:p>
        </p:txBody>
      </p:sp>
      <p:sp>
        <p:nvSpPr>
          <p:cNvPr id="20" name="TextBox 19"/>
          <p:cNvSpPr txBox="1"/>
          <p:nvPr/>
        </p:nvSpPr>
        <p:spPr>
          <a:xfrm>
            <a:off x="8458200" y="2752344"/>
            <a:ext cx="3044952" cy="347472"/>
          </a:xfrm>
          <a:prstGeom prst="rect">
            <a:avLst/>
          </a:prstGeom>
          <a:noFill/>
        </p:spPr>
        <p:txBody>
          <a:bodyPr wrap="square" lIns="0" rIns="0" tIns="0" bIns="0" anchor="ctr">
            <a:spAutoFit/>
          </a:bodyPr>
          <a:lstStyle/>
          <a:p>
            <a:pPr algn="l"/>
            <a:r>
              <a:rPr sz="1200" b="0" i="0">
                <a:solidFill>
                  <a:srgbClr val="5B6778"/>
                </a:solidFill>
                <a:latin typeface="Arial"/>
              </a:rPr>
              <a:t>Thuộc đề cũ: 10 điểm; đề mới: 6</a:t>
            </a:r>
          </a:p>
        </p:txBody>
      </p:sp>
      <p:sp>
        <p:nvSpPr>
          <p:cNvPr id="21" name="Rounded Rectangle 20"/>
          <p:cNvSpPr/>
          <p:nvPr/>
        </p:nvSpPr>
        <p:spPr>
          <a:xfrm>
            <a:off x="548639" y="3136391"/>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799" y="3136391"/>
            <a:ext cx="2103120" cy="347472"/>
          </a:xfrm>
          <a:prstGeom prst="rect">
            <a:avLst/>
          </a:prstGeom>
          <a:noFill/>
        </p:spPr>
        <p:txBody>
          <a:bodyPr wrap="square" lIns="0" rIns="0" tIns="0" bIns="0" anchor="ctr">
            <a:spAutoFit/>
          </a:bodyPr>
          <a:lstStyle/>
          <a:p>
            <a:pPr algn="l"/>
            <a:r>
              <a:rPr sz="1200" b="1" i="0">
                <a:solidFill>
                  <a:srgbClr val="1B2A41"/>
                </a:solidFill>
                <a:latin typeface="Arial"/>
              </a:rPr>
              <a:t>sai số dự báo</a:t>
            </a:r>
          </a:p>
        </p:txBody>
      </p:sp>
      <p:sp>
        <p:nvSpPr>
          <p:cNvPr id="23" name="TextBox 22"/>
          <p:cNvSpPr txBox="1"/>
          <p:nvPr/>
        </p:nvSpPr>
        <p:spPr>
          <a:xfrm>
            <a:off x="3063239" y="3136391"/>
            <a:ext cx="5120640" cy="347472"/>
          </a:xfrm>
          <a:prstGeom prst="rect">
            <a:avLst/>
          </a:prstGeom>
          <a:noFill/>
        </p:spPr>
        <p:txBody>
          <a:bodyPr wrap="square" lIns="0" rIns="0" tIns="0" bIns="0" anchor="ctr">
            <a:spAutoFit/>
          </a:bodyPr>
          <a:lstStyle/>
          <a:p>
            <a:pPr algn="l"/>
            <a:r>
              <a:rPr sz="1200" b="0" i="0">
                <a:solidFill>
                  <a:srgbClr val="1B2A41"/>
                </a:solidFill>
                <a:latin typeface="Arial"/>
              </a:rPr>
              <a:t>Thực tế − dự báo; dương là dự báo thấp</a:t>
            </a:r>
          </a:p>
        </p:txBody>
      </p:sp>
      <p:sp>
        <p:nvSpPr>
          <p:cNvPr id="24" name="TextBox 23"/>
          <p:cNvSpPr txBox="1"/>
          <p:nvPr/>
        </p:nvSpPr>
        <p:spPr>
          <a:xfrm>
            <a:off x="8458200" y="3136391"/>
            <a:ext cx="3044952" cy="347472"/>
          </a:xfrm>
          <a:prstGeom prst="rect">
            <a:avLst/>
          </a:prstGeom>
          <a:noFill/>
        </p:spPr>
        <p:txBody>
          <a:bodyPr wrap="square" lIns="0" rIns="0" tIns="0" bIns="0" anchor="ctr">
            <a:spAutoFit/>
          </a:bodyPr>
          <a:lstStyle/>
          <a:p>
            <a:pPr algn="l"/>
            <a:r>
              <a:rPr sz="1200" b="0" i="0">
                <a:solidFill>
                  <a:srgbClr val="5B6778"/>
                </a:solidFill>
                <a:latin typeface="Arial"/>
              </a:rPr>
              <a:t>1,7 − 1,5 = +0,2</a:t>
            </a:r>
          </a:p>
        </p:txBody>
      </p:sp>
      <p:sp>
        <p:nvSpPr>
          <p:cNvPr id="25" name="TextBox 24"/>
          <p:cNvSpPr txBox="1"/>
          <p:nvPr/>
        </p:nvSpPr>
        <p:spPr>
          <a:xfrm>
            <a:off x="685799" y="3520440"/>
            <a:ext cx="2103120" cy="347472"/>
          </a:xfrm>
          <a:prstGeom prst="rect">
            <a:avLst/>
          </a:prstGeom>
          <a:noFill/>
        </p:spPr>
        <p:txBody>
          <a:bodyPr wrap="square" lIns="0" rIns="0" tIns="0" bIns="0" anchor="ctr">
            <a:spAutoFit/>
          </a:bodyPr>
          <a:lstStyle/>
          <a:p>
            <a:pPr algn="l"/>
            <a:r>
              <a:rPr sz="1200" b="1" i="0">
                <a:solidFill>
                  <a:srgbClr val="1B2A41"/>
                </a:solidFill>
                <a:latin typeface="Arial"/>
              </a:rPr>
              <a:t>MAE</a:t>
            </a:r>
          </a:p>
        </p:txBody>
      </p:sp>
      <p:sp>
        <p:nvSpPr>
          <p:cNvPr id="26" name="TextBox 25"/>
          <p:cNvSpPr txBox="1"/>
          <p:nvPr/>
        </p:nvSpPr>
        <p:spPr>
          <a:xfrm>
            <a:off x="3063239" y="3520440"/>
            <a:ext cx="5120640" cy="347472"/>
          </a:xfrm>
          <a:prstGeom prst="rect">
            <a:avLst/>
          </a:prstGeom>
          <a:noFill/>
        </p:spPr>
        <p:txBody>
          <a:bodyPr wrap="square" lIns="0" rIns="0" tIns="0" bIns="0" anchor="ctr">
            <a:spAutoFit/>
          </a:bodyPr>
          <a:lstStyle/>
          <a:p>
            <a:pPr algn="l"/>
            <a:r>
              <a:rPr sz="1200" b="0" i="0">
                <a:solidFill>
                  <a:srgbClr val="1B2A41"/>
                </a:solidFill>
                <a:latin typeface="Arial"/>
              </a:rPr>
              <a:t>Trung bình độ lớn sai số, bỏ dấu</a:t>
            </a:r>
          </a:p>
        </p:txBody>
      </p:sp>
      <p:sp>
        <p:nvSpPr>
          <p:cNvPr id="27" name="TextBox 26"/>
          <p:cNvSpPr txBox="1"/>
          <p:nvPr/>
        </p:nvSpPr>
        <p:spPr>
          <a:xfrm>
            <a:off x="8458200" y="3520440"/>
            <a:ext cx="3044952" cy="347472"/>
          </a:xfrm>
          <a:prstGeom prst="rect">
            <a:avLst/>
          </a:prstGeom>
          <a:noFill/>
        </p:spPr>
        <p:txBody>
          <a:bodyPr wrap="square" lIns="0" rIns="0" tIns="0" bIns="0" anchor="ctr">
            <a:spAutoFit/>
          </a:bodyPr>
          <a:lstStyle/>
          <a:p>
            <a:pPr algn="l"/>
            <a:r>
              <a:rPr sz="1200" b="0" i="0">
                <a:solidFill>
                  <a:srgbClr val="5B6778"/>
                </a:solidFill>
                <a:latin typeface="Arial"/>
              </a:rPr>
              <a:t>Sai số +2 và −4 → 3</a:t>
            </a:r>
          </a:p>
        </p:txBody>
      </p:sp>
      <p:sp>
        <p:nvSpPr>
          <p:cNvPr id="28" name="Rounded Rectangle 27"/>
          <p:cNvSpPr/>
          <p:nvPr/>
        </p:nvSpPr>
        <p:spPr>
          <a:xfrm>
            <a:off x="548639" y="3904487"/>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799" y="3904487"/>
            <a:ext cx="2103120" cy="347472"/>
          </a:xfrm>
          <a:prstGeom prst="rect">
            <a:avLst/>
          </a:prstGeom>
          <a:noFill/>
        </p:spPr>
        <p:txBody>
          <a:bodyPr wrap="square" lIns="0" rIns="0" tIns="0" bIns="0" anchor="ctr">
            <a:spAutoFit/>
          </a:bodyPr>
          <a:lstStyle/>
          <a:p>
            <a:pPr algn="l"/>
            <a:r>
              <a:rPr sz="1200" b="1" i="0">
                <a:solidFill>
                  <a:srgbClr val="1B2A41"/>
                </a:solidFill>
                <a:latin typeface="Arial"/>
              </a:rPr>
              <a:t>RMSE</a:t>
            </a:r>
          </a:p>
        </p:txBody>
      </p:sp>
      <p:sp>
        <p:nvSpPr>
          <p:cNvPr id="30" name="TextBox 29"/>
          <p:cNvSpPr txBox="1"/>
          <p:nvPr/>
        </p:nvSpPr>
        <p:spPr>
          <a:xfrm>
            <a:off x="3063239" y="3904487"/>
            <a:ext cx="5120640" cy="347472"/>
          </a:xfrm>
          <a:prstGeom prst="rect">
            <a:avLst/>
          </a:prstGeom>
          <a:noFill/>
        </p:spPr>
        <p:txBody>
          <a:bodyPr wrap="square" lIns="0" rIns="0" tIns="0" bIns="0" anchor="ctr">
            <a:spAutoFit/>
          </a:bodyPr>
          <a:lstStyle/>
          <a:p>
            <a:pPr algn="l"/>
            <a:r>
              <a:rPr sz="1200" b="0" i="0">
                <a:solidFill>
                  <a:srgbClr val="1B2A41"/>
                </a:solidFill>
                <a:latin typeface="Arial"/>
              </a:rPr>
              <a:t>Căn của trung bình sai số bình phương; phạt nặng sai số lớn</a:t>
            </a:r>
          </a:p>
        </p:txBody>
      </p:sp>
      <p:sp>
        <p:nvSpPr>
          <p:cNvPr id="31" name="TextBox 30"/>
          <p:cNvSpPr txBox="1"/>
          <p:nvPr/>
        </p:nvSpPr>
        <p:spPr>
          <a:xfrm>
            <a:off x="8458200" y="3904487"/>
            <a:ext cx="3044952" cy="347472"/>
          </a:xfrm>
          <a:prstGeom prst="rect">
            <a:avLst/>
          </a:prstGeom>
          <a:noFill/>
        </p:spPr>
        <p:txBody>
          <a:bodyPr wrap="square" lIns="0" rIns="0" tIns="0" bIns="0" anchor="ctr">
            <a:spAutoFit/>
          </a:bodyPr>
          <a:lstStyle/>
          <a:p>
            <a:pPr algn="l"/>
            <a:r>
              <a:rPr sz="1200" b="0" i="0">
                <a:solidFill>
                  <a:srgbClr val="5B6778"/>
                </a:solidFill>
                <a:latin typeface="Arial"/>
              </a:rPr>
              <a:t>Sai số 1 và −3 → 2,24</a:t>
            </a:r>
          </a:p>
        </p:txBody>
      </p:sp>
      <p:sp>
        <p:nvSpPr>
          <p:cNvPr id="32" name="TextBox 31"/>
          <p:cNvSpPr txBox="1"/>
          <p:nvPr/>
        </p:nvSpPr>
        <p:spPr>
          <a:xfrm>
            <a:off x="685799" y="4288536"/>
            <a:ext cx="2103120" cy="347472"/>
          </a:xfrm>
          <a:prstGeom prst="rect">
            <a:avLst/>
          </a:prstGeom>
          <a:noFill/>
        </p:spPr>
        <p:txBody>
          <a:bodyPr wrap="square" lIns="0" rIns="0" tIns="0" bIns="0" anchor="ctr">
            <a:spAutoFit/>
          </a:bodyPr>
          <a:lstStyle/>
          <a:p>
            <a:pPr algn="l"/>
            <a:r>
              <a:rPr sz="1200" b="1" i="0">
                <a:solidFill>
                  <a:srgbClr val="1B2A41"/>
                </a:solidFill>
                <a:latin typeface="Arial"/>
              </a:rPr>
              <a:t>MAPE</a:t>
            </a:r>
          </a:p>
        </p:txBody>
      </p:sp>
      <p:sp>
        <p:nvSpPr>
          <p:cNvPr id="33" name="TextBox 32"/>
          <p:cNvSpPr txBox="1"/>
          <p:nvPr/>
        </p:nvSpPr>
        <p:spPr>
          <a:xfrm>
            <a:off x="3063239" y="4288536"/>
            <a:ext cx="5120640" cy="347472"/>
          </a:xfrm>
          <a:prstGeom prst="rect">
            <a:avLst/>
          </a:prstGeom>
          <a:noFill/>
        </p:spPr>
        <p:txBody>
          <a:bodyPr wrap="square" lIns="0" rIns="0" tIns="0" bIns="0" anchor="ctr">
            <a:spAutoFit/>
          </a:bodyPr>
          <a:lstStyle/>
          <a:p>
            <a:pPr algn="l"/>
            <a:r>
              <a:rPr sz="1200" b="0" i="0">
                <a:solidFill>
                  <a:srgbClr val="1B2A41"/>
                </a:solidFill>
                <a:latin typeface="Arial"/>
              </a:rPr>
              <a:t>Trung bình |sai số| chia thực tế, tính bằng %</a:t>
            </a:r>
          </a:p>
        </p:txBody>
      </p:sp>
      <p:sp>
        <p:nvSpPr>
          <p:cNvPr id="34" name="TextBox 33"/>
          <p:cNvSpPr txBox="1"/>
          <p:nvPr/>
        </p:nvSpPr>
        <p:spPr>
          <a:xfrm>
            <a:off x="8458200" y="4288536"/>
            <a:ext cx="3044952" cy="347472"/>
          </a:xfrm>
          <a:prstGeom prst="rect">
            <a:avLst/>
          </a:prstGeom>
          <a:noFill/>
        </p:spPr>
        <p:txBody>
          <a:bodyPr wrap="square" lIns="0" rIns="0" tIns="0" bIns="0" anchor="ctr">
            <a:spAutoFit/>
          </a:bodyPr>
          <a:lstStyle/>
          <a:p>
            <a:pPr algn="l"/>
            <a:r>
              <a:rPr sz="1200" b="0" i="0">
                <a:solidFill>
                  <a:srgbClr val="5B6778"/>
                </a:solidFill>
                <a:latin typeface="Arial"/>
              </a:rPr>
              <a:t>Thật 100, dự báo 90 → 10%</a:t>
            </a:r>
          </a:p>
        </p:txBody>
      </p:sp>
      <p:sp>
        <p:nvSpPr>
          <p:cNvPr id="35" name="Rounded Rectangle 34"/>
          <p:cNvSpPr/>
          <p:nvPr/>
        </p:nvSpPr>
        <p:spPr>
          <a:xfrm>
            <a:off x="548639" y="4672583"/>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799" y="4672583"/>
            <a:ext cx="2103120" cy="347472"/>
          </a:xfrm>
          <a:prstGeom prst="rect">
            <a:avLst/>
          </a:prstGeom>
          <a:noFill/>
        </p:spPr>
        <p:txBody>
          <a:bodyPr wrap="square" lIns="0" rIns="0" tIns="0" bIns="0" anchor="ctr">
            <a:spAutoFit/>
          </a:bodyPr>
          <a:lstStyle/>
          <a:p>
            <a:pPr algn="l"/>
            <a:r>
              <a:rPr sz="1200" b="1" i="0">
                <a:solidFill>
                  <a:srgbClr val="1B2A41"/>
                </a:solidFill>
                <a:latin typeface="Arial"/>
              </a:rPr>
              <a:t>NaN</a:t>
            </a:r>
          </a:p>
        </p:txBody>
      </p:sp>
      <p:sp>
        <p:nvSpPr>
          <p:cNvPr id="37" name="TextBox 36"/>
          <p:cNvSpPr txBox="1"/>
          <p:nvPr/>
        </p:nvSpPr>
        <p:spPr>
          <a:xfrm>
            <a:off x="3063239" y="4672583"/>
            <a:ext cx="5120640" cy="347472"/>
          </a:xfrm>
          <a:prstGeom prst="rect">
            <a:avLst/>
          </a:prstGeom>
          <a:noFill/>
        </p:spPr>
        <p:txBody>
          <a:bodyPr wrap="square" lIns="0" rIns="0" tIns="0" bIns="0" anchor="ctr">
            <a:spAutoFit/>
          </a:bodyPr>
          <a:lstStyle/>
          <a:p>
            <a:pPr algn="l"/>
            <a:r>
              <a:rPr sz="1200" b="0" i="0">
                <a:solidFill>
                  <a:srgbClr val="1B2A41"/>
                </a:solidFill>
                <a:latin typeface="Arial"/>
              </a:rPr>
              <a:t>Ô “không biết” của pandas, khác với số 0</a:t>
            </a:r>
          </a:p>
        </p:txBody>
      </p:sp>
      <p:sp>
        <p:nvSpPr>
          <p:cNvPr id="38" name="TextBox 37"/>
          <p:cNvSpPr txBox="1"/>
          <p:nvPr/>
        </p:nvSpPr>
        <p:spPr>
          <a:xfrm>
            <a:off x="8458200" y="4672583"/>
            <a:ext cx="3044952" cy="347472"/>
          </a:xfrm>
          <a:prstGeom prst="rect">
            <a:avLst/>
          </a:prstGeom>
          <a:noFill/>
        </p:spPr>
        <p:txBody>
          <a:bodyPr wrap="square" lIns="0" rIns="0" tIns="0" bIns="0" anchor="ctr">
            <a:spAutoFit/>
          </a:bodyPr>
          <a:lstStyle/>
          <a:p>
            <a:pPr algn="l"/>
            <a:r>
              <a:rPr sz="1200" b="0" i="0">
                <a:solidFill>
                  <a:srgbClr val="5B6778"/>
                </a:solidFill>
                <a:latin typeface="Arial"/>
              </a:rPr>
              <a:t>Không đo lúc 01:00 → NaN</a:t>
            </a:r>
          </a:p>
        </p:txBody>
      </p:sp>
      <p:sp>
        <p:nvSpPr>
          <p:cNvPr id="39" name="TextBox 38"/>
          <p:cNvSpPr txBox="1"/>
          <p:nvPr/>
        </p:nvSpPr>
        <p:spPr>
          <a:xfrm>
            <a:off x="685799" y="5056631"/>
            <a:ext cx="2103120" cy="347472"/>
          </a:xfrm>
          <a:prstGeom prst="rect">
            <a:avLst/>
          </a:prstGeom>
          <a:noFill/>
        </p:spPr>
        <p:txBody>
          <a:bodyPr wrap="square" lIns="0" rIns="0" tIns="0" bIns="0" anchor="ctr">
            <a:spAutoFit/>
          </a:bodyPr>
          <a:lstStyle/>
          <a:p>
            <a:pPr algn="l"/>
            <a:r>
              <a:rPr sz="1200" b="1" i="0">
                <a:solidFill>
                  <a:srgbClr val="1B2A41"/>
                </a:solidFill>
                <a:latin typeface="Arial"/>
              </a:rPr>
              <a:t>backtest</a:t>
            </a:r>
          </a:p>
        </p:txBody>
      </p:sp>
      <p:sp>
        <p:nvSpPr>
          <p:cNvPr id="40" name="TextBox 39"/>
          <p:cNvSpPr txBox="1"/>
          <p:nvPr/>
        </p:nvSpPr>
        <p:spPr>
          <a:xfrm>
            <a:off x="3063239" y="5056631"/>
            <a:ext cx="5120640" cy="347472"/>
          </a:xfrm>
          <a:prstGeom prst="rect">
            <a:avLst/>
          </a:prstGeom>
          <a:noFill/>
        </p:spPr>
        <p:txBody>
          <a:bodyPr wrap="square" lIns="0" rIns="0" tIns="0" bIns="0" anchor="ctr">
            <a:spAutoFit/>
          </a:bodyPr>
          <a:lstStyle/>
          <a:p>
            <a:pPr algn="l"/>
            <a:r>
              <a:rPr sz="1200" b="0" i="0">
                <a:solidFill>
                  <a:srgbClr val="1B2A41"/>
                </a:solidFill>
                <a:latin typeface="Arial"/>
              </a:rPr>
              <a:t>Đứng ở nhiều mốc trong quá khứ, dự báo, rồi so với thực tế</a:t>
            </a:r>
          </a:p>
        </p:txBody>
      </p:sp>
      <p:sp>
        <p:nvSpPr>
          <p:cNvPr id="41" name="TextBox 40"/>
          <p:cNvSpPr txBox="1"/>
          <p:nvPr/>
        </p:nvSpPr>
        <p:spPr>
          <a:xfrm>
            <a:off x="8458200" y="5056631"/>
            <a:ext cx="3044952" cy="347472"/>
          </a:xfrm>
          <a:prstGeom prst="rect">
            <a:avLst/>
          </a:prstGeom>
          <a:noFill/>
        </p:spPr>
        <p:txBody>
          <a:bodyPr wrap="square" lIns="0" rIns="0" tIns="0" bIns="0" anchor="ctr">
            <a:spAutoFit/>
          </a:bodyPr>
          <a:lstStyle/>
          <a:p>
            <a:pPr algn="l"/>
            <a:r>
              <a:rPr sz="1200" b="0" i="0">
                <a:solidFill>
                  <a:srgbClr val="5B6778"/>
                </a:solidFill>
                <a:latin typeface="Arial"/>
              </a:rPr>
              <a:t>4 thứ Hai, mỗi lần dự báo 24 giờ</a:t>
            </a:r>
          </a:p>
        </p:txBody>
      </p:sp>
      <p:sp>
        <p:nvSpPr>
          <p:cNvPr id="42" name="Rounded Rectangle 41"/>
          <p:cNvSpPr/>
          <p:nvPr/>
        </p:nvSpPr>
        <p:spPr>
          <a:xfrm>
            <a:off x="548639" y="5440680"/>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5799" y="5440680"/>
            <a:ext cx="2103120" cy="347472"/>
          </a:xfrm>
          <a:prstGeom prst="rect">
            <a:avLst/>
          </a:prstGeom>
          <a:noFill/>
        </p:spPr>
        <p:txBody>
          <a:bodyPr wrap="square" lIns="0" rIns="0" tIns="0" bIns="0" anchor="ctr">
            <a:spAutoFit/>
          </a:bodyPr>
          <a:lstStyle/>
          <a:p>
            <a:pPr algn="l"/>
            <a:r>
              <a:rPr sz="1200" b="1" i="0">
                <a:solidFill>
                  <a:srgbClr val="1B2A41"/>
                </a:solidFill>
                <a:latin typeface="Arial"/>
              </a:rPr>
              <a:t>feature / mục tiêu</a:t>
            </a:r>
          </a:p>
        </p:txBody>
      </p:sp>
      <p:sp>
        <p:nvSpPr>
          <p:cNvPr id="44" name="TextBox 43"/>
          <p:cNvSpPr txBox="1"/>
          <p:nvPr/>
        </p:nvSpPr>
        <p:spPr>
          <a:xfrm>
            <a:off x="3063239" y="5440680"/>
            <a:ext cx="5120640" cy="347472"/>
          </a:xfrm>
          <a:prstGeom prst="rect">
            <a:avLst/>
          </a:prstGeom>
          <a:noFill/>
        </p:spPr>
        <p:txBody>
          <a:bodyPr wrap="square" lIns="0" rIns="0" tIns="0" bIns="0" anchor="ctr">
            <a:spAutoFit/>
          </a:bodyPr>
          <a:lstStyle/>
          <a:p>
            <a:pPr algn="l"/>
            <a:r>
              <a:rPr sz="1200" b="0" i="0">
                <a:solidFill>
                  <a:srgbClr val="1B2A41"/>
                </a:solidFill>
                <a:latin typeface="Arial"/>
              </a:rPr>
              <a:t>Cột đầu vào mô hình dùng / con số cần dự báo</a:t>
            </a:r>
          </a:p>
        </p:txBody>
      </p:sp>
      <p:sp>
        <p:nvSpPr>
          <p:cNvPr id="45" name="TextBox 44"/>
          <p:cNvSpPr txBox="1"/>
          <p:nvPr/>
        </p:nvSpPr>
        <p:spPr>
          <a:xfrm>
            <a:off x="8458200" y="5440680"/>
            <a:ext cx="3044952" cy="347472"/>
          </a:xfrm>
          <a:prstGeom prst="rect">
            <a:avLst/>
          </a:prstGeom>
          <a:noFill/>
        </p:spPr>
        <p:txBody>
          <a:bodyPr wrap="square" lIns="0" rIns="0" tIns="0" bIns="0" anchor="ctr">
            <a:spAutoFit/>
          </a:bodyPr>
          <a:lstStyle/>
          <a:p>
            <a:pPr algn="l"/>
            <a:r>
              <a:rPr sz="1200" b="0" i="0">
                <a:solidFill>
                  <a:srgbClr val="5B6778"/>
                </a:solidFill>
                <a:latin typeface="Arial"/>
              </a:rPr>
              <a:t>Điện 2 giờ qua / điện giờ tới</a:t>
            </a:r>
          </a:p>
        </p:txBody>
      </p:sp>
      <p:sp>
        <p:nvSpPr>
          <p:cNvPr id="46" name="TextBox 45"/>
          <p:cNvSpPr txBox="1"/>
          <p:nvPr/>
        </p:nvSpPr>
        <p:spPr>
          <a:xfrm>
            <a:off x="685799" y="5824728"/>
            <a:ext cx="2103120" cy="347472"/>
          </a:xfrm>
          <a:prstGeom prst="rect">
            <a:avLst/>
          </a:prstGeom>
          <a:noFill/>
        </p:spPr>
        <p:txBody>
          <a:bodyPr wrap="square" lIns="0" rIns="0" tIns="0" bIns="0" anchor="ctr">
            <a:spAutoFit/>
          </a:bodyPr>
          <a:lstStyle/>
          <a:p>
            <a:pPr algn="l"/>
            <a:r>
              <a:rPr sz="1200" b="1" i="0">
                <a:solidFill>
                  <a:srgbClr val="1B2A41"/>
                </a:solidFill>
                <a:latin typeface="Arial"/>
              </a:rPr>
              <a:t>lag, rolling</a:t>
            </a:r>
          </a:p>
        </p:txBody>
      </p:sp>
      <p:sp>
        <p:nvSpPr>
          <p:cNvPr id="47" name="TextBox 46"/>
          <p:cNvSpPr txBox="1"/>
          <p:nvPr/>
        </p:nvSpPr>
        <p:spPr>
          <a:xfrm>
            <a:off x="3063239" y="5824728"/>
            <a:ext cx="5120640" cy="347472"/>
          </a:xfrm>
          <a:prstGeom prst="rect">
            <a:avLst/>
          </a:prstGeom>
          <a:noFill/>
        </p:spPr>
        <p:txBody>
          <a:bodyPr wrap="square" lIns="0" rIns="0" tIns="0" bIns="0" anchor="ctr">
            <a:spAutoFit/>
          </a:bodyPr>
          <a:lstStyle/>
          <a:p>
            <a:pPr algn="l"/>
            <a:r>
              <a:rPr sz="1200" b="0" i="0">
                <a:solidFill>
                  <a:srgbClr val="1B2A41"/>
                </a:solidFill>
                <a:latin typeface="Arial"/>
              </a:rPr>
              <a:t>Giá trị k bước trước; thống kê trên w điểm gần nhất</a:t>
            </a:r>
          </a:p>
        </p:txBody>
      </p:sp>
      <p:sp>
        <p:nvSpPr>
          <p:cNvPr id="48" name="TextBox 47"/>
          <p:cNvSpPr txBox="1"/>
          <p:nvPr/>
        </p:nvSpPr>
        <p:spPr>
          <a:xfrm>
            <a:off x="8458200" y="5824728"/>
            <a:ext cx="3044952" cy="347472"/>
          </a:xfrm>
          <a:prstGeom prst="rect">
            <a:avLst/>
          </a:prstGeom>
          <a:noFill/>
        </p:spPr>
        <p:txBody>
          <a:bodyPr wrap="square" lIns="0" rIns="0" tIns="0" bIns="0" anchor="ctr">
            <a:spAutoFit/>
          </a:bodyPr>
          <a:lstStyle/>
          <a:p>
            <a:pPr algn="l"/>
            <a:r>
              <a:rPr sz="1200" b="0" i="0">
                <a:solidFill>
                  <a:srgbClr val="5B6778"/>
                </a:solidFill>
                <a:latin typeface="Arial"/>
              </a:rPr>
              <a:t>lag_7 thứ Hai = thứ Hai tuần trước</a:t>
            </a:r>
          </a:p>
        </p:txBody>
      </p:sp>
      <p:sp>
        <p:nvSpPr>
          <p:cNvPr id="49" name="Rounded Rectangle 48"/>
          <p:cNvSpPr/>
          <p:nvPr/>
        </p:nvSpPr>
        <p:spPr>
          <a:xfrm>
            <a:off x="548639" y="6208776"/>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5799" y="6208776"/>
            <a:ext cx="2103120" cy="347472"/>
          </a:xfrm>
          <a:prstGeom prst="rect">
            <a:avLst/>
          </a:prstGeom>
          <a:noFill/>
        </p:spPr>
        <p:txBody>
          <a:bodyPr wrap="square" lIns="0" rIns="0" tIns="0" bIns="0" anchor="ctr">
            <a:spAutoFit/>
          </a:bodyPr>
          <a:lstStyle/>
          <a:p>
            <a:pPr algn="l"/>
            <a:r>
              <a:rPr sz="1200" b="1" i="0">
                <a:solidFill>
                  <a:srgbClr val="1B2A41"/>
                </a:solidFill>
                <a:latin typeface="Arial"/>
              </a:rPr>
              <a:t>trung bình trượt</a:t>
            </a:r>
          </a:p>
        </p:txBody>
      </p:sp>
      <p:sp>
        <p:nvSpPr>
          <p:cNvPr id="51" name="TextBox 50"/>
          <p:cNvSpPr txBox="1"/>
          <p:nvPr/>
        </p:nvSpPr>
        <p:spPr>
          <a:xfrm>
            <a:off x="3063239" y="6208776"/>
            <a:ext cx="5120640" cy="347472"/>
          </a:xfrm>
          <a:prstGeom prst="rect">
            <a:avLst/>
          </a:prstGeom>
          <a:noFill/>
        </p:spPr>
        <p:txBody>
          <a:bodyPr wrap="square" lIns="0" rIns="0" tIns="0" bIns="0" anchor="ctr">
            <a:spAutoFit/>
          </a:bodyPr>
          <a:lstStyle/>
          <a:p>
            <a:pPr algn="l"/>
            <a:r>
              <a:rPr sz="1200" b="0" i="0">
                <a:solidFill>
                  <a:srgbClr val="1B2A41"/>
                </a:solidFill>
                <a:latin typeface="Arial"/>
              </a:rPr>
              <a:t>Thay mỗi điểm bằng trung bình với các điểm lân cận</a:t>
            </a:r>
          </a:p>
        </p:txBody>
      </p:sp>
      <p:sp>
        <p:nvSpPr>
          <p:cNvPr id="52" name="TextBox 51"/>
          <p:cNvSpPr txBox="1"/>
          <p:nvPr/>
        </p:nvSpPr>
        <p:spPr>
          <a:xfrm>
            <a:off x="8458200" y="6208776"/>
            <a:ext cx="3044952" cy="347472"/>
          </a:xfrm>
          <a:prstGeom prst="rect">
            <a:avLst/>
          </a:prstGeom>
          <a:noFill/>
        </p:spPr>
        <p:txBody>
          <a:bodyPr wrap="square" lIns="0" rIns="0" tIns="0" bIns="0" anchor="ctr">
            <a:spAutoFit/>
          </a:bodyPr>
          <a:lstStyle/>
          <a:p>
            <a:pPr algn="l"/>
            <a:r>
              <a:rPr sz="1200" b="0" i="0">
                <a:solidFill>
                  <a:srgbClr val="5B6778"/>
                </a:solidFill>
                <a:latin typeface="Arial"/>
              </a:rPr>
              <a:t>50, 2, 51 → quanh 2 là 34,3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10332720" cy="731520"/>
          </a:xfrm>
          <a:prstGeom prst="rect">
            <a:avLst/>
          </a:prstGeom>
          <a:noFill/>
        </p:spPr>
        <p:txBody>
          <a:bodyPr wrap="square" lIns="0" rIns="0" tIns="0" bIns="0" anchor="ctr">
            <a:spAutoFit/>
          </a:bodyPr>
          <a:lstStyle/>
          <a:p>
            <a:pPr algn="l"/>
            <a:r>
              <a:rPr sz="3000" b="1" i="0">
                <a:solidFill>
                  <a:srgbClr val="1B2A41"/>
                </a:solidFill>
                <a:latin typeface="Arial"/>
              </a:rPr>
              <a:t>Từ nền 2/5: thống kê</a:t>
            </a:r>
          </a:p>
        </p:txBody>
      </p:sp>
      <p:sp>
        <p:nvSpPr>
          <p:cNvPr id="4" name="TextBox 3"/>
          <p:cNvSpPr txBox="1"/>
          <p:nvPr/>
        </p:nvSpPr>
        <p:spPr>
          <a:xfrm>
            <a:off x="685800" y="1188720"/>
            <a:ext cx="2103120" cy="365760"/>
          </a:xfrm>
          <a:prstGeom prst="rect">
            <a:avLst/>
          </a:prstGeom>
          <a:noFill/>
        </p:spPr>
        <p:txBody>
          <a:bodyPr wrap="square" lIns="0" rIns="0" tIns="0" bIns="0" anchor="t">
            <a:spAutoFit/>
          </a:bodyPr>
          <a:lstStyle/>
          <a:p>
            <a:pPr algn="l"/>
            <a:r>
              <a:rPr sz="1100" b="1" i="0">
                <a:solidFill>
                  <a:srgbClr val="0F8B8D"/>
                </a:solidFill>
                <a:latin typeface="Arial"/>
              </a:rPr>
              <a:t>TỪ</a:t>
            </a:r>
          </a:p>
        </p:txBody>
      </p:sp>
      <p:sp>
        <p:nvSpPr>
          <p:cNvPr id="5" name="TextBox 4"/>
          <p:cNvSpPr txBox="1"/>
          <p:nvPr/>
        </p:nvSpPr>
        <p:spPr>
          <a:xfrm>
            <a:off x="3063240" y="1188720"/>
            <a:ext cx="5120640" cy="365760"/>
          </a:xfrm>
          <a:prstGeom prst="rect">
            <a:avLst/>
          </a:prstGeom>
          <a:noFill/>
        </p:spPr>
        <p:txBody>
          <a:bodyPr wrap="square" lIns="0" rIns="0" tIns="0" bIns="0" anchor="t">
            <a:spAutoFit/>
          </a:bodyPr>
          <a:lstStyle/>
          <a:p>
            <a:pPr algn="l"/>
            <a:r>
              <a:rPr sz="1100" b="1" i="0">
                <a:solidFill>
                  <a:srgbClr val="5B6778"/>
                </a:solidFill>
                <a:latin typeface="Arial"/>
              </a:rPr>
              <a:t>LÀ GÌ</a:t>
            </a:r>
          </a:p>
        </p:txBody>
      </p:sp>
      <p:sp>
        <p:nvSpPr>
          <p:cNvPr id="6" name="TextBox 5"/>
          <p:cNvSpPr txBox="1"/>
          <p:nvPr/>
        </p:nvSpPr>
        <p:spPr>
          <a:xfrm>
            <a:off x="8458200" y="1188720"/>
            <a:ext cx="3044952" cy="365760"/>
          </a:xfrm>
          <a:prstGeom prst="rect">
            <a:avLst/>
          </a:prstGeom>
          <a:noFill/>
        </p:spPr>
        <p:txBody>
          <a:bodyPr wrap="square" lIns="0" rIns="0" tIns="0" bIns="0" anchor="t">
            <a:spAutoFit/>
          </a:bodyPr>
          <a:lstStyle/>
          <a:p>
            <a:pPr algn="l"/>
            <a:r>
              <a:rPr sz="1100" b="1" i="0">
                <a:solidFill>
                  <a:srgbClr val="5B6778"/>
                </a:solidFill>
                <a:latin typeface="Arial"/>
              </a:rPr>
              <a:t>VÍ DỤ</a:t>
            </a:r>
          </a:p>
        </p:txBody>
      </p:sp>
      <p:sp>
        <p:nvSpPr>
          <p:cNvPr id="7" name="Rounded Rectangle 6"/>
          <p:cNvSpPr/>
          <p:nvPr/>
        </p:nvSpPr>
        <p:spPr>
          <a:xfrm>
            <a:off x="548639" y="1600200"/>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799" y="1600200"/>
            <a:ext cx="2103120" cy="347472"/>
          </a:xfrm>
          <a:prstGeom prst="rect">
            <a:avLst/>
          </a:prstGeom>
          <a:noFill/>
        </p:spPr>
        <p:txBody>
          <a:bodyPr wrap="square" lIns="0" rIns="0" tIns="0" bIns="0" anchor="ctr">
            <a:spAutoFit/>
          </a:bodyPr>
          <a:lstStyle/>
          <a:p>
            <a:pPr algn="l"/>
            <a:r>
              <a:rPr sz="1200" b="1" i="0">
                <a:solidFill>
                  <a:srgbClr val="1B2A41"/>
                </a:solidFill>
                <a:latin typeface="Arial"/>
              </a:rPr>
              <a:t>mẫu / tổng thể</a:t>
            </a:r>
          </a:p>
        </p:txBody>
      </p:sp>
      <p:sp>
        <p:nvSpPr>
          <p:cNvPr id="9" name="TextBox 8"/>
          <p:cNvSpPr txBox="1"/>
          <p:nvPr/>
        </p:nvSpPr>
        <p:spPr>
          <a:xfrm>
            <a:off x="3063239" y="1600200"/>
            <a:ext cx="5120640" cy="347472"/>
          </a:xfrm>
          <a:prstGeom prst="rect">
            <a:avLst/>
          </a:prstGeom>
          <a:noFill/>
        </p:spPr>
        <p:txBody>
          <a:bodyPr wrap="square" lIns="0" rIns="0" tIns="0" bIns="0" anchor="ctr">
            <a:spAutoFit/>
          </a:bodyPr>
          <a:lstStyle/>
          <a:p>
            <a:pPr algn="l"/>
            <a:r>
              <a:rPr sz="1200" b="0" i="0">
                <a:solidFill>
                  <a:srgbClr val="1B2A41"/>
                </a:solidFill>
                <a:latin typeface="Arial"/>
              </a:rPr>
              <a:t>Số liệu đang có / mọi giá trị nếu đo mãi</a:t>
            </a:r>
          </a:p>
        </p:txBody>
      </p:sp>
      <p:sp>
        <p:nvSpPr>
          <p:cNvPr id="10" name="TextBox 9"/>
          <p:cNvSpPr txBox="1"/>
          <p:nvPr/>
        </p:nvSpPr>
        <p:spPr>
          <a:xfrm>
            <a:off x="8458200" y="1600200"/>
            <a:ext cx="3044952" cy="347472"/>
          </a:xfrm>
          <a:prstGeom prst="rect">
            <a:avLst/>
          </a:prstGeom>
          <a:noFill/>
        </p:spPr>
        <p:txBody>
          <a:bodyPr wrap="square" lIns="0" rIns="0" tIns="0" bIns="0" anchor="ctr">
            <a:spAutoFit/>
          </a:bodyPr>
          <a:lstStyle/>
          <a:p>
            <a:pPr algn="l"/>
            <a:r>
              <a:rPr sz="1200" b="0" i="0">
                <a:solidFill>
                  <a:srgbClr val="5B6778"/>
                </a:solidFill>
                <a:latin typeface="Arial"/>
              </a:rPr>
              <a:t>9 giờ 17h đang có / mọi giờ 17h</a:t>
            </a:r>
          </a:p>
        </p:txBody>
      </p:sp>
      <p:sp>
        <p:nvSpPr>
          <p:cNvPr id="11" name="TextBox 10"/>
          <p:cNvSpPr txBox="1"/>
          <p:nvPr/>
        </p:nvSpPr>
        <p:spPr>
          <a:xfrm>
            <a:off x="685799" y="1984248"/>
            <a:ext cx="2103120" cy="347472"/>
          </a:xfrm>
          <a:prstGeom prst="rect">
            <a:avLst/>
          </a:prstGeom>
          <a:noFill/>
        </p:spPr>
        <p:txBody>
          <a:bodyPr wrap="square" lIns="0" rIns="0" tIns="0" bIns="0" anchor="ctr">
            <a:spAutoFit/>
          </a:bodyPr>
          <a:lstStyle/>
          <a:p>
            <a:pPr algn="l"/>
            <a:r>
              <a:rPr sz="1200" b="1" i="0">
                <a:solidFill>
                  <a:srgbClr val="1B2A41"/>
                </a:solidFill>
                <a:latin typeface="Arial"/>
              </a:rPr>
              <a:t>phân phối chuẩn</a:t>
            </a:r>
          </a:p>
        </p:txBody>
      </p:sp>
      <p:sp>
        <p:nvSpPr>
          <p:cNvPr id="12" name="TextBox 11"/>
          <p:cNvSpPr txBox="1"/>
          <p:nvPr/>
        </p:nvSpPr>
        <p:spPr>
          <a:xfrm>
            <a:off x="3063239" y="1984248"/>
            <a:ext cx="5120640" cy="347472"/>
          </a:xfrm>
          <a:prstGeom prst="rect">
            <a:avLst/>
          </a:prstGeom>
          <a:noFill/>
        </p:spPr>
        <p:txBody>
          <a:bodyPr wrap="square" lIns="0" rIns="0" tIns="0" bIns="0" anchor="ctr">
            <a:spAutoFit/>
          </a:bodyPr>
          <a:lstStyle/>
          <a:p>
            <a:pPr algn="l"/>
            <a:r>
              <a:rPr sz="1200" b="0" i="0">
                <a:solidFill>
                  <a:srgbClr val="1B2A41"/>
                </a:solidFill>
                <a:latin typeface="Arial"/>
              </a:rPr>
              <a:t>Hình chuông đối xứng; 95% nằm trong trung bình ± 1,96 s</a:t>
            </a:r>
          </a:p>
        </p:txBody>
      </p:sp>
      <p:sp>
        <p:nvSpPr>
          <p:cNvPr id="13" name="TextBox 12"/>
          <p:cNvSpPr txBox="1"/>
          <p:nvPr/>
        </p:nvSpPr>
        <p:spPr>
          <a:xfrm>
            <a:off x="8458200" y="1984248"/>
            <a:ext cx="3044952" cy="347472"/>
          </a:xfrm>
          <a:prstGeom prst="rect">
            <a:avLst/>
          </a:prstGeom>
          <a:noFill/>
        </p:spPr>
        <p:txBody>
          <a:bodyPr wrap="square" lIns="0" rIns="0" tIns="0" bIns="0" anchor="ctr">
            <a:spAutoFit/>
          </a:bodyPr>
          <a:lstStyle/>
          <a:p>
            <a:pPr algn="l"/>
            <a:r>
              <a:rPr sz="1200" b="0" i="0">
                <a:solidFill>
                  <a:srgbClr val="5B6778"/>
                </a:solidFill>
                <a:latin typeface="Arial"/>
              </a:rPr>
              <a:t>100 ± 1,96 × 10 → 80,4–119,6</a:t>
            </a:r>
          </a:p>
        </p:txBody>
      </p:sp>
      <p:sp>
        <p:nvSpPr>
          <p:cNvPr id="14" name="Rounded Rectangle 13"/>
          <p:cNvSpPr/>
          <p:nvPr/>
        </p:nvSpPr>
        <p:spPr>
          <a:xfrm>
            <a:off x="548639" y="2368296"/>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799" y="2368296"/>
            <a:ext cx="2103120" cy="347472"/>
          </a:xfrm>
          <a:prstGeom prst="rect">
            <a:avLst/>
          </a:prstGeom>
          <a:noFill/>
        </p:spPr>
        <p:txBody>
          <a:bodyPr wrap="square" lIns="0" rIns="0" tIns="0" bIns="0" anchor="ctr">
            <a:spAutoFit/>
          </a:bodyPr>
          <a:lstStyle/>
          <a:p>
            <a:pPr algn="l"/>
            <a:r>
              <a:rPr sz="1200" b="1" i="0">
                <a:solidFill>
                  <a:srgbClr val="1B2A41"/>
                </a:solidFill>
                <a:latin typeface="Arial"/>
              </a:rPr>
              <a:t>histogram</a:t>
            </a:r>
          </a:p>
        </p:txBody>
      </p:sp>
      <p:sp>
        <p:nvSpPr>
          <p:cNvPr id="16" name="TextBox 15"/>
          <p:cNvSpPr txBox="1"/>
          <p:nvPr/>
        </p:nvSpPr>
        <p:spPr>
          <a:xfrm>
            <a:off x="3063239" y="2368296"/>
            <a:ext cx="5120640" cy="347472"/>
          </a:xfrm>
          <a:prstGeom prst="rect">
            <a:avLst/>
          </a:prstGeom>
          <a:noFill/>
        </p:spPr>
        <p:txBody>
          <a:bodyPr wrap="square" lIns="0" rIns="0" tIns="0" bIns="0" anchor="ctr">
            <a:spAutoFit/>
          </a:bodyPr>
          <a:lstStyle/>
          <a:p>
            <a:pPr algn="l"/>
            <a:r>
              <a:rPr sz="1200" b="0" i="0">
                <a:solidFill>
                  <a:srgbClr val="1B2A41"/>
                </a:solidFill>
                <a:latin typeface="Arial"/>
              </a:rPr>
              <a:t>Cột đếm số giá trị rơi vào mỗi khoảng</a:t>
            </a:r>
          </a:p>
        </p:txBody>
      </p:sp>
      <p:sp>
        <p:nvSpPr>
          <p:cNvPr id="17" name="TextBox 16"/>
          <p:cNvSpPr txBox="1"/>
          <p:nvPr/>
        </p:nvSpPr>
        <p:spPr>
          <a:xfrm>
            <a:off x="8458200" y="2368296"/>
            <a:ext cx="3044952" cy="347472"/>
          </a:xfrm>
          <a:prstGeom prst="rect">
            <a:avLst/>
          </a:prstGeom>
          <a:noFill/>
        </p:spPr>
        <p:txBody>
          <a:bodyPr wrap="square" lIns="0" rIns="0" tIns="0" bIns="0" anchor="ctr">
            <a:spAutoFit/>
          </a:bodyPr>
          <a:lstStyle/>
          <a:p>
            <a:pPr algn="l"/>
            <a:r>
              <a:rPr sz="1200" b="0" i="0">
                <a:solidFill>
                  <a:srgbClr val="5B6778"/>
                </a:solidFill>
                <a:latin typeface="Arial"/>
              </a:rPr>
              <a:t>0–9: 6 số; 10–19: 2 số</a:t>
            </a:r>
          </a:p>
        </p:txBody>
      </p:sp>
      <p:sp>
        <p:nvSpPr>
          <p:cNvPr id="18" name="TextBox 17"/>
          <p:cNvSpPr txBox="1"/>
          <p:nvPr/>
        </p:nvSpPr>
        <p:spPr>
          <a:xfrm>
            <a:off x="685799" y="2752344"/>
            <a:ext cx="2103120" cy="347472"/>
          </a:xfrm>
          <a:prstGeom prst="rect">
            <a:avLst/>
          </a:prstGeom>
          <a:noFill/>
        </p:spPr>
        <p:txBody>
          <a:bodyPr wrap="square" lIns="0" rIns="0" tIns="0" bIns="0" anchor="ctr">
            <a:spAutoFit/>
          </a:bodyPr>
          <a:lstStyle/>
          <a:p>
            <a:pPr algn="l"/>
            <a:r>
              <a:rPr sz="1200" b="1" i="0">
                <a:solidFill>
                  <a:srgbClr val="1B2A41"/>
                </a:solidFill>
                <a:latin typeface="Arial"/>
              </a:rPr>
              <a:t>i.i.d.</a:t>
            </a:r>
          </a:p>
        </p:txBody>
      </p:sp>
      <p:sp>
        <p:nvSpPr>
          <p:cNvPr id="19" name="TextBox 18"/>
          <p:cNvSpPr txBox="1"/>
          <p:nvPr/>
        </p:nvSpPr>
        <p:spPr>
          <a:xfrm>
            <a:off x="3063239" y="2752344"/>
            <a:ext cx="5120640" cy="347472"/>
          </a:xfrm>
          <a:prstGeom prst="rect">
            <a:avLst/>
          </a:prstGeom>
          <a:noFill/>
        </p:spPr>
        <p:txBody>
          <a:bodyPr wrap="square" lIns="0" rIns="0" tIns="0" bIns="0" anchor="ctr">
            <a:spAutoFit/>
          </a:bodyPr>
          <a:lstStyle/>
          <a:p>
            <a:pPr algn="l"/>
            <a:r>
              <a:rPr sz="1200" b="0" i="0">
                <a:solidFill>
                  <a:srgbClr val="1B2A41"/>
                </a:solidFill>
                <a:latin typeface="Arial"/>
              </a:rPr>
              <a:t>Các lần độc lập và cùng phân phối</a:t>
            </a:r>
          </a:p>
        </p:txBody>
      </p:sp>
      <p:sp>
        <p:nvSpPr>
          <p:cNvPr id="20" name="TextBox 19"/>
          <p:cNvSpPr txBox="1"/>
          <p:nvPr/>
        </p:nvSpPr>
        <p:spPr>
          <a:xfrm>
            <a:off x="8458200" y="2752344"/>
            <a:ext cx="3044952" cy="347472"/>
          </a:xfrm>
          <a:prstGeom prst="rect">
            <a:avLst/>
          </a:prstGeom>
          <a:noFill/>
        </p:spPr>
        <p:txBody>
          <a:bodyPr wrap="square" lIns="0" rIns="0" tIns="0" bIns="0" anchor="ctr">
            <a:spAutoFit/>
          </a:bodyPr>
          <a:lstStyle/>
          <a:p>
            <a:pPr algn="l"/>
            <a:r>
              <a:rPr sz="1200" b="0" i="0">
                <a:solidFill>
                  <a:srgbClr val="5B6778"/>
                </a:solidFill>
                <a:latin typeface="Arial"/>
              </a:rPr>
              <a:t>Các lần tung một xúc xắc</a:t>
            </a:r>
          </a:p>
        </p:txBody>
      </p:sp>
      <p:sp>
        <p:nvSpPr>
          <p:cNvPr id="21" name="Rounded Rectangle 20"/>
          <p:cNvSpPr/>
          <p:nvPr/>
        </p:nvSpPr>
        <p:spPr>
          <a:xfrm>
            <a:off x="548639" y="3136391"/>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799" y="3136391"/>
            <a:ext cx="2103120" cy="347472"/>
          </a:xfrm>
          <a:prstGeom prst="rect">
            <a:avLst/>
          </a:prstGeom>
          <a:noFill/>
        </p:spPr>
        <p:txBody>
          <a:bodyPr wrap="square" lIns="0" rIns="0" tIns="0" bIns="0" anchor="ctr">
            <a:spAutoFit/>
          </a:bodyPr>
          <a:lstStyle/>
          <a:p>
            <a:pPr algn="l"/>
            <a:r>
              <a:rPr sz="1200" b="1" i="0">
                <a:solidFill>
                  <a:srgbClr val="1B2A41"/>
                </a:solidFill>
                <a:latin typeface="Arial"/>
              </a:rPr>
              <a:t>mức ý nghĩa α</a:t>
            </a:r>
          </a:p>
        </p:txBody>
      </p:sp>
      <p:sp>
        <p:nvSpPr>
          <p:cNvPr id="23" name="TextBox 22"/>
          <p:cNvSpPr txBox="1"/>
          <p:nvPr/>
        </p:nvSpPr>
        <p:spPr>
          <a:xfrm>
            <a:off x="3063239" y="3136391"/>
            <a:ext cx="5120640" cy="347472"/>
          </a:xfrm>
          <a:prstGeom prst="rect">
            <a:avLst/>
          </a:prstGeom>
          <a:noFill/>
        </p:spPr>
        <p:txBody>
          <a:bodyPr wrap="square" lIns="0" rIns="0" tIns="0" bIns="0" anchor="ctr">
            <a:spAutoFit/>
          </a:bodyPr>
          <a:lstStyle/>
          <a:p>
            <a:pPr algn="l"/>
            <a:r>
              <a:rPr sz="1200" b="0" i="0">
                <a:solidFill>
                  <a:srgbClr val="1B2A41"/>
                </a:solidFill>
                <a:latin typeface="Arial"/>
              </a:rPr>
              <a:t>Ngưỡng chọn trước; p nhỏ hơn thì bác bỏ H0</a:t>
            </a:r>
          </a:p>
        </p:txBody>
      </p:sp>
      <p:sp>
        <p:nvSpPr>
          <p:cNvPr id="24" name="TextBox 23"/>
          <p:cNvSpPr txBox="1"/>
          <p:nvPr/>
        </p:nvSpPr>
        <p:spPr>
          <a:xfrm>
            <a:off x="8458200" y="3136391"/>
            <a:ext cx="3044952" cy="347472"/>
          </a:xfrm>
          <a:prstGeom prst="rect">
            <a:avLst/>
          </a:prstGeom>
          <a:noFill/>
        </p:spPr>
        <p:txBody>
          <a:bodyPr wrap="square" lIns="0" rIns="0" tIns="0" bIns="0" anchor="ctr">
            <a:spAutoFit/>
          </a:bodyPr>
          <a:lstStyle/>
          <a:p>
            <a:pPr algn="l"/>
            <a:r>
              <a:rPr sz="1200" b="0" i="0">
                <a:solidFill>
                  <a:srgbClr val="5B6778"/>
                </a:solidFill>
                <a:latin typeface="Arial"/>
              </a:rPr>
              <a:t>Hay dùng 0,05</a:t>
            </a:r>
          </a:p>
        </p:txBody>
      </p:sp>
      <p:sp>
        <p:nvSpPr>
          <p:cNvPr id="25" name="TextBox 24"/>
          <p:cNvSpPr txBox="1"/>
          <p:nvPr/>
        </p:nvSpPr>
        <p:spPr>
          <a:xfrm>
            <a:off x="685799" y="3520440"/>
            <a:ext cx="2103120" cy="347472"/>
          </a:xfrm>
          <a:prstGeom prst="rect">
            <a:avLst/>
          </a:prstGeom>
          <a:noFill/>
        </p:spPr>
        <p:txBody>
          <a:bodyPr wrap="square" lIns="0" rIns="0" tIns="0" bIns="0" anchor="ctr">
            <a:spAutoFit/>
          </a:bodyPr>
          <a:lstStyle/>
          <a:p>
            <a:pPr algn="l"/>
            <a:r>
              <a:rPr sz="1200" b="1" i="0">
                <a:solidFill>
                  <a:srgbClr val="1B2A41"/>
                </a:solidFill>
                <a:latin typeface="Arial"/>
              </a:rPr>
              <a:t>sai số chuẩn</a:t>
            </a:r>
          </a:p>
        </p:txBody>
      </p:sp>
      <p:sp>
        <p:nvSpPr>
          <p:cNvPr id="26" name="TextBox 25"/>
          <p:cNvSpPr txBox="1"/>
          <p:nvPr/>
        </p:nvSpPr>
        <p:spPr>
          <a:xfrm>
            <a:off x="3063239" y="3520440"/>
            <a:ext cx="5120640" cy="347472"/>
          </a:xfrm>
          <a:prstGeom prst="rect">
            <a:avLst/>
          </a:prstGeom>
          <a:noFill/>
        </p:spPr>
        <p:txBody>
          <a:bodyPr wrap="square" lIns="0" rIns="0" tIns="0" bIns="0" anchor="ctr">
            <a:spAutoFit/>
          </a:bodyPr>
          <a:lstStyle/>
          <a:p>
            <a:pPr algn="l"/>
            <a:r>
              <a:rPr sz="1200" b="0" i="0">
                <a:solidFill>
                  <a:srgbClr val="1B2A41"/>
                </a:solidFill>
                <a:latin typeface="Arial"/>
              </a:rPr>
              <a:t>Độ lệch chuẩn của chính một con số ước lượng</a:t>
            </a:r>
          </a:p>
        </p:txBody>
      </p:sp>
      <p:sp>
        <p:nvSpPr>
          <p:cNvPr id="27" name="TextBox 26"/>
          <p:cNvSpPr txBox="1"/>
          <p:nvPr/>
        </p:nvSpPr>
        <p:spPr>
          <a:xfrm>
            <a:off x="8458200" y="3520440"/>
            <a:ext cx="3044952" cy="347472"/>
          </a:xfrm>
          <a:prstGeom prst="rect">
            <a:avLst/>
          </a:prstGeom>
          <a:noFill/>
        </p:spPr>
        <p:txBody>
          <a:bodyPr wrap="square" lIns="0" rIns="0" tIns="0" bIns="0" anchor="ctr">
            <a:spAutoFit/>
          </a:bodyPr>
          <a:lstStyle/>
          <a:p>
            <a:pPr algn="l"/>
            <a:r>
              <a:rPr sz="1200" b="0" i="0">
                <a:solidFill>
                  <a:srgbClr val="5B6778"/>
                </a:solidFill>
                <a:latin typeface="Arial"/>
              </a:rPr>
              <a:t>Trung bình 25 giờ: 181 / √25 ≈ 36</a:t>
            </a:r>
          </a:p>
        </p:txBody>
      </p:sp>
      <p:sp>
        <p:nvSpPr>
          <p:cNvPr id="28" name="Rounded Rectangle 27"/>
          <p:cNvSpPr/>
          <p:nvPr/>
        </p:nvSpPr>
        <p:spPr>
          <a:xfrm>
            <a:off x="548639" y="3904487"/>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799" y="3904487"/>
            <a:ext cx="2103120" cy="347472"/>
          </a:xfrm>
          <a:prstGeom prst="rect">
            <a:avLst/>
          </a:prstGeom>
          <a:noFill/>
        </p:spPr>
        <p:txBody>
          <a:bodyPr wrap="square" lIns="0" rIns="0" tIns="0" bIns="0" anchor="ctr">
            <a:spAutoFit/>
          </a:bodyPr>
          <a:lstStyle/>
          <a:p>
            <a:pPr algn="l"/>
            <a:r>
              <a:rPr sz="1200" b="1" i="0">
                <a:solidFill>
                  <a:srgbClr val="1B2A41"/>
                </a:solidFill>
                <a:latin typeface="Arial"/>
              </a:rPr>
              <a:t>tương quan r</a:t>
            </a:r>
          </a:p>
        </p:txBody>
      </p:sp>
      <p:sp>
        <p:nvSpPr>
          <p:cNvPr id="30" name="TextBox 29"/>
          <p:cNvSpPr txBox="1"/>
          <p:nvPr/>
        </p:nvSpPr>
        <p:spPr>
          <a:xfrm>
            <a:off x="3063239" y="3904487"/>
            <a:ext cx="5120640" cy="347472"/>
          </a:xfrm>
          <a:prstGeom prst="rect">
            <a:avLst/>
          </a:prstGeom>
          <a:noFill/>
        </p:spPr>
        <p:txBody>
          <a:bodyPr wrap="square" lIns="0" rIns="0" tIns="0" bIns="0" anchor="ctr">
            <a:spAutoFit/>
          </a:bodyPr>
          <a:lstStyle/>
          <a:p>
            <a:pPr algn="l"/>
            <a:r>
              <a:rPr sz="1200" b="0" i="0">
                <a:solidFill>
                  <a:srgbClr val="1B2A41"/>
                </a:solidFill>
                <a:latin typeface="Arial"/>
              </a:rPr>
              <a:t>Số từ −1 tới 1: hai biến cùng tăng giảm theo đường thẳng tới đâu</a:t>
            </a:r>
          </a:p>
        </p:txBody>
      </p:sp>
      <p:sp>
        <p:nvSpPr>
          <p:cNvPr id="31" name="TextBox 30"/>
          <p:cNvSpPr txBox="1"/>
          <p:nvPr/>
        </p:nvSpPr>
        <p:spPr>
          <a:xfrm>
            <a:off x="8458200" y="3904487"/>
            <a:ext cx="3044952" cy="347472"/>
          </a:xfrm>
          <a:prstGeom prst="rect">
            <a:avLst/>
          </a:prstGeom>
          <a:noFill/>
        </p:spPr>
        <p:txBody>
          <a:bodyPr wrap="square" lIns="0" rIns="0" tIns="0" bIns="0" anchor="ctr">
            <a:spAutoFit/>
          </a:bodyPr>
          <a:lstStyle/>
          <a:p>
            <a:pPr algn="l"/>
            <a:r>
              <a:rPr sz="1200" b="0" i="0">
                <a:solidFill>
                  <a:srgbClr val="5B6778"/>
                </a:solidFill>
                <a:latin typeface="Arial"/>
              </a:rPr>
              <a:t>1, 2, 3 và 2, 4, 6 → r = 1</a:t>
            </a:r>
          </a:p>
        </p:txBody>
      </p:sp>
      <p:sp>
        <p:nvSpPr>
          <p:cNvPr id="32" name="TextBox 31"/>
          <p:cNvSpPr txBox="1"/>
          <p:nvPr/>
        </p:nvSpPr>
        <p:spPr>
          <a:xfrm>
            <a:off x="685799" y="4288536"/>
            <a:ext cx="2103120" cy="347472"/>
          </a:xfrm>
          <a:prstGeom prst="rect">
            <a:avLst/>
          </a:prstGeom>
          <a:noFill/>
        </p:spPr>
        <p:txBody>
          <a:bodyPr wrap="square" lIns="0" rIns="0" tIns="0" bIns="0" anchor="ctr">
            <a:spAutoFit/>
          </a:bodyPr>
          <a:lstStyle/>
          <a:p>
            <a:pPr algn="l"/>
            <a:r>
              <a:rPr sz="1200" b="1" i="0">
                <a:solidFill>
                  <a:srgbClr val="1B2A41"/>
                </a:solidFill>
                <a:latin typeface="Arial"/>
              </a:rPr>
              <a:t>r1, r_k</a:t>
            </a:r>
          </a:p>
        </p:txBody>
      </p:sp>
      <p:sp>
        <p:nvSpPr>
          <p:cNvPr id="33" name="TextBox 32"/>
          <p:cNvSpPr txBox="1"/>
          <p:nvPr/>
        </p:nvSpPr>
        <p:spPr>
          <a:xfrm>
            <a:off x="3063239" y="4288536"/>
            <a:ext cx="5120640" cy="347472"/>
          </a:xfrm>
          <a:prstGeom prst="rect">
            <a:avLst/>
          </a:prstGeom>
          <a:noFill/>
        </p:spPr>
        <p:txBody>
          <a:bodyPr wrap="square" lIns="0" rIns="0" tIns="0" bIns="0" anchor="ctr">
            <a:spAutoFit/>
          </a:bodyPr>
          <a:lstStyle/>
          <a:p>
            <a:pPr algn="l"/>
            <a:r>
              <a:rPr sz="1200" b="0" i="0">
                <a:solidFill>
                  <a:srgbClr val="1B2A41"/>
                </a:solidFill>
                <a:latin typeface="Arial"/>
              </a:rPr>
              <a:t>Tự tương quan ở trễ 1, ở trễ k</a:t>
            </a:r>
          </a:p>
        </p:txBody>
      </p:sp>
      <p:sp>
        <p:nvSpPr>
          <p:cNvPr id="34" name="TextBox 33"/>
          <p:cNvSpPr txBox="1"/>
          <p:nvPr/>
        </p:nvSpPr>
        <p:spPr>
          <a:xfrm>
            <a:off x="8458200" y="4288536"/>
            <a:ext cx="3044952" cy="347472"/>
          </a:xfrm>
          <a:prstGeom prst="rect">
            <a:avLst/>
          </a:prstGeom>
          <a:noFill/>
        </p:spPr>
        <p:txBody>
          <a:bodyPr wrap="square" lIns="0" rIns="0" tIns="0" bIns="0" anchor="ctr">
            <a:spAutoFit/>
          </a:bodyPr>
          <a:lstStyle/>
          <a:p>
            <a:pPr algn="l"/>
            <a:r>
              <a:rPr sz="1200" b="0" i="0">
                <a:solidFill>
                  <a:srgbClr val="5B6778"/>
                </a:solidFill>
                <a:latin typeface="Arial"/>
              </a:rPr>
              <a:t>r24 = 0,81 với lượt thuê xe</a:t>
            </a:r>
          </a:p>
        </p:txBody>
      </p:sp>
      <p:sp>
        <p:nvSpPr>
          <p:cNvPr id="35" name="Rounded Rectangle 34"/>
          <p:cNvSpPr/>
          <p:nvPr/>
        </p:nvSpPr>
        <p:spPr>
          <a:xfrm>
            <a:off x="548639" y="4672583"/>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799" y="4672583"/>
            <a:ext cx="2103120" cy="347472"/>
          </a:xfrm>
          <a:prstGeom prst="rect">
            <a:avLst/>
          </a:prstGeom>
          <a:noFill/>
        </p:spPr>
        <p:txBody>
          <a:bodyPr wrap="square" lIns="0" rIns="0" tIns="0" bIns="0" anchor="ctr">
            <a:spAutoFit/>
          </a:bodyPr>
          <a:lstStyle/>
          <a:p>
            <a:pPr algn="l"/>
            <a:r>
              <a:rPr sz="1200" b="1" i="0">
                <a:solidFill>
                  <a:srgbClr val="1B2A41"/>
                </a:solidFill>
                <a:latin typeface="Arial"/>
              </a:rPr>
              <a:t>hồi quy đơn, R²</a:t>
            </a:r>
          </a:p>
        </p:txBody>
      </p:sp>
      <p:sp>
        <p:nvSpPr>
          <p:cNvPr id="37" name="TextBox 36"/>
          <p:cNvSpPr txBox="1"/>
          <p:nvPr/>
        </p:nvSpPr>
        <p:spPr>
          <a:xfrm>
            <a:off x="3063239" y="4672583"/>
            <a:ext cx="5120640" cy="347472"/>
          </a:xfrm>
          <a:prstGeom prst="rect">
            <a:avLst/>
          </a:prstGeom>
          <a:noFill/>
        </p:spPr>
        <p:txBody>
          <a:bodyPr wrap="square" lIns="0" rIns="0" tIns="0" bIns="0" anchor="ctr">
            <a:spAutoFit/>
          </a:bodyPr>
          <a:lstStyle/>
          <a:p>
            <a:pPr algn="l"/>
            <a:r>
              <a:rPr sz="1200" b="0" i="0">
                <a:solidFill>
                  <a:srgbClr val="1B2A41"/>
                </a:solidFill>
                <a:latin typeface="Arial"/>
              </a:rPr>
              <a:t>Đường y = a + b·x khớp nhất; R² là phần dao động nó giải thích</a:t>
            </a:r>
          </a:p>
        </p:txBody>
      </p:sp>
      <p:sp>
        <p:nvSpPr>
          <p:cNvPr id="38" name="TextBox 37"/>
          <p:cNvSpPr txBox="1"/>
          <p:nvPr/>
        </p:nvSpPr>
        <p:spPr>
          <a:xfrm>
            <a:off x="8458200" y="4672583"/>
            <a:ext cx="3044952" cy="347472"/>
          </a:xfrm>
          <a:prstGeom prst="rect">
            <a:avLst/>
          </a:prstGeom>
          <a:noFill/>
        </p:spPr>
        <p:txBody>
          <a:bodyPr wrap="square" lIns="0" rIns="0" tIns="0" bIns="0" anchor="ctr">
            <a:spAutoFit/>
          </a:bodyPr>
          <a:lstStyle/>
          <a:p>
            <a:pPr algn="l"/>
            <a:r>
              <a:rPr sz="1200" b="0" i="0">
                <a:solidFill>
                  <a:srgbClr val="5B6778"/>
                </a:solidFill>
                <a:latin typeface="Arial"/>
              </a:rPr>
              <a:t>R² = 0,8: giải thích 80%</a:t>
            </a:r>
          </a:p>
        </p:txBody>
      </p:sp>
      <p:sp>
        <p:nvSpPr>
          <p:cNvPr id="39" name="TextBox 38"/>
          <p:cNvSpPr txBox="1"/>
          <p:nvPr/>
        </p:nvSpPr>
        <p:spPr>
          <a:xfrm>
            <a:off x="685799" y="5056631"/>
            <a:ext cx="2103120" cy="347472"/>
          </a:xfrm>
          <a:prstGeom prst="rect">
            <a:avLst/>
          </a:prstGeom>
          <a:noFill/>
        </p:spPr>
        <p:txBody>
          <a:bodyPr wrap="square" lIns="0" rIns="0" tIns="0" bIns="0" anchor="ctr">
            <a:spAutoFit/>
          </a:bodyPr>
          <a:lstStyle/>
          <a:p>
            <a:pPr algn="l"/>
            <a:r>
              <a:rPr sz="1200" b="1" i="0">
                <a:solidFill>
                  <a:srgbClr val="1B2A41"/>
                </a:solidFill>
                <a:latin typeface="Arial"/>
              </a:rPr>
              <a:t>Durbin–Watson</a:t>
            </a:r>
          </a:p>
        </p:txBody>
      </p:sp>
      <p:sp>
        <p:nvSpPr>
          <p:cNvPr id="40" name="TextBox 39"/>
          <p:cNvSpPr txBox="1"/>
          <p:nvPr/>
        </p:nvSpPr>
        <p:spPr>
          <a:xfrm>
            <a:off x="3063239" y="5056631"/>
            <a:ext cx="5120640" cy="347472"/>
          </a:xfrm>
          <a:prstGeom prst="rect">
            <a:avLst/>
          </a:prstGeom>
          <a:noFill/>
        </p:spPr>
        <p:txBody>
          <a:bodyPr wrap="square" lIns="0" rIns="0" tIns="0" bIns="0" anchor="ctr">
            <a:spAutoFit/>
          </a:bodyPr>
          <a:lstStyle/>
          <a:p>
            <a:pPr algn="l"/>
            <a:r>
              <a:rPr sz="1200" b="0" i="0">
                <a:solidFill>
                  <a:srgbClr val="1B2A41"/>
                </a:solidFill>
                <a:latin typeface="Arial"/>
              </a:rPr>
              <a:t>Đo phần dư hồi quy có tự tương quan: gần 2 là không, gần 0 là mạnh</a:t>
            </a:r>
          </a:p>
        </p:txBody>
      </p:sp>
      <p:sp>
        <p:nvSpPr>
          <p:cNvPr id="41" name="TextBox 40"/>
          <p:cNvSpPr txBox="1"/>
          <p:nvPr/>
        </p:nvSpPr>
        <p:spPr>
          <a:xfrm>
            <a:off x="8458200" y="5056631"/>
            <a:ext cx="3044952" cy="347472"/>
          </a:xfrm>
          <a:prstGeom prst="rect">
            <a:avLst/>
          </a:prstGeom>
          <a:noFill/>
        </p:spPr>
        <p:txBody>
          <a:bodyPr wrap="square" lIns="0" rIns="0" tIns="0" bIns="0" anchor="ctr">
            <a:spAutoFit/>
          </a:bodyPr>
          <a:lstStyle/>
          <a:p>
            <a:pPr algn="l"/>
            <a:r>
              <a:rPr sz="1200" b="0" i="0">
                <a:solidFill>
                  <a:srgbClr val="5B6778"/>
                </a:solidFill>
                <a:latin typeface="Arial"/>
              </a:rPr>
              <a:t>Gần 0 → nghi tương quan giả</a:t>
            </a:r>
          </a:p>
        </p:txBody>
      </p:sp>
      <p:sp>
        <p:nvSpPr>
          <p:cNvPr id="42" name="Rounded Rectangle 41"/>
          <p:cNvSpPr/>
          <p:nvPr/>
        </p:nvSpPr>
        <p:spPr>
          <a:xfrm>
            <a:off x="548639" y="5440680"/>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5799" y="5440680"/>
            <a:ext cx="2103120" cy="347472"/>
          </a:xfrm>
          <a:prstGeom prst="rect">
            <a:avLst/>
          </a:prstGeom>
          <a:noFill/>
        </p:spPr>
        <p:txBody>
          <a:bodyPr wrap="square" lIns="0" rIns="0" tIns="0" bIns="0" anchor="ctr">
            <a:spAutoFit/>
          </a:bodyPr>
          <a:lstStyle/>
          <a:p>
            <a:pPr algn="l"/>
            <a:r>
              <a:rPr sz="1200" b="1" i="0">
                <a:solidFill>
                  <a:srgbClr val="1B2A41"/>
                </a:solidFill>
                <a:latin typeface="Arial"/>
              </a:rPr>
              <a:t>mutual information</a:t>
            </a:r>
          </a:p>
        </p:txBody>
      </p:sp>
      <p:sp>
        <p:nvSpPr>
          <p:cNvPr id="44" name="TextBox 43"/>
          <p:cNvSpPr txBox="1"/>
          <p:nvPr/>
        </p:nvSpPr>
        <p:spPr>
          <a:xfrm>
            <a:off x="3063239" y="5440680"/>
            <a:ext cx="5120640" cy="347472"/>
          </a:xfrm>
          <a:prstGeom prst="rect">
            <a:avLst/>
          </a:prstGeom>
          <a:noFill/>
        </p:spPr>
        <p:txBody>
          <a:bodyPr wrap="square" lIns="0" rIns="0" tIns="0" bIns="0" anchor="ctr">
            <a:spAutoFit/>
          </a:bodyPr>
          <a:lstStyle/>
          <a:p>
            <a:pPr algn="l"/>
            <a:r>
              <a:rPr sz="1200" b="0" i="0">
                <a:solidFill>
                  <a:srgbClr val="1B2A41"/>
                </a:solidFill>
                <a:latin typeface="Arial"/>
              </a:rPr>
              <a:t>Biết x thì bớt được bao nhiêu điều chưa biết về y; bắt cả quan hệ cong</a:t>
            </a:r>
          </a:p>
        </p:txBody>
      </p:sp>
      <p:sp>
        <p:nvSpPr>
          <p:cNvPr id="45" name="TextBox 44"/>
          <p:cNvSpPr txBox="1"/>
          <p:nvPr/>
        </p:nvSpPr>
        <p:spPr>
          <a:xfrm>
            <a:off x="8458200" y="5440680"/>
            <a:ext cx="3044952" cy="347472"/>
          </a:xfrm>
          <a:prstGeom prst="rect">
            <a:avLst/>
          </a:prstGeom>
          <a:noFill/>
        </p:spPr>
        <p:txBody>
          <a:bodyPr wrap="square" lIns="0" rIns="0" tIns="0" bIns="0" anchor="ctr">
            <a:spAutoFit/>
          </a:bodyPr>
          <a:lstStyle/>
          <a:p>
            <a:pPr algn="l"/>
            <a:r>
              <a:rPr sz="1200" b="0" i="0">
                <a:solidFill>
                  <a:srgbClr val="5B6778"/>
                </a:solidFill>
                <a:latin typeface="Arial"/>
              </a:rPr>
              <a:t>Bằng 0 khi độc lập</a:t>
            </a:r>
          </a:p>
        </p:txBody>
      </p:sp>
      <p:sp>
        <p:nvSpPr>
          <p:cNvPr id="46" name="TextBox 45"/>
          <p:cNvSpPr txBox="1"/>
          <p:nvPr/>
        </p:nvSpPr>
        <p:spPr>
          <a:xfrm>
            <a:off x="685799" y="5824728"/>
            <a:ext cx="2103120" cy="347472"/>
          </a:xfrm>
          <a:prstGeom prst="rect">
            <a:avLst/>
          </a:prstGeom>
          <a:noFill/>
        </p:spPr>
        <p:txBody>
          <a:bodyPr wrap="square" lIns="0" rIns="0" tIns="0" bIns="0" anchor="ctr">
            <a:spAutoFit/>
          </a:bodyPr>
          <a:lstStyle/>
          <a:p>
            <a:pPr algn="l"/>
            <a:r>
              <a:rPr sz="1200" b="1" i="0">
                <a:solidFill>
                  <a:srgbClr val="1B2A41"/>
                </a:solidFill>
                <a:latin typeface="Arial"/>
              </a:rPr>
              <a:t>CV</a:t>
            </a:r>
          </a:p>
        </p:txBody>
      </p:sp>
      <p:sp>
        <p:nvSpPr>
          <p:cNvPr id="47" name="TextBox 46"/>
          <p:cNvSpPr txBox="1"/>
          <p:nvPr/>
        </p:nvSpPr>
        <p:spPr>
          <a:xfrm>
            <a:off x="3063239" y="5824728"/>
            <a:ext cx="5120640" cy="347472"/>
          </a:xfrm>
          <a:prstGeom prst="rect">
            <a:avLst/>
          </a:prstGeom>
          <a:noFill/>
        </p:spPr>
        <p:txBody>
          <a:bodyPr wrap="square" lIns="0" rIns="0" tIns="0" bIns="0" anchor="ctr">
            <a:spAutoFit/>
          </a:bodyPr>
          <a:lstStyle/>
          <a:p>
            <a:pPr algn="l"/>
            <a:r>
              <a:rPr sz="1200" b="0" i="0">
                <a:solidFill>
                  <a:srgbClr val="1B2A41"/>
                </a:solidFill>
                <a:latin typeface="Arial"/>
              </a:rPr>
              <a:t>Độ lệch chuẩn chia trung bình</a:t>
            </a:r>
          </a:p>
        </p:txBody>
      </p:sp>
      <p:sp>
        <p:nvSpPr>
          <p:cNvPr id="48" name="TextBox 47"/>
          <p:cNvSpPr txBox="1"/>
          <p:nvPr/>
        </p:nvSpPr>
        <p:spPr>
          <a:xfrm>
            <a:off x="8458200" y="5824728"/>
            <a:ext cx="3044952" cy="347472"/>
          </a:xfrm>
          <a:prstGeom prst="rect">
            <a:avLst/>
          </a:prstGeom>
          <a:noFill/>
        </p:spPr>
        <p:txBody>
          <a:bodyPr wrap="square" lIns="0" rIns="0" tIns="0" bIns="0" anchor="ctr">
            <a:spAutoFit/>
          </a:bodyPr>
          <a:lstStyle/>
          <a:p>
            <a:pPr algn="l"/>
            <a:r>
              <a:rPr sz="1200" b="0" i="0">
                <a:solidFill>
                  <a:srgbClr val="5B6778"/>
                </a:solidFill>
                <a:latin typeface="Arial"/>
              </a:rPr>
              <a:t>Trung bình 100, s = 10 → 0,1</a:t>
            </a:r>
          </a:p>
        </p:txBody>
      </p:sp>
      <p:sp>
        <p:nvSpPr>
          <p:cNvPr id="49" name="Rounded Rectangle 48"/>
          <p:cNvSpPr/>
          <p:nvPr/>
        </p:nvSpPr>
        <p:spPr>
          <a:xfrm>
            <a:off x="548639" y="6208776"/>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5799" y="6208776"/>
            <a:ext cx="2103120" cy="347472"/>
          </a:xfrm>
          <a:prstGeom prst="rect">
            <a:avLst/>
          </a:prstGeom>
          <a:noFill/>
        </p:spPr>
        <p:txBody>
          <a:bodyPr wrap="square" lIns="0" rIns="0" tIns="0" bIns="0" anchor="ctr">
            <a:spAutoFit/>
          </a:bodyPr>
          <a:lstStyle/>
          <a:p>
            <a:pPr algn="l"/>
            <a:r>
              <a:rPr sz="1200" b="1" i="0">
                <a:solidFill>
                  <a:srgbClr val="1B2A41"/>
                </a:solidFill>
                <a:latin typeface="Arial"/>
              </a:rPr>
              <a:t>Jarque–Bera</a:t>
            </a:r>
          </a:p>
        </p:txBody>
      </p:sp>
      <p:sp>
        <p:nvSpPr>
          <p:cNvPr id="51" name="TextBox 50"/>
          <p:cNvSpPr txBox="1"/>
          <p:nvPr/>
        </p:nvSpPr>
        <p:spPr>
          <a:xfrm>
            <a:off x="3063239" y="6208776"/>
            <a:ext cx="5120640" cy="347472"/>
          </a:xfrm>
          <a:prstGeom prst="rect">
            <a:avLst/>
          </a:prstGeom>
          <a:noFill/>
        </p:spPr>
        <p:txBody>
          <a:bodyPr wrap="square" lIns="0" rIns="0" tIns="0" bIns="0" anchor="ctr">
            <a:spAutoFit/>
          </a:bodyPr>
          <a:lstStyle/>
          <a:p>
            <a:pPr algn="l"/>
            <a:r>
              <a:rPr sz="1200" b="0" i="0">
                <a:solidFill>
                  <a:srgbClr val="1B2A41"/>
                </a:solidFill>
                <a:latin typeface="Arial"/>
              </a:rPr>
              <a:t>Kiểm định số liệu có gần hình chuông không; p nhỏ là không</a:t>
            </a:r>
          </a:p>
        </p:txBody>
      </p:sp>
      <p:sp>
        <p:nvSpPr>
          <p:cNvPr id="52" name="TextBox 51"/>
          <p:cNvSpPr txBox="1"/>
          <p:nvPr/>
        </p:nvSpPr>
        <p:spPr>
          <a:xfrm>
            <a:off x="8458200" y="6208776"/>
            <a:ext cx="3044952" cy="347472"/>
          </a:xfrm>
          <a:prstGeom prst="rect">
            <a:avLst/>
          </a:prstGeom>
          <a:noFill/>
        </p:spPr>
        <p:txBody>
          <a:bodyPr wrap="square" lIns="0" rIns="0" tIns="0" bIns="0" anchor="ctr">
            <a:spAutoFit/>
          </a:bodyPr>
          <a:lstStyle/>
          <a:p>
            <a:pPr algn="l"/>
            <a:r>
              <a:rPr sz="1200" b="0" i="0">
                <a:solidFill>
                  <a:srgbClr val="5B6778"/>
                </a:solidFill>
                <a:latin typeface="Arial"/>
              </a:rPr>
              <a:t>Phần dư có vài cú rơi lớn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10332720" cy="731520"/>
          </a:xfrm>
          <a:prstGeom prst="rect">
            <a:avLst/>
          </a:prstGeom>
          <a:noFill/>
        </p:spPr>
        <p:txBody>
          <a:bodyPr wrap="square" lIns="0" rIns="0" tIns="0" bIns="0" anchor="ctr">
            <a:spAutoFit/>
          </a:bodyPr>
          <a:lstStyle/>
          <a:p>
            <a:pPr algn="l"/>
            <a:r>
              <a:rPr sz="3000" b="1" i="0">
                <a:solidFill>
                  <a:srgbClr val="1B2A41"/>
                </a:solidFill>
                <a:latin typeface="Arial"/>
              </a:rPr>
              <a:t>Từ nền 3/5: biến đổi, dừng, bất thường</a:t>
            </a:r>
          </a:p>
        </p:txBody>
      </p:sp>
      <p:sp>
        <p:nvSpPr>
          <p:cNvPr id="4" name="TextBox 3"/>
          <p:cNvSpPr txBox="1"/>
          <p:nvPr/>
        </p:nvSpPr>
        <p:spPr>
          <a:xfrm>
            <a:off x="685800" y="1188720"/>
            <a:ext cx="2103120" cy="365760"/>
          </a:xfrm>
          <a:prstGeom prst="rect">
            <a:avLst/>
          </a:prstGeom>
          <a:noFill/>
        </p:spPr>
        <p:txBody>
          <a:bodyPr wrap="square" lIns="0" rIns="0" tIns="0" bIns="0" anchor="t">
            <a:spAutoFit/>
          </a:bodyPr>
          <a:lstStyle/>
          <a:p>
            <a:pPr algn="l"/>
            <a:r>
              <a:rPr sz="1100" b="1" i="0">
                <a:solidFill>
                  <a:srgbClr val="0F8B8D"/>
                </a:solidFill>
                <a:latin typeface="Arial"/>
              </a:rPr>
              <a:t>TỪ</a:t>
            </a:r>
          </a:p>
        </p:txBody>
      </p:sp>
      <p:sp>
        <p:nvSpPr>
          <p:cNvPr id="5" name="TextBox 4"/>
          <p:cNvSpPr txBox="1"/>
          <p:nvPr/>
        </p:nvSpPr>
        <p:spPr>
          <a:xfrm>
            <a:off x="3063240" y="1188720"/>
            <a:ext cx="5120640" cy="365760"/>
          </a:xfrm>
          <a:prstGeom prst="rect">
            <a:avLst/>
          </a:prstGeom>
          <a:noFill/>
        </p:spPr>
        <p:txBody>
          <a:bodyPr wrap="square" lIns="0" rIns="0" tIns="0" bIns="0" anchor="t">
            <a:spAutoFit/>
          </a:bodyPr>
          <a:lstStyle/>
          <a:p>
            <a:pPr algn="l"/>
            <a:r>
              <a:rPr sz="1100" b="1" i="0">
                <a:solidFill>
                  <a:srgbClr val="5B6778"/>
                </a:solidFill>
                <a:latin typeface="Arial"/>
              </a:rPr>
              <a:t>LÀ GÌ</a:t>
            </a:r>
          </a:p>
        </p:txBody>
      </p:sp>
      <p:sp>
        <p:nvSpPr>
          <p:cNvPr id="6" name="TextBox 5"/>
          <p:cNvSpPr txBox="1"/>
          <p:nvPr/>
        </p:nvSpPr>
        <p:spPr>
          <a:xfrm>
            <a:off x="8458200" y="1188720"/>
            <a:ext cx="3044952" cy="365760"/>
          </a:xfrm>
          <a:prstGeom prst="rect">
            <a:avLst/>
          </a:prstGeom>
          <a:noFill/>
        </p:spPr>
        <p:txBody>
          <a:bodyPr wrap="square" lIns="0" rIns="0" tIns="0" bIns="0" anchor="t">
            <a:spAutoFit/>
          </a:bodyPr>
          <a:lstStyle/>
          <a:p>
            <a:pPr algn="l"/>
            <a:r>
              <a:rPr sz="1100" b="1" i="0">
                <a:solidFill>
                  <a:srgbClr val="5B6778"/>
                </a:solidFill>
                <a:latin typeface="Arial"/>
              </a:rPr>
              <a:t>VÍ DỤ</a:t>
            </a:r>
          </a:p>
        </p:txBody>
      </p:sp>
      <p:sp>
        <p:nvSpPr>
          <p:cNvPr id="7" name="Rounded Rectangle 6"/>
          <p:cNvSpPr/>
          <p:nvPr/>
        </p:nvSpPr>
        <p:spPr>
          <a:xfrm>
            <a:off x="548639" y="1600200"/>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799" y="1600200"/>
            <a:ext cx="2103120" cy="347472"/>
          </a:xfrm>
          <a:prstGeom prst="rect">
            <a:avLst/>
          </a:prstGeom>
          <a:noFill/>
        </p:spPr>
        <p:txBody>
          <a:bodyPr wrap="square" lIns="0" rIns="0" tIns="0" bIns="0" anchor="ctr">
            <a:spAutoFit/>
          </a:bodyPr>
          <a:lstStyle/>
          <a:p>
            <a:pPr algn="l"/>
            <a:r>
              <a:rPr sz="1200" b="1" i="0">
                <a:solidFill>
                  <a:srgbClr val="1B2A41"/>
                </a:solidFill>
                <a:latin typeface="Arial"/>
              </a:rPr>
              <a:t>log, exp</a:t>
            </a:r>
          </a:p>
        </p:txBody>
      </p:sp>
      <p:sp>
        <p:nvSpPr>
          <p:cNvPr id="9" name="TextBox 8"/>
          <p:cNvSpPr txBox="1"/>
          <p:nvPr/>
        </p:nvSpPr>
        <p:spPr>
          <a:xfrm>
            <a:off x="3063239" y="1600200"/>
            <a:ext cx="5120640" cy="347472"/>
          </a:xfrm>
          <a:prstGeom prst="rect">
            <a:avLst/>
          </a:prstGeom>
          <a:noFill/>
        </p:spPr>
        <p:txBody>
          <a:bodyPr wrap="square" lIns="0" rIns="0" tIns="0" bIns="0" anchor="ctr">
            <a:spAutoFit/>
          </a:bodyPr>
          <a:lstStyle/>
          <a:p>
            <a:pPr algn="l"/>
            <a:r>
              <a:rPr sz="1200" b="0" i="0">
                <a:solidFill>
                  <a:srgbClr val="1B2A41"/>
                </a:solidFill>
                <a:latin typeface="Arial"/>
              </a:rPr>
              <a:t>log y: e mũ mấy thì bằng y; exp làm ngược lại</a:t>
            </a:r>
          </a:p>
        </p:txBody>
      </p:sp>
      <p:sp>
        <p:nvSpPr>
          <p:cNvPr id="10" name="TextBox 9"/>
          <p:cNvSpPr txBox="1"/>
          <p:nvPr/>
        </p:nvSpPr>
        <p:spPr>
          <a:xfrm>
            <a:off x="8458200" y="1600200"/>
            <a:ext cx="3044952" cy="347472"/>
          </a:xfrm>
          <a:prstGeom prst="rect">
            <a:avLst/>
          </a:prstGeom>
          <a:noFill/>
        </p:spPr>
        <p:txBody>
          <a:bodyPr wrap="square" lIns="0" rIns="0" tIns="0" bIns="0" anchor="ctr">
            <a:spAutoFit/>
          </a:bodyPr>
          <a:lstStyle/>
          <a:p>
            <a:pPr algn="l"/>
            <a:r>
              <a:rPr sz="1200" b="0" i="0">
                <a:solidFill>
                  <a:srgbClr val="5B6778"/>
                </a:solidFill>
                <a:latin typeface="Arial"/>
              </a:rPr>
              <a:t>log 100 = 4,605</a:t>
            </a:r>
          </a:p>
        </p:txBody>
      </p:sp>
      <p:sp>
        <p:nvSpPr>
          <p:cNvPr id="11" name="TextBox 10"/>
          <p:cNvSpPr txBox="1"/>
          <p:nvPr/>
        </p:nvSpPr>
        <p:spPr>
          <a:xfrm>
            <a:off x="685799" y="1984248"/>
            <a:ext cx="2103120" cy="347472"/>
          </a:xfrm>
          <a:prstGeom prst="rect">
            <a:avLst/>
          </a:prstGeom>
          <a:noFill/>
        </p:spPr>
        <p:txBody>
          <a:bodyPr wrap="square" lIns="0" rIns="0" tIns="0" bIns="0" anchor="ctr">
            <a:spAutoFit/>
          </a:bodyPr>
          <a:lstStyle/>
          <a:p>
            <a:pPr algn="l"/>
            <a:r>
              <a:rPr sz="1200" b="1" i="0">
                <a:solidFill>
                  <a:srgbClr val="1B2A41"/>
                </a:solidFill>
                <a:latin typeface="Arial"/>
              </a:rPr>
              <a:t>CPI, năm gốc</a:t>
            </a:r>
          </a:p>
        </p:txBody>
      </p:sp>
      <p:sp>
        <p:nvSpPr>
          <p:cNvPr id="12" name="TextBox 11"/>
          <p:cNvSpPr txBox="1"/>
          <p:nvPr/>
        </p:nvSpPr>
        <p:spPr>
          <a:xfrm>
            <a:off x="3063239" y="1984248"/>
            <a:ext cx="5120640" cy="347472"/>
          </a:xfrm>
          <a:prstGeom prst="rect">
            <a:avLst/>
          </a:prstGeom>
          <a:noFill/>
        </p:spPr>
        <p:txBody>
          <a:bodyPr wrap="square" lIns="0" rIns="0" tIns="0" bIns="0" anchor="ctr">
            <a:spAutoFit/>
          </a:bodyPr>
          <a:lstStyle/>
          <a:p>
            <a:pPr algn="l"/>
            <a:r>
              <a:rPr sz="1200" b="0" i="0">
                <a:solidFill>
                  <a:srgbClr val="1B2A41"/>
                </a:solidFill>
                <a:latin typeface="Arial"/>
              </a:rPr>
              <a:t>Chỉ số giá một giỏ hàng; năm lấy làm mốc sức mua</a:t>
            </a:r>
          </a:p>
        </p:txBody>
      </p:sp>
      <p:sp>
        <p:nvSpPr>
          <p:cNvPr id="13" name="TextBox 12"/>
          <p:cNvSpPr txBox="1"/>
          <p:nvPr/>
        </p:nvSpPr>
        <p:spPr>
          <a:xfrm>
            <a:off x="8458200" y="1984248"/>
            <a:ext cx="3044952" cy="347472"/>
          </a:xfrm>
          <a:prstGeom prst="rect">
            <a:avLst/>
          </a:prstGeom>
          <a:noFill/>
        </p:spPr>
        <p:txBody>
          <a:bodyPr wrap="square" lIns="0" rIns="0" tIns="0" bIns="0" anchor="ctr">
            <a:spAutoFit/>
          </a:bodyPr>
          <a:lstStyle/>
          <a:p>
            <a:pPr algn="l"/>
            <a:r>
              <a:rPr sz="1200" b="0" i="0">
                <a:solidFill>
                  <a:srgbClr val="5B6778"/>
                </a:solidFill>
                <a:latin typeface="Arial"/>
              </a:rPr>
              <a:t>CPI 100 → 125: giá tăng 25%</a:t>
            </a:r>
          </a:p>
        </p:txBody>
      </p:sp>
      <p:sp>
        <p:nvSpPr>
          <p:cNvPr id="14" name="Rounded Rectangle 13"/>
          <p:cNvSpPr/>
          <p:nvPr/>
        </p:nvSpPr>
        <p:spPr>
          <a:xfrm>
            <a:off x="548639" y="2368296"/>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799" y="2368296"/>
            <a:ext cx="2103120" cy="347472"/>
          </a:xfrm>
          <a:prstGeom prst="rect">
            <a:avLst/>
          </a:prstGeom>
          <a:noFill/>
        </p:spPr>
        <p:txBody>
          <a:bodyPr wrap="square" lIns="0" rIns="0" tIns="0" bIns="0" anchor="ctr">
            <a:spAutoFit/>
          </a:bodyPr>
          <a:lstStyle/>
          <a:p>
            <a:pPr algn="l"/>
            <a:r>
              <a:rPr sz="1200" b="1" i="0">
                <a:solidFill>
                  <a:srgbClr val="1B2A41"/>
                </a:solidFill>
                <a:latin typeface="Arial"/>
              </a:rPr>
              <a:t>điều chỉnh lịch</a:t>
            </a:r>
          </a:p>
        </p:txBody>
      </p:sp>
      <p:sp>
        <p:nvSpPr>
          <p:cNvPr id="16" name="TextBox 15"/>
          <p:cNvSpPr txBox="1"/>
          <p:nvPr/>
        </p:nvSpPr>
        <p:spPr>
          <a:xfrm>
            <a:off x="3063239" y="2368296"/>
            <a:ext cx="5120640" cy="347472"/>
          </a:xfrm>
          <a:prstGeom prst="rect">
            <a:avLst/>
          </a:prstGeom>
          <a:noFill/>
        </p:spPr>
        <p:txBody>
          <a:bodyPr wrap="square" lIns="0" rIns="0" tIns="0" bIns="0" anchor="ctr">
            <a:spAutoFit/>
          </a:bodyPr>
          <a:lstStyle/>
          <a:p>
            <a:pPr algn="l"/>
            <a:r>
              <a:rPr sz="1200" b="0" i="0">
                <a:solidFill>
                  <a:srgbClr val="1B2A41"/>
                </a:solidFill>
                <a:latin typeface="Arial"/>
              </a:rPr>
              <a:t>Chia tổng tháng cho số ngày để tháng dài ngắn so được</a:t>
            </a:r>
          </a:p>
        </p:txBody>
      </p:sp>
      <p:sp>
        <p:nvSpPr>
          <p:cNvPr id="17" name="TextBox 16"/>
          <p:cNvSpPr txBox="1"/>
          <p:nvPr/>
        </p:nvSpPr>
        <p:spPr>
          <a:xfrm>
            <a:off x="8458200" y="2368296"/>
            <a:ext cx="3044952" cy="347472"/>
          </a:xfrm>
          <a:prstGeom prst="rect">
            <a:avLst/>
          </a:prstGeom>
          <a:noFill/>
        </p:spPr>
        <p:txBody>
          <a:bodyPr wrap="square" lIns="0" rIns="0" tIns="0" bIns="0" anchor="ctr">
            <a:spAutoFit/>
          </a:bodyPr>
          <a:lstStyle/>
          <a:p>
            <a:pPr algn="l"/>
            <a:r>
              <a:rPr sz="1200" b="0" i="0">
                <a:solidFill>
                  <a:srgbClr val="5B6778"/>
                </a:solidFill>
                <a:latin typeface="Arial"/>
              </a:rPr>
              <a:t>280 tỷ / 28 ngày = 10 tỷ/ngày</a:t>
            </a:r>
          </a:p>
        </p:txBody>
      </p:sp>
      <p:sp>
        <p:nvSpPr>
          <p:cNvPr id="18" name="TextBox 17"/>
          <p:cNvSpPr txBox="1"/>
          <p:nvPr/>
        </p:nvSpPr>
        <p:spPr>
          <a:xfrm>
            <a:off x="685799" y="2752344"/>
            <a:ext cx="2103120" cy="347472"/>
          </a:xfrm>
          <a:prstGeom prst="rect">
            <a:avLst/>
          </a:prstGeom>
          <a:noFill/>
        </p:spPr>
        <p:txBody>
          <a:bodyPr wrap="square" lIns="0" rIns="0" tIns="0" bIns="0" anchor="ctr">
            <a:spAutoFit/>
          </a:bodyPr>
          <a:lstStyle/>
          <a:p>
            <a:pPr algn="l"/>
            <a:r>
              <a:rPr sz="1200" b="1" i="0">
                <a:solidFill>
                  <a:srgbClr val="1B2A41"/>
                </a:solidFill>
                <a:latin typeface="Arial"/>
              </a:rPr>
              <a:t>log-normal</a:t>
            </a:r>
          </a:p>
        </p:txBody>
      </p:sp>
      <p:sp>
        <p:nvSpPr>
          <p:cNvPr id="19" name="TextBox 18"/>
          <p:cNvSpPr txBox="1"/>
          <p:nvPr/>
        </p:nvSpPr>
        <p:spPr>
          <a:xfrm>
            <a:off x="3063239" y="2752344"/>
            <a:ext cx="5120640" cy="347472"/>
          </a:xfrm>
          <a:prstGeom prst="rect">
            <a:avLst/>
          </a:prstGeom>
          <a:noFill/>
        </p:spPr>
        <p:txBody>
          <a:bodyPr wrap="square" lIns="0" rIns="0" tIns="0" bIns="0" anchor="ctr">
            <a:spAutoFit/>
          </a:bodyPr>
          <a:lstStyle/>
          <a:p>
            <a:pPr algn="l"/>
            <a:r>
              <a:rPr sz="1200" b="0" i="0">
                <a:solidFill>
                  <a:srgbClr val="1B2A41"/>
                </a:solidFill>
                <a:latin typeface="Arial"/>
              </a:rPr>
              <a:t>y = exp(w) với w hình chuông: luôn dương, lệch phải</a:t>
            </a:r>
          </a:p>
        </p:txBody>
      </p:sp>
      <p:sp>
        <p:nvSpPr>
          <p:cNvPr id="20" name="TextBox 19"/>
          <p:cNvSpPr txBox="1"/>
          <p:nvPr/>
        </p:nvSpPr>
        <p:spPr>
          <a:xfrm>
            <a:off x="8458200" y="2752344"/>
            <a:ext cx="3044952" cy="347472"/>
          </a:xfrm>
          <a:prstGeom prst="rect">
            <a:avLst/>
          </a:prstGeom>
          <a:noFill/>
        </p:spPr>
        <p:txBody>
          <a:bodyPr wrap="square" lIns="0" rIns="0" tIns="0" bIns="0" anchor="ctr">
            <a:spAutoFit/>
          </a:bodyPr>
          <a:lstStyle/>
          <a:p>
            <a:pPr algn="l"/>
            <a:r>
              <a:rPr sz="1200" b="0" i="0">
                <a:solidFill>
                  <a:srgbClr val="5B6778"/>
                </a:solidFill>
                <a:latin typeface="Arial"/>
              </a:rPr>
              <a:t>Doanh số, giá nhà</a:t>
            </a:r>
          </a:p>
        </p:txBody>
      </p:sp>
      <p:sp>
        <p:nvSpPr>
          <p:cNvPr id="21" name="Rounded Rectangle 20"/>
          <p:cNvSpPr/>
          <p:nvPr/>
        </p:nvSpPr>
        <p:spPr>
          <a:xfrm>
            <a:off x="548639" y="3136391"/>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799" y="3136391"/>
            <a:ext cx="2103120" cy="347472"/>
          </a:xfrm>
          <a:prstGeom prst="rect">
            <a:avLst/>
          </a:prstGeom>
          <a:noFill/>
        </p:spPr>
        <p:txBody>
          <a:bodyPr wrap="square" lIns="0" rIns="0" tIns="0" bIns="0" anchor="ctr">
            <a:spAutoFit/>
          </a:bodyPr>
          <a:lstStyle/>
          <a:p>
            <a:pPr algn="l"/>
            <a:r>
              <a:rPr sz="1200" b="1" i="0">
                <a:solidFill>
                  <a:srgbClr val="1B2A41"/>
                </a:solidFill>
                <a:latin typeface="Arial"/>
              </a:rPr>
              <a:t>Yeo-Johnson</a:t>
            </a:r>
          </a:p>
        </p:txBody>
      </p:sp>
      <p:sp>
        <p:nvSpPr>
          <p:cNvPr id="23" name="TextBox 22"/>
          <p:cNvSpPr txBox="1"/>
          <p:nvPr/>
        </p:nvSpPr>
        <p:spPr>
          <a:xfrm>
            <a:off x="3063239" y="3136391"/>
            <a:ext cx="5120640" cy="347472"/>
          </a:xfrm>
          <a:prstGeom prst="rect">
            <a:avLst/>
          </a:prstGeom>
          <a:noFill/>
        </p:spPr>
        <p:txBody>
          <a:bodyPr wrap="square" lIns="0" rIns="0" tIns="0" bIns="0" anchor="ctr">
            <a:spAutoFit/>
          </a:bodyPr>
          <a:lstStyle/>
          <a:p>
            <a:pPr algn="l"/>
            <a:r>
              <a:rPr sz="1200" b="0" i="0">
                <a:solidFill>
                  <a:srgbClr val="1B2A41"/>
                </a:solidFill>
                <a:latin typeface="Arial"/>
              </a:rPr>
              <a:t>Biến thể Box-Cox nhận cả số 0 và số âm</a:t>
            </a:r>
          </a:p>
        </p:txBody>
      </p:sp>
      <p:sp>
        <p:nvSpPr>
          <p:cNvPr id="24" name="TextBox 23"/>
          <p:cNvSpPr txBox="1"/>
          <p:nvPr/>
        </p:nvSpPr>
        <p:spPr>
          <a:xfrm>
            <a:off x="8458200" y="3136391"/>
            <a:ext cx="3044952" cy="347472"/>
          </a:xfrm>
          <a:prstGeom prst="rect">
            <a:avLst/>
          </a:prstGeom>
          <a:noFill/>
        </p:spPr>
        <p:txBody>
          <a:bodyPr wrap="square" lIns="0" rIns="0" tIns="0" bIns="0" anchor="ctr">
            <a:spAutoFit/>
          </a:bodyPr>
          <a:lstStyle/>
          <a:p>
            <a:pPr algn="l"/>
            <a:r>
              <a:rPr sz="1200" b="0" i="0">
                <a:solidFill>
                  <a:srgbClr val="5B6778"/>
                </a:solidFill>
                <a:latin typeface="Arial"/>
              </a:rPr>
              <a:t>Chuỗi % tăng trưởng có tháng âm</a:t>
            </a:r>
          </a:p>
        </p:txBody>
      </p:sp>
      <p:sp>
        <p:nvSpPr>
          <p:cNvPr id="25" name="TextBox 24"/>
          <p:cNvSpPr txBox="1"/>
          <p:nvPr/>
        </p:nvSpPr>
        <p:spPr>
          <a:xfrm>
            <a:off x="685799" y="3520440"/>
            <a:ext cx="2103120" cy="347472"/>
          </a:xfrm>
          <a:prstGeom prst="rect">
            <a:avLst/>
          </a:prstGeom>
          <a:noFill/>
        </p:spPr>
        <p:txBody>
          <a:bodyPr wrap="square" lIns="0" rIns="0" tIns="0" bIns="0" anchor="ctr">
            <a:spAutoFit/>
          </a:bodyPr>
          <a:lstStyle/>
          <a:p>
            <a:pPr algn="l"/>
            <a:r>
              <a:rPr sz="1200" b="1" i="0">
                <a:solidFill>
                  <a:srgbClr val="1B2A41"/>
                </a:solidFill>
                <a:latin typeface="Arial"/>
              </a:rPr>
              <a:t>nhiễu trắng</a:t>
            </a:r>
          </a:p>
        </p:txBody>
      </p:sp>
      <p:sp>
        <p:nvSpPr>
          <p:cNvPr id="26" name="TextBox 25"/>
          <p:cNvSpPr txBox="1"/>
          <p:nvPr/>
        </p:nvSpPr>
        <p:spPr>
          <a:xfrm>
            <a:off x="3063239" y="3520440"/>
            <a:ext cx="5120640" cy="347472"/>
          </a:xfrm>
          <a:prstGeom prst="rect">
            <a:avLst/>
          </a:prstGeom>
          <a:noFill/>
        </p:spPr>
        <p:txBody>
          <a:bodyPr wrap="square" lIns="0" rIns="0" tIns="0" bIns="0" anchor="ctr">
            <a:spAutoFit/>
          </a:bodyPr>
          <a:lstStyle/>
          <a:p>
            <a:pPr algn="l"/>
            <a:r>
              <a:rPr sz="1200" b="0" i="0">
                <a:solidFill>
                  <a:srgbClr val="1B2A41"/>
                </a:solidFill>
                <a:latin typeface="Arial"/>
              </a:rPr>
              <a:t>Không tự tương quan ở trễ nào: quá khứ không giúp đoán</a:t>
            </a:r>
          </a:p>
        </p:txBody>
      </p:sp>
      <p:sp>
        <p:nvSpPr>
          <p:cNvPr id="27" name="TextBox 26"/>
          <p:cNvSpPr txBox="1"/>
          <p:nvPr/>
        </p:nvSpPr>
        <p:spPr>
          <a:xfrm>
            <a:off x="8458200" y="3520440"/>
            <a:ext cx="3044952" cy="347472"/>
          </a:xfrm>
          <a:prstGeom prst="rect">
            <a:avLst/>
          </a:prstGeom>
          <a:noFill/>
        </p:spPr>
        <p:txBody>
          <a:bodyPr wrap="square" lIns="0" rIns="0" tIns="0" bIns="0" anchor="ctr">
            <a:spAutoFit/>
          </a:bodyPr>
          <a:lstStyle/>
          <a:p>
            <a:pPr algn="l"/>
            <a:r>
              <a:rPr sz="1200" b="0" i="0">
                <a:solidFill>
                  <a:srgbClr val="5B6778"/>
                </a:solidFill>
                <a:latin typeface="Arial"/>
              </a:rPr>
              <a:t>Kết quả tung xúc xắc</a:t>
            </a:r>
          </a:p>
        </p:txBody>
      </p:sp>
      <p:sp>
        <p:nvSpPr>
          <p:cNvPr id="28" name="Rounded Rectangle 27"/>
          <p:cNvSpPr/>
          <p:nvPr/>
        </p:nvSpPr>
        <p:spPr>
          <a:xfrm>
            <a:off x="548639" y="3904487"/>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799" y="3904487"/>
            <a:ext cx="2103120" cy="347472"/>
          </a:xfrm>
          <a:prstGeom prst="rect">
            <a:avLst/>
          </a:prstGeom>
          <a:noFill/>
        </p:spPr>
        <p:txBody>
          <a:bodyPr wrap="square" lIns="0" rIns="0" tIns="0" bIns="0" anchor="ctr">
            <a:spAutoFit/>
          </a:bodyPr>
          <a:lstStyle/>
          <a:p>
            <a:pPr algn="l"/>
            <a:r>
              <a:rPr sz="1200" b="1" i="0">
                <a:solidFill>
                  <a:srgbClr val="1B2A41"/>
                </a:solidFill>
                <a:latin typeface="Arial"/>
              </a:rPr>
              <a:t>random walk</a:t>
            </a:r>
          </a:p>
        </p:txBody>
      </p:sp>
      <p:sp>
        <p:nvSpPr>
          <p:cNvPr id="30" name="TextBox 29"/>
          <p:cNvSpPr txBox="1"/>
          <p:nvPr/>
        </p:nvSpPr>
        <p:spPr>
          <a:xfrm>
            <a:off x="3063239" y="3904487"/>
            <a:ext cx="5120640" cy="347472"/>
          </a:xfrm>
          <a:prstGeom prst="rect">
            <a:avLst/>
          </a:prstGeom>
          <a:noFill/>
        </p:spPr>
        <p:txBody>
          <a:bodyPr wrap="square" lIns="0" rIns="0" tIns="0" bIns="0" anchor="ctr">
            <a:spAutoFit/>
          </a:bodyPr>
          <a:lstStyle/>
          <a:p>
            <a:pPr algn="l"/>
            <a:r>
              <a:rPr sz="1200" b="0" i="0">
                <a:solidFill>
                  <a:srgbClr val="1B2A41"/>
                </a:solidFill>
                <a:latin typeface="Arial"/>
              </a:rPr>
              <a:t>Giá trị mới = giá trị cũ + một bước ngẫu nhiên</a:t>
            </a:r>
          </a:p>
        </p:txBody>
      </p:sp>
      <p:sp>
        <p:nvSpPr>
          <p:cNvPr id="31" name="TextBox 30"/>
          <p:cNvSpPr txBox="1"/>
          <p:nvPr/>
        </p:nvSpPr>
        <p:spPr>
          <a:xfrm>
            <a:off x="8458200" y="3904487"/>
            <a:ext cx="3044952" cy="347472"/>
          </a:xfrm>
          <a:prstGeom prst="rect">
            <a:avLst/>
          </a:prstGeom>
          <a:noFill/>
        </p:spPr>
        <p:txBody>
          <a:bodyPr wrap="square" lIns="0" rIns="0" tIns="0" bIns="0" anchor="ctr">
            <a:spAutoFit/>
          </a:bodyPr>
          <a:lstStyle/>
          <a:p>
            <a:pPr algn="l"/>
            <a:r>
              <a:rPr sz="1200" b="0" i="0">
                <a:solidFill>
                  <a:srgbClr val="5B6778"/>
                </a:solidFill>
                <a:latin typeface="Arial"/>
              </a:rPr>
              <a:t>Tung đồng xu rồi bước tới, lùi</a:t>
            </a:r>
          </a:p>
        </p:txBody>
      </p:sp>
      <p:sp>
        <p:nvSpPr>
          <p:cNvPr id="32" name="TextBox 31"/>
          <p:cNvSpPr txBox="1"/>
          <p:nvPr/>
        </p:nvSpPr>
        <p:spPr>
          <a:xfrm>
            <a:off x="685799" y="4288536"/>
            <a:ext cx="2103120" cy="347472"/>
          </a:xfrm>
          <a:prstGeom prst="rect">
            <a:avLst/>
          </a:prstGeom>
          <a:noFill/>
        </p:spPr>
        <p:txBody>
          <a:bodyPr wrap="square" lIns="0" rIns="0" tIns="0" bIns="0" anchor="ctr">
            <a:spAutoFit/>
          </a:bodyPr>
          <a:lstStyle/>
          <a:p>
            <a:pPr algn="l"/>
            <a:r>
              <a:rPr sz="1200" b="1" i="0">
                <a:solidFill>
                  <a:srgbClr val="1B2A41"/>
                </a:solidFill>
                <a:latin typeface="Arial"/>
              </a:rPr>
              <a:t>khử xu hướng</a:t>
            </a:r>
          </a:p>
        </p:txBody>
      </p:sp>
      <p:sp>
        <p:nvSpPr>
          <p:cNvPr id="33" name="TextBox 32"/>
          <p:cNvSpPr txBox="1"/>
          <p:nvPr/>
        </p:nvSpPr>
        <p:spPr>
          <a:xfrm>
            <a:off x="3063239" y="4288536"/>
            <a:ext cx="5120640" cy="347472"/>
          </a:xfrm>
          <a:prstGeom prst="rect">
            <a:avLst/>
          </a:prstGeom>
          <a:noFill/>
        </p:spPr>
        <p:txBody>
          <a:bodyPr wrap="square" lIns="0" rIns="0" tIns="0" bIns="0" anchor="ctr">
            <a:spAutoFit/>
          </a:bodyPr>
          <a:lstStyle/>
          <a:p>
            <a:pPr algn="l"/>
            <a:r>
              <a:rPr sz="1200" b="0" i="0">
                <a:solidFill>
                  <a:srgbClr val="1B2A41"/>
                </a:solidFill>
                <a:latin typeface="Arial"/>
              </a:rPr>
              <a:t>Lấy chuỗi trừ đường xu hướng</a:t>
            </a:r>
          </a:p>
        </p:txBody>
      </p:sp>
      <p:sp>
        <p:nvSpPr>
          <p:cNvPr id="34" name="TextBox 33"/>
          <p:cNvSpPr txBox="1"/>
          <p:nvPr/>
        </p:nvSpPr>
        <p:spPr>
          <a:xfrm>
            <a:off x="8458200" y="4288536"/>
            <a:ext cx="3044952" cy="347472"/>
          </a:xfrm>
          <a:prstGeom prst="rect">
            <a:avLst/>
          </a:prstGeom>
          <a:noFill/>
        </p:spPr>
        <p:txBody>
          <a:bodyPr wrap="square" lIns="0" rIns="0" tIns="0" bIns="0" anchor="ctr">
            <a:spAutoFit/>
          </a:bodyPr>
          <a:lstStyle/>
          <a:p>
            <a:pPr algn="l"/>
            <a:r>
              <a:rPr sz="1200" b="0" i="0">
                <a:solidFill>
                  <a:srgbClr val="5B6778"/>
                </a:solidFill>
                <a:latin typeface="Arial"/>
              </a:rPr>
              <a:t>30 − 24,5 = 5,5</a:t>
            </a:r>
          </a:p>
        </p:txBody>
      </p:sp>
      <p:sp>
        <p:nvSpPr>
          <p:cNvPr id="35" name="Rounded Rectangle 34"/>
          <p:cNvSpPr/>
          <p:nvPr/>
        </p:nvSpPr>
        <p:spPr>
          <a:xfrm>
            <a:off x="548639" y="4672583"/>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799" y="4672583"/>
            <a:ext cx="2103120" cy="347472"/>
          </a:xfrm>
          <a:prstGeom prst="rect">
            <a:avLst/>
          </a:prstGeom>
          <a:noFill/>
        </p:spPr>
        <p:txBody>
          <a:bodyPr wrap="square" lIns="0" rIns="0" tIns="0" bIns="0" anchor="ctr">
            <a:spAutoFit/>
          </a:bodyPr>
          <a:lstStyle/>
          <a:p>
            <a:pPr algn="l"/>
            <a:r>
              <a:rPr sz="1200" b="1" i="0">
                <a:solidFill>
                  <a:srgbClr val="1B2A41"/>
                </a:solidFill>
                <a:latin typeface="Arial"/>
              </a:rPr>
              <a:t>LOESS</a:t>
            </a:r>
          </a:p>
        </p:txBody>
      </p:sp>
      <p:sp>
        <p:nvSpPr>
          <p:cNvPr id="37" name="TextBox 36"/>
          <p:cNvSpPr txBox="1"/>
          <p:nvPr/>
        </p:nvSpPr>
        <p:spPr>
          <a:xfrm>
            <a:off x="3063239" y="4672583"/>
            <a:ext cx="5120640" cy="347472"/>
          </a:xfrm>
          <a:prstGeom prst="rect">
            <a:avLst/>
          </a:prstGeom>
          <a:noFill/>
        </p:spPr>
        <p:txBody>
          <a:bodyPr wrap="square" lIns="0" rIns="0" tIns="0" bIns="0" anchor="ctr">
            <a:spAutoFit/>
          </a:bodyPr>
          <a:lstStyle/>
          <a:p>
            <a:pPr algn="l"/>
            <a:r>
              <a:rPr sz="1200" b="0" i="0">
                <a:solidFill>
                  <a:srgbClr val="1B2A41"/>
                </a:solidFill>
                <a:latin typeface="Arial"/>
              </a:rPr>
              <a:t>Làm trơn cục bộ: mỗi điểm nhìn lân cận, điểm gần nặng hơn</a:t>
            </a:r>
          </a:p>
        </p:txBody>
      </p:sp>
      <p:sp>
        <p:nvSpPr>
          <p:cNvPr id="38" name="TextBox 37"/>
          <p:cNvSpPr txBox="1"/>
          <p:nvPr/>
        </p:nvSpPr>
        <p:spPr>
          <a:xfrm>
            <a:off x="8458200" y="4672583"/>
            <a:ext cx="3044952" cy="347472"/>
          </a:xfrm>
          <a:prstGeom prst="rect">
            <a:avLst/>
          </a:prstGeom>
          <a:noFill/>
        </p:spPr>
        <p:txBody>
          <a:bodyPr wrap="square" lIns="0" rIns="0" tIns="0" bIns="0" anchor="ctr">
            <a:spAutoFit/>
          </a:bodyPr>
          <a:lstStyle/>
          <a:p>
            <a:pPr algn="l"/>
            <a:r>
              <a:rPr sz="1200" b="0" i="0">
                <a:solidFill>
                  <a:srgbClr val="5B6778"/>
                </a:solidFill>
                <a:latin typeface="Arial"/>
              </a:rPr>
              <a:t>Lõi của STL</a:t>
            </a:r>
          </a:p>
        </p:txBody>
      </p:sp>
      <p:sp>
        <p:nvSpPr>
          <p:cNvPr id="39" name="TextBox 38"/>
          <p:cNvSpPr txBox="1"/>
          <p:nvPr/>
        </p:nvSpPr>
        <p:spPr>
          <a:xfrm>
            <a:off x="685799" y="5056631"/>
            <a:ext cx="2103120" cy="347472"/>
          </a:xfrm>
          <a:prstGeom prst="rect">
            <a:avLst/>
          </a:prstGeom>
          <a:noFill/>
        </p:spPr>
        <p:txBody>
          <a:bodyPr wrap="square" lIns="0" rIns="0" tIns="0" bIns="0" anchor="ctr">
            <a:spAutoFit/>
          </a:bodyPr>
          <a:lstStyle/>
          <a:p>
            <a:pPr algn="l"/>
            <a:r>
              <a:rPr sz="1200" b="1" i="0">
                <a:solidFill>
                  <a:srgbClr val="1B2A41"/>
                </a:solidFill>
                <a:latin typeface="Arial"/>
              </a:rPr>
              <a:t>robust</a:t>
            </a:r>
          </a:p>
        </p:txBody>
      </p:sp>
      <p:sp>
        <p:nvSpPr>
          <p:cNvPr id="40" name="TextBox 39"/>
          <p:cNvSpPr txBox="1"/>
          <p:nvPr/>
        </p:nvSpPr>
        <p:spPr>
          <a:xfrm>
            <a:off x="3063239" y="5056631"/>
            <a:ext cx="5120640" cy="347472"/>
          </a:xfrm>
          <a:prstGeom prst="rect">
            <a:avLst/>
          </a:prstGeom>
          <a:noFill/>
        </p:spPr>
        <p:txBody>
          <a:bodyPr wrap="square" lIns="0" rIns="0" tIns="0" bIns="0" anchor="ctr">
            <a:spAutoFit/>
          </a:bodyPr>
          <a:lstStyle/>
          <a:p>
            <a:pPr algn="l"/>
            <a:r>
              <a:rPr sz="1200" b="0" i="0">
                <a:solidFill>
                  <a:srgbClr val="1B2A41"/>
                </a:solidFill>
                <a:latin typeface="Arial"/>
              </a:rPr>
              <a:t>Cách ước lượng ít bị vài điểm bất thường kéo lệch</a:t>
            </a:r>
          </a:p>
        </p:txBody>
      </p:sp>
      <p:sp>
        <p:nvSpPr>
          <p:cNvPr id="41" name="TextBox 40"/>
          <p:cNvSpPr txBox="1"/>
          <p:nvPr/>
        </p:nvSpPr>
        <p:spPr>
          <a:xfrm>
            <a:off x="8458200" y="5056631"/>
            <a:ext cx="3044952" cy="347472"/>
          </a:xfrm>
          <a:prstGeom prst="rect">
            <a:avLst/>
          </a:prstGeom>
          <a:noFill/>
        </p:spPr>
        <p:txBody>
          <a:bodyPr wrap="square" lIns="0" rIns="0" tIns="0" bIns="0" anchor="ctr">
            <a:spAutoFit/>
          </a:bodyPr>
          <a:lstStyle/>
          <a:p>
            <a:pPr algn="l"/>
            <a:r>
              <a:rPr sz="1200" b="0" i="0">
                <a:solidFill>
                  <a:srgbClr val="5B6778"/>
                </a:solidFill>
                <a:latin typeface="Arial"/>
              </a:rPr>
              <a:t>robust=True trong STL</a:t>
            </a:r>
          </a:p>
        </p:txBody>
      </p:sp>
      <p:sp>
        <p:nvSpPr>
          <p:cNvPr id="42" name="Rounded Rectangle 41"/>
          <p:cNvSpPr/>
          <p:nvPr/>
        </p:nvSpPr>
        <p:spPr>
          <a:xfrm>
            <a:off x="548639" y="5440680"/>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5799" y="5440680"/>
            <a:ext cx="2103120" cy="347472"/>
          </a:xfrm>
          <a:prstGeom prst="rect">
            <a:avLst/>
          </a:prstGeom>
          <a:noFill/>
        </p:spPr>
        <p:txBody>
          <a:bodyPr wrap="square" lIns="0" rIns="0" tIns="0" bIns="0" anchor="ctr">
            <a:spAutoFit/>
          </a:bodyPr>
          <a:lstStyle/>
          <a:p>
            <a:pPr algn="l"/>
            <a:r>
              <a:rPr sz="1200" b="1" i="0">
                <a:solidFill>
                  <a:srgbClr val="1B2A41"/>
                </a:solidFill>
                <a:latin typeface="Arial"/>
              </a:rPr>
              <a:t>biến giả</a:t>
            </a:r>
          </a:p>
        </p:txBody>
      </p:sp>
      <p:sp>
        <p:nvSpPr>
          <p:cNvPr id="44" name="TextBox 43"/>
          <p:cNvSpPr txBox="1"/>
          <p:nvPr/>
        </p:nvSpPr>
        <p:spPr>
          <a:xfrm>
            <a:off x="3063239" y="5440680"/>
            <a:ext cx="5120640" cy="347472"/>
          </a:xfrm>
          <a:prstGeom prst="rect">
            <a:avLst/>
          </a:prstGeom>
          <a:noFill/>
        </p:spPr>
        <p:txBody>
          <a:bodyPr wrap="square" lIns="0" rIns="0" tIns="0" bIns="0" anchor="ctr">
            <a:spAutoFit/>
          </a:bodyPr>
          <a:lstStyle/>
          <a:p>
            <a:pPr algn="l"/>
            <a:r>
              <a:rPr sz="1200" b="0" i="0">
                <a:solidFill>
                  <a:srgbClr val="1B2A41"/>
                </a:solidFill>
                <a:latin typeface="Arial"/>
              </a:rPr>
              <a:t>Cột 0/1 báo mốc nào thuộc một sự kiện</a:t>
            </a:r>
          </a:p>
        </p:txBody>
      </p:sp>
      <p:sp>
        <p:nvSpPr>
          <p:cNvPr id="45" name="TextBox 44"/>
          <p:cNvSpPr txBox="1"/>
          <p:nvPr/>
        </p:nvSpPr>
        <p:spPr>
          <a:xfrm>
            <a:off x="8458200" y="5440680"/>
            <a:ext cx="3044952" cy="347472"/>
          </a:xfrm>
          <a:prstGeom prst="rect">
            <a:avLst/>
          </a:prstGeom>
          <a:noFill/>
        </p:spPr>
        <p:txBody>
          <a:bodyPr wrap="square" lIns="0" rIns="0" tIns="0" bIns="0" anchor="ctr">
            <a:spAutoFit/>
          </a:bodyPr>
          <a:lstStyle/>
          <a:p>
            <a:pPr algn="l"/>
            <a:r>
              <a:rPr sz="1200" b="0" i="0">
                <a:solidFill>
                  <a:srgbClr val="5B6778"/>
                </a:solidFill>
                <a:latin typeface="Arial"/>
              </a:rPr>
              <a:t>covid = 1 từ 3/2020 tới 6/2021</a:t>
            </a:r>
          </a:p>
        </p:txBody>
      </p:sp>
      <p:sp>
        <p:nvSpPr>
          <p:cNvPr id="46" name="TextBox 45"/>
          <p:cNvSpPr txBox="1"/>
          <p:nvPr/>
        </p:nvSpPr>
        <p:spPr>
          <a:xfrm>
            <a:off x="685799" y="5824728"/>
            <a:ext cx="2103120" cy="347472"/>
          </a:xfrm>
          <a:prstGeom prst="rect">
            <a:avLst/>
          </a:prstGeom>
          <a:noFill/>
        </p:spPr>
        <p:txBody>
          <a:bodyPr wrap="square" lIns="0" rIns="0" tIns="0" bIns="0" anchor="ctr">
            <a:spAutoFit/>
          </a:bodyPr>
          <a:lstStyle/>
          <a:p>
            <a:pPr algn="l"/>
            <a:r>
              <a:rPr sz="1200" b="1" i="0">
                <a:solidFill>
                  <a:srgbClr val="1B2A41"/>
                </a:solidFill>
                <a:latin typeface="Arial"/>
              </a:rPr>
              <a:t>winsorize</a:t>
            </a:r>
          </a:p>
        </p:txBody>
      </p:sp>
      <p:sp>
        <p:nvSpPr>
          <p:cNvPr id="47" name="TextBox 46"/>
          <p:cNvSpPr txBox="1"/>
          <p:nvPr/>
        </p:nvSpPr>
        <p:spPr>
          <a:xfrm>
            <a:off x="3063239" y="5824728"/>
            <a:ext cx="5120640" cy="347472"/>
          </a:xfrm>
          <a:prstGeom prst="rect">
            <a:avLst/>
          </a:prstGeom>
          <a:noFill/>
        </p:spPr>
        <p:txBody>
          <a:bodyPr wrap="square" lIns="0" rIns="0" tIns="0" bIns="0" anchor="ctr">
            <a:spAutoFit/>
          </a:bodyPr>
          <a:lstStyle/>
          <a:p>
            <a:pPr algn="l"/>
            <a:r>
              <a:rPr sz="1200" b="0" i="0">
                <a:solidFill>
                  <a:srgbClr val="1B2A41"/>
                </a:solidFill>
                <a:latin typeface="Arial"/>
              </a:rPr>
              <a:t>Kéo giá trị bị gắn cờ về mức hợp lý (trung vị địa phương), không xoá</a:t>
            </a:r>
          </a:p>
        </p:txBody>
      </p:sp>
      <p:sp>
        <p:nvSpPr>
          <p:cNvPr id="48" name="TextBox 47"/>
          <p:cNvSpPr txBox="1"/>
          <p:nvPr/>
        </p:nvSpPr>
        <p:spPr>
          <a:xfrm>
            <a:off x="8458200" y="5824728"/>
            <a:ext cx="3044952" cy="347472"/>
          </a:xfrm>
          <a:prstGeom prst="rect">
            <a:avLst/>
          </a:prstGeom>
          <a:noFill/>
        </p:spPr>
        <p:txBody>
          <a:bodyPr wrap="square" lIns="0" rIns="0" tIns="0" bIns="0" anchor="ctr">
            <a:spAutoFit/>
          </a:bodyPr>
          <a:lstStyle/>
          <a:p>
            <a:pPr algn="l"/>
            <a:r>
              <a:rPr sz="1200" b="0" i="0">
                <a:solidFill>
                  <a:srgbClr val="5B6778"/>
                </a:solidFill>
                <a:latin typeface="Arial"/>
              </a:rPr>
              <a:t>50 → 12</a:t>
            </a:r>
          </a:p>
        </p:txBody>
      </p:sp>
      <p:sp>
        <p:nvSpPr>
          <p:cNvPr id="49" name="Rounded Rectangle 48"/>
          <p:cNvSpPr/>
          <p:nvPr/>
        </p:nvSpPr>
        <p:spPr>
          <a:xfrm>
            <a:off x="548639" y="6208776"/>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5799" y="6208776"/>
            <a:ext cx="2103120" cy="347472"/>
          </a:xfrm>
          <a:prstGeom prst="rect">
            <a:avLst/>
          </a:prstGeom>
          <a:noFill/>
        </p:spPr>
        <p:txBody>
          <a:bodyPr wrap="square" lIns="0" rIns="0" tIns="0" bIns="0" anchor="ctr">
            <a:spAutoFit/>
          </a:bodyPr>
          <a:lstStyle/>
          <a:p>
            <a:pPr algn="l"/>
            <a:r>
              <a:rPr sz="1200" b="1" i="0">
                <a:solidFill>
                  <a:srgbClr val="1B2A41"/>
                </a:solidFill>
                <a:latin typeface="Arial"/>
              </a:rPr>
              <a:t>MAD</a:t>
            </a:r>
          </a:p>
        </p:txBody>
      </p:sp>
      <p:sp>
        <p:nvSpPr>
          <p:cNvPr id="51" name="TextBox 50"/>
          <p:cNvSpPr txBox="1"/>
          <p:nvPr/>
        </p:nvSpPr>
        <p:spPr>
          <a:xfrm>
            <a:off x="3063239" y="6208776"/>
            <a:ext cx="5120640" cy="347472"/>
          </a:xfrm>
          <a:prstGeom prst="rect">
            <a:avLst/>
          </a:prstGeom>
          <a:noFill/>
        </p:spPr>
        <p:txBody>
          <a:bodyPr wrap="square" lIns="0" rIns="0" tIns="0" bIns="0" anchor="ctr">
            <a:spAutoFit/>
          </a:bodyPr>
          <a:lstStyle/>
          <a:p>
            <a:pPr algn="l"/>
            <a:r>
              <a:rPr sz="1200" b="0" i="0">
                <a:solidFill>
                  <a:srgbClr val="1B2A41"/>
                </a:solidFill>
                <a:latin typeface="Arial"/>
              </a:rPr>
              <a:t>Trung vị của khoảng cách tới trung vị</a:t>
            </a:r>
          </a:p>
        </p:txBody>
      </p:sp>
      <p:sp>
        <p:nvSpPr>
          <p:cNvPr id="52" name="TextBox 51"/>
          <p:cNvSpPr txBox="1"/>
          <p:nvPr/>
        </p:nvSpPr>
        <p:spPr>
          <a:xfrm>
            <a:off x="8458200" y="6208776"/>
            <a:ext cx="3044952" cy="347472"/>
          </a:xfrm>
          <a:prstGeom prst="rect">
            <a:avLst/>
          </a:prstGeom>
          <a:noFill/>
        </p:spPr>
        <p:txBody>
          <a:bodyPr wrap="square" lIns="0" rIns="0" tIns="0" bIns="0" anchor="ctr">
            <a:spAutoFit/>
          </a:bodyPr>
          <a:lstStyle/>
          <a:p>
            <a:pPr algn="l"/>
            <a:r>
              <a:rPr sz="1200" b="0" i="0">
                <a:solidFill>
                  <a:srgbClr val="5B6778"/>
                </a:solidFill>
                <a:latin typeface="Arial"/>
              </a:rPr>
              <a:t>Ngoại lai không kéo được</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10332720" cy="731520"/>
          </a:xfrm>
          <a:prstGeom prst="rect">
            <a:avLst/>
          </a:prstGeom>
          <a:noFill/>
        </p:spPr>
        <p:txBody>
          <a:bodyPr wrap="square" lIns="0" rIns="0" tIns="0" bIns="0" anchor="ctr">
            <a:spAutoFit/>
          </a:bodyPr>
          <a:lstStyle/>
          <a:p>
            <a:pPr algn="l"/>
            <a:r>
              <a:rPr sz="3000" b="1" i="0">
                <a:solidFill>
                  <a:srgbClr val="1B2A41"/>
                </a:solidFill>
                <a:latin typeface="Arial"/>
              </a:rPr>
              <a:t>Từ nền 4/5: tần số và bộ lọc</a:t>
            </a:r>
          </a:p>
        </p:txBody>
      </p:sp>
      <p:sp>
        <p:nvSpPr>
          <p:cNvPr id="4" name="TextBox 3"/>
          <p:cNvSpPr txBox="1"/>
          <p:nvPr/>
        </p:nvSpPr>
        <p:spPr>
          <a:xfrm>
            <a:off x="685800" y="1188720"/>
            <a:ext cx="2103120" cy="365760"/>
          </a:xfrm>
          <a:prstGeom prst="rect">
            <a:avLst/>
          </a:prstGeom>
          <a:noFill/>
        </p:spPr>
        <p:txBody>
          <a:bodyPr wrap="square" lIns="0" rIns="0" tIns="0" bIns="0" anchor="t">
            <a:spAutoFit/>
          </a:bodyPr>
          <a:lstStyle/>
          <a:p>
            <a:pPr algn="l"/>
            <a:r>
              <a:rPr sz="1100" b="1" i="0">
                <a:solidFill>
                  <a:srgbClr val="0F8B8D"/>
                </a:solidFill>
                <a:latin typeface="Arial"/>
              </a:rPr>
              <a:t>TỪ</a:t>
            </a:r>
          </a:p>
        </p:txBody>
      </p:sp>
      <p:sp>
        <p:nvSpPr>
          <p:cNvPr id="5" name="TextBox 4"/>
          <p:cNvSpPr txBox="1"/>
          <p:nvPr/>
        </p:nvSpPr>
        <p:spPr>
          <a:xfrm>
            <a:off x="3063240" y="1188720"/>
            <a:ext cx="5120640" cy="365760"/>
          </a:xfrm>
          <a:prstGeom prst="rect">
            <a:avLst/>
          </a:prstGeom>
          <a:noFill/>
        </p:spPr>
        <p:txBody>
          <a:bodyPr wrap="square" lIns="0" rIns="0" tIns="0" bIns="0" anchor="t">
            <a:spAutoFit/>
          </a:bodyPr>
          <a:lstStyle/>
          <a:p>
            <a:pPr algn="l"/>
            <a:r>
              <a:rPr sz="1100" b="1" i="0">
                <a:solidFill>
                  <a:srgbClr val="5B6778"/>
                </a:solidFill>
                <a:latin typeface="Arial"/>
              </a:rPr>
              <a:t>LÀ GÌ</a:t>
            </a:r>
          </a:p>
        </p:txBody>
      </p:sp>
      <p:sp>
        <p:nvSpPr>
          <p:cNvPr id="6" name="TextBox 5"/>
          <p:cNvSpPr txBox="1"/>
          <p:nvPr/>
        </p:nvSpPr>
        <p:spPr>
          <a:xfrm>
            <a:off x="8458200" y="1188720"/>
            <a:ext cx="3044952" cy="365760"/>
          </a:xfrm>
          <a:prstGeom prst="rect">
            <a:avLst/>
          </a:prstGeom>
          <a:noFill/>
        </p:spPr>
        <p:txBody>
          <a:bodyPr wrap="square" lIns="0" rIns="0" tIns="0" bIns="0" anchor="t">
            <a:spAutoFit/>
          </a:bodyPr>
          <a:lstStyle/>
          <a:p>
            <a:pPr algn="l"/>
            <a:r>
              <a:rPr sz="1100" b="1" i="0">
                <a:solidFill>
                  <a:srgbClr val="5B6778"/>
                </a:solidFill>
                <a:latin typeface="Arial"/>
              </a:rPr>
              <a:t>VÍ DỤ</a:t>
            </a:r>
          </a:p>
        </p:txBody>
      </p:sp>
      <p:sp>
        <p:nvSpPr>
          <p:cNvPr id="7" name="Rounded Rectangle 6"/>
          <p:cNvSpPr/>
          <p:nvPr/>
        </p:nvSpPr>
        <p:spPr>
          <a:xfrm>
            <a:off x="548639" y="1600200"/>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799" y="1600200"/>
            <a:ext cx="2103120" cy="347472"/>
          </a:xfrm>
          <a:prstGeom prst="rect">
            <a:avLst/>
          </a:prstGeom>
          <a:noFill/>
        </p:spPr>
        <p:txBody>
          <a:bodyPr wrap="square" lIns="0" rIns="0" tIns="0" bIns="0" anchor="ctr">
            <a:spAutoFit/>
          </a:bodyPr>
          <a:lstStyle/>
          <a:p>
            <a:pPr algn="l"/>
            <a:r>
              <a:rPr sz="1200" b="1" i="0">
                <a:solidFill>
                  <a:srgbClr val="1B2A41"/>
                </a:solidFill>
                <a:latin typeface="Arial"/>
              </a:rPr>
              <a:t>bộ lọc</a:t>
            </a:r>
          </a:p>
        </p:txBody>
      </p:sp>
      <p:sp>
        <p:nvSpPr>
          <p:cNvPr id="9" name="TextBox 8"/>
          <p:cNvSpPr txBox="1"/>
          <p:nvPr/>
        </p:nvSpPr>
        <p:spPr>
          <a:xfrm>
            <a:off x="3063239" y="1600200"/>
            <a:ext cx="5120640" cy="347472"/>
          </a:xfrm>
          <a:prstGeom prst="rect">
            <a:avLst/>
          </a:prstGeom>
          <a:noFill/>
        </p:spPr>
        <p:txBody>
          <a:bodyPr wrap="square" lIns="0" rIns="0" tIns="0" bIns="0" anchor="ctr">
            <a:spAutoFit/>
          </a:bodyPr>
          <a:lstStyle/>
          <a:p>
            <a:pPr algn="l"/>
            <a:r>
              <a:rPr sz="1200" b="0" i="0">
                <a:solidFill>
                  <a:srgbClr val="1B2A41"/>
                </a:solidFill>
                <a:latin typeface="Arial"/>
              </a:rPr>
              <a:t>Phép biến một chuỗi thành chuỗi khác, thường để làm trơn</a:t>
            </a:r>
          </a:p>
        </p:txBody>
      </p:sp>
      <p:sp>
        <p:nvSpPr>
          <p:cNvPr id="10" name="TextBox 9"/>
          <p:cNvSpPr txBox="1"/>
          <p:nvPr/>
        </p:nvSpPr>
        <p:spPr>
          <a:xfrm>
            <a:off x="8458200" y="1600200"/>
            <a:ext cx="3044952" cy="347472"/>
          </a:xfrm>
          <a:prstGeom prst="rect">
            <a:avLst/>
          </a:prstGeom>
          <a:noFill/>
        </p:spPr>
        <p:txBody>
          <a:bodyPr wrap="square" lIns="0" rIns="0" tIns="0" bIns="0" anchor="ctr">
            <a:spAutoFit/>
          </a:bodyPr>
          <a:lstStyle/>
          <a:p>
            <a:pPr algn="l"/>
            <a:r>
              <a:rPr sz="1200" b="0" i="0">
                <a:solidFill>
                  <a:srgbClr val="5B6778"/>
                </a:solidFill>
                <a:latin typeface="Arial"/>
              </a:rPr>
              <a:t>Trung bình trượt 3 điểm</a:t>
            </a:r>
          </a:p>
        </p:txBody>
      </p:sp>
      <p:sp>
        <p:nvSpPr>
          <p:cNvPr id="11" name="TextBox 10"/>
          <p:cNvSpPr txBox="1"/>
          <p:nvPr/>
        </p:nvSpPr>
        <p:spPr>
          <a:xfrm>
            <a:off x="685799" y="1984248"/>
            <a:ext cx="2103120" cy="347472"/>
          </a:xfrm>
          <a:prstGeom prst="rect">
            <a:avLst/>
          </a:prstGeom>
          <a:noFill/>
        </p:spPr>
        <p:txBody>
          <a:bodyPr wrap="square" lIns="0" rIns="0" tIns="0" bIns="0" anchor="ctr">
            <a:spAutoFit/>
          </a:bodyPr>
          <a:lstStyle/>
          <a:p>
            <a:pPr algn="l"/>
            <a:r>
              <a:rPr sz="1200" b="1" i="0">
                <a:solidFill>
                  <a:srgbClr val="1B2A41"/>
                </a:solidFill>
                <a:latin typeface="Arial"/>
              </a:rPr>
              <a:t>trailing / centered</a:t>
            </a:r>
          </a:p>
        </p:txBody>
      </p:sp>
      <p:sp>
        <p:nvSpPr>
          <p:cNvPr id="12" name="TextBox 11"/>
          <p:cNvSpPr txBox="1"/>
          <p:nvPr/>
        </p:nvSpPr>
        <p:spPr>
          <a:xfrm>
            <a:off x="3063239" y="1984248"/>
            <a:ext cx="5120640" cy="347472"/>
          </a:xfrm>
          <a:prstGeom prst="rect">
            <a:avLst/>
          </a:prstGeom>
          <a:noFill/>
        </p:spPr>
        <p:txBody>
          <a:bodyPr wrap="square" lIns="0" rIns="0" tIns="0" bIns="0" anchor="ctr">
            <a:spAutoFit/>
          </a:bodyPr>
          <a:lstStyle/>
          <a:p>
            <a:pPr algn="l"/>
            <a:r>
              <a:rPr sz="1200" b="0" i="0">
                <a:solidFill>
                  <a:srgbClr val="1B2A41"/>
                </a:solidFill>
                <a:latin typeface="Arial"/>
              </a:rPr>
              <a:t>Chỉ nhìn các điểm trước / lấy cả trước lẫn sau</a:t>
            </a:r>
          </a:p>
        </p:txBody>
      </p:sp>
      <p:sp>
        <p:nvSpPr>
          <p:cNvPr id="13" name="TextBox 12"/>
          <p:cNvSpPr txBox="1"/>
          <p:nvPr/>
        </p:nvSpPr>
        <p:spPr>
          <a:xfrm>
            <a:off x="8458200" y="1984248"/>
            <a:ext cx="3044952" cy="347472"/>
          </a:xfrm>
          <a:prstGeom prst="rect">
            <a:avLst/>
          </a:prstGeom>
          <a:noFill/>
        </p:spPr>
        <p:txBody>
          <a:bodyPr wrap="square" lIns="0" rIns="0" tIns="0" bIns="0" anchor="ctr">
            <a:spAutoFit/>
          </a:bodyPr>
          <a:lstStyle/>
          <a:p>
            <a:pPr algn="l"/>
            <a:r>
              <a:rPr sz="1200" b="0" i="0">
                <a:solidFill>
                  <a:srgbClr val="5B6778"/>
                </a:solidFill>
                <a:latin typeface="Arial"/>
              </a:rPr>
              <a:t>Centered dùng số tương lai</a:t>
            </a:r>
          </a:p>
        </p:txBody>
      </p:sp>
      <p:sp>
        <p:nvSpPr>
          <p:cNvPr id="14" name="Rounded Rectangle 13"/>
          <p:cNvSpPr/>
          <p:nvPr/>
        </p:nvSpPr>
        <p:spPr>
          <a:xfrm>
            <a:off x="548639" y="2368296"/>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799" y="2368296"/>
            <a:ext cx="2103120" cy="347472"/>
          </a:xfrm>
          <a:prstGeom prst="rect">
            <a:avLst/>
          </a:prstGeom>
          <a:noFill/>
        </p:spPr>
        <p:txBody>
          <a:bodyPr wrap="square" lIns="0" rIns="0" tIns="0" bIns="0" anchor="ctr">
            <a:spAutoFit/>
          </a:bodyPr>
          <a:lstStyle/>
          <a:p>
            <a:pPr algn="l"/>
            <a:r>
              <a:rPr sz="1200" b="1" i="0">
                <a:solidFill>
                  <a:srgbClr val="1B2A41"/>
                </a:solidFill>
                <a:latin typeface="Arial"/>
              </a:rPr>
              <a:t>trễ (pha)</a:t>
            </a:r>
          </a:p>
        </p:txBody>
      </p:sp>
      <p:sp>
        <p:nvSpPr>
          <p:cNvPr id="16" name="TextBox 15"/>
          <p:cNvSpPr txBox="1"/>
          <p:nvPr/>
        </p:nvSpPr>
        <p:spPr>
          <a:xfrm>
            <a:off x="3063239" y="2368296"/>
            <a:ext cx="5120640" cy="347472"/>
          </a:xfrm>
          <a:prstGeom prst="rect">
            <a:avLst/>
          </a:prstGeom>
          <a:noFill/>
        </p:spPr>
        <p:txBody>
          <a:bodyPr wrap="square" lIns="0" rIns="0" tIns="0" bIns="0" anchor="ctr">
            <a:spAutoFit/>
          </a:bodyPr>
          <a:lstStyle/>
          <a:p>
            <a:pPr algn="l"/>
            <a:r>
              <a:rPr sz="1200" b="0" i="0">
                <a:solidFill>
                  <a:srgbClr val="1B2A41"/>
                </a:solidFill>
                <a:latin typeface="Arial"/>
              </a:rPr>
              <a:t>Đầu ra bộ lọc chạy sau tín hiệu thật bao nhiêu bước</a:t>
            </a:r>
          </a:p>
        </p:txBody>
      </p:sp>
      <p:sp>
        <p:nvSpPr>
          <p:cNvPr id="17" name="TextBox 16"/>
          <p:cNvSpPr txBox="1"/>
          <p:nvPr/>
        </p:nvSpPr>
        <p:spPr>
          <a:xfrm>
            <a:off x="8458200" y="2368296"/>
            <a:ext cx="3044952" cy="347472"/>
          </a:xfrm>
          <a:prstGeom prst="rect">
            <a:avLst/>
          </a:prstGeom>
          <a:noFill/>
        </p:spPr>
        <p:txBody>
          <a:bodyPr wrap="square" lIns="0" rIns="0" tIns="0" bIns="0" anchor="ctr">
            <a:spAutoFit/>
          </a:bodyPr>
          <a:lstStyle/>
          <a:p>
            <a:pPr algn="l"/>
            <a:r>
              <a:rPr sz="1200" b="0" i="0">
                <a:solidFill>
                  <a:srgbClr val="5B6778"/>
                </a:solidFill>
                <a:latin typeface="Arial"/>
              </a:rPr>
              <a:t>Trung bình 13 điểm trễ 6 bước</a:t>
            </a:r>
          </a:p>
        </p:txBody>
      </p:sp>
      <p:sp>
        <p:nvSpPr>
          <p:cNvPr id="18" name="TextBox 17"/>
          <p:cNvSpPr txBox="1"/>
          <p:nvPr/>
        </p:nvSpPr>
        <p:spPr>
          <a:xfrm>
            <a:off x="685799" y="2752344"/>
            <a:ext cx="2103120" cy="347472"/>
          </a:xfrm>
          <a:prstGeom prst="rect">
            <a:avLst/>
          </a:prstGeom>
          <a:noFill/>
        </p:spPr>
        <p:txBody>
          <a:bodyPr wrap="square" lIns="0" rIns="0" tIns="0" bIns="0" anchor="ctr">
            <a:spAutoFit/>
          </a:bodyPr>
          <a:lstStyle/>
          <a:p>
            <a:pPr algn="l"/>
            <a:r>
              <a:rPr sz="1200" b="1" i="0">
                <a:solidFill>
                  <a:srgbClr val="1B2A41"/>
                </a:solidFill>
                <a:latin typeface="Arial"/>
              </a:rPr>
              <a:t>tần số lấy mẫu f_s</a:t>
            </a:r>
          </a:p>
        </p:txBody>
      </p:sp>
      <p:sp>
        <p:nvSpPr>
          <p:cNvPr id="19" name="TextBox 18"/>
          <p:cNvSpPr txBox="1"/>
          <p:nvPr/>
        </p:nvSpPr>
        <p:spPr>
          <a:xfrm>
            <a:off x="3063239" y="2752344"/>
            <a:ext cx="5120640" cy="347472"/>
          </a:xfrm>
          <a:prstGeom prst="rect">
            <a:avLst/>
          </a:prstGeom>
          <a:noFill/>
        </p:spPr>
        <p:txBody>
          <a:bodyPr wrap="square" lIns="0" rIns="0" tIns="0" bIns="0" anchor="ctr">
            <a:spAutoFit/>
          </a:bodyPr>
          <a:lstStyle/>
          <a:p>
            <a:pPr algn="l"/>
            <a:r>
              <a:rPr sz="1200" b="0" i="0">
                <a:solidFill>
                  <a:srgbClr val="1B2A41"/>
                </a:solidFill>
                <a:latin typeface="Arial"/>
              </a:rPr>
              <a:t>Số mẫu mỗi đơn vị thời gian</a:t>
            </a:r>
          </a:p>
        </p:txBody>
      </p:sp>
      <p:sp>
        <p:nvSpPr>
          <p:cNvPr id="20" name="TextBox 19"/>
          <p:cNvSpPr txBox="1"/>
          <p:nvPr/>
        </p:nvSpPr>
        <p:spPr>
          <a:xfrm>
            <a:off x="8458200" y="2752344"/>
            <a:ext cx="3044952" cy="347472"/>
          </a:xfrm>
          <a:prstGeom prst="rect">
            <a:avLst/>
          </a:prstGeom>
          <a:noFill/>
        </p:spPr>
        <p:txBody>
          <a:bodyPr wrap="square" lIns="0" rIns="0" tIns="0" bIns="0" anchor="ctr">
            <a:spAutoFit/>
          </a:bodyPr>
          <a:lstStyle/>
          <a:p>
            <a:pPr algn="l"/>
            <a:r>
              <a:rPr sz="1200" b="0" i="0">
                <a:solidFill>
                  <a:srgbClr val="5B6778"/>
                </a:solidFill>
                <a:latin typeface="Arial"/>
              </a:rPr>
              <a:t>10 phút một mẫu: 6 mẫu/giờ</a:t>
            </a:r>
          </a:p>
        </p:txBody>
      </p:sp>
      <p:sp>
        <p:nvSpPr>
          <p:cNvPr id="21" name="Rounded Rectangle 20"/>
          <p:cNvSpPr/>
          <p:nvPr/>
        </p:nvSpPr>
        <p:spPr>
          <a:xfrm>
            <a:off x="548639" y="3136391"/>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799" y="3136391"/>
            <a:ext cx="2103120" cy="347472"/>
          </a:xfrm>
          <a:prstGeom prst="rect">
            <a:avLst/>
          </a:prstGeom>
          <a:noFill/>
        </p:spPr>
        <p:txBody>
          <a:bodyPr wrap="square" lIns="0" rIns="0" tIns="0" bIns="0" anchor="ctr">
            <a:spAutoFit/>
          </a:bodyPr>
          <a:lstStyle/>
          <a:p>
            <a:pPr algn="l"/>
            <a:r>
              <a:rPr sz="1200" b="1" i="0">
                <a:solidFill>
                  <a:srgbClr val="1B2A41"/>
                </a:solidFill>
                <a:latin typeface="Arial"/>
              </a:rPr>
              <a:t>tần số Nyquist</a:t>
            </a:r>
          </a:p>
        </p:txBody>
      </p:sp>
      <p:sp>
        <p:nvSpPr>
          <p:cNvPr id="23" name="TextBox 22"/>
          <p:cNvSpPr txBox="1"/>
          <p:nvPr/>
        </p:nvSpPr>
        <p:spPr>
          <a:xfrm>
            <a:off x="3063239" y="3136391"/>
            <a:ext cx="5120640" cy="347472"/>
          </a:xfrm>
          <a:prstGeom prst="rect">
            <a:avLst/>
          </a:prstGeom>
          <a:noFill/>
        </p:spPr>
        <p:txBody>
          <a:bodyPr wrap="square" lIns="0" rIns="0" tIns="0" bIns="0" anchor="ctr">
            <a:spAutoFit/>
          </a:bodyPr>
          <a:lstStyle/>
          <a:p>
            <a:pPr algn="l"/>
            <a:r>
              <a:rPr sz="1200" b="0" i="0">
                <a:solidFill>
                  <a:srgbClr val="1B2A41"/>
                </a:solidFill>
                <a:latin typeface="Arial"/>
              </a:rPr>
              <a:t>Tần số cao nhất còn thấy đúng: f_s / 2</a:t>
            </a:r>
          </a:p>
        </p:txBody>
      </p:sp>
      <p:sp>
        <p:nvSpPr>
          <p:cNvPr id="24" name="TextBox 23"/>
          <p:cNvSpPr txBox="1"/>
          <p:nvPr/>
        </p:nvSpPr>
        <p:spPr>
          <a:xfrm>
            <a:off x="8458200" y="3136391"/>
            <a:ext cx="3044952" cy="347472"/>
          </a:xfrm>
          <a:prstGeom prst="rect">
            <a:avLst/>
          </a:prstGeom>
          <a:noFill/>
        </p:spPr>
        <p:txBody>
          <a:bodyPr wrap="square" lIns="0" rIns="0" tIns="0" bIns="0" anchor="ctr">
            <a:spAutoFit/>
          </a:bodyPr>
          <a:lstStyle/>
          <a:p>
            <a:pPr algn="l"/>
            <a:r>
              <a:rPr sz="1200" b="0" i="0">
                <a:solidFill>
                  <a:srgbClr val="5B6778"/>
                </a:solidFill>
                <a:latin typeface="Arial"/>
              </a:rPr>
              <a:t>6 mẫu/giờ → 3 vòng/giờ</a:t>
            </a:r>
          </a:p>
        </p:txBody>
      </p:sp>
      <p:sp>
        <p:nvSpPr>
          <p:cNvPr id="25" name="TextBox 24"/>
          <p:cNvSpPr txBox="1"/>
          <p:nvPr/>
        </p:nvSpPr>
        <p:spPr>
          <a:xfrm>
            <a:off x="685799" y="3520440"/>
            <a:ext cx="2103120" cy="347472"/>
          </a:xfrm>
          <a:prstGeom prst="rect">
            <a:avLst/>
          </a:prstGeom>
          <a:noFill/>
        </p:spPr>
        <p:txBody>
          <a:bodyPr wrap="square" lIns="0" rIns="0" tIns="0" bIns="0" anchor="ctr">
            <a:spAutoFit/>
          </a:bodyPr>
          <a:lstStyle/>
          <a:p>
            <a:pPr algn="l"/>
            <a:r>
              <a:rPr sz="1200" b="1" i="0">
                <a:solidFill>
                  <a:srgbClr val="1B2A41"/>
                </a:solidFill>
                <a:latin typeface="Arial"/>
              </a:rPr>
              <a:t>hạ mẫu</a:t>
            </a:r>
          </a:p>
        </p:txBody>
      </p:sp>
      <p:sp>
        <p:nvSpPr>
          <p:cNvPr id="26" name="TextBox 25"/>
          <p:cNvSpPr txBox="1"/>
          <p:nvPr/>
        </p:nvSpPr>
        <p:spPr>
          <a:xfrm>
            <a:off x="3063239" y="3520440"/>
            <a:ext cx="5120640" cy="347472"/>
          </a:xfrm>
          <a:prstGeom prst="rect">
            <a:avLst/>
          </a:prstGeom>
          <a:noFill/>
        </p:spPr>
        <p:txBody>
          <a:bodyPr wrap="square" lIns="0" rIns="0" tIns="0" bIns="0" anchor="ctr">
            <a:spAutoFit/>
          </a:bodyPr>
          <a:lstStyle/>
          <a:p>
            <a:pPr algn="l"/>
            <a:r>
              <a:rPr sz="1200" b="0" i="0">
                <a:solidFill>
                  <a:srgbClr val="1B2A41"/>
                </a:solidFill>
                <a:latin typeface="Arial"/>
              </a:rPr>
              <a:t>Giảm tần số lấy mẫu</a:t>
            </a:r>
          </a:p>
        </p:txBody>
      </p:sp>
      <p:sp>
        <p:nvSpPr>
          <p:cNvPr id="27" name="TextBox 26"/>
          <p:cNvSpPr txBox="1"/>
          <p:nvPr/>
        </p:nvSpPr>
        <p:spPr>
          <a:xfrm>
            <a:off x="8458200" y="3520440"/>
            <a:ext cx="3044952" cy="347472"/>
          </a:xfrm>
          <a:prstGeom prst="rect">
            <a:avLst/>
          </a:prstGeom>
          <a:noFill/>
        </p:spPr>
        <p:txBody>
          <a:bodyPr wrap="square" lIns="0" rIns="0" tIns="0" bIns="0" anchor="ctr">
            <a:spAutoFit/>
          </a:bodyPr>
          <a:lstStyle/>
          <a:p>
            <a:pPr algn="l"/>
            <a:r>
              <a:rPr sz="1200" b="0" i="0">
                <a:solidFill>
                  <a:srgbClr val="5B6778"/>
                </a:solidFill>
                <a:latin typeface="Arial"/>
              </a:rPr>
              <a:t>Từ 10 phút sang 1 giờ</a:t>
            </a:r>
          </a:p>
        </p:txBody>
      </p:sp>
      <p:sp>
        <p:nvSpPr>
          <p:cNvPr id="28" name="Rounded Rectangle 27"/>
          <p:cNvSpPr/>
          <p:nvPr/>
        </p:nvSpPr>
        <p:spPr>
          <a:xfrm>
            <a:off x="548639" y="3904487"/>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799" y="3904487"/>
            <a:ext cx="2103120" cy="347472"/>
          </a:xfrm>
          <a:prstGeom prst="rect">
            <a:avLst/>
          </a:prstGeom>
          <a:noFill/>
        </p:spPr>
        <p:txBody>
          <a:bodyPr wrap="square" lIns="0" rIns="0" tIns="0" bIns="0" anchor="ctr">
            <a:spAutoFit/>
          </a:bodyPr>
          <a:lstStyle/>
          <a:p>
            <a:pPr algn="l"/>
            <a:r>
              <a:rPr sz="1200" b="1" i="0">
                <a:solidFill>
                  <a:srgbClr val="1B2A41"/>
                </a:solidFill>
                <a:latin typeface="Arial"/>
              </a:rPr>
              <a:t>lọc thông thấp</a:t>
            </a:r>
          </a:p>
        </p:txBody>
      </p:sp>
      <p:sp>
        <p:nvSpPr>
          <p:cNvPr id="30" name="TextBox 29"/>
          <p:cNvSpPr txBox="1"/>
          <p:nvPr/>
        </p:nvSpPr>
        <p:spPr>
          <a:xfrm>
            <a:off x="3063239" y="3904487"/>
            <a:ext cx="5120640" cy="347472"/>
          </a:xfrm>
          <a:prstGeom prst="rect">
            <a:avLst/>
          </a:prstGeom>
          <a:noFill/>
        </p:spPr>
        <p:txBody>
          <a:bodyPr wrap="square" lIns="0" rIns="0" tIns="0" bIns="0" anchor="ctr">
            <a:spAutoFit/>
          </a:bodyPr>
          <a:lstStyle/>
          <a:p>
            <a:pPr algn="l"/>
            <a:r>
              <a:rPr sz="1200" b="0" i="0">
                <a:solidFill>
                  <a:srgbClr val="1B2A41"/>
                </a:solidFill>
                <a:latin typeface="Arial"/>
              </a:rPr>
              <a:t>Giữ dao động chậm, bỏ dao động nhanh</a:t>
            </a:r>
          </a:p>
        </p:txBody>
      </p:sp>
      <p:sp>
        <p:nvSpPr>
          <p:cNvPr id="31" name="TextBox 30"/>
          <p:cNvSpPr txBox="1"/>
          <p:nvPr/>
        </p:nvSpPr>
        <p:spPr>
          <a:xfrm>
            <a:off x="8458200" y="3904487"/>
            <a:ext cx="3044952" cy="347472"/>
          </a:xfrm>
          <a:prstGeom prst="rect">
            <a:avLst/>
          </a:prstGeom>
          <a:noFill/>
        </p:spPr>
        <p:txBody>
          <a:bodyPr wrap="square" lIns="0" rIns="0" tIns="0" bIns="0" anchor="ctr">
            <a:spAutoFit/>
          </a:bodyPr>
          <a:lstStyle/>
          <a:p>
            <a:pPr algn="l"/>
            <a:r>
              <a:rPr sz="1200" b="0" i="0">
                <a:solidFill>
                  <a:srgbClr val="5B6778"/>
                </a:solidFill>
                <a:latin typeface="Arial"/>
              </a:rPr>
              <a:t>Lọc trước khi hạ mẫu</a:t>
            </a:r>
          </a:p>
        </p:txBody>
      </p:sp>
      <p:sp>
        <p:nvSpPr>
          <p:cNvPr id="32" name="TextBox 31"/>
          <p:cNvSpPr txBox="1"/>
          <p:nvPr/>
        </p:nvSpPr>
        <p:spPr>
          <a:xfrm>
            <a:off x="685799" y="4288536"/>
            <a:ext cx="2103120" cy="347472"/>
          </a:xfrm>
          <a:prstGeom prst="rect">
            <a:avLst/>
          </a:prstGeom>
          <a:noFill/>
        </p:spPr>
        <p:txBody>
          <a:bodyPr wrap="square" lIns="0" rIns="0" tIns="0" bIns="0" anchor="ctr">
            <a:spAutoFit/>
          </a:bodyPr>
          <a:lstStyle/>
          <a:p>
            <a:pPr algn="l"/>
            <a:r>
              <a:rPr sz="1200" b="1" i="0">
                <a:solidFill>
                  <a:srgbClr val="1B2A41"/>
                </a:solidFill>
                <a:latin typeface="Arial"/>
              </a:rPr>
              <a:t>EWMA</a:t>
            </a:r>
          </a:p>
        </p:txBody>
      </p:sp>
      <p:sp>
        <p:nvSpPr>
          <p:cNvPr id="33" name="TextBox 32"/>
          <p:cNvSpPr txBox="1"/>
          <p:nvPr/>
        </p:nvSpPr>
        <p:spPr>
          <a:xfrm>
            <a:off x="3063239" y="4288536"/>
            <a:ext cx="5120640" cy="347472"/>
          </a:xfrm>
          <a:prstGeom prst="rect">
            <a:avLst/>
          </a:prstGeom>
          <a:noFill/>
        </p:spPr>
        <p:txBody>
          <a:bodyPr wrap="square" lIns="0" rIns="0" tIns="0" bIns="0" anchor="ctr">
            <a:spAutoFit/>
          </a:bodyPr>
          <a:lstStyle/>
          <a:p>
            <a:pPr algn="l"/>
            <a:r>
              <a:rPr sz="1200" b="0" i="0">
                <a:solidFill>
                  <a:srgbClr val="1B2A41"/>
                </a:solidFill>
                <a:latin typeface="Arial"/>
              </a:rPr>
              <a:t>Trung bình trượt hàm mũ: điểm mới nặng hơn điểm cũ</a:t>
            </a:r>
          </a:p>
        </p:txBody>
      </p:sp>
      <p:sp>
        <p:nvSpPr>
          <p:cNvPr id="34" name="TextBox 33"/>
          <p:cNvSpPr txBox="1"/>
          <p:nvPr/>
        </p:nvSpPr>
        <p:spPr>
          <a:xfrm>
            <a:off x="8458200" y="4288536"/>
            <a:ext cx="3044952" cy="347472"/>
          </a:xfrm>
          <a:prstGeom prst="rect">
            <a:avLst/>
          </a:prstGeom>
          <a:noFill/>
        </p:spPr>
        <p:txBody>
          <a:bodyPr wrap="square" lIns="0" rIns="0" tIns="0" bIns="0" anchor="ctr">
            <a:spAutoFit/>
          </a:bodyPr>
          <a:lstStyle/>
          <a:p>
            <a:pPr algn="l"/>
            <a:r>
              <a:rPr sz="1200" b="0" i="0">
                <a:solidFill>
                  <a:srgbClr val="5B6778"/>
                </a:solidFill>
                <a:latin typeface="Arial"/>
              </a:rPr>
              <a:t>z_t = α·y_t + (1 − α)·z_(t−1)</a:t>
            </a:r>
          </a:p>
        </p:txBody>
      </p:sp>
      <p:sp>
        <p:nvSpPr>
          <p:cNvPr id="35" name="Rounded Rectangle 34"/>
          <p:cNvSpPr/>
          <p:nvPr/>
        </p:nvSpPr>
        <p:spPr>
          <a:xfrm>
            <a:off x="548639" y="4672583"/>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799" y="4672583"/>
            <a:ext cx="2103120" cy="347472"/>
          </a:xfrm>
          <a:prstGeom prst="rect">
            <a:avLst/>
          </a:prstGeom>
          <a:noFill/>
        </p:spPr>
        <p:txBody>
          <a:bodyPr wrap="square" lIns="0" rIns="0" tIns="0" bIns="0" anchor="ctr">
            <a:spAutoFit/>
          </a:bodyPr>
          <a:lstStyle/>
          <a:p>
            <a:pPr algn="l"/>
            <a:r>
              <a:rPr sz="1200" b="1" i="0">
                <a:solidFill>
                  <a:srgbClr val="1B2A41"/>
                </a:solidFill>
                <a:latin typeface="Arial"/>
              </a:rPr>
              <a:t>Savitzky–Golay</a:t>
            </a:r>
          </a:p>
        </p:txBody>
      </p:sp>
      <p:sp>
        <p:nvSpPr>
          <p:cNvPr id="37" name="TextBox 36"/>
          <p:cNvSpPr txBox="1"/>
          <p:nvPr/>
        </p:nvSpPr>
        <p:spPr>
          <a:xfrm>
            <a:off x="3063239" y="4672583"/>
            <a:ext cx="5120640" cy="347472"/>
          </a:xfrm>
          <a:prstGeom prst="rect">
            <a:avLst/>
          </a:prstGeom>
          <a:noFill/>
        </p:spPr>
        <p:txBody>
          <a:bodyPr wrap="square" lIns="0" rIns="0" tIns="0" bIns="0" anchor="ctr">
            <a:spAutoFit/>
          </a:bodyPr>
          <a:lstStyle/>
          <a:p>
            <a:pPr algn="l"/>
            <a:r>
              <a:rPr sz="1200" b="0" i="0">
                <a:solidFill>
                  <a:srgbClr val="1B2A41"/>
                </a:solidFill>
                <a:latin typeface="Arial"/>
              </a:rPr>
              <a:t>Khớp đa thức bậc thấp quanh mỗi điểm</a:t>
            </a:r>
          </a:p>
        </p:txBody>
      </p:sp>
      <p:sp>
        <p:nvSpPr>
          <p:cNvPr id="38" name="TextBox 37"/>
          <p:cNvSpPr txBox="1"/>
          <p:nvPr/>
        </p:nvSpPr>
        <p:spPr>
          <a:xfrm>
            <a:off x="8458200" y="4672583"/>
            <a:ext cx="3044952" cy="347472"/>
          </a:xfrm>
          <a:prstGeom prst="rect">
            <a:avLst/>
          </a:prstGeom>
          <a:noFill/>
        </p:spPr>
        <p:txBody>
          <a:bodyPr wrap="square" lIns="0" rIns="0" tIns="0" bIns="0" anchor="ctr">
            <a:spAutoFit/>
          </a:bodyPr>
          <a:lstStyle/>
          <a:p>
            <a:pPr algn="l"/>
            <a:r>
              <a:rPr sz="1200" b="0" i="0">
                <a:solidFill>
                  <a:srgbClr val="5B6778"/>
                </a:solidFill>
                <a:latin typeface="Arial"/>
              </a:rPr>
              <a:t>Nhìn cả hai phía: không nhân quả</a:t>
            </a:r>
          </a:p>
        </p:txBody>
      </p:sp>
      <p:sp>
        <p:nvSpPr>
          <p:cNvPr id="39" name="TextBox 38"/>
          <p:cNvSpPr txBox="1"/>
          <p:nvPr/>
        </p:nvSpPr>
        <p:spPr>
          <a:xfrm>
            <a:off x="685799" y="5056631"/>
            <a:ext cx="2103120" cy="347472"/>
          </a:xfrm>
          <a:prstGeom prst="rect">
            <a:avLst/>
          </a:prstGeom>
          <a:noFill/>
        </p:spPr>
        <p:txBody>
          <a:bodyPr wrap="square" lIns="0" rIns="0" tIns="0" bIns="0" anchor="ctr">
            <a:spAutoFit/>
          </a:bodyPr>
          <a:lstStyle/>
          <a:p>
            <a:pPr algn="l"/>
            <a:r>
              <a:rPr sz="1200" b="1" i="0">
                <a:solidFill>
                  <a:srgbClr val="1B2A41"/>
                </a:solidFill>
                <a:latin typeface="Arial"/>
              </a:rPr>
              <a:t>Butterworth</a:t>
            </a:r>
          </a:p>
        </p:txBody>
      </p:sp>
      <p:sp>
        <p:nvSpPr>
          <p:cNvPr id="40" name="TextBox 39"/>
          <p:cNvSpPr txBox="1"/>
          <p:nvPr/>
        </p:nvSpPr>
        <p:spPr>
          <a:xfrm>
            <a:off x="3063239" y="5056631"/>
            <a:ext cx="5120640" cy="347472"/>
          </a:xfrm>
          <a:prstGeom prst="rect">
            <a:avLst/>
          </a:prstGeom>
          <a:noFill/>
        </p:spPr>
        <p:txBody>
          <a:bodyPr wrap="square" lIns="0" rIns="0" tIns="0" bIns="0" anchor="ctr">
            <a:spAutoFit/>
          </a:bodyPr>
          <a:lstStyle/>
          <a:p>
            <a:pPr algn="l"/>
            <a:r>
              <a:rPr sz="1200" b="0" i="0">
                <a:solidFill>
                  <a:srgbClr val="1B2A41"/>
                </a:solidFill>
                <a:latin typeface="Arial"/>
              </a:rPr>
              <a:t>Bộ lọc cắt tần số theo một ngưỡng</a:t>
            </a:r>
          </a:p>
        </p:txBody>
      </p:sp>
      <p:sp>
        <p:nvSpPr>
          <p:cNvPr id="41" name="TextBox 40"/>
          <p:cNvSpPr txBox="1"/>
          <p:nvPr/>
        </p:nvSpPr>
        <p:spPr>
          <a:xfrm>
            <a:off x="8458200" y="5056631"/>
            <a:ext cx="3044952" cy="347472"/>
          </a:xfrm>
          <a:prstGeom prst="rect">
            <a:avLst/>
          </a:prstGeom>
          <a:noFill/>
        </p:spPr>
        <p:txBody>
          <a:bodyPr wrap="square" lIns="0" rIns="0" tIns="0" bIns="0" anchor="ctr">
            <a:spAutoFit/>
          </a:bodyPr>
          <a:lstStyle/>
          <a:p>
            <a:pPr algn="l"/>
            <a:r>
              <a:rPr sz="1200" b="0" i="0">
                <a:solidFill>
                  <a:srgbClr val="5B6778"/>
                </a:solidFill>
                <a:latin typeface="Arial"/>
              </a:rPr>
              <a:t>Bản nhân quả trễ 19 bước</a:t>
            </a:r>
          </a:p>
        </p:txBody>
      </p:sp>
      <p:sp>
        <p:nvSpPr>
          <p:cNvPr id="42" name="Rounded Rectangle 41"/>
          <p:cNvSpPr/>
          <p:nvPr/>
        </p:nvSpPr>
        <p:spPr>
          <a:xfrm>
            <a:off x="548639" y="5440680"/>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5799" y="5440680"/>
            <a:ext cx="2103120" cy="347472"/>
          </a:xfrm>
          <a:prstGeom prst="rect">
            <a:avLst/>
          </a:prstGeom>
          <a:noFill/>
        </p:spPr>
        <p:txBody>
          <a:bodyPr wrap="square" lIns="0" rIns="0" tIns="0" bIns="0" anchor="ctr">
            <a:spAutoFit/>
          </a:bodyPr>
          <a:lstStyle/>
          <a:p>
            <a:pPr algn="l"/>
            <a:r>
              <a:rPr sz="1200" b="1" i="0">
                <a:solidFill>
                  <a:srgbClr val="1B2A41"/>
                </a:solidFill>
                <a:latin typeface="Arial"/>
              </a:rPr>
              <a:t>Kalman filter / smoother</a:t>
            </a:r>
          </a:p>
        </p:txBody>
      </p:sp>
      <p:sp>
        <p:nvSpPr>
          <p:cNvPr id="44" name="TextBox 43"/>
          <p:cNvSpPr txBox="1"/>
          <p:nvPr/>
        </p:nvSpPr>
        <p:spPr>
          <a:xfrm>
            <a:off x="3063239" y="5440680"/>
            <a:ext cx="5120640" cy="347472"/>
          </a:xfrm>
          <a:prstGeom prst="rect">
            <a:avLst/>
          </a:prstGeom>
          <a:noFill/>
        </p:spPr>
        <p:txBody>
          <a:bodyPr wrap="square" lIns="0" rIns="0" tIns="0" bIns="0" anchor="ctr">
            <a:spAutoFit/>
          </a:bodyPr>
          <a:lstStyle/>
          <a:p>
            <a:pPr algn="l"/>
            <a:r>
              <a:rPr sz="1200" b="0" i="0">
                <a:solidFill>
                  <a:srgbClr val="1B2A41"/>
                </a:solidFill>
                <a:latin typeface="Arial"/>
              </a:rPr>
              <a:t>Ước lượng tín hiệu ẩn; filter dùng quá khứ, smoother dùng cả chuỗi</a:t>
            </a:r>
          </a:p>
        </p:txBody>
      </p:sp>
      <p:sp>
        <p:nvSpPr>
          <p:cNvPr id="45" name="TextBox 44"/>
          <p:cNvSpPr txBox="1"/>
          <p:nvPr/>
        </p:nvSpPr>
        <p:spPr>
          <a:xfrm>
            <a:off x="8458200" y="5440680"/>
            <a:ext cx="3044952" cy="347472"/>
          </a:xfrm>
          <a:prstGeom prst="rect">
            <a:avLst/>
          </a:prstGeom>
          <a:noFill/>
        </p:spPr>
        <p:txBody>
          <a:bodyPr wrap="square" lIns="0" rIns="0" tIns="0" bIns="0" anchor="ctr">
            <a:spAutoFit/>
          </a:bodyPr>
          <a:lstStyle/>
          <a:p>
            <a:pPr algn="l"/>
            <a:r>
              <a:rPr sz="1200" b="0" i="0">
                <a:solidFill>
                  <a:srgbClr val="5B6778"/>
                </a:solidFill>
                <a:latin typeface="Arial"/>
              </a:rPr>
              <a:t>Smoother không nhân quả</a:t>
            </a:r>
          </a:p>
        </p:txBody>
      </p:sp>
      <p:sp>
        <p:nvSpPr>
          <p:cNvPr id="46" name="TextBox 45"/>
          <p:cNvSpPr txBox="1"/>
          <p:nvPr/>
        </p:nvSpPr>
        <p:spPr>
          <a:xfrm>
            <a:off x="685799" y="5824728"/>
            <a:ext cx="2103120" cy="347472"/>
          </a:xfrm>
          <a:prstGeom prst="rect">
            <a:avLst/>
          </a:prstGeom>
          <a:noFill/>
        </p:spPr>
        <p:txBody>
          <a:bodyPr wrap="square" lIns="0" rIns="0" tIns="0" bIns="0" anchor="ctr">
            <a:spAutoFit/>
          </a:bodyPr>
          <a:lstStyle/>
          <a:p>
            <a:pPr algn="l"/>
            <a:r>
              <a:rPr sz="1200" b="1" i="0">
                <a:solidFill>
                  <a:srgbClr val="1B2A41"/>
                </a:solidFill>
                <a:latin typeface="Arial"/>
              </a:rPr>
              <a:t>sosfilt / sosfiltfilt</a:t>
            </a:r>
          </a:p>
        </p:txBody>
      </p:sp>
      <p:sp>
        <p:nvSpPr>
          <p:cNvPr id="47" name="TextBox 46"/>
          <p:cNvSpPr txBox="1"/>
          <p:nvPr/>
        </p:nvSpPr>
        <p:spPr>
          <a:xfrm>
            <a:off x="3063239" y="5824728"/>
            <a:ext cx="5120640" cy="347472"/>
          </a:xfrm>
          <a:prstGeom prst="rect">
            <a:avLst/>
          </a:prstGeom>
          <a:noFill/>
        </p:spPr>
        <p:txBody>
          <a:bodyPr wrap="square" lIns="0" rIns="0" tIns="0" bIns="0" anchor="ctr">
            <a:spAutoFit/>
          </a:bodyPr>
          <a:lstStyle/>
          <a:p>
            <a:pPr algn="l"/>
            <a:r>
              <a:rPr sz="1200" b="0" i="0">
                <a:solidFill>
                  <a:srgbClr val="1B2A41"/>
                </a:solidFill>
                <a:latin typeface="Arial"/>
              </a:rPr>
              <a:t>Chạy bộ lọc xuôi thời gian / xuôi rồi ngược</a:t>
            </a:r>
          </a:p>
        </p:txBody>
      </p:sp>
      <p:sp>
        <p:nvSpPr>
          <p:cNvPr id="48" name="TextBox 47"/>
          <p:cNvSpPr txBox="1"/>
          <p:nvPr/>
        </p:nvSpPr>
        <p:spPr>
          <a:xfrm>
            <a:off x="8458200" y="5824728"/>
            <a:ext cx="3044952" cy="347472"/>
          </a:xfrm>
          <a:prstGeom prst="rect">
            <a:avLst/>
          </a:prstGeom>
          <a:noFill/>
        </p:spPr>
        <p:txBody>
          <a:bodyPr wrap="square" lIns="0" rIns="0" tIns="0" bIns="0" anchor="ctr">
            <a:spAutoFit/>
          </a:bodyPr>
          <a:lstStyle/>
          <a:p>
            <a:pPr algn="l"/>
            <a:r>
              <a:rPr sz="1200" b="0" i="0">
                <a:solidFill>
                  <a:srgbClr val="5B6778"/>
                </a:solidFill>
                <a:latin typeface="Arial"/>
              </a:rPr>
              <a:t>sosfiltfilt nhìn tương lai</a:t>
            </a:r>
          </a:p>
        </p:txBody>
      </p:sp>
      <p:sp>
        <p:nvSpPr>
          <p:cNvPr id="49" name="Rounded Rectangle 48"/>
          <p:cNvSpPr/>
          <p:nvPr/>
        </p:nvSpPr>
        <p:spPr>
          <a:xfrm>
            <a:off x="548639" y="6208776"/>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5799" y="6208776"/>
            <a:ext cx="2103120" cy="347472"/>
          </a:xfrm>
          <a:prstGeom prst="rect">
            <a:avLst/>
          </a:prstGeom>
          <a:noFill/>
        </p:spPr>
        <p:txBody>
          <a:bodyPr wrap="square" lIns="0" rIns="0" tIns="0" bIns="0" anchor="ctr">
            <a:spAutoFit/>
          </a:bodyPr>
          <a:lstStyle/>
          <a:p>
            <a:pPr algn="l"/>
            <a:r>
              <a:rPr sz="1200" b="1" i="0">
                <a:solidFill>
                  <a:srgbClr val="1B2A41"/>
                </a:solidFill>
                <a:latin typeface="Arial"/>
              </a:rPr>
              <a:t>tín hiệu / nhiễu</a:t>
            </a:r>
          </a:p>
        </p:txBody>
      </p:sp>
      <p:sp>
        <p:nvSpPr>
          <p:cNvPr id="51" name="TextBox 50"/>
          <p:cNvSpPr txBox="1"/>
          <p:nvPr/>
        </p:nvSpPr>
        <p:spPr>
          <a:xfrm>
            <a:off x="3063239" y="6208776"/>
            <a:ext cx="5120640" cy="347472"/>
          </a:xfrm>
          <a:prstGeom prst="rect">
            <a:avLst/>
          </a:prstGeom>
          <a:noFill/>
        </p:spPr>
        <p:txBody>
          <a:bodyPr wrap="square" lIns="0" rIns="0" tIns="0" bIns="0" anchor="ctr">
            <a:spAutoFit/>
          </a:bodyPr>
          <a:lstStyle/>
          <a:p>
            <a:pPr algn="l"/>
            <a:r>
              <a:rPr sz="1200" b="0" i="0">
                <a:solidFill>
                  <a:srgbClr val="1B2A41"/>
                </a:solidFill>
                <a:latin typeface="Arial"/>
              </a:rPr>
              <a:t>Phần có quy luật cần giữ / phần ngẫu nhiên</a:t>
            </a:r>
          </a:p>
        </p:txBody>
      </p:sp>
      <p:sp>
        <p:nvSpPr>
          <p:cNvPr id="52" name="TextBox 51"/>
          <p:cNvSpPr txBox="1"/>
          <p:nvPr/>
        </p:nvSpPr>
        <p:spPr>
          <a:xfrm>
            <a:off x="8458200" y="6208776"/>
            <a:ext cx="3044952" cy="347472"/>
          </a:xfrm>
          <a:prstGeom prst="rect">
            <a:avLst/>
          </a:prstGeom>
          <a:noFill/>
        </p:spPr>
        <p:txBody>
          <a:bodyPr wrap="square" lIns="0" rIns="0" tIns="0" bIns="0" anchor="ctr">
            <a:spAutoFit/>
          </a:bodyPr>
          <a:lstStyle/>
          <a:p>
            <a:pPr algn="l"/>
            <a:r>
              <a:rPr sz="1200" b="0" i="0">
                <a:solidFill>
                  <a:srgbClr val="5B6778"/>
                </a:solidFill>
                <a:latin typeface="Arial"/>
              </a:rPr>
              <a:t>Nhịp ngày / bật tắt ấm đun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10332720" cy="731520"/>
          </a:xfrm>
          <a:prstGeom prst="rect">
            <a:avLst/>
          </a:prstGeom>
          <a:noFill/>
        </p:spPr>
        <p:txBody>
          <a:bodyPr wrap="square" lIns="0" rIns="0" tIns="0" bIns="0" anchor="ctr">
            <a:spAutoFit/>
          </a:bodyPr>
          <a:lstStyle/>
          <a:p>
            <a:pPr algn="l"/>
            <a:r>
              <a:rPr sz="3000" b="1" i="0">
                <a:solidFill>
                  <a:srgbClr val="1B2A41"/>
                </a:solidFill>
                <a:latin typeface="Arial"/>
              </a:rPr>
              <a:t>Từ nền 5/5: làm sạch, feature, đánh giá</a:t>
            </a:r>
          </a:p>
        </p:txBody>
      </p:sp>
      <p:sp>
        <p:nvSpPr>
          <p:cNvPr id="4" name="TextBox 3"/>
          <p:cNvSpPr txBox="1"/>
          <p:nvPr/>
        </p:nvSpPr>
        <p:spPr>
          <a:xfrm>
            <a:off x="685800" y="1188720"/>
            <a:ext cx="2103120" cy="365760"/>
          </a:xfrm>
          <a:prstGeom prst="rect">
            <a:avLst/>
          </a:prstGeom>
          <a:noFill/>
        </p:spPr>
        <p:txBody>
          <a:bodyPr wrap="square" lIns="0" rIns="0" tIns="0" bIns="0" anchor="t">
            <a:spAutoFit/>
          </a:bodyPr>
          <a:lstStyle/>
          <a:p>
            <a:pPr algn="l"/>
            <a:r>
              <a:rPr sz="1100" b="1" i="0">
                <a:solidFill>
                  <a:srgbClr val="0F8B8D"/>
                </a:solidFill>
                <a:latin typeface="Arial"/>
              </a:rPr>
              <a:t>TỪ</a:t>
            </a:r>
          </a:p>
        </p:txBody>
      </p:sp>
      <p:sp>
        <p:nvSpPr>
          <p:cNvPr id="5" name="TextBox 4"/>
          <p:cNvSpPr txBox="1"/>
          <p:nvPr/>
        </p:nvSpPr>
        <p:spPr>
          <a:xfrm>
            <a:off x="3063240" y="1188720"/>
            <a:ext cx="5120640" cy="365760"/>
          </a:xfrm>
          <a:prstGeom prst="rect">
            <a:avLst/>
          </a:prstGeom>
          <a:noFill/>
        </p:spPr>
        <p:txBody>
          <a:bodyPr wrap="square" lIns="0" rIns="0" tIns="0" bIns="0" anchor="t">
            <a:spAutoFit/>
          </a:bodyPr>
          <a:lstStyle/>
          <a:p>
            <a:pPr algn="l"/>
            <a:r>
              <a:rPr sz="1100" b="1" i="0">
                <a:solidFill>
                  <a:srgbClr val="5B6778"/>
                </a:solidFill>
                <a:latin typeface="Arial"/>
              </a:rPr>
              <a:t>LÀ GÌ</a:t>
            </a:r>
          </a:p>
        </p:txBody>
      </p:sp>
      <p:sp>
        <p:nvSpPr>
          <p:cNvPr id="6" name="TextBox 5"/>
          <p:cNvSpPr txBox="1"/>
          <p:nvPr/>
        </p:nvSpPr>
        <p:spPr>
          <a:xfrm>
            <a:off x="8458200" y="1188720"/>
            <a:ext cx="3044952" cy="365760"/>
          </a:xfrm>
          <a:prstGeom prst="rect">
            <a:avLst/>
          </a:prstGeom>
          <a:noFill/>
        </p:spPr>
        <p:txBody>
          <a:bodyPr wrap="square" lIns="0" rIns="0" tIns="0" bIns="0" anchor="t">
            <a:spAutoFit/>
          </a:bodyPr>
          <a:lstStyle/>
          <a:p>
            <a:pPr algn="l"/>
            <a:r>
              <a:rPr sz="1100" b="1" i="0">
                <a:solidFill>
                  <a:srgbClr val="5B6778"/>
                </a:solidFill>
                <a:latin typeface="Arial"/>
              </a:rPr>
              <a:t>VÍ DỤ</a:t>
            </a:r>
          </a:p>
        </p:txBody>
      </p:sp>
      <p:sp>
        <p:nvSpPr>
          <p:cNvPr id="7" name="Rounded Rectangle 6"/>
          <p:cNvSpPr/>
          <p:nvPr/>
        </p:nvSpPr>
        <p:spPr>
          <a:xfrm>
            <a:off x="548639" y="1600200"/>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799" y="1600200"/>
            <a:ext cx="2103120" cy="347472"/>
          </a:xfrm>
          <a:prstGeom prst="rect">
            <a:avLst/>
          </a:prstGeom>
          <a:noFill/>
        </p:spPr>
        <p:txBody>
          <a:bodyPr wrap="square" lIns="0" rIns="0" tIns="0" bIns="0" anchor="ctr">
            <a:spAutoFit/>
          </a:bodyPr>
          <a:lstStyle/>
          <a:p>
            <a:pPr algn="l"/>
            <a:r>
              <a:rPr sz="1200" b="1" i="0">
                <a:solidFill>
                  <a:srgbClr val="1B2A41"/>
                </a:solidFill>
                <a:latin typeface="Arial"/>
              </a:rPr>
              <a:t>ép kiểu số</a:t>
            </a:r>
          </a:p>
        </p:txBody>
      </p:sp>
      <p:sp>
        <p:nvSpPr>
          <p:cNvPr id="9" name="TextBox 8"/>
          <p:cNvSpPr txBox="1"/>
          <p:nvPr/>
        </p:nvSpPr>
        <p:spPr>
          <a:xfrm>
            <a:off x="3063239" y="1600200"/>
            <a:ext cx="5120640" cy="347472"/>
          </a:xfrm>
          <a:prstGeom prst="rect">
            <a:avLst/>
          </a:prstGeom>
          <a:noFill/>
        </p:spPr>
        <p:txBody>
          <a:bodyPr wrap="square" lIns="0" rIns="0" tIns="0" bIns="0" anchor="ctr">
            <a:spAutoFit/>
          </a:bodyPr>
          <a:lstStyle/>
          <a:p>
            <a:pPr algn="l"/>
            <a:r>
              <a:rPr sz="1200" b="0" i="0">
                <a:solidFill>
                  <a:srgbClr val="1B2A41"/>
                </a:solidFill>
                <a:latin typeface="Arial"/>
              </a:rPr>
              <a:t>Đổi cột đọc thành chữ về số (to_numeric)</a:t>
            </a:r>
          </a:p>
        </p:txBody>
      </p:sp>
      <p:sp>
        <p:nvSpPr>
          <p:cNvPr id="10" name="TextBox 9"/>
          <p:cNvSpPr txBox="1"/>
          <p:nvPr/>
        </p:nvSpPr>
        <p:spPr>
          <a:xfrm>
            <a:off x="8458200" y="1600200"/>
            <a:ext cx="3044952" cy="347472"/>
          </a:xfrm>
          <a:prstGeom prst="rect">
            <a:avLst/>
          </a:prstGeom>
          <a:noFill/>
        </p:spPr>
        <p:txBody>
          <a:bodyPr wrap="square" lIns="0" rIns="0" tIns="0" bIns="0" anchor="ctr">
            <a:spAutoFit/>
          </a:bodyPr>
          <a:lstStyle/>
          <a:p>
            <a:pPr algn="l"/>
            <a:r>
              <a:rPr sz="1200" b="0" i="0">
                <a:solidFill>
                  <a:srgbClr val="5B6778"/>
                </a:solidFill>
                <a:latin typeface="Arial"/>
              </a:rPr>
              <a:t>“12,5” → 12.5; “(S)” → NaN</a:t>
            </a:r>
          </a:p>
        </p:txBody>
      </p:sp>
      <p:sp>
        <p:nvSpPr>
          <p:cNvPr id="11" name="TextBox 10"/>
          <p:cNvSpPr txBox="1"/>
          <p:nvPr/>
        </p:nvSpPr>
        <p:spPr>
          <a:xfrm>
            <a:off x="685799" y="1984248"/>
            <a:ext cx="2103120" cy="347472"/>
          </a:xfrm>
          <a:prstGeom prst="rect">
            <a:avLst/>
          </a:prstGeom>
          <a:noFill/>
        </p:spPr>
        <p:txBody>
          <a:bodyPr wrap="square" lIns="0" rIns="0" tIns="0" bIns="0" anchor="ctr">
            <a:spAutoFit/>
          </a:bodyPr>
          <a:lstStyle/>
          <a:p>
            <a:pPr algn="l"/>
            <a:r>
              <a:rPr sz="1200" b="1" i="0">
                <a:solidFill>
                  <a:srgbClr val="1B2A41"/>
                </a:solidFill>
                <a:latin typeface="Arial"/>
              </a:rPr>
              <a:t>nội suy tuyến tính, ffill</a:t>
            </a:r>
          </a:p>
        </p:txBody>
      </p:sp>
      <p:sp>
        <p:nvSpPr>
          <p:cNvPr id="12" name="TextBox 11"/>
          <p:cNvSpPr txBox="1"/>
          <p:nvPr/>
        </p:nvSpPr>
        <p:spPr>
          <a:xfrm>
            <a:off x="3063239" y="1984248"/>
            <a:ext cx="5120640" cy="347472"/>
          </a:xfrm>
          <a:prstGeom prst="rect">
            <a:avLst/>
          </a:prstGeom>
          <a:noFill/>
        </p:spPr>
        <p:txBody>
          <a:bodyPr wrap="square" lIns="0" rIns="0" tIns="0" bIns="0" anchor="ctr">
            <a:spAutoFit/>
          </a:bodyPr>
          <a:lstStyle/>
          <a:p>
            <a:pPr algn="l"/>
            <a:r>
              <a:rPr sz="1200" b="0" i="0">
                <a:solidFill>
                  <a:srgbClr val="1B2A41"/>
                </a:solidFill>
                <a:latin typeface="Arial"/>
              </a:rPr>
              <a:t>Nối thẳng hai điểm hai bên lỗ / chép giá trị trước đó</a:t>
            </a:r>
          </a:p>
        </p:txBody>
      </p:sp>
      <p:sp>
        <p:nvSpPr>
          <p:cNvPr id="13" name="TextBox 12"/>
          <p:cNvSpPr txBox="1"/>
          <p:nvPr/>
        </p:nvSpPr>
        <p:spPr>
          <a:xfrm>
            <a:off x="8458200" y="1984248"/>
            <a:ext cx="3044952" cy="347472"/>
          </a:xfrm>
          <a:prstGeom prst="rect">
            <a:avLst/>
          </a:prstGeom>
          <a:noFill/>
        </p:spPr>
        <p:txBody>
          <a:bodyPr wrap="square" lIns="0" rIns="0" tIns="0" bIns="0" anchor="ctr">
            <a:spAutoFit/>
          </a:bodyPr>
          <a:lstStyle/>
          <a:p>
            <a:pPr algn="l"/>
            <a:r>
              <a:rPr sz="1200" b="0" i="0">
                <a:solidFill>
                  <a:srgbClr val="5B6778"/>
                </a:solidFill>
                <a:latin typeface="Arial"/>
              </a:rPr>
              <a:t>10, ?, 14 → 12 / 10</a:t>
            </a:r>
          </a:p>
        </p:txBody>
      </p:sp>
      <p:sp>
        <p:nvSpPr>
          <p:cNvPr id="14" name="Rounded Rectangle 13"/>
          <p:cNvSpPr/>
          <p:nvPr/>
        </p:nvSpPr>
        <p:spPr>
          <a:xfrm>
            <a:off x="548639" y="2368296"/>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799" y="2368296"/>
            <a:ext cx="2103120" cy="347472"/>
          </a:xfrm>
          <a:prstGeom prst="rect">
            <a:avLst/>
          </a:prstGeom>
          <a:noFill/>
        </p:spPr>
        <p:txBody>
          <a:bodyPr wrap="square" lIns="0" rIns="0" tIns="0" bIns="0" anchor="ctr">
            <a:spAutoFit/>
          </a:bodyPr>
          <a:lstStyle/>
          <a:p>
            <a:pPr algn="l"/>
            <a:r>
              <a:rPr sz="1200" b="1" i="0">
                <a:solidFill>
                  <a:srgbClr val="1B2A41"/>
                </a:solidFill>
                <a:latin typeface="Arial"/>
              </a:rPr>
              <a:t>cờ chất lượng</a:t>
            </a:r>
          </a:p>
        </p:txBody>
      </p:sp>
      <p:sp>
        <p:nvSpPr>
          <p:cNvPr id="16" name="TextBox 15"/>
          <p:cNvSpPr txBox="1"/>
          <p:nvPr/>
        </p:nvSpPr>
        <p:spPr>
          <a:xfrm>
            <a:off x="3063239" y="2368296"/>
            <a:ext cx="5120640" cy="347472"/>
          </a:xfrm>
          <a:prstGeom prst="rect">
            <a:avLst/>
          </a:prstGeom>
          <a:noFill/>
        </p:spPr>
        <p:txBody>
          <a:bodyPr wrap="square" lIns="0" rIns="0" tIns="0" bIns="0" anchor="ctr">
            <a:spAutoFit/>
          </a:bodyPr>
          <a:lstStyle/>
          <a:p>
            <a:pPr algn="l"/>
            <a:r>
              <a:rPr sz="1200" b="0" i="0">
                <a:solidFill>
                  <a:srgbClr val="1B2A41"/>
                </a:solidFill>
                <a:latin typeface="Arial"/>
              </a:rPr>
              <a:t>Mã nguồn gắn kèm số đo: qua kiểm tra hay đáng ngờ</a:t>
            </a:r>
          </a:p>
        </p:txBody>
      </p:sp>
      <p:sp>
        <p:nvSpPr>
          <p:cNvPr id="17" name="TextBox 16"/>
          <p:cNvSpPr txBox="1"/>
          <p:nvPr/>
        </p:nvSpPr>
        <p:spPr>
          <a:xfrm>
            <a:off x="8458200" y="2368296"/>
            <a:ext cx="3044952" cy="347472"/>
          </a:xfrm>
          <a:prstGeom prst="rect">
            <a:avLst/>
          </a:prstGeom>
          <a:noFill/>
        </p:spPr>
        <p:txBody>
          <a:bodyPr wrap="square" lIns="0" rIns="0" tIns="0" bIns="0" anchor="ctr">
            <a:spAutoFit/>
          </a:bodyPr>
          <a:lstStyle/>
          <a:p>
            <a:pPr algn="l"/>
            <a:r>
              <a:rPr sz="1200" b="0" i="0">
                <a:solidFill>
                  <a:srgbClr val="5B6778"/>
                </a:solidFill>
                <a:latin typeface="Arial"/>
              </a:rPr>
              <a:t>GHCNh: mã 2 = đáng ngờ</a:t>
            </a:r>
          </a:p>
        </p:txBody>
      </p:sp>
      <p:sp>
        <p:nvSpPr>
          <p:cNvPr id="18" name="TextBox 17"/>
          <p:cNvSpPr txBox="1"/>
          <p:nvPr/>
        </p:nvSpPr>
        <p:spPr>
          <a:xfrm>
            <a:off x="685799" y="2752344"/>
            <a:ext cx="2103120" cy="347472"/>
          </a:xfrm>
          <a:prstGeom prst="rect">
            <a:avLst/>
          </a:prstGeom>
          <a:noFill/>
        </p:spPr>
        <p:txBody>
          <a:bodyPr wrap="square" lIns="0" rIns="0" tIns="0" bIns="0" anchor="ctr">
            <a:spAutoFit/>
          </a:bodyPr>
          <a:lstStyle/>
          <a:p>
            <a:pPr algn="l"/>
            <a:r>
              <a:rPr sz="1200" b="1" i="0">
                <a:solidFill>
                  <a:srgbClr val="1B2A41"/>
                </a:solidFill>
                <a:latin typeface="Arial"/>
              </a:rPr>
              <a:t>độ phân giải</a:t>
            </a:r>
          </a:p>
        </p:txBody>
      </p:sp>
      <p:sp>
        <p:nvSpPr>
          <p:cNvPr id="19" name="TextBox 18"/>
          <p:cNvSpPr txBox="1"/>
          <p:nvPr/>
        </p:nvSpPr>
        <p:spPr>
          <a:xfrm>
            <a:off x="3063239" y="2752344"/>
            <a:ext cx="5120640" cy="347472"/>
          </a:xfrm>
          <a:prstGeom prst="rect">
            <a:avLst/>
          </a:prstGeom>
          <a:noFill/>
        </p:spPr>
        <p:txBody>
          <a:bodyPr wrap="square" lIns="0" rIns="0" tIns="0" bIns="0" anchor="ctr">
            <a:spAutoFit/>
          </a:bodyPr>
          <a:lstStyle/>
          <a:p>
            <a:pPr algn="l"/>
            <a:r>
              <a:rPr sz="1200" b="0" i="0">
                <a:solidFill>
                  <a:srgbClr val="1B2A41"/>
                </a:solidFill>
                <a:latin typeface="Arial"/>
              </a:rPr>
              <a:t>Bước nhỏ nhất giữa hai giá trị cảm biến ghi được</a:t>
            </a:r>
          </a:p>
        </p:txBody>
      </p:sp>
      <p:sp>
        <p:nvSpPr>
          <p:cNvPr id="20" name="TextBox 19"/>
          <p:cNvSpPr txBox="1"/>
          <p:nvPr/>
        </p:nvSpPr>
        <p:spPr>
          <a:xfrm>
            <a:off x="8458200" y="2752344"/>
            <a:ext cx="3044952" cy="347472"/>
          </a:xfrm>
          <a:prstGeom prst="rect">
            <a:avLst/>
          </a:prstGeom>
          <a:noFill/>
        </p:spPr>
        <p:txBody>
          <a:bodyPr wrap="square" lIns="0" rIns="0" tIns="0" bIns="0" anchor="ctr">
            <a:spAutoFit/>
          </a:bodyPr>
          <a:lstStyle/>
          <a:p>
            <a:pPr algn="l"/>
            <a:r>
              <a:rPr sz="1200" b="0" i="0">
                <a:solidFill>
                  <a:srgbClr val="5B6778"/>
                </a:solidFill>
                <a:latin typeface="Arial"/>
              </a:rPr>
              <a:t>Nhiệt độ số nguyên: 1 °C</a:t>
            </a:r>
          </a:p>
        </p:txBody>
      </p:sp>
      <p:sp>
        <p:nvSpPr>
          <p:cNvPr id="21" name="Rounded Rectangle 20"/>
          <p:cNvSpPr/>
          <p:nvPr/>
        </p:nvSpPr>
        <p:spPr>
          <a:xfrm>
            <a:off x="548639" y="3136391"/>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799" y="3136391"/>
            <a:ext cx="2103120" cy="347472"/>
          </a:xfrm>
          <a:prstGeom prst="rect">
            <a:avLst/>
          </a:prstGeom>
          <a:noFill/>
        </p:spPr>
        <p:txBody>
          <a:bodyPr wrap="square" lIns="0" rIns="0" tIns="0" bIns="0" anchor="ctr">
            <a:spAutoFit/>
          </a:bodyPr>
          <a:lstStyle/>
          <a:p>
            <a:pPr algn="l"/>
            <a:r>
              <a:rPr sz="1200" b="1" i="0">
                <a:solidFill>
                  <a:srgbClr val="1B2A41"/>
                </a:solidFill>
                <a:latin typeface="Arial"/>
              </a:rPr>
              <a:t>cảm biến kẹt</a:t>
            </a:r>
          </a:p>
        </p:txBody>
      </p:sp>
      <p:sp>
        <p:nvSpPr>
          <p:cNvPr id="23" name="TextBox 22"/>
          <p:cNvSpPr txBox="1"/>
          <p:nvPr/>
        </p:nvSpPr>
        <p:spPr>
          <a:xfrm>
            <a:off x="3063239" y="3136391"/>
            <a:ext cx="5120640" cy="347472"/>
          </a:xfrm>
          <a:prstGeom prst="rect">
            <a:avLst/>
          </a:prstGeom>
          <a:noFill/>
        </p:spPr>
        <p:txBody>
          <a:bodyPr wrap="square" lIns="0" rIns="0" tIns="0" bIns="0" anchor="ctr">
            <a:spAutoFit/>
          </a:bodyPr>
          <a:lstStyle/>
          <a:p>
            <a:pPr algn="l"/>
            <a:r>
              <a:rPr sz="1200" b="0" i="0">
                <a:solidFill>
                  <a:srgbClr val="1B2A41"/>
                </a:solidFill>
                <a:latin typeface="Arial"/>
              </a:rPr>
              <a:t>Cảm biến ghi lặp một giá trị nhiều giờ liền</a:t>
            </a:r>
          </a:p>
        </p:txBody>
      </p:sp>
      <p:sp>
        <p:nvSpPr>
          <p:cNvPr id="24" name="TextBox 23"/>
          <p:cNvSpPr txBox="1"/>
          <p:nvPr/>
        </p:nvSpPr>
        <p:spPr>
          <a:xfrm>
            <a:off x="8458200" y="3136391"/>
            <a:ext cx="3044952" cy="347472"/>
          </a:xfrm>
          <a:prstGeom prst="rect">
            <a:avLst/>
          </a:prstGeom>
          <a:noFill/>
        </p:spPr>
        <p:txBody>
          <a:bodyPr wrap="square" lIns="0" rIns="0" tIns="0" bIns="0" anchor="ctr">
            <a:spAutoFit/>
          </a:bodyPr>
          <a:lstStyle/>
          <a:p>
            <a:pPr algn="l"/>
            <a:r>
              <a:rPr sz="1200" b="0" i="0">
                <a:solidFill>
                  <a:srgbClr val="5B6778"/>
                </a:solidFill>
                <a:latin typeface="Arial"/>
              </a:rPr>
              <a:t>26,0 suốt 33 giờ</a:t>
            </a:r>
          </a:p>
        </p:txBody>
      </p:sp>
      <p:sp>
        <p:nvSpPr>
          <p:cNvPr id="25" name="TextBox 24"/>
          <p:cNvSpPr txBox="1"/>
          <p:nvPr/>
        </p:nvSpPr>
        <p:spPr>
          <a:xfrm>
            <a:off x="685799" y="3520440"/>
            <a:ext cx="2103120" cy="347472"/>
          </a:xfrm>
          <a:prstGeom prst="rect">
            <a:avLst/>
          </a:prstGeom>
          <a:noFill/>
        </p:spPr>
        <p:txBody>
          <a:bodyPr wrap="square" lIns="0" rIns="0" tIns="0" bIns="0" anchor="ctr">
            <a:spAutoFit/>
          </a:bodyPr>
          <a:lstStyle/>
          <a:p>
            <a:pPr algn="l"/>
            <a:r>
              <a:rPr sz="1200" b="1" i="0">
                <a:solidFill>
                  <a:srgbClr val="1B2A41"/>
                </a:solidFill>
                <a:latin typeface="Arial"/>
              </a:rPr>
              <a:t>scaler</a:t>
            </a:r>
          </a:p>
        </p:txBody>
      </p:sp>
      <p:sp>
        <p:nvSpPr>
          <p:cNvPr id="26" name="TextBox 25"/>
          <p:cNvSpPr txBox="1"/>
          <p:nvPr/>
        </p:nvSpPr>
        <p:spPr>
          <a:xfrm>
            <a:off x="3063239" y="3520440"/>
            <a:ext cx="5120640" cy="347472"/>
          </a:xfrm>
          <a:prstGeom prst="rect">
            <a:avLst/>
          </a:prstGeom>
          <a:noFill/>
        </p:spPr>
        <p:txBody>
          <a:bodyPr wrap="square" lIns="0" rIns="0" tIns="0" bIns="0" anchor="ctr">
            <a:spAutoFit/>
          </a:bodyPr>
          <a:lstStyle/>
          <a:p>
            <a:pPr algn="l"/>
            <a:r>
              <a:rPr sz="1200" b="0" i="0">
                <a:solidFill>
                  <a:srgbClr val="1B2A41"/>
                </a:solidFill>
                <a:latin typeface="Arial"/>
              </a:rPr>
              <a:t>Trừ trung bình, chia độ lệch chuẩn cho từng cột (StandardScaler)</a:t>
            </a:r>
          </a:p>
        </p:txBody>
      </p:sp>
      <p:sp>
        <p:nvSpPr>
          <p:cNvPr id="27" name="TextBox 26"/>
          <p:cNvSpPr txBox="1"/>
          <p:nvPr/>
        </p:nvSpPr>
        <p:spPr>
          <a:xfrm>
            <a:off x="8458200" y="3520440"/>
            <a:ext cx="3044952" cy="347472"/>
          </a:xfrm>
          <a:prstGeom prst="rect">
            <a:avLst/>
          </a:prstGeom>
          <a:noFill/>
        </p:spPr>
        <p:txBody>
          <a:bodyPr wrap="square" lIns="0" rIns="0" tIns="0" bIns="0" anchor="ctr">
            <a:spAutoFit/>
          </a:bodyPr>
          <a:lstStyle/>
          <a:p>
            <a:pPr algn="l"/>
            <a:r>
              <a:rPr sz="1200" b="0" i="0">
                <a:solidFill>
                  <a:srgbClr val="5B6778"/>
                </a:solidFill>
                <a:latin typeface="Arial"/>
              </a:rPr>
              <a:t>Phải fit trên phần học</a:t>
            </a:r>
          </a:p>
        </p:txBody>
      </p:sp>
      <p:sp>
        <p:nvSpPr>
          <p:cNvPr id="28" name="Rounded Rectangle 27"/>
          <p:cNvSpPr/>
          <p:nvPr/>
        </p:nvSpPr>
        <p:spPr>
          <a:xfrm>
            <a:off x="548639" y="3904487"/>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799" y="3904487"/>
            <a:ext cx="2103120" cy="347472"/>
          </a:xfrm>
          <a:prstGeom prst="rect">
            <a:avLst/>
          </a:prstGeom>
          <a:noFill/>
        </p:spPr>
        <p:txBody>
          <a:bodyPr wrap="square" lIns="0" rIns="0" tIns="0" bIns="0" anchor="ctr">
            <a:spAutoFit/>
          </a:bodyPr>
          <a:lstStyle/>
          <a:p>
            <a:pPr algn="l"/>
            <a:r>
              <a:rPr sz="1200" b="1" i="0">
                <a:solidFill>
                  <a:srgbClr val="1B2A41"/>
                </a:solidFill>
                <a:latin typeface="Arial"/>
              </a:rPr>
              <a:t>target encoding</a:t>
            </a:r>
          </a:p>
        </p:txBody>
      </p:sp>
      <p:sp>
        <p:nvSpPr>
          <p:cNvPr id="30" name="TextBox 29"/>
          <p:cNvSpPr txBox="1"/>
          <p:nvPr/>
        </p:nvSpPr>
        <p:spPr>
          <a:xfrm>
            <a:off x="3063239" y="3904487"/>
            <a:ext cx="5120640" cy="347472"/>
          </a:xfrm>
          <a:prstGeom prst="rect">
            <a:avLst/>
          </a:prstGeom>
          <a:noFill/>
        </p:spPr>
        <p:txBody>
          <a:bodyPr wrap="square" lIns="0" rIns="0" tIns="0" bIns="0" anchor="ctr">
            <a:spAutoFit/>
          </a:bodyPr>
          <a:lstStyle/>
          <a:p>
            <a:pPr algn="l"/>
            <a:r>
              <a:rPr sz="1200" b="0" i="0">
                <a:solidFill>
                  <a:srgbClr val="1B2A41"/>
                </a:solidFill>
                <a:latin typeface="Arial"/>
              </a:rPr>
              <a:t>Thay một nhóm bằng trung bình mục tiêu của nhóm</a:t>
            </a:r>
          </a:p>
        </p:txBody>
      </p:sp>
      <p:sp>
        <p:nvSpPr>
          <p:cNvPr id="31" name="TextBox 30"/>
          <p:cNvSpPr txBox="1"/>
          <p:nvPr/>
        </p:nvSpPr>
        <p:spPr>
          <a:xfrm>
            <a:off x="8458200" y="3904487"/>
            <a:ext cx="3044952" cy="347472"/>
          </a:xfrm>
          <a:prstGeom prst="rect">
            <a:avLst/>
          </a:prstGeom>
          <a:noFill/>
        </p:spPr>
        <p:txBody>
          <a:bodyPr wrap="square" lIns="0" rIns="0" tIns="0" bIns="0" anchor="ctr">
            <a:spAutoFit/>
          </a:bodyPr>
          <a:lstStyle/>
          <a:p>
            <a:pPr algn="l"/>
            <a:r>
              <a:rPr sz="1200" b="0" i="0">
                <a:solidFill>
                  <a:srgbClr val="5B6778"/>
                </a:solidFill>
                <a:latin typeface="Arial"/>
              </a:rPr>
              <a:t>Thứ Bảy → doanh thu TB các thứ Bảy</a:t>
            </a:r>
          </a:p>
        </p:txBody>
      </p:sp>
      <p:sp>
        <p:nvSpPr>
          <p:cNvPr id="32" name="TextBox 31"/>
          <p:cNvSpPr txBox="1"/>
          <p:nvPr/>
        </p:nvSpPr>
        <p:spPr>
          <a:xfrm>
            <a:off x="685799" y="4288536"/>
            <a:ext cx="2103120" cy="347472"/>
          </a:xfrm>
          <a:prstGeom prst="rect">
            <a:avLst/>
          </a:prstGeom>
          <a:noFill/>
        </p:spPr>
        <p:txBody>
          <a:bodyPr wrap="square" lIns="0" rIns="0" tIns="0" bIns="0" anchor="ctr">
            <a:spAutoFit/>
          </a:bodyPr>
          <a:lstStyle/>
          <a:p>
            <a:pPr algn="l"/>
            <a:r>
              <a:rPr sz="1200" b="1" i="0">
                <a:solidFill>
                  <a:srgbClr val="1B2A41"/>
                </a:solidFill>
                <a:latin typeface="Arial"/>
              </a:rPr>
              <a:t>biến ngoại sinh</a:t>
            </a:r>
          </a:p>
        </p:txBody>
      </p:sp>
      <p:sp>
        <p:nvSpPr>
          <p:cNvPr id="33" name="TextBox 32"/>
          <p:cNvSpPr txBox="1"/>
          <p:nvPr/>
        </p:nvSpPr>
        <p:spPr>
          <a:xfrm>
            <a:off x="3063239" y="4288536"/>
            <a:ext cx="5120640" cy="347472"/>
          </a:xfrm>
          <a:prstGeom prst="rect">
            <a:avLst/>
          </a:prstGeom>
          <a:noFill/>
        </p:spPr>
        <p:txBody>
          <a:bodyPr wrap="square" lIns="0" rIns="0" tIns="0" bIns="0" anchor="ctr">
            <a:spAutoFit/>
          </a:bodyPr>
          <a:lstStyle/>
          <a:p>
            <a:pPr algn="l"/>
            <a:r>
              <a:rPr sz="1200" b="0" i="0">
                <a:solidFill>
                  <a:srgbClr val="1B2A41"/>
                </a:solidFill>
                <a:latin typeface="Arial"/>
              </a:rPr>
              <a:t>Biến ngoài chuỗi, dùng làm feature</a:t>
            </a:r>
          </a:p>
        </p:txBody>
      </p:sp>
      <p:sp>
        <p:nvSpPr>
          <p:cNvPr id="34" name="TextBox 33"/>
          <p:cNvSpPr txBox="1"/>
          <p:nvPr/>
        </p:nvSpPr>
        <p:spPr>
          <a:xfrm>
            <a:off x="8458200" y="4288536"/>
            <a:ext cx="3044952" cy="347472"/>
          </a:xfrm>
          <a:prstGeom prst="rect">
            <a:avLst/>
          </a:prstGeom>
          <a:noFill/>
        </p:spPr>
        <p:txBody>
          <a:bodyPr wrap="square" lIns="0" rIns="0" tIns="0" bIns="0" anchor="ctr">
            <a:spAutoFit/>
          </a:bodyPr>
          <a:lstStyle/>
          <a:p>
            <a:pPr algn="l"/>
            <a:r>
              <a:rPr sz="1200" b="0" i="0">
                <a:solidFill>
                  <a:srgbClr val="5B6778"/>
                </a:solidFill>
                <a:latin typeface="Arial"/>
              </a:rPr>
              <a:t>Nhiệt độ khi dự báo tải điện</a:t>
            </a:r>
          </a:p>
        </p:txBody>
      </p:sp>
      <p:sp>
        <p:nvSpPr>
          <p:cNvPr id="35" name="Rounded Rectangle 34"/>
          <p:cNvSpPr/>
          <p:nvPr/>
        </p:nvSpPr>
        <p:spPr>
          <a:xfrm>
            <a:off x="548639" y="4672583"/>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799" y="4672583"/>
            <a:ext cx="2103120" cy="347472"/>
          </a:xfrm>
          <a:prstGeom prst="rect">
            <a:avLst/>
          </a:prstGeom>
          <a:noFill/>
        </p:spPr>
        <p:txBody>
          <a:bodyPr wrap="square" lIns="0" rIns="0" tIns="0" bIns="0" anchor="ctr">
            <a:spAutoFit/>
          </a:bodyPr>
          <a:lstStyle/>
          <a:p>
            <a:pPr algn="l"/>
            <a:r>
              <a:rPr sz="1200" b="1" i="0">
                <a:solidFill>
                  <a:srgbClr val="1B2A41"/>
                </a:solidFill>
                <a:latin typeface="Arial"/>
              </a:rPr>
              <a:t>ex-ante / ex-post</a:t>
            </a:r>
          </a:p>
        </p:txBody>
      </p:sp>
      <p:sp>
        <p:nvSpPr>
          <p:cNvPr id="37" name="TextBox 36"/>
          <p:cNvSpPr txBox="1"/>
          <p:nvPr/>
        </p:nvSpPr>
        <p:spPr>
          <a:xfrm>
            <a:off x="3063239" y="4672583"/>
            <a:ext cx="5120640" cy="347472"/>
          </a:xfrm>
          <a:prstGeom prst="rect">
            <a:avLst/>
          </a:prstGeom>
          <a:noFill/>
        </p:spPr>
        <p:txBody>
          <a:bodyPr wrap="square" lIns="0" rIns="0" tIns="0" bIns="0" anchor="ctr">
            <a:spAutoFit/>
          </a:bodyPr>
          <a:lstStyle/>
          <a:p>
            <a:pPr algn="l"/>
            <a:r>
              <a:rPr sz="1200" b="0" i="0">
                <a:solidFill>
                  <a:srgbClr val="1B2A41"/>
                </a:solidFill>
                <a:latin typeface="Arial"/>
              </a:rPr>
              <a:t>Chỉ dùng thông tin có lúc dự báo / dùng cả số thật về sau</a:t>
            </a:r>
          </a:p>
        </p:txBody>
      </p:sp>
      <p:sp>
        <p:nvSpPr>
          <p:cNvPr id="38" name="TextBox 37"/>
          <p:cNvSpPr txBox="1"/>
          <p:nvPr/>
        </p:nvSpPr>
        <p:spPr>
          <a:xfrm>
            <a:off x="8458200" y="4672583"/>
            <a:ext cx="3044952" cy="347472"/>
          </a:xfrm>
          <a:prstGeom prst="rect">
            <a:avLst/>
          </a:prstGeom>
          <a:noFill/>
        </p:spPr>
        <p:txBody>
          <a:bodyPr wrap="square" lIns="0" rIns="0" tIns="0" bIns="0" anchor="ctr">
            <a:spAutoFit/>
          </a:bodyPr>
          <a:lstStyle/>
          <a:p>
            <a:pPr algn="l"/>
            <a:r>
              <a:rPr sz="1200" b="0" i="0">
                <a:solidFill>
                  <a:srgbClr val="5B6778"/>
                </a:solidFill>
                <a:latin typeface="Arial"/>
              </a:rPr>
              <a:t>Nhiệt độ dự báo / nhiệt độ đo</a:t>
            </a:r>
          </a:p>
        </p:txBody>
      </p:sp>
      <p:sp>
        <p:nvSpPr>
          <p:cNvPr id="39" name="TextBox 38"/>
          <p:cNvSpPr txBox="1"/>
          <p:nvPr/>
        </p:nvSpPr>
        <p:spPr>
          <a:xfrm>
            <a:off x="685799" y="5056631"/>
            <a:ext cx="2103120" cy="347472"/>
          </a:xfrm>
          <a:prstGeom prst="rect">
            <a:avLst/>
          </a:prstGeom>
          <a:noFill/>
        </p:spPr>
        <p:txBody>
          <a:bodyPr wrap="square" lIns="0" rIns="0" tIns="0" bIns="0" anchor="ctr">
            <a:spAutoFit/>
          </a:bodyPr>
          <a:lstStyle/>
          <a:p>
            <a:pPr algn="l"/>
            <a:r>
              <a:rPr sz="1200" b="1" i="0">
                <a:solidFill>
                  <a:srgbClr val="1B2A41"/>
                </a:solidFill>
                <a:latin typeface="Arial"/>
              </a:rPr>
              <a:t>point-in-time</a:t>
            </a:r>
          </a:p>
        </p:txBody>
      </p:sp>
      <p:sp>
        <p:nvSpPr>
          <p:cNvPr id="40" name="TextBox 39"/>
          <p:cNvSpPr txBox="1"/>
          <p:nvPr/>
        </p:nvSpPr>
        <p:spPr>
          <a:xfrm>
            <a:off x="3063239" y="5056631"/>
            <a:ext cx="5120640" cy="347472"/>
          </a:xfrm>
          <a:prstGeom prst="rect">
            <a:avLst/>
          </a:prstGeom>
          <a:noFill/>
        </p:spPr>
        <p:txBody>
          <a:bodyPr wrap="square" lIns="0" rIns="0" tIns="0" bIns="0" anchor="ctr">
            <a:spAutoFit/>
          </a:bodyPr>
          <a:lstStyle/>
          <a:p>
            <a:pPr algn="l"/>
            <a:r>
              <a:rPr sz="1200" b="0" i="0">
                <a:solidFill>
                  <a:srgbClr val="1B2A41"/>
                </a:solidFill>
                <a:latin typeface="Arial"/>
              </a:rPr>
              <a:t>Dùng số liệu đúng như lúc đó, không dùng bản đã sửa về sau</a:t>
            </a:r>
          </a:p>
        </p:txBody>
      </p:sp>
      <p:sp>
        <p:nvSpPr>
          <p:cNvPr id="41" name="TextBox 40"/>
          <p:cNvSpPr txBox="1"/>
          <p:nvPr/>
        </p:nvSpPr>
        <p:spPr>
          <a:xfrm>
            <a:off x="8458200" y="5056631"/>
            <a:ext cx="3044952" cy="347472"/>
          </a:xfrm>
          <a:prstGeom prst="rect">
            <a:avLst/>
          </a:prstGeom>
          <a:noFill/>
        </p:spPr>
        <p:txBody>
          <a:bodyPr wrap="square" lIns="0" rIns="0" tIns="0" bIns="0" anchor="ctr">
            <a:spAutoFit/>
          </a:bodyPr>
          <a:lstStyle/>
          <a:p>
            <a:pPr algn="l"/>
            <a:r>
              <a:rPr sz="1200" b="0" i="0">
                <a:solidFill>
                  <a:srgbClr val="5B6778"/>
                </a:solidFill>
                <a:latin typeface="Arial"/>
              </a:rPr>
              <a:t>GDP bản công bố đầu tiên</a:t>
            </a:r>
          </a:p>
        </p:txBody>
      </p:sp>
      <p:sp>
        <p:nvSpPr>
          <p:cNvPr id="42" name="Rounded Rectangle 41"/>
          <p:cNvSpPr/>
          <p:nvPr/>
        </p:nvSpPr>
        <p:spPr>
          <a:xfrm>
            <a:off x="548639" y="5440680"/>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5799" y="5440680"/>
            <a:ext cx="2103120" cy="347472"/>
          </a:xfrm>
          <a:prstGeom prst="rect">
            <a:avLst/>
          </a:prstGeom>
          <a:noFill/>
        </p:spPr>
        <p:txBody>
          <a:bodyPr wrap="square" lIns="0" rIns="0" tIns="0" bIns="0" anchor="ctr">
            <a:spAutoFit/>
          </a:bodyPr>
          <a:lstStyle/>
          <a:p>
            <a:pPr algn="l"/>
            <a:r>
              <a:rPr sz="1200" b="1" i="0">
                <a:solidFill>
                  <a:srgbClr val="1B2A41"/>
                </a:solidFill>
                <a:latin typeface="Arial"/>
              </a:rPr>
              <a:t>hold-out</a:t>
            </a:r>
          </a:p>
        </p:txBody>
      </p:sp>
      <p:sp>
        <p:nvSpPr>
          <p:cNvPr id="44" name="TextBox 43"/>
          <p:cNvSpPr txBox="1"/>
          <p:nvPr/>
        </p:nvSpPr>
        <p:spPr>
          <a:xfrm>
            <a:off x="3063239" y="5440680"/>
            <a:ext cx="5120640" cy="347472"/>
          </a:xfrm>
          <a:prstGeom prst="rect">
            <a:avLst/>
          </a:prstGeom>
          <a:noFill/>
        </p:spPr>
        <p:txBody>
          <a:bodyPr wrap="square" lIns="0" rIns="0" tIns="0" bIns="0" anchor="ctr">
            <a:spAutoFit/>
          </a:bodyPr>
          <a:lstStyle/>
          <a:p>
            <a:pPr algn="l"/>
            <a:r>
              <a:rPr sz="1200" b="0" i="0">
                <a:solidFill>
                  <a:srgbClr val="1B2A41"/>
                </a:solidFill>
                <a:latin typeface="Arial"/>
              </a:rPr>
              <a:t>Đoạn tương lai giữ riêng, chỉ chấm một lần</a:t>
            </a:r>
          </a:p>
        </p:txBody>
      </p:sp>
      <p:sp>
        <p:nvSpPr>
          <p:cNvPr id="45" name="TextBox 44"/>
          <p:cNvSpPr txBox="1"/>
          <p:nvPr/>
        </p:nvSpPr>
        <p:spPr>
          <a:xfrm>
            <a:off x="8458200" y="5440680"/>
            <a:ext cx="3044952" cy="347472"/>
          </a:xfrm>
          <a:prstGeom prst="rect">
            <a:avLst/>
          </a:prstGeom>
          <a:noFill/>
        </p:spPr>
        <p:txBody>
          <a:bodyPr wrap="square" lIns="0" rIns="0" tIns="0" bIns="0" anchor="ctr">
            <a:spAutoFit/>
          </a:bodyPr>
          <a:lstStyle/>
          <a:p>
            <a:pPr algn="l"/>
            <a:r>
              <a:rPr sz="1200" b="0" i="0">
                <a:solidFill>
                  <a:srgbClr val="5B6778"/>
                </a:solidFill>
                <a:latin typeface="Arial"/>
              </a:rPr>
              <a:t>Quý 4 năm 2024</a:t>
            </a:r>
          </a:p>
        </p:txBody>
      </p:sp>
      <p:sp>
        <p:nvSpPr>
          <p:cNvPr id="46" name="TextBox 45"/>
          <p:cNvSpPr txBox="1"/>
          <p:nvPr/>
        </p:nvSpPr>
        <p:spPr>
          <a:xfrm>
            <a:off x="685799" y="5824728"/>
            <a:ext cx="2103120" cy="347472"/>
          </a:xfrm>
          <a:prstGeom prst="rect">
            <a:avLst/>
          </a:prstGeom>
          <a:noFill/>
        </p:spPr>
        <p:txBody>
          <a:bodyPr wrap="square" lIns="0" rIns="0" tIns="0" bIns="0" anchor="ctr">
            <a:spAutoFit/>
          </a:bodyPr>
          <a:lstStyle/>
          <a:p>
            <a:pPr algn="l"/>
            <a:r>
              <a:rPr sz="1200" b="1" i="0">
                <a:solidFill>
                  <a:srgbClr val="1B2A41"/>
                </a:solidFill>
                <a:latin typeface="Arial"/>
              </a:rPr>
              <a:t>tune</a:t>
            </a:r>
          </a:p>
        </p:txBody>
      </p:sp>
      <p:sp>
        <p:nvSpPr>
          <p:cNvPr id="47" name="TextBox 46"/>
          <p:cNvSpPr txBox="1"/>
          <p:nvPr/>
        </p:nvSpPr>
        <p:spPr>
          <a:xfrm>
            <a:off x="3063239" y="5824728"/>
            <a:ext cx="5120640" cy="347472"/>
          </a:xfrm>
          <a:prstGeom prst="rect">
            <a:avLst/>
          </a:prstGeom>
          <a:noFill/>
        </p:spPr>
        <p:txBody>
          <a:bodyPr wrap="square" lIns="0" rIns="0" tIns="0" bIns="0" anchor="ctr">
            <a:spAutoFit/>
          </a:bodyPr>
          <a:lstStyle/>
          <a:p>
            <a:pPr algn="l"/>
            <a:r>
              <a:rPr sz="1200" b="0" i="0">
                <a:solidFill>
                  <a:srgbClr val="1B2A41"/>
                </a:solidFill>
                <a:latin typeface="Arial"/>
              </a:rPr>
              <a:t>Thử nhiều cách đặt tham số, giữ cách sai ít nhất</a:t>
            </a:r>
          </a:p>
        </p:txBody>
      </p:sp>
      <p:sp>
        <p:nvSpPr>
          <p:cNvPr id="48" name="TextBox 47"/>
          <p:cNvSpPr txBox="1"/>
          <p:nvPr/>
        </p:nvSpPr>
        <p:spPr>
          <a:xfrm>
            <a:off x="8458200" y="5824728"/>
            <a:ext cx="3044952" cy="347472"/>
          </a:xfrm>
          <a:prstGeom prst="rect">
            <a:avLst/>
          </a:prstGeom>
          <a:noFill/>
        </p:spPr>
        <p:txBody>
          <a:bodyPr wrap="square" lIns="0" rIns="0" tIns="0" bIns="0" anchor="ctr">
            <a:spAutoFit/>
          </a:bodyPr>
          <a:lstStyle/>
          <a:p>
            <a:pPr algn="l"/>
            <a:r>
              <a:rPr sz="1200" b="0" i="0">
                <a:solidFill>
                  <a:srgbClr val="5B6778"/>
                </a:solidFill>
                <a:latin typeface="Arial"/>
              </a:rPr>
              <a:t>Thử 11 giá trị w</a:t>
            </a:r>
          </a:p>
        </p:txBody>
      </p:sp>
      <p:sp>
        <p:nvSpPr>
          <p:cNvPr id="49" name="Rounded Rectangle 48"/>
          <p:cNvSpPr/>
          <p:nvPr/>
        </p:nvSpPr>
        <p:spPr>
          <a:xfrm>
            <a:off x="548639" y="6208776"/>
            <a:ext cx="11091672" cy="34747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85799" y="6208776"/>
            <a:ext cx="2103120" cy="347472"/>
          </a:xfrm>
          <a:prstGeom prst="rect">
            <a:avLst/>
          </a:prstGeom>
          <a:noFill/>
        </p:spPr>
        <p:txBody>
          <a:bodyPr wrap="square" lIns="0" rIns="0" tIns="0" bIns="0" anchor="ctr">
            <a:spAutoFit/>
          </a:bodyPr>
          <a:lstStyle/>
          <a:p>
            <a:pPr algn="l"/>
            <a:r>
              <a:rPr sz="1200" b="1" i="0">
                <a:solidFill>
                  <a:srgbClr val="1B2A41"/>
                </a:solidFill>
                <a:latin typeface="Arial"/>
              </a:rPr>
              <a:t>rừng ngẫu nhiên</a:t>
            </a:r>
          </a:p>
        </p:txBody>
      </p:sp>
      <p:sp>
        <p:nvSpPr>
          <p:cNvPr id="51" name="TextBox 50"/>
          <p:cNvSpPr txBox="1"/>
          <p:nvPr/>
        </p:nvSpPr>
        <p:spPr>
          <a:xfrm>
            <a:off x="3063239" y="6208776"/>
            <a:ext cx="5120640" cy="347472"/>
          </a:xfrm>
          <a:prstGeom prst="rect">
            <a:avLst/>
          </a:prstGeom>
          <a:noFill/>
        </p:spPr>
        <p:txBody>
          <a:bodyPr wrap="square" lIns="0" rIns="0" tIns="0" bIns="0" anchor="ctr">
            <a:spAutoFit/>
          </a:bodyPr>
          <a:lstStyle/>
          <a:p>
            <a:pPr algn="l"/>
            <a:r>
              <a:rPr sz="1200" b="0" i="0">
                <a:solidFill>
                  <a:srgbClr val="1B2A41"/>
                </a:solidFill>
                <a:latin typeface="Arial"/>
              </a:rPr>
              <a:t>Nhiều cây quy tắc “nếu… thì…”, lấy trung bình; rất giỏi nhớ</a:t>
            </a:r>
          </a:p>
        </p:txBody>
      </p:sp>
      <p:sp>
        <p:nvSpPr>
          <p:cNvPr id="52" name="TextBox 51"/>
          <p:cNvSpPr txBox="1"/>
          <p:nvPr/>
        </p:nvSpPr>
        <p:spPr>
          <a:xfrm>
            <a:off x="8458200" y="6208776"/>
            <a:ext cx="3044952" cy="347472"/>
          </a:xfrm>
          <a:prstGeom prst="rect">
            <a:avLst/>
          </a:prstGeom>
          <a:noFill/>
        </p:spPr>
        <p:txBody>
          <a:bodyPr wrap="square" lIns="0" rIns="0" tIns="0" bIns="0" anchor="ctr">
            <a:spAutoFit/>
          </a:bodyPr>
          <a:lstStyle/>
          <a:p>
            <a:pPr algn="l"/>
            <a:r>
              <a:rPr sz="1200" b="0" i="0">
                <a:solidFill>
                  <a:srgbClr val="5B6778"/>
                </a:solidFill>
                <a:latin typeface="Arial"/>
              </a:rPr>
              <a:t>200 cây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Dự báo là điều sẽ xảy ra, không phải điều muốn</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1</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forecast vs goal vs plan · forecastability</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Con số ta sắp đưa ra là điều sẽ xảy ra, hay điều ta muốn xảy ra?</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Giữ dự báo trung thực, và biết trước một thứ dự báo được tới đâu.</a:t>
            </a:r>
          </a:p>
        </p:txBody>
      </p:sp>
      <p:sp>
        <p:nvSpPr>
          <p:cNvPr id="8" name="TextBox 7"/>
          <p:cNvSpPr txBox="1"/>
          <p:nvPr/>
        </p:nvSpPr>
        <p:spPr>
          <a:xfrm>
            <a:off x="548640" y="2478023"/>
            <a:ext cx="5394960" cy="320040"/>
          </a:xfrm>
          <a:prstGeom prst="rect">
            <a:avLst/>
          </a:prstGeom>
          <a:noFill/>
        </p:spPr>
        <p:txBody>
          <a:bodyPr wrap="square" lIns="0" rIns="0" tIns="0" bIns="0" anchor="t">
            <a:spAutoFit/>
          </a:bodyPr>
          <a:lstStyle/>
          <a:p>
            <a:pPr algn="l"/>
            <a:r>
              <a:rPr sz="1500" b="1" i="0">
                <a:solidFill>
                  <a:srgbClr val="0F8B8D"/>
                </a:solidFill>
                <a:latin typeface="Arial"/>
              </a:rPr>
              <a:t>Ba thứ hay bị nhập làm một</a:t>
            </a:r>
          </a:p>
        </p:txBody>
      </p:sp>
      <p:sp>
        <p:nvSpPr>
          <p:cNvPr id="9" name="Rectangle 8"/>
          <p:cNvSpPr/>
          <p:nvPr/>
        </p:nvSpPr>
        <p:spPr>
          <a:xfrm>
            <a:off x="548640" y="2889503"/>
            <a:ext cx="1234440" cy="566928"/>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Arial"/>
              </a:rPr>
              <a:t/>
            </a:r>
          </a:p>
        </p:txBody>
      </p:sp>
      <p:sp>
        <p:nvSpPr>
          <p:cNvPr id="10" name="Rectangle 9"/>
          <p:cNvSpPr/>
          <p:nvPr/>
        </p:nvSpPr>
        <p:spPr>
          <a:xfrm>
            <a:off x="1783080" y="2889503"/>
            <a:ext cx="1828800" cy="566928"/>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Arial"/>
              </a:rPr>
              <a:t>Trả lời</a:t>
            </a:r>
          </a:p>
        </p:txBody>
      </p:sp>
      <p:sp>
        <p:nvSpPr>
          <p:cNvPr id="11" name="Rectangle 10"/>
          <p:cNvSpPr/>
          <p:nvPr/>
        </p:nvSpPr>
        <p:spPr>
          <a:xfrm>
            <a:off x="3611880" y="2889503"/>
            <a:ext cx="2331720" cy="566928"/>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1" i="0">
                <a:solidFill>
                  <a:srgbClr val="FFFFFF"/>
                </a:solidFill>
                <a:latin typeface="Arial"/>
              </a:rPr>
              <a:t>Quán cà phê</a:t>
            </a:r>
          </a:p>
        </p:txBody>
      </p:sp>
      <p:sp>
        <p:nvSpPr>
          <p:cNvPr id="12" name="Rectangle 11"/>
          <p:cNvSpPr/>
          <p:nvPr/>
        </p:nvSpPr>
        <p:spPr>
          <a:xfrm>
            <a:off x="548640" y="3456432"/>
            <a:ext cx="1234440" cy="566928"/>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Dự báo</a:t>
            </a:r>
          </a:p>
        </p:txBody>
      </p:sp>
      <p:sp>
        <p:nvSpPr>
          <p:cNvPr id="13" name="Rectangle 12"/>
          <p:cNvSpPr/>
          <p:nvPr/>
        </p:nvSpPr>
        <p:spPr>
          <a:xfrm>
            <a:off x="1783080" y="3456432"/>
            <a:ext cx="1828800" cy="566928"/>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điều gì sẽ xảy ra</a:t>
            </a:r>
          </a:p>
        </p:txBody>
      </p:sp>
      <p:sp>
        <p:nvSpPr>
          <p:cNvPr id="14" name="Rectangle 13"/>
          <p:cNvSpPr/>
          <p:nvPr/>
        </p:nvSpPr>
        <p:spPr>
          <a:xfrm>
            <a:off x="3611880" y="3456432"/>
            <a:ext cx="2331720" cy="566928"/>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tuần tới bán khoảng 1.900 ly</a:t>
            </a:r>
          </a:p>
        </p:txBody>
      </p:sp>
      <p:sp>
        <p:nvSpPr>
          <p:cNvPr id="15" name="Rectangle 14"/>
          <p:cNvSpPr/>
          <p:nvPr/>
        </p:nvSpPr>
        <p:spPr>
          <a:xfrm>
            <a:off x="548640" y="4023359"/>
            <a:ext cx="1234440" cy="566928"/>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Mục tiêu</a:t>
            </a:r>
          </a:p>
        </p:txBody>
      </p:sp>
      <p:sp>
        <p:nvSpPr>
          <p:cNvPr id="16" name="Rectangle 15"/>
          <p:cNvSpPr/>
          <p:nvPr/>
        </p:nvSpPr>
        <p:spPr>
          <a:xfrm>
            <a:off x="1783080" y="4023359"/>
            <a:ext cx="1828800" cy="566928"/>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ta muốn điều gì</a:t>
            </a:r>
          </a:p>
        </p:txBody>
      </p:sp>
      <p:sp>
        <p:nvSpPr>
          <p:cNvPr id="17" name="Rectangle 16"/>
          <p:cNvSpPr/>
          <p:nvPr/>
        </p:nvSpPr>
        <p:spPr>
          <a:xfrm>
            <a:off x="3611880" y="4023359"/>
            <a:ext cx="2331720" cy="566928"/>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bán 2.500 ly</a:t>
            </a:r>
          </a:p>
        </p:txBody>
      </p:sp>
      <p:sp>
        <p:nvSpPr>
          <p:cNvPr id="18" name="Rectangle 17"/>
          <p:cNvSpPr/>
          <p:nvPr/>
        </p:nvSpPr>
        <p:spPr>
          <a:xfrm>
            <a:off x="548640" y="4590288"/>
            <a:ext cx="1234440" cy="566928"/>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Kế hoạch</a:t>
            </a:r>
          </a:p>
        </p:txBody>
      </p:sp>
      <p:sp>
        <p:nvSpPr>
          <p:cNvPr id="19" name="Rectangle 18"/>
          <p:cNvSpPr/>
          <p:nvPr/>
        </p:nvSpPr>
        <p:spPr>
          <a:xfrm>
            <a:off x="1783080" y="4590288"/>
            <a:ext cx="1828800" cy="566928"/>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ta làm gì để tới gần</a:t>
            </a:r>
          </a:p>
        </p:txBody>
      </p:sp>
      <p:sp>
        <p:nvSpPr>
          <p:cNvPr id="20" name="Rectangle 19"/>
          <p:cNvSpPr/>
          <p:nvPr/>
        </p:nvSpPr>
        <p:spPr>
          <a:xfrm>
            <a:off x="3611880" y="4590288"/>
            <a:ext cx="2331720" cy="566928"/>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300" b="0" i="0">
                <a:solidFill>
                  <a:srgbClr val="1B2A41"/>
                </a:solidFill>
                <a:latin typeface="Arial"/>
              </a:rPr>
              <a:t>khuyến mãi, đặt thêm hạt</a:t>
            </a:r>
          </a:p>
        </p:txBody>
      </p:sp>
      <p:sp>
        <p:nvSpPr>
          <p:cNvPr id="21" name="TextBox 20"/>
          <p:cNvSpPr txBox="1"/>
          <p:nvPr/>
        </p:nvSpPr>
        <p:spPr>
          <a:xfrm>
            <a:off x="548640" y="5358383"/>
            <a:ext cx="5394960" cy="1097280"/>
          </a:xfrm>
          <a:prstGeom prst="rect">
            <a:avLst/>
          </a:prstGeom>
          <a:noFill/>
        </p:spPr>
        <p:txBody>
          <a:bodyPr wrap="square" lIns="0" rIns="0" tIns="0" bIns="0" anchor="t">
            <a:spAutoFit/>
          </a:bodyPr>
          <a:lstStyle/>
          <a:p>
            <a:pPr algn="l"/>
            <a:r>
              <a:rPr sz="1300" b="0" i="0">
                <a:solidFill>
                  <a:srgbClr val="5B6778"/>
                </a:solidFill>
                <a:latin typeface="Arial"/>
              </a:rPr>
              <a:t>Sếp muốn 2.500 ly nên bảo “dự báo 2.500”: kho đặt hàng cho 2.500, tuần đó bán 1.900, thừa 600 ly, và không ai còn biết dự báo đúng hay sai.</a:t>
            </a:r>
          </a:p>
        </p:txBody>
      </p:sp>
      <p:sp>
        <p:nvSpPr>
          <p:cNvPr id="22" name="TextBox 21"/>
          <p:cNvSpPr txBox="1"/>
          <p:nvPr/>
        </p:nvSpPr>
        <p:spPr>
          <a:xfrm>
            <a:off x="6309360" y="2478023"/>
            <a:ext cx="5330952" cy="320040"/>
          </a:xfrm>
          <a:prstGeom prst="rect">
            <a:avLst/>
          </a:prstGeom>
          <a:noFill/>
        </p:spPr>
        <p:txBody>
          <a:bodyPr wrap="square" lIns="0" rIns="0" tIns="0" bIns="0" anchor="t">
            <a:spAutoFit/>
          </a:bodyPr>
          <a:lstStyle/>
          <a:p>
            <a:pPr algn="l"/>
            <a:r>
              <a:rPr sz="1500" b="1" i="0">
                <a:solidFill>
                  <a:srgbClr val="0F8B8D"/>
                </a:solidFill>
                <a:latin typeface="Arial"/>
              </a:rPr>
              <a:t>Bốn điều cho biết một thứ dự báo được tới đâu</a:t>
            </a:r>
          </a:p>
        </p:txBody>
      </p:sp>
      <p:sp>
        <p:nvSpPr>
          <p:cNvPr id="23" name="Rectangle 22"/>
          <p:cNvSpPr/>
          <p:nvPr/>
        </p:nvSpPr>
        <p:spPr>
          <a:xfrm>
            <a:off x="6309360" y="2889503"/>
            <a:ext cx="2148840" cy="566928"/>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FFFFFF"/>
                </a:solidFill>
                <a:latin typeface="Arial"/>
              </a:rPr>
              <a:t/>
            </a:r>
          </a:p>
        </p:txBody>
      </p:sp>
      <p:sp>
        <p:nvSpPr>
          <p:cNvPr id="24" name="Rectangle 23"/>
          <p:cNvSpPr/>
          <p:nvPr/>
        </p:nvSpPr>
        <p:spPr>
          <a:xfrm>
            <a:off x="8458200" y="2889503"/>
            <a:ext cx="1188720" cy="566928"/>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FFFFFF"/>
                </a:solidFill>
                <a:latin typeface="Arial"/>
              </a:rPr>
              <a:t>Điện ngày mai</a:t>
            </a:r>
          </a:p>
        </p:txBody>
      </p:sp>
      <p:sp>
        <p:nvSpPr>
          <p:cNvPr id="25" name="Rectangle 24"/>
          <p:cNvSpPr/>
          <p:nvPr/>
        </p:nvSpPr>
        <p:spPr>
          <a:xfrm>
            <a:off x="9646920" y="2889503"/>
            <a:ext cx="1993392" cy="566928"/>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FFFFFF"/>
                </a:solidFill>
                <a:latin typeface="Arial"/>
              </a:rPr>
              <a:t>Tỷ giá tuần sau</a:t>
            </a:r>
          </a:p>
        </p:txBody>
      </p:sp>
      <p:sp>
        <p:nvSpPr>
          <p:cNvPr id="26" name="Rectangle 25"/>
          <p:cNvSpPr/>
          <p:nvPr/>
        </p:nvSpPr>
        <p:spPr>
          <a:xfrm>
            <a:off x="6309360" y="3456432"/>
            <a:ext cx="2148840" cy="566928"/>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0" i="0">
                <a:solidFill>
                  <a:srgbClr val="1B2A41"/>
                </a:solidFill>
                <a:latin typeface="Arial"/>
              </a:rPr>
              <a:t>Hiểu cái gì tác động tới nó</a:t>
            </a:r>
          </a:p>
        </p:txBody>
      </p:sp>
      <p:sp>
        <p:nvSpPr>
          <p:cNvPr id="27" name="Rectangle 26"/>
          <p:cNvSpPr/>
          <p:nvPr/>
        </p:nvSpPr>
        <p:spPr>
          <a:xfrm>
            <a:off x="8458200" y="3456432"/>
            <a:ext cx="1188720" cy="566928"/>
          </a:xfrm>
          <a:prstGeom prst="rect">
            <a:avLst/>
          </a:prstGeom>
          <a:solidFill>
            <a:srgbClr val="E6F4EC"/>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0" i="0">
                <a:solidFill>
                  <a:srgbClr val="1E8449"/>
                </a:solidFill>
                <a:latin typeface="Arial"/>
              </a:rPr>
              <a:t>có</a:t>
            </a:r>
          </a:p>
        </p:txBody>
      </p:sp>
      <p:sp>
        <p:nvSpPr>
          <p:cNvPr id="28" name="Rectangle 27"/>
          <p:cNvSpPr/>
          <p:nvPr/>
        </p:nvSpPr>
        <p:spPr>
          <a:xfrm>
            <a:off x="9646920" y="3456432"/>
            <a:ext cx="1993392" cy="566928"/>
          </a:xfrm>
          <a:prstGeom prst="rect">
            <a:avLst/>
          </a:prstGeom>
          <a:solidFill>
            <a:srgbClr val="FBEAE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0" i="0">
                <a:solidFill>
                  <a:srgbClr val="C0392B"/>
                </a:solidFill>
                <a:latin typeface="Arial"/>
              </a:rPr>
              <a:t>ít</a:t>
            </a:r>
          </a:p>
        </p:txBody>
      </p:sp>
      <p:sp>
        <p:nvSpPr>
          <p:cNvPr id="29" name="Rectangle 28"/>
          <p:cNvSpPr/>
          <p:nvPr/>
        </p:nvSpPr>
        <p:spPr>
          <a:xfrm>
            <a:off x="6309360" y="4023359"/>
            <a:ext cx="2148840" cy="566928"/>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0" i="0">
                <a:solidFill>
                  <a:srgbClr val="1B2A41"/>
                </a:solidFill>
                <a:latin typeface="Arial"/>
              </a:rPr>
              <a:t>Có nhiều dữ liệu</a:t>
            </a:r>
          </a:p>
        </p:txBody>
      </p:sp>
      <p:sp>
        <p:nvSpPr>
          <p:cNvPr id="30" name="Rectangle 29"/>
          <p:cNvSpPr/>
          <p:nvPr/>
        </p:nvSpPr>
        <p:spPr>
          <a:xfrm>
            <a:off x="8458200" y="4023359"/>
            <a:ext cx="1188720" cy="566928"/>
          </a:xfrm>
          <a:prstGeom prst="rect">
            <a:avLst/>
          </a:prstGeom>
          <a:solidFill>
            <a:srgbClr val="E6F4EC"/>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0" i="0">
                <a:solidFill>
                  <a:srgbClr val="1E8449"/>
                </a:solidFill>
                <a:latin typeface="Arial"/>
              </a:rPr>
              <a:t>có</a:t>
            </a:r>
          </a:p>
        </p:txBody>
      </p:sp>
      <p:sp>
        <p:nvSpPr>
          <p:cNvPr id="31" name="Rectangle 30"/>
          <p:cNvSpPr/>
          <p:nvPr/>
        </p:nvSpPr>
        <p:spPr>
          <a:xfrm>
            <a:off x="9646920" y="4023359"/>
            <a:ext cx="1993392" cy="566928"/>
          </a:xfrm>
          <a:prstGeom prst="rect">
            <a:avLst/>
          </a:prstGeom>
          <a:solidFill>
            <a:srgbClr val="E6F4EC"/>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0" i="0">
                <a:solidFill>
                  <a:srgbClr val="1E8449"/>
                </a:solidFill>
                <a:latin typeface="Arial"/>
              </a:rPr>
              <a:t>có</a:t>
            </a:r>
          </a:p>
        </p:txBody>
      </p:sp>
      <p:sp>
        <p:nvSpPr>
          <p:cNvPr id="32" name="Rectangle 31"/>
          <p:cNvSpPr/>
          <p:nvPr/>
        </p:nvSpPr>
        <p:spPr>
          <a:xfrm>
            <a:off x="6309360" y="4590288"/>
            <a:ext cx="2148840" cy="566928"/>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0" i="0">
                <a:solidFill>
                  <a:srgbClr val="1B2A41"/>
                </a:solidFill>
                <a:latin typeface="Arial"/>
              </a:rPr>
              <a:t>Tương lai giống quá khứ</a:t>
            </a:r>
          </a:p>
        </p:txBody>
      </p:sp>
      <p:sp>
        <p:nvSpPr>
          <p:cNvPr id="33" name="Rectangle 32"/>
          <p:cNvSpPr/>
          <p:nvPr/>
        </p:nvSpPr>
        <p:spPr>
          <a:xfrm>
            <a:off x="8458200" y="4590288"/>
            <a:ext cx="1188720" cy="566928"/>
          </a:xfrm>
          <a:prstGeom prst="rect">
            <a:avLst/>
          </a:prstGeom>
          <a:solidFill>
            <a:srgbClr val="E6F4EC"/>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0" i="0">
                <a:solidFill>
                  <a:srgbClr val="1E8449"/>
                </a:solidFill>
                <a:latin typeface="Arial"/>
              </a:rPr>
              <a:t>thường có</a:t>
            </a:r>
          </a:p>
        </p:txBody>
      </p:sp>
      <p:sp>
        <p:nvSpPr>
          <p:cNvPr id="34" name="Rectangle 33"/>
          <p:cNvSpPr/>
          <p:nvPr/>
        </p:nvSpPr>
        <p:spPr>
          <a:xfrm>
            <a:off x="9646920" y="4590288"/>
            <a:ext cx="1993392" cy="566928"/>
          </a:xfrm>
          <a:prstGeom prst="rect">
            <a:avLst/>
          </a:prstGeom>
          <a:solidFill>
            <a:srgbClr val="FBEAE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0" i="0">
                <a:solidFill>
                  <a:srgbClr val="C0392B"/>
                </a:solidFill>
                <a:latin typeface="Arial"/>
              </a:rPr>
              <a:t>khủng hoảng làm đổi hẳn</a:t>
            </a:r>
          </a:p>
        </p:txBody>
      </p:sp>
      <p:sp>
        <p:nvSpPr>
          <p:cNvPr id="35" name="Rectangle 34"/>
          <p:cNvSpPr/>
          <p:nvPr/>
        </p:nvSpPr>
        <p:spPr>
          <a:xfrm>
            <a:off x="6309360" y="5157216"/>
            <a:ext cx="2148840" cy="566928"/>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0" i="0">
                <a:solidFill>
                  <a:srgbClr val="1B2A41"/>
                </a:solidFill>
                <a:latin typeface="Arial"/>
              </a:rPr>
              <a:t>Dự báo không làm đổi chính nó</a:t>
            </a:r>
          </a:p>
        </p:txBody>
      </p:sp>
      <p:sp>
        <p:nvSpPr>
          <p:cNvPr id="36" name="Rectangle 35"/>
          <p:cNvSpPr/>
          <p:nvPr/>
        </p:nvSpPr>
        <p:spPr>
          <a:xfrm>
            <a:off x="8458200" y="5157216"/>
            <a:ext cx="1188720" cy="566928"/>
          </a:xfrm>
          <a:prstGeom prst="rect">
            <a:avLst/>
          </a:prstGeom>
          <a:solidFill>
            <a:srgbClr val="E6F4EC"/>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0" i="0">
                <a:solidFill>
                  <a:srgbClr val="1E8449"/>
                </a:solidFill>
                <a:latin typeface="Arial"/>
              </a:rPr>
              <a:t>đúng</a:t>
            </a:r>
          </a:p>
        </p:txBody>
      </p:sp>
      <p:sp>
        <p:nvSpPr>
          <p:cNvPr id="37" name="Rectangle 36"/>
          <p:cNvSpPr/>
          <p:nvPr/>
        </p:nvSpPr>
        <p:spPr>
          <a:xfrm>
            <a:off x="9646920" y="5157216"/>
            <a:ext cx="1993392" cy="566928"/>
          </a:xfrm>
          <a:prstGeom prst="rect">
            <a:avLst/>
          </a:prstGeom>
          <a:solidFill>
            <a:srgbClr val="FBEAE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0" i="0">
                <a:solidFill>
                  <a:srgbClr val="C0392B"/>
                </a:solidFill>
                <a:latin typeface="Arial"/>
              </a:rPr>
              <a:t>sai: người ta mua bán theo dự báo</a:t>
            </a:r>
          </a:p>
        </p:txBody>
      </p:sp>
      <p:sp>
        <p:nvSpPr>
          <p:cNvPr id="38" name="TextBox 37"/>
          <p:cNvSpPr txBox="1"/>
          <p:nvPr/>
        </p:nvSpPr>
        <p:spPr>
          <a:xfrm>
            <a:off x="6309360" y="5952744"/>
            <a:ext cx="5330952" cy="731520"/>
          </a:xfrm>
          <a:prstGeom prst="rect">
            <a:avLst/>
          </a:prstGeom>
          <a:noFill/>
        </p:spPr>
        <p:txBody>
          <a:bodyPr wrap="square" lIns="0" rIns="0" tIns="0" bIns="0" anchor="t">
            <a:spAutoFit/>
          </a:bodyPr>
          <a:lstStyle/>
          <a:p>
            <a:pPr algn="l"/>
            <a:r>
              <a:rPr sz="1300" b="0" i="0">
                <a:solidFill>
                  <a:srgbClr val="5B6778"/>
                </a:solidFill>
                <a:latin typeface="Arial"/>
              </a:rPr>
              <a:t>Điện ngày mai thoả cả bốn nên đoán được rất sát; tỷ giá chỉ thoả một.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Đứng ở gốc, chỉ thấy quá khứ</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1</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forecast origin (cutoff) · forecast horizon h</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Biết mình đang đứng ở thời điểm nào và phải nhìn xa bao nhiêu, để chỉ dùng dữ liệu có trước lúc đó.</a:t>
            </a:r>
          </a:p>
        </p:txBody>
      </p:sp>
      <p:pic>
        <p:nvPicPr>
          <p:cNvPr id="7" name="Picture 6" descr="kn-tam-du-bao-h.png"/>
          <p:cNvPicPr>
            <a:picLocks noChangeAspect="1"/>
          </p:cNvPicPr>
          <p:nvPr/>
        </p:nvPicPr>
        <p:blipFill>
          <a:blip r:embed="rId2"/>
          <a:stretch>
            <a:fillRect/>
          </a:stretch>
        </p:blipFill>
        <p:spPr>
          <a:xfrm>
            <a:off x="548640" y="2493066"/>
            <a:ext cx="6309360" cy="3572650"/>
          </a:xfrm>
          <a:prstGeom prst="rect">
            <a:avLst/>
          </a:prstGeom>
        </p:spPr>
      </p:pic>
      <p:sp>
        <p:nvSpPr>
          <p:cNvPr id="8" name="TextBox 7"/>
          <p:cNvSpPr txBox="1"/>
          <p:nvPr/>
        </p:nvSpPr>
        <p:spPr>
          <a:xfrm>
            <a:off x="7223760" y="206654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9" name="TextBox 8"/>
          <p:cNvSpPr txBox="1"/>
          <p:nvPr/>
        </p:nvSpPr>
        <p:spPr>
          <a:xfrm>
            <a:off x="7223760" y="2386584"/>
            <a:ext cx="4416552" cy="1127760"/>
          </a:xfrm>
          <a:prstGeom prst="rect">
            <a:avLst/>
          </a:prstGeom>
          <a:noFill/>
        </p:spPr>
        <p:txBody>
          <a:bodyPr wrap="square" lIns="0" rIns="0" tIns="0" bIns="0" anchor="t">
            <a:spAutoFit/>
          </a:bodyPr>
          <a:lstStyle/>
          <a:p>
            <a:pPr algn="l"/>
            <a:r>
              <a:rPr sz="1500" b="0" i="0">
                <a:solidFill>
                  <a:srgbClr val="1B2A41"/>
                </a:solidFill>
                <a:latin typeface="Arial"/>
              </a:rPr>
              <a:t>Gốc dự báo là lúc ra dự báo. Tầm h là số bước phải đoán, đếm từ gốc.</a:t>
            </a:r>
          </a:p>
        </p:txBody>
      </p:sp>
      <p:sp>
        <p:nvSpPr>
          <p:cNvPr id="10" name="TextBox 9"/>
          <p:cNvSpPr txBox="1"/>
          <p:nvPr/>
        </p:nvSpPr>
        <p:spPr>
          <a:xfrm>
            <a:off x="7223760" y="3541775"/>
            <a:ext cx="4416552" cy="274320"/>
          </a:xfrm>
          <a:prstGeom prst="rect">
            <a:avLst/>
          </a:prstGeom>
          <a:noFill/>
        </p:spPr>
        <p:txBody>
          <a:bodyPr wrap="square" lIns="0" rIns="0" tIns="0" bIns="0" anchor="t">
            <a:spAutoFit/>
          </a:bodyPr>
          <a:lstStyle/>
          <a:p>
            <a:pPr algn="l"/>
            <a:r>
              <a:rPr sz="1400" b="1" i="0">
                <a:solidFill>
                  <a:srgbClr val="0F8B8D"/>
                </a:solidFill>
                <a:latin typeface="Arial"/>
              </a:rPr>
              <a:t>Tầm xa hay gần nghĩa là gì</a:t>
            </a:r>
          </a:p>
        </p:txBody>
      </p:sp>
      <p:cxnSp>
        <p:nvCxnSpPr>
          <p:cNvPr id="11" name="Connector 10"/>
          <p:cNvCxnSpPr/>
          <p:nvPr/>
        </p:nvCxnSpPr>
        <p:spPr>
          <a:xfrm>
            <a:off x="8327898" y="3998975"/>
            <a:ext cx="2208276"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8245602" y="391668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60336" y="4136136"/>
            <a:ext cx="2135124" cy="274320"/>
          </a:xfrm>
          <a:prstGeom prst="rect">
            <a:avLst/>
          </a:prstGeom>
          <a:noFill/>
        </p:spPr>
        <p:txBody>
          <a:bodyPr wrap="square" lIns="0" rIns="0" tIns="0" bIns="0" anchor="t">
            <a:spAutoFit/>
          </a:bodyPr>
          <a:lstStyle/>
          <a:p>
            <a:pPr algn="ctr"/>
            <a:r>
              <a:rPr sz="1400" b="1" i="0">
                <a:solidFill>
                  <a:srgbClr val="0F8B8D"/>
                </a:solidFill>
                <a:latin typeface="Arial"/>
              </a:rPr>
              <a:t>h nhỏ</a:t>
            </a:r>
          </a:p>
        </p:txBody>
      </p:sp>
      <p:sp>
        <p:nvSpPr>
          <p:cNvPr id="14" name="TextBox 13"/>
          <p:cNvSpPr txBox="1"/>
          <p:nvPr/>
        </p:nvSpPr>
        <p:spPr>
          <a:xfrm>
            <a:off x="7260336" y="4410456"/>
            <a:ext cx="2135124" cy="548640"/>
          </a:xfrm>
          <a:prstGeom prst="rect">
            <a:avLst/>
          </a:prstGeom>
          <a:noFill/>
        </p:spPr>
        <p:txBody>
          <a:bodyPr wrap="square" lIns="0" rIns="0" tIns="0" bIns="0" anchor="t">
            <a:spAutoFit/>
          </a:bodyPr>
          <a:lstStyle/>
          <a:p>
            <a:pPr algn="ctr"/>
            <a:r>
              <a:rPr sz="1100" b="0" i="0">
                <a:solidFill>
                  <a:srgbClr val="1B2A41"/>
                </a:solidFill>
                <a:latin typeface="Arial"/>
              </a:rPr>
              <a:t>sát gốc, còn nhiều số liệu mới để dựa vào</a:t>
            </a:r>
          </a:p>
        </p:txBody>
      </p:sp>
      <p:sp>
        <p:nvSpPr>
          <p:cNvPr id="15" name="Oval 14"/>
          <p:cNvSpPr/>
          <p:nvPr/>
        </p:nvSpPr>
        <p:spPr>
          <a:xfrm>
            <a:off x="10453878" y="391668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68612" y="4136136"/>
            <a:ext cx="2135124" cy="274320"/>
          </a:xfrm>
          <a:prstGeom prst="rect">
            <a:avLst/>
          </a:prstGeom>
          <a:noFill/>
        </p:spPr>
        <p:txBody>
          <a:bodyPr wrap="square" lIns="0" rIns="0" tIns="0" bIns="0" anchor="t">
            <a:spAutoFit/>
          </a:bodyPr>
          <a:lstStyle/>
          <a:p>
            <a:pPr algn="ctr"/>
            <a:r>
              <a:rPr sz="1400" b="1" i="0">
                <a:solidFill>
                  <a:srgbClr val="0F8B8D"/>
                </a:solidFill>
                <a:latin typeface="Arial"/>
              </a:rPr>
              <a:t>h lớn</a:t>
            </a:r>
          </a:p>
        </p:txBody>
      </p:sp>
      <p:sp>
        <p:nvSpPr>
          <p:cNvPr id="17" name="TextBox 16"/>
          <p:cNvSpPr txBox="1"/>
          <p:nvPr/>
        </p:nvSpPr>
        <p:spPr>
          <a:xfrm>
            <a:off x="9468612" y="4410456"/>
            <a:ext cx="2135124" cy="548640"/>
          </a:xfrm>
          <a:prstGeom prst="rect">
            <a:avLst/>
          </a:prstGeom>
          <a:noFill/>
        </p:spPr>
        <p:txBody>
          <a:bodyPr wrap="square" lIns="0" rIns="0" tIns="0" bIns="0" anchor="t">
            <a:spAutoFit/>
          </a:bodyPr>
          <a:lstStyle/>
          <a:p>
            <a:pPr algn="ctr"/>
            <a:r>
              <a:rPr sz="1100" b="0" i="0">
                <a:solidFill>
                  <a:srgbClr val="1B2A41"/>
                </a:solidFill>
                <a:latin typeface="Arial"/>
              </a:rPr>
              <a:t>xa gốc, khó hơn, sai số thường lớn hơn</a:t>
            </a:r>
          </a:p>
        </p:txBody>
      </p:sp>
      <p:sp>
        <p:nvSpPr>
          <p:cNvPr id="18" name="TextBox 17"/>
          <p:cNvSpPr txBox="1"/>
          <p:nvPr/>
        </p:nvSpPr>
        <p:spPr>
          <a:xfrm>
            <a:off x="7223760" y="5017008"/>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19" name="TextBox 18"/>
          <p:cNvSpPr txBox="1"/>
          <p:nvPr/>
        </p:nvSpPr>
        <p:spPr>
          <a:xfrm>
            <a:off x="7223760" y="5337047"/>
            <a:ext cx="4416552" cy="1127760"/>
          </a:xfrm>
          <a:prstGeom prst="rect">
            <a:avLst/>
          </a:prstGeom>
          <a:noFill/>
        </p:spPr>
        <p:txBody>
          <a:bodyPr wrap="square" lIns="0" rIns="0" tIns="0" bIns="0" anchor="t">
            <a:spAutoFit/>
          </a:bodyPr>
          <a:lstStyle/>
          <a:p>
            <a:pPr algn="l"/>
            <a:r>
              <a:rPr sz="1500" b="0" i="0">
                <a:solidFill>
                  <a:srgbClr val="1B2A41"/>
                </a:solidFill>
                <a:latin typeface="Arial"/>
              </a:rPr>
              <a:t>Đứng ở 00:00 thứ Hai, dự báo 168 giờ tới: h = 1 là 01:00, h = 168 là giờ cuối Chủ nhật.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Mô hình học từ phần học, bị chấm ở kỳ chấm</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1, 14</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model · parameter · fit · training set · test period · overfitting</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Hiểu mô hình “học” từ đâu và được chấm ở đâu, để thấy vì sao chấm trên phần học cho con số đẹp hơn thật.</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0F8B8D"/>
                </a:solidFill>
                <a:latin typeface="Arial"/>
              </a:rPr>
              <a:t>“Học trên đề cũ, thi trên đề mới; thuộc lòng đề cũ không có nghĩa là giỏi.”</a:t>
            </a:r>
          </a:p>
        </p:txBody>
      </p:sp>
      <p:sp>
        <p:nvSpPr>
          <p:cNvPr id="8" name="Rounded Rectangle 7"/>
          <p:cNvSpPr/>
          <p:nvPr/>
        </p:nvSpPr>
        <p:spPr>
          <a:xfrm>
            <a:off x="548640" y="2587751"/>
            <a:ext cx="7498079" cy="685800"/>
          </a:xfrm>
          <a:prstGeom prst="roundRect">
            <a:avLst>
              <a:gd name="adj" fmla="val 20000"/>
            </a:avLst>
          </a:prstGeom>
          <a:solidFill>
            <a:srgbClr val="DC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2587751"/>
            <a:ext cx="7498079" cy="685800"/>
          </a:xfrm>
          <a:prstGeom prst="roundRect">
            <a:avLst>
              <a:gd name="adj" fmla="val 20000"/>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1" i="0">
                <a:solidFill>
                  <a:srgbClr val="1B2A41"/>
                </a:solidFill>
                <a:latin typeface="Arial"/>
              </a:rPr>
              <a:t>Phần học: mô hình được thấy, dùng để khớp tham số</a:t>
            </a:r>
          </a:p>
        </p:txBody>
      </p:sp>
      <p:sp>
        <p:nvSpPr>
          <p:cNvPr id="10" name="Rounded Rectangle 9"/>
          <p:cNvSpPr/>
          <p:nvPr/>
        </p:nvSpPr>
        <p:spPr>
          <a:xfrm>
            <a:off x="8183879" y="2587751"/>
            <a:ext cx="3456432" cy="685800"/>
          </a:xfrm>
          <a:prstGeom prst="roundRect">
            <a:avLst>
              <a:gd name="adj" fmla="val 20000"/>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1" i="0">
                <a:solidFill>
                  <a:srgbClr val="FFFFFF"/>
                </a:solidFill>
                <a:latin typeface="Arial"/>
              </a:rPr>
              <a:t>Kỳ chấm: giấu đi, chỉ để chấm</a:t>
            </a:r>
          </a:p>
        </p:txBody>
      </p:sp>
      <p:sp>
        <p:nvSpPr>
          <p:cNvPr id="11" name="TextBox 10"/>
          <p:cNvSpPr txBox="1"/>
          <p:nvPr/>
        </p:nvSpPr>
        <p:spPr>
          <a:xfrm>
            <a:off x="8092440" y="3319272"/>
            <a:ext cx="1097280" cy="274320"/>
          </a:xfrm>
          <a:prstGeom prst="rect">
            <a:avLst/>
          </a:prstGeom>
          <a:noFill/>
        </p:spPr>
        <p:txBody>
          <a:bodyPr wrap="square" lIns="0" rIns="0" tIns="0" bIns="0" anchor="t">
            <a:spAutoFit/>
          </a:bodyPr>
          <a:lstStyle/>
          <a:p>
            <a:pPr algn="l"/>
            <a:r>
              <a:rPr sz="1200" b="1" i="0">
                <a:solidFill>
                  <a:srgbClr val="E07B00"/>
                </a:solidFill>
                <a:latin typeface="Arial"/>
              </a:rPr>
              <a:t>gốc dự báo</a:t>
            </a:r>
          </a:p>
        </p:txBody>
      </p:sp>
      <p:cxnSp>
        <p:nvCxnSpPr>
          <p:cNvPr id="12" name="Connector 11"/>
          <p:cNvCxnSpPr/>
          <p:nvPr/>
        </p:nvCxnSpPr>
        <p:spPr>
          <a:xfrm>
            <a:off x="8110727" y="2496311"/>
            <a:ext cx="0" cy="868680"/>
          </a:xfrm>
          <a:prstGeom prst="line">
            <a:avLst/>
          </a:prstGeom>
          <a:ln w="31750">
            <a:solidFill>
              <a:srgbClr val="E07B00"/>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48640" y="3959352"/>
            <a:ext cx="3575304" cy="23774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4096512"/>
            <a:ext cx="3118104" cy="274320"/>
          </a:xfrm>
          <a:prstGeom prst="rect">
            <a:avLst/>
          </a:prstGeom>
          <a:noFill/>
        </p:spPr>
        <p:txBody>
          <a:bodyPr wrap="square" lIns="0" rIns="0" tIns="0" bIns="0" anchor="t">
            <a:spAutoFit/>
          </a:bodyPr>
          <a:lstStyle/>
          <a:p>
            <a:pPr algn="l"/>
            <a:r>
              <a:rPr sz="1300" b="1" i="0">
                <a:solidFill>
                  <a:srgbClr val="0F8B8D"/>
                </a:solidFill>
                <a:latin typeface="Arial"/>
              </a:rPr>
              <a:t>Mô hình, tham số</a:t>
            </a:r>
          </a:p>
        </p:txBody>
      </p:sp>
      <p:sp>
        <p:nvSpPr>
          <p:cNvPr id="15" name="TextBox 14"/>
          <p:cNvSpPr txBox="1"/>
          <p:nvPr/>
        </p:nvSpPr>
        <p:spPr>
          <a:xfrm>
            <a:off x="777240" y="4370832"/>
            <a:ext cx="3118104" cy="19202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Mô hình là một cách tính ra dự báo; tham số là các con số bên trong nó. “Mai = trung bình 7 ngày qua” là một mô hình có một tham số: số 7.</a:t>
            </a:r>
          </a:p>
        </p:txBody>
      </p:sp>
      <p:sp>
        <p:nvSpPr>
          <p:cNvPr id="16" name="Rounded Rectangle 15"/>
          <p:cNvSpPr/>
          <p:nvPr/>
        </p:nvSpPr>
        <p:spPr>
          <a:xfrm>
            <a:off x="4306824" y="3959352"/>
            <a:ext cx="3575304" cy="23774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5424" y="4096512"/>
            <a:ext cx="3118104" cy="274320"/>
          </a:xfrm>
          <a:prstGeom prst="rect">
            <a:avLst/>
          </a:prstGeom>
          <a:noFill/>
        </p:spPr>
        <p:txBody>
          <a:bodyPr wrap="square" lIns="0" rIns="0" tIns="0" bIns="0" anchor="t">
            <a:spAutoFit/>
          </a:bodyPr>
          <a:lstStyle/>
          <a:p>
            <a:pPr algn="l"/>
            <a:r>
              <a:rPr sz="1300" b="1" i="0">
                <a:solidFill>
                  <a:srgbClr val="0F8B8D"/>
                </a:solidFill>
                <a:latin typeface="Arial"/>
              </a:rPr>
              <a:t>Khớp (fit), học</a:t>
            </a:r>
          </a:p>
        </p:txBody>
      </p:sp>
      <p:sp>
        <p:nvSpPr>
          <p:cNvPr id="18" name="TextBox 17"/>
          <p:cNvSpPr txBox="1"/>
          <p:nvPr/>
        </p:nvSpPr>
        <p:spPr>
          <a:xfrm>
            <a:off x="4535424" y="4370832"/>
            <a:ext cx="3118104" cy="19202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Chọn tham số từ dữ liệu phần học. Đo sai số trên chính phần học (phần dư) luôn đẹp hơn thật.</a:t>
            </a:r>
          </a:p>
        </p:txBody>
      </p:sp>
      <p:sp>
        <p:nvSpPr>
          <p:cNvPr id="19" name="Rounded Rectangle 18"/>
          <p:cNvSpPr/>
          <p:nvPr/>
        </p:nvSpPr>
        <p:spPr>
          <a:xfrm>
            <a:off x="8065008" y="3959352"/>
            <a:ext cx="3575304" cy="23774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93608" y="4096512"/>
            <a:ext cx="3118104" cy="274320"/>
          </a:xfrm>
          <a:prstGeom prst="rect">
            <a:avLst/>
          </a:prstGeom>
          <a:noFill/>
        </p:spPr>
        <p:txBody>
          <a:bodyPr wrap="square" lIns="0" rIns="0" tIns="0" bIns="0" anchor="t">
            <a:spAutoFit/>
          </a:bodyPr>
          <a:lstStyle/>
          <a:p>
            <a:pPr algn="l"/>
            <a:r>
              <a:rPr sz="1300" b="1" i="0">
                <a:solidFill>
                  <a:srgbClr val="0F8B8D"/>
                </a:solidFill>
                <a:latin typeface="Arial"/>
              </a:rPr>
              <a:t>Học thuộc (overfit)</a:t>
            </a:r>
          </a:p>
        </p:txBody>
      </p:sp>
      <p:sp>
        <p:nvSpPr>
          <p:cNvPr id="21" name="TextBox 20"/>
          <p:cNvSpPr txBox="1"/>
          <p:nvPr/>
        </p:nvSpPr>
        <p:spPr>
          <a:xfrm>
            <a:off x="8293608" y="4370832"/>
            <a:ext cx="3118104" cy="19202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Mô hình đủ nhiều tham số thì khớp gần hoàn hảo phần học mà dự báo mới vẫn tệ: thuộc đề cũ được 10 điểm, đề mới chỉ 6.</a:t>
            </a:r>
          </a:p>
        </p:txBody>
      </p:sp>
      <p:sp>
        <p:nvSpPr>
          <p:cNvPr id="22" name="TextBox 21"/>
          <p:cNvSpPr txBox="1"/>
          <p:nvPr/>
        </p:nvSpPr>
        <p:spPr>
          <a:xfrm>
            <a:off x="548640" y="6519671"/>
            <a:ext cx="11091672" cy="548640"/>
          </a:xfrm>
          <a:prstGeom prst="rect">
            <a:avLst/>
          </a:prstGeom>
          <a:noFill/>
        </p:spPr>
        <p:txBody>
          <a:bodyPr wrap="square" lIns="0" rIns="0" tIns="0" bIns="0" anchor="t">
            <a:spAutoFit/>
          </a:bodyPr>
          <a:lstStyle/>
          <a:p>
            <a:pPr algn="l"/>
            <a:r>
              <a:rPr sz="1400" b="1" i="0">
                <a:solidFill>
                  <a:srgbClr val="5B6778"/>
                </a:solidFill>
                <a:latin typeface="Arial"/>
              </a:rPr>
              <a:t>Mọi chỉ số chính xác trong khoá đều tính trên kỳ chấm; phần dư chỉ dùng để chẩn đoán.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Điền 6 ô trước khi mở dữ liệu</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1</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forecasting problem statement · decision · target variable · granularity</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Biết dự báo phục vụ quyết định nào, rồi mới biết dự báo gì, xa bao nhiêu, chấm ra sao.</a:t>
            </a:r>
          </a:p>
        </p:txBody>
      </p:sp>
      <p:sp>
        <p:nvSpPr>
          <p:cNvPr id="7" name="Rounded Rectangle 6"/>
          <p:cNvSpPr/>
          <p:nvPr/>
        </p:nvSpPr>
        <p:spPr>
          <a:xfrm>
            <a:off x="548640" y="2112263"/>
            <a:ext cx="3575304" cy="224028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77240" y="2295144"/>
            <a:ext cx="457200" cy="4572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700" b="1" i="0">
                <a:solidFill>
                  <a:srgbClr val="FFFFFF"/>
                </a:solidFill>
                <a:latin typeface="Arial"/>
              </a:rPr>
              <a:t>1</a:t>
            </a:r>
          </a:p>
        </p:txBody>
      </p:sp>
      <p:sp>
        <p:nvSpPr>
          <p:cNvPr id="9" name="TextBox 8"/>
          <p:cNvSpPr txBox="1"/>
          <p:nvPr/>
        </p:nvSpPr>
        <p:spPr>
          <a:xfrm>
            <a:off x="1371600" y="2295144"/>
            <a:ext cx="2651760" cy="457200"/>
          </a:xfrm>
          <a:prstGeom prst="rect">
            <a:avLst/>
          </a:prstGeom>
          <a:noFill/>
        </p:spPr>
        <p:txBody>
          <a:bodyPr wrap="square" lIns="0" rIns="0" tIns="0" bIns="0" anchor="ctr">
            <a:spAutoFit/>
          </a:bodyPr>
          <a:lstStyle/>
          <a:p>
            <a:pPr algn="l"/>
            <a:r>
              <a:rPr sz="1700" b="1" i="0">
                <a:solidFill>
                  <a:srgbClr val="1B2A41"/>
                </a:solidFill>
                <a:latin typeface="Arial"/>
              </a:rPr>
              <a:t>Quyết định</a:t>
            </a:r>
          </a:p>
        </p:txBody>
      </p:sp>
      <p:sp>
        <p:nvSpPr>
          <p:cNvPr id="10" name="TextBox 9"/>
          <p:cNvSpPr txBox="1"/>
          <p:nvPr/>
        </p:nvSpPr>
        <p:spPr>
          <a:xfrm>
            <a:off x="777240" y="2889503"/>
            <a:ext cx="3154680" cy="320040"/>
          </a:xfrm>
          <a:prstGeom prst="rect">
            <a:avLst/>
          </a:prstGeom>
          <a:noFill/>
        </p:spPr>
        <p:txBody>
          <a:bodyPr wrap="square" lIns="0" rIns="0" tIns="0" bIns="0" anchor="t">
            <a:spAutoFit/>
          </a:bodyPr>
          <a:lstStyle/>
          <a:p>
            <a:pPr algn="l"/>
            <a:r>
              <a:rPr sz="1400" b="1" i="0">
                <a:solidFill>
                  <a:srgbClr val="0F8B8D"/>
                </a:solidFill>
                <a:latin typeface="Arial"/>
              </a:rPr>
              <a:t>Ai dùng dự báo, để làm gì?</a:t>
            </a:r>
          </a:p>
        </p:txBody>
      </p:sp>
      <p:sp>
        <p:nvSpPr>
          <p:cNvPr id="11" name="TextBox 10"/>
          <p:cNvSpPr txBox="1"/>
          <p:nvPr/>
        </p:nvSpPr>
        <p:spPr>
          <a:xfrm>
            <a:off x="777240" y="3209544"/>
            <a:ext cx="3154680" cy="502920"/>
          </a:xfrm>
          <a:prstGeom prst="rect">
            <a:avLst/>
          </a:prstGeom>
          <a:noFill/>
        </p:spPr>
        <p:txBody>
          <a:bodyPr wrap="square" lIns="0" rIns="0" tIns="0" bIns="0" anchor="t">
            <a:spAutoFit/>
          </a:bodyPr>
          <a:lstStyle/>
          <a:p>
            <a:pPr algn="l"/>
            <a:r>
              <a:rPr sz="1300" b="0" i="0">
                <a:solidFill>
                  <a:srgbClr val="1B2A41"/>
                </a:solidFill>
                <a:latin typeface="Arial"/>
              </a:rPr>
              <a:t>Năm ô còn lại đều suy ra từ ô này.</a:t>
            </a:r>
          </a:p>
        </p:txBody>
      </p:sp>
      <p:sp>
        <p:nvSpPr>
          <p:cNvPr id="12" name="TextBox 11"/>
          <p:cNvSpPr txBox="1"/>
          <p:nvPr/>
        </p:nvSpPr>
        <p:spPr>
          <a:xfrm>
            <a:off x="777240" y="3712463"/>
            <a:ext cx="3154680" cy="548640"/>
          </a:xfrm>
          <a:prstGeom prst="rect">
            <a:avLst/>
          </a:prstGeom>
          <a:noFill/>
        </p:spPr>
        <p:txBody>
          <a:bodyPr wrap="square" lIns="0" rIns="0" tIns="0" bIns="0" anchor="t">
            <a:spAutoFit/>
          </a:bodyPr>
          <a:lstStyle/>
          <a:p>
            <a:pPr algn="l"/>
            <a:r>
              <a:rPr sz="1200" b="0" i="0">
                <a:solidFill>
                  <a:srgbClr val="5B6778"/>
                </a:solidFill>
                <a:latin typeface="Arial"/>
              </a:rPr>
              <a:t>Ví dụ: cuối Chủ nhật đặt mua điện theo giờ cho 7 ngày tới</a:t>
            </a:r>
          </a:p>
        </p:txBody>
      </p:sp>
      <p:sp>
        <p:nvSpPr>
          <p:cNvPr id="13" name="Rounded Rectangle 12"/>
          <p:cNvSpPr/>
          <p:nvPr/>
        </p:nvSpPr>
        <p:spPr>
          <a:xfrm>
            <a:off x="4306824" y="2112263"/>
            <a:ext cx="3575304" cy="224028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535424" y="2295144"/>
            <a:ext cx="457200" cy="4572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700" b="1" i="0">
                <a:solidFill>
                  <a:srgbClr val="FFFFFF"/>
                </a:solidFill>
                <a:latin typeface="Arial"/>
              </a:rPr>
              <a:t>2</a:t>
            </a:r>
          </a:p>
        </p:txBody>
      </p:sp>
      <p:sp>
        <p:nvSpPr>
          <p:cNvPr id="15" name="TextBox 14"/>
          <p:cNvSpPr txBox="1"/>
          <p:nvPr/>
        </p:nvSpPr>
        <p:spPr>
          <a:xfrm>
            <a:off x="5129784" y="2295144"/>
            <a:ext cx="2651760" cy="457200"/>
          </a:xfrm>
          <a:prstGeom prst="rect">
            <a:avLst/>
          </a:prstGeom>
          <a:noFill/>
        </p:spPr>
        <p:txBody>
          <a:bodyPr wrap="square" lIns="0" rIns="0" tIns="0" bIns="0" anchor="ctr">
            <a:spAutoFit/>
          </a:bodyPr>
          <a:lstStyle/>
          <a:p>
            <a:pPr algn="l"/>
            <a:r>
              <a:rPr sz="1700" b="1" i="0">
                <a:solidFill>
                  <a:srgbClr val="1B2A41"/>
                </a:solidFill>
                <a:latin typeface="Arial"/>
              </a:rPr>
              <a:t>Biến mục tiêu</a:t>
            </a:r>
          </a:p>
        </p:txBody>
      </p:sp>
      <p:sp>
        <p:nvSpPr>
          <p:cNvPr id="16" name="TextBox 15"/>
          <p:cNvSpPr txBox="1"/>
          <p:nvPr/>
        </p:nvSpPr>
        <p:spPr>
          <a:xfrm>
            <a:off x="4535424" y="2889503"/>
            <a:ext cx="3154680" cy="320040"/>
          </a:xfrm>
          <a:prstGeom prst="rect">
            <a:avLst/>
          </a:prstGeom>
          <a:noFill/>
        </p:spPr>
        <p:txBody>
          <a:bodyPr wrap="square" lIns="0" rIns="0" tIns="0" bIns="0" anchor="t">
            <a:spAutoFit/>
          </a:bodyPr>
          <a:lstStyle/>
          <a:p>
            <a:pPr algn="l"/>
            <a:r>
              <a:rPr sz="1400" b="1" i="0">
                <a:solidFill>
                  <a:srgbClr val="0F8B8D"/>
                </a:solidFill>
                <a:latin typeface="Arial"/>
              </a:rPr>
              <a:t>Dự báo con số nào, đơn vị gì?</a:t>
            </a:r>
          </a:p>
        </p:txBody>
      </p:sp>
      <p:sp>
        <p:nvSpPr>
          <p:cNvPr id="17" name="TextBox 16"/>
          <p:cNvSpPr txBox="1"/>
          <p:nvPr/>
        </p:nvSpPr>
        <p:spPr>
          <a:xfrm>
            <a:off x="4535424" y="3209544"/>
            <a:ext cx="3154680" cy="502920"/>
          </a:xfrm>
          <a:prstGeom prst="rect">
            <a:avLst/>
          </a:prstGeom>
          <a:noFill/>
        </p:spPr>
        <p:txBody>
          <a:bodyPr wrap="square" lIns="0" rIns="0" tIns="0" bIns="0" anchor="t">
            <a:spAutoFit/>
          </a:bodyPr>
          <a:lstStyle/>
          <a:p>
            <a:pPr algn="l"/>
            <a:r>
              <a:rPr sz="1300" b="0" i="0">
                <a:solidFill>
                  <a:srgbClr val="1B2A41"/>
                </a:solidFill>
                <a:latin typeface="Arial"/>
              </a:rPr>
              <a:t>Sai đơn vị là dự báo giỏi một con số không ai cần.</a:t>
            </a:r>
          </a:p>
        </p:txBody>
      </p:sp>
      <p:sp>
        <p:nvSpPr>
          <p:cNvPr id="18" name="TextBox 17"/>
          <p:cNvSpPr txBox="1"/>
          <p:nvPr/>
        </p:nvSpPr>
        <p:spPr>
          <a:xfrm>
            <a:off x="4535424" y="3712463"/>
            <a:ext cx="3154680" cy="548640"/>
          </a:xfrm>
          <a:prstGeom prst="rect">
            <a:avLst/>
          </a:prstGeom>
          <a:noFill/>
        </p:spPr>
        <p:txBody>
          <a:bodyPr wrap="square" lIns="0" rIns="0" tIns="0" bIns="0" anchor="t">
            <a:spAutoFit/>
          </a:bodyPr>
          <a:lstStyle/>
          <a:p>
            <a:pPr algn="l"/>
            <a:r>
              <a:rPr sz="1200" b="0" i="0">
                <a:solidFill>
                  <a:srgbClr val="5B6778"/>
                </a:solidFill>
                <a:latin typeface="Arial"/>
              </a:rPr>
              <a:t>Ví dụ: kWh (điện năng) mỗi giờ, không phải kW (công suất)</a:t>
            </a:r>
          </a:p>
        </p:txBody>
      </p:sp>
      <p:sp>
        <p:nvSpPr>
          <p:cNvPr id="19" name="Rounded Rectangle 18"/>
          <p:cNvSpPr/>
          <p:nvPr/>
        </p:nvSpPr>
        <p:spPr>
          <a:xfrm>
            <a:off x="8065008" y="2112263"/>
            <a:ext cx="3575304" cy="224028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293608" y="2295144"/>
            <a:ext cx="457200" cy="4572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700" b="1" i="0">
                <a:solidFill>
                  <a:srgbClr val="FFFFFF"/>
                </a:solidFill>
                <a:latin typeface="Arial"/>
              </a:rPr>
              <a:t>3</a:t>
            </a:r>
          </a:p>
        </p:txBody>
      </p:sp>
      <p:sp>
        <p:nvSpPr>
          <p:cNvPr id="21" name="TextBox 20"/>
          <p:cNvSpPr txBox="1"/>
          <p:nvPr/>
        </p:nvSpPr>
        <p:spPr>
          <a:xfrm>
            <a:off x="8887968" y="2295144"/>
            <a:ext cx="2651760" cy="457200"/>
          </a:xfrm>
          <a:prstGeom prst="rect">
            <a:avLst/>
          </a:prstGeom>
          <a:noFill/>
        </p:spPr>
        <p:txBody>
          <a:bodyPr wrap="square" lIns="0" rIns="0" tIns="0" bIns="0" anchor="ctr">
            <a:spAutoFit/>
          </a:bodyPr>
          <a:lstStyle/>
          <a:p>
            <a:pPr algn="l"/>
            <a:r>
              <a:rPr sz="1700" b="1" i="0">
                <a:solidFill>
                  <a:srgbClr val="1B2A41"/>
                </a:solidFill>
                <a:latin typeface="Arial"/>
              </a:rPr>
              <a:t>Tầm dự báo</a:t>
            </a:r>
          </a:p>
        </p:txBody>
      </p:sp>
      <p:sp>
        <p:nvSpPr>
          <p:cNvPr id="22" name="TextBox 21"/>
          <p:cNvSpPr txBox="1"/>
          <p:nvPr/>
        </p:nvSpPr>
        <p:spPr>
          <a:xfrm>
            <a:off x="8293608" y="2889503"/>
            <a:ext cx="3154680" cy="320040"/>
          </a:xfrm>
          <a:prstGeom prst="rect">
            <a:avLst/>
          </a:prstGeom>
          <a:noFill/>
        </p:spPr>
        <p:txBody>
          <a:bodyPr wrap="square" lIns="0" rIns="0" tIns="0" bIns="0" anchor="t">
            <a:spAutoFit/>
          </a:bodyPr>
          <a:lstStyle/>
          <a:p>
            <a:pPr algn="l"/>
            <a:r>
              <a:rPr sz="1400" b="1" i="0">
                <a:solidFill>
                  <a:srgbClr val="0F8B8D"/>
                </a:solidFill>
                <a:latin typeface="Arial"/>
              </a:rPr>
              <a:t>Nhìn xa bao nhiêu bước?</a:t>
            </a:r>
          </a:p>
        </p:txBody>
      </p:sp>
      <p:sp>
        <p:nvSpPr>
          <p:cNvPr id="23" name="TextBox 22"/>
          <p:cNvSpPr txBox="1"/>
          <p:nvPr/>
        </p:nvSpPr>
        <p:spPr>
          <a:xfrm>
            <a:off x="8293608" y="3209544"/>
            <a:ext cx="3154680" cy="502920"/>
          </a:xfrm>
          <a:prstGeom prst="rect">
            <a:avLst/>
          </a:prstGeom>
          <a:noFill/>
        </p:spPr>
        <p:txBody>
          <a:bodyPr wrap="square" lIns="0" rIns="0" tIns="0" bIns="0" anchor="t">
            <a:spAutoFit/>
          </a:bodyPr>
          <a:lstStyle/>
          <a:p>
            <a:pPr algn="l"/>
            <a:r>
              <a:rPr sz="1300" b="0" i="0">
                <a:solidFill>
                  <a:srgbClr val="1B2A41"/>
                </a:solidFill>
                <a:latin typeface="Arial"/>
              </a:rPr>
              <a:t>Nhìn xa h bước thì chỉ dùng được số liệu cũ hơn h bước.</a:t>
            </a:r>
          </a:p>
        </p:txBody>
      </p:sp>
      <p:sp>
        <p:nvSpPr>
          <p:cNvPr id="24" name="TextBox 23"/>
          <p:cNvSpPr txBox="1"/>
          <p:nvPr/>
        </p:nvSpPr>
        <p:spPr>
          <a:xfrm>
            <a:off x="8293608" y="3712463"/>
            <a:ext cx="3154680" cy="548640"/>
          </a:xfrm>
          <a:prstGeom prst="rect">
            <a:avLst/>
          </a:prstGeom>
          <a:noFill/>
        </p:spPr>
        <p:txBody>
          <a:bodyPr wrap="square" lIns="0" rIns="0" tIns="0" bIns="0" anchor="t">
            <a:spAutoFit/>
          </a:bodyPr>
          <a:lstStyle/>
          <a:p>
            <a:pPr algn="l"/>
            <a:r>
              <a:rPr sz="1200" b="0" i="0">
                <a:solidFill>
                  <a:srgbClr val="5B6778"/>
                </a:solidFill>
                <a:latin typeface="Arial"/>
              </a:rPr>
              <a:t>Ví dụ: 1–168 giờ, tính từ 00:00 thứ Hai</a:t>
            </a:r>
          </a:p>
        </p:txBody>
      </p:sp>
      <p:sp>
        <p:nvSpPr>
          <p:cNvPr id="25" name="Rounded Rectangle 24"/>
          <p:cNvSpPr/>
          <p:nvPr/>
        </p:nvSpPr>
        <p:spPr>
          <a:xfrm>
            <a:off x="548640" y="4489704"/>
            <a:ext cx="3575304" cy="224028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777240" y="4672584"/>
            <a:ext cx="457200" cy="4572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700" b="1" i="0">
                <a:solidFill>
                  <a:srgbClr val="FFFFFF"/>
                </a:solidFill>
                <a:latin typeface="Arial"/>
              </a:rPr>
              <a:t>4</a:t>
            </a:r>
          </a:p>
        </p:txBody>
      </p:sp>
      <p:sp>
        <p:nvSpPr>
          <p:cNvPr id="27" name="TextBox 26"/>
          <p:cNvSpPr txBox="1"/>
          <p:nvPr/>
        </p:nvSpPr>
        <p:spPr>
          <a:xfrm>
            <a:off x="1371600" y="4672584"/>
            <a:ext cx="2651760" cy="457200"/>
          </a:xfrm>
          <a:prstGeom prst="rect">
            <a:avLst/>
          </a:prstGeom>
          <a:noFill/>
        </p:spPr>
        <p:txBody>
          <a:bodyPr wrap="square" lIns="0" rIns="0" tIns="0" bIns="0" anchor="ctr">
            <a:spAutoFit/>
          </a:bodyPr>
          <a:lstStyle/>
          <a:p>
            <a:pPr algn="l"/>
            <a:r>
              <a:rPr sz="1700" b="1" i="0">
                <a:solidFill>
                  <a:srgbClr val="1B2A41"/>
                </a:solidFill>
                <a:latin typeface="Arial"/>
              </a:rPr>
              <a:t>Độ chi tiết</a:t>
            </a:r>
          </a:p>
        </p:txBody>
      </p:sp>
      <p:sp>
        <p:nvSpPr>
          <p:cNvPr id="28" name="TextBox 27"/>
          <p:cNvSpPr txBox="1"/>
          <p:nvPr/>
        </p:nvSpPr>
        <p:spPr>
          <a:xfrm>
            <a:off x="777240" y="5266944"/>
            <a:ext cx="3154680" cy="320040"/>
          </a:xfrm>
          <a:prstGeom prst="rect">
            <a:avLst/>
          </a:prstGeom>
          <a:noFill/>
        </p:spPr>
        <p:txBody>
          <a:bodyPr wrap="square" lIns="0" rIns="0" tIns="0" bIns="0" anchor="t">
            <a:spAutoFit/>
          </a:bodyPr>
          <a:lstStyle/>
          <a:p>
            <a:pPr algn="l"/>
            <a:r>
              <a:rPr sz="1400" b="1" i="0">
                <a:solidFill>
                  <a:srgbClr val="0F8B8D"/>
                </a:solidFill>
                <a:latin typeface="Arial"/>
              </a:rPr>
              <a:t>Chấm ở mức nào?</a:t>
            </a:r>
          </a:p>
        </p:txBody>
      </p:sp>
      <p:sp>
        <p:nvSpPr>
          <p:cNvPr id="29" name="TextBox 28"/>
          <p:cNvSpPr txBox="1"/>
          <p:nvPr/>
        </p:nvSpPr>
        <p:spPr>
          <a:xfrm>
            <a:off x="777240" y="5586984"/>
            <a:ext cx="3154680" cy="502920"/>
          </a:xfrm>
          <a:prstGeom prst="rect">
            <a:avLst/>
          </a:prstGeom>
          <a:noFill/>
        </p:spPr>
        <p:txBody>
          <a:bodyPr wrap="square" lIns="0" rIns="0" tIns="0" bIns="0" anchor="t">
            <a:spAutoFit/>
          </a:bodyPr>
          <a:lstStyle/>
          <a:p>
            <a:pPr algn="l"/>
            <a:r>
              <a:rPr sz="1300" b="0" i="0">
                <a:solidFill>
                  <a:srgbClr val="1B2A41"/>
                </a:solidFill>
                <a:latin typeface="Arial"/>
              </a:rPr>
              <a:t>Chấm sai mức là chọn nhầm mô hình.</a:t>
            </a:r>
          </a:p>
        </p:txBody>
      </p:sp>
      <p:sp>
        <p:nvSpPr>
          <p:cNvPr id="30" name="TextBox 29"/>
          <p:cNvSpPr txBox="1"/>
          <p:nvPr/>
        </p:nvSpPr>
        <p:spPr>
          <a:xfrm>
            <a:off x="777240" y="6089904"/>
            <a:ext cx="3154680" cy="548640"/>
          </a:xfrm>
          <a:prstGeom prst="rect">
            <a:avLst/>
          </a:prstGeom>
          <a:noFill/>
        </p:spPr>
        <p:txBody>
          <a:bodyPr wrap="square" lIns="0" rIns="0" tIns="0" bIns="0" anchor="t">
            <a:spAutoFit/>
          </a:bodyPr>
          <a:lstStyle/>
          <a:p>
            <a:pPr algn="l"/>
            <a:r>
              <a:rPr sz="1200" b="0" i="0">
                <a:solidFill>
                  <a:srgbClr val="5B6778"/>
                </a:solidFill>
                <a:latin typeface="Arial"/>
              </a:rPr>
              <a:t>Ví dụ: theo giờ, cho cả khu</a:t>
            </a:r>
          </a:p>
        </p:txBody>
      </p:sp>
      <p:sp>
        <p:nvSpPr>
          <p:cNvPr id="31" name="Rounded Rectangle 30"/>
          <p:cNvSpPr/>
          <p:nvPr/>
        </p:nvSpPr>
        <p:spPr>
          <a:xfrm>
            <a:off x="4306824" y="4489704"/>
            <a:ext cx="3575304" cy="224028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535424" y="4672584"/>
            <a:ext cx="457200" cy="4572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700" b="1" i="0">
                <a:solidFill>
                  <a:srgbClr val="FFFFFF"/>
                </a:solidFill>
                <a:latin typeface="Arial"/>
              </a:rPr>
              <a:t>5</a:t>
            </a:r>
          </a:p>
        </p:txBody>
      </p:sp>
      <p:sp>
        <p:nvSpPr>
          <p:cNvPr id="33" name="TextBox 32"/>
          <p:cNvSpPr txBox="1"/>
          <p:nvPr/>
        </p:nvSpPr>
        <p:spPr>
          <a:xfrm>
            <a:off x="5129784" y="4672584"/>
            <a:ext cx="2651760" cy="457200"/>
          </a:xfrm>
          <a:prstGeom prst="rect">
            <a:avLst/>
          </a:prstGeom>
          <a:noFill/>
        </p:spPr>
        <p:txBody>
          <a:bodyPr wrap="square" lIns="0" rIns="0" tIns="0" bIns="0" anchor="ctr">
            <a:spAutoFit/>
          </a:bodyPr>
          <a:lstStyle/>
          <a:p>
            <a:pPr algn="l"/>
            <a:r>
              <a:rPr sz="1700" b="1" i="0">
                <a:solidFill>
                  <a:srgbClr val="1B2A41"/>
                </a:solidFill>
                <a:latin typeface="Arial"/>
              </a:rPr>
              <a:t>Mốc cắt dữ liệu</a:t>
            </a:r>
          </a:p>
        </p:txBody>
      </p:sp>
      <p:sp>
        <p:nvSpPr>
          <p:cNvPr id="34" name="TextBox 33"/>
          <p:cNvSpPr txBox="1"/>
          <p:nvPr/>
        </p:nvSpPr>
        <p:spPr>
          <a:xfrm>
            <a:off x="4535424" y="5266944"/>
            <a:ext cx="3154680" cy="320040"/>
          </a:xfrm>
          <a:prstGeom prst="rect">
            <a:avLst/>
          </a:prstGeom>
          <a:noFill/>
        </p:spPr>
        <p:txBody>
          <a:bodyPr wrap="square" lIns="0" rIns="0" tIns="0" bIns="0" anchor="t">
            <a:spAutoFit/>
          </a:bodyPr>
          <a:lstStyle/>
          <a:p>
            <a:pPr algn="l"/>
            <a:r>
              <a:rPr sz="1400" b="1" i="0">
                <a:solidFill>
                  <a:srgbClr val="0F8B8D"/>
                </a:solidFill>
                <a:latin typeface="Arial"/>
              </a:rPr>
              <a:t>Lúc dự báo đã biết gì?</a:t>
            </a:r>
          </a:p>
        </p:txBody>
      </p:sp>
      <p:sp>
        <p:nvSpPr>
          <p:cNvPr id="35" name="TextBox 34"/>
          <p:cNvSpPr txBox="1"/>
          <p:nvPr/>
        </p:nvSpPr>
        <p:spPr>
          <a:xfrm>
            <a:off x="4535424" y="5586984"/>
            <a:ext cx="3154680" cy="502920"/>
          </a:xfrm>
          <a:prstGeom prst="rect">
            <a:avLst/>
          </a:prstGeom>
          <a:noFill/>
        </p:spPr>
        <p:txBody>
          <a:bodyPr wrap="square" lIns="0" rIns="0" tIns="0" bIns="0" anchor="t">
            <a:spAutoFit/>
          </a:bodyPr>
          <a:lstStyle/>
          <a:p>
            <a:pPr algn="l"/>
            <a:r>
              <a:rPr sz="1300" b="0" i="0">
                <a:solidFill>
                  <a:srgbClr val="1B2A41"/>
                </a:solidFill>
                <a:latin typeface="Arial"/>
              </a:rPr>
              <a:t>Lỡ dùng thứ chưa có là rò rỉ: backtest đẹp, dùng thật tệ.</a:t>
            </a:r>
          </a:p>
        </p:txBody>
      </p:sp>
      <p:sp>
        <p:nvSpPr>
          <p:cNvPr id="36" name="TextBox 35"/>
          <p:cNvSpPr txBox="1"/>
          <p:nvPr/>
        </p:nvSpPr>
        <p:spPr>
          <a:xfrm>
            <a:off x="4535424" y="6089904"/>
            <a:ext cx="3154680" cy="548640"/>
          </a:xfrm>
          <a:prstGeom prst="rect">
            <a:avLst/>
          </a:prstGeom>
          <a:noFill/>
        </p:spPr>
        <p:txBody>
          <a:bodyPr wrap="square" lIns="0" rIns="0" tIns="0" bIns="0" anchor="t">
            <a:spAutoFit/>
          </a:bodyPr>
          <a:lstStyle/>
          <a:p>
            <a:pPr algn="l"/>
            <a:r>
              <a:rPr sz="1200" b="0" i="0">
                <a:solidFill>
                  <a:srgbClr val="5B6778"/>
                </a:solidFill>
                <a:latin typeface="Arial"/>
              </a:rPr>
              <a:t>Ví dụ: số đo tới 23:59 Chủ nhật; thời tiết chỉ có bản dự báo</a:t>
            </a:r>
          </a:p>
        </p:txBody>
      </p:sp>
      <p:sp>
        <p:nvSpPr>
          <p:cNvPr id="37" name="Rounded Rectangle 36"/>
          <p:cNvSpPr/>
          <p:nvPr/>
        </p:nvSpPr>
        <p:spPr>
          <a:xfrm>
            <a:off x="8065008" y="4489704"/>
            <a:ext cx="3575304" cy="224028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8293608" y="4672584"/>
            <a:ext cx="457200" cy="457200"/>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700" b="1" i="0">
                <a:solidFill>
                  <a:srgbClr val="FFFFFF"/>
                </a:solidFill>
                <a:latin typeface="Arial"/>
              </a:rPr>
              <a:t>6</a:t>
            </a:r>
          </a:p>
        </p:txBody>
      </p:sp>
      <p:sp>
        <p:nvSpPr>
          <p:cNvPr id="39" name="TextBox 38"/>
          <p:cNvSpPr txBox="1"/>
          <p:nvPr/>
        </p:nvSpPr>
        <p:spPr>
          <a:xfrm>
            <a:off x="8887968" y="4672584"/>
            <a:ext cx="2651760" cy="457200"/>
          </a:xfrm>
          <a:prstGeom prst="rect">
            <a:avLst/>
          </a:prstGeom>
          <a:noFill/>
        </p:spPr>
        <p:txBody>
          <a:bodyPr wrap="square" lIns="0" rIns="0" tIns="0" bIns="0" anchor="ctr">
            <a:spAutoFit/>
          </a:bodyPr>
          <a:lstStyle/>
          <a:p>
            <a:pPr algn="l"/>
            <a:r>
              <a:rPr sz="1700" b="1" i="0">
                <a:solidFill>
                  <a:srgbClr val="1B2A41"/>
                </a:solidFill>
                <a:latin typeface="Arial"/>
              </a:rPr>
              <a:t>Chi phí sai hai chiều</a:t>
            </a:r>
          </a:p>
        </p:txBody>
      </p:sp>
      <p:sp>
        <p:nvSpPr>
          <p:cNvPr id="40" name="TextBox 39"/>
          <p:cNvSpPr txBox="1"/>
          <p:nvPr/>
        </p:nvSpPr>
        <p:spPr>
          <a:xfrm>
            <a:off x="8293608" y="5266944"/>
            <a:ext cx="3154680" cy="320040"/>
          </a:xfrm>
          <a:prstGeom prst="rect">
            <a:avLst/>
          </a:prstGeom>
          <a:noFill/>
        </p:spPr>
        <p:txBody>
          <a:bodyPr wrap="square" lIns="0" rIns="0" tIns="0" bIns="0" anchor="t">
            <a:spAutoFit/>
          </a:bodyPr>
          <a:lstStyle/>
          <a:p>
            <a:pPr algn="l"/>
            <a:r>
              <a:rPr sz="1400" b="1" i="0">
                <a:solidFill>
                  <a:srgbClr val="0F8B8D"/>
                </a:solidFill>
                <a:latin typeface="Arial"/>
              </a:rPr>
              <a:t>Thiếu mất gì? Thừa mất gì?</a:t>
            </a:r>
          </a:p>
        </p:txBody>
      </p:sp>
      <p:sp>
        <p:nvSpPr>
          <p:cNvPr id="41" name="TextBox 40"/>
          <p:cNvSpPr txBox="1"/>
          <p:nvPr/>
        </p:nvSpPr>
        <p:spPr>
          <a:xfrm>
            <a:off x="8293608" y="5586984"/>
            <a:ext cx="3154680" cy="502920"/>
          </a:xfrm>
          <a:prstGeom prst="rect">
            <a:avLst/>
          </a:prstGeom>
          <a:noFill/>
        </p:spPr>
        <p:txBody>
          <a:bodyPr wrap="square" lIns="0" rIns="0" tIns="0" bIns="0" anchor="t">
            <a:spAutoFit/>
          </a:bodyPr>
          <a:lstStyle/>
          <a:p>
            <a:pPr algn="l"/>
            <a:r>
              <a:rPr sz="1300" b="0" i="0">
                <a:solidFill>
                  <a:srgbClr val="1B2A41"/>
                </a:solidFill>
                <a:latin typeface="Arial"/>
              </a:rPr>
              <a:t>Thiếu đắt hơn thừa thì nên báo cao hơn trung bình.</a:t>
            </a:r>
          </a:p>
        </p:txBody>
      </p:sp>
      <p:sp>
        <p:nvSpPr>
          <p:cNvPr id="42" name="TextBox 41"/>
          <p:cNvSpPr txBox="1"/>
          <p:nvPr/>
        </p:nvSpPr>
        <p:spPr>
          <a:xfrm>
            <a:off x="8293608" y="6089904"/>
            <a:ext cx="3154680" cy="548640"/>
          </a:xfrm>
          <a:prstGeom prst="rect">
            <a:avLst/>
          </a:prstGeom>
          <a:noFill/>
        </p:spPr>
        <p:txBody>
          <a:bodyPr wrap="square" lIns="0" rIns="0" tIns="0" bIns="0" anchor="t">
            <a:spAutoFit/>
          </a:bodyPr>
          <a:lstStyle/>
          <a:p>
            <a:pPr algn="l"/>
            <a:r>
              <a:rPr sz="1200" b="0" i="0">
                <a:solidFill>
                  <a:srgbClr val="5B6778"/>
                </a:solidFill>
                <a:latin typeface="Arial"/>
              </a:rPr>
              <a:t>Ví dụ: thiếu mất 4 đồng/kWh, thừa mất 1 đồng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0,38 là tốt hay xấu? Phải có baseline</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1, 14</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baseline · naive · seasonal naive · drift</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Có một mốc để biết mô hình tốt hơn hay tệ hơn cách đoán đơn giản nhất.</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0F8B8D"/>
                </a:solidFill>
                <a:latin typeface="Arial"/>
              </a:rPr>
              <a:t>“Sai số 0,38 một mình không nói gì; phải so với cái gì đó.”</a:t>
            </a:r>
          </a:p>
        </p:txBody>
      </p:sp>
      <p:sp>
        <p:nvSpPr>
          <p:cNvPr id="8" name="Rounded Rectangle 7"/>
          <p:cNvSpPr/>
          <p:nvPr/>
        </p:nvSpPr>
        <p:spPr>
          <a:xfrm>
            <a:off x="548640" y="2450591"/>
            <a:ext cx="11091672"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450591"/>
            <a:ext cx="1097280" cy="658368"/>
          </a:xfrm>
          <a:prstGeom prst="rect">
            <a:avLst/>
          </a:prstGeom>
          <a:noFill/>
        </p:spPr>
        <p:txBody>
          <a:bodyPr wrap="square" lIns="0" rIns="0" tIns="0" bIns="0" anchor="ctr">
            <a:spAutoFit/>
          </a:bodyPr>
          <a:lstStyle/>
          <a:p>
            <a:pPr algn="l"/>
            <a:r>
              <a:rPr sz="1200" b="1" i="0">
                <a:solidFill>
                  <a:srgbClr val="0F8B8D"/>
                </a:solidFill>
                <a:latin typeface="Arial"/>
              </a:rPr>
              <a:t>Công thức</a:t>
            </a:r>
          </a:p>
        </p:txBody>
      </p:sp>
      <p:pic>
        <p:nvPicPr>
          <p:cNvPr id="10" name="Picture 9" descr="27bc7e0dfb0b.png"/>
          <p:cNvPicPr>
            <a:picLocks noChangeAspect="1"/>
          </p:cNvPicPr>
          <p:nvPr/>
        </p:nvPicPr>
        <p:blipFill>
          <a:blip r:embed="rId2"/>
          <a:stretch>
            <a:fillRect/>
          </a:stretch>
        </p:blipFill>
        <p:spPr>
          <a:xfrm>
            <a:off x="1783080" y="2609087"/>
            <a:ext cx="6412992" cy="341376"/>
          </a:xfrm>
          <a:prstGeom prst="rect">
            <a:avLst/>
          </a:prstGeom>
        </p:spPr>
      </p:pic>
      <p:sp>
        <p:nvSpPr>
          <p:cNvPr id="11" name="TextBox 10"/>
          <p:cNvSpPr txBox="1"/>
          <p:nvPr/>
        </p:nvSpPr>
        <p:spPr>
          <a:xfrm>
            <a:off x="8378952" y="2450591"/>
            <a:ext cx="3124200" cy="658368"/>
          </a:xfrm>
          <a:prstGeom prst="rect">
            <a:avLst/>
          </a:prstGeom>
          <a:noFill/>
        </p:spPr>
        <p:txBody>
          <a:bodyPr wrap="square" lIns="0" rIns="0" tIns="0" bIns="0" anchor="ctr">
            <a:spAutoFit/>
          </a:bodyPr>
          <a:lstStyle/>
          <a:p>
            <a:pPr algn="l"/>
            <a:r>
              <a:rPr sz="1150" b="0" i="0">
                <a:solidFill>
                  <a:srgbClr val="1B2A41"/>
                </a:solidFill>
                <a:latin typeface="Arial"/>
              </a:rPr>
              <a:t>Naive, seasonal naive (h ≤ m), drift. Drift 10 → 18 trong 5 bước: dốc 1,6, bước sau 19,6.</a:t>
            </a:r>
          </a:p>
        </p:txBody>
      </p:sp>
      <p:pic>
        <p:nvPicPr>
          <p:cNvPr id="12" name="Picture 11" descr="bon-baseline.png"/>
          <p:cNvPicPr>
            <a:picLocks noChangeAspect="1"/>
          </p:cNvPicPr>
          <p:nvPr/>
        </p:nvPicPr>
        <p:blipFill>
          <a:blip r:embed="rId3"/>
          <a:stretch>
            <a:fillRect/>
          </a:stretch>
        </p:blipFill>
        <p:spPr>
          <a:xfrm>
            <a:off x="3521340" y="3200399"/>
            <a:ext cx="5146270" cy="1737360"/>
          </a:xfrm>
          <a:prstGeom prst="rect">
            <a:avLst/>
          </a:prstGeom>
        </p:spPr>
      </p:pic>
      <p:sp>
        <p:nvSpPr>
          <p:cNvPr id="13" name="Rounded Rectangle 12"/>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5" name="TextBox 14"/>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Cách dự báo đơn giản nhất: naive lấy giá trị cuối, seasonal naive lấy cùng vị trí mùa trước, cộng mean và drift. Độ trễ phải ≥ tầm dự báo.</a:t>
            </a:r>
          </a:p>
        </p:txBody>
      </p:sp>
      <p:sp>
        <p:nvSpPr>
          <p:cNvPr id="16" name="Rounded Rectangle 15"/>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So với baseline thế nào</a:t>
            </a:r>
          </a:p>
        </p:txBody>
      </p:sp>
      <p:sp>
        <p:nvSpPr>
          <p:cNvPr id="18" name="TextBox 17"/>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600" b="0" i="0">
                <a:solidFill>
                  <a:srgbClr val="1B2A41"/>
                </a:solidFill>
                <a:latin typeface="Arial"/>
              </a:rPr>
              <a:t/>
            </a:r>
          </a:p>
        </p:txBody>
      </p:sp>
      <p:cxnSp>
        <p:nvCxnSpPr>
          <p:cNvPr id="19" name="Connector 18"/>
          <p:cNvCxnSpPr/>
          <p:nvPr/>
        </p:nvCxnSpPr>
        <p:spPr>
          <a:xfrm>
            <a:off x="4963667" y="5532120"/>
            <a:ext cx="2261617"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4881372"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34840" y="5669280"/>
            <a:ext cx="1057655" cy="274320"/>
          </a:xfrm>
          <a:prstGeom prst="rect">
            <a:avLst/>
          </a:prstGeom>
          <a:noFill/>
        </p:spPr>
        <p:txBody>
          <a:bodyPr wrap="square" lIns="0" rIns="0" tIns="0" bIns="0" anchor="t">
            <a:spAutoFit/>
          </a:bodyPr>
          <a:lstStyle/>
          <a:p>
            <a:pPr algn="ctr"/>
            <a:r>
              <a:rPr sz="1400" b="1" i="0">
                <a:solidFill>
                  <a:srgbClr val="0F8B8D"/>
                </a:solidFill>
                <a:latin typeface="Arial"/>
              </a:rPr>
              <a:t>thấp hơn</a:t>
            </a:r>
          </a:p>
        </p:txBody>
      </p:sp>
      <p:sp>
        <p:nvSpPr>
          <p:cNvPr id="22" name="TextBox 21"/>
          <p:cNvSpPr txBox="1"/>
          <p:nvPr/>
        </p:nvSpPr>
        <p:spPr>
          <a:xfrm>
            <a:off x="4434840"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mô hình có giá trị</a:t>
            </a:r>
          </a:p>
        </p:txBody>
      </p:sp>
      <p:sp>
        <p:nvSpPr>
          <p:cNvPr id="23" name="Oval 22"/>
          <p:cNvSpPr/>
          <p:nvPr/>
        </p:nvSpPr>
        <p:spPr>
          <a:xfrm>
            <a:off x="6012179"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565647" y="5669280"/>
            <a:ext cx="1057655" cy="274320"/>
          </a:xfrm>
          <a:prstGeom prst="rect">
            <a:avLst/>
          </a:prstGeom>
          <a:noFill/>
        </p:spPr>
        <p:txBody>
          <a:bodyPr wrap="square" lIns="0" rIns="0" tIns="0" bIns="0" anchor="t">
            <a:spAutoFit/>
          </a:bodyPr>
          <a:lstStyle/>
          <a:p>
            <a:pPr algn="ctr"/>
            <a:r>
              <a:rPr sz="1400" b="1" i="0">
                <a:solidFill>
                  <a:srgbClr val="0F8B8D"/>
                </a:solidFill>
                <a:latin typeface="Arial"/>
              </a:rPr>
              <a:t>ngang</a:t>
            </a:r>
          </a:p>
        </p:txBody>
      </p:sp>
      <p:sp>
        <p:nvSpPr>
          <p:cNvPr id="25" name="TextBox 24"/>
          <p:cNvSpPr txBox="1"/>
          <p:nvPr/>
        </p:nvSpPr>
        <p:spPr>
          <a:xfrm>
            <a:off x="5565647"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chưa đáng công</a:t>
            </a:r>
          </a:p>
        </p:txBody>
      </p:sp>
      <p:sp>
        <p:nvSpPr>
          <p:cNvPr id="26" name="Oval 25"/>
          <p:cNvSpPr/>
          <p:nvPr/>
        </p:nvSpPr>
        <p:spPr>
          <a:xfrm>
            <a:off x="7142987"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96456" y="5669280"/>
            <a:ext cx="1057655" cy="274320"/>
          </a:xfrm>
          <a:prstGeom prst="rect">
            <a:avLst/>
          </a:prstGeom>
          <a:noFill/>
        </p:spPr>
        <p:txBody>
          <a:bodyPr wrap="square" lIns="0" rIns="0" tIns="0" bIns="0" anchor="t">
            <a:spAutoFit/>
          </a:bodyPr>
          <a:lstStyle/>
          <a:p>
            <a:pPr algn="ctr"/>
            <a:r>
              <a:rPr sz="1400" b="1" i="0">
                <a:solidFill>
                  <a:srgbClr val="0F8B8D"/>
                </a:solidFill>
                <a:latin typeface="Arial"/>
              </a:rPr>
              <a:t>cao hơn</a:t>
            </a:r>
          </a:p>
        </p:txBody>
      </p:sp>
      <p:sp>
        <p:nvSpPr>
          <p:cNvPr id="28" name="TextBox 27"/>
          <p:cNvSpPr txBox="1"/>
          <p:nvPr/>
        </p:nvSpPr>
        <p:spPr>
          <a:xfrm>
            <a:off x="6696456"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còn thua cách đơn giản nhất</a:t>
            </a:r>
          </a:p>
        </p:txBody>
      </p:sp>
      <p:sp>
        <p:nvSpPr>
          <p:cNvPr id="29" name="Rounded Rectangle 28"/>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31" name="TextBox 30"/>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Phải thắng cả bốn: trên M4 theo ngày, naive (MASE 0,835) và drift (0,810) còn thắng seasonal naive (1,077).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Bốn baseline, tính bằng tay</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1, 14</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mean · naive · seasonal naive · drift</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Tính được tay bốn cách dự báo đơn giản nhất, vì mọi mô hình trong khoá đều phải thắng chúng.</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0F8B8D"/>
                </a:solidFill>
                <a:latin typeface="Arial"/>
              </a:rPr>
              <a:t>“Baseline nào cũng là một giả định đơn giản về tương lai.”</a:t>
            </a:r>
          </a:p>
        </p:txBody>
      </p:sp>
      <p:sp>
        <p:nvSpPr>
          <p:cNvPr id="8" name="TextBox 7"/>
          <p:cNvSpPr txBox="1"/>
          <p:nvPr/>
        </p:nvSpPr>
        <p:spPr>
          <a:xfrm>
            <a:off x="548640" y="2542032"/>
            <a:ext cx="11091672" cy="365760"/>
          </a:xfrm>
          <a:prstGeom prst="rect">
            <a:avLst/>
          </a:prstGeom>
          <a:noFill/>
        </p:spPr>
        <p:txBody>
          <a:bodyPr wrap="square" lIns="0" rIns="0" tIns="0" bIns="0" anchor="t">
            <a:spAutoFit/>
          </a:bodyPr>
          <a:lstStyle/>
          <a:p>
            <a:pPr algn="l"/>
            <a:r>
              <a:rPr sz="1500" b="1" i="0">
                <a:solidFill>
                  <a:srgbClr val="1B2A41"/>
                </a:solidFill>
                <a:latin typeface="Arial"/>
              </a:rPr>
              <a:t>Chuỗi 10, 14, 12, 16, 14, 18, mùa dài m = 2, dự báo 2 bước tới</a:t>
            </a:r>
          </a:p>
        </p:txBody>
      </p:sp>
      <p:sp>
        <p:nvSpPr>
          <p:cNvPr id="9" name="Rectangle 8"/>
          <p:cNvSpPr/>
          <p:nvPr/>
        </p:nvSpPr>
        <p:spPr>
          <a:xfrm>
            <a:off x="548640" y="2999232"/>
            <a:ext cx="2103120" cy="548640"/>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Baseline</a:t>
            </a:r>
          </a:p>
        </p:txBody>
      </p:sp>
      <p:sp>
        <p:nvSpPr>
          <p:cNvPr id="10" name="Rectangle 9"/>
          <p:cNvSpPr/>
          <p:nvPr/>
        </p:nvSpPr>
        <p:spPr>
          <a:xfrm>
            <a:off x="2651760" y="2999232"/>
            <a:ext cx="3566160" cy="548640"/>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Giả định</a:t>
            </a:r>
          </a:p>
        </p:txBody>
      </p:sp>
      <p:sp>
        <p:nvSpPr>
          <p:cNvPr id="11" name="Rectangle 10"/>
          <p:cNvSpPr/>
          <p:nvPr/>
        </p:nvSpPr>
        <p:spPr>
          <a:xfrm>
            <a:off x="6217920" y="2999232"/>
            <a:ext cx="3291840" cy="548640"/>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Cách tính</a:t>
            </a:r>
          </a:p>
        </p:txBody>
      </p:sp>
      <p:sp>
        <p:nvSpPr>
          <p:cNvPr id="12" name="Rectangle 11"/>
          <p:cNvSpPr/>
          <p:nvPr/>
        </p:nvSpPr>
        <p:spPr>
          <a:xfrm>
            <a:off x="9509760" y="2999232"/>
            <a:ext cx="2130552" cy="548640"/>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1" i="0">
                <a:solidFill>
                  <a:srgbClr val="FFFFFF"/>
                </a:solidFill>
                <a:latin typeface="Arial"/>
              </a:rPr>
              <a:t>Dự báo</a:t>
            </a:r>
          </a:p>
        </p:txBody>
      </p:sp>
      <p:sp>
        <p:nvSpPr>
          <p:cNvPr id="13" name="Rectangle 12"/>
          <p:cNvSpPr/>
          <p:nvPr/>
        </p:nvSpPr>
        <p:spPr>
          <a:xfrm>
            <a:off x="548640" y="3547872"/>
            <a:ext cx="2103120" cy="548640"/>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mean</a:t>
            </a:r>
          </a:p>
        </p:txBody>
      </p:sp>
      <p:sp>
        <p:nvSpPr>
          <p:cNvPr id="14" name="Rectangle 13"/>
          <p:cNvSpPr/>
          <p:nvPr/>
        </p:nvSpPr>
        <p:spPr>
          <a:xfrm>
            <a:off x="2651760" y="3547872"/>
            <a:ext cx="3566160" cy="548640"/>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tương lai quanh trung bình cũ</a:t>
            </a:r>
          </a:p>
        </p:txBody>
      </p:sp>
      <p:sp>
        <p:nvSpPr>
          <p:cNvPr id="15" name="Rectangle 14"/>
          <p:cNvSpPr/>
          <p:nvPr/>
        </p:nvSpPr>
        <p:spPr>
          <a:xfrm>
            <a:off x="6217920" y="3547872"/>
            <a:ext cx="3291840" cy="548640"/>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84 / 6</a:t>
            </a:r>
          </a:p>
        </p:txBody>
      </p:sp>
      <p:sp>
        <p:nvSpPr>
          <p:cNvPr id="16" name="Rectangle 15"/>
          <p:cNvSpPr/>
          <p:nvPr/>
        </p:nvSpPr>
        <p:spPr>
          <a:xfrm>
            <a:off x="9509760" y="3547872"/>
            <a:ext cx="2130552" cy="548640"/>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14; 14</a:t>
            </a:r>
          </a:p>
        </p:txBody>
      </p:sp>
      <p:sp>
        <p:nvSpPr>
          <p:cNvPr id="17" name="Rectangle 16"/>
          <p:cNvSpPr/>
          <p:nvPr/>
        </p:nvSpPr>
        <p:spPr>
          <a:xfrm>
            <a:off x="548640" y="4096511"/>
            <a:ext cx="2103120" cy="548640"/>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naive</a:t>
            </a:r>
          </a:p>
        </p:txBody>
      </p:sp>
      <p:sp>
        <p:nvSpPr>
          <p:cNvPr id="18" name="Rectangle 17"/>
          <p:cNvSpPr/>
          <p:nvPr/>
        </p:nvSpPr>
        <p:spPr>
          <a:xfrm>
            <a:off x="2651760" y="4096511"/>
            <a:ext cx="3566160" cy="548640"/>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tương lai giống điểm cuối</a:t>
            </a:r>
          </a:p>
        </p:txBody>
      </p:sp>
      <p:sp>
        <p:nvSpPr>
          <p:cNvPr id="19" name="Rectangle 18"/>
          <p:cNvSpPr/>
          <p:nvPr/>
        </p:nvSpPr>
        <p:spPr>
          <a:xfrm>
            <a:off x="6217920" y="4096511"/>
            <a:ext cx="3291840" cy="548640"/>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lấy số cuối</a:t>
            </a:r>
          </a:p>
        </p:txBody>
      </p:sp>
      <p:sp>
        <p:nvSpPr>
          <p:cNvPr id="20" name="Rectangle 19"/>
          <p:cNvSpPr/>
          <p:nvPr/>
        </p:nvSpPr>
        <p:spPr>
          <a:xfrm>
            <a:off x="9509760" y="4096511"/>
            <a:ext cx="2130552" cy="548640"/>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18; 18</a:t>
            </a:r>
          </a:p>
        </p:txBody>
      </p:sp>
      <p:sp>
        <p:nvSpPr>
          <p:cNvPr id="21" name="Rectangle 20"/>
          <p:cNvSpPr/>
          <p:nvPr/>
        </p:nvSpPr>
        <p:spPr>
          <a:xfrm>
            <a:off x="548640" y="4645152"/>
            <a:ext cx="2103120" cy="548640"/>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seasonal naive</a:t>
            </a:r>
          </a:p>
        </p:txBody>
      </p:sp>
      <p:sp>
        <p:nvSpPr>
          <p:cNvPr id="22" name="Rectangle 21"/>
          <p:cNvSpPr/>
          <p:nvPr/>
        </p:nvSpPr>
        <p:spPr>
          <a:xfrm>
            <a:off x="2651760" y="4645152"/>
            <a:ext cx="3566160" cy="548640"/>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lặp lại mùa trước</a:t>
            </a:r>
          </a:p>
        </p:txBody>
      </p:sp>
      <p:sp>
        <p:nvSpPr>
          <p:cNvPr id="23" name="Rectangle 22"/>
          <p:cNvSpPr/>
          <p:nvPr/>
        </p:nvSpPr>
        <p:spPr>
          <a:xfrm>
            <a:off x="6217920" y="4645152"/>
            <a:ext cx="3291840" cy="548640"/>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lấy cùng vị trí mùa trước</a:t>
            </a:r>
          </a:p>
        </p:txBody>
      </p:sp>
      <p:sp>
        <p:nvSpPr>
          <p:cNvPr id="24" name="Rectangle 23"/>
          <p:cNvSpPr/>
          <p:nvPr/>
        </p:nvSpPr>
        <p:spPr>
          <a:xfrm>
            <a:off x="9509760" y="4645152"/>
            <a:ext cx="2130552" cy="548640"/>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14; 18</a:t>
            </a:r>
          </a:p>
        </p:txBody>
      </p:sp>
      <p:sp>
        <p:nvSpPr>
          <p:cNvPr id="25" name="Rectangle 24"/>
          <p:cNvSpPr/>
          <p:nvPr/>
        </p:nvSpPr>
        <p:spPr>
          <a:xfrm>
            <a:off x="548640" y="5193792"/>
            <a:ext cx="2103120" cy="548640"/>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drift</a:t>
            </a:r>
          </a:p>
        </p:txBody>
      </p:sp>
      <p:sp>
        <p:nvSpPr>
          <p:cNvPr id="26" name="Rectangle 25"/>
          <p:cNvSpPr/>
          <p:nvPr/>
        </p:nvSpPr>
        <p:spPr>
          <a:xfrm>
            <a:off x="2651760" y="5193792"/>
            <a:ext cx="3566160" cy="548640"/>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đi tiếp theo độ dốc cũ</a:t>
            </a:r>
          </a:p>
        </p:txBody>
      </p:sp>
      <p:sp>
        <p:nvSpPr>
          <p:cNvPr id="27" name="Rectangle 26"/>
          <p:cNvSpPr/>
          <p:nvPr/>
        </p:nvSpPr>
        <p:spPr>
          <a:xfrm>
            <a:off x="6217920" y="5193792"/>
            <a:ext cx="3291840" cy="548640"/>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(18 − 10) / 5 = 1,6 mỗi bước</a:t>
            </a:r>
          </a:p>
        </p:txBody>
      </p:sp>
      <p:sp>
        <p:nvSpPr>
          <p:cNvPr id="28" name="Rectangle 27"/>
          <p:cNvSpPr/>
          <p:nvPr/>
        </p:nvSpPr>
        <p:spPr>
          <a:xfrm>
            <a:off x="9509760" y="5193792"/>
            <a:ext cx="2130552" cy="548640"/>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400" b="0" i="0">
                <a:solidFill>
                  <a:srgbClr val="1B2A41"/>
                </a:solidFill>
                <a:latin typeface="Arial"/>
              </a:rPr>
              <a:t>19,6; 21,2</a:t>
            </a:r>
          </a:p>
        </p:txBody>
      </p:sp>
      <p:sp>
        <p:nvSpPr>
          <p:cNvPr id="29" name="TextBox 28"/>
          <p:cNvSpPr txBox="1"/>
          <p:nvPr/>
        </p:nvSpPr>
        <p:spPr>
          <a:xfrm>
            <a:off x="548640" y="5925312"/>
            <a:ext cx="11091672" cy="914400"/>
          </a:xfrm>
          <a:prstGeom prst="rect">
            <a:avLst/>
          </a:prstGeom>
          <a:noFill/>
        </p:spPr>
        <p:txBody>
          <a:bodyPr wrap="square" lIns="0" rIns="0" tIns="0" bIns="0" anchor="t">
            <a:spAutoFit/>
          </a:bodyPr>
          <a:lstStyle/>
          <a:p>
            <a:pPr algn="l"/>
            <a:r>
              <a:rPr sz="1400" b="0" i="0">
                <a:solidFill>
                  <a:srgbClr val="5B6778"/>
                </a:solidFill>
                <a:latin typeface="Arial"/>
              </a:rPr>
              <a:t>Hai quy tắc: độ trễ của baseline phải ít nhất bằng tầm dự báo, ở mọi h (dự báo 7 ngày thì không dùng “cùng giờ hôm qua”); và mô hình phải thắng cả bốn, vì baseline thắng không phải lúc nào cũng là seasonal naive.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Nhìn trộm đáp án thì sai số đẹp giả</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1</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in-sample error · rolling forecast</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Khớp mô hình trên cả năm 2010 rồi chấm trên chính năm 2010, được MAE 0,380. Tin được không?</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Đo đúng mô hình sẽ sai bao nhiêu khi dùng thật, chứ không phải lúc nó đã thấy đáp án.</a:t>
            </a:r>
          </a:p>
        </p:txBody>
      </p:sp>
      <p:sp>
        <p:nvSpPr>
          <p:cNvPr id="8" name="TextBox 7"/>
          <p:cNvSpPr txBox="1"/>
          <p:nvPr/>
        </p:nvSpPr>
        <p:spPr>
          <a:xfrm>
            <a:off x="1325880" y="2084831"/>
            <a:ext cx="10332720" cy="411480"/>
          </a:xfrm>
          <a:prstGeom prst="rect">
            <a:avLst/>
          </a:prstGeom>
          <a:noFill/>
        </p:spPr>
        <p:txBody>
          <a:bodyPr wrap="square" lIns="0" rIns="0" tIns="0" bIns="0" anchor="t">
            <a:spAutoFit/>
          </a:bodyPr>
          <a:lstStyle/>
          <a:p>
            <a:pPr algn="l"/>
            <a:r>
              <a:rPr sz="1700" b="0" i="1">
                <a:solidFill>
                  <a:srgbClr val="0F8B8D"/>
                </a:solidFill>
                <a:latin typeface="Arial"/>
              </a:rPr>
              <a:t>“Nhìn trộm thì ra sai số ảo; cách chấm trung thực ở slide sau.”</a:t>
            </a:r>
          </a:p>
        </p:txBody>
      </p:sp>
      <p:pic>
        <p:nvPicPr>
          <p:cNvPr id="9" name="Picture 8" descr="sai-so-ao.png"/>
          <p:cNvPicPr>
            <a:picLocks noChangeAspect="1"/>
          </p:cNvPicPr>
          <p:nvPr/>
        </p:nvPicPr>
        <p:blipFill>
          <a:blip r:embed="rId2"/>
          <a:stretch>
            <a:fillRect/>
          </a:stretch>
        </p:blipFill>
        <p:spPr>
          <a:xfrm>
            <a:off x="3069744" y="2816351"/>
            <a:ext cx="6049462" cy="2121408"/>
          </a:xfrm>
          <a:prstGeom prst="rect">
            <a:avLst/>
          </a:prstGeom>
        </p:spPr>
      </p:pic>
      <p:sp>
        <p:nvSpPr>
          <p:cNvPr id="10" name="Rounded Rectangle 9"/>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2" name="TextBox 11"/>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Sai số ảo là sai số đo trên chính dữ liệu đã dùng để dựng dự báo, nên mô hình như đã thấy trước đáp án.</a:t>
            </a:r>
          </a:p>
        </p:txBody>
      </p:sp>
      <p:sp>
        <p:nvSpPr>
          <p:cNvPr id="13" name="Rounded Rectangle 12"/>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Nhận ra thế nào</a:t>
            </a:r>
          </a:p>
        </p:txBody>
      </p:sp>
      <p:sp>
        <p:nvSpPr>
          <p:cNvPr id="15" name="TextBox 14"/>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Sai số ảo luôn thấp hơn sai số thật. Hai con số càng cách xa, mô hình càng học thuộc thay vì học quy luật.</a:t>
            </a:r>
          </a:p>
        </p:txBody>
      </p:sp>
      <p:sp>
        <p:nvSpPr>
          <p:cNvPr id="16" name="Rounded Rectangle 15"/>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18" name="TextBox 17"/>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Cùng một mô hình: nhìn trộm thì MAE 0,380, đứng đầu bảng; chấm trung thực thì 0,508, thua cả trung bình 4 tuần.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Dự báo cuốn: chấm như lúc dùng thật</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1</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rolling forecast · rolling origin · out-of-sample</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Đo sai số đúng như lúc dự báo thật, không đo trên dữ liệu mô hình đã thấy.</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0F8B8D"/>
                </a:solidFill>
                <a:latin typeface="Arial"/>
              </a:rPr>
              <a:t>“Đứng ở một thứ Hai, chỉ nhìn quá khứ, đoán tuần tới, chấm, rồi dời sang thứ Hai sau.”</a:t>
            </a:r>
          </a:p>
        </p:txBody>
      </p:sp>
      <p:pic>
        <p:nvPicPr>
          <p:cNvPr id="8" name="Picture 7" descr="kn-du-bao-cuon.png"/>
          <p:cNvPicPr>
            <a:picLocks noChangeAspect="1"/>
          </p:cNvPicPr>
          <p:nvPr/>
        </p:nvPicPr>
        <p:blipFill>
          <a:blip r:embed="rId2"/>
          <a:stretch>
            <a:fillRect/>
          </a:stretch>
        </p:blipFill>
        <p:spPr>
          <a:xfrm>
            <a:off x="548640" y="2993531"/>
            <a:ext cx="6035040" cy="2955769"/>
          </a:xfrm>
          <a:prstGeom prst="rect">
            <a:avLst/>
          </a:prstGeom>
        </p:spPr>
      </p:pic>
      <p:sp>
        <p:nvSpPr>
          <p:cNvPr id="9" name="Oval 8"/>
          <p:cNvSpPr/>
          <p:nvPr/>
        </p:nvSpPr>
        <p:spPr>
          <a:xfrm>
            <a:off x="6903720" y="2496311"/>
            <a:ext cx="420624" cy="420624"/>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1" i="0">
                <a:solidFill>
                  <a:srgbClr val="FFFFFF"/>
                </a:solidFill>
                <a:latin typeface="Arial"/>
              </a:rPr>
              <a:t>1</a:t>
            </a:r>
          </a:p>
        </p:txBody>
      </p:sp>
      <p:sp>
        <p:nvSpPr>
          <p:cNvPr id="10" name="TextBox 9"/>
          <p:cNvSpPr txBox="1"/>
          <p:nvPr/>
        </p:nvSpPr>
        <p:spPr>
          <a:xfrm>
            <a:off x="7498079" y="2450591"/>
            <a:ext cx="4114800" cy="320040"/>
          </a:xfrm>
          <a:prstGeom prst="rect">
            <a:avLst/>
          </a:prstGeom>
          <a:noFill/>
        </p:spPr>
        <p:txBody>
          <a:bodyPr wrap="square" lIns="0" rIns="0" tIns="0" bIns="0" anchor="t">
            <a:spAutoFit/>
          </a:bodyPr>
          <a:lstStyle/>
          <a:p>
            <a:pPr algn="l"/>
            <a:r>
              <a:rPr sz="1500" b="1" i="0">
                <a:solidFill>
                  <a:srgbClr val="0F8B8D"/>
                </a:solidFill>
                <a:latin typeface="Arial"/>
              </a:rPr>
              <a:t>Đặt gốc</a:t>
            </a:r>
          </a:p>
        </p:txBody>
      </p:sp>
      <p:sp>
        <p:nvSpPr>
          <p:cNvPr id="11" name="TextBox 10"/>
          <p:cNvSpPr txBox="1"/>
          <p:nvPr/>
        </p:nvSpPr>
        <p:spPr>
          <a:xfrm>
            <a:off x="7498079" y="2779775"/>
            <a:ext cx="4114800" cy="644652"/>
          </a:xfrm>
          <a:prstGeom prst="rect">
            <a:avLst/>
          </a:prstGeom>
          <a:noFill/>
        </p:spPr>
        <p:txBody>
          <a:bodyPr wrap="square" lIns="0" rIns="0" tIns="0" bIns="0" anchor="t">
            <a:spAutoFit/>
          </a:bodyPr>
          <a:lstStyle/>
          <a:p>
            <a:pPr algn="l"/>
            <a:r>
              <a:rPr sz="1300" b="0" i="0">
                <a:solidFill>
                  <a:srgbClr val="1B2A41"/>
                </a:solidFill>
                <a:latin typeface="Arial"/>
              </a:rPr>
              <a:t>Chọn một thứ Hai 00:00 làm gốc dự báo.</a:t>
            </a:r>
          </a:p>
        </p:txBody>
      </p:sp>
      <p:sp>
        <p:nvSpPr>
          <p:cNvPr id="12" name="Oval 11"/>
          <p:cNvSpPr/>
          <p:nvPr/>
        </p:nvSpPr>
        <p:spPr>
          <a:xfrm>
            <a:off x="6903720" y="3506723"/>
            <a:ext cx="420624" cy="420624"/>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1" i="0">
                <a:solidFill>
                  <a:srgbClr val="FFFFFF"/>
                </a:solidFill>
                <a:latin typeface="Arial"/>
              </a:rPr>
              <a:t>2</a:t>
            </a:r>
          </a:p>
        </p:txBody>
      </p:sp>
      <p:sp>
        <p:nvSpPr>
          <p:cNvPr id="13" name="TextBox 12"/>
          <p:cNvSpPr txBox="1"/>
          <p:nvPr/>
        </p:nvSpPr>
        <p:spPr>
          <a:xfrm>
            <a:off x="7498079" y="3461003"/>
            <a:ext cx="4114800" cy="320040"/>
          </a:xfrm>
          <a:prstGeom prst="rect">
            <a:avLst/>
          </a:prstGeom>
          <a:noFill/>
        </p:spPr>
        <p:txBody>
          <a:bodyPr wrap="square" lIns="0" rIns="0" tIns="0" bIns="0" anchor="t">
            <a:spAutoFit/>
          </a:bodyPr>
          <a:lstStyle/>
          <a:p>
            <a:pPr algn="l"/>
            <a:r>
              <a:rPr sz="1500" b="1" i="0">
                <a:solidFill>
                  <a:srgbClr val="0F8B8D"/>
                </a:solidFill>
                <a:latin typeface="Arial"/>
              </a:rPr>
              <a:t>Chỉ dùng quá khứ</a:t>
            </a:r>
          </a:p>
        </p:txBody>
      </p:sp>
      <p:sp>
        <p:nvSpPr>
          <p:cNvPr id="14" name="TextBox 13"/>
          <p:cNvSpPr txBox="1"/>
          <p:nvPr/>
        </p:nvSpPr>
        <p:spPr>
          <a:xfrm>
            <a:off x="7498079" y="3790187"/>
            <a:ext cx="4114800" cy="644652"/>
          </a:xfrm>
          <a:prstGeom prst="rect">
            <a:avLst/>
          </a:prstGeom>
          <a:noFill/>
        </p:spPr>
        <p:txBody>
          <a:bodyPr wrap="square" lIns="0" rIns="0" tIns="0" bIns="0" anchor="t">
            <a:spAutoFit/>
          </a:bodyPr>
          <a:lstStyle/>
          <a:p>
            <a:pPr algn="l"/>
            <a:r>
              <a:rPr sz="1300" b="0" i="0">
                <a:solidFill>
                  <a:srgbClr val="1B2A41"/>
                </a:solidFill>
                <a:latin typeface="Arial"/>
              </a:rPr>
              <a:t>Dựng dự báo chỉ từ dữ liệu trước gốc; tuần sắp đoán bị giấu.</a:t>
            </a:r>
          </a:p>
        </p:txBody>
      </p:sp>
      <p:sp>
        <p:nvSpPr>
          <p:cNvPr id="15" name="Oval 14"/>
          <p:cNvSpPr/>
          <p:nvPr/>
        </p:nvSpPr>
        <p:spPr>
          <a:xfrm>
            <a:off x="6903720" y="4517136"/>
            <a:ext cx="420624" cy="420624"/>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1" i="0">
                <a:solidFill>
                  <a:srgbClr val="FFFFFF"/>
                </a:solidFill>
                <a:latin typeface="Arial"/>
              </a:rPr>
              <a:t>3</a:t>
            </a:r>
          </a:p>
        </p:txBody>
      </p:sp>
      <p:sp>
        <p:nvSpPr>
          <p:cNvPr id="16" name="TextBox 15"/>
          <p:cNvSpPr txBox="1"/>
          <p:nvPr/>
        </p:nvSpPr>
        <p:spPr>
          <a:xfrm>
            <a:off x="7498079" y="4471416"/>
            <a:ext cx="4114800" cy="320040"/>
          </a:xfrm>
          <a:prstGeom prst="rect">
            <a:avLst/>
          </a:prstGeom>
          <a:noFill/>
        </p:spPr>
        <p:txBody>
          <a:bodyPr wrap="square" lIns="0" rIns="0" tIns="0" bIns="0" anchor="t">
            <a:spAutoFit/>
          </a:bodyPr>
          <a:lstStyle/>
          <a:p>
            <a:pPr algn="l"/>
            <a:r>
              <a:rPr sz="1500" b="1" i="0">
                <a:solidFill>
                  <a:srgbClr val="0F8B8D"/>
                </a:solidFill>
                <a:latin typeface="Arial"/>
              </a:rPr>
              <a:t>Dự báo rồi chấm</a:t>
            </a:r>
          </a:p>
        </p:txBody>
      </p:sp>
      <p:sp>
        <p:nvSpPr>
          <p:cNvPr id="17" name="TextBox 16"/>
          <p:cNvSpPr txBox="1"/>
          <p:nvPr/>
        </p:nvSpPr>
        <p:spPr>
          <a:xfrm>
            <a:off x="7498079" y="4800600"/>
            <a:ext cx="4114800" cy="644652"/>
          </a:xfrm>
          <a:prstGeom prst="rect">
            <a:avLst/>
          </a:prstGeom>
          <a:noFill/>
        </p:spPr>
        <p:txBody>
          <a:bodyPr wrap="square" lIns="0" rIns="0" tIns="0" bIns="0" anchor="t">
            <a:spAutoFit/>
          </a:bodyPr>
          <a:lstStyle/>
          <a:p>
            <a:pPr algn="l"/>
            <a:r>
              <a:rPr sz="1300" b="0" i="0">
                <a:solidFill>
                  <a:srgbClr val="1B2A41"/>
                </a:solidFill>
                <a:latin typeface="Arial"/>
              </a:rPr>
              <a:t>Đoán 168 giờ tới, sau đó mới mở số đo thật để tính sai số.</a:t>
            </a:r>
          </a:p>
        </p:txBody>
      </p:sp>
      <p:sp>
        <p:nvSpPr>
          <p:cNvPr id="18" name="Oval 17"/>
          <p:cNvSpPr/>
          <p:nvPr/>
        </p:nvSpPr>
        <p:spPr>
          <a:xfrm>
            <a:off x="6903720" y="5527547"/>
            <a:ext cx="420624" cy="420624"/>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1" i="0">
                <a:solidFill>
                  <a:srgbClr val="FFFFFF"/>
                </a:solidFill>
                <a:latin typeface="Arial"/>
              </a:rPr>
              <a:t>4</a:t>
            </a:r>
          </a:p>
        </p:txBody>
      </p:sp>
      <p:sp>
        <p:nvSpPr>
          <p:cNvPr id="19" name="TextBox 18"/>
          <p:cNvSpPr txBox="1"/>
          <p:nvPr/>
        </p:nvSpPr>
        <p:spPr>
          <a:xfrm>
            <a:off x="7498079" y="5481827"/>
            <a:ext cx="4114800" cy="320040"/>
          </a:xfrm>
          <a:prstGeom prst="rect">
            <a:avLst/>
          </a:prstGeom>
          <a:noFill/>
        </p:spPr>
        <p:txBody>
          <a:bodyPr wrap="square" lIns="0" rIns="0" tIns="0" bIns="0" anchor="t">
            <a:spAutoFit/>
          </a:bodyPr>
          <a:lstStyle/>
          <a:p>
            <a:pPr algn="l"/>
            <a:r>
              <a:rPr sz="1500" b="1" i="0">
                <a:solidFill>
                  <a:srgbClr val="0F8B8D"/>
                </a:solidFill>
                <a:latin typeface="Arial"/>
              </a:rPr>
              <a:t>Dời gốc, lặp lại</a:t>
            </a:r>
          </a:p>
        </p:txBody>
      </p:sp>
      <p:sp>
        <p:nvSpPr>
          <p:cNvPr id="20" name="TextBox 19"/>
          <p:cNvSpPr txBox="1"/>
          <p:nvPr/>
        </p:nvSpPr>
        <p:spPr>
          <a:xfrm>
            <a:off x="7498079" y="5811012"/>
            <a:ext cx="4114800" cy="644652"/>
          </a:xfrm>
          <a:prstGeom prst="rect">
            <a:avLst/>
          </a:prstGeom>
          <a:noFill/>
        </p:spPr>
        <p:txBody>
          <a:bodyPr wrap="square" lIns="0" rIns="0" tIns="0" bIns="0" anchor="t">
            <a:spAutoFit/>
          </a:bodyPr>
          <a:lstStyle/>
          <a:p>
            <a:pPr algn="l"/>
            <a:r>
              <a:rPr sz="1300" b="0" i="0">
                <a:solidFill>
                  <a:srgbClr val="1B2A41"/>
                </a:solidFill>
                <a:latin typeface="Arial"/>
              </a:rPr>
              <a:t>Sang thứ Hai sau, làm lại, rồi lấy trung bình sai số. Làm vậy trên quá khứ gọi là backtest.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Chấm theo giờ hay theo tuần: thứ hạng đảo</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1</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granularity · temporal aggregation · evaluation level</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Trung bình 4 tuần thắng khi chấm theo giờ. Nếu công ty mua điện một khối cho cả tuần thì sao?</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Chấm mô hình ở đúng mức mà quyết định sẽ dùng.</a:t>
            </a:r>
          </a:p>
        </p:txBody>
      </p:sp>
      <p:sp>
        <p:nvSpPr>
          <p:cNvPr id="8" name="TextBox 7"/>
          <p:cNvSpPr txBox="1"/>
          <p:nvPr/>
        </p:nvSpPr>
        <p:spPr>
          <a:xfrm>
            <a:off x="1325880" y="2084831"/>
            <a:ext cx="10332720" cy="411480"/>
          </a:xfrm>
          <a:prstGeom prst="rect">
            <a:avLst/>
          </a:prstGeom>
          <a:noFill/>
        </p:spPr>
        <p:txBody>
          <a:bodyPr wrap="square" lIns="0" rIns="0" tIns="0" bIns="0" anchor="t">
            <a:spAutoFit/>
          </a:bodyPr>
          <a:lstStyle/>
          <a:p>
            <a:pPr algn="l"/>
            <a:r>
              <a:rPr sz="1700" b="0" i="1">
                <a:solidFill>
                  <a:srgbClr val="0F8B8D"/>
                </a:solidFill>
                <a:latin typeface="Arial"/>
              </a:rPr>
              <a:t>“Chấm theo giờ thì thắng theo giờ; chấm theo tuần thì thắng theo tuần.”</a:t>
            </a:r>
          </a:p>
        </p:txBody>
      </p:sp>
      <p:pic>
        <p:nvPicPr>
          <p:cNvPr id="9" name="Picture 8" descr="tong-tuan.png"/>
          <p:cNvPicPr>
            <a:picLocks noChangeAspect="1"/>
          </p:cNvPicPr>
          <p:nvPr/>
        </p:nvPicPr>
        <p:blipFill>
          <a:blip r:embed="rId2"/>
          <a:stretch>
            <a:fillRect/>
          </a:stretch>
        </p:blipFill>
        <p:spPr>
          <a:xfrm>
            <a:off x="3381890" y="2816351"/>
            <a:ext cx="5425170" cy="2121408"/>
          </a:xfrm>
          <a:prstGeom prst="rect">
            <a:avLst/>
          </a:prstGeom>
        </p:spPr>
      </p:pic>
      <p:sp>
        <p:nvSpPr>
          <p:cNvPr id="10" name="Rounded Rectangle 9"/>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2" name="TextBox 11"/>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Độ chi tiết là mức gộp của dự báo và của phép chấm: theo giờ, ngày hay tuần; từng hộ hay cả khu.</a:t>
            </a:r>
          </a:p>
        </p:txBody>
      </p:sp>
      <p:sp>
        <p:nvSpPr>
          <p:cNvPr id="13" name="Rounded Rectangle 12"/>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Nhận ra thế nào</a:t>
            </a:r>
          </a:p>
        </p:txBody>
      </p:sp>
      <p:sp>
        <p:nvSpPr>
          <p:cNvPr id="15" name="TextBox 14"/>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Gộp lên mức thô thì phần lệch lên và lệch xuống bù trừ nhau, nên thứ hạng các mô hình có thể đổi hẳn.</a:t>
            </a:r>
          </a:p>
        </p:txBody>
      </p:sp>
      <p:sp>
        <p:nvSpPr>
          <p:cNvPr id="16" name="Rounded Rectangle 15"/>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18" name="TextBox 17"/>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Theo giờ, trung bình 4 tuần (0,490) thắng bảng lịch (0,508). Theo tổng tuần, bảng lịch (16,4) thắng (27,9).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Thiếu và thừa đắt khác nhau: dùng quantile</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1–2</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quantile · median · pinball loss · coverage</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Chọn mức dự báo cân được cái giá của thiếu và cái giá của thừa.</a:t>
            </a:r>
          </a:p>
        </p:txBody>
      </p:sp>
      <p:sp>
        <p:nvSpPr>
          <p:cNvPr id="7" name="Rounded Rectangle 6"/>
          <p:cNvSpPr/>
          <p:nvPr/>
        </p:nvSpPr>
        <p:spPr>
          <a:xfrm>
            <a:off x="548640" y="2066543"/>
            <a:ext cx="6309360"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8fb615a06624.png"/>
          <p:cNvPicPr>
            <a:picLocks noChangeAspect="1"/>
          </p:cNvPicPr>
          <p:nvPr/>
        </p:nvPicPr>
        <p:blipFill>
          <a:blip r:embed="rId2"/>
          <a:stretch>
            <a:fillRect/>
          </a:stretch>
        </p:blipFill>
        <p:spPr>
          <a:xfrm>
            <a:off x="1138428" y="2225040"/>
            <a:ext cx="5129784" cy="341376"/>
          </a:xfrm>
          <a:prstGeom prst="rect">
            <a:avLst/>
          </a:prstGeom>
        </p:spPr>
      </p:pic>
      <p:pic>
        <p:nvPicPr>
          <p:cNvPr id="9" name="Picture 8" descr="kn-quantile-trung-vi.png"/>
          <p:cNvPicPr>
            <a:picLocks noChangeAspect="1"/>
          </p:cNvPicPr>
          <p:nvPr/>
        </p:nvPicPr>
        <p:blipFill>
          <a:blip r:embed="rId3"/>
          <a:stretch>
            <a:fillRect/>
          </a:stretch>
        </p:blipFill>
        <p:spPr>
          <a:xfrm>
            <a:off x="548640" y="3076955"/>
            <a:ext cx="6309360" cy="3154680"/>
          </a:xfrm>
          <a:prstGeom prst="rect">
            <a:avLst/>
          </a:prstGeom>
        </p:spPr>
      </p:pic>
      <p:sp>
        <p:nvSpPr>
          <p:cNvPr id="10" name="TextBox 9"/>
          <p:cNvSpPr txBox="1"/>
          <p:nvPr/>
        </p:nvSpPr>
        <p:spPr>
          <a:xfrm>
            <a:off x="7223760" y="206654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1" name="TextBox 10"/>
          <p:cNvSpPr txBox="1"/>
          <p:nvPr/>
        </p:nvSpPr>
        <p:spPr>
          <a:xfrm>
            <a:off x="7223760" y="2386584"/>
            <a:ext cx="4416552" cy="1127760"/>
          </a:xfrm>
          <a:prstGeom prst="rect">
            <a:avLst/>
          </a:prstGeom>
          <a:noFill/>
        </p:spPr>
        <p:txBody>
          <a:bodyPr wrap="square" lIns="0" rIns="0" tIns="0" bIns="0" anchor="t">
            <a:spAutoFit/>
          </a:bodyPr>
          <a:lstStyle/>
          <a:p>
            <a:pPr algn="l"/>
            <a:r>
              <a:rPr sz="1500" b="0" i="0">
                <a:solidFill>
                  <a:srgbClr val="1B2A41"/>
                </a:solidFill>
                <a:latin typeface="Arial"/>
              </a:rPr>
              <a:t>Quantile p là giá trị nhỏ nhất mà ít nhất tỷ lệ p số liệu nằm dưới hoặc bằng nó; trung vị là quantile 0,5. Dự báo quantile được chấm bằng pinball loss.</a:t>
            </a:r>
          </a:p>
        </p:txBody>
      </p:sp>
      <p:sp>
        <p:nvSpPr>
          <p:cNvPr id="12" name="TextBox 11"/>
          <p:cNvSpPr txBox="1"/>
          <p:nvPr/>
        </p:nvSpPr>
        <p:spPr>
          <a:xfrm>
            <a:off x="7223760" y="3541775"/>
            <a:ext cx="4416552" cy="274320"/>
          </a:xfrm>
          <a:prstGeom prst="rect">
            <a:avLst/>
          </a:prstGeom>
          <a:noFill/>
        </p:spPr>
        <p:txBody>
          <a:bodyPr wrap="square" lIns="0" rIns="0" tIns="0" bIns="0" anchor="t">
            <a:spAutoFit/>
          </a:bodyPr>
          <a:lstStyle/>
          <a:p>
            <a:pPr algn="l"/>
            <a:r>
              <a:rPr sz="1400" b="1" i="0">
                <a:solidFill>
                  <a:srgbClr val="0F8B8D"/>
                </a:solidFill>
                <a:latin typeface="Arial"/>
              </a:rPr>
              <a:t>Cao hay thấp nghĩa là gì</a:t>
            </a:r>
          </a:p>
        </p:txBody>
      </p:sp>
      <p:cxnSp>
        <p:nvCxnSpPr>
          <p:cNvPr id="13" name="Connector 12"/>
          <p:cNvCxnSpPr/>
          <p:nvPr/>
        </p:nvCxnSpPr>
        <p:spPr>
          <a:xfrm>
            <a:off x="7959852" y="3998975"/>
            <a:ext cx="2944368"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7877556" y="391668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60336" y="4136136"/>
            <a:ext cx="1399032" cy="274320"/>
          </a:xfrm>
          <a:prstGeom prst="rect">
            <a:avLst/>
          </a:prstGeom>
          <a:noFill/>
        </p:spPr>
        <p:txBody>
          <a:bodyPr wrap="square" lIns="0" rIns="0" tIns="0" bIns="0" anchor="t">
            <a:spAutoFit/>
          </a:bodyPr>
          <a:lstStyle/>
          <a:p>
            <a:pPr algn="ctr"/>
            <a:r>
              <a:rPr sz="1400" b="1" i="0">
                <a:solidFill>
                  <a:srgbClr val="0F8B8D"/>
                </a:solidFill>
                <a:latin typeface="Arial"/>
              </a:rPr>
              <a:t>p = 0,1</a:t>
            </a:r>
          </a:p>
        </p:txBody>
      </p:sp>
      <p:sp>
        <p:nvSpPr>
          <p:cNvPr id="16" name="TextBox 15"/>
          <p:cNvSpPr txBox="1"/>
          <p:nvPr/>
        </p:nvSpPr>
        <p:spPr>
          <a:xfrm>
            <a:off x="7260336" y="4410456"/>
            <a:ext cx="1399032" cy="548640"/>
          </a:xfrm>
          <a:prstGeom prst="rect">
            <a:avLst/>
          </a:prstGeom>
          <a:noFill/>
        </p:spPr>
        <p:txBody>
          <a:bodyPr wrap="square" lIns="0" rIns="0" tIns="0" bIns="0" anchor="t">
            <a:spAutoFit/>
          </a:bodyPr>
          <a:lstStyle/>
          <a:p>
            <a:pPr algn="ctr"/>
            <a:r>
              <a:rPr sz="1100" b="0" i="0">
                <a:solidFill>
                  <a:srgbClr val="1B2A41"/>
                </a:solidFill>
                <a:latin typeface="Arial"/>
              </a:rPr>
              <a:t>thấp, hay thiếu</a:t>
            </a:r>
          </a:p>
        </p:txBody>
      </p:sp>
      <p:sp>
        <p:nvSpPr>
          <p:cNvPr id="17" name="Oval 16"/>
          <p:cNvSpPr/>
          <p:nvPr/>
        </p:nvSpPr>
        <p:spPr>
          <a:xfrm>
            <a:off x="9349740" y="391668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32519" y="4136136"/>
            <a:ext cx="1399032" cy="274320"/>
          </a:xfrm>
          <a:prstGeom prst="rect">
            <a:avLst/>
          </a:prstGeom>
          <a:noFill/>
        </p:spPr>
        <p:txBody>
          <a:bodyPr wrap="square" lIns="0" rIns="0" tIns="0" bIns="0" anchor="t">
            <a:spAutoFit/>
          </a:bodyPr>
          <a:lstStyle/>
          <a:p>
            <a:pPr algn="ctr"/>
            <a:r>
              <a:rPr sz="1400" b="1" i="0">
                <a:solidFill>
                  <a:srgbClr val="0F8B8D"/>
                </a:solidFill>
                <a:latin typeface="Arial"/>
              </a:rPr>
              <a:t>p = 0,5</a:t>
            </a:r>
          </a:p>
        </p:txBody>
      </p:sp>
      <p:sp>
        <p:nvSpPr>
          <p:cNvPr id="19" name="TextBox 18"/>
          <p:cNvSpPr txBox="1"/>
          <p:nvPr/>
        </p:nvSpPr>
        <p:spPr>
          <a:xfrm>
            <a:off x="8732519" y="4410456"/>
            <a:ext cx="1399032" cy="548640"/>
          </a:xfrm>
          <a:prstGeom prst="rect">
            <a:avLst/>
          </a:prstGeom>
          <a:noFill/>
        </p:spPr>
        <p:txBody>
          <a:bodyPr wrap="square" lIns="0" rIns="0" tIns="0" bIns="0" anchor="t">
            <a:spAutoFit/>
          </a:bodyPr>
          <a:lstStyle/>
          <a:p>
            <a:pPr algn="ctr"/>
            <a:r>
              <a:rPr sz="1100" b="0" i="0">
                <a:solidFill>
                  <a:srgbClr val="1B2A41"/>
                </a:solidFill>
                <a:latin typeface="Arial"/>
              </a:rPr>
              <a:t>trung vị</a:t>
            </a:r>
          </a:p>
        </p:txBody>
      </p:sp>
      <p:sp>
        <p:nvSpPr>
          <p:cNvPr id="20" name="Oval 19"/>
          <p:cNvSpPr/>
          <p:nvPr/>
        </p:nvSpPr>
        <p:spPr>
          <a:xfrm>
            <a:off x="10821924" y="391668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204704" y="4136136"/>
            <a:ext cx="1399032" cy="274320"/>
          </a:xfrm>
          <a:prstGeom prst="rect">
            <a:avLst/>
          </a:prstGeom>
          <a:noFill/>
        </p:spPr>
        <p:txBody>
          <a:bodyPr wrap="square" lIns="0" rIns="0" tIns="0" bIns="0" anchor="t">
            <a:spAutoFit/>
          </a:bodyPr>
          <a:lstStyle/>
          <a:p>
            <a:pPr algn="ctr"/>
            <a:r>
              <a:rPr sz="1400" b="1" i="0">
                <a:solidFill>
                  <a:srgbClr val="0F8B8D"/>
                </a:solidFill>
                <a:latin typeface="Arial"/>
              </a:rPr>
              <a:t>p = 0,9</a:t>
            </a:r>
          </a:p>
        </p:txBody>
      </p:sp>
      <p:sp>
        <p:nvSpPr>
          <p:cNvPr id="22" name="TextBox 21"/>
          <p:cNvSpPr txBox="1"/>
          <p:nvPr/>
        </p:nvSpPr>
        <p:spPr>
          <a:xfrm>
            <a:off x="10204704" y="4410456"/>
            <a:ext cx="1399032" cy="548640"/>
          </a:xfrm>
          <a:prstGeom prst="rect">
            <a:avLst/>
          </a:prstGeom>
          <a:noFill/>
        </p:spPr>
        <p:txBody>
          <a:bodyPr wrap="square" lIns="0" rIns="0" tIns="0" bIns="0" anchor="t">
            <a:spAutoFit/>
          </a:bodyPr>
          <a:lstStyle/>
          <a:p>
            <a:pPr algn="ctr"/>
            <a:r>
              <a:rPr sz="1100" b="0" i="0">
                <a:solidFill>
                  <a:srgbClr val="1B2A41"/>
                </a:solidFill>
                <a:latin typeface="Arial"/>
              </a:rPr>
              <a:t>cao, ít khi thiếu nhưng hay thừa</a:t>
            </a:r>
          </a:p>
        </p:txBody>
      </p:sp>
      <p:sp>
        <p:nvSpPr>
          <p:cNvPr id="23" name="TextBox 22"/>
          <p:cNvSpPr txBox="1"/>
          <p:nvPr/>
        </p:nvSpPr>
        <p:spPr>
          <a:xfrm>
            <a:off x="7223760" y="5017008"/>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24" name="TextBox 23"/>
          <p:cNvSpPr txBox="1"/>
          <p:nvPr/>
        </p:nvSpPr>
        <p:spPr>
          <a:xfrm>
            <a:off x="7223760" y="5337047"/>
            <a:ext cx="4416552" cy="1127760"/>
          </a:xfrm>
          <a:prstGeom prst="rect">
            <a:avLst/>
          </a:prstGeom>
          <a:noFill/>
        </p:spPr>
        <p:txBody>
          <a:bodyPr wrap="square" lIns="0" rIns="0" tIns="0" bIns="0" anchor="t">
            <a:spAutoFit/>
          </a:bodyPr>
          <a:lstStyle/>
          <a:p>
            <a:pPr algn="l"/>
            <a:r>
              <a:rPr sz="1500" b="0" i="0">
                <a:solidFill>
                  <a:srgbClr val="1B2A41"/>
                </a:solidFill>
                <a:latin typeface="Arial"/>
              </a:rPr>
              <a:t>Thiếu mất 4 đồng, thừa mất 1 đồng thì đặt ở quantile 4 / (4 + 1) = 0,8. Với 10 ngày mẫu, mua 9 kWh tốn ít nhất.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Đặt hàng một lần: thiếu và thừa đều tốn tiền</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1–2</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newsvendor problem · pinball loss · quantile forecast</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Mua thiếu mỗi kWh mất 4 đồng, mua thừa mất 1 đồng. Mỗi giờ nên mua bao nhiêu?</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Biết vì sao nên báo cao hơn trung bình khi thiếu đắt hơn thừa, và chấm dự báo kiểu đó bằng gì.</a:t>
            </a:r>
          </a:p>
        </p:txBody>
      </p:sp>
      <p:sp>
        <p:nvSpPr>
          <p:cNvPr id="8" name="Rounded Rectangle 7"/>
          <p:cNvSpPr/>
          <p:nvPr/>
        </p:nvSpPr>
        <p:spPr>
          <a:xfrm>
            <a:off x="548640" y="2432303"/>
            <a:ext cx="6309360"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6164d7acf84.png"/>
          <p:cNvPicPr>
            <a:picLocks noChangeAspect="1"/>
          </p:cNvPicPr>
          <p:nvPr/>
        </p:nvPicPr>
        <p:blipFill>
          <a:blip r:embed="rId2"/>
          <a:stretch>
            <a:fillRect/>
          </a:stretch>
        </p:blipFill>
        <p:spPr>
          <a:xfrm>
            <a:off x="640080" y="2608019"/>
            <a:ext cx="6126480" cy="306937"/>
          </a:xfrm>
          <a:prstGeom prst="rect">
            <a:avLst/>
          </a:prstGeom>
        </p:spPr>
      </p:pic>
      <p:pic>
        <p:nvPicPr>
          <p:cNvPr id="10" name="Picture 9" descr="kn-bai-toan-newsvendor.png"/>
          <p:cNvPicPr>
            <a:picLocks noChangeAspect="1"/>
          </p:cNvPicPr>
          <p:nvPr/>
        </p:nvPicPr>
        <p:blipFill>
          <a:blip r:embed="rId3"/>
          <a:stretch>
            <a:fillRect/>
          </a:stretch>
        </p:blipFill>
        <p:spPr>
          <a:xfrm>
            <a:off x="548640" y="3212312"/>
            <a:ext cx="6309360" cy="3249727"/>
          </a:xfrm>
          <a:prstGeom prst="rect">
            <a:avLst/>
          </a:prstGeom>
        </p:spPr>
      </p:pic>
      <p:sp>
        <p:nvSpPr>
          <p:cNvPr id="11" name="TextBox 10"/>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2" name="TextBox 11"/>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Newsvendor: đặt một lượng trước, thiếu mất Cu mỗi đơn vị, thừa mất Co. Pinball loss chấm dự báo quantile τ: thiếu phạt τ, thừa phạt 1 − τ mỗi đơn vị.</a:t>
            </a:r>
          </a:p>
        </p:txBody>
      </p:sp>
      <p:sp>
        <p:nvSpPr>
          <p:cNvPr id="13" name="TextBox 12"/>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0F8B8D"/>
                </a:solidFill>
                <a:latin typeface="Arial"/>
              </a:rPr>
              <a:t>Tỷ lệ chi phí nói gì</a:t>
            </a:r>
          </a:p>
        </p:txBody>
      </p:sp>
      <p:cxnSp>
        <p:nvCxnSpPr>
          <p:cNvPr id="14" name="Connector 13"/>
          <p:cNvCxnSpPr/>
          <p:nvPr/>
        </p:nvCxnSpPr>
        <p:spPr>
          <a:xfrm>
            <a:off x="7959852" y="4242816"/>
            <a:ext cx="2944368"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7877556"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60336" y="4379976"/>
            <a:ext cx="1399032" cy="274320"/>
          </a:xfrm>
          <a:prstGeom prst="rect">
            <a:avLst/>
          </a:prstGeom>
          <a:noFill/>
        </p:spPr>
        <p:txBody>
          <a:bodyPr wrap="square" lIns="0" rIns="0" tIns="0" bIns="0" anchor="t">
            <a:spAutoFit/>
          </a:bodyPr>
          <a:lstStyle/>
          <a:p>
            <a:pPr algn="ctr"/>
            <a:r>
              <a:rPr sz="1400" b="1" i="0">
                <a:solidFill>
                  <a:srgbClr val="0F8B8D"/>
                </a:solidFill>
                <a:latin typeface="Arial"/>
              </a:rPr>
              <a:t>Cu = Co</a:t>
            </a:r>
          </a:p>
        </p:txBody>
      </p:sp>
      <p:sp>
        <p:nvSpPr>
          <p:cNvPr id="17" name="TextBox 16"/>
          <p:cNvSpPr txBox="1"/>
          <p:nvPr/>
        </p:nvSpPr>
        <p:spPr>
          <a:xfrm>
            <a:off x="7260336"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báo trung vị (τ = 0,5)</a:t>
            </a:r>
          </a:p>
        </p:txBody>
      </p:sp>
      <p:sp>
        <p:nvSpPr>
          <p:cNvPr id="18" name="Oval 17"/>
          <p:cNvSpPr/>
          <p:nvPr/>
        </p:nvSpPr>
        <p:spPr>
          <a:xfrm>
            <a:off x="9349740"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32519" y="4379976"/>
            <a:ext cx="1399032" cy="274320"/>
          </a:xfrm>
          <a:prstGeom prst="rect">
            <a:avLst/>
          </a:prstGeom>
          <a:noFill/>
        </p:spPr>
        <p:txBody>
          <a:bodyPr wrap="square" lIns="0" rIns="0" tIns="0" bIns="0" anchor="t">
            <a:spAutoFit/>
          </a:bodyPr>
          <a:lstStyle/>
          <a:p>
            <a:pPr algn="ctr"/>
            <a:r>
              <a:rPr sz="1200" b="1" i="0">
                <a:solidFill>
                  <a:srgbClr val="0F8B8D"/>
                </a:solidFill>
                <a:latin typeface="Arial"/>
              </a:rPr>
              <a:t>Cu = 4·Co</a:t>
            </a:r>
          </a:p>
        </p:txBody>
      </p:sp>
      <p:sp>
        <p:nvSpPr>
          <p:cNvPr id="20" name="TextBox 19"/>
          <p:cNvSpPr txBox="1"/>
          <p:nvPr/>
        </p:nvSpPr>
        <p:spPr>
          <a:xfrm>
            <a:off x="8732519"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báo quantile 0,8</a:t>
            </a:r>
          </a:p>
        </p:txBody>
      </p:sp>
      <p:sp>
        <p:nvSpPr>
          <p:cNvPr id="21" name="Oval 20"/>
          <p:cNvSpPr/>
          <p:nvPr/>
        </p:nvSpPr>
        <p:spPr>
          <a:xfrm>
            <a:off x="10821924"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04704" y="4379976"/>
            <a:ext cx="1399032" cy="274320"/>
          </a:xfrm>
          <a:prstGeom prst="rect">
            <a:avLst/>
          </a:prstGeom>
          <a:noFill/>
        </p:spPr>
        <p:txBody>
          <a:bodyPr wrap="square" lIns="0" rIns="0" tIns="0" bIns="0" anchor="t">
            <a:spAutoFit/>
          </a:bodyPr>
          <a:lstStyle/>
          <a:p>
            <a:pPr algn="ctr"/>
            <a:r>
              <a:rPr sz="1400" b="1" i="0">
                <a:solidFill>
                  <a:srgbClr val="0F8B8D"/>
                </a:solidFill>
                <a:latin typeface="Arial"/>
              </a:rPr>
              <a:t>Cu ≫ Co</a:t>
            </a:r>
          </a:p>
        </p:txBody>
      </p:sp>
      <p:sp>
        <p:nvSpPr>
          <p:cNvPr id="23" name="TextBox 22"/>
          <p:cNvSpPr txBox="1"/>
          <p:nvPr/>
        </p:nvSpPr>
        <p:spPr>
          <a:xfrm>
            <a:off x="10204704"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báo rất cao, gần như không bao giờ thiếu</a:t>
            </a:r>
          </a:p>
        </p:txBody>
      </p:sp>
      <p:sp>
        <p:nvSpPr>
          <p:cNvPr id="24" name="TextBox 23"/>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25" name="TextBox 24"/>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10 ngày mẫu, thiếu 4 đồng, thừa 1 đồng: mua 8 kWh tốn 33 đồng, mua 9 kWh tốn 28 (ít nhất). Pinball τ = 0,8, thật 10, báo 8: phạt 1,6.</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Phân phối: nhìn hình dạng trước khi tóm</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1–2</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distribution · histogram · cumulative distribution (CDF) · skewness · standard deviation</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17h mai có bao nhiêu lượt thuê? Không ai biết chắc: dưới 100 thì hiếm, quanh 400 hay gặp.</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Biết số liệu hay rơi vào đâu và lệch về phía nào, trước khi tóm nó bằng một con số.</a:t>
            </a:r>
          </a:p>
        </p:txBody>
      </p:sp>
      <p:pic>
        <p:nvPicPr>
          <p:cNvPr id="8" name="Picture 7" descr="histogram-tich-luy.png"/>
          <p:cNvPicPr>
            <a:picLocks noChangeAspect="1"/>
          </p:cNvPicPr>
          <p:nvPr/>
        </p:nvPicPr>
        <p:blipFill>
          <a:blip r:embed="rId2"/>
          <a:stretch>
            <a:fillRect/>
          </a:stretch>
        </p:blipFill>
        <p:spPr>
          <a:xfrm>
            <a:off x="2619090" y="2432303"/>
            <a:ext cx="6950770" cy="2505456"/>
          </a:xfrm>
          <a:prstGeom prst="rect">
            <a:avLst/>
          </a:prstGeom>
        </p:spPr>
      </p:pic>
      <p:sp>
        <p:nvSpPr>
          <p:cNvPr id="9" name="Rounded Rectangle 8"/>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1" name="TextBox 10"/>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Histogram đếm số lần gặp mỗi khoảng giá trị. Đường tích luỹ cho biết bao nhiêu phần số liệu nằm dưới mỗi mốc.</a:t>
            </a:r>
          </a:p>
        </p:txBody>
      </p:sp>
      <p:sp>
        <p:nvSpPr>
          <p:cNvPr id="12" name="Rounded Rectangle 11"/>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Nhận ra thế nào</a:t>
            </a:r>
          </a:p>
        </p:txBody>
      </p:sp>
      <p:sp>
        <p:nvSpPr>
          <p:cNvPr id="14" name="TextBox 13"/>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Đuôi bên phải dài (lệch phải) thì trung bình lớn hơn trung vị. Độ lệch chuẩn càng lớn, số liệu càng tản rộng.</a:t>
            </a:r>
          </a:p>
        </p:txBody>
      </p:sp>
      <p:sp>
        <p:nvSpPr>
          <p:cNvPr id="15" name="Rounded Rectangle 14"/>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17" name="TextBox 16"/>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Lượt thuê xe theo giờ: trung bình 189 nhưng trung vị chỉ 142, vì vài giờ rất đông kéo trung bình lên.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Trung bình, độ lệch chuẩn, z-score</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2, 9, 11</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mean · variance · standard deviation · z-score</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Có thước đo chung cho “mức” và “độ tản” của số liệu, nền của 3σ, 1,96s, CV và chuẩn hoá.</a:t>
            </a:r>
          </a:p>
        </p:txBody>
      </p:sp>
      <p:sp>
        <p:nvSpPr>
          <p:cNvPr id="7" name="Rounded Rectangle 6"/>
          <p:cNvSpPr/>
          <p:nvPr/>
        </p:nvSpPr>
        <p:spPr>
          <a:xfrm>
            <a:off x="548640" y="2066543"/>
            <a:ext cx="6309360" cy="890016"/>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243b7dce65ae.png"/>
          <p:cNvPicPr>
            <a:picLocks noChangeAspect="1"/>
          </p:cNvPicPr>
          <p:nvPr/>
        </p:nvPicPr>
        <p:blipFill>
          <a:blip r:embed="rId2"/>
          <a:stretch>
            <a:fillRect/>
          </a:stretch>
        </p:blipFill>
        <p:spPr>
          <a:xfrm>
            <a:off x="1621536" y="2130552"/>
            <a:ext cx="4163568" cy="762000"/>
          </a:xfrm>
          <a:prstGeom prst="rect">
            <a:avLst/>
          </a:prstGeom>
        </p:spPr>
      </p:pic>
      <p:pic>
        <p:nvPicPr>
          <p:cNvPr id="9" name="Picture 8" descr="kn-phuong-sai-do-lech-chuan.png"/>
          <p:cNvPicPr>
            <a:picLocks noChangeAspect="1"/>
          </p:cNvPicPr>
          <p:nvPr/>
        </p:nvPicPr>
        <p:blipFill>
          <a:blip r:embed="rId3"/>
          <a:stretch>
            <a:fillRect/>
          </a:stretch>
        </p:blipFill>
        <p:spPr>
          <a:xfrm>
            <a:off x="662027" y="3048000"/>
            <a:ext cx="6082585" cy="3444239"/>
          </a:xfrm>
          <a:prstGeom prst="rect">
            <a:avLst/>
          </a:prstGeom>
        </p:spPr>
      </p:pic>
      <p:sp>
        <p:nvSpPr>
          <p:cNvPr id="10" name="TextBox 9"/>
          <p:cNvSpPr txBox="1"/>
          <p:nvPr/>
        </p:nvSpPr>
        <p:spPr>
          <a:xfrm>
            <a:off x="7223760" y="206654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1" name="TextBox 10"/>
          <p:cNvSpPr txBox="1"/>
          <p:nvPr/>
        </p:nvSpPr>
        <p:spPr>
          <a:xfrm>
            <a:off x="7223760" y="2386584"/>
            <a:ext cx="4416552" cy="1127760"/>
          </a:xfrm>
          <a:prstGeom prst="rect">
            <a:avLst/>
          </a:prstGeom>
          <a:noFill/>
        </p:spPr>
        <p:txBody>
          <a:bodyPr wrap="square" lIns="0" rIns="0" tIns="0" bIns="0" anchor="t">
            <a:spAutoFit/>
          </a:bodyPr>
          <a:lstStyle/>
          <a:p>
            <a:pPr algn="l"/>
            <a:r>
              <a:rPr sz="1500" b="0" i="0">
                <a:solidFill>
                  <a:srgbClr val="1B2A41"/>
                </a:solidFill>
                <a:latin typeface="Arial"/>
              </a:rPr>
              <a:t>Phương sai: trung bình bình phương khoảng cách tới trung bình (chia n − 1). Độ lệch chuẩn s: căn của phương sai, cùng đơn vị với dữ liệu. z = (giá trị − trung bình) / s.</a:t>
            </a:r>
          </a:p>
        </p:txBody>
      </p:sp>
      <p:sp>
        <p:nvSpPr>
          <p:cNvPr id="12" name="TextBox 11"/>
          <p:cNvSpPr txBox="1"/>
          <p:nvPr/>
        </p:nvSpPr>
        <p:spPr>
          <a:xfrm>
            <a:off x="7223760" y="3541775"/>
            <a:ext cx="4416552" cy="274320"/>
          </a:xfrm>
          <a:prstGeom prst="rect">
            <a:avLst/>
          </a:prstGeom>
          <a:noFill/>
        </p:spPr>
        <p:txBody>
          <a:bodyPr wrap="square" lIns="0" rIns="0" tIns="0" bIns="0" anchor="t">
            <a:spAutoFit/>
          </a:bodyPr>
          <a:lstStyle/>
          <a:p>
            <a:pPr algn="l"/>
            <a:r>
              <a:rPr sz="1400" b="1" i="0">
                <a:solidFill>
                  <a:srgbClr val="0F8B8D"/>
                </a:solidFill>
                <a:latin typeface="Arial"/>
              </a:rPr>
              <a:t>z lớn hay nhỏ nghĩa là gì</a:t>
            </a:r>
          </a:p>
        </p:txBody>
      </p:sp>
      <p:cxnSp>
        <p:nvCxnSpPr>
          <p:cNvPr id="13" name="Connector 12"/>
          <p:cNvCxnSpPr/>
          <p:nvPr/>
        </p:nvCxnSpPr>
        <p:spPr>
          <a:xfrm>
            <a:off x="7959852" y="3998975"/>
            <a:ext cx="2944368"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7877556" y="391668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60336" y="4136136"/>
            <a:ext cx="1399032" cy="274320"/>
          </a:xfrm>
          <a:prstGeom prst="rect">
            <a:avLst/>
          </a:prstGeom>
          <a:noFill/>
        </p:spPr>
        <p:txBody>
          <a:bodyPr wrap="square" lIns="0" rIns="0" tIns="0" bIns="0" anchor="t">
            <a:spAutoFit/>
          </a:bodyPr>
          <a:lstStyle/>
          <a:p>
            <a:pPr algn="ctr"/>
            <a:r>
              <a:rPr sz="1400" b="1" i="0">
                <a:solidFill>
                  <a:srgbClr val="0F8B8D"/>
                </a:solidFill>
                <a:latin typeface="Arial"/>
              </a:rPr>
              <a:t>z ≈ 0</a:t>
            </a:r>
          </a:p>
        </p:txBody>
      </p:sp>
      <p:sp>
        <p:nvSpPr>
          <p:cNvPr id="16" name="TextBox 15"/>
          <p:cNvSpPr txBox="1"/>
          <p:nvPr/>
        </p:nvSpPr>
        <p:spPr>
          <a:xfrm>
            <a:off x="7260336" y="4410456"/>
            <a:ext cx="1399032" cy="548640"/>
          </a:xfrm>
          <a:prstGeom prst="rect">
            <a:avLst/>
          </a:prstGeom>
          <a:noFill/>
        </p:spPr>
        <p:txBody>
          <a:bodyPr wrap="square" lIns="0" rIns="0" tIns="0" bIns="0" anchor="t">
            <a:spAutoFit/>
          </a:bodyPr>
          <a:lstStyle/>
          <a:p>
            <a:pPr algn="ctr"/>
            <a:r>
              <a:rPr sz="1100" b="0" i="0">
                <a:solidFill>
                  <a:srgbClr val="1B2A41"/>
                </a:solidFill>
                <a:latin typeface="Arial"/>
              </a:rPr>
              <a:t>sát trung bình</a:t>
            </a:r>
          </a:p>
        </p:txBody>
      </p:sp>
      <p:sp>
        <p:nvSpPr>
          <p:cNvPr id="17" name="Oval 16"/>
          <p:cNvSpPr/>
          <p:nvPr/>
        </p:nvSpPr>
        <p:spPr>
          <a:xfrm>
            <a:off x="9349740" y="391668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32519" y="4136136"/>
            <a:ext cx="1399032" cy="274320"/>
          </a:xfrm>
          <a:prstGeom prst="rect">
            <a:avLst/>
          </a:prstGeom>
          <a:noFill/>
        </p:spPr>
        <p:txBody>
          <a:bodyPr wrap="square" lIns="0" rIns="0" tIns="0" bIns="0" anchor="t">
            <a:spAutoFit/>
          </a:bodyPr>
          <a:lstStyle/>
          <a:p>
            <a:pPr algn="ctr"/>
            <a:r>
              <a:rPr sz="1400" b="1" i="0">
                <a:solidFill>
                  <a:srgbClr val="0F8B8D"/>
                </a:solidFill>
                <a:latin typeface="Arial"/>
              </a:rPr>
              <a:t>|z| ≈ 2</a:t>
            </a:r>
          </a:p>
        </p:txBody>
      </p:sp>
      <p:sp>
        <p:nvSpPr>
          <p:cNvPr id="19" name="TextBox 18"/>
          <p:cNvSpPr txBox="1"/>
          <p:nvPr/>
        </p:nvSpPr>
        <p:spPr>
          <a:xfrm>
            <a:off x="8732519" y="4410456"/>
            <a:ext cx="1399032" cy="548640"/>
          </a:xfrm>
          <a:prstGeom prst="rect">
            <a:avLst/>
          </a:prstGeom>
          <a:noFill/>
        </p:spPr>
        <p:txBody>
          <a:bodyPr wrap="square" lIns="0" rIns="0" tIns="0" bIns="0" anchor="t">
            <a:spAutoFit/>
          </a:bodyPr>
          <a:lstStyle/>
          <a:p>
            <a:pPr algn="ctr"/>
            <a:r>
              <a:rPr sz="1100" b="0" i="0">
                <a:solidFill>
                  <a:srgbClr val="1B2A41"/>
                </a:solidFill>
                <a:latin typeface="Arial"/>
              </a:rPr>
              <a:t>khá xa, ít gặp</a:t>
            </a:r>
          </a:p>
        </p:txBody>
      </p:sp>
      <p:sp>
        <p:nvSpPr>
          <p:cNvPr id="20" name="Oval 19"/>
          <p:cNvSpPr/>
          <p:nvPr/>
        </p:nvSpPr>
        <p:spPr>
          <a:xfrm>
            <a:off x="10821924" y="391668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204704" y="4136136"/>
            <a:ext cx="1399032" cy="274320"/>
          </a:xfrm>
          <a:prstGeom prst="rect">
            <a:avLst/>
          </a:prstGeom>
          <a:noFill/>
        </p:spPr>
        <p:txBody>
          <a:bodyPr wrap="square" lIns="0" rIns="0" tIns="0" bIns="0" anchor="t">
            <a:spAutoFit/>
          </a:bodyPr>
          <a:lstStyle/>
          <a:p>
            <a:pPr algn="ctr"/>
            <a:r>
              <a:rPr sz="1400" b="1" i="0">
                <a:solidFill>
                  <a:srgbClr val="0F8B8D"/>
                </a:solidFill>
                <a:latin typeface="Arial"/>
              </a:rPr>
              <a:t>|z| ≥ 3</a:t>
            </a:r>
          </a:p>
        </p:txBody>
      </p:sp>
      <p:sp>
        <p:nvSpPr>
          <p:cNvPr id="22" name="TextBox 21"/>
          <p:cNvSpPr txBox="1"/>
          <p:nvPr/>
        </p:nvSpPr>
        <p:spPr>
          <a:xfrm>
            <a:off x="10204704" y="4410456"/>
            <a:ext cx="1399032" cy="548640"/>
          </a:xfrm>
          <a:prstGeom prst="rect">
            <a:avLst/>
          </a:prstGeom>
          <a:noFill/>
        </p:spPr>
        <p:txBody>
          <a:bodyPr wrap="square" lIns="0" rIns="0" tIns="0" bIns="0" anchor="t">
            <a:spAutoFit/>
          </a:bodyPr>
          <a:lstStyle/>
          <a:p>
            <a:pPr algn="ctr"/>
            <a:r>
              <a:rPr sz="1100" b="0" i="0">
                <a:solidFill>
                  <a:srgbClr val="1B2A41"/>
                </a:solidFill>
                <a:latin typeface="Arial"/>
              </a:rPr>
              <a:t>rất xa, nghi ngoại lai</a:t>
            </a:r>
          </a:p>
        </p:txBody>
      </p:sp>
      <p:sp>
        <p:nvSpPr>
          <p:cNvPr id="23" name="TextBox 22"/>
          <p:cNvSpPr txBox="1"/>
          <p:nvPr/>
        </p:nvSpPr>
        <p:spPr>
          <a:xfrm>
            <a:off x="7223760" y="5017008"/>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24" name="TextBox 23"/>
          <p:cNvSpPr txBox="1"/>
          <p:nvPr/>
        </p:nvSpPr>
        <p:spPr>
          <a:xfrm>
            <a:off x="7223760" y="5337047"/>
            <a:ext cx="4416552" cy="1127760"/>
          </a:xfrm>
          <a:prstGeom prst="rect">
            <a:avLst/>
          </a:prstGeom>
          <a:noFill/>
        </p:spPr>
        <p:txBody>
          <a:bodyPr wrap="square" lIns="0" rIns="0" tIns="0" bIns="0" anchor="t">
            <a:spAutoFit/>
          </a:bodyPr>
          <a:lstStyle/>
          <a:p>
            <a:pPr algn="l"/>
            <a:r>
              <a:rPr sz="1500" b="0" i="0">
                <a:solidFill>
                  <a:srgbClr val="1B2A41"/>
                </a:solidFill>
                <a:latin typeface="Arial"/>
              </a:rPr>
              <a:t>2, 4, 6: trung bình 4, phương sai 4, độ lệch chuẩn 2. Trung bình 10, s = 2, giá trị 16 thì z = 3. Chuẩn hoá 100, 300, 100, 300 ra −1, 1, −1, 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Hệ số lệch: đuôi dài nằm về phía nào</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2</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skewness · long right / left tail</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Trung bình 11 mà trung vị chỉ 8. Số liệu lệch về phía nào, lệch cỡ nào?</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Biết số liệu lệch về phía nào, để hiểu vì sao trung bình khác trung vị.</a:t>
            </a:r>
          </a:p>
        </p:txBody>
      </p:sp>
      <p:sp>
        <p:nvSpPr>
          <p:cNvPr id="8" name="Rounded Rectangle 7"/>
          <p:cNvSpPr/>
          <p:nvPr/>
        </p:nvSpPr>
        <p:spPr>
          <a:xfrm>
            <a:off x="548640" y="2432303"/>
            <a:ext cx="6309360" cy="786384"/>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6420304b69bd.png"/>
          <p:cNvPicPr>
            <a:picLocks noChangeAspect="1"/>
          </p:cNvPicPr>
          <p:nvPr/>
        </p:nvPicPr>
        <p:blipFill>
          <a:blip r:embed="rId2"/>
          <a:stretch>
            <a:fillRect/>
          </a:stretch>
        </p:blipFill>
        <p:spPr>
          <a:xfrm>
            <a:off x="2764536" y="2496311"/>
            <a:ext cx="1877568" cy="658368"/>
          </a:xfrm>
          <a:prstGeom prst="rect">
            <a:avLst/>
          </a:prstGeom>
        </p:spPr>
      </p:pic>
      <p:pic>
        <p:nvPicPr>
          <p:cNvPr id="10" name="Picture 9" descr="kn-he-so-lech.png"/>
          <p:cNvPicPr>
            <a:picLocks noChangeAspect="1"/>
          </p:cNvPicPr>
          <p:nvPr/>
        </p:nvPicPr>
        <p:blipFill>
          <a:blip r:embed="rId3"/>
          <a:stretch>
            <a:fillRect/>
          </a:stretch>
        </p:blipFill>
        <p:spPr>
          <a:xfrm>
            <a:off x="548640" y="3318914"/>
            <a:ext cx="6309360" cy="3164538"/>
          </a:xfrm>
          <a:prstGeom prst="rect">
            <a:avLst/>
          </a:prstGeom>
        </p:spPr>
      </p:pic>
      <p:sp>
        <p:nvSpPr>
          <p:cNvPr id="11" name="TextBox 10"/>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2" name="TextBox 11"/>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Hệ số lệch là trung bình của (độ lệch / s)³. Lập phương giữ dấu và phóng to số ở xa, nên đuôi dài bên nào thì dấu theo bên đó.</a:t>
            </a:r>
          </a:p>
        </p:txBody>
      </p:sp>
      <p:sp>
        <p:nvSpPr>
          <p:cNvPr id="13" name="TextBox 12"/>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0F8B8D"/>
                </a:solidFill>
                <a:latin typeface="Arial"/>
              </a:rPr>
              <a:t>Dấu của hệ số lệch nghĩa là gì</a:t>
            </a:r>
          </a:p>
        </p:txBody>
      </p:sp>
      <p:cxnSp>
        <p:nvCxnSpPr>
          <p:cNvPr id="14" name="Connector 13"/>
          <p:cNvCxnSpPr/>
          <p:nvPr/>
        </p:nvCxnSpPr>
        <p:spPr>
          <a:xfrm>
            <a:off x="7959852" y="4242816"/>
            <a:ext cx="2944368"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7877556"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60336" y="4379976"/>
            <a:ext cx="1399032" cy="274320"/>
          </a:xfrm>
          <a:prstGeom prst="rect">
            <a:avLst/>
          </a:prstGeom>
          <a:noFill/>
        </p:spPr>
        <p:txBody>
          <a:bodyPr wrap="square" lIns="0" rIns="0" tIns="0" bIns="0" anchor="t">
            <a:spAutoFit/>
          </a:bodyPr>
          <a:lstStyle/>
          <a:p>
            <a:pPr algn="ctr"/>
            <a:r>
              <a:rPr sz="1400" b="1" i="0">
                <a:solidFill>
                  <a:srgbClr val="0F8B8D"/>
                </a:solidFill>
                <a:latin typeface="Arial"/>
              </a:rPr>
              <a:t>≈ 0</a:t>
            </a:r>
          </a:p>
        </p:txBody>
      </p:sp>
      <p:sp>
        <p:nvSpPr>
          <p:cNvPr id="17" name="TextBox 16"/>
          <p:cNvSpPr txBox="1"/>
          <p:nvPr/>
        </p:nvSpPr>
        <p:spPr>
          <a:xfrm>
            <a:off x="7260336"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đối xứng, trung bình gần trung vị</a:t>
            </a:r>
          </a:p>
        </p:txBody>
      </p:sp>
      <p:sp>
        <p:nvSpPr>
          <p:cNvPr id="18" name="Oval 17"/>
          <p:cNvSpPr/>
          <p:nvPr/>
        </p:nvSpPr>
        <p:spPr>
          <a:xfrm>
            <a:off x="9349740"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32519" y="4379976"/>
            <a:ext cx="1399032" cy="274320"/>
          </a:xfrm>
          <a:prstGeom prst="rect">
            <a:avLst/>
          </a:prstGeom>
          <a:noFill/>
        </p:spPr>
        <p:txBody>
          <a:bodyPr wrap="square" lIns="0" rIns="0" tIns="0" bIns="0" anchor="t">
            <a:spAutoFit/>
          </a:bodyPr>
          <a:lstStyle/>
          <a:p>
            <a:pPr algn="ctr"/>
            <a:r>
              <a:rPr sz="1400" b="1" i="0">
                <a:solidFill>
                  <a:srgbClr val="0F8B8D"/>
                </a:solidFill>
                <a:latin typeface="Arial"/>
              </a:rPr>
              <a:t>&gt; 0</a:t>
            </a:r>
          </a:p>
        </p:txBody>
      </p:sp>
      <p:sp>
        <p:nvSpPr>
          <p:cNvPr id="20" name="TextBox 19"/>
          <p:cNvSpPr txBox="1"/>
          <p:nvPr/>
        </p:nvSpPr>
        <p:spPr>
          <a:xfrm>
            <a:off x="8732519"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đuôi phải dài, trung bình lớn hơn trung vị</a:t>
            </a:r>
          </a:p>
        </p:txBody>
      </p:sp>
      <p:sp>
        <p:nvSpPr>
          <p:cNvPr id="21" name="Oval 20"/>
          <p:cNvSpPr/>
          <p:nvPr/>
        </p:nvSpPr>
        <p:spPr>
          <a:xfrm>
            <a:off x="10821924"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04704" y="4379976"/>
            <a:ext cx="1399032" cy="274320"/>
          </a:xfrm>
          <a:prstGeom prst="rect">
            <a:avLst/>
          </a:prstGeom>
          <a:noFill/>
        </p:spPr>
        <p:txBody>
          <a:bodyPr wrap="square" lIns="0" rIns="0" tIns="0" bIns="0" anchor="t">
            <a:spAutoFit/>
          </a:bodyPr>
          <a:lstStyle/>
          <a:p>
            <a:pPr algn="ctr"/>
            <a:r>
              <a:rPr sz="1400" b="1" i="0">
                <a:solidFill>
                  <a:srgbClr val="0F8B8D"/>
                </a:solidFill>
                <a:latin typeface="Arial"/>
              </a:rPr>
              <a:t>&lt; 0</a:t>
            </a:r>
          </a:p>
        </p:txBody>
      </p:sp>
      <p:sp>
        <p:nvSpPr>
          <p:cNvPr id="23" name="TextBox 22"/>
          <p:cNvSpPr txBox="1"/>
          <p:nvPr/>
        </p:nvSpPr>
        <p:spPr>
          <a:xfrm>
            <a:off x="10204704"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đuôi trái dài</a:t>
            </a:r>
          </a:p>
        </p:txBody>
      </p:sp>
      <p:sp>
        <p:nvSpPr>
          <p:cNvPr id="24" name="TextBox 23"/>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25" name="TextBox 24"/>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2, 3, 5, 6, 8, 9, 12, 18, 36: số 36 lệch +25 góp gần hết, hệ số lệch +1,35. Lượt thuê theo giờ: 1,277.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Cách phạt quyết định con số nên báo</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2</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loss function · squared / absolute / pinball loss · point forecast</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Chỉ được báo một con số: trung bình, trung vị hay quantile?</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Báo đúng con số (trung bình, trung vị hay quantile) theo cách sai lệch bị tính tiền.</a:t>
            </a:r>
          </a:p>
        </p:txBody>
      </p:sp>
      <p:sp>
        <p:nvSpPr>
          <p:cNvPr id="8" name="Rounded Rectangle 7"/>
          <p:cNvSpPr/>
          <p:nvPr/>
        </p:nvSpPr>
        <p:spPr>
          <a:xfrm>
            <a:off x="548640" y="2432303"/>
            <a:ext cx="11091672"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432303"/>
            <a:ext cx="1097280" cy="658368"/>
          </a:xfrm>
          <a:prstGeom prst="rect">
            <a:avLst/>
          </a:prstGeom>
          <a:noFill/>
        </p:spPr>
        <p:txBody>
          <a:bodyPr wrap="square" lIns="0" rIns="0" tIns="0" bIns="0" anchor="ctr">
            <a:spAutoFit/>
          </a:bodyPr>
          <a:lstStyle/>
          <a:p>
            <a:pPr algn="l"/>
            <a:r>
              <a:rPr sz="1200" b="1" i="0">
                <a:solidFill>
                  <a:srgbClr val="0F8B8D"/>
                </a:solidFill>
                <a:latin typeface="Arial"/>
              </a:rPr>
              <a:t>Công thức</a:t>
            </a:r>
          </a:p>
        </p:txBody>
      </p:sp>
      <p:pic>
        <p:nvPicPr>
          <p:cNvPr id="10" name="Picture 9" descr="5a9f16ad940c.png"/>
          <p:cNvPicPr>
            <a:picLocks noChangeAspect="1"/>
          </p:cNvPicPr>
          <p:nvPr/>
        </p:nvPicPr>
        <p:blipFill>
          <a:blip r:embed="rId2"/>
          <a:stretch>
            <a:fillRect/>
          </a:stretch>
        </p:blipFill>
        <p:spPr>
          <a:xfrm>
            <a:off x="1783080" y="2609087"/>
            <a:ext cx="7086600" cy="304800"/>
          </a:xfrm>
          <a:prstGeom prst="rect">
            <a:avLst/>
          </a:prstGeom>
        </p:spPr>
      </p:pic>
      <p:pic>
        <p:nvPicPr>
          <p:cNvPr id="11" name="Picture 10" descr="ham-mat-mat.png"/>
          <p:cNvPicPr>
            <a:picLocks noChangeAspect="1"/>
          </p:cNvPicPr>
          <p:nvPr/>
        </p:nvPicPr>
        <p:blipFill>
          <a:blip r:embed="rId3"/>
          <a:stretch>
            <a:fillRect/>
          </a:stretch>
        </p:blipFill>
        <p:spPr>
          <a:xfrm>
            <a:off x="3374870" y="3182112"/>
            <a:ext cx="5439210" cy="1755648"/>
          </a:xfrm>
          <a:prstGeom prst="rect">
            <a:avLst/>
          </a:prstGeom>
        </p:spPr>
      </p:pic>
      <p:sp>
        <p:nvSpPr>
          <p:cNvPr id="12" name="Rounded Rectangle 11"/>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4" name="TextBox 13"/>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Hàm mất mát là quy tắc tính phạt cho một dự báo sai. Ba kiểu hay gặp: tuyệt đối, bình phương và pinball.</a:t>
            </a:r>
          </a:p>
        </p:txBody>
      </p:sp>
      <p:sp>
        <p:nvSpPr>
          <p:cNvPr id="15" name="Rounded Rectangle 14"/>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Phạt kiểu nào thì báo gì</a:t>
            </a:r>
          </a:p>
        </p:txBody>
      </p:sp>
      <p:sp>
        <p:nvSpPr>
          <p:cNvPr id="17" name="TextBox 16"/>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600" b="0" i="0">
                <a:solidFill>
                  <a:srgbClr val="1B2A41"/>
                </a:solidFill>
                <a:latin typeface="Arial"/>
              </a:rPr>
              <a:t/>
            </a:r>
          </a:p>
        </p:txBody>
      </p:sp>
      <p:cxnSp>
        <p:nvCxnSpPr>
          <p:cNvPr id="18" name="Connector 17"/>
          <p:cNvCxnSpPr/>
          <p:nvPr/>
        </p:nvCxnSpPr>
        <p:spPr>
          <a:xfrm>
            <a:off x="4963667" y="5532120"/>
            <a:ext cx="2261617"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4881372"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34840" y="5669280"/>
            <a:ext cx="1057655" cy="274320"/>
          </a:xfrm>
          <a:prstGeom prst="rect">
            <a:avLst/>
          </a:prstGeom>
          <a:noFill/>
        </p:spPr>
        <p:txBody>
          <a:bodyPr wrap="square" lIns="0" rIns="0" tIns="0" bIns="0" anchor="t">
            <a:spAutoFit/>
          </a:bodyPr>
          <a:lstStyle/>
          <a:p>
            <a:pPr algn="ctr"/>
            <a:r>
              <a:rPr sz="1200" b="1" i="0">
                <a:solidFill>
                  <a:srgbClr val="0F8B8D"/>
                </a:solidFill>
                <a:latin typeface="Arial"/>
              </a:rPr>
              <a:t>bình phương</a:t>
            </a:r>
          </a:p>
        </p:txBody>
      </p:sp>
      <p:sp>
        <p:nvSpPr>
          <p:cNvPr id="21" name="TextBox 20"/>
          <p:cNvSpPr txBox="1"/>
          <p:nvPr/>
        </p:nvSpPr>
        <p:spPr>
          <a:xfrm>
            <a:off x="4434840"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báo trung bình</a:t>
            </a:r>
          </a:p>
        </p:txBody>
      </p:sp>
      <p:sp>
        <p:nvSpPr>
          <p:cNvPr id="22" name="Oval 21"/>
          <p:cNvSpPr/>
          <p:nvPr/>
        </p:nvSpPr>
        <p:spPr>
          <a:xfrm>
            <a:off x="6012179"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65647" y="5669280"/>
            <a:ext cx="1057655" cy="274320"/>
          </a:xfrm>
          <a:prstGeom prst="rect">
            <a:avLst/>
          </a:prstGeom>
          <a:noFill/>
        </p:spPr>
        <p:txBody>
          <a:bodyPr wrap="square" lIns="0" rIns="0" tIns="0" bIns="0" anchor="t">
            <a:spAutoFit/>
          </a:bodyPr>
          <a:lstStyle/>
          <a:p>
            <a:pPr algn="ctr"/>
            <a:r>
              <a:rPr sz="1200" b="1" i="0">
                <a:solidFill>
                  <a:srgbClr val="0F8B8D"/>
                </a:solidFill>
                <a:latin typeface="Arial"/>
              </a:rPr>
              <a:t>tuyệt đối</a:t>
            </a:r>
          </a:p>
        </p:txBody>
      </p:sp>
      <p:sp>
        <p:nvSpPr>
          <p:cNvPr id="24" name="TextBox 23"/>
          <p:cNvSpPr txBox="1"/>
          <p:nvPr/>
        </p:nvSpPr>
        <p:spPr>
          <a:xfrm>
            <a:off x="5565647"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báo trung vị</a:t>
            </a:r>
          </a:p>
        </p:txBody>
      </p:sp>
      <p:sp>
        <p:nvSpPr>
          <p:cNvPr id="25" name="Oval 24"/>
          <p:cNvSpPr/>
          <p:nvPr/>
        </p:nvSpPr>
        <p:spPr>
          <a:xfrm>
            <a:off x="7142987"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96456" y="5669280"/>
            <a:ext cx="1057655" cy="274320"/>
          </a:xfrm>
          <a:prstGeom prst="rect">
            <a:avLst/>
          </a:prstGeom>
          <a:noFill/>
        </p:spPr>
        <p:txBody>
          <a:bodyPr wrap="square" lIns="0" rIns="0" tIns="0" bIns="0" anchor="t">
            <a:spAutoFit/>
          </a:bodyPr>
          <a:lstStyle/>
          <a:p>
            <a:pPr algn="ctr"/>
            <a:r>
              <a:rPr sz="1200" b="1" i="0">
                <a:solidFill>
                  <a:srgbClr val="0F8B8D"/>
                </a:solidFill>
                <a:latin typeface="Arial"/>
              </a:rPr>
              <a:t>pinball τ</a:t>
            </a:r>
          </a:p>
        </p:txBody>
      </p:sp>
      <p:sp>
        <p:nvSpPr>
          <p:cNvPr id="27" name="TextBox 26"/>
          <p:cNvSpPr txBox="1"/>
          <p:nvPr/>
        </p:nvSpPr>
        <p:spPr>
          <a:xfrm>
            <a:off x="6696456"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báo quantile τ</a:t>
            </a:r>
          </a:p>
        </p:txBody>
      </p:sp>
      <p:sp>
        <p:nvSpPr>
          <p:cNvPr id="28" name="Rounded Rectangle 27"/>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30" name="TextBox 29"/>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Lượt thuê xe: phạt bình phương thấp nhất ở 189,46; phạt tuyệt đối ở 142; pinball τ = 0,9 ở 452.</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Phân phối chuẩn: 95% nằm trong ±1,96 s</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2</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normal distribution · 68–95 rule · quantile 0.975 = 1.96</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Khoảng 95% lấy ±1,96 s. Con số 1,96 ở đâu ra, và dữ liệu lệch phải thì sao?</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Hiểu con số 1,96 của khoảng 95% đến từ đâu, và khi nào dùng được.</a:t>
            </a:r>
          </a:p>
        </p:txBody>
      </p:sp>
      <p:sp>
        <p:nvSpPr>
          <p:cNvPr id="8" name="Rounded Rectangle 7"/>
          <p:cNvSpPr/>
          <p:nvPr/>
        </p:nvSpPr>
        <p:spPr>
          <a:xfrm>
            <a:off x="548640" y="2432303"/>
            <a:ext cx="6309360"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0c53217ae096.png"/>
          <p:cNvPicPr>
            <a:picLocks noChangeAspect="1"/>
          </p:cNvPicPr>
          <p:nvPr/>
        </p:nvPicPr>
        <p:blipFill>
          <a:blip r:embed="rId2"/>
          <a:stretch>
            <a:fillRect/>
          </a:stretch>
        </p:blipFill>
        <p:spPr>
          <a:xfrm>
            <a:off x="2148840" y="2628899"/>
            <a:ext cx="3108960" cy="265176"/>
          </a:xfrm>
          <a:prstGeom prst="rect">
            <a:avLst/>
          </a:prstGeom>
        </p:spPr>
      </p:pic>
      <p:pic>
        <p:nvPicPr>
          <p:cNvPr id="10" name="Picture 9" descr="kn-phan-phoi-chuan.png"/>
          <p:cNvPicPr>
            <a:picLocks noChangeAspect="1"/>
          </p:cNvPicPr>
          <p:nvPr/>
        </p:nvPicPr>
        <p:blipFill>
          <a:blip r:embed="rId3"/>
          <a:stretch>
            <a:fillRect/>
          </a:stretch>
        </p:blipFill>
        <p:spPr>
          <a:xfrm>
            <a:off x="561671" y="3182112"/>
            <a:ext cx="6283296" cy="3310127"/>
          </a:xfrm>
          <a:prstGeom prst="rect">
            <a:avLst/>
          </a:prstGeom>
        </p:spPr>
      </p:pic>
      <p:sp>
        <p:nvSpPr>
          <p:cNvPr id="11" name="TextBox 10"/>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2" name="TextBox 11"/>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Đường cong hình chuông, đối xứng quanh trung bình. Diện tích dưới đường bên trái một mốc là tỷ lệ giá trị nhỏ hơn mốc đó.</a:t>
            </a:r>
          </a:p>
        </p:txBody>
      </p:sp>
      <p:sp>
        <p:nvSpPr>
          <p:cNvPr id="13" name="TextBox 12"/>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0F8B8D"/>
                </a:solidFill>
                <a:latin typeface="Arial"/>
              </a:rPr>
              <a:t>Bao nhiêu phần nằm quanh trung bình</a:t>
            </a:r>
          </a:p>
        </p:txBody>
      </p:sp>
      <p:cxnSp>
        <p:nvCxnSpPr>
          <p:cNvPr id="14" name="Connector 13"/>
          <p:cNvCxnSpPr/>
          <p:nvPr/>
        </p:nvCxnSpPr>
        <p:spPr>
          <a:xfrm>
            <a:off x="7959852" y="4242816"/>
            <a:ext cx="2944368"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7877556"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60336" y="4379976"/>
            <a:ext cx="1399032" cy="274320"/>
          </a:xfrm>
          <a:prstGeom prst="rect">
            <a:avLst/>
          </a:prstGeom>
          <a:noFill/>
        </p:spPr>
        <p:txBody>
          <a:bodyPr wrap="square" lIns="0" rIns="0" tIns="0" bIns="0" anchor="t">
            <a:spAutoFit/>
          </a:bodyPr>
          <a:lstStyle/>
          <a:p>
            <a:pPr algn="ctr"/>
            <a:r>
              <a:rPr sz="1400" b="1" i="0">
                <a:solidFill>
                  <a:srgbClr val="0F8B8D"/>
                </a:solidFill>
                <a:latin typeface="Arial"/>
              </a:rPr>
              <a:t>± 1 s</a:t>
            </a:r>
          </a:p>
        </p:txBody>
      </p:sp>
      <p:sp>
        <p:nvSpPr>
          <p:cNvPr id="17" name="TextBox 16"/>
          <p:cNvSpPr txBox="1"/>
          <p:nvPr/>
        </p:nvSpPr>
        <p:spPr>
          <a:xfrm>
            <a:off x="7260336"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68,3%</a:t>
            </a:r>
          </a:p>
        </p:txBody>
      </p:sp>
      <p:sp>
        <p:nvSpPr>
          <p:cNvPr id="18" name="Oval 17"/>
          <p:cNvSpPr/>
          <p:nvPr/>
        </p:nvSpPr>
        <p:spPr>
          <a:xfrm>
            <a:off x="9349740"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32519" y="4379976"/>
            <a:ext cx="1399032" cy="274320"/>
          </a:xfrm>
          <a:prstGeom prst="rect">
            <a:avLst/>
          </a:prstGeom>
          <a:noFill/>
        </p:spPr>
        <p:txBody>
          <a:bodyPr wrap="square" lIns="0" rIns="0" tIns="0" bIns="0" anchor="t">
            <a:spAutoFit/>
          </a:bodyPr>
          <a:lstStyle/>
          <a:p>
            <a:pPr algn="ctr"/>
            <a:r>
              <a:rPr sz="1400" b="1" i="0">
                <a:solidFill>
                  <a:srgbClr val="0F8B8D"/>
                </a:solidFill>
                <a:latin typeface="Arial"/>
              </a:rPr>
              <a:t>± 1,96 s</a:t>
            </a:r>
          </a:p>
        </p:txBody>
      </p:sp>
      <p:sp>
        <p:nvSpPr>
          <p:cNvPr id="20" name="TextBox 19"/>
          <p:cNvSpPr txBox="1"/>
          <p:nvPr/>
        </p:nvSpPr>
        <p:spPr>
          <a:xfrm>
            <a:off x="8732519"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95,0%, mỗi đuôi 2,5%</a:t>
            </a:r>
          </a:p>
        </p:txBody>
      </p:sp>
      <p:sp>
        <p:nvSpPr>
          <p:cNvPr id="21" name="Oval 20"/>
          <p:cNvSpPr/>
          <p:nvPr/>
        </p:nvSpPr>
        <p:spPr>
          <a:xfrm>
            <a:off x="10821924"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04704" y="4379976"/>
            <a:ext cx="1399032" cy="274320"/>
          </a:xfrm>
          <a:prstGeom prst="rect">
            <a:avLst/>
          </a:prstGeom>
          <a:noFill/>
        </p:spPr>
        <p:txBody>
          <a:bodyPr wrap="square" lIns="0" rIns="0" tIns="0" bIns="0" anchor="t">
            <a:spAutoFit/>
          </a:bodyPr>
          <a:lstStyle/>
          <a:p>
            <a:pPr algn="ctr"/>
            <a:r>
              <a:rPr sz="1400" b="1" i="0">
                <a:solidFill>
                  <a:srgbClr val="0F8B8D"/>
                </a:solidFill>
                <a:latin typeface="Arial"/>
              </a:rPr>
              <a:t>± 2 s</a:t>
            </a:r>
          </a:p>
        </p:txBody>
      </p:sp>
      <p:sp>
        <p:nvSpPr>
          <p:cNvPr id="23" name="TextBox 22"/>
          <p:cNvSpPr txBox="1"/>
          <p:nvPr/>
        </p:nvSpPr>
        <p:spPr>
          <a:xfrm>
            <a:off x="10204704"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95,4%</a:t>
            </a:r>
          </a:p>
        </p:txBody>
      </p:sp>
      <p:sp>
        <p:nvSpPr>
          <p:cNvPr id="24" name="TextBox 23"/>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25" name="TextBox 24"/>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100 ± 1,96 × 10 cho 80,4 tới 119,6. Dữ liệu lệch phải thì không hợp: 11 ± 1,96 × 10,57 cho cận dưới −9,7 lượt thuê.</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Khoảng 95% phải phủ thật 95%</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2</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prediction interval · coverage · empirical quantile</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Báo “17h mai có 65 tới 604 lượt, khả năng 95%”. 95% đó có thật là 95% không?</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Kiểm lời hứa của khoảng dự báo: nói 95% thì có thật là 95% không.</a:t>
            </a:r>
          </a:p>
        </p:txBody>
      </p:sp>
      <p:sp>
        <p:nvSpPr>
          <p:cNvPr id="8" name="TextBox 7"/>
          <p:cNvSpPr txBox="1"/>
          <p:nvPr/>
        </p:nvSpPr>
        <p:spPr>
          <a:xfrm>
            <a:off x="1325880" y="2084831"/>
            <a:ext cx="10332720" cy="411480"/>
          </a:xfrm>
          <a:prstGeom prst="rect">
            <a:avLst/>
          </a:prstGeom>
          <a:noFill/>
        </p:spPr>
        <p:txBody>
          <a:bodyPr wrap="square" lIns="0" rIns="0" tIns="0" bIns="0" anchor="t">
            <a:spAutoFit/>
          </a:bodyPr>
          <a:lstStyle/>
          <a:p>
            <a:pPr algn="l"/>
            <a:r>
              <a:rPr sz="1700" b="0" i="1">
                <a:solidFill>
                  <a:srgbClr val="0F8B8D"/>
                </a:solidFill>
                <a:latin typeface="Arial"/>
              </a:rPr>
              <a:t>“Hứa 95% thì cứ 100 lần phải trúng khoảng 95 lần.”</a:t>
            </a:r>
          </a:p>
        </p:txBody>
      </p:sp>
      <p:sp>
        <p:nvSpPr>
          <p:cNvPr id="9" name="Rounded Rectangle 8"/>
          <p:cNvSpPr/>
          <p:nvPr/>
        </p:nvSpPr>
        <p:spPr>
          <a:xfrm>
            <a:off x="548640" y="2816351"/>
            <a:ext cx="11091672"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816351"/>
            <a:ext cx="1097280" cy="658368"/>
          </a:xfrm>
          <a:prstGeom prst="rect">
            <a:avLst/>
          </a:prstGeom>
          <a:noFill/>
        </p:spPr>
        <p:txBody>
          <a:bodyPr wrap="square" lIns="0" rIns="0" tIns="0" bIns="0" anchor="ctr">
            <a:spAutoFit/>
          </a:bodyPr>
          <a:lstStyle/>
          <a:p>
            <a:pPr algn="l"/>
            <a:r>
              <a:rPr sz="1200" b="1" i="0">
                <a:solidFill>
                  <a:srgbClr val="0F8B8D"/>
                </a:solidFill>
                <a:latin typeface="Arial"/>
              </a:rPr>
              <a:t>Công thức</a:t>
            </a:r>
          </a:p>
        </p:txBody>
      </p:sp>
      <p:pic>
        <p:nvPicPr>
          <p:cNvPr id="11" name="Picture 10" descr="7073b8ccbffc.png"/>
          <p:cNvPicPr>
            <a:picLocks noChangeAspect="1"/>
          </p:cNvPicPr>
          <p:nvPr/>
        </p:nvPicPr>
        <p:blipFill>
          <a:blip r:embed="rId2"/>
          <a:stretch>
            <a:fillRect/>
          </a:stretch>
        </p:blipFill>
        <p:spPr>
          <a:xfrm>
            <a:off x="1783080" y="3012947"/>
            <a:ext cx="6044184" cy="265176"/>
          </a:xfrm>
          <a:prstGeom prst="rect">
            <a:avLst/>
          </a:prstGeom>
        </p:spPr>
      </p:pic>
      <p:sp>
        <p:nvSpPr>
          <p:cNvPr id="12" name="TextBox 11"/>
          <p:cNvSpPr txBox="1"/>
          <p:nvPr/>
        </p:nvSpPr>
        <p:spPr>
          <a:xfrm>
            <a:off x="8010144" y="2816351"/>
            <a:ext cx="3493008" cy="658368"/>
          </a:xfrm>
          <a:prstGeom prst="rect">
            <a:avLst/>
          </a:prstGeom>
          <a:noFill/>
        </p:spPr>
        <p:txBody>
          <a:bodyPr wrap="square" lIns="0" rIns="0" tIns="0" bIns="0" anchor="ctr">
            <a:spAutoFit/>
          </a:bodyPr>
          <a:lstStyle/>
          <a:p>
            <a:pPr algn="l"/>
            <a:r>
              <a:rPr sz="1150" b="0" i="0">
                <a:solidFill>
                  <a:srgbClr val="1B2A41"/>
                </a:solidFill>
                <a:latin typeface="Arial"/>
              </a:rPr>
              <a:t>Tỷ lệ phủ = số giá trị thật rơi vào khoảng chia tổng số giá trị.</a:t>
            </a:r>
          </a:p>
        </p:txBody>
      </p:sp>
      <p:pic>
        <p:nvPicPr>
          <p:cNvPr id="13" name="Picture 12" descr="khoang-2011-2012.png"/>
          <p:cNvPicPr>
            <a:picLocks noChangeAspect="1"/>
          </p:cNvPicPr>
          <p:nvPr/>
        </p:nvPicPr>
        <p:blipFill>
          <a:blip r:embed="rId3"/>
          <a:stretch>
            <a:fillRect/>
          </a:stretch>
        </p:blipFill>
        <p:spPr>
          <a:xfrm>
            <a:off x="4370563" y="3566160"/>
            <a:ext cx="3447825" cy="1371600"/>
          </a:xfrm>
          <a:prstGeom prst="rect">
            <a:avLst/>
          </a:prstGeom>
        </p:spPr>
      </p:pic>
      <p:sp>
        <p:nvSpPr>
          <p:cNvPr id="14" name="Rounded Rectangle 13"/>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6" name="TextBox 15"/>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Khoảng dự báo 95% là vùng được hứa sẽ chứa giá trị thật 95 lần trên 100. Tỷ lệ phủ là tỷ lệ thật sự rơi vào.</a:t>
            </a:r>
          </a:p>
        </p:txBody>
      </p:sp>
      <p:sp>
        <p:nvSpPr>
          <p:cNvPr id="17" name="Rounded Rectangle 16"/>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Tỷ lệ phủ cao hay thấp nghĩa là gì</a:t>
            </a:r>
          </a:p>
        </p:txBody>
      </p:sp>
      <p:sp>
        <p:nvSpPr>
          <p:cNvPr id="19" name="TextBox 18"/>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600" b="0" i="0">
                <a:solidFill>
                  <a:srgbClr val="1B2A41"/>
                </a:solidFill>
                <a:latin typeface="Arial"/>
              </a:rPr>
              <a:t/>
            </a:r>
          </a:p>
        </p:txBody>
      </p:sp>
      <p:cxnSp>
        <p:nvCxnSpPr>
          <p:cNvPr id="20" name="Connector 19"/>
          <p:cNvCxnSpPr/>
          <p:nvPr/>
        </p:nvCxnSpPr>
        <p:spPr>
          <a:xfrm>
            <a:off x="4963667" y="5532120"/>
            <a:ext cx="2261617"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4881372"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34840" y="5669280"/>
            <a:ext cx="1057655" cy="274320"/>
          </a:xfrm>
          <a:prstGeom prst="rect">
            <a:avLst/>
          </a:prstGeom>
          <a:noFill/>
        </p:spPr>
        <p:txBody>
          <a:bodyPr wrap="square" lIns="0" rIns="0" tIns="0" bIns="0" anchor="t">
            <a:spAutoFit/>
          </a:bodyPr>
          <a:lstStyle/>
          <a:p>
            <a:pPr algn="ctr"/>
            <a:r>
              <a:rPr sz="1400" b="1" i="0">
                <a:solidFill>
                  <a:srgbClr val="0F8B8D"/>
                </a:solidFill>
                <a:latin typeface="Arial"/>
              </a:rPr>
              <a:t>dưới 95%</a:t>
            </a:r>
          </a:p>
        </p:txBody>
      </p:sp>
      <p:sp>
        <p:nvSpPr>
          <p:cNvPr id="23" name="TextBox 22"/>
          <p:cNvSpPr txBox="1"/>
          <p:nvPr/>
        </p:nvSpPr>
        <p:spPr>
          <a:xfrm>
            <a:off x="4434840"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khoảng quá hẹp, tự tin quá</a:t>
            </a:r>
          </a:p>
        </p:txBody>
      </p:sp>
      <p:sp>
        <p:nvSpPr>
          <p:cNvPr id="24" name="Oval 23"/>
          <p:cNvSpPr/>
          <p:nvPr/>
        </p:nvSpPr>
        <p:spPr>
          <a:xfrm>
            <a:off x="6012179"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565647" y="5669280"/>
            <a:ext cx="1057655" cy="274320"/>
          </a:xfrm>
          <a:prstGeom prst="rect">
            <a:avLst/>
          </a:prstGeom>
          <a:noFill/>
        </p:spPr>
        <p:txBody>
          <a:bodyPr wrap="square" lIns="0" rIns="0" tIns="0" bIns="0" anchor="t">
            <a:spAutoFit/>
          </a:bodyPr>
          <a:lstStyle/>
          <a:p>
            <a:pPr algn="ctr"/>
            <a:r>
              <a:rPr sz="1400" b="1" i="0">
                <a:solidFill>
                  <a:srgbClr val="0F8B8D"/>
                </a:solidFill>
                <a:latin typeface="Arial"/>
              </a:rPr>
              <a:t>≈ 95%</a:t>
            </a:r>
          </a:p>
        </p:txBody>
      </p:sp>
      <p:sp>
        <p:nvSpPr>
          <p:cNvPr id="26" name="TextBox 25"/>
          <p:cNvSpPr txBox="1"/>
          <p:nvPr/>
        </p:nvSpPr>
        <p:spPr>
          <a:xfrm>
            <a:off x="5565647"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giữ đúng lời hứa</a:t>
            </a:r>
          </a:p>
        </p:txBody>
      </p:sp>
      <p:sp>
        <p:nvSpPr>
          <p:cNvPr id="27" name="Oval 26"/>
          <p:cNvSpPr/>
          <p:nvPr/>
        </p:nvSpPr>
        <p:spPr>
          <a:xfrm>
            <a:off x="7142987"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96456" y="5669280"/>
            <a:ext cx="1057655" cy="274320"/>
          </a:xfrm>
          <a:prstGeom prst="rect">
            <a:avLst/>
          </a:prstGeom>
          <a:noFill/>
        </p:spPr>
        <p:txBody>
          <a:bodyPr wrap="square" lIns="0" rIns="0" tIns="0" bIns="0" anchor="t">
            <a:spAutoFit/>
          </a:bodyPr>
          <a:lstStyle/>
          <a:p>
            <a:pPr algn="ctr"/>
            <a:r>
              <a:rPr sz="1400" b="1" i="0">
                <a:solidFill>
                  <a:srgbClr val="0F8B8D"/>
                </a:solidFill>
                <a:latin typeface="Arial"/>
              </a:rPr>
              <a:t>gần 100%</a:t>
            </a:r>
          </a:p>
        </p:txBody>
      </p:sp>
      <p:sp>
        <p:nvSpPr>
          <p:cNvPr id="29" name="TextBox 28"/>
          <p:cNvSpPr txBox="1"/>
          <p:nvPr/>
        </p:nvSpPr>
        <p:spPr>
          <a:xfrm>
            <a:off x="6696456"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khoảng rộng thừa</a:t>
            </a:r>
          </a:p>
        </p:txBody>
      </p:sp>
      <p:sp>
        <p:nvSpPr>
          <p:cNvPr id="30" name="Rounded Rectangle 29"/>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32" name="TextBox 31"/>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1,96 là quantile 0,975 của phân phối chuẩn. Khoảng ±1,96s từ 2011 phủ 96,4% năm 2011 nhưng chỉ 72,5% năm 2012.</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Khoảng dự báo khác khoảng tin cậy</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2</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prediction interval vs confidence interval · central limit theorem (CLT) · 1/√n</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Trung bình năm 2012 là 234,7 lượt/giờ. Một năm “giống hệt” thì con số này lệch bao nhiêu?</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Không nhầm độ bấp bênh của một giá trị mới với độ bấp bênh của một con số tóm tắt như trung bình.</a:t>
            </a:r>
          </a:p>
        </p:txBody>
      </p:sp>
      <p:sp>
        <p:nvSpPr>
          <p:cNvPr id="8" name="Rounded Rectangle 7"/>
          <p:cNvSpPr/>
          <p:nvPr/>
        </p:nvSpPr>
        <p:spPr>
          <a:xfrm>
            <a:off x="548640" y="2432303"/>
            <a:ext cx="11091672"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432303"/>
            <a:ext cx="1097280" cy="658368"/>
          </a:xfrm>
          <a:prstGeom prst="rect">
            <a:avLst/>
          </a:prstGeom>
          <a:noFill/>
        </p:spPr>
        <p:txBody>
          <a:bodyPr wrap="square" lIns="0" rIns="0" tIns="0" bIns="0" anchor="ctr">
            <a:spAutoFit/>
          </a:bodyPr>
          <a:lstStyle/>
          <a:p>
            <a:pPr algn="l"/>
            <a:r>
              <a:rPr sz="1200" b="1" i="0">
                <a:solidFill>
                  <a:srgbClr val="0F8B8D"/>
                </a:solidFill>
                <a:latin typeface="Arial"/>
              </a:rPr>
              <a:t>Công thức</a:t>
            </a:r>
          </a:p>
        </p:txBody>
      </p:sp>
      <p:pic>
        <p:nvPicPr>
          <p:cNvPr id="10" name="Picture 9" descr="e86ddd4a401c.png"/>
          <p:cNvPicPr>
            <a:picLocks noChangeAspect="1"/>
          </p:cNvPicPr>
          <p:nvPr/>
        </p:nvPicPr>
        <p:blipFill>
          <a:blip r:embed="rId2"/>
          <a:stretch>
            <a:fillRect/>
          </a:stretch>
        </p:blipFill>
        <p:spPr>
          <a:xfrm>
            <a:off x="1783080" y="2596896"/>
            <a:ext cx="1295400" cy="329184"/>
          </a:xfrm>
          <a:prstGeom prst="rect">
            <a:avLst/>
          </a:prstGeom>
        </p:spPr>
      </p:pic>
      <p:sp>
        <p:nvSpPr>
          <p:cNvPr id="11" name="TextBox 10"/>
          <p:cNvSpPr txBox="1"/>
          <p:nvPr/>
        </p:nvSpPr>
        <p:spPr>
          <a:xfrm>
            <a:off x="5602071" y="2432303"/>
            <a:ext cx="5901080" cy="658368"/>
          </a:xfrm>
          <a:prstGeom prst="rect">
            <a:avLst/>
          </a:prstGeom>
          <a:noFill/>
        </p:spPr>
        <p:txBody>
          <a:bodyPr wrap="square" lIns="0" rIns="0" tIns="0" bIns="0" anchor="ctr">
            <a:spAutoFit/>
          </a:bodyPr>
          <a:lstStyle/>
          <a:p>
            <a:pPr algn="l"/>
            <a:r>
              <a:rPr sz="1150" b="0" i="0">
                <a:solidFill>
                  <a:srgbClr val="1B2A41"/>
                </a:solidFill>
                <a:latin typeface="Arial"/>
              </a:rPr>
              <a:t>s = 181, n = 25: 181 / 5 ≈ 36.</a:t>
            </a:r>
          </a:p>
        </p:txBody>
      </p:sp>
      <p:pic>
        <p:nvPicPr>
          <p:cNvPr id="12" name="Picture 11" descr="kn-dinh-ly-gioi-han-trung-tam-clt.png"/>
          <p:cNvPicPr>
            <a:picLocks noChangeAspect="1"/>
          </p:cNvPicPr>
          <p:nvPr/>
        </p:nvPicPr>
        <p:blipFill>
          <a:blip r:embed="rId3"/>
          <a:stretch>
            <a:fillRect/>
          </a:stretch>
        </p:blipFill>
        <p:spPr>
          <a:xfrm>
            <a:off x="3598819" y="3182112"/>
            <a:ext cx="4991313" cy="1755648"/>
          </a:xfrm>
          <a:prstGeom prst="rect">
            <a:avLst/>
          </a:prstGeom>
        </p:spPr>
      </p:pic>
      <p:sp>
        <p:nvSpPr>
          <p:cNvPr id="13" name="Rounded Rectangle 12"/>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5" name="TextBox 14"/>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Khoảng dự báo: nơi một giá trị mới sẽ rơi. Khoảng tin cậy: nơi con số thật, như trung bình, nằm.</a:t>
            </a:r>
          </a:p>
        </p:txBody>
      </p:sp>
      <p:sp>
        <p:nvSpPr>
          <p:cNvPr id="16" name="Rounded Rectangle 15"/>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Thêm dữ liệu thì sao</a:t>
            </a:r>
          </a:p>
        </p:txBody>
      </p:sp>
      <p:sp>
        <p:nvSpPr>
          <p:cNvPr id="18" name="TextBox 17"/>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Khoảng tin cậy hẹp dần theo 1/√n, nhờ định lý giới hạn trung tâm. Khoảng dự báo thì không hẹp về 0, vì từng giá trị vẫn dao động.</a:t>
            </a:r>
          </a:p>
        </p:txBody>
      </p:sp>
      <p:sp>
        <p:nvSpPr>
          <p:cNvPr id="19" name="Rounded Rectangle 18"/>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21" name="TextBox 20"/>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Lượt thuê, độ lệch chuẩn 181: trung bình của 25 giờ dao động 36,1; của 100 giờ còn 18,2; của 400 giờ còn 9,1.</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p-value: nếu H0 đúng, dữ liệu này hiếm cỡ nào?</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2</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null hypothesis H0 · p-value · significance level α · permutation test</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Ngày làm việc năm 2012 đông hơn ngày nghỉ 456 lượt. Khác biệt thật, hay do may?</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Phân biệt một chênh lệch có thật với một chênh lệch chỉ do may rủi.</a:t>
            </a:r>
          </a:p>
        </p:txBody>
      </p:sp>
      <p:sp>
        <p:nvSpPr>
          <p:cNvPr id="8" name="Rounded Rectangle 7"/>
          <p:cNvSpPr/>
          <p:nvPr/>
        </p:nvSpPr>
        <p:spPr>
          <a:xfrm>
            <a:off x="548640" y="2432303"/>
            <a:ext cx="6309360"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ebd38e8283f1.png"/>
          <p:cNvPicPr>
            <a:picLocks noChangeAspect="1"/>
          </p:cNvPicPr>
          <p:nvPr/>
        </p:nvPicPr>
        <p:blipFill>
          <a:blip r:embed="rId2"/>
          <a:stretch>
            <a:fillRect/>
          </a:stretch>
        </p:blipFill>
        <p:spPr>
          <a:xfrm>
            <a:off x="3221736" y="2596896"/>
            <a:ext cx="963167" cy="329184"/>
          </a:xfrm>
          <a:prstGeom prst="rect">
            <a:avLst/>
          </a:prstGeom>
        </p:spPr>
      </p:pic>
      <p:pic>
        <p:nvPicPr>
          <p:cNvPr id="10" name="Picture 9" descr="kn-kiem-dinh-gia-thuyet-khong-h0.png"/>
          <p:cNvPicPr>
            <a:picLocks noChangeAspect="1"/>
          </p:cNvPicPr>
          <p:nvPr/>
        </p:nvPicPr>
        <p:blipFill>
          <a:blip r:embed="rId3"/>
          <a:stretch>
            <a:fillRect/>
          </a:stretch>
        </p:blipFill>
        <p:spPr>
          <a:xfrm>
            <a:off x="548640" y="3253236"/>
            <a:ext cx="6309360" cy="3167879"/>
          </a:xfrm>
          <a:prstGeom prst="rect">
            <a:avLst/>
          </a:prstGeom>
        </p:spPr>
      </p:pic>
      <p:sp>
        <p:nvSpPr>
          <p:cNvPr id="11" name="TextBox 10"/>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2" name="TextBox 11"/>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H0 là giả định “không có gì đặc biệt”. p-value là xác suất gặp dữ liệu lệch cỡ này hoặc hơn, nếu H0 đúng.</a:t>
            </a:r>
          </a:p>
        </p:txBody>
      </p:sp>
      <p:sp>
        <p:nvSpPr>
          <p:cNvPr id="13" name="TextBox 12"/>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0F8B8D"/>
                </a:solidFill>
                <a:latin typeface="Arial"/>
              </a:rPr>
              <a:t>p lớn hay nhỏ nghĩa là gì</a:t>
            </a:r>
          </a:p>
        </p:txBody>
      </p:sp>
      <p:cxnSp>
        <p:nvCxnSpPr>
          <p:cNvPr id="14" name="Connector 13"/>
          <p:cNvCxnSpPr/>
          <p:nvPr/>
        </p:nvCxnSpPr>
        <p:spPr>
          <a:xfrm>
            <a:off x="8327898" y="4242816"/>
            <a:ext cx="2208276"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8245602"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60336" y="4379976"/>
            <a:ext cx="2135124" cy="274320"/>
          </a:xfrm>
          <a:prstGeom prst="rect">
            <a:avLst/>
          </a:prstGeom>
          <a:noFill/>
        </p:spPr>
        <p:txBody>
          <a:bodyPr wrap="square" lIns="0" rIns="0" tIns="0" bIns="0" anchor="t">
            <a:spAutoFit/>
          </a:bodyPr>
          <a:lstStyle/>
          <a:p>
            <a:pPr algn="ctr"/>
            <a:r>
              <a:rPr sz="1400" b="1" i="0">
                <a:solidFill>
                  <a:srgbClr val="0F8B8D"/>
                </a:solidFill>
                <a:latin typeface="Arial"/>
              </a:rPr>
              <a:t>p &lt; 0,05</a:t>
            </a:r>
          </a:p>
        </p:txBody>
      </p:sp>
      <p:sp>
        <p:nvSpPr>
          <p:cNvPr id="17" name="TextBox 16"/>
          <p:cNvSpPr txBox="1"/>
          <p:nvPr/>
        </p:nvSpPr>
        <p:spPr>
          <a:xfrm>
            <a:off x="7260336" y="4654296"/>
            <a:ext cx="2135124" cy="548640"/>
          </a:xfrm>
          <a:prstGeom prst="rect">
            <a:avLst/>
          </a:prstGeom>
          <a:noFill/>
        </p:spPr>
        <p:txBody>
          <a:bodyPr wrap="square" lIns="0" rIns="0" tIns="0" bIns="0" anchor="t">
            <a:spAutoFit/>
          </a:bodyPr>
          <a:lstStyle/>
          <a:p>
            <a:pPr algn="ctr"/>
            <a:r>
              <a:rPr sz="1100" b="0" i="0">
                <a:solidFill>
                  <a:srgbClr val="1B2A41"/>
                </a:solidFill>
                <a:latin typeface="Arial"/>
              </a:rPr>
              <a:t>hiếm, bác bỏ H0</a:t>
            </a:r>
          </a:p>
        </p:txBody>
      </p:sp>
      <p:sp>
        <p:nvSpPr>
          <p:cNvPr id="18" name="Oval 17"/>
          <p:cNvSpPr/>
          <p:nvPr/>
        </p:nvSpPr>
        <p:spPr>
          <a:xfrm>
            <a:off x="10453878"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68612" y="4379976"/>
            <a:ext cx="2135124" cy="274320"/>
          </a:xfrm>
          <a:prstGeom prst="rect">
            <a:avLst/>
          </a:prstGeom>
          <a:noFill/>
        </p:spPr>
        <p:txBody>
          <a:bodyPr wrap="square" lIns="0" rIns="0" tIns="0" bIns="0" anchor="t">
            <a:spAutoFit/>
          </a:bodyPr>
          <a:lstStyle/>
          <a:p>
            <a:pPr algn="ctr"/>
            <a:r>
              <a:rPr sz="1400" b="1" i="0">
                <a:solidFill>
                  <a:srgbClr val="0F8B8D"/>
                </a:solidFill>
                <a:latin typeface="Arial"/>
              </a:rPr>
              <a:t>p ≥ 0,05</a:t>
            </a:r>
          </a:p>
        </p:txBody>
      </p:sp>
      <p:sp>
        <p:nvSpPr>
          <p:cNvPr id="20" name="TextBox 19"/>
          <p:cNvSpPr txBox="1"/>
          <p:nvPr/>
        </p:nvSpPr>
        <p:spPr>
          <a:xfrm>
            <a:off x="9468612" y="4654296"/>
            <a:ext cx="2135124" cy="548640"/>
          </a:xfrm>
          <a:prstGeom prst="rect">
            <a:avLst/>
          </a:prstGeom>
          <a:noFill/>
        </p:spPr>
        <p:txBody>
          <a:bodyPr wrap="square" lIns="0" rIns="0" tIns="0" bIns="0" anchor="t">
            <a:spAutoFit/>
          </a:bodyPr>
          <a:lstStyle/>
          <a:p>
            <a:pPr algn="ctr"/>
            <a:r>
              <a:rPr sz="1100" b="0" i="0">
                <a:solidFill>
                  <a:srgbClr val="1B2A41"/>
                </a:solidFill>
                <a:latin typeface="Arial"/>
              </a:rPr>
              <a:t>chưa đủ bằng chứng, không có nghĩa H0 đúng</a:t>
            </a:r>
          </a:p>
        </p:txBody>
      </p:sp>
      <p:sp>
        <p:nvSpPr>
          <p:cNvPr id="21" name="TextBox 20"/>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22" name="TextBox 21"/>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Tung đồng xu 10 lần được 9 ngửa: p = 11 / 1.024 ≈ 0,011, nhỏ hơn 0,05, nên bác bỏ “đồng xu cân đối”.</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Kiểm định hoán vị: xáo nhãn rồi đếm</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2</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permutation test · shuffled labels · p-value</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Ngày làm việc hơn ngày nghỉ 456 lượt. Làm sao tính p-value mà không cần công thức?</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Tính p-value cho câu hỏi “hai nhóm có khác nhau không” mà không cần công thức phức tạp.</a:t>
            </a:r>
          </a:p>
        </p:txBody>
      </p:sp>
      <p:sp>
        <p:nvSpPr>
          <p:cNvPr id="8" name="Rounded Rectangle 7"/>
          <p:cNvSpPr/>
          <p:nvPr/>
        </p:nvSpPr>
        <p:spPr>
          <a:xfrm>
            <a:off x="548640" y="2432303"/>
            <a:ext cx="11091672"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432303"/>
            <a:ext cx="1097280" cy="658368"/>
          </a:xfrm>
          <a:prstGeom prst="rect">
            <a:avLst/>
          </a:prstGeom>
          <a:noFill/>
        </p:spPr>
        <p:txBody>
          <a:bodyPr wrap="square" lIns="0" rIns="0" tIns="0" bIns="0" anchor="ctr">
            <a:spAutoFit/>
          </a:bodyPr>
          <a:lstStyle/>
          <a:p>
            <a:pPr algn="l"/>
            <a:r>
              <a:rPr sz="1200" b="1" i="0">
                <a:solidFill>
                  <a:srgbClr val="0F8B8D"/>
                </a:solidFill>
                <a:latin typeface="Arial"/>
              </a:rPr>
              <a:t>Công thức</a:t>
            </a:r>
          </a:p>
        </p:txBody>
      </p:sp>
      <p:pic>
        <p:nvPicPr>
          <p:cNvPr id="10" name="Picture 9" descr="672565d075cf.png"/>
          <p:cNvPicPr>
            <a:picLocks noChangeAspect="1"/>
          </p:cNvPicPr>
          <p:nvPr/>
        </p:nvPicPr>
        <p:blipFill>
          <a:blip r:embed="rId2"/>
          <a:stretch>
            <a:fillRect/>
          </a:stretch>
        </p:blipFill>
        <p:spPr>
          <a:xfrm>
            <a:off x="1783080" y="2578608"/>
            <a:ext cx="4251960" cy="365760"/>
          </a:xfrm>
          <a:prstGeom prst="rect">
            <a:avLst/>
          </a:prstGeom>
        </p:spPr>
      </p:pic>
      <p:pic>
        <p:nvPicPr>
          <p:cNvPr id="11" name="Picture 10" descr="hoan-vi.png"/>
          <p:cNvPicPr>
            <a:picLocks noChangeAspect="1"/>
          </p:cNvPicPr>
          <p:nvPr/>
        </p:nvPicPr>
        <p:blipFill>
          <a:blip r:embed="rId3"/>
          <a:stretch>
            <a:fillRect/>
          </a:stretch>
        </p:blipFill>
        <p:spPr>
          <a:xfrm>
            <a:off x="3663704" y="3182112"/>
            <a:ext cx="4861542" cy="1755648"/>
          </a:xfrm>
          <a:prstGeom prst="rect">
            <a:avLst/>
          </a:prstGeom>
        </p:spPr>
      </p:pic>
      <p:sp>
        <p:nvSpPr>
          <p:cNvPr id="12" name="Rounded Rectangle 11"/>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4" name="TextBox 13"/>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Nếu nhãn nhóm không liên quan tới số liệu, gán nhãn kiểu nào cũng như nhau. Xáo nhãn nhiều lần, đếm tỷ lệ lần cho chênh lệch cỡ thật hoặc hơn.</a:t>
            </a:r>
          </a:p>
        </p:txBody>
      </p:sp>
      <p:sp>
        <p:nvSpPr>
          <p:cNvPr id="15" name="Rounded Rectangle 14"/>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Đọc kết quả thế nào</a:t>
            </a:r>
          </a:p>
        </p:txBody>
      </p:sp>
      <p:sp>
        <p:nvSpPr>
          <p:cNvPr id="17" name="TextBox 16"/>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Chênh thật nằm lọt trong đám chênh do xáo thì p lớn, có thể chỉ do may. Nằm xa ngoài đám thì p nhỏ. Cách này giả định các ngày độc lập.</a:t>
            </a:r>
          </a:p>
        </p:txBody>
      </p:sp>
      <p:sp>
        <p:nvSpPr>
          <p:cNvPr id="18" name="Rounded Rectangle 17"/>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20" name="TextBox 19"/>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Làm việc 5, 7, 6; nghỉ 3, 2, 4: chênh 3. Chỉ 2 trong 20 cách chia cho chênh cỡ đó, p = 0,10. Năm 2012: chênh 456 lượt, p = 0,025.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Bootstrap chuỗi thời gian: rút cả khối</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2</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bootstrap · block bootstrap · confidence interval · i.i.d.</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Biết một con số như trung bình bấp bênh cỡ nào, mà không cần công thức.</a:t>
            </a:r>
          </a:p>
        </p:txBody>
      </p:sp>
      <p:sp>
        <p:nvSpPr>
          <p:cNvPr id="7" name="Rounded Rectangle 6"/>
          <p:cNvSpPr/>
          <p:nvPr/>
        </p:nvSpPr>
        <p:spPr>
          <a:xfrm>
            <a:off x="548640" y="2066543"/>
            <a:ext cx="11091672"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066543"/>
            <a:ext cx="1097280" cy="658368"/>
          </a:xfrm>
          <a:prstGeom prst="rect">
            <a:avLst/>
          </a:prstGeom>
          <a:noFill/>
        </p:spPr>
        <p:txBody>
          <a:bodyPr wrap="square" lIns="0" rIns="0" tIns="0" bIns="0" anchor="ctr">
            <a:spAutoFit/>
          </a:bodyPr>
          <a:lstStyle/>
          <a:p>
            <a:pPr algn="l"/>
            <a:r>
              <a:rPr sz="1200" b="1" i="0">
                <a:solidFill>
                  <a:srgbClr val="0F8B8D"/>
                </a:solidFill>
                <a:latin typeface="Arial"/>
              </a:rPr>
              <a:t>Công thức</a:t>
            </a:r>
          </a:p>
        </p:txBody>
      </p:sp>
      <p:pic>
        <p:nvPicPr>
          <p:cNvPr id="9" name="Picture 8" descr="89fb2cf65e57.png"/>
          <p:cNvPicPr>
            <a:picLocks noChangeAspect="1"/>
          </p:cNvPicPr>
          <p:nvPr/>
        </p:nvPicPr>
        <p:blipFill>
          <a:blip r:embed="rId2"/>
          <a:stretch>
            <a:fillRect/>
          </a:stretch>
        </p:blipFill>
        <p:spPr>
          <a:xfrm>
            <a:off x="1783080" y="2205228"/>
            <a:ext cx="1395984" cy="381000"/>
          </a:xfrm>
          <a:prstGeom prst="rect">
            <a:avLst/>
          </a:prstGeom>
        </p:spPr>
      </p:pic>
      <p:sp>
        <p:nvSpPr>
          <p:cNvPr id="10" name="TextBox 9"/>
          <p:cNvSpPr txBox="1"/>
          <p:nvPr/>
        </p:nvSpPr>
        <p:spPr>
          <a:xfrm>
            <a:off x="5602071" y="2066543"/>
            <a:ext cx="5901080" cy="658368"/>
          </a:xfrm>
          <a:prstGeom prst="rect">
            <a:avLst/>
          </a:prstGeom>
          <a:noFill/>
        </p:spPr>
        <p:txBody>
          <a:bodyPr wrap="square" lIns="0" rIns="0" tIns="0" bIns="0" anchor="ctr">
            <a:spAutoFit/>
          </a:bodyPr>
          <a:lstStyle/>
          <a:p>
            <a:pPr algn="l"/>
            <a:r>
              <a:rPr sz="1150" b="0" i="0">
                <a:solidFill>
                  <a:srgbClr val="1B2A41"/>
                </a:solidFill>
                <a:latin typeface="Arial"/>
              </a:rPr>
              <a:t>200 điểm, ρ = 0,7: chỉ đáng giá như 35 điểm độc lập.</a:t>
            </a:r>
          </a:p>
        </p:txBody>
      </p:sp>
      <p:pic>
        <p:nvPicPr>
          <p:cNvPr id="11" name="Picture 10" descr="bootstrap-do-dai-khoi.png"/>
          <p:cNvPicPr>
            <a:picLocks noChangeAspect="1"/>
          </p:cNvPicPr>
          <p:nvPr/>
        </p:nvPicPr>
        <p:blipFill>
          <a:blip r:embed="rId3"/>
          <a:stretch>
            <a:fillRect/>
          </a:stretch>
        </p:blipFill>
        <p:spPr>
          <a:xfrm>
            <a:off x="2979311" y="2816351"/>
            <a:ext cx="6230328" cy="2121408"/>
          </a:xfrm>
          <a:prstGeom prst="rect">
            <a:avLst/>
          </a:prstGeom>
        </p:spPr>
      </p:pic>
      <p:sp>
        <p:nvSpPr>
          <p:cNvPr id="12" name="Rounded Rectangle 11"/>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4" name="TextBox 13"/>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Bootstrap rút lại từ chính mẫu thật nhiều lần và tính lại con số mỗi lần. Block bootstrap rút cả khối điểm liền nhau.</a:t>
            </a:r>
          </a:p>
        </p:txBody>
      </p:sp>
      <p:sp>
        <p:nvSpPr>
          <p:cNvPr id="15" name="Rounded Rectangle 14"/>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Nhận ra thế nào</a:t>
            </a:r>
          </a:p>
        </p:txBody>
      </p:sp>
      <p:sp>
        <p:nvSpPr>
          <p:cNvPr id="17" name="TextBox 16"/>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Khoảng 95% lấy từ quantile 0,025 tới 0,975 của các lần tính. Dữ liệu tự tương quan mà rút từng điểm thì khoảng hẹp giả.</a:t>
            </a:r>
          </a:p>
        </p:txBody>
      </p:sp>
      <p:sp>
        <p:nvSpPr>
          <p:cNvPr id="18" name="Rounded Rectangle 17"/>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20" name="TextBox 19"/>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Rút từng điểm, khoảng chỉ chứa trung bình thật 60,3% số lần. Rút khối dài 20 thì lên 89,3%.</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Một con số giờ chưa đủ: cần múi giờ</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3</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UTC · time zone · daylight saving time (DST) · naive / aware timestamp</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Taxi ghi giờ theo đồng hồ New York, thời tiết ghi theo UTC. Ghép hai bảng thế nào cho khớp giờ?</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Mỗi mốc giờ chỉ trỏ đúng một thời điểm, để gộp và ghép không bị sai.</a:t>
            </a:r>
          </a:p>
        </p:txBody>
      </p:sp>
      <p:sp>
        <p:nvSpPr>
          <p:cNvPr id="8" name="Rounded Rectangle 7"/>
          <p:cNvSpPr/>
          <p:nvPr/>
        </p:nvSpPr>
        <p:spPr>
          <a:xfrm>
            <a:off x="548640" y="2432303"/>
            <a:ext cx="6309360"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a4e21020d1e5.png"/>
          <p:cNvPicPr>
            <a:picLocks noChangeAspect="1"/>
          </p:cNvPicPr>
          <p:nvPr/>
        </p:nvPicPr>
        <p:blipFill>
          <a:blip r:embed="rId2"/>
          <a:stretch>
            <a:fillRect/>
          </a:stretch>
        </p:blipFill>
        <p:spPr>
          <a:xfrm>
            <a:off x="2097024" y="2622804"/>
            <a:ext cx="3212592" cy="277368"/>
          </a:xfrm>
          <a:prstGeom prst="rect">
            <a:avLst/>
          </a:prstGeom>
        </p:spPr>
      </p:pic>
      <p:pic>
        <p:nvPicPr>
          <p:cNvPr id="10" name="Picture 9" descr="kn-gio-mua-he-dst.png"/>
          <p:cNvPicPr>
            <a:picLocks noChangeAspect="1"/>
          </p:cNvPicPr>
          <p:nvPr/>
        </p:nvPicPr>
        <p:blipFill>
          <a:blip r:embed="rId3"/>
          <a:stretch>
            <a:fillRect/>
          </a:stretch>
        </p:blipFill>
        <p:spPr>
          <a:xfrm>
            <a:off x="548640" y="3297656"/>
            <a:ext cx="6309360" cy="3079038"/>
          </a:xfrm>
          <a:prstGeom prst="rect">
            <a:avLst/>
          </a:prstGeom>
        </p:spPr>
      </p:pic>
      <p:sp>
        <p:nvSpPr>
          <p:cNvPr id="11" name="TextBox 10"/>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2" name="TextBox 11"/>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UTC là giờ chung, không đổi theo mùa. Offset là độ lệch so với UTC, Hà Nội là +07:00. Giờ naive là giờ không ghi múi.</a:t>
            </a:r>
          </a:p>
        </p:txBody>
      </p:sp>
      <p:sp>
        <p:nvSpPr>
          <p:cNvPr id="13" name="TextBox 12"/>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0F8B8D"/>
                </a:solidFill>
                <a:latin typeface="Arial"/>
              </a:rPr>
              <a:t>Nhận ra thế nào</a:t>
            </a:r>
          </a:p>
        </p:txBody>
      </p:sp>
      <p:sp>
        <p:nvSpPr>
          <p:cNvPr id="14" name="TextBox 13"/>
          <p:cNvSpPr txBox="1"/>
          <p:nvPr/>
        </p:nvSpPr>
        <p:spPr>
          <a:xfrm>
            <a:off x="7223760" y="4105655"/>
            <a:ext cx="4416552" cy="1005839"/>
          </a:xfrm>
          <a:prstGeom prst="rect">
            <a:avLst/>
          </a:prstGeom>
          <a:noFill/>
        </p:spPr>
        <p:txBody>
          <a:bodyPr wrap="square" lIns="0" rIns="0" tIns="0" bIns="0" anchor="t">
            <a:spAutoFit/>
          </a:bodyPr>
          <a:lstStyle/>
          <a:p>
            <a:pPr algn="l"/>
            <a:r>
              <a:rPr sz="1500" b="0" i="0">
                <a:solidFill>
                  <a:srgbClr val="1B2A41"/>
                </a:solidFill>
                <a:latin typeface="Arial"/>
              </a:rPr>
              <a:t>Giờ mùa hè (DST) làm giờ địa phương có một giờ biến mất vào mùa xuân và một giờ lặp hai lần vào mùa thu.</a:t>
            </a:r>
          </a:p>
        </p:txBody>
      </p:sp>
      <p:sp>
        <p:nvSpPr>
          <p:cNvPr id="15" name="TextBox 14"/>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16" name="TextBox 15"/>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07:00 ở Hà Nội là 00:00Z (Z nghĩa là UTC). New York ngày 10/3/2024 không có 2:00; ngày 3/11 có 1:00 hai lần.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Gộp tần suất: khoảng nào, cộng hay trung bình</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3</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resample · closed / label · sum vs mean aggregation</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Chuyến taxi rơi vào giây bất kỳ, mô hình cần mỗi giờ một số. Chuyến đúng 10:00 thuộc giờ nào?</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Đổi tần suất, chẳng hạn từ phút sang giờ, mà không tạo ra số liệu giả.</a:t>
            </a:r>
          </a:p>
        </p:txBody>
      </p:sp>
      <p:sp>
        <p:nvSpPr>
          <p:cNvPr id="8" name="Rounded Rectangle 7"/>
          <p:cNvSpPr/>
          <p:nvPr/>
        </p:nvSpPr>
        <p:spPr>
          <a:xfrm>
            <a:off x="548640" y="2432303"/>
            <a:ext cx="6309360"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3a69b2eeeeb1.png"/>
          <p:cNvPicPr>
            <a:picLocks noChangeAspect="1"/>
          </p:cNvPicPr>
          <p:nvPr/>
        </p:nvPicPr>
        <p:blipFill>
          <a:blip r:embed="rId2"/>
          <a:stretch>
            <a:fillRect/>
          </a:stretch>
        </p:blipFill>
        <p:spPr>
          <a:xfrm>
            <a:off x="2644140" y="2602991"/>
            <a:ext cx="2118360" cy="316992"/>
          </a:xfrm>
          <a:prstGeom prst="rect">
            <a:avLst/>
          </a:prstGeom>
        </p:spPr>
      </p:pic>
      <p:pic>
        <p:nvPicPr>
          <p:cNvPr id="10" name="Picture 9" descr="kn-closed-label.png"/>
          <p:cNvPicPr>
            <a:picLocks noChangeAspect="1"/>
          </p:cNvPicPr>
          <p:nvPr/>
        </p:nvPicPr>
        <p:blipFill>
          <a:blip r:embed="rId3"/>
          <a:stretch>
            <a:fillRect/>
          </a:stretch>
        </p:blipFill>
        <p:spPr>
          <a:xfrm>
            <a:off x="552237" y="3182112"/>
            <a:ext cx="6302165" cy="3310127"/>
          </a:xfrm>
          <a:prstGeom prst="rect">
            <a:avLst/>
          </a:prstGeom>
        </p:spPr>
      </p:pic>
      <p:sp>
        <p:nvSpPr>
          <p:cNvPr id="11" name="TextBox 10"/>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2" name="TextBox 11"/>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closed chọn mốc biên thuộc khoảng nào; label chọn đặt tên khoảng theo mốc đầu hay mốc cuối.</a:t>
            </a:r>
          </a:p>
        </p:txBody>
      </p:sp>
      <p:sp>
        <p:nvSpPr>
          <p:cNvPr id="13" name="TextBox 12"/>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0F8B8D"/>
                </a:solidFill>
                <a:latin typeface="Arial"/>
              </a:rPr>
              <a:t>Gộp thế nào</a:t>
            </a:r>
          </a:p>
        </p:txBody>
      </p:sp>
      <p:sp>
        <p:nvSpPr>
          <p:cNvPr id="14" name="TextBox 13"/>
          <p:cNvSpPr txBox="1"/>
          <p:nvPr/>
        </p:nvSpPr>
        <p:spPr>
          <a:xfrm>
            <a:off x="7223760" y="4105655"/>
            <a:ext cx="4416552" cy="1005839"/>
          </a:xfrm>
          <a:prstGeom prst="rect">
            <a:avLst/>
          </a:prstGeom>
          <a:noFill/>
        </p:spPr>
        <p:txBody>
          <a:bodyPr wrap="square" lIns="0" rIns="0" tIns="0" bIns="0" anchor="t">
            <a:spAutoFit/>
          </a:bodyPr>
          <a:lstStyle/>
          <a:p>
            <a:pPr algn="l"/>
            <a:r>
              <a:rPr sz="1500" b="0" i="0">
                <a:solidFill>
                  <a:srgbClr val="1B2A41"/>
                </a:solidFill>
                <a:latin typeface="Arial"/>
              </a:rPr>
              <a:t>Số lượng thì cộng, trạng thái như nhiệt độ thì lấy trung bình. Giờ trống của số đếm là 0, của số đo là NaN.</a:t>
            </a:r>
          </a:p>
        </p:txBody>
      </p:sp>
      <p:sp>
        <p:nvSpPr>
          <p:cNvPr id="15" name="TextBox 14"/>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16" name="TextBox 15"/>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Bốn chuyến lúc 9:00, 9:40, 10:00, 10:20, gộp mặc định: ô “9:00” có 2 chuyến, ô “10:00” có 2 chuyến.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Ghép theo thời gian: chỉ nhìn về quá khứ</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3, 13</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as-of join (merge_asof) · direction="backward" · tolerance</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Ghép số liệu của nguồn khác vào đúng dòng, mà không lấy nhầm số của tương lai.</a:t>
            </a:r>
          </a:p>
        </p:txBody>
      </p:sp>
      <p:pic>
        <p:nvPicPr>
          <p:cNvPr id="7" name="Picture 6" descr="kn-ghep-as-of-merge-asof.png"/>
          <p:cNvPicPr>
            <a:picLocks noChangeAspect="1"/>
          </p:cNvPicPr>
          <p:nvPr/>
        </p:nvPicPr>
        <p:blipFill>
          <a:blip r:embed="rId2"/>
          <a:stretch>
            <a:fillRect/>
          </a:stretch>
        </p:blipFill>
        <p:spPr>
          <a:xfrm>
            <a:off x="548640" y="2612486"/>
            <a:ext cx="6309360" cy="3333810"/>
          </a:xfrm>
          <a:prstGeom prst="rect">
            <a:avLst/>
          </a:prstGeom>
        </p:spPr>
      </p:pic>
      <p:sp>
        <p:nvSpPr>
          <p:cNvPr id="8" name="TextBox 7"/>
          <p:cNvSpPr txBox="1"/>
          <p:nvPr/>
        </p:nvSpPr>
        <p:spPr>
          <a:xfrm>
            <a:off x="7223760" y="206654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9" name="TextBox 8"/>
          <p:cNvSpPr txBox="1"/>
          <p:nvPr/>
        </p:nvSpPr>
        <p:spPr>
          <a:xfrm>
            <a:off x="7223760" y="2386584"/>
            <a:ext cx="4416552" cy="1127760"/>
          </a:xfrm>
          <a:prstGeom prst="rect">
            <a:avLst/>
          </a:prstGeom>
          <a:noFill/>
        </p:spPr>
        <p:txBody>
          <a:bodyPr wrap="square" lIns="0" rIns="0" tIns="0" bIns="0" anchor="t">
            <a:spAutoFit/>
          </a:bodyPr>
          <a:lstStyle/>
          <a:p>
            <a:pPr algn="l"/>
            <a:r>
              <a:rPr sz="1500" b="0" i="0">
                <a:solidFill>
                  <a:srgbClr val="1B2A41"/>
                </a:solidFill>
                <a:latin typeface="Arial"/>
              </a:rPr>
              <a:t>merge_asof cho mỗi dòng lấy giá trị gần nhất về thời gian từ bảng kia.</a:t>
            </a:r>
          </a:p>
        </p:txBody>
      </p:sp>
      <p:sp>
        <p:nvSpPr>
          <p:cNvPr id="10" name="TextBox 9"/>
          <p:cNvSpPr txBox="1"/>
          <p:nvPr/>
        </p:nvSpPr>
        <p:spPr>
          <a:xfrm>
            <a:off x="7223760" y="3541775"/>
            <a:ext cx="4416552" cy="274320"/>
          </a:xfrm>
          <a:prstGeom prst="rect">
            <a:avLst/>
          </a:prstGeom>
          <a:noFill/>
        </p:spPr>
        <p:txBody>
          <a:bodyPr wrap="square" lIns="0" rIns="0" tIns="0" bIns="0" anchor="t">
            <a:spAutoFit/>
          </a:bodyPr>
          <a:lstStyle/>
          <a:p>
            <a:pPr algn="l"/>
            <a:r>
              <a:rPr sz="1400" b="1" i="0">
                <a:solidFill>
                  <a:srgbClr val="0F8B8D"/>
                </a:solidFill>
                <a:latin typeface="Arial"/>
              </a:rPr>
              <a:t>Chọn hướng nào</a:t>
            </a:r>
          </a:p>
        </p:txBody>
      </p:sp>
      <p:cxnSp>
        <p:nvCxnSpPr>
          <p:cNvPr id="11" name="Connector 10"/>
          <p:cNvCxnSpPr/>
          <p:nvPr/>
        </p:nvCxnSpPr>
        <p:spPr>
          <a:xfrm>
            <a:off x="8327898" y="3998975"/>
            <a:ext cx="2208276"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8245602" y="391668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60336" y="4136136"/>
            <a:ext cx="2135124" cy="274320"/>
          </a:xfrm>
          <a:prstGeom prst="rect">
            <a:avLst/>
          </a:prstGeom>
          <a:noFill/>
        </p:spPr>
        <p:txBody>
          <a:bodyPr wrap="square" lIns="0" rIns="0" tIns="0" bIns="0" anchor="t">
            <a:spAutoFit/>
          </a:bodyPr>
          <a:lstStyle/>
          <a:p>
            <a:pPr algn="ctr"/>
            <a:r>
              <a:rPr sz="1400" b="1" i="0">
                <a:solidFill>
                  <a:srgbClr val="0F8B8D"/>
                </a:solidFill>
                <a:latin typeface="Arial"/>
              </a:rPr>
              <a:t>backward</a:t>
            </a:r>
          </a:p>
        </p:txBody>
      </p:sp>
      <p:sp>
        <p:nvSpPr>
          <p:cNvPr id="14" name="TextBox 13"/>
          <p:cNvSpPr txBox="1"/>
          <p:nvPr/>
        </p:nvSpPr>
        <p:spPr>
          <a:xfrm>
            <a:off x="7260336" y="4410456"/>
            <a:ext cx="2135124" cy="548640"/>
          </a:xfrm>
          <a:prstGeom prst="rect">
            <a:avLst/>
          </a:prstGeom>
          <a:noFill/>
        </p:spPr>
        <p:txBody>
          <a:bodyPr wrap="square" lIns="0" rIns="0" tIns="0" bIns="0" anchor="t">
            <a:spAutoFit/>
          </a:bodyPr>
          <a:lstStyle/>
          <a:p>
            <a:pPr algn="ctr"/>
            <a:r>
              <a:rPr sz="1100" b="0" i="0">
                <a:solidFill>
                  <a:srgbClr val="1B2A41"/>
                </a:solidFill>
                <a:latin typeface="Arial"/>
              </a:rPr>
              <a:t>lấy số đã có trước đó: đúng</a:t>
            </a:r>
          </a:p>
        </p:txBody>
      </p:sp>
      <p:sp>
        <p:nvSpPr>
          <p:cNvPr id="15" name="Oval 14"/>
          <p:cNvSpPr/>
          <p:nvPr/>
        </p:nvSpPr>
        <p:spPr>
          <a:xfrm>
            <a:off x="10453878" y="391668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68612" y="4136136"/>
            <a:ext cx="2135124" cy="274320"/>
          </a:xfrm>
          <a:prstGeom prst="rect">
            <a:avLst/>
          </a:prstGeom>
          <a:noFill/>
        </p:spPr>
        <p:txBody>
          <a:bodyPr wrap="square" lIns="0" rIns="0" tIns="0" bIns="0" anchor="t">
            <a:spAutoFit/>
          </a:bodyPr>
          <a:lstStyle/>
          <a:p>
            <a:pPr algn="ctr"/>
            <a:r>
              <a:rPr sz="1400" b="1" i="0">
                <a:solidFill>
                  <a:srgbClr val="0F8B8D"/>
                </a:solidFill>
                <a:latin typeface="Arial"/>
              </a:rPr>
              <a:t>forward</a:t>
            </a:r>
          </a:p>
        </p:txBody>
      </p:sp>
      <p:sp>
        <p:nvSpPr>
          <p:cNvPr id="17" name="TextBox 16"/>
          <p:cNvSpPr txBox="1"/>
          <p:nvPr/>
        </p:nvSpPr>
        <p:spPr>
          <a:xfrm>
            <a:off x="9468612" y="4410456"/>
            <a:ext cx="2135124" cy="548640"/>
          </a:xfrm>
          <a:prstGeom prst="rect">
            <a:avLst/>
          </a:prstGeom>
          <a:noFill/>
        </p:spPr>
        <p:txBody>
          <a:bodyPr wrap="square" lIns="0" rIns="0" tIns="0" bIns="0" anchor="t">
            <a:spAutoFit/>
          </a:bodyPr>
          <a:lstStyle/>
          <a:p>
            <a:pPr algn="ctr"/>
            <a:r>
              <a:rPr sz="1100" b="0" i="0">
                <a:solidFill>
                  <a:srgbClr val="1B2A41"/>
                </a:solidFill>
                <a:latin typeface="Arial"/>
              </a:rPr>
              <a:t>lấy số sắp tới: rò rỉ</a:t>
            </a:r>
          </a:p>
        </p:txBody>
      </p:sp>
      <p:sp>
        <p:nvSpPr>
          <p:cNvPr id="18" name="TextBox 17"/>
          <p:cNvSpPr txBox="1"/>
          <p:nvPr/>
        </p:nvSpPr>
        <p:spPr>
          <a:xfrm>
            <a:off x="7223760" y="5017008"/>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19" name="TextBox 18"/>
          <p:cNvSpPr txBox="1"/>
          <p:nvPr/>
        </p:nvSpPr>
        <p:spPr>
          <a:xfrm>
            <a:off x="7223760" y="5337047"/>
            <a:ext cx="4416552" cy="1127760"/>
          </a:xfrm>
          <a:prstGeom prst="rect">
            <a:avLst/>
          </a:prstGeom>
          <a:noFill/>
        </p:spPr>
        <p:txBody>
          <a:bodyPr wrap="square" lIns="0" rIns="0" tIns="0" bIns="0" anchor="t">
            <a:spAutoFit/>
          </a:bodyPr>
          <a:lstStyle/>
          <a:p>
            <a:pPr algn="l"/>
            <a:r>
              <a:rPr sz="1500" b="0" i="0">
                <a:solidFill>
                  <a:srgbClr val="1B2A41"/>
                </a:solidFill>
                <a:latin typeface="Arial"/>
              </a:rPr>
              <a:t>Dòng 10:00, giá có lúc 9:30 và 10:30: backward lấy 9 của 9:30, forward lấy 10 của 10:30. Thêm tolerance để bỏ số quá cũ.</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Dạng dài: ai, khi nào, bao nhiêu</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3</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long format · wide format</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Mọi chuỗi cùng một khuôn, để mọi công cụ ở các buổi sau nhận vào được.</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0F8B8D"/>
                </a:solidFill>
                <a:latin typeface="Arial"/>
              </a:rPr>
              <a:t>“Thêm chuỗi chỉ thêm dòng, không thêm cột.”</a:t>
            </a:r>
          </a:p>
        </p:txBody>
      </p:sp>
      <p:sp>
        <p:nvSpPr>
          <p:cNvPr id="8" name="TextBox 7"/>
          <p:cNvSpPr txBox="1"/>
          <p:nvPr/>
        </p:nvSpPr>
        <p:spPr>
          <a:xfrm>
            <a:off x="548640" y="2240280"/>
            <a:ext cx="5120640" cy="320040"/>
          </a:xfrm>
          <a:prstGeom prst="rect">
            <a:avLst/>
          </a:prstGeom>
          <a:noFill/>
        </p:spPr>
        <p:txBody>
          <a:bodyPr wrap="square" lIns="0" rIns="0" tIns="0" bIns="0" anchor="t">
            <a:spAutoFit/>
          </a:bodyPr>
          <a:lstStyle/>
          <a:p>
            <a:pPr algn="l"/>
            <a:r>
              <a:rPr sz="1200" b="1" i="0">
                <a:solidFill>
                  <a:srgbClr val="0F8B8D"/>
                </a:solidFill>
                <a:latin typeface="Arial"/>
              </a:rPr>
              <a:t>Dạng dài: mọi buổi sau nhận vào dạng này</a:t>
            </a:r>
          </a:p>
        </p:txBody>
      </p:sp>
      <p:sp>
        <p:nvSpPr>
          <p:cNvPr id="9" name="Rectangle 8"/>
          <p:cNvSpPr/>
          <p:nvPr/>
        </p:nvSpPr>
        <p:spPr>
          <a:xfrm>
            <a:off x="548640" y="2606040"/>
            <a:ext cx="1554480" cy="420624"/>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1" i="0">
                <a:solidFill>
                  <a:srgbClr val="FFFFFF"/>
                </a:solidFill>
                <a:latin typeface="Arial"/>
              </a:rPr>
              <a:t>unique_id</a:t>
            </a:r>
          </a:p>
        </p:txBody>
      </p:sp>
      <p:sp>
        <p:nvSpPr>
          <p:cNvPr id="10" name="Rectangle 9"/>
          <p:cNvSpPr/>
          <p:nvPr/>
        </p:nvSpPr>
        <p:spPr>
          <a:xfrm>
            <a:off x="2103120" y="2606040"/>
            <a:ext cx="1828800" cy="420624"/>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1" i="0">
                <a:solidFill>
                  <a:srgbClr val="FFFFFF"/>
                </a:solidFill>
                <a:latin typeface="Arial"/>
              </a:rPr>
              <a:t>ds (UTC)</a:t>
            </a:r>
          </a:p>
        </p:txBody>
      </p:sp>
      <p:sp>
        <p:nvSpPr>
          <p:cNvPr id="11" name="Rectangle 10"/>
          <p:cNvSpPr/>
          <p:nvPr/>
        </p:nvSpPr>
        <p:spPr>
          <a:xfrm>
            <a:off x="3931920" y="2606040"/>
            <a:ext cx="1097280" cy="420624"/>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1" i="0">
                <a:solidFill>
                  <a:srgbClr val="FFFFFF"/>
                </a:solidFill>
                <a:latin typeface="Arial"/>
              </a:rPr>
              <a:t>y</a:t>
            </a:r>
          </a:p>
        </p:txBody>
      </p:sp>
      <p:sp>
        <p:nvSpPr>
          <p:cNvPr id="12" name="Rectangle 11"/>
          <p:cNvSpPr/>
          <p:nvPr/>
        </p:nvSpPr>
        <p:spPr>
          <a:xfrm>
            <a:off x="548640" y="3026664"/>
            <a:ext cx="1554480" cy="420624"/>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A</a:t>
            </a:r>
          </a:p>
        </p:txBody>
      </p:sp>
      <p:sp>
        <p:nvSpPr>
          <p:cNvPr id="13" name="Rectangle 12"/>
          <p:cNvSpPr/>
          <p:nvPr/>
        </p:nvSpPr>
        <p:spPr>
          <a:xfrm>
            <a:off x="2103120" y="3026664"/>
            <a:ext cx="1828800" cy="420624"/>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05:00</a:t>
            </a:r>
          </a:p>
        </p:txBody>
      </p:sp>
      <p:sp>
        <p:nvSpPr>
          <p:cNvPr id="14" name="Rectangle 13"/>
          <p:cNvSpPr/>
          <p:nvPr/>
        </p:nvSpPr>
        <p:spPr>
          <a:xfrm>
            <a:off x="3931920" y="3026664"/>
            <a:ext cx="1097280" cy="420624"/>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3</a:t>
            </a:r>
          </a:p>
        </p:txBody>
      </p:sp>
      <p:sp>
        <p:nvSpPr>
          <p:cNvPr id="15" name="Rectangle 14"/>
          <p:cNvSpPr/>
          <p:nvPr/>
        </p:nvSpPr>
        <p:spPr>
          <a:xfrm>
            <a:off x="548640" y="3447288"/>
            <a:ext cx="1554480" cy="420624"/>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A</a:t>
            </a:r>
          </a:p>
        </p:txBody>
      </p:sp>
      <p:sp>
        <p:nvSpPr>
          <p:cNvPr id="16" name="Rectangle 15"/>
          <p:cNvSpPr/>
          <p:nvPr/>
        </p:nvSpPr>
        <p:spPr>
          <a:xfrm>
            <a:off x="2103120" y="3447288"/>
            <a:ext cx="1828800" cy="420624"/>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06:00</a:t>
            </a:r>
          </a:p>
        </p:txBody>
      </p:sp>
      <p:sp>
        <p:nvSpPr>
          <p:cNvPr id="17" name="Rectangle 16"/>
          <p:cNvSpPr/>
          <p:nvPr/>
        </p:nvSpPr>
        <p:spPr>
          <a:xfrm>
            <a:off x="3931920" y="3447288"/>
            <a:ext cx="1097280" cy="420624"/>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0</a:t>
            </a:r>
          </a:p>
        </p:txBody>
      </p:sp>
      <p:sp>
        <p:nvSpPr>
          <p:cNvPr id="18" name="Rectangle 17"/>
          <p:cNvSpPr/>
          <p:nvPr/>
        </p:nvSpPr>
        <p:spPr>
          <a:xfrm>
            <a:off x="548640" y="3867912"/>
            <a:ext cx="1554480" cy="420624"/>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A</a:t>
            </a:r>
          </a:p>
        </p:txBody>
      </p:sp>
      <p:sp>
        <p:nvSpPr>
          <p:cNvPr id="19" name="Rectangle 18"/>
          <p:cNvSpPr/>
          <p:nvPr/>
        </p:nvSpPr>
        <p:spPr>
          <a:xfrm>
            <a:off x="2103120" y="3867912"/>
            <a:ext cx="1828800" cy="420624"/>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07:00</a:t>
            </a:r>
          </a:p>
        </p:txBody>
      </p:sp>
      <p:sp>
        <p:nvSpPr>
          <p:cNvPr id="20" name="Rectangle 19"/>
          <p:cNvSpPr/>
          <p:nvPr/>
        </p:nvSpPr>
        <p:spPr>
          <a:xfrm>
            <a:off x="3931920" y="3867912"/>
            <a:ext cx="1097280" cy="420624"/>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5</a:t>
            </a:r>
          </a:p>
        </p:txBody>
      </p:sp>
      <p:sp>
        <p:nvSpPr>
          <p:cNvPr id="21" name="Rectangle 20"/>
          <p:cNvSpPr/>
          <p:nvPr/>
        </p:nvSpPr>
        <p:spPr>
          <a:xfrm>
            <a:off x="548640" y="4288536"/>
            <a:ext cx="1554480" cy="420624"/>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B</a:t>
            </a:r>
          </a:p>
        </p:txBody>
      </p:sp>
      <p:sp>
        <p:nvSpPr>
          <p:cNvPr id="22" name="Rectangle 21"/>
          <p:cNvSpPr/>
          <p:nvPr/>
        </p:nvSpPr>
        <p:spPr>
          <a:xfrm>
            <a:off x="2103120" y="4288536"/>
            <a:ext cx="1828800" cy="420624"/>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05:00</a:t>
            </a:r>
          </a:p>
        </p:txBody>
      </p:sp>
      <p:sp>
        <p:nvSpPr>
          <p:cNvPr id="23" name="Rectangle 22"/>
          <p:cNvSpPr/>
          <p:nvPr/>
        </p:nvSpPr>
        <p:spPr>
          <a:xfrm>
            <a:off x="3931920" y="4288536"/>
            <a:ext cx="1097280" cy="420624"/>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1</a:t>
            </a:r>
          </a:p>
        </p:txBody>
      </p:sp>
      <p:sp>
        <p:nvSpPr>
          <p:cNvPr id="24" name="Rectangle 23"/>
          <p:cNvSpPr/>
          <p:nvPr/>
        </p:nvSpPr>
        <p:spPr>
          <a:xfrm>
            <a:off x="548640" y="4709160"/>
            <a:ext cx="1554480" cy="420624"/>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B</a:t>
            </a:r>
          </a:p>
        </p:txBody>
      </p:sp>
      <p:sp>
        <p:nvSpPr>
          <p:cNvPr id="25" name="Rectangle 24"/>
          <p:cNvSpPr/>
          <p:nvPr/>
        </p:nvSpPr>
        <p:spPr>
          <a:xfrm>
            <a:off x="2103120" y="4709160"/>
            <a:ext cx="1828800" cy="420624"/>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06:00</a:t>
            </a:r>
          </a:p>
        </p:txBody>
      </p:sp>
      <p:sp>
        <p:nvSpPr>
          <p:cNvPr id="26" name="Rectangle 25"/>
          <p:cNvSpPr/>
          <p:nvPr/>
        </p:nvSpPr>
        <p:spPr>
          <a:xfrm>
            <a:off x="3931920" y="4709160"/>
            <a:ext cx="1097280" cy="420624"/>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2</a:t>
            </a:r>
          </a:p>
        </p:txBody>
      </p:sp>
      <p:sp>
        <p:nvSpPr>
          <p:cNvPr id="27" name="Rectangle 26"/>
          <p:cNvSpPr/>
          <p:nvPr/>
        </p:nvSpPr>
        <p:spPr>
          <a:xfrm>
            <a:off x="548640" y="5129784"/>
            <a:ext cx="1554480" cy="420624"/>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B</a:t>
            </a:r>
          </a:p>
        </p:txBody>
      </p:sp>
      <p:sp>
        <p:nvSpPr>
          <p:cNvPr id="28" name="Rectangle 27"/>
          <p:cNvSpPr/>
          <p:nvPr/>
        </p:nvSpPr>
        <p:spPr>
          <a:xfrm>
            <a:off x="2103120" y="5129784"/>
            <a:ext cx="1828800" cy="420624"/>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07:00</a:t>
            </a:r>
          </a:p>
        </p:txBody>
      </p:sp>
      <p:sp>
        <p:nvSpPr>
          <p:cNvPr id="29" name="Rectangle 28"/>
          <p:cNvSpPr/>
          <p:nvPr/>
        </p:nvSpPr>
        <p:spPr>
          <a:xfrm>
            <a:off x="3931920" y="5129784"/>
            <a:ext cx="1097280" cy="420624"/>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0</a:t>
            </a:r>
          </a:p>
        </p:txBody>
      </p:sp>
      <p:sp>
        <p:nvSpPr>
          <p:cNvPr id="30" name="TextBox 29"/>
          <p:cNvSpPr txBox="1"/>
          <p:nvPr/>
        </p:nvSpPr>
        <p:spPr>
          <a:xfrm>
            <a:off x="6400800" y="2240280"/>
            <a:ext cx="5212080" cy="320040"/>
          </a:xfrm>
          <a:prstGeom prst="rect">
            <a:avLst/>
          </a:prstGeom>
          <a:noFill/>
        </p:spPr>
        <p:txBody>
          <a:bodyPr wrap="square" lIns="0" rIns="0" tIns="0" bIns="0" anchor="t">
            <a:spAutoFit/>
          </a:bodyPr>
          <a:lstStyle/>
          <a:p>
            <a:pPr algn="l"/>
            <a:r>
              <a:rPr sz="1200" b="1" i="0">
                <a:solidFill>
                  <a:srgbClr val="5B6778"/>
                </a:solidFill>
                <a:latin typeface="Arial"/>
              </a:rPr>
              <a:t>Dạng rộng: dễ nhìn nhưng khó mở rộng</a:t>
            </a:r>
          </a:p>
        </p:txBody>
      </p:sp>
      <p:sp>
        <p:nvSpPr>
          <p:cNvPr id="31" name="Rectangle 30"/>
          <p:cNvSpPr/>
          <p:nvPr/>
        </p:nvSpPr>
        <p:spPr>
          <a:xfrm>
            <a:off x="6400800" y="2606040"/>
            <a:ext cx="1828800" cy="420624"/>
          </a:xfrm>
          <a:prstGeom prst="rect">
            <a:avLst/>
          </a:prstGeom>
          <a:solidFill>
            <a:srgbClr val="5B677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1" i="0">
                <a:solidFill>
                  <a:srgbClr val="FFFFFF"/>
                </a:solidFill>
                <a:latin typeface="Arial"/>
              </a:rPr>
              <a:t>ds (UTC)</a:t>
            </a:r>
          </a:p>
        </p:txBody>
      </p:sp>
      <p:sp>
        <p:nvSpPr>
          <p:cNvPr id="32" name="Rectangle 31"/>
          <p:cNvSpPr/>
          <p:nvPr/>
        </p:nvSpPr>
        <p:spPr>
          <a:xfrm>
            <a:off x="8229600" y="2606040"/>
            <a:ext cx="1280160" cy="420624"/>
          </a:xfrm>
          <a:prstGeom prst="rect">
            <a:avLst/>
          </a:prstGeom>
          <a:solidFill>
            <a:srgbClr val="5B677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1" i="0">
                <a:solidFill>
                  <a:srgbClr val="FFFFFF"/>
                </a:solidFill>
                <a:latin typeface="Arial"/>
              </a:rPr>
              <a:t>A</a:t>
            </a:r>
          </a:p>
        </p:txBody>
      </p:sp>
      <p:sp>
        <p:nvSpPr>
          <p:cNvPr id="33" name="Rectangle 32"/>
          <p:cNvSpPr/>
          <p:nvPr/>
        </p:nvSpPr>
        <p:spPr>
          <a:xfrm>
            <a:off x="9509760" y="2606040"/>
            <a:ext cx="1280160" cy="420624"/>
          </a:xfrm>
          <a:prstGeom prst="rect">
            <a:avLst/>
          </a:prstGeom>
          <a:solidFill>
            <a:srgbClr val="5B677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1" i="0">
                <a:solidFill>
                  <a:srgbClr val="FFFFFF"/>
                </a:solidFill>
                <a:latin typeface="Arial"/>
              </a:rPr>
              <a:t>B</a:t>
            </a:r>
          </a:p>
        </p:txBody>
      </p:sp>
      <p:sp>
        <p:nvSpPr>
          <p:cNvPr id="34" name="Rectangle 33"/>
          <p:cNvSpPr/>
          <p:nvPr/>
        </p:nvSpPr>
        <p:spPr>
          <a:xfrm>
            <a:off x="6400800" y="3026664"/>
            <a:ext cx="1828800" cy="420624"/>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05:00</a:t>
            </a:r>
          </a:p>
        </p:txBody>
      </p:sp>
      <p:sp>
        <p:nvSpPr>
          <p:cNvPr id="35" name="Rectangle 34"/>
          <p:cNvSpPr/>
          <p:nvPr/>
        </p:nvSpPr>
        <p:spPr>
          <a:xfrm>
            <a:off x="8229600" y="3026664"/>
            <a:ext cx="1280160" cy="420624"/>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3</a:t>
            </a:r>
          </a:p>
        </p:txBody>
      </p:sp>
      <p:sp>
        <p:nvSpPr>
          <p:cNvPr id="36" name="Rectangle 35"/>
          <p:cNvSpPr/>
          <p:nvPr/>
        </p:nvSpPr>
        <p:spPr>
          <a:xfrm>
            <a:off x="9509760" y="3026664"/>
            <a:ext cx="1280160" cy="420624"/>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1</a:t>
            </a:r>
          </a:p>
        </p:txBody>
      </p:sp>
      <p:sp>
        <p:nvSpPr>
          <p:cNvPr id="37" name="Rectangle 36"/>
          <p:cNvSpPr/>
          <p:nvPr/>
        </p:nvSpPr>
        <p:spPr>
          <a:xfrm>
            <a:off x="6400800" y="3447288"/>
            <a:ext cx="1828800" cy="420624"/>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06:00</a:t>
            </a:r>
          </a:p>
        </p:txBody>
      </p:sp>
      <p:sp>
        <p:nvSpPr>
          <p:cNvPr id="38" name="Rectangle 37"/>
          <p:cNvSpPr/>
          <p:nvPr/>
        </p:nvSpPr>
        <p:spPr>
          <a:xfrm>
            <a:off x="8229600" y="3447288"/>
            <a:ext cx="1280160" cy="420624"/>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0</a:t>
            </a:r>
          </a:p>
        </p:txBody>
      </p:sp>
      <p:sp>
        <p:nvSpPr>
          <p:cNvPr id="39" name="Rectangle 38"/>
          <p:cNvSpPr/>
          <p:nvPr/>
        </p:nvSpPr>
        <p:spPr>
          <a:xfrm>
            <a:off x="9509760" y="3447288"/>
            <a:ext cx="1280160" cy="420624"/>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2</a:t>
            </a:r>
          </a:p>
        </p:txBody>
      </p:sp>
      <p:sp>
        <p:nvSpPr>
          <p:cNvPr id="40" name="Rectangle 39"/>
          <p:cNvSpPr/>
          <p:nvPr/>
        </p:nvSpPr>
        <p:spPr>
          <a:xfrm>
            <a:off x="6400800" y="3867912"/>
            <a:ext cx="1828800" cy="420624"/>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07:00</a:t>
            </a:r>
          </a:p>
        </p:txBody>
      </p:sp>
      <p:sp>
        <p:nvSpPr>
          <p:cNvPr id="41" name="Rectangle 40"/>
          <p:cNvSpPr/>
          <p:nvPr/>
        </p:nvSpPr>
        <p:spPr>
          <a:xfrm>
            <a:off x="8229600" y="3867912"/>
            <a:ext cx="1280160" cy="420624"/>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5</a:t>
            </a:r>
          </a:p>
        </p:txBody>
      </p:sp>
      <p:sp>
        <p:nvSpPr>
          <p:cNvPr id="42" name="Rectangle 41"/>
          <p:cNvSpPr/>
          <p:nvPr/>
        </p:nvSpPr>
        <p:spPr>
          <a:xfrm>
            <a:off x="9509760" y="3867912"/>
            <a:ext cx="1280160" cy="420624"/>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0</a:t>
            </a:r>
          </a:p>
        </p:txBody>
      </p:sp>
      <p:sp>
        <p:nvSpPr>
          <p:cNvPr id="43" name="TextBox 42"/>
          <p:cNvSpPr txBox="1"/>
          <p:nvPr/>
        </p:nvSpPr>
        <p:spPr>
          <a:xfrm>
            <a:off x="6400800" y="4480560"/>
            <a:ext cx="5212080" cy="411480"/>
          </a:xfrm>
          <a:prstGeom prst="rect">
            <a:avLst/>
          </a:prstGeom>
          <a:noFill/>
        </p:spPr>
        <p:txBody>
          <a:bodyPr wrap="square" lIns="0" rIns="0" tIns="0" bIns="0" anchor="t">
            <a:spAutoFit/>
          </a:bodyPr>
          <a:lstStyle/>
          <a:p>
            <a:pPr algn="l"/>
            <a:r>
              <a:rPr sz="1700" b="1" i="0">
                <a:solidFill>
                  <a:srgbClr val="0F8B8D"/>
                </a:solidFill>
                <a:latin typeface="Arial"/>
              </a:rPr>
              <a:t>unique_id  </a:t>
            </a:r>
            <a:r>
              <a:rPr sz="1700" b="0" i="0">
                <a:solidFill>
                  <a:srgbClr val="1B2A41"/>
                </a:solidFill>
                <a:latin typeface="Arial"/>
              </a:rPr>
              <a:t>ai: chuỗi nào</a:t>
            </a:r>
          </a:p>
        </p:txBody>
      </p:sp>
      <p:sp>
        <p:nvSpPr>
          <p:cNvPr id="44" name="TextBox 43"/>
          <p:cNvSpPr txBox="1"/>
          <p:nvPr/>
        </p:nvSpPr>
        <p:spPr>
          <a:xfrm>
            <a:off x="6400800" y="4937760"/>
            <a:ext cx="5212080" cy="411480"/>
          </a:xfrm>
          <a:prstGeom prst="rect">
            <a:avLst/>
          </a:prstGeom>
          <a:noFill/>
        </p:spPr>
        <p:txBody>
          <a:bodyPr wrap="square" lIns="0" rIns="0" tIns="0" bIns="0" anchor="t">
            <a:spAutoFit/>
          </a:bodyPr>
          <a:lstStyle/>
          <a:p>
            <a:pPr algn="l"/>
            <a:r>
              <a:rPr sz="1700" b="1" i="0">
                <a:solidFill>
                  <a:srgbClr val="0F8B8D"/>
                </a:solidFill>
                <a:latin typeface="Arial"/>
              </a:rPr>
              <a:t>ds  </a:t>
            </a:r>
            <a:r>
              <a:rPr sz="1700" b="0" i="0">
                <a:solidFill>
                  <a:srgbClr val="1B2A41"/>
                </a:solidFill>
                <a:latin typeface="Arial"/>
              </a:rPr>
              <a:t>khi nào: mốc thời gian UTC</a:t>
            </a:r>
          </a:p>
        </p:txBody>
      </p:sp>
      <p:sp>
        <p:nvSpPr>
          <p:cNvPr id="45" name="TextBox 44"/>
          <p:cNvSpPr txBox="1"/>
          <p:nvPr/>
        </p:nvSpPr>
        <p:spPr>
          <a:xfrm>
            <a:off x="6400800" y="5394960"/>
            <a:ext cx="5212080" cy="411480"/>
          </a:xfrm>
          <a:prstGeom prst="rect">
            <a:avLst/>
          </a:prstGeom>
          <a:noFill/>
        </p:spPr>
        <p:txBody>
          <a:bodyPr wrap="square" lIns="0" rIns="0" tIns="0" bIns="0" anchor="t">
            <a:spAutoFit/>
          </a:bodyPr>
          <a:lstStyle/>
          <a:p>
            <a:pPr algn="l"/>
            <a:r>
              <a:rPr sz="1700" b="1" i="0">
                <a:solidFill>
                  <a:srgbClr val="0F8B8D"/>
                </a:solidFill>
                <a:latin typeface="Arial"/>
              </a:rPr>
              <a:t>y  </a:t>
            </a:r>
            <a:r>
              <a:rPr sz="1700" b="0" i="0">
                <a:solidFill>
                  <a:srgbClr val="1B2A41"/>
                </a:solidFill>
                <a:latin typeface="Arial"/>
              </a:rPr>
              <a:t>bao nhiêu: giá trị đo</a:t>
            </a:r>
          </a:p>
        </p:txBody>
      </p:sp>
      <p:sp>
        <p:nvSpPr>
          <p:cNvPr id="46" name="TextBox 45"/>
          <p:cNvSpPr txBox="1"/>
          <p:nvPr/>
        </p:nvSpPr>
        <p:spPr>
          <a:xfrm>
            <a:off x="548640" y="5806440"/>
            <a:ext cx="11091672" cy="548640"/>
          </a:xfrm>
          <a:prstGeom prst="rect">
            <a:avLst/>
          </a:prstGeom>
          <a:noFill/>
        </p:spPr>
        <p:txBody>
          <a:bodyPr wrap="square" lIns="0" rIns="0" tIns="0" bIns="0" anchor="t">
            <a:spAutoFit/>
          </a:bodyPr>
          <a:lstStyle/>
          <a:p>
            <a:pPr algn="l"/>
            <a:r>
              <a:rPr sz="1600" b="1" i="0">
                <a:solidFill>
                  <a:srgbClr val="5B6778"/>
                </a:solidFill>
                <a:latin typeface="Arial"/>
              </a:rPr>
              <a:t>Bảng sạch khi mỗi cặp (unique_id, ds) chỉ có một dòng, đủ mọi mốc và không trùng.</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Mùa vụ lặp đều; chu kỳ không hẹn trước</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4</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trend · seasonality · cycle</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Tách phần lặp lại biết trước, thứ dự báo được, khỏi phần lên xuống không hẹn trước.</a:t>
            </a:r>
          </a:p>
        </p:txBody>
      </p:sp>
      <p:pic>
        <p:nvPicPr>
          <p:cNvPr id="7" name="Picture 6" descr="kn-chu-ky.png"/>
          <p:cNvPicPr>
            <a:picLocks noChangeAspect="1"/>
          </p:cNvPicPr>
          <p:nvPr/>
        </p:nvPicPr>
        <p:blipFill>
          <a:blip r:embed="rId2"/>
          <a:stretch>
            <a:fillRect/>
          </a:stretch>
        </p:blipFill>
        <p:spPr>
          <a:xfrm>
            <a:off x="548640" y="2669114"/>
            <a:ext cx="6309360" cy="3220554"/>
          </a:xfrm>
          <a:prstGeom prst="rect">
            <a:avLst/>
          </a:prstGeom>
        </p:spPr>
      </p:pic>
      <p:sp>
        <p:nvSpPr>
          <p:cNvPr id="8" name="TextBox 7"/>
          <p:cNvSpPr txBox="1"/>
          <p:nvPr/>
        </p:nvSpPr>
        <p:spPr>
          <a:xfrm>
            <a:off x="7223760" y="206654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9" name="TextBox 8"/>
          <p:cNvSpPr txBox="1"/>
          <p:nvPr/>
        </p:nvSpPr>
        <p:spPr>
          <a:xfrm>
            <a:off x="7223760" y="2386584"/>
            <a:ext cx="4416552" cy="1127760"/>
          </a:xfrm>
          <a:prstGeom prst="rect">
            <a:avLst/>
          </a:prstGeom>
          <a:noFill/>
        </p:spPr>
        <p:txBody>
          <a:bodyPr wrap="square" lIns="0" rIns="0" tIns="0" bIns="0" anchor="t">
            <a:spAutoFit/>
          </a:bodyPr>
          <a:lstStyle/>
          <a:p>
            <a:pPr algn="l"/>
            <a:r>
              <a:rPr sz="1500" b="0" i="0">
                <a:solidFill>
                  <a:srgbClr val="1B2A41"/>
                </a:solidFill>
                <a:latin typeface="Arial"/>
              </a:rPr>
              <a:t>Xu hướng là mức chung đổi dần. Mùa vụ lặp lại sau một số bước cố định m. Chu kỳ lên xuống nhưng dài ngắn không đều.</a:t>
            </a:r>
          </a:p>
        </p:txBody>
      </p:sp>
      <p:sp>
        <p:nvSpPr>
          <p:cNvPr id="10" name="TextBox 9"/>
          <p:cNvSpPr txBox="1"/>
          <p:nvPr/>
        </p:nvSpPr>
        <p:spPr>
          <a:xfrm>
            <a:off x="7223760" y="3541775"/>
            <a:ext cx="4416552" cy="274320"/>
          </a:xfrm>
          <a:prstGeom prst="rect">
            <a:avLst/>
          </a:prstGeom>
          <a:noFill/>
        </p:spPr>
        <p:txBody>
          <a:bodyPr wrap="square" lIns="0" rIns="0" tIns="0" bIns="0" anchor="t">
            <a:spAutoFit/>
          </a:bodyPr>
          <a:lstStyle/>
          <a:p>
            <a:pPr algn="l"/>
            <a:r>
              <a:rPr sz="1400" b="1" i="0">
                <a:solidFill>
                  <a:srgbClr val="0F8B8D"/>
                </a:solidFill>
                <a:latin typeface="Arial"/>
              </a:rPr>
              <a:t>Nhận ra thế nào</a:t>
            </a:r>
          </a:p>
        </p:txBody>
      </p:sp>
      <p:sp>
        <p:nvSpPr>
          <p:cNvPr id="11" name="TextBox 10"/>
          <p:cNvSpPr txBox="1"/>
          <p:nvPr/>
        </p:nvSpPr>
        <p:spPr>
          <a:xfrm>
            <a:off x="7223760" y="3861815"/>
            <a:ext cx="4416552" cy="1127760"/>
          </a:xfrm>
          <a:prstGeom prst="rect">
            <a:avLst/>
          </a:prstGeom>
          <a:noFill/>
        </p:spPr>
        <p:txBody>
          <a:bodyPr wrap="square" lIns="0" rIns="0" tIns="0" bIns="0" anchor="t">
            <a:spAutoFit/>
          </a:bodyPr>
          <a:lstStyle/>
          <a:p>
            <a:pPr algn="l"/>
            <a:r>
              <a:rPr sz="1500" b="0" i="0">
                <a:solidFill>
                  <a:srgbClr val="1B2A41"/>
                </a:solidFill>
                <a:latin typeface="Arial"/>
              </a:rPr>
              <a:t>Mùa vụ có m cố định (24 giờ, 7 ngày, 12 tháng) nên biết trước đỉnh. Chu kỳ không có m, khó đoán lúc nó đổi chiều.</a:t>
            </a:r>
          </a:p>
        </p:txBody>
      </p:sp>
      <p:sp>
        <p:nvSpPr>
          <p:cNvPr id="12" name="TextBox 11"/>
          <p:cNvSpPr txBox="1"/>
          <p:nvPr/>
        </p:nvSpPr>
        <p:spPr>
          <a:xfrm>
            <a:off x="7223760" y="5017008"/>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13" name="TextBox 12"/>
          <p:cNvSpPr txBox="1"/>
          <p:nvPr/>
        </p:nvSpPr>
        <p:spPr>
          <a:xfrm>
            <a:off x="7223760" y="5337047"/>
            <a:ext cx="4416552" cy="1127760"/>
          </a:xfrm>
          <a:prstGeom prst="rect">
            <a:avLst/>
          </a:prstGeom>
          <a:noFill/>
        </p:spPr>
        <p:txBody>
          <a:bodyPr wrap="square" lIns="0" rIns="0" tIns="0" bIns="0" anchor="t">
            <a:spAutoFit/>
          </a:bodyPr>
          <a:lstStyle/>
          <a:p>
            <a:pPr algn="l"/>
            <a:r>
              <a:rPr sz="1500" b="0" i="0">
                <a:solidFill>
                  <a:srgbClr val="1B2A41"/>
                </a:solidFill>
                <a:latin typeface="Arial"/>
              </a:rPr>
              <a:t>Thuê xe đông lúc 8h và 17h mỗi ngày làm việc là mùa vụ (m = 24). Kinh tế tăng rồi suy giảm không hẹn trước là chu kỳ.</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Đọc mọi biểu đồ theo 5 bước</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4</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axis · legend · heatmap · seasonal plot</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Đọc ra một kết luận có bằng chứng từ biểu đồ, không đoán theo cảm giác.</a:t>
            </a:r>
          </a:p>
        </p:txBody>
      </p:sp>
      <p:pic>
        <p:nvPicPr>
          <p:cNvPr id="7" name="Picture 6" descr="nhiet-gio-thu.png"/>
          <p:cNvPicPr>
            <a:picLocks noChangeAspect="1"/>
          </p:cNvPicPr>
          <p:nvPr/>
        </p:nvPicPr>
        <p:blipFill>
          <a:blip r:embed="rId2"/>
          <a:stretch>
            <a:fillRect/>
          </a:stretch>
        </p:blipFill>
        <p:spPr>
          <a:xfrm>
            <a:off x="548640" y="2737631"/>
            <a:ext cx="6309360" cy="3083521"/>
          </a:xfrm>
          <a:prstGeom prst="rect">
            <a:avLst/>
          </a:prstGeom>
        </p:spPr>
      </p:pic>
      <p:sp>
        <p:nvSpPr>
          <p:cNvPr id="8" name="TextBox 7"/>
          <p:cNvSpPr txBox="1"/>
          <p:nvPr/>
        </p:nvSpPr>
        <p:spPr>
          <a:xfrm>
            <a:off x="7223760" y="206654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9" name="TextBox 8"/>
          <p:cNvSpPr txBox="1"/>
          <p:nvPr/>
        </p:nvSpPr>
        <p:spPr>
          <a:xfrm>
            <a:off x="7223760" y="2386584"/>
            <a:ext cx="4416552" cy="1127760"/>
          </a:xfrm>
          <a:prstGeom prst="rect">
            <a:avLst/>
          </a:prstGeom>
          <a:noFill/>
        </p:spPr>
        <p:txBody>
          <a:bodyPr wrap="square" lIns="0" rIns="0" tIns="0" bIns="0" anchor="t">
            <a:spAutoFit/>
          </a:bodyPr>
          <a:lstStyle/>
          <a:p>
            <a:pPr algn="l"/>
            <a:r>
              <a:rPr sz="1500" b="0" i="0">
                <a:solidFill>
                  <a:srgbClr val="1B2A41"/>
                </a:solidFill>
                <a:latin typeface="Arial"/>
              </a:rPr>
              <a:t>Năm bước: trục ngang là gì, trục dọc là gì và đơn vị nào, ký hiệu nghĩa là gì, nhìn vào đâu, và kết luận bằng một câu.</a:t>
            </a:r>
          </a:p>
        </p:txBody>
      </p:sp>
      <p:sp>
        <p:nvSpPr>
          <p:cNvPr id="10" name="TextBox 9"/>
          <p:cNvSpPr txBox="1"/>
          <p:nvPr/>
        </p:nvSpPr>
        <p:spPr>
          <a:xfrm>
            <a:off x="7223760" y="3541775"/>
            <a:ext cx="4416552" cy="274320"/>
          </a:xfrm>
          <a:prstGeom prst="rect">
            <a:avLst/>
          </a:prstGeom>
          <a:noFill/>
        </p:spPr>
        <p:txBody>
          <a:bodyPr wrap="square" lIns="0" rIns="0" tIns="0" bIns="0" anchor="t">
            <a:spAutoFit/>
          </a:bodyPr>
          <a:lstStyle/>
          <a:p>
            <a:pPr algn="l"/>
            <a:r>
              <a:rPr sz="1400" b="1" i="0">
                <a:solidFill>
                  <a:srgbClr val="0F8B8D"/>
                </a:solidFill>
                <a:latin typeface="Arial"/>
              </a:rPr>
              <a:t>Heatmap đọc thế nào</a:t>
            </a:r>
          </a:p>
        </p:txBody>
      </p:sp>
      <p:cxnSp>
        <p:nvCxnSpPr>
          <p:cNvPr id="11" name="Connector 10"/>
          <p:cNvCxnSpPr/>
          <p:nvPr/>
        </p:nvCxnSpPr>
        <p:spPr>
          <a:xfrm>
            <a:off x="8327898" y="3998975"/>
            <a:ext cx="2208276"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8245602" y="391668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60336" y="4136136"/>
            <a:ext cx="2135124" cy="274320"/>
          </a:xfrm>
          <a:prstGeom prst="rect">
            <a:avLst/>
          </a:prstGeom>
          <a:noFill/>
        </p:spPr>
        <p:txBody>
          <a:bodyPr wrap="square" lIns="0" rIns="0" tIns="0" bIns="0" anchor="t">
            <a:spAutoFit/>
          </a:bodyPr>
          <a:lstStyle/>
          <a:p>
            <a:pPr algn="ctr"/>
            <a:r>
              <a:rPr sz="1400" b="1" i="0">
                <a:solidFill>
                  <a:srgbClr val="0F8B8D"/>
                </a:solidFill>
                <a:latin typeface="Arial"/>
              </a:rPr>
              <a:t>tối</a:t>
            </a:r>
          </a:p>
        </p:txBody>
      </p:sp>
      <p:sp>
        <p:nvSpPr>
          <p:cNvPr id="14" name="TextBox 13"/>
          <p:cNvSpPr txBox="1"/>
          <p:nvPr/>
        </p:nvSpPr>
        <p:spPr>
          <a:xfrm>
            <a:off x="7260336" y="4410456"/>
            <a:ext cx="2135124" cy="548640"/>
          </a:xfrm>
          <a:prstGeom prst="rect">
            <a:avLst/>
          </a:prstGeom>
          <a:noFill/>
        </p:spPr>
        <p:txBody>
          <a:bodyPr wrap="square" lIns="0" rIns="0" tIns="0" bIns="0" anchor="t">
            <a:spAutoFit/>
          </a:bodyPr>
          <a:lstStyle/>
          <a:p>
            <a:pPr algn="ctr"/>
            <a:r>
              <a:rPr sz="1100" b="0" i="0">
                <a:solidFill>
                  <a:srgbClr val="1B2A41"/>
                </a:solidFill>
                <a:latin typeface="Arial"/>
              </a:rPr>
              <a:t>giá trị thấp</a:t>
            </a:r>
          </a:p>
        </p:txBody>
      </p:sp>
      <p:sp>
        <p:nvSpPr>
          <p:cNvPr id="15" name="Oval 14"/>
          <p:cNvSpPr/>
          <p:nvPr/>
        </p:nvSpPr>
        <p:spPr>
          <a:xfrm>
            <a:off x="10453878" y="391668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468612" y="4136136"/>
            <a:ext cx="2135124" cy="274320"/>
          </a:xfrm>
          <a:prstGeom prst="rect">
            <a:avLst/>
          </a:prstGeom>
          <a:noFill/>
        </p:spPr>
        <p:txBody>
          <a:bodyPr wrap="square" lIns="0" rIns="0" tIns="0" bIns="0" anchor="t">
            <a:spAutoFit/>
          </a:bodyPr>
          <a:lstStyle/>
          <a:p>
            <a:pPr algn="ctr"/>
            <a:r>
              <a:rPr sz="1400" b="1" i="0">
                <a:solidFill>
                  <a:srgbClr val="0F8B8D"/>
                </a:solidFill>
                <a:latin typeface="Arial"/>
              </a:rPr>
              <a:t>sáng</a:t>
            </a:r>
          </a:p>
        </p:txBody>
      </p:sp>
      <p:sp>
        <p:nvSpPr>
          <p:cNvPr id="17" name="TextBox 16"/>
          <p:cNvSpPr txBox="1"/>
          <p:nvPr/>
        </p:nvSpPr>
        <p:spPr>
          <a:xfrm>
            <a:off x="9468612" y="4410456"/>
            <a:ext cx="2135124" cy="548640"/>
          </a:xfrm>
          <a:prstGeom prst="rect">
            <a:avLst/>
          </a:prstGeom>
          <a:noFill/>
        </p:spPr>
        <p:txBody>
          <a:bodyPr wrap="square" lIns="0" rIns="0" tIns="0" bIns="0" anchor="t">
            <a:spAutoFit/>
          </a:bodyPr>
          <a:lstStyle/>
          <a:p>
            <a:pPr algn="ctr"/>
            <a:r>
              <a:rPr sz="1100" b="0" i="0">
                <a:solidFill>
                  <a:srgbClr val="1B2A41"/>
                </a:solidFill>
                <a:latin typeface="Arial"/>
              </a:rPr>
              <a:t>giá trị cao</a:t>
            </a:r>
          </a:p>
        </p:txBody>
      </p:sp>
      <p:sp>
        <p:nvSpPr>
          <p:cNvPr id="18" name="TextBox 17"/>
          <p:cNvSpPr txBox="1"/>
          <p:nvPr/>
        </p:nvSpPr>
        <p:spPr>
          <a:xfrm>
            <a:off x="7223760" y="5017008"/>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19" name="TextBox 18"/>
          <p:cNvSpPr txBox="1"/>
          <p:nvPr/>
        </p:nvSpPr>
        <p:spPr>
          <a:xfrm>
            <a:off x="7223760" y="5337047"/>
            <a:ext cx="4416552" cy="1127760"/>
          </a:xfrm>
          <a:prstGeom prst="rect">
            <a:avLst/>
          </a:prstGeom>
          <a:noFill/>
        </p:spPr>
        <p:txBody>
          <a:bodyPr wrap="square" lIns="0" rIns="0" tIns="0" bIns="0" anchor="t">
            <a:spAutoFit/>
          </a:bodyPr>
          <a:lstStyle/>
          <a:p>
            <a:pPr algn="l"/>
            <a:r>
              <a:rPr sz="1500" b="0" i="0">
                <a:solidFill>
                  <a:srgbClr val="1B2A41"/>
                </a:solidFill>
                <a:latin typeface="Arial"/>
              </a:rPr>
              <a:t>Heatmap giờ × thứ: hai cột sáng lúc 8h và 17h chạy suốt thứ Hai tới thứ Sáu rồi tắt vào cuối tuần.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Làm trơn: đường mượt xoá ngày bất thường</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4</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smoothing · centered moving average · window w</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Làm trơn cho hình dễ nhìn. Nhưng nó giấu mất gì?</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Thấy xu hướng qua nhiễu từng ngày mà không đánh mất những ngày bất thường cần biết.</a:t>
            </a:r>
          </a:p>
        </p:txBody>
      </p:sp>
      <p:sp>
        <p:nvSpPr>
          <p:cNvPr id="8" name="TextBox 7"/>
          <p:cNvSpPr txBox="1"/>
          <p:nvPr/>
        </p:nvSpPr>
        <p:spPr>
          <a:xfrm>
            <a:off x="1325880" y="2084831"/>
            <a:ext cx="10332720" cy="411480"/>
          </a:xfrm>
          <a:prstGeom prst="rect">
            <a:avLst/>
          </a:prstGeom>
          <a:noFill/>
        </p:spPr>
        <p:txBody>
          <a:bodyPr wrap="square" lIns="0" rIns="0" tIns="0" bIns="0" anchor="t">
            <a:spAutoFit/>
          </a:bodyPr>
          <a:lstStyle/>
          <a:p>
            <a:pPr algn="l"/>
            <a:r>
              <a:rPr sz="1700" b="0" i="1">
                <a:solidFill>
                  <a:srgbClr val="0F8B8D"/>
                </a:solidFill>
                <a:latin typeface="Arial"/>
              </a:rPr>
              <a:t>“Vẽ đường làm trơn đè lên dữ liệu gốc, đừng thay nó.”</a:t>
            </a:r>
          </a:p>
        </p:txBody>
      </p:sp>
      <p:sp>
        <p:nvSpPr>
          <p:cNvPr id="9" name="Rounded Rectangle 8"/>
          <p:cNvSpPr/>
          <p:nvPr/>
        </p:nvSpPr>
        <p:spPr>
          <a:xfrm>
            <a:off x="548640" y="2816351"/>
            <a:ext cx="11091672" cy="862584"/>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816351"/>
            <a:ext cx="1097280" cy="862584"/>
          </a:xfrm>
          <a:prstGeom prst="rect">
            <a:avLst/>
          </a:prstGeom>
          <a:noFill/>
        </p:spPr>
        <p:txBody>
          <a:bodyPr wrap="square" lIns="0" rIns="0" tIns="0" bIns="0" anchor="ctr">
            <a:spAutoFit/>
          </a:bodyPr>
          <a:lstStyle/>
          <a:p>
            <a:pPr algn="l"/>
            <a:r>
              <a:rPr sz="1200" b="1" i="0">
                <a:solidFill>
                  <a:srgbClr val="0F8B8D"/>
                </a:solidFill>
                <a:latin typeface="Arial"/>
              </a:rPr>
              <a:t>Công thức</a:t>
            </a:r>
          </a:p>
        </p:txBody>
      </p:sp>
      <p:pic>
        <p:nvPicPr>
          <p:cNvPr id="11" name="Picture 10" descr="0170c2b42dcb.png"/>
          <p:cNvPicPr>
            <a:picLocks noChangeAspect="1"/>
          </p:cNvPicPr>
          <p:nvPr/>
        </p:nvPicPr>
        <p:blipFill>
          <a:blip r:embed="rId2"/>
          <a:stretch>
            <a:fillRect/>
          </a:stretch>
        </p:blipFill>
        <p:spPr>
          <a:xfrm>
            <a:off x="1783080" y="2880359"/>
            <a:ext cx="3669792" cy="734568"/>
          </a:xfrm>
          <a:prstGeom prst="rect">
            <a:avLst/>
          </a:prstGeom>
        </p:spPr>
      </p:pic>
      <p:sp>
        <p:nvSpPr>
          <p:cNvPr id="12" name="TextBox 11"/>
          <p:cNvSpPr txBox="1"/>
          <p:nvPr/>
        </p:nvSpPr>
        <p:spPr>
          <a:xfrm>
            <a:off x="5635752" y="2816351"/>
            <a:ext cx="5867399" cy="862584"/>
          </a:xfrm>
          <a:prstGeom prst="rect">
            <a:avLst/>
          </a:prstGeom>
          <a:noFill/>
        </p:spPr>
        <p:txBody>
          <a:bodyPr wrap="square" lIns="0" rIns="0" tIns="0" bIns="0" anchor="ctr">
            <a:spAutoFit/>
          </a:bodyPr>
          <a:lstStyle/>
          <a:p>
            <a:pPr algn="l"/>
            <a:r>
              <a:rPr sz="1150" b="0" i="0">
                <a:solidFill>
                  <a:srgbClr val="1B2A41"/>
                </a:solidFill>
                <a:latin typeface="Arial"/>
              </a:rPr>
              <a:t>w = 3 quanh ngày thứ tư: (48 + 2 + 51) / 3 = 33,7.</a:t>
            </a:r>
          </a:p>
        </p:txBody>
      </p:sp>
      <p:pic>
        <p:nvPicPr>
          <p:cNvPr id="13" name="Picture 12" descr="lam-tron.png"/>
          <p:cNvPicPr>
            <a:picLocks noChangeAspect="1"/>
          </p:cNvPicPr>
          <p:nvPr/>
        </p:nvPicPr>
        <p:blipFill>
          <a:blip r:embed="rId3"/>
          <a:stretch>
            <a:fillRect/>
          </a:stretch>
        </p:blipFill>
        <p:spPr>
          <a:xfrm>
            <a:off x="4597287" y="3770375"/>
            <a:ext cx="2994377" cy="1167384"/>
          </a:xfrm>
          <a:prstGeom prst="rect">
            <a:avLst/>
          </a:prstGeom>
        </p:spPr>
      </p:pic>
      <p:sp>
        <p:nvSpPr>
          <p:cNvPr id="14" name="Rounded Rectangle 13"/>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6" name="TextBox 15"/>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Trung bình trượt có tâm thay mỗi điểm bằng trung bình của nó với các điểm hai bên, trong cửa sổ w điểm.</a:t>
            </a:r>
          </a:p>
        </p:txBody>
      </p:sp>
      <p:sp>
        <p:nvSpPr>
          <p:cNvPr id="17" name="Rounded Rectangle 16"/>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Cửa sổ rộng hay hẹp nghĩa là gì</a:t>
            </a:r>
          </a:p>
        </p:txBody>
      </p:sp>
      <p:sp>
        <p:nvSpPr>
          <p:cNvPr id="19" name="TextBox 18"/>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600" b="0" i="0">
                <a:solidFill>
                  <a:srgbClr val="1B2A41"/>
                </a:solidFill>
                <a:latin typeface="Arial"/>
              </a:rPr>
              <a:t/>
            </a:r>
          </a:p>
        </p:txBody>
      </p:sp>
      <p:cxnSp>
        <p:nvCxnSpPr>
          <p:cNvPr id="20" name="Connector 19"/>
          <p:cNvCxnSpPr/>
          <p:nvPr/>
        </p:nvCxnSpPr>
        <p:spPr>
          <a:xfrm>
            <a:off x="5246370" y="5532120"/>
            <a:ext cx="1696211"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5164074"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34840" y="5669280"/>
            <a:ext cx="1623060" cy="274320"/>
          </a:xfrm>
          <a:prstGeom prst="rect">
            <a:avLst/>
          </a:prstGeom>
          <a:noFill/>
        </p:spPr>
        <p:txBody>
          <a:bodyPr wrap="square" lIns="0" rIns="0" tIns="0" bIns="0" anchor="t">
            <a:spAutoFit/>
          </a:bodyPr>
          <a:lstStyle/>
          <a:p>
            <a:pPr algn="ctr"/>
            <a:r>
              <a:rPr sz="1400" b="1" i="0">
                <a:solidFill>
                  <a:srgbClr val="0F8B8D"/>
                </a:solidFill>
                <a:latin typeface="Arial"/>
              </a:rPr>
              <a:t>w nhỏ</a:t>
            </a:r>
          </a:p>
        </p:txBody>
      </p:sp>
      <p:sp>
        <p:nvSpPr>
          <p:cNvPr id="23" name="TextBox 22"/>
          <p:cNvSpPr txBox="1"/>
          <p:nvPr/>
        </p:nvSpPr>
        <p:spPr>
          <a:xfrm>
            <a:off x="4434840" y="5943600"/>
            <a:ext cx="1623060" cy="548640"/>
          </a:xfrm>
          <a:prstGeom prst="rect">
            <a:avLst/>
          </a:prstGeom>
          <a:noFill/>
        </p:spPr>
        <p:txBody>
          <a:bodyPr wrap="square" lIns="0" rIns="0" tIns="0" bIns="0" anchor="t">
            <a:spAutoFit/>
          </a:bodyPr>
          <a:lstStyle/>
          <a:p>
            <a:pPr algn="ctr"/>
            <a:r>
              <a:rPr sz="1100" b="0" i="0">
                <a:solidFill>
                  <a:srgbClr val="1B2A41"/>
                </a:solidFill>
                <a:latin typeface="Arial"/>
              </a:rPr>
              <a:t>còn thấy chi tiết, còn nhiễu</a:t>
            </a:r>
          </a:p>
        </p:txBody>
      </p:sp>
      <p:sp>
        <p:nvSpPr>
          <p:cNvPr id="24" name="Oval 23"/>
          <p:cNvSpPr/>
          <p:nvPr/>
        </p:nvSpPr>
        <p:spPr>
          <a:xfrm>
            <a:off x="6860286"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31051" y="5669280"/>
            <a:ext cx="1623060" cy="274320"/>
          </a:xfrm>
          <a:prstGeom prst="rect">
            <a:avLst/>
          </a:prstGeom>
          <a:noFill/>
        </p:spPr>
        <p:txBody>
          <a:bodyPr wrap="square" lIns="0" rIns="0" tIns="0" bIns="0" anchor="t">
            <a:spAutoFit/>
          </a:bodyPr>
          <a:lstStyle/>
          <a:p>
            <a:pPr algn="ctr"/>
            <a:r>
              <a:rPr sz="1400" b="1" i="0">
                <a:solidFill>
                  <a:srgbClr val="0F8B8D"/>
                </a:solidFill>
                <a:latin typeface="Arial"/>
              </a:rPr>
              <a:t>w lớn</a:t>
            </a:r>
          </a:p>
        </p:txBody>
      </p:sp>
      <p:sp>
        <p:nvSpPr>
          <p:cNvPr id="26" name="TextBox 25"/>
          <p:cNvSpPr txBox="1"/>
          <p:nvPr/>
        </p:nvSpPr>
        <p:spPr>
          <a:xfrm>
            <a:off x="6131051" y="5943600"/>
            <a:ext cx="1623060" cy="548640"/>
          </a:xfrm>
          <a:prstGeom prst="rect">
            <a:avLst/>
          </a:prstGeom>
          <a:noFill/>
        </p:spPr>
        <p:txBody>
          <a:bodyPr wrap="square" lIns="0" rIns="0" tIns="0" bIns="0" anchor="t">
            <a:spAutoFit/>
          </a:bodyPr>
          <a:lstStyle/>
          <a:p>
            <a:pPr algn="ctr"/>
            <a:r>
              <a:rPr sz="1100" b="0" i="0">
                <a:solidFill>
                  <a:srgbClr val="1B2A41"/>
                </a:solidFill>
                <a:latin typeface="Arial"/>
              </a:rPr>
              <a:t>rất mượt, ngày lạ gần như biến mất</a:t>
            </a:r>
          </a:p>
        </p:txBody>
      </p:sp>
      <p:sp>
        <p:nvSpPr>
          <p:cNvPr id="27" name="Rounded Rectangle 26"/>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29" name="TextBox 28"/>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50, 52, 48, 2, 51, 49, 50: w = 3 cho ngày thứ tư 33,7; w = 7 cho 43,1. Ngày bão Sandy chỉ có 22 lượt, đường 7 ngày vẫn 4.632.</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Thang log: cùng độ dốc là cùng phần trăm</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4</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log scale · percentage change · log10</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Tháng tăng mạnh nhất là tháng thêm nhiều lượt nhất, hay tháng tăng nhiều phần trăm nhất?</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Đọc đúng câu hỏi: tăng thêm bao nhiêu đơn vị, hay tăng nhanh bao nhiêu phần trăm.</a:t>
            </a:r>
          </a:p>
        </p:txBody>
      </p:sp>
      <p:sp>
        <p:nvSpPr>
          <p:cNvPr id="8" name="Rounded Rectangle 7"/>
          <p:cNvSpPr/>
          <p:nvPr/>
        </p:nvSpPr>
        <p:spPr>
          <a:xfrm>
            <a:off x="548640" y="2432303"/>
            <a:ext cx="11091672"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432303"/>
            <a:ext cx="1097280" cy="658368"/>
          </a:xfrm>
          <a:prstGeom prst="rect">
            <a:avLst/>
          </a:prstGeom>
          <a:noFill/>
        </p:spPr>
        <p:txBody>
          <a:bodyPr wrap="square" lIns="0" rIns="0" tIns="0" bIns="0" anchor="ctr">
            <a:spAutoFit/>
          </a:bodyPr>
          <a:lstStyle/>
          <a:p>
            <a:pPr algn="l"/>
            <a:r>
              <a:rPr sz="1200" b="1" i="0">
                <a:solidFill>
                  <a:srgbClr val="0F8B8D"/>
                </a:solidFill>
                <a:latin typeface="Arial"/>
              </a:rPr>
              <a:t>Công thức</a:t>
            </a:r>
          </a:p>
        </p:txBody>
      </p:sp>
      <p:pic>
        <p:nvPicPr>
          <p:cNvPr id="10" name="Picture 9" descr="0d5a093e8baf.png"/>
          <p:cNvPicPr>
            <a:picLocks noChangeAspect="1"/>
          </p:cNvPicPr>
          <p:nvPr/>
        </p:nvPicPr>
        <p:blipFill>
          <a:blip r:embed="rId2"/>
          <a:stretch>
            <a:fillRect/>
          </a:stretch>
        </p:blipFill>
        <p:spPr>
          <a:xfrm>
            <a:off x="1783080" y="2637796"/>
            <a:ext cx="6611112" cy="247383"/>
          </a:xfrm>
          <a:prstGeom prst="rect">
            <a:avLst/>
          </a:prstGeom>
        </p:spPr>
      </p:pic>
      <p:sp>
        <p:nvSpPr>
          <p:cNvPr id="11" name="TextBox 10"/>
          <p:cNvSpPr txBox="1"/>
          <p:nvPr/>
        </p:nvSpPr>
        <p:spPr>
          <a:xfrm>
            <a:off x="8577072" y="2432303"/>
            <a:ext cx="2926080" cy="658368"/>
          </a:xfrm>
          <a:prstGeom prst="rect">
            <a:avLst/>
          </a:prstGeom>
          <a:noFill/>
        </p:spPr>
        <p:txBody>
          <a:bodyPr wrap="square" lIns="0" rIns="0" tIns="0" bIns="0" anchor="ctr">
            <a:spAutoFit/>
          </a:bodyPr>
          <a:lstStyle/>
          <a:p>
            <a:pPr algn="l"/>
            <a:r>
              <a:rPr sz="1150" b="0" i="0">
                <a:solidFill>
                  <a:srgbClr val="1B2A41"/>
                </a:solidFill>
                <a:latin typeface="Arial"/>
              </a:rPr>
              <a:t>100 → 200 và 200 → 400 cao thêm như nhau: cùng gấp đôi.</a:t>
            </a:r>
          </a:p>
        </p:txBody>
      </p:sp>
      <p:pic>
        <p:nvPicPr>
          <p:cNvPr id="12" name="Picture 11" descr="thang-log.png"/>
          <p:cNvPicPr>
            <a:picLocks noChangeAspect="1"/>
          </p:cNvPicPr>
          <p:nvPr/>
        </p:nvPicPr>
        <p:blipFill>
          <a:blip r:embed="rId3"/>
          <a:stretch>
            <a:fillRect/>
          </a:stretch>
        </p:blipFill>
        <p:spPr>
          <a:xfrm>
            <a:off x="3284680" y="3182112"/>
            <a:ext cx="5619590" cy="1755648"/>
          </a:xfrm>
          <a:prstGeom prst="rect">
            <a:avLst/>
          </a:prstGeom>
        </p:spPr>
      </p:pic>
      <p:sp>
        <p:nvSpPr>
          <p:cNvPr id="13" name="Rounded Rectangle 12"/>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5" name="TextBox 14"/>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Thang log đặt mỗi điểm ở độ cao log10 y thay vì y. Mỗi lần gấp đôi thì cao thêm đúng 0,301, ở bất kỳ mức nào.</a:t>
            </a:r>
          </a:p>
        </p:txBody>
      </p:sp>
      <p:sp>
        <p:nvSpPr>
          <p:cNvPr id="16" name="Rounded Rectangle 15"/>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Dùng thang nào</a:t>
            </a:r>
          </a:p>
        </p:txBody>
      </p:sp>
      <p:sp>
        <p:nvSpPr>
          <p:cNvPr id="18" name="TextBox 17"/>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600" b="0" i="0">
                <a:solidFill>
                  <a:srgbClr val="1B2A41"/>
                </a:solidFill>
                <a:latin typeface="Arial"/>
              </a:rPr>
              <a:t/>
            </a:r>
          </a:p>
        </p:txBody>
      </p:sp>
      <p:cxnSp>
        <p:nvCxnSpPr>
          <p:cNvPr id="19" name="Connector 18"/>
          <p:cNvCxnSpPr/>
          <p:nvPr/>
        </p:nvCxnSpPr>
        <p:spPr>
          <a:xfrm>
            <a:off x="5246370" y="5532120"/>
            <a:ext cx="1696211"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5164074"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34840" y="5669280"/>
            <a:ext cx="1623060" cy="274320"/>
          </a:xfrm>
          <a:prstGeom prst="rect">
            <a:avLst/>
          </a:prstGeom>
          <a:noFill/>
        </p:spPr>
        <p:txBody>
          <a:bodyPr wrap="square" lIns="0" rIns="0" tIns="0" bIns="0" anchor="t">
            <a:spAutoFit/>
          </a:bodyPr>
          <a:lstStyle/>
          <a:p>
            <a:pPr algn="ctr"/>
            <a:r>
              <a:rPr sz="1200" b="1" i="0">
                <a:solidFill>
                  <a:srgbClr val="0F8B8D"/>
                </a:solidFill>
                <a:latin typeface="Arial"/>
              </a:rPr>
              <a:t>thang thường</a:t>
            </a:r>
          </a:p>
        </p:txBody>
      </p:sp>
      <p:sp>
        <p:nvSpPr>
          <p:cNvPr id="22" name="TextBox 21"/>
          <p:cNvSpPr txBox="1"/>
          <p:nvPr/>
        </p:nvSpPr>
        <p:spPr>
          <a:xfrm>
            <a:off x="4434840" y="5943600"/>
            <a:ext cx="1623060" cy="548640"/>
          </a:xfrm>
          <a:prstGeom prst="rect">
            <a:avLst/>
          </a:prstGeom>
          <a:noFill/>
        </p:spPr>
        <p:txBody>
          <a:bodyPr wrap="square" lIns="0" rIns="0" tIns="0" bIns="0" anchor="t">
            <a:spAutoFit/>
          </a:bodyPr>
          <a:lstStyle/>
          <a:p>
            <a:pPr algn="ctr"/>
            <a:r>
              <a:rPr sz="1100" b="0" i="0">
                <a:solidFill>
                  <a:srgbClr val="1B2A41"/>
                </a:solidFill>
                <a:latin typeface="Arial"/>
              </a:rPr>
              <a:t>hỏi tăng bao nhiêu (thêm bao nhiêu xe)</a:t>
            </a:r>
          </a:p>
        </p:txBody>
      </p:sp>
      <p:sp>
        <p:nvSpPr>
          <p:cNvPr id="23" name="Oval 22"/>
          <p:cNvSpPr/>
          <p:nvPr/>
        </p:nvSpPr>
        <p:spPr>
          <a:xfrm>
            <a:off x="6860286"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31051" y="5669280"/>
            <a:ext cx="1623060" cy="274320"/>
          </a:xfrm>
          <a:prstGeom prst="rect">
            <a:avLst/>
          </a:prstGeom>
          <a:noFill/>
        </p:spPr>
        <p:txBody>
          <a:bodyPr wrap="square" lIns="0" rIns="0" tIns="0" bIns="0" anchor="t">
            <a:spAutoFit/>
          </a:bodyPr>
          <a:lstStyle/>
          <a:p>
            <a:pPr algn="ctr"/>
            <a:r>
              <a:rPr sz="1200" b="1" i="0">
                <a:solidFill>
                  <a:srgbClr val="0F8B8D"/>
                </a:solidFill>
                <a:latin typeface="Arial"/>
              </a:rPr>
              <a:t>thang log</a:t>
            </a:r>
          </a:p>
        </p:txBody>
      </p:sp>
      <p:sp>
        <p:nvSpPr>
          <p:cNvPr id="25" name="TextBox 24"/>
          <p:cNvSpPr txBox="1"/>
          <p:nvPr/>
        </p:nvSpPr>
        <p:spPr>
          <a:xfrm>
            <a:off x="6131051" y="5943600"/>
            <a:ext cx="1623060" cy="548640"/>
          </a:xfrm>
          <a:prstGeom prst="rect">
            <a:avLst/>
          </a:prstGeom>
          <a:noFill/>
        </p:spPr>
        <p:txBody>
          <a:bodyPr wrap="square" lIns="0" rIns="0" tIns="0" bIns="0" anchor="t">
            <a:spAutoFit/>
          </a:bodyPr>
          <a:lstStyle/>
          <a:p>
            <a:pPr algn="ctr"/>
            <a:r>
              <a:rPr sz="1100" b="0" i="0">
                <a:solidFill>
                  <a:srgbClr val="1B2A41"/>
                </a:solidFill>
                <a:latin typeface="Arial"/>
              </a:rPr>
              <a:t>hỏi tăng nhanh bao nhiêu phần trăm</a:t>
            </a:r>
          </a:p>
        </p:txBody>
      </p:sp>
      <p:sp>
        <p:nvSpPr>
          <p:cNvPr id="26" name="Rounded Rectangle 25"/>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28" name="TextBox 27"/>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Thuê xe 2011: thang thường cho tháng 4 → 5 tăng nhiều nhất (+40.951 lượt); thang log cho tháng 3 → 4 nhanh nhất (+48,1%).</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Tám biểu đồ, tám câu hỏi</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4</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seasonal plot · subseries plot · lag plot · heatmap · boxplot · ACF</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Không kết luận từ một hình: mỗi hình kiểm một giả thuyết khác nhau.</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0F8B8D"/>
                </a:solidFill>
                <a:latin typeface="Arial"/>
              </a:rPr>
              <a:t>“Mỗi hình trả lời đúng một câu; một hình không đủ để kết luận.”</a:t>
            </a:r>
          </a:p>
        </p:txBody>
      </p:sp>
      <p:pic>
        <p:nvPicPr>
          <p:cNvPr id="8" name="Picture 7" descr="bo-bieu-do.png"/>
          <p:cNvPicPr>
            <a:picLocks noChangeAspect="1"/>
          </p:cNvPicPr>
          <p:nvPr/>
        </p:nvPicPr>
        <p:blipFill>
          <a:blip r:embed="rId2"/>
          <a:stretch>
            <a:fillRect/>
          </a:stretch>
        </p:blipFill>
        <p:spPr>
          <a:xfrm>
            <a:off x="839604" y="2450591"/>
            <a:ext cx="3258550" cy="4087368"/>
          </a:xfrm>
          <a:prstGeom prst="rect">
            <a:avLst/>
          </a:prstGeom>
        </p:spPr>
      </p:pic>
      <p:sp>
        <p:nvSpPr>
          <p:cNvPr id="9" name="Rounded Rectangle 8"/>
          <p:cNvSpPr/>
          <p:nvPr/>
        </p:nvSpPr>
        <p:spPr>
          <a:xfrm>
            <a:off x="4754880" y="2450591"/>
            <a:ext cx="3291840" cy="786384"/>
          </a:xfrm>
          <a:prstGeom prst="roundRect">
            <a:avLst>
              <a:gd name="adj" fmla="val 12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937760" y="2523744"/>
            <a:ext cx="2926080" cy="320040"/>
          </a:xfrm>
          <a:prstGeom prst="rect">
            <a:avLst/>
          </a:prstGeom>
          <a:noFill/>
        </p:spPr>
        <p:txBody>
          <a:bodyPr wrap="square" lIns="0" rIns="0" tIns="0" bIns="0" anchor="t">
            <a:spAutoFit/>
          </a:bodyPr>
          <a:lstStyle/>
          <a:p>
            <a:pPr algn="l"/>
            <a:r>
              <a:rPr sz="1400" b="1" i="0">
                <a:solidFill>
                  <a:srgbClr val="0F8B8D"/>
                </a:solidFill>
                <a:latin typeface="Arial"/>
              </a:rPr>
              <a:t>1  Đường theo ngày</a:t>
            </a:r>
          </a:p>
        </p:txBody>
      </p:sp>
      <p:sp>
        <p:nvSpPr>
          <p:cNvPr id="11" name="TextBox 10"/>
          <p:cNvSpPr txBox="1"/>
          <p:nvPr/>
        </p:nvSpPr>
        <p:spPr>
          <a:xfrm>
            <a:off x="4937760" y="2852927"/>
            <a:ext cx="2926080" cy="365760"/>
          </a:xfrm>
          <a:prstGeom prst="rect">
            <a:avLst/>
          </a:prstGeom>
          <a:noFill/>
        </p:spPr>
        <p:txBody>
          <a:bodyPr wrap="square" lIns="0" rIns="0" tIns="0" bIns="0" anchor="t">
            <a:spAutoFit/>
          </a:bodyPr>
          <a:lstStyle/>
          <a:p>
            <a:pPr algn="l"/>
            <a:r>
              <a:rPr sz="1300" b="0" i="0">
                <a:solidFill>
                  <a:srgbClr val="1B2A41"/>
                </a:solidFill>
                <a:latin typeface="Arial"/>
              </a:rPr>
              <a:t>xu hướng, mùa năm</a:t>
            </a:r>
          </a:p>
        </p:txBody>
      </p:sp>
      <p:sp>
        <p:nvSpPr>
          <p:cNvPr id="12" name="Rounded Rectangle 11"/>
          <p:cNvSpPr/>
          <p:nvPr/>
        </p:nvSpPr>
        <p:spPr>
          <a:xfrm>
            <a:off x="8229600" y="2450591"/>
            <a:ext cx="3291840" cy="786384"/>
          </a:xfrm>
          <a:prstGeom prst="roundRect">
            <a:avLst>
              <a:gd name="adj" fmla="val 12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0" y="2523744"/>
            <a:ext cx="2926080" cy="320040"/>
          </a:xfrm>
          <a:prstGeom prst="rect">
            <a:avLst/>
          </a:prstGeom>
          <a:noFill/>
        </p:spPr>
        <p:txBody>
          <a:bodyPr wrap="square" lIns="0" rIns="0" tIns="0" bIns="0" anchor="t">
            <a:spAutoFit/>
          </a:bodyPr>
          <a:lstStyle/>
          <a:p>
            <a:pPr algn="l"/>
            <a:r>
              <a:rPr sz="1400" b="1" i="0">
                <a:solidFill>
                  <a:srgbClr val="0F8B8D"/>
                </a:solidFill>
                <a:latin typeface="Arial"/>
              </a:rPr>
              <a:t>2  Seasonal plot tuần</a:t>
            </a:r>
          </a:p>
        </p:txBody>
      </p:sp>
      <p:sp>
        <p:nvSpPr>
          <p:cNvPr id="14" name="TextBox 13"/>
          <p:cNvSpPr txBox="1"/>
          <p:nvPr/>
        </p:nvSpPr>
        <p:spPr>
          <a:xfrm>
            <a:off x="8412480" y="2852927"/>
            <a:ext cx="2926080" cy="365760"/>
          </a:xfrm>
          <a:prstGeom prst="rect">
            <a:avLst/>
          </a:prstGeom>
          <a:noFill/>
        </p:spPr>
        <p:txBody>
          <a:bodyPr wrap="square" lIns="0" rIns="0" tIns="0" bIns="0" anchor="t">
            <a:spAutoFit/>
          </a:bodyPr>
          <a:lstStyle/>
          <a:p>
            <a:pPr algn="l"/>
            <a:r>
              <a:rPr sz="1300" b="0" i="0">
                <a:solidFill>
                  <a:srgbClr val="1B2A41"/>
                </a:solidFill>
                <a:latin typeface="Arial"/>
              </a:rPr>
              <a:t>hình dạng một vòng lặp</a:t>
            </a:r>
          </a:p>
        </p:txBody>
      </p:sp>
      <p:sp>
        <p:nvSpPr>
          <p:cNvPr id="15" name="Rounded Rectangle 14"/>
          <p:cNvSpPr/>
          <p:nvPr/>
        </p:nvSpPr>
        <p:spPr>
          <a:xfrm>
            <a:off x="4754880" y="3346703"/>
            <a:ext cx="3291840" cy="786384"/>
          </a:xfrm>
          <a:prstGeom prst="roundRect">
            <a:avLst>
              <a:gd name="adj" fmla="val 12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937760" y="3419856"/>
            <a:ext cx="2926080" cy="320040"/>
          </a:xfrm>
          <a:prstGeom prst="rect">
            <a:avLst/>
          </a:prstGeom>
          <a:noFill/>
        </p:spPr>
        <p:txBody>
          <a:bodyPr wrap="square" lIns="0" rIns="0" tIns="0" bIns="0" anchor="t">
            <a:spAutoFit/>
          </a:bodyPr>
          <a:lstStyle/>
          <a:p>
            <a:pPr algn="l"/>
            <a:r>
              <a:rPr sz="1400" b="1" i="0">
                <a:solidFill>
                  <a:srgbClr val="0F8B8D"/>
                </a:solidFill>
                <a:latin typeface="Arial"/>
              </a:rPr>
              <a:t>3  Subseries theo tháng</a:t>
            </a:r>
          </a:p>
        </p:txBody>
      </p:sp>
      <p:sp>
        <p:nvSpPr>
          <p:cNvPr id="17" name="TextBox 16"/>
          <p:cNvSpPr txBox="1"/>
          <p:nvPr/>
        </p:nvSpPr>
        <p:spPr>
          <a:xfrm>
            <a:off x="4937760" y="3749039"/>
            <a:ext cx="2926080" cy="365760"/>
          </a:xfrm>
          <a:prstGeom prst="rect">
            <a:avLst/>
          </a:prstGeom>
          <a:noFill/>
        </p:spPr>
        <p:txBody>
          <a:bodyPr wrap="square" lIns="0" rIns="0" tIns="0" bIns="0" anchor="t">
            <a:spAutoFit/>
          </a:bodyPr>
          <a:lstStyle/>
          <a:p>
            <a:pPr algn="l"/>
            <a:r>
              <a:rPr sz="1300" b="0" i="0">
                <a:solidFill>
                  <a:srgbClr val="1B2A41"/>
                </a:solidFill>
                <a:latin typeface="Arial"/>
              </a:rPr>
              <a:t>mỗi mùa đổi qua các năm ra sao</a:t>
            </a:r>
          </a:p>
        </p:txBody>
      </p:sp>
      <p:sp>
        <p:nvSpPr>
          <p:cNvPr id="18" name="Rounded Rectangle 17"/>
          <p:cNvSpPr/>
          <p:nvPr/>
        </p:nvSpPr>
        <p:spPr>
          <a:xfrm>
            <a:off x="8229600" y="3346703"/>
            <a:ext cx="3291840" cy="786384"/>
          </a:xfrm>
          <a:prstGeom prst="roundRect">
            <a:avLst>
              <a:gd name="adj" fmla="val 12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0" y="3419856"/>
            <a:ext cx="2926080" cy="320040"/>
          </a:xfrm>
          <a:prstGeom prst="rect">
            <a:avLst/>
          </a:prstGeom>
          <a:noFill/>
        </p:spPr>
        <p:txBody>
          <a:bodyPr wrap="square" lIns="0" rIns="0" tIns="0" bIns="0" anchor="t">
            <a:spAutoFit/>
          </a:bodyPr>
          <a:lstStyle/>
          <a:p>
            <a:pPr algn="l"/>
            <a:r>
              <a:rPr sz="1400" b="1" i="0">
                <a:solidFill>
                  <a:srgbClr val="0F8B8D"/>
                </a:solidFill>
                <a:latin typeface="Arial"/>
              </a:rPr>
              <a:t>4  Lag plot</a:t>
            </a:r>
          </a:p>
        </p:txBody>
      </p:sp>
      <p:sp>
        <p:nvSpPr>
          <p:cNvPr id="20" name="TextBox 19"/>
          <p:cNvSpPr txBox="1"/>
          <p:nvPr/>
        </p:nvSpPr>
        <p:spPr>
          <a:xfrm>
            <a:off x="8412480" y="3749039"/>
            <a:ext cx="2926080" cy="365760"/>
          </a:xfrm>
          <a:prstGeom prst="rect">
            <a:avLst/>
          </a:prstGeom>
          <a:noFill/>
        </p:spPr>
        <p:txBody>
          <a:bodyPr wrap="square" lIns="0" rIns="0" tIns="0" bIns="0" anchor="t">
            <a:spAutoFit/>
          </a:bodyPr>
          <a:lstStyle/>
          <a:p>
            <a:pPr algn="l"/>
            <a:r>
              <a:rPr sz="1300" b="0" i="0">
                <a:solidFill>
                  <a:srgbClr val="1B2A41"/>
                </a:solidFill>
                <a:latin typeface="Arial"/>
              </a:rPr>
              <a:t>giống k bước trước tới đâu</a:t>
            </a:r>
          </a:p>
        </p:txBody>
      </p:sp>
      <p:sp>
        <p:nvSpPr>
          <p:cNvPr id="21" name="Rounded Rectangle 20"/>
          <p:cNvSpPr/>
          <p:nvPr/>
        </p:nvSpPr>
        <p:spPr>
          <a:xfrm>
            <a:off x="4754880" y="4242816"/>
            <a:ext cx="3291840" cy="786384"/>
          </a:xfrm>
          <a:prstGeom prst="roundRect">
            <a:avLst>
              <a:gd name="adj" fmla="val 12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937760" y="4315968"/>
            <a:ext cx="2926080" cy="320040"/>
          </a:xfrm>
          <a:prstGeom prst="rect">
            <a:avLst/>
          </a:prstGeom>
          <a:noFill/>
        </p:spPr>
        <p:txBody>
          <a:bodyPr wrap="square" lIns="0" rIns="0" tIns="0" bIns="0" anchor="t">
            <a:spAutoFit/>
          </a:bodyPr>
          <a:lstStyle/>
          <a:p>
            <a:pPr algn="l"/>
            <a:r>
              <a:rPr sz="1400" b="1" i="0">
                <a:solidFill>
                  <a:srgbClr val="0F8B8D"/>
                </a:solidFill>
                <a:latin typeface="Arial"/>
              </a:rPr>
              <a:t>5  Heatmap giờ × thứ</a:t>
            </a:r>
          </a:p>
        </p:txBody>
      </p:sp>
      <p:sp>
        <p:nvSpPr>
          <p:cNvPr id="23" name="TextBox 22"/>
          <p:cNvSpPr txBox="1"/>
          <p:nvPr/>
        </p:nvSpPr>
        <p:spPr>
          <a:xfrm>
            <a:off x="4937760" y="4645152"/>
            <a:ext cx="2926080" cy="365760"/>
          </a:xfrm>
          <a:prstGeom prst="rect">
            <a:avLst/>
          </a:prstGeom>
          <a:noFill/>
        </p:spPr>
        <p:txBody>
          <a:bodyPr wrap="square" lIns="0" rIns="0" tIns="0" bIns="0" anchor="t">
            <a:spAutoFit/>
          </a:bodyPr>
          <a:lstStyle/>
          <a:p>
            <a:pPr algn="l"/>
            <a:r>
              <a:rPr sz="1300" b="0" i="0">
                <a:solidFill>
                  <a:srgbClr val="1B2A41"/>
                </a:solidFill>
                <a:latin typeface="Arial"/>
              </a:rPr>
              <a:t>mùa vụ kép ngày trong tuần</a:t>
            </a:r>
          </a:p>
        </p:txBody>
      </p:sp>
      <p:sp>
        <p:nvSpPr>
          <p:cNvPr id="24" name="Rounded Rectangle 23"/>
          <p:cNvSpPr/>
          <p:nvPr/>
        </p:nvSpPr>
        <p:spPr>
          <a:xfrm>
            <a:off x="8229600" y="4242816"/>
            <a:ext cx="3291840" cy="786384"/>
          </a:xfrm>
          <a:prstGeom prst="roundRect">
            <a:avLst>
              <a:gd name="adj" fmla="val 12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12480" y="4315968"/>
            <a:ext cx="2926080" cy="320040"/>
          </a:xfrm>
          <a:prstGeom prst="rect">
            <a:avLst/>
          </a:prstGeom>
          <a:noFill/>
        </p:spPr>
        <p:txBody>
          <a:bodyPr wrap="square" lIns="0" rIns="0" tIns="0" bIns="0" anchor="t">
            <a:spAutoFit/>
          </a:bodyPr>
          <a:lstStyle/>
          <a:p>
            <a:pPr algn="l"/>
            <a:r>
              <a:rPr sz="1400" b="1" i="0">
                <a:solidFill>
                  <a:srgbClr val="0F8B8D"/>
                </a:solidFill>
                <a:latin typeface="Arial"/>
              </a:rPr>
              <a:t>6  Boxplot theo giờ</a:t>
            </a:r>
          </a:p>
        </p:txBody>
      </p:sp>
      <p:sp>
        <p:nvSpPr>
          <p:cNvPr id="26" name="TextBox 25"/>
          <p:cNvSpPr txBox="1"/>
          <p:nvPr/>
        </p:nvSpPr>
        <p:spPr>
          <a:xfrm>
            <a:off x="8412480" y="4645152"/>
            <a:ext cx="2926080" cy="365760"/>
          </a:xfrm>
          <a:prstGeom prst="rect">
            <a:avLst/>
          </a:prstGeom>
          <a:noFill/>
        </p:spPr>
        <p:txBody>
          <a:bodyPr wrap="square" lIns="0" rIns="0" tIns="0" bIns="0" anchor="t">
            <a:spAutoFit/>
          </a:bodyPr>
          <a:lstStyle/>
          <a:p>
            <a:pPr algn="l"/>
            <a:r>
              <a:rPr sz="1300" b="0" i="0">
                <a:solidFill>
                  <a:srgbClr val="1B2A41"/>
                </a:solidFill>
                <a:latin typeface="Arial"/>
              </a:rPr>
              <a:t>độ tản: giờ nào khó</a:t>
            </a:r>
          </a:p>
        </p:txBody>
      </p:sp>
      <p:sp>
        <p:nvSpPr>
          <p:cNvPr id="27" name="Rounded Rectangle 26"/>
          <p:cNvSpPr/>
          <p:nvPr/>
        </p:nvSpPr>
        <p:spPr>
          <a:xfrm>
            <a:off x="4754880" y="5138927"/>
            <a:ext cx="3291840" cy="786384"/>
          </a:xfrm>
          <a:prstGeom prst="roundRect">
            <a:avLst>
              <a:gd name="adj" fmla="val 12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937760" y="5212079"/>
            <a:ext cx="2926080" cy="320040"/>
          </a:xfrm>
          <a:prstGeom prst="rect">
            <a:avLst/>
          </a:prstGeom>
          <a:noFill/>
        </p:spPr>
        <p:txBody>
          <a:bodyPr wrap="square" lIns="0" rIns="0" tIns="0" bIns="0" anchor="t">
            <a:spAutoFit/>
          </a:bodyPr>
          <a:lstStyle/>
          <a:p>
            <a:pPr algn="l"/>
            <a:r>
              <a:rPr sz="1400" b="1" i="0">
                <a:solidFill>
                  <a:srgbClr val="0F8B8D"/>
                </a:solidFill>
                <a:latin typeface="Arial"/>
              </a:rPr>
              <a:t>7  Scatter với nhiệt độ</a:t>
            </a:r>
          </a:p>
        </p:txBody>
      </p:sp>
      <p:sp>
        <p:nvSpPr>
          <p:cNvPr id="29" name="TextBox 28"/>
          <p:cNvSpPr txBox="1"/>
          <p:nvPr/>
        </p:nvSpPr>
        <p:spPr>
          <a:xfrm>
            <a:off x="4937760" y="5541264"/>
            <a:ext cx="2926080" cy="365760"/>
          </a:xfrm>
          <a:prstGeom prst="rect">
            <a:avLst/>
          </a:prstGeom>
          <a:noFill/>
        </p:spPr>
        <p:txBody>
          <a:bodyPr wrap="square" lIns="0" rIns="0" tIns="0" bIns="0" anchor="t">
            <a:spAutoFit/>
          </a:bodyPr>
          <a:lstStyle/>
          <a:p>
            <a:pPr algn="l"/>
            <a:r>
              <a:rPr sz="1300" b="0" i="0">
                <a:solidFill>
                  <a:srgbClr val="1B2A41"/>
                </a:solidFill>
                <a:latin typeface="Arial"/>
              </a:rPr>
              <a:t>quan hệ với biến khác, theo năm</a:t>
            </a:r>
          </a:p>
        </p:txBody>
      </p:sp>
      <p:sp>
        <p:nvSpPr>
          <p:cNvPr id="30" name="Rounded Rectangle 29"/>
          <p:cNvSpPr/>
          <p:nvPr/>
        </p:nvSpPr>
        <p:spPr>
          <a:xfrm>
            <a:off x="8229600" y="5138927"/>
            <a:ext cx="3291840" cy="786384"/>
          </a:xfrm>
          <a:prstGeom prst="roundRect">
            <a:avLst>
              <a:gd name="adj" fmla="val 12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12480" y="5212079"/>
            <a:ext cx="2926080" cy="320040"/>
          </a:xfrm>
          <a:prstGeom prst="rect">
            <a:avLst/>
          </a:prstGeom>
          <a:noFill/>
        </p:spPr>
        <p:txBody>
          <a:bodyPr wrap="square" lIns="0" rIns="0" tIns="0" bIns="0" anchor="t">
            <a:spAutoFit/>
          </a:bodyPr>
          <a:lstStyle/>
          <a:p>
            <a:pPr algn="l"/>
            <a:r>
              <a:rPr sz="1400" b="1" i="0">
                <a:solidFill>
                  <a:srgbClr val="0F8B8D"/>
                </a:solidFill>
                <a:latin typeface="Arial"/>
              </a:rPr>
              <a:t>8  ACF</a:t>
            </a:r>
          </a:p>
        </p:txBody>
      </p:sp>
      <p:sp>
        <p:nvSpPr>
          <p:cNvPr id="32" name="TextBox 31"/>
          <p:cNvSpPr txBox="1"/>
          <p:nvPr/>
        </p:nvSpPr>
        <p:spPr>
          <a:xfrm>
            <a:off x="8412480" y="5541264"/>
            <a:ext cx="2926080" cy="365760"/>
          </a:xfrm>
          <a:prstGeom prst="rect">
            <a:avLst/>
          </a:prstGeom>
          <a:noFill/>
        </p:spPr>
        <p:txBody>
          <a:bodyPr wrap="square" lIns="0" rIns="0" tIns="0" bIns="0" anchor="t">
            <a:spAutoFit/>
          </a:bodyPr>
          <a:lstStyle/>
          <a:p>
            <a:pPr algn="l"/>
            <a:r>
              <a:rPr sz="1300" b="0" i="0">
                <a:solidFill>
                  <a:srgbClr val="1B2A41"/>
                </a:solidFill>
                <a:latin typeface="Arial"/>
              </a:rPr>
              <a:t>nhịp lặp, đo bằng số</a:t>
            </a:r>
          </a:p>
        </p:txBody>
      </p:sp>
      <p:sp>
        <p:nvSpPr>
          <p:cNvPr id="33" name="TextBox 32"/>
          <p:cNvSpPr txBox="1"/>
          <p:nvPr/>
        </p:nvSpPr>
        <p:spPr>
          <a:xfrm>
            <a:off x="4754880" y="6089904"/>
            <a:ext cx="6766560" cy="822960"/>
          </a:xfrm>
          <a:prstGeom prst="rect">
            <a:avLst/>
          </a:prstGeom>
          <a:noFill/>
        </p:spPr>
        <p:txBody>
          <a:bodyPr wrap="square" lIns="0" rIns="0" tIns="0" bIns="0" anchor="t">
            <a:spAutoFit/>
          </a:bodyPr>
          <a:lstStyle/>
          <a:p>
            <a:pPr algn="l"/>
            <a:r>
              <a:rPr sz="1300" b="0" i="0">
                <a:solidFill>
                  <a:srgbClr val="5B6778"/>
                </a:solidFill>
                <a:latin typeface="Arial"/>
              </a:rPr>
              <a:t>Thêm hai thói quen: vẽ đường làm trơn đè lên dữ liệu gốc chứ đừng thay nó, để không mất ngày bất thường; trên thang log, cùng độ dốc nghĩa là cùng phần trăm thay đổi.</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Seasonal plot chồng vòng, subseries gom mùa</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4</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seasonal plot · subseries plot · multiple seasonality</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Nhìn đường theo thời gian khó thấy mùa vụ. Xếp lại theo thứ, theo tháng thì thấy gì?</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Thấy hình dạng mùa vụ, và từng mùa đổi ra sao qua thời gian, bằng cách xếp dữ liệu theo lịch.</a:t>
            </a:r>
          </a:p>
        </p:txBody>
      </p:sp>
      <p:pic>
        <p:nvPicPr>
          <p:cNvPr id="8" name="Picture 7" descr="kn-subseries-plot.png"/>
          <p:cNvPicPr>
            <a:picLocks noChangeAspect="1"/>
          </p:cNvPicPr>
          <p:nvPr/>
        </p:nvPicPr>
        <p:blipFill>
          <a:blip r:embed="rId2"/>
          <a:stretch>
            <a:fillRect/>
          </a:stretch>
        </p:blipFill>
        <p:spPr>
          <a:xfrm>
            <a:off x="548640" y="3073336"/>
            <a:ext cx="6309360" cy="2777871"/>
          </a:xfrm>
          <a:prstGeom prst="rect">
            <a:avLst/>
          </a:prstGeom>
        </p:spPr>
      </p:pic>
      <p:sp>
        <p:nvSpPr>
          <p:cNvPr id="9" name="TextBox 8"/>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0" name="TextBox 9"/>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Seasonal plot: mỗi vòng lặp (mỗi tuần) một đường, chồng lên nhau. Subseries plot: mỗi mùa (mỗi thứ, mỗi tháng) một ô, điểm xếp theo thời gian.</a:t>
            </a:r>
          </a:p>
        </p:txBody>
      </p:sp>
      <p:sp>
        <p:nvSpPr>
          <p:cNvPr id="11" name="TextBox 10"/>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0F8B8D"/>
                </a:solidFill>
                <a:latin typeface="Arial"/>
              </a:rPr>
              <a:t>Nhìn vào đâu</a:t>
            </a:r>
          </a:p>
        </p:txBody>
      </p:sp>
      <p:sp>
        <p:nvSpPr>
          <p:cNvPr id="12" name="TextBox 11"/>
          <p:cNvSpPr txBox="1"/>
          <p:nvPr/>
        </p:nvSpPr>
        <p:spPr>
          <a:xfrm>
            <a:off x="7223760" y="4105655"/>
            <a:ext cx="4416552" cy="1005839"/>
          </a:xfrm>
          <a:prstGeom prst="rect">
            <a:avLst/>
          </a:prstGeom>
          <a:noFill/>
        </p:spPr>
        <p:txBody>
          <a:bodyPr wrap="square" lIns="0" rIns="0" tIns="0" bIns="0" anchor="t">
            <a:spAutoFit/>
          </a:bodyPr>
          <a:lstStyle/>
          <a:p>
            <a:pPr algn="l"/>
            <a:r>
              <a:rPr sz="1500" b="0" i="0">
                <a:solidFill>
                  <a:srgbClr val="1B2A41"/>
                </a:solidFill>
                <a:latin typeface="Arial"/>
              </a:rPr>
              <a:t>Seasonal: đường nào lệch khỏi khuôn chung. Subseries: vạch trung bình các ô vẽ ra mùa vụ; trong ô, điểm sau cao hơn là có xu hướng.</a:t>
            </a:r>
          </a:p>
        </p:txBody>
      </p:sp>
      <p:sp>
        <p:nvSpPr>
          <p:cNvPr id="13" name="TextBox 12"/>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14" name="TextBox 13"/>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Lượt thuê theo tuần: T2–T6 hai đỉnh, T7–CN một bướu, tức mùa vụ kép. Mỗi tháng 2012 gấp 1,41 tới 2,57 lần cùng tháng 2011.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Boxplot: hộp càng dài, giờ càng khó dự báo</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4</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boxplot · interquartile range (IQR) · median</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Giờ nào khó đoán nhất: hôm thì đông, hôm thì vắng?</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Thấy độ tản của từng nhóm (giờ, thứ), tức nhóm nào khó dự báo.</a:t>
            </a:r>
          </a:p>
        </p:txBody>
      </p:sp>
      <p:pic>
        <p:nvPicPr>
          <p:cNvPr id="8" name="Picture 7" descr="hop-theo-gio.png"/>
          <p:cNvPicPr>
            <a:picLocks noChangeAspect="1"/>
          </p:cNvPicPr>
          <p:nvPr/>
        </p:nvPicPr>
        <p:blipFill>
          <a:blip r:embed="rId2"/>
          <a:stretch>
            <a:fillRect/>
          </a:stretch>
        </p:blipFill>
        <p:spPr>
          <a:xfrm>
            <a:off x="548640" y="3063777"/>
            <a:ext cx="6309360" cy="2796988"/>
          </a:xfrm>
          <a:prstGeom prst="rect">
            <a:avLst/>
          </a:prstGeom>
        </p:spPr>
      </p:pic>
      <p:sp>
        <p:nvSpPr>
          <p:cNvPr id="9" name="TextBox 8"/>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0" name="TextBox 9"/>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Hộp chứa một nửa số ngày ở giữa, từ quantile 0,25 tới 0,75; độ rộng hộp gọi là IQR. Vạch giữa hộp là trung vị.</a:t>
            </a:r>
          </a:p>
        </p:txBody>
      </p:sp>
      <p:sp>
        <p:nvSpPr>
          <p:cNvPr id="11" name="TextBox 10"/>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0F8B8D"/>
                </a:solidFill>
                <a:latin typeface="Arial"/>
              </a:rPr>
              <a:t>Hộp ngắn hay dài nghĩa là gì</a:t>
            </a:r>
          </a:p>
        </p:txBody>
      </p:sp>
      <p:cxnSp>
        <p:nvCxnSpPr>
          <p:cNvPr id="12" name="Connector 11"/>
          <p:cNvCxnSpPr/>
          <p:nvPr/>
        </p:nvCxnSpPr>
        <p:spPr>
          <a:xfrm>
            <a:off x="8327898" y="4242816"/>
            <a:ext cx="2208276"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245602"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60336" y="4379976"/>
            <a:ext cx="2135124" cy="274320"/>
          </a:xfrm>
          <a:prstGeom prst="rect">
            <a:avLst/>
          </a:prstGeom>
          <a:noFill/>
        </p:spPr>
        <p:txBody>
          <a:bodyPr wrap="square" lIns="0" rIns="0" tIns="0" bIns="0" anchor="t">
            <a:spAutoFit/>
          </a:bodyPr>
          <a:lstStyle/>
          <a:p>
            <a:pPr algn="ctr"/>
            <a:r>
              <a:rPr sz="1400" b="1" i="0">
                <a:solidFill>
                  <a:srgbClr val="0F8B8D"/>
                </a:solidFill>
                <a:latin typeface="Arial"/>
              </a:rPr>
              <a:t>hộp ngắn</a:t>
            </a:r>
          </a:p>
        </p:txBody>
      </p:sp>
      <p:sp>
        <p:nvSpPr>
          <p:cNvPr id="15" name="TextBox 14"/>
          <p:cNvSpPr txBox="1"/>
          <p:nvPr/>
        </p:nvSpPr>
        <p:spPr>
          <a:xfrm>
            <a:off x="7260336" y="4654296"/>
            <a:ext cx="2135124" cy="548640"/>
          </a:xfrm>
          <a:prstGeom prst="rect">
            <a:avLst/>
          </a:prstGeom>
          <a:noFill/>
        </p:spPr>
        <p:txBody>
          <a:bodyPr wrap="square" lIns="0" rIns="0" tIns="0" bIns="0" anchor="t">
            <a:spAutoFit/>
          </a:bodyPr>
          <a:lstStyle/>
          <a:p>
            <a:pPr algn="ctr"/>
            <a:r>
              <a:rPr sz="1100" b="0" i="0">
                <a:solidFill>
                  <a:srgbClr val="1B2A41"/>
                </a:solidFill>
                <a:latin typeface="Arial"/>
              </a:rPr>
              <a:t>ngày nào cũng như ngày nấy, dễ đoán</a:t>
            </a:r>
          </a:p>
        </p:txBody>
      </p:sp>
      <p:sp>
        <p:nvSpPr>
          <p:cNvPr id="16" name="Oval 15"/>
          <p:cNvSpPr/>
          <p:nvPr/>
        </p:nvSpPr>
        <p:spPr>
          <a:xfrm>
            <a:off x="10453878"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68612" y="4379976"/>
            <a:ext cx="2135124" cy="274320"/>
          </a:xfrm>
          <a:prstGeom prst="rect">
            <a:avLst/>
          </a:prstGeom>
          <a:noFill/>
        </p:spPr>
        <p:txBody>
          <a:bodyPr wrap="square" lIns="0" rIns="0" tIns="0" bIns="0" anchor="t">
            <a:spAutoFit/>
          </a:bodyPr>
          <a:lstStyle/>
          <a:p>
            <a:pPr algn="ctr"/>
            <a:r>
              <a:rPr sz="1400" b="1" i="0">
                <a:solidFill>
                  <a:srgbClr val="0F8B8D"/>
                </a:solidFill>
                <a:latin typeface="Arial"/>
              </a:rPr>
              <a:t>hộp dài</a:t>
            </a:r>
          </a:p>
        </p:txBody>
      </p:sp>
      <p:sp>
        <p:nvSpPr>
          <p:cNvPr id="18" name="TextBox 17"/>
          <p:cNvSpPr txBox="1"/>
          <p:nvPr/>
        </p:nvSpPr>
        <p:spPr>
          <a:xfrm>
            <a:off x="9468612" y="4654296"/>
            <a:ext cx="2135124" cy="548640"/>
          </a:xfrm>
          <a:prstGeom prst="rect">
            <a:avLst/>
          </a:prstGeom>
          <a:noFill/>
        </p:spPr>
        <p:txBody>
          <a:bodyPr wrap="square" lIns="0" rIns="0" tIns="0" bIns="0" anchor="t">
            <a:spAutoFit/>
          </a:bodyPr>
          <a:lstStyle/>
          <a:p>
            <a:pPr algn="ctr"/>
            <a:r>
              <a:rPr sz="1100" b="0" i="0">
                <a:solidFill>
                  <a:srgbClr val="1B2A41"/>
                </a:solidFill>
                <a:latin typeface="Arial"/>
              </a:rPr>
              <a:t>hôm đông hôm vắng, khó đoán</a:t>
            </a:r>
          </a:p>
        </p:txBody>
      </p:sp>
      <p:sp>
        <p:nvSpPr>
          <p:cNvPr id="19" name="TextBox 18"/>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20" name="TextBox 19"/>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17h ngày làm việc có hộp 348–704 lượt, rộng nhất. 8h ngày nghỉ chỉ 57–141, nằm hẳn dưới ngày làm việc.</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Lag plot: bám đường chéo là đoán được</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4</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lag plot · autocorrelation at lag k</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Giờ trước, cùng giờ hôm qua hay cùng giờ tuần trước: cái nào giống giờ này nhất?</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Chọn giá trị quá khứ nào (giờ trước, hôm qua, tuần trước) đoán tốt giá trị hiện tại.</a:t>
            </a:r>
          </a:p>
        </p:txBody>
      </p:sp>
      <p:sp>
        <p:nvSpPr>
          <p:cNvPr id="8" name="Rounded Rectangle 7"/>
          <p:cNvSpPr/>
          <p:nvPr/>
        </p:nvSpPr>
        <p:spPr>
          <a:xfrm>
            <a:off x="548640" y="2432303"/>
            <a:ext cx="6309360"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76cb24d5f437.png"/>
          <p:cNvPicPr>
            <a:picLocks noChangeAspect="1"/>
          </p:cNvPicPr>
          <p:nvPr/>
        </p:nvPicPr>
        <p:blipFill>
          <a:blip r:embed="rId2"/>
          <a:stretch>
            <a:fillRect/>
          </a:stretch>
        </p:blipFill>
        <p:spPr>
          <a:xfrm>
            <a:off x="3107436" y="2628899"/>
            <a:ext cx="1191768" cy="265176"/>
          </a:xfrm>
          <a:prstGeom prst="rect">
            <a:avLst/>
          </a:prstGeom>
        </p:spPr>
      </p:pic>
      <p:pic>
        <p:nvPicPr>
          <p:cNvPr id="10" name="Picture 9" descr="kn-lag-plot.png"/>
          <p:cNvPicPr>
            <a:picLocks noChangeAspect="1"/>
          </p:cNvPicPr>
          <p:nvPr/>
        </p:nvPicPr>
        <p:blipFill>
          <a:blip r:embed="rId3"/>
          <a:stretch>
            <a:fillRect/>
          </a:stretch>
        </p:blipFill>
        <p:spPr>
          <a:xfrm>
            <a:off x="1826966" y="3182112"/>
            <a:ext cx="3752707" cy="3310127"/>
          </a:xfrm>
          <a:prstGeom prst="rect">
            <a:avLst/>
          </a:prstGeom>
        </p:spPr>
      </p:pic>
      <p:sp>
        <p:nvSpPr>
          <p:cNvPr id="11" name="TextBox 10"/>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2" name="TextBox 11"/>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Scatter của y_t theo y_(t−k): mỗi chấm ghép một giá trị với giá trị cách nó k bước về trước.</a:t>
            </a:r>
          </a:p>
        </p:txBody>
      </p:sp>
      <p:sp>
        <p:nvSpPr>
          <p:cNvPr id="13" name="TextBox 12"/>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0F8B8D"/>
                </a:solidFill>
                <a:latin typeface="Arial"/>
              </a:rPr>
              <a:t>Hình dạng nói gì</a:t>
            </a:r>
          </a:p>
        </p:txBody>
      </p:sp>
      <p:cxnSp>
        <p:nvCxnSpPr>
          <p:cNvPr id="14" name="Connector 13"/>
          <p:cNvCxnSpPr/>
          <p:nvPr/>
        </p:nvCxnSpPr>
        <p:spPr>
          <a:xfrm>
            <a:off x="7959852" y="4242816"/>
            <a:ext cx="2944368"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7877556"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60336" y="4379976"/>
            <a:ext cx="1399032" cy="274320"/>
          </a:xfrm>
          <a:prstGeom prst="rect">
            <a:avLst/>
          </a:prstGeom>
          <a:noFill/>
        </p:spPr>
        <p:txBody>
          <a:bodyPr wrap="square" lIns="0" rIns="0" tIns="0" bIns="0" anchor="t">
            <a:spAutoFit/>
          </a:bodyPr>
          <a:lstStyle/>
          <a:p>
            <a:pPr algn="ctr"/>
            <a:r>
              <a:rPr sz="1200" b="1" i="0">
                <a:solidFill>
                  <a:srgbClr val="0F8B8D"/>
                </a:solidFill>
                <a:latin typeface="Arial"/>
              </a:rPr>
              <a:t>bám đường chéo</a:t>
            </a:r>
          </a:p>
        </p:txBody>
      </p:sp>
      <p:sp>
        <p:nvSpPr>
          <p:cNvPr id="17" name="TextBox 16"/>
          <p:cNvSpPr txBox="1"/>
          <p:nvPr/>
        </p:nvSpPr>
        <p:spPr>
          <a:xfrm>
            <a:off x="7260336"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cách k bước đoán tốt hiện tại</a:t>
            </a:r>
          </a:p>
        </p:txBody>
      </p:sp>
      <p:sp>
        <p:nvSpPr>
          <p:cNvPr id="18" name="Oval 17"/>
          <p:cNvSpPr/>
          <p:nvPr/>
        </p:nvSpPr>
        <p:spPr>
          <a:xfrm>
            <a:off x="9349740"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32519" y="4379976"/>
            <a:ext cx="1399032" cy="274320"/>
          </a:xfrm>
          <a:prstGeom prst="rect">
            <a:avLst/>
          </a:prstGeom>
          <a:noFill/>
        </p:spPr>
        <p:txBody>
          <a:bodyPr wrap="square" lIns="0" rIns="0" tIns="0" bIns="0" anchor="t">
            <a:spAutoFit/>
          </a:bodyPr>
          <a:lstStyle/>
          <a:p>
            <a:pPr algn="ctr"/>
            <a:r>
              <a:rPr sz="1400" b="1" i="0">
                <a:solidFill>
                  <a:srgbClr val="0F8B8D"/>
                </a:solidFill>
                <a:latin typeface="Arial"/>
              </a:rPr>
              <a:t>đi xuống</a:t>
            </a:r>
          </a:p>
        </p:txBody>
      </p:sp>
      <p:sp>
        <p:nvSpPr>
          <p:cNvPr id="20" name="TextBox 19"/>
          <p:cNvSpPr txBox="1"/>
          <p:nvPr/>
        </p:nvSpPr>
        <p:spPr>
          <a:xfrm>
            <a:off x="8732519"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k bằng nửa vòng: đỉnh ghép với đáy</a:t>
            </a:r>
          </a:p>
        </p:txBody>
      </p:sp>
      <p:sp>
        <p:nvSpPr>
          <p:cNvPr id="21" name="Oval 20"/>
          <p:cNvSpPr/>
          <p:nvPr/>
        </p:nvSpPr>
        <p:spPr>
          <a:xfrm>
            <a:off x="10821924"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04704" y="4379976"/>
            <a:ext cx="1399032" cy="274320"/>
          </a:xfrm>
          <a:prstGeom prst="rect">
            <a:avLst/>
          </a:prstGeom>
          <a:noFill/>
        </p:spPr>
        <p:txBody>
          <a:bodyPr wrap="square" lIns="0" rIns="0" tIns="0" bIns="0" anchor="t">
            <a:spAutoFit/>
          </a:bodyPr>
          <a:lstStyle/>
          <a:p>
            <a:pPr algn="ctr"/>
            <a:r>
              <a:rPr sz="1200" b="1" i="0">
                <a:solidFill>
                  <a:srgbClr val="0F8B8D"/>
                </a:solidFill>
                <a:latin typeface="Arial"/>
              </a:rPr>
              <a:t>hai nhánh</a:t>
            </a:r>
          </a:p>
        </p:txBody>
      </p:sp>
      <p:sp>
        <p:nvSpPr>
          <p:cNvPr id="23" name="TextBox 22"/>
          <p:cNvSpPr txBox="1"/>
          <p:nvPr/>
        </p:nvSpPr>
        <p:spPr>
          <a:xfrm>
            <a:off x="10204704"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r chỉ là trung bình hai nhánh</a:t>
            </a:r>
          </a:p>
        </p:txBody>
      </p:sp>
      <p:sp>
        <p:nvSpPr>
          <p:cNvPr id="24" name="TextBox 23"/>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25" name="TextBox 24"/>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2, 4, 6, 4, 2, 4, 6, 4 ở trễ 2: cặp (2, 6), (6, 2) nằm trên đường đi xuống. Lượt thuê: trễ 168 hẹp nhất, r = 0,88; trễ 12 hai nhánh, r = −0,14.</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ACF: cách k bước có giống bây giờ không?</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4, 7</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autocorrelation function (ACF) · lag</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Dự báo giờ tới nên dựa vào giờ trước, cùng giờ hôm qua, hay cùng giờ tuần trước?</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Biết quá khứ giúp đoán hiện tại tới đâu, và nhịp lặp dài bao nhiêu bước.</a:t>
            </a:r>
          </a:p>
        </p:txBody>
      </p:sp>
      <p:sp>
        <p:nvSpPr>
          <p:cNvPr id="8" name="Rounded Rectangle 7"/>
          <p:cNvSpPr/>
          <p:nvPr/>
        </p:nvSpPr>
        <p:spPr>
          <a:xfrm>
            <a:off x="548640" y="2432303"/>
            <a:ext cx="11091672" cy="93268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432303"/>
            <a:ext cx="1097280" cy="932688"/>
          </a:xfrm>
          <a:prstGeom prst="rect">
            <a:avLst/>
          </a:prstGeom>
          <a:noFill/>
        </p:spPr>
        <p:txBody>
          <a:bodyPr wrap="square" lIns="0" rIns="0" tIns="0" bIns="0" anchor="ctr">
            <a:spAutoFit/>
          </a:bodyPr>
          <a:lstStyle/>
          <a:p>
            <a:pPr algn="l"/>
            <a:r>
              <a:rPr sz="1200" b="1" i="0">
                <a:solidFill>
                  <a:srgbClr val="0F8B8D"/>
                </a:solidFill>
                <a:latin typeface="Arial"/>
              </a:rPr>
              <a:t>Công thức</a:t>
            </a:r>
          </a:p>
        </p:txBody>
      </p:sp>
      <p:pic>
        <p:nvPicPr>
          <p:cNvPr id="10" name="Picture 9" descr="5725b760da80.png"/>
          <p:cNvPicPr>
            <a:picLocks noChangeAspect="1"/>
          </p:cNvPicPr>
          <p:nvPr/>
        </p:nvPicPr>
        <p:blipFill>
          <a:blip r:embed="rId2"/>
          <a:stretch>
            <a:fillRect/>
          </a:stretch>
        </p:blipFill>
        <p:spPr>
          <a:xfrm>
            <a:off x="1783080" y="2487168"/>
            <a:ext cx="2068521" cy="822960"/>
          </a:xfrm>
          <a:prstGeom prst="rect">
            <a:avLst/>
          </a:prstGeom>
        </p:spPr>
      </p:pic>
      <p:sp>
        <p:nvSpPr>
          <p:cNvPr id="11" name="TextBox 10"/>
          <p:cNvSpPr txBox="1"/>
          <p:nvPr/>
        </p:nvSpPr>
        <p:spPr>
          <a:xfrm>
            <a:off x="5602071" y="2432303"/>
            <a:ext cx="5901080" cy="932688"/>
          </a:xfrm>
          <a:prstGeom prst="rect">
            <a:avLst/>
          </a:prstGeom>
          <a:noFill/>
        </p:spPr>
        <p:txBody>
          <a:bodyPr wrap="square" lIns="0" rIns="0" tIns="0" bIns="0" anchor="ctr">
            <a:spAutoFit/>
          </a:bodyPr>
          <a:lstStyle/>
          <a:p>
            <a:pPr algn="l"/>
            <a:r>
              <a:rPr sz="1150" b="0" i="0">
                <a:solidFill>
                  <a:srgbClr val="1B2A41"/>
                </a:solidFill>
                <a:latin typeface="Arial"/>
              </a:rPr>
              <a:t>Tử: độ lệch của các cặp cách nhau k bước nhân với nhau; mẫu: tổng bình phương độ lệch cả chuỗi.</a:t>
            </a:r>
          </a:p>
        </p:txBody>
      </p:sp>
      <p:pic>
        <p:nvPicPr>
          <p:cNvPr id="12" name="Picture 11" descr="acf.png"/>
          <p:cNvPicPr>
            <a:picLocks noChangeAspect="1"/>
          </p:cNvPicPr>
          <p:nvPr/>
        </p:nvPicPr>
        <p:blipFill>
          <a:blip r:embed="rId3"/>
          <a:stretch>
            <a:fillRect/>
          </a:stretch>
        </p:blipFill>
        <p:spPr>
          <a:xfrm>
            <a:off x="4333539" y="3456432"/>
            <a:ext cx="3521872" cy="1481328"/>
          </a:xfrm>
          <a:prstGeom prst="rect">
            <a:avLst/>
          </a:prstGeom>
        </p:spPr>
      </p:pic>
      <p:sp>
        <p:nvSpPr>
          <p:cNvPr id="13" name="Rounded Rectangle 12"/>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5" name="TextBox 14"/>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Mức giống nhau giữa giá trị bây giờ và giá trị cách đó k bước (gọi là trễ k).</a:t>
            </a:r>
          </a:p>
        </p:txBody>
      </p:sp>
      <p:sp>
        <p:nvSpPr>
          <p:cNvPr id="16" name="Rounded Rectangle 15"/>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Cao hay thấp nghĩa là gì</a:t>
            </a:r>
          </a:p>
        </p:txBody>
      </p:sp>
      <p:sp>
        <p:nvSpPr>
          <p:cNvPr id="18" name="TextBox 17"/>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600" b="0" i="0">
                <a:solidFill>
                  <a:srgbClr val="1B2A41"/>
                </a:solidFill>
                <a:latin typeface="Arial"/>
              </a:rPr>
              <a:t/>
            </a:r>
          </a:p>
        </p:txBody>
      </p:sp>
      <p:cxnSp>
        <p:nvCxnSpPr>
          <p:cNvPr id="19" name="Connector 18"/>
          <p:cNvCxnSpPr/>
          <p:nvPr/>
        </p:nvCxnSpPr>
        <p:spPr>
          <a:xfrm>
            <a:off x="4963667" y="5532120"/>
            <a:ext cx="2261617"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4881372"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34840" y="5669280"/>
            <a:ext cx="1057655" cy="274320"/>
          </a:xfrm>
          <a:prstGeom prst="rect">
            <a:avLst/>
          </a:prstGeom>
          <a:noFill/>
        </p:spPr>
        <p:txBody>
          <a:bodyPr wrap="square" lIns="0" rIns="0" tIns="0" bIns="0" anchor="t">
            <a:spAutoFit/>
          </a:bodyPr>
          <a:lstStyle/>
          <a:p>
            <a:pPr algn="ctr"/>
            <a:r>
              <a:rPr sz="1400" b="1" i="0">
                <a:solidFill>
                  <a:srgbClr val="0F8B8D"/>
                </a:solidFill>
                <a:latin typeface="Arial"/>
              </a:rPr>
              <a:t>−1</a:t>
            </a:r>
          </a:p>
        </p:txBody>
      </p:sp>
      <p:sp>
        <p:nvSpPr>
          <p:cNvPr id="22" name="TextBox 21"/>
          <p:cNvSpPr txBox="1"/>
          <p:nvPr/>
        </p:nvSpPr>
        <p:spPr>
          <a:xfrm>
            <a:off x="4434840"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trước cao thì nay thấp</a:t>
            </a:r>
          </a:p>
        </p:txBody>
      </p:sp>
      <p:sp>
        <p:nvSpPr>
          <p:cNvPr id="23" name="Oval 22"/>
          <p:cNvSpPr/>
          <p:nvPr/>
        </p:nvSpPr>
        <p:spPr>
          <a:xfrm>
            <a:off x="6012179"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565647" y="5669280"/>
            <a:ext cx="1057655" cy="274320"/>
          </a:xfrm>
          <a:prstGeom prst="rect">
            <a:avLst/>
          </a:prstGeom>
          <a:noFill/>
        </p:spPr>
        <p:txBody>
          <a:bodyPr wrap="square" lIns="0" rIns="0" tIns="0" bIns="0" anchor="t">
            <a:spAutoFit/>
          </a:bodyPr>
          <a:lstStyle/>
          <a:p>
            <a:pPr algn="ctr"/>
            <a:r>
              <a:rPr sz="1400" b="1" i="0">
                <a:solidFill>
                  <a:srgbClr val="0F8B8D"/>
                </a:solidFill>
                <a:latin typeface="Arial"/>
              </a:rPr>
              <a:t>0</a:t>
            </a:r>
          </a:p>
        </p:txBody>
      </p:sp>
      <p:sp>
        <p:nvSpPr>
          <p:cNvPr id="25" name="TextBox 24"/>
          <p:cNvSpPr txBox="1"/>
          <p:nvPr/>
        </p:nvSpPr>
        <p:spPr>
          <a:xfrm>
            <a:off x="5565647"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quá khứ không giúp gì</a:t>
            </a:r>
          </a:p>
        </p:txBody>
      </p:sp>
      <p:sp>
        <p:nvSpPr>
          <p:cNvPr id="26" name="Oval 25"/>
          <p:cNvSpPr/>
          <p:nvPr/>
        </p:nvSpPr>
        <p:spPr>
          <a:xfrm>
            <a:off x="7142987"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96456" y="5669280"/>
            <a:ext cx="1057655" cy="274320"/>
          </a:xfrm>
          <a:prstGeom prst="rect">
            <a:avLst/>
          </a:prstGeom>
          <a:noFill/>
        </p:spPr>
        <p:txBody>
          <a:bodyPr wrap="square" lIns="0" rIns="0" tIns="0" bIns="0" anchor="t">
            <a:spAutoFit/>
          </a:bodyPr>
          <a:lstStyle/>
          <a:p>
            <a:pPr algn="ctr"/>
            <a:r>
              <a:rPr sz="1400" b="1" i="0">
                <a:solidFill>
                  <a:srgbClr val="0F8B8D"/>
                </a:solidFill>
                <a:latin typeface="Arial"/>
              </a:rPr>
              <a:t>+1</a:t>
            </a:r>
          </a:p>
        </p:txBody>
      </p:sp>
      <p:sp>
        <p:nvSpPr>
          <p:cNvPr id="28" name="TextBox 27"/>
          <p:cNvSpPr txBox="1"/>
          <p:nvPr/>
        </p:nvSpPr>
        <p:spPr>
          <a:xfrm>
            <a:off x="6696456"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trước cao thì nay cũng cao</a:t>
            </a:r>
          </a:p>
        </p:txBody>
      </p:sp>
      <p:sp>
        <p:nvSpPr>
          <p:cNvPr id="29" name="Rounded Rectangle 28"/>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31" name="TextBox 30"/>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Lượt thuê xe có đỉnh ở trễ 24, 168 và 336: nhịp ngày lồng trong nhịp tuần.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Trục y cắt, trục kép: thang do người vẽ chọn</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4</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truncated y-axis · dual axis · index to 100</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Doanh thu chỉ tăng 4,1% mà cột sau trông cao gấp ba. Vì sao?</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Đọc thang trước khi đọc đường, để không thấy chênh lớn hay quan hệ chặt chỉ do cách vẽ.</a:t>
            </a:r>
          </a:p>
        </p:txBody>
      </p:sp>
      <p:sp>
        <p:nvSpPr>
          <p:cNvPr id="8" name="Rounded Rectangle 7"/>
          <p:cNvSpPr/>
          <p:nvPr/>
        </p:nvSpPr>
        <p:spPr>
          <a:xfrm>
            <a:off x="548640" y="2432303"/>
            <a:ext cx="6309360"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385dcb1f9841.png"/>
          <p:cNvPicPr>
            <a:picLocks noChangeAspect="1"/>
          </p:cNvPicPr>
          <p:nvPr/>
        </p:nvPicPr>
        <p:blipFill>
          <a:blip r:embed="rId2"/>
          <a:stretch>
            <a:fillRect/>
          </a:stretch>
        </p:blipFill>
        <p:spPr>
          <a:xfrm>
            <a:off x="2225040" y="2552700"/>
            <a:ext cx="2956560" cy="417576"/>
          </a:xfrm>
          <a:prstGeom prst="rect">
            <a:avLst/>
          </a:prstGeom>
        </p:spPr>
      </p:pic>
      <p:pic>
        <p:nvPicPr>
          <p:cNvPr id="10" name="Picture 9" descr="kn-truc-y-cat.png"/>
          <p:cNvPicPr>
            <a:picLocks noChangeAspect="1"/>
          </p:cNvPicPr>
          <p:nvPr/>
        </p:nvPicPr>
        <p:blipFill>
          <a:blip r:embed="rId3"/>
          <a:stretch>
            <a:fillRect/>
          </a:stretch>
        </p:blipFill>
        <p:spPr>
          <a:xfrm>
            <a:off x="548640" y="3420243"/>
            <a:ext cx="6309360" cy="2833865"/>
          </a:xfrm>
          <a:prstGeom prst="rect">
            <a:avLst/>
          </a:prstGeom>
        </p:spPr>
      </p:pic>
      <p:sp>
        <p:nvSpPr>
          <p:cNvPr id="11" name="TextBox 10"/>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2" name="TextBox 11"/>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Trục y cắt: trục dọc không bắt đầu từ 0. Trục kép: hai trục dọc với hai thang trên một hình. Người vẽ chọn thang, nên chọn được độ cao.</a:t>
            </a:r>
          </a:p>
        </p:txBody>
      </p:sp>
      <p:sp>
        <p:nvSpPr>
          <p:cNvPr id="13" name="TextBox 12"/>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0F8B8D"/>
                </a:solidFill>
                <a:latin typeface="Arial"/>
              </a:rPr>
              <a:t>Quy ước khi vẽ</a:t>
            </a:r>
          </a:p>
        </p:txBody>
      </p:sp>
      <p:sp>
        <p:nvSpPr>
          <p:cNvPr id="14" name="TextBox 13"/>
          <p:cNvSpPr txBox="1"/>
          <p:nvPr/>
        </p:nvSpPr>
        <p:spPr>
          <a:xfrm>
            <a:off x="7223760" y="4105655"/>
            <a:ext cx="4416552" cy="1005839"/>
          </a:xfrm>
          <a:prstGeom prst="rect">
            <a:avLst/>
          </a:prstGeom>
          <a:noFill/>
        </p:spPr>
        <p:txBody>
          <a:bodyPr wrap="square" lIns="0" rIns="0" tIns="0" bIns="0" anchor="t">
            <a:spAutoFit/>
          </a:bodyPr>
          <a:lstStyle/>
          <a:p>
            <a:pPr algn="l"/>
            <a:r>
              <a:rPr sz="1500" b="0" i="0">
                <a:solidFill>
                  <a:srgbClr val="1B2A41"/>
                </a:solidFill>
                <a:latin typeface="Arial"/>
              </a:rPr>
              <a:t>Số đếm và tổng vẽ trục từ 0. Hai chuỗi khác đơn vị thì tách hình, hoặc đánh chỉ số: chia cho tháng đầu rồi nhân 100.</a:t>
            </a:r>
          </a:p>
        </p:txBody>
      </p:sp>
      <p:sp>
        <p:nvSpPr>
          <p:cNvPr id="15" name="TextBox 14"/>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16" name="TextBox 15"/>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490 → 510 triệu là +4,1%. Trục từ 480 tới 520: tháng đầu cao 25%, tháng sau cao 75% chiều cao hình, mắt thấy gấp ba.</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Trộn nhiều năm vào một scatter làm r yếu đi</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4</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pooling years · level shift · colour by time</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Mỗi năm r trên 0,7, gộp hai năm lại chỉ còn 0,627. Quan hệ yếu đi thật sao?</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Đo đúng quan hệ giữa hai đại lượng khi mức chung đổi theo năm.</a:t>
            </a:r>
          </a:p>
        </p:txBody>
      </p:sp>
      <p:pic>
        <p:nvPicPr>
          <p:cNvPr id="8" name="Picture 7" descr="phan-tan-nhiet-do.png"/>
          <p:cNvPicPr>
            <a:picLocks noChangeAspect="1"/>
          </p:cNvPicPr>
          <p:nvPr/>
        </p:nvPicPr>
        <p:blipFill>
          <a:blip r:embed="rId2"/>
          <a:stretch>
            <a:fillRect/>
          </a:stretch>
        </p:blipFill>
        <p:spPr>
          <a:xfrm>
            <a:off x="548640" y="2636584"/>
            <a:ext cx="6309360" cy="3651374"/>
          </a:xfrm>
          <a:prstGeom prst="rect">
            <a:avLst/>
          </a:prstGeom>
        </p:spPr>
      </p:pic>
      <p:sp>
        <p:nvSpPr>
          <p:cNvPr id="9" name="TextBox 8"/>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0" name="TextBox 9"/>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Mức chung dời lên theo năm thì gộp các năm làm đám điểm dày ra theo chiều dọc, nên r gộp nhỏ hơn r của từng năm.</a:t>
            </a:r>
          </a:p>
        </p:txBody>
      </p:sp>
      <p:sp>
        <p:nvSpPr>
          <p:cNvPr id="11" name="TextBox 10"/>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0F8B8D"/>
                </a:solidFill>
                <a:latin typeface="Arial"/>
              </a:rPr>
              <a:t>Nhận ra thế nào</a:t>
            </a:r>
          </a:p>
        </p:txBody>
      </p:sp>
      <p:sp>
        <p:nvSpPr>
          <p:cNvPr id="12" name="TextBox 11"/>
          <p:cNvSpPr txBox="1"/>
          <p:nvPr/>
        </p:nvSpPr>
        <p:spPr>
          <a:xfrm>
            <a:off x="7223760" y="4105655"/>
            <a:ext cx="4416552" cy="1005839"/>
          </a:xfrm>
          <a:prstGeom prst="rect">
            <a:avLst/>
          </a:prstGeom>
          <a:noFill/>
        </p:spPr>
        <p:txBody>
          <a:bodyPr wrap="square" lIns="0" rIns="0" tIns="0" bIns="0" anchor="t">
            <a:spAutoFit/>
          </a:bodyPr>
          <a:lstStyle/>
          <a:p>
            <a:pPr algn="l"/>
            <a:r>
              <a:rPr sz="1500" b="0" i="0">
                <a:solidFill>
                  <a:srgbClr val="1B2A41"/>
                </a:solidFill>
                <a:latin typeface="Arial"/>
              </a:rPr>
              <a:t>Tô màu scatter theo năm. Thấy hai đám mây song song, cùng nhiệt độ mà năm sau cao hơn, thì tính r riêng từng năm.</a:t>
            </a:r>
          </a:p>
        </p:txBody>
      </p:sp>
      <p:sp>
        <p:nvSpPr>
          <p:cNvPr id="13" name="TextBox 12"/>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14" name="TextBox 13"/>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Nhiệt độ × lượt thuê mỗi ngày: 2011 r = 0,771, 2012 r = 0,714, gộp hai năm chỉ còn 0,627, thấp hơn cả hai năm.</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Điều chỉnh lịch, lạm phát, dân số</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5</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calendar adjustment · CPI deflation (real value) · per capita</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Doanh số tháng 3 cao hơn tháng 2: vì người ta mua nhiều hơn, hay chỉ vì tháng 3 dài hơn 3 ngày?</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Biết doanh số tăng thật, hay chỉ vì tháng dài hơn, giá cao hơn, người đông hơn.</a:t>
            </a:r>
          </a:p>
        </p:txBody>
      </p:sp>
      <p:sp>
        <p:nvSpPr>
          <p:cNvPr id="8" name="Rounded Rectangle 7"/>
          <p:cNvSpPr/>
          <p:nvPr/>
        </p:nvSpPr>
        <p:spPr>
          <a:xfrm>
            <a:off x="548640" y="2432303"/>
            <a:ext cx="11091672"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432303"/>
            <a:ext cx="1097280" cy="658368"/>
          </a:xfrm>
          <a:prstGeom prst="rect">
            <a:avLst/>
          </a:prstGeom>
          <a:noFill/>
        </p:spPr>
        <p:txBody>
          <a:bodyPr wrap="square" lIns="0" rIns="0" tIns="0" bIns="0" anchor="ctr">
            <a:spAutoFit/>
          </a:bodyPr>
          <a:lstStyle/>
          <a:p>
            <a:pPr algn="l"/>
            <a:r>
              <a:rPr sz="1200" b="1" i="0">
                <a:solidFill>
                  <a:srgbClr val="0F8B8D"/>
                </a:solidFill>
                <a:latin typeface="Arial"/>
              </a:rPr>
              <a:t>Công thức</a:t>
            </a:r>
          </a:p>
        </p:txBody>
      </p:sp>
      <p:pic>
        <p:nvPicPr>
          <p:cNvPr id="10" name="Picture 9" descr="0667cd6fb6ad.png"/>
          <p:cNvPicPr>
            <a:picLocks noChangeAspect="1"/>
          </p:cNvPicPr>
          <p:nvPr/>
        </p:nvPicPr>
        <p:blipFill>
          <a:blip r:embed="rId2"/>
          <a:stretch>
            <a:fillRect/>
          </a:stretch>
        </p:blipFill>
        <p:spPr>
          <a:xfrm>
            <a:off x="1783080" y="2540507"/>
            <a:ext cx="4861560" cy="441960"/>
          </a:xfrm>
          <a:prstGeom prst="rect">
            <a:avLst/>
          </a:prstGeom>
        </p:spPr>
      </p:pic>
      <p:sp>
        <p:nvSpPr>
          <p:cNvPr id="11" name="TextBox 10"/>
          <p:cNvSpPr txBox="1"/>
          <p:nvPr/>
        </p:nvSpPr>
        <p:spPr>
          <a:xfrm>
            <a:off x="6827520" y="2432303"/>
            <a:ext cx="4675632" cy="658368"/>
          </a:xfrm>
          <a:prstGeom prst="rect">
            <a:avLst/>
          </a:prstGeom>
          <a:noFill/>
        </p:spPr>
        <p:txBody>
          <a:bodyPr wrap="square" lIns="0" rIns="0" tIns="0" bIns="0" anchor="ctr">
            <a:spAutoFit/>
          </a:bodyPr>
          <a:lstStyle/>
          <a:p>
            <a:pPr algn="l"/>
            <a:r>
              <a:rPr sz="1150" b="0" i="0">
                <a:solidFill>
                  <a:srgbClr val="1B2A41"/>
                </a:solidFill>
                <a:latin typeface="Arial"/>
              </a:rPr>
              <a:t>z là CPI: 150 / 125 × 100 = 120 tỷ theo giá năm gốc.</a:t>
            </a:r>
          </a:p>
        </p:txBody>
      </p:sp>
      <p:pic>
        <p:nvPicPr>
          <p:cNvPr id="12" name="Picture 11" descr="dieu-chinh-lich.png"/>
          <p:cNvPicPr>
            <a:picLocks noChangeAspect="1"/>
          </p:cNvPicPr>
          <p:nvPr/>
        </p:nvPicPr>
        <p:blipFill>
          <a:blip r:embed="rId3"/>
          <a:stretch>
            <a:fillRect/>
          </a:stretch>
        </p:blipFill>
        <p:spPr>
          <a:xfrm>
            <a:off x="3526538" y="3182112"/>
            <a:ext cx="5135874" cy="1755648"/>
          </a:xfrm>
          <a:prstGeom prst="rect">
            <a:avLst/>
          </a:prstGeom>
        </p:spPr>
      </p:pic>
      <p:sp>
        <p:nvSpPr>
          <p:cNvPr id="13" name="Rounded Rectangle 12"/>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5" name="TextBox 14"/>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Điều chỉnh lịch: chia tổng tháng cho số ngày. Giá thực: chia CPI rồi nhân CPI năm gốc. Trên đầu người: chia thêm dân số.</a:t>
            </a:r>
          </a:p>
        </p:txBody>
      </p:sp>
      <p:sp>
        <p:nvSpPr>
          <p:cNvPr id="16" name="Rounded Rectangle 15"/>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Mỗi bước bỏ một nguyên nhân</a:t>
            </a:r>
          </a:p>
        </p:txBody>
      </p:sp>
      <p:sp>
        <p:nvSpPr>
          <p:cNvPr id="18" name="TextBox 17"/>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Tháng 3 so với tháng 2/2023: so thẳng +14,15%; chia ngày lịch +3,11%; chuỗi đã điều chỉnh của Census −1,05%.</a:t>
            </a:r>
          </a:p>
        </p:txBody>
      </p:sp>
      <p:sp>
        <p:nvSpPr>
          <p:cNvPr id="19" name="Rounded Rectangle 18"/>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21" name="TextBox 20"/>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Doanh thu 100 → 150, CPI 100 → 125, dân số 10 → 12: giá thực 120 (+20%); mỗi người 10 → 10, không đổi.</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Log: cùng % thành cùng khoảng cách</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5</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log transformation · multiplicative → additive</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Năm bán càng nhiều, tháng đông với tháng vắng càng chênh xa. Mà mô hình lại muốn dao động đều.</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Làm dao động đều lại khi nó lớn dần theo mức, cho mô hình dễ học.</a:t>
            </a:r>
          </a:p>
        </p:txBody>
      </p:sp>
      <p:sp>
        <p:nvSpPr>
          <p:cNvPr id="8" name="Rounded Rectangle 7"/>
          <p:cNvSpPr/>
          <p:nvPr/>
        </p:nvSpPr>
        <p:spPr>
          <a:xfrm>
            <a:off x="548640" y="2432303"/>
            <a:ext cx="11091672"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432303"/>
            <a:ext cx="1097280" cy="658368"/>
          </a:xfrm>
          <a:prstGeom prst="rect">
            <a:avLst/>
          </a:prstGeom>
          <a:noFill/>
        </p:spPr>
        <p:txBody>
          <a:bodyPr wrap="square" lIns="0" rIns="0" tIns="0" bIns="0" anchor="ctr">
            <a:spAutoFit/>
          </a:bodyPr>
          <a:lstStyle/>
          <a:p>
            <a:pPr algn="l"/>
            <a:r>
              <a:rPr sz="1200" b="1" i="0">
                <a:solidFill>
                  <a:srgbClr val="0F8B8D"/>
                </a:solidFill>
                <a:latin typeface="Arial"/>
              </a:rPr>
              <a:t>Công thức</a:t>
            </a:r>
          </a:p>
        </p:txBody>
      </p:sp>
      <p:pic>
        <p:nvPicPr>
          <p:cNvPr id="10" name="Picture 9" descr="fec05769aa88.png"/>
          <p:cNvPicPr>
            <a:picLocks noChangeAspect="1"/>
          </p:cNvPicPr>
          <p:nvPr/>
        </p:nvPicPr>
        <p:blipFill>
          <a:blip r:embed="rId2"/>
          <a:stretch>
            <a:fillRect/>
          </a:stretch>
        </p:blipFill>
        <p:spPr>
          <a:xfrm>
            <a:off x="1783080" y="2652965"/>
            <a:ext cx="6611112" cy="217044"/>
          </a:xfrm>
          <a:prstGeom prst="rect">
            <a:avLst/>
          </a:prstGeom>
        </p:spPr>
      </p:pic>
      <p:sp>
        <p:nvSpPr>
          <p:cNvPr id="11" name="TextBox 10"/>
          <p:cNvSpPr txBox="1"/>
          <p:nvPr/>
        </p:nvSpPr>
        <p:spPr>
          <a:xfrm>
            <a:off x="8577072" y="2432303"/>
            <a:ext cx="2926080" cy="658368"/>
          </a:xfrm>
          <a:prstGeom prst="rect">
            <a:avLst/>
          </a:prstGeom>
          <a:noFill/>
        </p:spPr>
        <p:txBody>
          <a:bodyPr wrap="square" lIns="0" rIns="0" tIns="0" bIns="0" anchor="ctr">
            <a:spAutoFit/>
          </a:bodyPr>
          <a:lstStyle/>
          <a:p>
            <a:pPr algn="l"/>
            <a:r>
              <a:rPr sz="1150" b="0" i="0">
                <a:solidFill>
                  <a:srgbClr val="1B2A41"/>
                </a:solidFill>
                <a:latin typeface="Arial"/>
              </a:rPr>
              <a:t>Mọi cú tăng 20% đều cao thêm 0,182, dù từ 100 hay từ 1.000.</a:t>
            </a:r>
          </a:p>
        </p:txBody>
      </p:sp>
      <p:pic>
        <p:nvPicPr>
          <p:cNvPr id="12" name="Picture 11" descr="kn-log-exp.png"/>
          <p:cNvPicPr>
            <a:picLocks noChangeAspect="1"/>
          </p:cNvPicPr>
          <p:nvPr/>
        </p:nvPicPr>
        <p:blipFill>
          <a:blip r:embed="rId3"/>
          <a:stretch>
            <a:fillRect/>
          </a:stretch>
        </p:blipFill>
        <p:spPr>
          <a:xfrm>
            <a:off x="4066653" y="3182112"/>
            <a:ext cx="4055644" cy="1755648"/>
          </a:xfrm>
          <a:prstGeom prst="rect">
            <a:avLst/>
          </a:prstGeom>
        </p:spPr>
      </p:pic>
      <p:sp>
        <p:nvSpPr>
          <p:cNvPr id="13" name="Rounded Rectangle 12"/>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5" name="TextBox 14"/>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Log biến nhân thành cộng, nên tăng cùng một phần trăm thì cách nhau cùng một khoảng, bất kể mức. Chỉ dùng cho số dương.</a:t>
            </a:r>
          </a:p>
        </p:txBody>
      </p:sp>
      <p:sp>
        <p:nvSpPr>
          <p:cNvPr id="16" name="Rounded Rectangle 15"/>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Khi nào hợp</a:t>
            </a:r>
          </a:p>
        </p:txBody>
      </p:sp>
      <p:sp>
        <p:nvSpPr>
          <p:cNvPr id="18" name="TextBox 17"/>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Dao động tỷ lệ đúng với mức thì log hợp. Dao động tăng chậm hơn mức thì log ép quá tay: dùng Box-Cox (slide sau).</a:t>
            </a:r>
          </a:p>
        </p:txBody>
      </p:sp>
      <p:sp>
        <p:nvSpPr>
          <p:cNvPr id="19" name="Rounded Rectangle 18"/>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21" name="TextBox 20"/>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100 → 120 và 1.000 → 1.200 đều cao thêm 0,182 trên thang log. Bán lẻ Mỹ: mức gấp 3,1 lần mà dao động chỉ gấp 2,4.</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Box-Cox: núm vặn giữa giữ nguyên và log</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5</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Box-Cox transformation · λ (lambda) · Guerrero method · Yeo-Johnson</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Để nguyên thì dao động phình theo mức; lấy log thì ép quá tay. Chọn nấc ở giữa bằng số thế nào?</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Làm dao động đều lại khi dao động cứ lớn dần theo mức, để mô hình dễ học.</a:t>
            </a:r>
          </a:p>
        </p:txBody>
      </p:sp>
      <p:sp>
        <p:nvSpPr>
          <p:cNvPr id="8" name="Rounded Rectangle 7"/>
          <p:cNvSpPr/>
          <p:nvPr/>
        </p:nvSpPr>
        <p:spPr>
          <a:xfrm>
            <a:off x="548640" y="2432303"/>
            <a:ext cx="6309360"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751e26247334.png"/>
          <p:cNvPicPr>
            <a:picLocks noChangeAspect="1"/>
          </p:cNvPicPr>
          <p:nvPr/>
        </p:nvPicPr>
        <p:blipFill>
          <a:blip r:embed="rId2"/>
          <a:stretch>
            <a:fillRect/>
          </a:stretch>
        </p:blipFill>
        <p:spPr>
          <a:xfrm>
            <a:off x="1202436" y="2552700"/>
            <a:ext cx="5001768" cy="417576"/>
          </a:xfrm>
          <a:prstGeom prst="rect">
            <a:avLst/>
          </a:prstGeom>
        </p:spPr>
      </p:pic>
      <p:pic>
        <p:nvPicPr>
          <p:cNvPr id="10" name="Picture 9" descr="kn-bien-doi-box-cox.png"/>
          <p:cNvPicPr>
            <a:picLocks noChangeAspect="1"/>
          </p:cNvPicPr>
          <p:nvPr/>
        </p:nvPicPr>
        <p:blipFill>
          <a:blip r:embed="rId3"/>
          <a:stretch>
            <a:fillRect/>
          </a:stretch>
        </p:blipFill>
        <p:spPr>
          <a:xfrm>
            <a:off x="548640" y="3230667"/>
            <a:ext cx="6309360" cy="3213016"/>
          </a:xfrm>
          <a:prstGeom prst="rect">
            <a:avLst/>
          </a:prstGeom>
        </p:spPr>
      </p:pic>
      <p:sp>
        <p:nvSpPr>
          <p:cNvPr id="11" name="TextBox 10"/>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2" name="TextBox 11"/>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Box-Cox là phép biến đổi có một núm vặn λ. Cách Guerrero chọn λ sao cho dao động các năm đều nhau nhất.</a:t>
            </a:r>
          </a:p>
        </p:txBody>
      </p:sp>
      <p:sp>
        <p:nvSpPr>
          <p:cNvPr id="13" name="TextBox 12"/>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0F8B8D"/>
                </a:solidFill>
                <a:latin typeface="Arial"/>
              </a:rPr>
              <a:t>λ lớn hay nhỏ nghĩa là gì</a:t>
            </a:r>
          </a:p>
        </p:txBody>
      </p:sp>
      <p:cxnSp>
        <p:nvCxnSpPr>
          <p:cNvPr id="14" name="Connector 13"/>
          <p:cNvCxnSpPr/>
          <p:nvPr/>
        </p:nvCxnSpPr>
        <p:spPr>
          <a:xfrm>
            <a:off x="7959852" y="4242816"/>
            <a:ext cx="2944368"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7877556"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60336" y="4379976"/>
            <a:ext cx="1399032" cy="274320"/>
          </a:xfrm>
          <a:prstGeom prst="rect">
            <a:avLst/>
          </a:prstGeom>
          <a:noFill/>
        </p:spPr>
        <p:txBody>
          <a:bodyPr wrap="square" lIns="0" rIns="0" tIns="0" bIns="0" anchor="t">
            <a:spAutoFit/>
          </a:bodyPr>
          <a:lstStyle/>
          <a:p>
            <a:pPr algn="ctr"/>
            <a:r>
              <a:rPr sz="1400" b="1" i="0">
                <a:solidFill>
                  <a:srgbClr val="0F8B8D"/>
                </a:solidFill>
                <a:latin typeface="Arial"/>
              </a:rPr>
              <a:t>λ = 0</a:t>
            </a:r>
          </a:p>
        </p:txBody>
      </p:sp>
      <p:sp>
        <p:nvSpPr>
          <p:cNvPr id="17" name="TextBox 16"/>
          <p:cNvSpPr txBox="1"/>
          <p:nvPr/>
        </p:nvSpPr>
        <p:spPr>
          <a:xfrm>
            <a:off x="7260336"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lấy log, nén mạnh</a:t>
            </a:r>
          </a:p>
        </p:txBody>
      </p:sp>
      <p:sp>
        <p:nvSpPr>
          <p:cNvPr id="18" name="Oval 17"/>
          <p:cNvSpPr/>
          <p:nvPr/>
        </p:nvSpPr>
        <p:spPr>
          <a:xfrm>
            <a:off x="9349740"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32519" y="4379976"/>
            <a:ext cx="1399032" cy="274320"/>
          </a:xfrm>
          <a:prstGeom prst="rect">
            <a:avLst/>
          </a:prstGeom>
          <a:noFill/>
        </p:spPr>
        <p:txBody>
          <a:bodyPr wrap="square" lIns="0" rIns="0" tIns="0" bIns="0" anchor="t">
            <a:spAutoFit/>
          </a:bodyPr>
          <a:lstStyle/>
          <a:p>
            <a:pPr algn="ctr"/>
            <a:r>
              <a:rPr sz="1400" b="1" i="0">
                <a:solidFill>
                  <a:srgbClr val="0F8B8D"/>
                </a:solidFill>
                <a:latin typeface="Arial"/>
              </a:rPr>
              <a:t>λ = 0,5</a:t>
            </a:r>
          </a:p>
        </p:txBody>
      </p:sp>
      <p:sp>
        <p:nvSpPr>
          <p:cNvPr id="20" name="TextBox 19"/>
          <p:cNvSpPr txBox="1"/>
          <p:nvPr/>
        </p:nvSpPr>
        <p:spPr>
          <a:xfrm>
            <a:off x="8732519"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căn bậc hai</a:t>
            </a:r>
          </a:p>
        </p:txBody>
      </p:sp>
      <p:sp>
        <p:nvSpPr>
          <p:cNvPr id="21" name="Oval 20"/>
          <p:cNvSpPr/>
          <p:nvPr/>
        </p:nvSpPr>
        <p:spPr>
          <a:xfrm>
            <a:off x="10821924"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04704" y="4379976"/>
            <a:ext cx="1399032" cy="274320"/>
          </a:xfrm>
          <a:prstGeom prst="rect">
            <a:avLst/>
          </a:prstGeom>
          <a:noFill/>
        </p:spPr>
        <p:txBody>
          <a:bodyPr wrap="square" lIns="0" rIns="0" tIns="0" bIns="0" anchor="t">
            <a:spAutoFit/>
          </a:bodyPr>
          <a:lstStyle/>
          <a:p>
            <a:pPr algn="ctr"/>
            <a:r>
              <a:rPr sz="1400" b="1" i="0">
                <a:solidFill>
                  <a:srgbClr val="0F8B8D"/>
                </a:solidFill>
                <a:latin typeface="Arial"/>
              </a:rPr>
              <a:t>λ = 1</a:t>
            </a:r>
          </a:p>
        </p:txBody>
      </p:sp>
      <p:sp>
        <p:nvSpPr>
          <p:cNvPr id="23" name="TextBox 22"/>
          <p:cNvSpPr txBox="1"/>
          <p:nvPr/>
        </p:nvSpPr>
        <p:spPr>
          <a:xfrm>
            <a:off x="10204704"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gần như giữ nguyên</a:t>
            </a:r>
          </a:p>
        </p:txBody>
      </p:sp>
      <p:sp>
        <p:nvSpPr>
          <p:cNvPr id="24" name="TextBox 23"/>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25" name="TextBox 24"/>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Bán lẻ Mỹ: Guerrero chọn λ ≈ 0,34. Dao động năm 2019 so với 1992: dữ liệu gốc gấp 2,45 lần, sau λ 0,34 chỉ 1,21.</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Guerrero chọn λ làm dao động các năm đều</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5</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Guerrero method · coefficient of variation (CV) · Box-Cox λ</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Log ép quá tay, để nguyên thì dao động phình ra. Chọn λ ở giữa bằng cách nào?</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Chọn λ Box-Cox bằng số, không bằng mắt, để dao động không còn đổi theo mức.</a:t>
            </a:r>
          </a:p>
        </p:txBody>
      </p:sp>
      <p:sp>
        <p:nvSpPr>
          <p:cNvPr id="8" name="Rounded Rectangle 7"/>
          <p:cNvSpPr/>
          <p:nvPr/>
        </p:nvSpPr>
        <p:spPr>
          <a:xfrm>
            <a:off x="548640" y="2432303"/>
            <a:ext cx="11091672"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432303"/>
            <a:ext cx="1097280" cy="658368"/>
          </a:xfrm>
          <a:prstGeom prst="rect">
            <a:avLst/>
          </a:prstGeom>
          <a:noFill/>
        </p:spPr>
        <p:txBody>
          <a:bodyPr wrap="square" lIns="0" rIns="0" tIns="0" bIns="0" anchor="ctr">
            <a:spAutoFit/>
          </a:bodyPr>
          <a:lstStyle/>
          <a:p>
            <a:pPr algn="l"/>
            <a:r>
              <a:rPr sz="1200" b="1" i="0">
                <a:solidFill>
                  <a:srgbClr val="0F8B8D"/>
                </a:solidFill>
                <a:latin typeface="Arial"/>
              </a:rPr>
              <a:t>Công thức</a:t>
            </a:r>
          </a:p>
        </p:txBody>
      </p:sp>
      <p:pic>
        <p:nvPicPr>
          <p:cNvPr id="10" name="Picture 9" descr="51305173a270.png"/>
          <p:cNvPicPr>
            <a:picLocks noChangeAspect="1"/>
          </p:cNvPicPr>
          <p:nvPr/>
        </p:nvPicPr>
        <p:blipFill>
          <a:blip r:embed="rId2"/>
          <a:stretch>
            <a:fillRect/>
          </a:stretch>
        </p:blipFill>
        <p:spPr>
          <a:xfrm>
            <a:off x="1783080" y="2526792"/>
            <a:ext cx="4800600" cy="469392"/>
          </a:xfrm>
          <a:prstGeom prst="rect">
            <a:avLst/>
          </a:prstGeom>
        </p:spPr>
      </p:pic>
      <p:sp>
        <p:nvSpPr>
          <p:cNvPr id="11" name="TextBox 10"/>
          <p:cNvSpPr txBox="1"/>
          <p:nvPr/>
        </p:nvSpPr>
        <p:spPr>
          <a:xfrm>
            <a:off x="6766560" y="2432303"/>
            <a:ext cx="4736592" cy="658368"/>
          </a:xfrm>
          <a:prstGeom prst="rect">
            <a:avLst/>
          </a:prstGeom>
          <a:noFill/>
        </p:spPr>
        <p:txBody>
          <a:bodyPr wrap="square" lIns="0" rIns="0" tIns="0" bIns="0" anchor="ctr">
            <a:spAutoFit/>
          </a:bodyPr>
          <a:lstStyle/>
          <a:p>
            <a:pPr algn="l"/>
            <a:r>
              <a:rPr sz="1150" b="0" i="0">
                <a:solidFill>
                  <a:srgbClr val="1B2A41"/>
                </a:solidFill>
                <a:latin typeface="Arial"/>
              </a:rPr>
              <a:t>λ = 0,5, năm μ = 400, s = 20: 20 / √400 = 1.</a:t>
            </a:r>
          </a:p>
        </p:txBody>
      </p:sp>
      <p:pic>
        <p:nvPicPr>
          <p:cNvPr id="12" name="Picture 11" descr="box-cox.png"/>
          <p:cNvPicPr>
            <a:picLocks noChangeAspect="1"/>
          </p:cNvPicPr>
          <p:nvPr/>
        </p:nvPicPr>
        <p:blipFill>
          <a:blip r:embed="rId3"/>
          <a:stretch>
            <a:fillRect/>
          </a:stretch>
        </p:blipFill>
        <p:spPr>
          <a:xfrm>
            <a:off x="3475105" y="3182112"/>
            <a:ext cx="5238740" cy="1755648"/>
          </a:xfrm>
          <a:prstGeom prst="rect">
            <a:avLst/>
          </a:prstGeom>
        </p:spPr>
      </p:pic>
      <p:sp>
        <p:nvSpPr>
          <p:cNvPr id="13" name="Rounded Rectangle 12"/>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5" name="TextBox 14"/>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Chia chuỗi thành từng năm. Sau Box-Cox, dao động của năm có mức μ gần bằng s / μ^(1−λ). Chọn λ làm các tỷ số này đều nhất, tức CV nhỏ nhất.</a:t>
            </a:r>
          </a:p>
        </p:txBody>
      </p:sp>
      <p:sp>
        <p:nvSpPr>
          <p:cNvPr id="16" name="Rounded Rectangle 15"/>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Ba năm μ = 100, 400, 900; s = 10, 20, 30</a:t>
            </a:r>
          </a:p>
        </p:txBody>
      </p:sp>
      <p:sp>
        <p:nvSpPr>
          <p:cNvPr id="18" name="TextBox 17"/>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600" b="0" i="0">
                <a:solidFill>
                  <a:srgbClr val="1B2A41"/>
                </a:solidFill>
                <a:latin typeface="Arial"/>
              </a:rPr>
              <a:t/>
            </a:r>
          </a:p>
        </p:txBody>
      </p:sp>
      <p:cxnSp>
        <p:nvCxnSpPr>
          <p:cNvPr id="19" name="Connector 18"/>
          <p:cNvCxnSpPr/>
          <p:nvPr/>
        </p:nvCxnSpPr>
        <p:spPr>
          <a:xfrm>
            <a:off x="4963667" y="5532120"/>
            <a:ext cx="2261617"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4881372"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34840" y="5669280"/>
            <a:ext cx="1057655" cy="274320"/>
          </a:xfrm>
          <a:prstGeom prst="rect">
            <a:avLst/>
          </a:prstGeom>
          <a:noFill/>
        </p:spPr>
        <p:txBody>
          <a:bodyPr wrap="square" lIns="0" rIns="0" tIns="0" bIns="0" anchor="t">
            <a:spAutoFit/>
          </a:bodyPr>
          <a:lstStyle/>
          <a:p>
            <a:pPr algn="ctr"/>
            <a:r>
              <a:rPr sz="1400" b="1" i="0">
                <a:solidFill>
                  <a:srgbClr val="0F8B8D"/>
                </a:solidFill>
                <a:latin typeface="Arial"/>
              </a:rPr>
              <a:t>λ = 1</a:t>
            </a:r>
          </a:p>
        </p:txBody>
      </p:sp>
      <p:sp>
        <p:nvSpPr>
          <p:cNvPr id="22" name="TextBox 21"/>
          <p:cNvSpPr txBox="1"/>
          <p:nvPr/>
        </p:nvSpPr>
        <p:spPr>
          <a:xfrm>
            <a:off x="4434840"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tỷ số 10, 20, 30: dao động lớn dần</a:t>
            </a:r>
          </a:p>
        </p:txBody>
      </p:sp>
      <p:sp>
        <p:nvSpPr>
          <p:cNvPr id="23" name="Oval 22"/>
          <p:cNvSpPr/>
          <p:nvPr/>
        </p:nvSpPr>
        <p:spPr>
          <a:xfrm>
            <a:off x="6012179"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565647" y="5669280"/>
            <a:ext cx="1057655" cy="274320"/>
          </a:xfrm>
          <a:prstGeom prst="rect">
            <a:avLst/>
          </a:prstGeom>
          <a:noFill/>
        </p:spPr>
        <p:txBody>
          <a:bodyPr wrap="square" lIns="0" rIns="0" tIns="0" bIns="0" anchor="t">
            <a:spAutoFit/>
          </a:bodyPr>
          <a:lstStyle/>
          <a:p>
            <a:pPr algn="ctr"/>
            <a:r>
              <a:rPr sz="1400" b="1" i="0">
                <a:solidFill>
                  <a:srgbClr val="0F8B8D"/>
                </a:solidFill>
                <a:latin typeface="Arial"/>
              </a:rPr>
              <a:t>λ = 0,5</a:t>
            </a:r>
          </a:p>
        </p:txBody>
      </p:sp>
      <p:sp>
        <p:nvSpPr>
          <p:cNvPr id="25" name="TextBox 24"/>
          <p:cNvSpPr txBox="1"/>
          <p:nvPr/>
        </p:nvSpPr>
        <p:spPr>
          <a:xfrm>
            <a:off x="5565647"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tỷ số 1, 1, 1: đều hoàn toàn</a:t>
            </a:r>
          </a:p>
        </p:txBody>
      </p:sp>
      <p:sp>
        <p:nvSpPr>
          <p:cNvPr id="26" name="Oval 25"/>
          <p:cNvSpPr/>
          <p:nvPr/>
        </p:nvSpPr>
        <p:spPr>
          <a:xfrm>
            <a:off x="7142987"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96456" y="5669280"/>
            <a:ext cx="1057655" cy="274320"/>
          </a:xfrm>
          <a:prstGeom prst="rect">
            <a:avLst/>
          </a:prstGeom>
          <a:noFill/>
        </p:spPr>
        <p:txBody>
          <a:bodyPr wrap="square" lIns="0" rIns="0" tIns="0" bIns="0" anchor="t">
            <a:spAutoFit/>
          </a:bodyPr>
          <a:lstStyle/>
          <a:p>
            <a:pPr algn="ctr"/>
            <a:r>
              <a:rPr sz="1400" b="1" i="0">
                <a:solidFill>
                  <a:srgbClr val="0F8B8D"/>
                </a:solidFill>
                <a:latin typeface="Arial"/>
              </a:rPr>
              <a:t>λ = 0</a:t>
            </a:r>
          </a:p>
        </p:txBody>
      </p:sp>
      <p:sp>
        <p:nvSpPr>
          <p:cNvPr id="28" name="TextBox 27"/>
          <p:cNvSpPr txBox="1"/>
          <p:nvPr/>
        </p:nvSpPr>
        <p:spPr>
          <a:xfrm>
            <a:off x="6696456"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0,1; 0,05; 0,033: log ép quá tay</a:t>
            </a:r>
          </a:p>
        </p:txBody>
      </p:sp>
      <p:sp>
        <p:nvSpPr>
          <p:cNvPr id="29" name="Rounded Rectangle 28"/>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31" name="TextBox 30"/>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λ = 1: ba tỷ số có độ lệch chuẩn 10, trung bình 20, CV = 0,5. λ = 0,5: CV = 0. Bán lẻ Mỹ: CV nhỏ nhất ở λ ≈ 0,34.</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Vì sao exp của dự báo log ra trung vị</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5</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back-transformation · median vs mean · bias adjustment</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Dự báo trên thang log rồi exp về: vì sao cộng lại thì hụt so với tổng thật?</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Biết đổi ngược cho ra con số nào, và khi nào phải nhân thêm hệ số để ra trung bình.</a:t>
            </a:r>
          </a:p>
        </p:txBody>
      </p:sp>
      <p:pic>
        <p:nvPicPr>
          <p:cNvPr id="8" name="Picture 7" descr="kn-doi-nguoc.png"/>
          <p:cNvPicPr>
            <a:picLocks noChangeAspect="1"/>
          </p:cNvPicPr>
          <p:nvPr/>
        </p:nvPicPr>
        <p:blipFill>
          <a:blip r:embed="rId2"/>
          <a:stretch>
            <a:fillRect/>
          </a:stretch>
        </p:blipFill>
        <p:spPr>
          <a:xfrm>
            <a:off x="2619166" y="2432303"/>
            <a:ext cx="6950619" cy="2505456"/>
          </a:xfrm>
          <a:prstGeom prst="rect">
            <a:avLst/>
          </a:prstGeom>
        </p:spPr>
      </p:pic>
      <p:sp>
        <p:nvSpPr>
          <p:cNvPr id="9" name="Rounded Rectangle 8"/>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1" name="TextBox 10"/>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exp giữ thứ tự, nên số đứng giữa trên thang log vẫn đứng giữa: đó là trung vị. Nhưng exp kéo giãn phía trên, đẩy trung bình lên cao hơn.</a:t>
            </a:r>
          </a:p>
        </p:txBody>
      </p:sp>
      <p:sp>
        <p:nvSpPr>
          <p:cNvPr id="12" name="Rounded Rectangle 11"/>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Khi nào hiệu chỉnh</a:t>
            </a:r>
          </a:p>
        </p:txBody>
      </p:sp>
      <p:sp>
        <p:nvSpPr>
          <p:cNvPr id="14" name="TextBox 13"/>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600" b="0" i="0">
                <a:solidFill>
                  <a:srgbClr val="1B2A41"/>
                </a:solidFill>
                <a:latin typeface="Arial"/>
              </a:rPr>
              <a:t/>
            </a:r>
          </a:p>
        </p:txBody>
      </p:sp>
      <p:cxnSp>
        <p:nvCxnSpPr>
          <p:cNvPr id="15" name="Connector 14"/>
          <p:cNvCxnSpPr/>
          <p:nvPr/>
        </p:nvCxnSpPr>
        <p:spPr>
          <a:xfrm>
            <a:off x="4963667" y="5532120"/>
            <a:ext cx="2261617"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4881372"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34840" y="5669280"/>
            <a:ext cx="1057655" cy="274320"/>
          </a:xfrm>
          <a:prstGeom prst="rect">
            <a:avLst/>
          </a:prstGeom>
          <a:noFill/>
        </p:spPr>
        <p:txBody>
          <a:bodyPr wrap="square" lIns="0" rIns="0" tIns="0" bIns="0" anchor="t">
            <a:spAutoFit/>
          </a:bodyPr>
          <a:lstStyle/>
          <a:p>
            <a:pPr algn="ctr"/>
            <a:r>
              <a:rPr sz="1400" b="1" i="0">
                <a:solidFill>
                  <a:srgbClr val="0F8B8D"/>
                </a:solidFill>
                <a:latin typeface="Arial"/>
              </a:rPr>
              <a:t>cần tổng</a:t>
            </a:r>
          </a:p>
        </p:txBody>
      </p:sp>
      <p:sp>
        <p:nvSpPr>
          <p:cNvPr id="18" name="TextBox 17"/>
          <p:cNvSpPr txBox="1"/>
          <p:nvPr/>
        </p:nvSpPr>
        <p:spPr>
          <a:xfrm>
            <a:off x="4434840"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cần tổng hay trung bình: nhân 1 + σ²/2</a:t>
            </a:r>
          </a:p>
        </p:txBody>
      </p:sp>
      <p:sp>
        <p:nvSpPr>
          <p:cNvPr id="19" name="Oval 18"/>
          <p:cNvSpPr/>
          <p:nvPr/>
        </p:nvSpPr>
        <p:spPr>
          <a:xfrm>
            <a:off x="6012179"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565647" y="5669280"/>
            <a:ext cx="1057655" cy="274320"/>
          </a:xfrm>
          <a:prstGeom prst="rect">
            <a:avLst/>
          </a:prstGeom>
          <a:noFill/>
        </p:spPr>
        <p:txBody>
          <a:bodyPr wrap="square" lIns="0" rIns="0" tIns="0" bIns="0" anchor="t">
            <a:spAutoFit/>
          </a:bodyPr>
          <a:lstStyle/>
          <a:p>
            <a:pPr algn="ctr"/>
            <a:r>
              <a:rPr sz="1400" b="1" i="0">
                <a:solidFill>
                  <a:srgbClr val="0F8B8D"/>
                </a:solidFill>
                <a:latin typeface="Arial"/>
              </a:rPr>
              <a:t>chấm MAE</a:t>
            </a:r>
          </a:p>
        </p:txBody>
      </p:sp>
      <p:sp>
        <p:nvSpPr>
          <p:cNvPr id="21" name="TextBox 20"/>
          <p:cNvSpPr txBox="1"/>
          <p:nvPr/>
        </p:nvSpPr>
        <p:spPr>
          <a:xfrm>
            <a:off x="5565647"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không cần: MAE ưa trung vị</a:t>
            </a:r>
          </a:p>
        </p:txBody>
      </p:sp>
      <p:sp>
        <p:nvSpPr>
          <p:cNvPr id="22" name="Oval 21"/>
          <p:cNvSpPr/>
          <p:nvPr/>
        </p:nvSpPr>
        <p:spPr>
          <a:xfrm>
            <a:off x="7142987"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96456" y="5669280"/>
            <a:ext cx="1057655" cy="274320"/>
          </a:xfrm>
          <a:prstGeom prst="rect">
            <a:avLst/>
          </a:prstGeom>
          <a:noFill/>
        </p:spPr>
        <p:txBody>
          <a:bodyPr wrap="square" lIns="0" rIns="0" tIns="0" bIns="0" anchor="t">
            <a:spAutoFit/>
          </a:bodyPr>
          <a:lstStyle/>
          <a:p>
            <a:pPr algn="ctr"/>
            <a:r>
              <a:rPr sz="1400" b="1" i="0">
                <a:solidFill>
                  <a:srgbClr val="0F8B8D"/>
                </a:solidFill>
                <a:latin typeface="Arial"/>
              </a:rPr>
              <a:t>σ nhỏ</a:t>
            </a:r>
          </a:p>
        </p:txBody>
      </p:sp>
      <p:sp>
        <p:nvSpPr>
          <p:cNvPr id="24" name="TextBox 23"/>
          <p:cNvSpPr txBox="1"/>
          <p:nvPr/>
        </p:nvSpPr>
        <p:spPr>
          <a:xfrm>
            <a:off x="6696456"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phần hụt không đáng kể</a:t>
            </a:r>
          </a:p>
        </p:txBody>
      </p:sp>
      <p:sp>
        <p:nvSpPr>
          <p:cNvPr id="25" name="Rounded Rectangle 24"/>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27" name="TextBox 26"/>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Log 0, 1, 2: exp(1) = 2,72 là số đứng giữa, còn trung bình thật là 3,70. σ = 0,5 thì trung vị thấp hơn trung bình 11,75%.</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Chuỗi = xu hướng + mùa vụ + phần dư</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6</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decomposition (additive / multiplicative) · residual · STL / MSTL</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Tải điện đổi vì mức chung theo mùa, nhịp ngày và tuần, và những thứ bất ngờ. Tách ra thế nào?</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Tách chuỗi ra từng phần để thấy riêng xu hướng, mùa vụ và phần khó đoán.</a:t>
            </a:r>
          </a:p>
        </p:txBody>
      </p:sp>
      <p:sp>
        <p:nvSpPr>
          <p:cNvPr id="8" name="Rounded Rectangle 7"/>
          <p:cNvSpPr/>
          <p:nvPr/>
        </p:nvSpPr>
        <p:spPr>
          <a:xfrm>
            <a:off x="548640" y="2432303"/>
            <a:ext cx="6309360"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004d3962e380.png"/>
          <p:cNvPicPr>
            <a:picLocks noChangeAspect="1"/>
          </p:cNvPicPr>
          <p:nvPr/>
        </p:nvPicPr>
        <p:blipFill>
          <a:blip r:embed="rId2"/>
          <a:stretch>
            <a:fillRect/>
          </a:stretch>
        </p:blipFill>
        <p:spPr>
          <a:xfrm>
            <a:off x="1569720" y="2634995"/>
            <a:ext cx="4267200" cy="252984"/>
          </a:xfrm>
          <a:prstGeom prst="rect">
            <a:avLst/>
          </a:prstGeom>
        </p:spPr>
      </p:pic>
      <p:pic>
        <p:nvPicPr>
          <p:cNvPr id="10" name="Picture 9" descr="mstl.png"/>
          <p:cNvPicPr>
            <a:picLocks noChangeAspect="1"/>
          </p:cNvPicPr>
          <p:nvPr/>
        </p:nvPicPr>
        <p:blipFill>
          <a:blip r:embed="rId3"/>
          <a:stretch>
            <a:fillRect/>
          </a:stretch>
        </p:blipFill>
        <p:spPr>
          <a:xfrm>
            <a:off x="1745901" y="3182112"/>
            <a:ext cx="3914837" cy="3310127"/>
          </a:xfrm>
          <a:prstGeom prst="rect">
            <a:avLst/>
          </a:prstGeom>
        </p:spPr>
      </p:pic>
      <p:sp>
        <p:nvSpPr>
          <p:cNvPr id="11" name="TextBox 10"/>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2" name="TextBox 11"/>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Phân rã tách chuỗi thành xu hướng, mùa vụ và phần dư. Kiểu cộng: mùa vụ thêm một lượng cố định. Kiểu nhân: thêm theo %.</a:t>
            </a:r>
          </a:p>
        </p:txBody>
      </p:sp>
      <p:sp>
        <p:nvSpPr>
          <p:cNvPr id="13" name="TextBox 12"/>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0F8B8D"/>
                </a:solidFill>
                <a:latin typeface="Arial"/>
              </a:rPr>
              <a:t>Chọn cộng hay nhân</a:t>
            </a:r>
          </a:p>
        </p:txBody>
      </p:sp>
      <p:sp>
        <p:nvSpPr>
          <p:cNvPr id="14" name="TextBox 13"/>
          <p:cNvSpPr txBox="1"/>
          <p:nvPr/>
        </p:nvSpPr>
        <p:spPr>
          <a:xfrm>
            <a:off x="7223760" y="4105655"/>
            <a:ext cx="4416552" cy="1005839"/>
          </a:xfrm>
          <a:prstGeom prst="rect">
            <a:avLst/>
          </a:prstGeom>
          <a:noFill/>
        </p:spPr>
        <p:txBody>
          <a:bodyPr wrap="square" lIns="0" rIns="0" tIns="0" bIns="0" anchor="t">
            <a:spAutoFit/>
          </a:bodyPr>
          <a:lstStyle/>
          <a:p>
            <a:pPr algn="l"/>
            <a:r>
              <a:rPr sz="1500" b="0" i="0">
                <a:solidFill>
                  <a:srgbClr val="1B2A41"/>
                </a:solidFill>
                <a:latin typeface="Arial"/>
              </a:rPr>
              <a:t>Biên độ mùa vụ giữ nguyên khi mức đổi thì chọn cộng. Biên độ lớn dần theo mức thì chọn nhân, hoặc lấy log rồi cộng.</a:t>
            </a:r>
          </a:p>
        </p:txBody>
      </p:sp>
      <p:sp>
        <p:nvSpPr>
          <p:cNvPr id="15" name="TextBox 14"/>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16" name="TextBox 15"/>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Cộng: mùa hè luôn cao hơn 10 GW, dù mức nền là 80 hay 150 GW. Nhân: nền 100 thì +10, nền 200 thì +20.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Cổ điển, STL, MSTL: mùa vụ cố định hay đổi dần</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6</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classical decomposition · STL · MSTL · LOESS</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Nhịp ngày của tải điện tháng 7 khác hẳn tháng 1. Phân rã có cho mùa vụ đổi theo không?</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Chọn cách phân rã khớp với việc mùa vụ có đổi theo thời gian hay không.</a:t>
            </a:r>
          </a:p>
        </p:txBody>
      </p:sp>
      <p:sp>
        <p:nvSpPr>
          <p:cNvPr id="8" name="Rounded Rectangle 7"/>
          <p:cNvSpPr/>
          <p:nvPr/>
        </p:nvSpPr>
        <p:spPr>
          <a:xfrm>
            <a:off x="548640" y="2432303"/>
            <a:ext cx="6309360" cy="874776"/>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20f66cef75d0.png"/>
          <p:cNvPicPr>
            <a:picLocks noChangeAspect="1"/>
          </p:cNvPicPr>
          <p:nvPr/>
        </p:nvPicPr>
        <p:blipFill>
          <a:blip r:embed="rId2"/>
          <a:stretch>
            <a:fillRect/>
          </a:stretch>
        </p:blipFill>
        <p:spPr>
          <a:xfrm>
            <a:off x="998219" y="2496311"/>
            <a:ext cx="5410200" cy="746760"/>
          </a:xfrm>
          <a:prstGeom prst="rect">
            <a:avLst/>
          </a:prstGeom>
        </p:spPr>
      </p:pic>
      <p:pic>
        <p:nvPicPr>
          <p:cNvPr id="10" name="Picture 9" descr="bien-do-ngay.png"/>
          <p:cNvPicPr>
            <a:picLocks noChangeAspect="1"/>
          </p:cNvPicPr>
          <p:nvPr/>
        </p:nvPicPr>
        <p:blipFill>
          <a:blip r:embed="rId3"/>
          <a:stretch>
            <a:fillRect/>
          </a:stretch>
        </p:blipFill>
        <p:spPr>
          <a:xfrm>
            <a:off x="548640" y="3503240"/>
            <a:ext cx="6309360" cy="2884278"/>
          </a:xfrm>
          <a:prstGeom prst="rect">
            <a:avLst/>
          </a:prstGeom>
        </p:spPr>
      </p:pic>
      <p:sp>
        <p:nvSpPr>
          <p:cNvPr id="11" name="TextBox 10"/>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2" name="TextBox 11"/>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Cổ điển: xu hướng là trung bình trượt đúng một vòng, mùa vụ là trung bình theo vị trí trong vòng, cố định cả năm. STL làm trơn cục bộ nên mùa vụ đổi dần; MSTL tách nhiều chu kỳ.</a:t>
            </a:r>
          </a:p>
        </p:txBody>
      </p:sp>
      <p:sp>
        <p:nvSpPr>
          <p:cNvPr id="13" name="TextBox 12"/>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0F8B8D"/>
                </a:solidFill>
                <a:latin typeface="Arial"/>
              </a:rPr>
              <a:t>Chọn cách nào</a:t>
            </a:r>
          </a:p>
        </p:txBody>
      </p:sp>
      <p:sp>
        <p:nvSpPr>
          <p:cNvPr id="14" name="TextBox 13"/>
          <p:cNvSpPr txBox="1"/>
          <p:nvPr/>
        </p:nvSpPr>
        <p:spPr>
          <a:xfrm>
            <a:off x="7223760" y="4105655"/>
            <a:ext cx="4416552" cy="1005839"/>
          </a:xfrm>
          <a:prstGeom prst="rect">
            <a:avLst/>
          </a:prstGeom>
          <a:noFill/>
        </p:spPr>
        <p:txBody>
          <a:bodyPr wrap="square" lIns="0" rIns="0" tIns="0" bIns="0" anchor="t">
            <a:spAutoFit/>
          </a:bodyPr>
          <a:lstStyle/>
          <a:p>
            <a:pPr algn="l"/>
            <a:r>
              <a:rPr sz="1500" b="0" i="0">
                <a:solidFill>
                  <a:srgbClr val="1B2A41"/>
                </a:solidFill>
                <a:latin typeface="Arial"/>
              </a:rPr>
              <a:t>Hình dạng mùa vụ đổi theo mùa thì dùng STL/MSTL, không phải phân rã nhân. Phần dư nhỏ bất thường có thể do cửa sổ xu hướng quá ngắn.</a:t>
            </a:r>
          </a:p>
        </p:txBody>
      </p:sp>
      <p:sp>
        <p:nvSpPr>
          <p:cNvPr id="15" name="TextBox 14"/>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16" name="TextBox 15"/>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Mùa vụ ngày của PJM: tháng 1 hai đỉnh sáng và tối, tháng 7 một đỉnh chiều. Một khuôn cố định không chứa được cả hai.</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Tỷ lệ mẫu hình: phần dư còn nhịp lịch không</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6</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residual pattern ratio · calendar grouping</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Phân rã xong, phần dư trông lộn xộn. Nó đã hết nhịp theo giờ, theo tháng chưa?</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Kiểm một phân rã đã lấy hết mùa vụ chưa bằng một con số, không chỉ bằng mắt.</a:t>
            </a:r>
          </a:p>
        </p:txBody>
      </p:sp>
      <p:pic>
        <p:nvPicPr>
          <p:cNvPr id="8" name="Picture 7" descr="phan-du-so-sanh.png"/>
          <p:cNvPicPr>
            <a:picLocks noChangeAspect="1"/>
          </p:cNvPicPr>
          <p:nvPr/>
        </p:nvPicPr>
        <p:blipFill>
          <a:blip r:embed="rId2"/>
          <a:stretch>
            <a:fillRect/>
          </a:stretch>
        </p:blipFill>
        <p:spPr>
          <a:xfrm>
            <a:off x="822934" y="2432303"/>
            <a:ext cx="5760771" cy="4059935"/>
          </a:xfrm>
          <a:prstGeom prst="rect">
            <a:avLst/>
          </a:prstGeom>
        </p:spPr>
      </p:pic>
      <p:sp>
        <p:nvSpPr>
          <p:cNvPr id="9" name="TextBox 8"/>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0" name="TextBox 9"/>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Nhóm phần dư theo lịch (tháng × giờ, thứ × giờ), lấy trung bình mỗi nhóm, rồi đo các trung bình đó lệch nhau cỡ nào so với dao động của cả chuỗi.</a:t>
            </a:r>
          </a:p>
        </p:txBody>
      </p:sp>
      <p:sp>
        <p:nvSpPr>
          <p:cNvPr id="11" name="TextBox 10"/>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0F8B8D"/>
                </a:solidFill>
                <a:latin typeface="Arial"/>
              </a:rPr>
              <a:t>PJM 2024, nhóm tháng × giờ</a:t>
            </a:r>
          </a:p>
        </p:txBody>
      </p:sp>
      <p:cxnSp>
        <p:nvCxnSpPr>
          <p:cNvPr id="12" name="Connector 11"/>
          <p:cNvCxnSpPr/>
          <p:nvPr/>
        </p:nvCxnSpPr>
        <p:spPr>
          <a:xfrm>
            <a:off x="8327898" y="4242816"/>
            <a:ext cx="2208276"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245602"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60336" y="4379976"/>
            <a:ext cx="2135124" cy="274320"/>
          </a:xfrm>
          <a:prstGeom prst="rect">
            <a:avLst/>
          </a:prstGeom>
          <a:noFill/>
        </p:spPr>
        <p:txBody>
          <a:bodyPr wrap="square" lIns="0" rIns="0" tIns="0" bIns="0" anchor="t">
            <a:spAutoFit/>
          </a:bodyPr>
          <a:lstStyle/>
          <a:p>
            <a:pPr algn="ctr"/>
            <a:r>
              <a:rPr sz="1400" b="1" i="0">
                <a:solidFill>
                  <a:srgbClr val="0F8B8D"/>
                </a:solidFill>
                <a:latin typeface="Arial"/>
              </a:rPr>
              <a:t>0,0006</a:t>
            </a:r>
          </a:p>
        </p:txBody>
      </p:sp>
      <p:sp>
        <p:nvSpPr>
          <p:cNvPr id="15" name="TextBox 14"/>
          <p:cNvSpPr txBox="1"/>
          <p:nvPr/>
        </p:nvSpPr>
        <p:spPr>
          <a:xfrm>
            <a:off x="7260336" y="4654296"/>
            <a:ext cx="2135124" cy="548640"/>
          </a:xfrm>
          <a:prstGeom prst="rect">
            <a:avLst/>
          </a:prstGeom>
          <a:noFill/>
        </p:spPr>
        <p:txBody>
          <a:bodyPr wrap="square" lIns="0" rIns="0" tIns="0" bIns="0" anchor="t">
            <a:spAutoFit/>
          </a:bodyPr>
          <a:lstStyle/>
          <a:p>
            <a:pPr algn="ctr"/>
            <a:r>
              <a:rPr sz="1100" b="0" i="0">
                <a:solidFill>
                  <a:srgbClr val="1B2A41"/>
                </a:solidFill>
                <a:latin typeface="Arial"/>
              </a:rPr>
              <a:t>MSTL (24, 168): phần dư gần như sạch</a:t>
            </a:r>
          </a:p>
        </p:txBody>
      </p:sp>
      <p:sp>
        <p:nvSpPr>
          <p:cNvPr id="16" name="Oval 15"/>
          <p:cNvSpPr/>
          <p:nvPr/>
        </p:nvSpPr>
        <p:spPr>
          <a:xfrm>
            <a:off x="10453878"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68612" y="4379976"/>
            <a:ext cx="2135124" cy="274320"/>
          </a:xfrm>
          <a:prstGeom prst="rect">
            <a:avLst/>
          </a:prstGeom>
          <a:noFill/>
        </p:spPr>
        <p:txBody>
          <a:bodyPr wrap="square" lIns="0" rIns="0" tIns="0" bIns="0" anchor="t">
            <a:spAutoFit/>
          </a:bodyPr>
          <a:lstStyle/>
          <a:p>
            <a:pPr algn="ctr"/>
            <a:r>
              <a:rPr sz="1400" b="1" i="0">
                <a:solidFill>
                  <a:srgbClr val="0F8B8D"/>
                </a:solidFill>
                <a:latin typeface="Arial"/>
              </a:rPr>
              <a:t>0,102</a:t>
            </a:r>
          </a:p>
        </p:txBody>
      </p:sp>
      <p:sp>
        <p:nvSpPr>
          <p:cNvPr id="18" name="TextBox 17"/>
          <p:cNvSpPr txBox="1"/>
          <p:nvPr/>
        </p:nvSpPr>
        <p:spPr>
          <a:xfrm>
            <a:off x="9468612" y="4654296"/>
            <a:ext cx="2135124" cy="548640"/>
          </a:xfrm>
          <a:prstGeom prst="rect">
            <a:avLst/>
          </a:prstGeom>
          <a:noFill/>
        </p:spPr>
        <p:txBody>
          <a:bodyPr wrap="square" lIns="0" rIns="0" tIns="0" bIns="0" anchor="t">
            <a:spAutoFit/>
          </a:bodyPr>
          <a:lstStyle/>
          <a:p>
            <a:pPr algn="ctr"/>
            <a:r>
              <a:rPr sz="1100" b="0" i="0">
                <a:solidFill>
                  <a:srgbClr val="1B2A41"/>
                </a:solidFill>
                <a:latin typeface="Arial"/>
              </a:rPr>
              <a:t>cổ điển chu kỳ 24: một phần mười còn là mẫu hình</a:t>
            </a:r>
          </a:p>
        </p:txBody>
      </p:sp>
      <p:sp>
        <p:nvSpPr>
          <p:cNvPr id="19" name="TextBox 18"/>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20" name="TextBox 19"/>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Phần dư sáng −3, −5; chiều +3, +5: trung bình nhóm −4 và +4, phương sai 32. Chuỗi có phương sai 320 thì tỷ lệ 0,1: còn nhịp sáng – chiều.</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STL: mùa vụ lấy trung bình cục bộ, đổi dần</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6</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STL · LOESS (local regression) · trend window</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Mùa vụ lớn dần qua các năm. Một khuôn mùa vụ cố định sẽ bỏ sót điều gì?</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Hiểu vì sao STL cho mùa vụ tháng 7 khác tháng 1, còn phân rã cổ điển thì không.</a:t>
            </a:r>
          </a:p>
        </p:txBody>
      </p:sp>
      <p:pic>
        <p:nvPicPr>
          <p:cNvPr id="8" name="Picture 7" descr="kn-stl-loess.png"/>
          <p:cNvPicPr>
            <a:picLocks noChangeAspect="1"/>
          </p:cNvPicPr>
          <p:nvPr/>
        </p:nvPicPr>
        <p:blipFill>
          <a:blip r:embed="rId2"/>
          <a:stretch>
            <a:fillRect/>
          </a:stretch>
        </p:blipFill>
        <p:spPr>
          <a:xfrm>
            <a:off x="548640" y="2837408"/>
            <a:ext cx="6309360" cy="3249727"/>
          </a:xfrm>
          <a:prstGeom prst="rect">
            <a:avLst/>
          </a:prstGeom>
        </p:spPr>
      </p:pic>
      <p:sp>
        <p:nvSpPr>
          <p:cNvPr id="9" name="TextBox 8"/>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0" name="TextBox 9"/>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Cổ điển lấy một trung bình cho mọi quý 1 của mọi năm. STL dùng LOESS: mùa vụ mỗi năm chỉ nhìn vài năm lân cận, năm gần nặng hơn.</a:t>
            </a:r>
          </a:p>
        </p:txBody>
      </p:sp>
      <p:sp>
        <p:nvSpPr>
          <p:cNvPr id="11" name="TextBox 10"/>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0F8B8D"/>
                </a:solidFill>
                <a:latin typeface="Arial"/>
              </a:rPr>
              <a:t>Cửa sổ xu hướng quá ngắn</a:t>
            </a:r>
          </a:p>
        </p:txBody>
      </p:sp>
      <p:sp>
        <p:nvSpPr>
          <p:cNvPr id="12" name="TextBox 11"/>
          <p:cNvSpPr txBox="1"/>
          <p:nvPr/>
        </p:nvSpPr>
        <p:spPr>
          <a:xfrm>
            <a:off x="7223760" y="4105655"/>
            <a:ext cx="4416552" cy="1005839"/>
          </a:xfrm>
          <a:prstGeom prst="rect">
            <a:avLst/>
          </a:prstGeom>
          <a:noFill/>
        </p:spPr>
        <p:txBody>
          <a:bodyPr wrap="square" lIns="0" rIns="0" tIns="0" bIns="0" anchor="t">
            <a:spAutoFit/>
          </a:bodyPr>
          <a:lstStyle/>
          <a:p>
            <a:pPr algn="l"/>
            <a:r>
              <a:rPr sz="1500" b="0" i="0">
                <a:solidFill>
                  <a:srgbClr val="1B2A41"/>
                </a:solidFill>
                <a:latin typeface="Arial"/>
              </a:rPr>
              <a:t>Xu hướng mềm quá thì ôm luôn nhịp tuần lẫn thời tiết, phần dư nhỏ giả tạo: STL(period = 24) trên PJM còn 2,8 GW², MSTL 16,5 GW².</a:t>
            </a:r>
          </a:p>
        </p:txBody>
      </p:sp>
      <p:sp>
        <p:nvSpPr>
          <p:cNvPr id="13" name="TextBox 12"/>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14" name="TextBox 13"/>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Quý 1 trừ xu hướng qua 5 năm: 2, 4, 6, 8, 10. Cổ điển: mùa vụ 6, phần dư −4 tới 4. Trung bình 3 năm: 3, 4, 6, 8, 9, phần dư −1 tới 1.</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F_S: mùa vụ mạnh tới đâu so với nhiễu</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6</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strength of trend F_T · strength of seasonality F_S</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Có một con số để so mùa vụ mạnh hay yếu giữa các chuỗi.</a:t>
            </a:r>
          </a:p>
        </p:txBody>
      </p:sp>
      <p:sp>
        <p:nvSpPr>
          <p:cNvPr id="7" name="Rounded Rectangle 6"/>
          <p:cNvSpPr/>
          <p:nvPr/>
        </p:nvSpPr>
        <p:spPr>
          <a:xfrm>
            <a:off x="548640" y="2066543"/>
            <a:ext cx="6309360"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891e384f72b6.png"/>
          <p:cNvPicPr>
            <a:picLocks noChangeAspect="1"/>
          </p:cNvPicPr>
          <p:nvPr/>
        </p:nvPicPr>
        <p:blipFill>
          <a:blip r:embed="rId2"/>
          <a:stretch>
            <a:fillRect/>
          </a:stretch>
        </p:blipFill>
        <p:spPr>
          <a:xfrm>
            <a:off x="2058924" y="2205228"/>
            <a:ext cx="3288792" cy="381000"/>
          </a:xfrm>
          <a:prstGeom prst="rect">
            <a:avLst/>
          </a:prstGeom>
        </p:spPr>
      </p:pic>
      <p:pic>
        <p:nvPicPr>
          <p:cNvPr id="9" name="Picture 8" descr="kn-do-manh-xu-huong-mua-vu.png"/>
          <p:cNvPicPr>
            <a:picLocks noChangeAspect="1"/>
          </p:cNvPicPr>
          <p:nvPr/>
        </p:nvPicPr>
        <p:blipFill>
          <a:blip r:embed="rId3"/>
          <a:stretch>
            <a:fillRect/>
          </a:stretch>
        </p:blipFill>
        <p:spPr>
          <a:xfrm>
            <a:off x="548640" y="3109526"/>
            <a:ext cx="6309360" cy="3089539"/>
          </a:xfrm>
          <a:prstGeom prst="rect">
            <a:avLst/>
          </a:prstGeom>
        </p:spPr>
      </p:pic>
      <p:sp>
        <p:nvSpPr>
          <p:cNvPr id="10" name="TextBox 9"/>
          <p:cNvSpPr txBox="1"/>
          <p:nvPr/>
        </p:nvSpPr>
        <p:spPr>
          <a:xfrm>
            <a:off x="7223760" y="206654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1" name="TextBox 10"/>
          <p:cNvSpPr txBox="1"/>
          <p:nvPr/>
        </p:nvSpPr>
        <p:spPr>
          <a:xfrm>
            <a:off x="7223760" y="2386584"/>
            <a:ext cx="4416552" cy="1127760"/>
          </a:xfrm>
          <a:prstGeom prst="rect">
            <a:avLst/>
          </a:prstGeom>
          <a:noFill/>
        </p:spPr>
        <p:txBody>
          <a:bodyPr wrap="square" lIns="0" rIns="0" tIns="0" bIns="0" anchor="t">
            <a:spAutoFit/>
          </a:bodyPr>
          <a:lstStyle/>
          <a:p>
            <a:pPr algn="l"/>
            <a:r>
              <a:rPr sz="1500" b="0" i="0">
                <a:solidFill>
                  <a:srgbClr val="1B2A41"/>
                </a:solidFill>
                <a:latin typeface="Arial"/>
              </a:rPr>
              <a:t>F_S = 1 − Var(phần dư) / Var(mùa vụ + phần dư). F_T tính giống vậy cho xu hướng.</a:t>
            </a:r>
          </a:p>
        </p:txBody>
      </p:sp>
      <p:sp>
        <p:nvSpPr>
          <p:cNvPr id="12" name="TextBox 11"/>
          <p:cNvSpPr txBox="1"/>
          <p:nvPr/>
        </p:nvSpPr>
        <p:spPr>
          <a:xfrm>
            <a:off x="7223760" y="3541775"/>
            <a:ext cx="4416552" cy="274320"/>
          </a:xfrm>
          <a:prstGeom prst="rect">
            <a:avLst/>
          </a:prstGeom>
          <a:noFill/>
        </p:spPr>
        <p:txBody>
          <a:bodyPr wrap="square" lIns="0" rIns="0" tIns="0" bIns="0" anchor="t">
            <a:spAutoFit/>
          </a:bodyPr>
          <a:lstStyle/>
          <a:p>
            <a:pPr algn="l"/>
            <a:r>
              <a:rPr sz="1400" b="1" i="0">
                <a:solidFill>
                  <a:srgbClr val="0F8B8D"/>
                </a:solidFill>
                <a:latin typeface="Arial"/>
              </a:rPr>
              <a:t>Cao hay thấp nghĩa là gì</a:t>
            </a:r>
          </a:p>
        </p:txBody>
      </p:sp>
      <p:cxnSp>
        <p:nvCxnSpPr>
          <p:cNvPr id="13" name="Connector 12"/>
          <p:cNvCxnSpPr/>
          <p:nvPr/>
        </p:nvCxnSpPr>
        <p:spPr>
          <a:xfrm>
            <a:off x="7959852" y="3998975"/>
            <a:ext cx="2944368"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7877556" y="391668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60336" y="4136136"/>
            <a:ext cx="1399032" cy="274320"/>
          </a:xfrm>
          <a:prstGeom prst="rect">
            <a:avLst/>
          </a:prstGeom>
          <a:noFill/>
        </p:spPr>
        <p:txBody>
          <a:bodyPr wrap="square" lIns="0" rIns="0" tIns="0" bIns="0" anchor="t">
            <a:spAutoFit/>
          </a:bodyPr>
          <a:lstStyle/>
          <a:p>
            <a:pPr algn="ctr"/>
            <a:r>
              <a:rPr sz="1400" b="1" i="0">
                <a:solidFill>
                  <a:srgbClr val="0F8B8D"/>
                </a:solidFill>
                <a:latin typeface="Arial"/>
              </a:rPr>
              <a:t>0</a:t>
            </a:r>
          </a:p>
        </p:txBody>
      </p:sp>
      <p:sp>
        <p:nvSpPr>
          <p:cNvPr id="16" name="TextBox 15"/>
          <p:cNvSpPr txBox="1"/>
          <p:nvPr/>
        </p:nvSpPr>
        <p:spPr>
          <a:xfrm>
            <a:off x="7260336" y="4410456"/>
            <a:ext cx="1399032" cy="548640"/>
          </a:xfrm>
          <a:prstGeom prst="rect">
            <a:avLst/>
          </a:prstGeom>
          <a:noFill/>
        </p:spPr>
        <p:txBody>
          <a:bodyPr wrap="square" lIns="0" rIns="0" tIns="0" bIns="0" anchor="t">
            <a:spAutoFit/>
          </a:bodyPr>
          <a:lstStyle/>
          <a:p>
            <a:pPr algn="ctr"/>
            <a:r>
              <a:rPr sz="1100" b="0" i="0">
                <a:solidFill>
                  <a:srgbClr val="1B2A41"/>
                </a:solidFill>
                <a:latin typeface="Arial"/>
              </a:rPr>
              <a:t>mùa vụ chìm trong nhiễu</a:t>
            </a:r>
          </a:p>
        </p:txBody>
      </p:sp>
      <p:sp>
        <p:nvSpPr>
          <p:cNvPr id="17" name="Oval 16"/>
          <p:cNvSpPr/>
          <p:nvPr/>
        </p:nvSpPr>
        <p:spPr>
          <a:xfrm>
            <a:off x="9349740" y="391668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32519" y="4136136"/>
            <a:ext cx="1399032" cy="274320"/>
          </a:xfrm>
          <a:prstGeom prst="rect">
            <a:avLst/>
          </a:prstGeom>
          <a:noFill/>
        </p:spPr>
        <p:txBody>
          <a:bodyPr wrap="square" lIns="0" rIns="0" tIns="0" bIns="0" anchor="t">
            <a:spAutoFit/>
          </a:bodyPr>
          <a:lstStyle/>
          <a:p>
            <a:pPr algn="ctr"/>
            <a:r>
              <a:rPr sz="1400" b="1" i="0">
                <a:solidFill>
                  <a:srgbClr val="0F8B8D"/>
                </a:solidFill>
                <a:latin typeface="Arial"/>
              </a:rPr>
              <a:t>0,5</a:t>
            </a:r>
          </a:p>
        </p:txBody>
      </p:sp>
      <p:sp>
        <p:nvSpPr>
          <p:cNvPr id="19" name="TextBox 18"/>
          <p:cNvSpPr txBox="1"/>
          <p:nvPr/>
        </p:nvSpPr>
        <p:spPr>
          <a:xfrm>
            <a:off x="8732519" y="4410456"/>
            <a:ext cx="1399032" cy="548640"/>
          </a:xfrm>
          <a:prstGeom prst="rect">
            <a:avLst/>
          </a:prstGeom>
          <a:noFill/>
        </p:spPr>
        <p:txBody>
          <a:bodyPr wrap="square" lIns="0" rIns="0" tIns="0" bIns="0" anchor="t">
            <a:spAutoFit/>
          </a:bodyPr>
          <a:lstStyle/>
          <a:p>
            <a:pPr algn="ctr"/>
            <a:r>
              <a:rPr sz="1100" b="0" i="0">
                <a:solidFill>
                  <a:srgbClr val="1B2A41"/>
                </a:solidFill>
                <a:latin typeface="Arial"/>
              </a:rPr>
              <a:t>vừa phải</a:t>
            </a:r>
          </a:p>
        </p:txBody>
      </p:sp>
      <p:sp>
        <p:nvSpPr>
          <p:cNvPr id="20" name="Oval 19"/>
          <p:cNvSpPr/>
          <p:nvPr/>
        </p:nvSpPr>
        <p:spPr>
          <a:xfrm>
            <a:off x="10821924" y="391668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204704" y="4136136"/>
            <a:ext cx="1399032" cy="274320"/>
          </a:xfrm>
          <a:prstGeom prst="rect">
            <a:avLst/>
          </a:prstGeom>
          <a:noFill/>
        </p:spPr>
        <p:txBody>
          <a:bodyPr wrap="square" lIns="0" rIns="0" tIns="0" bIns="0" anchor="t">
            <a:spAutoFit/>
          </a:bodyPr>
          <a:lstStyle/>
          <a:p>
            <a:pPr algn="ctr"/>
            <a:r>
              <a:rPr sz="1400" b="1" i="0">
                <a:solidFill>
                  <a:srgbClr val="0F8B8D"/>
                </a:solidFill>
                <a:latin typeface="Arial"/>
              </a:rPr>
              <a:t>1</a:t>
            </a:r>
          </a:p>
        </p:txBody>
      </p:sp>
      <p:sp>
        <p:nvSpPr>
          <p:cNvPr id="22" name="TextBox 21"/>
          <p:cNvSpPr txBox="1"/>
          <p:nvPr/>
        </p:nvSpPr>
        <p:spPr>
          <a:xfrm>
            <a:off x="10204704" y="4410456"/>
            <a:ext cx="1399032" cy="548640"/>
          </a:xfrm>
          <a:prstGeom prst="rect">
            <a:avLst/>
          </a:prstGeom>
          <a:noFill/>
        </p:spPr>
        <p:txBody>
          <a:bodyPr wrap="square" lIns="0" rIns="0" tIns="0" bIns="0" anchor="t">
            <a:spAutoFit/>
          </a:bodyPr>
          <a:lstStyle/>
          <a:p>
            <a:pPr algn="ctr"/>
            <a:r>
              <a:rPr sz="1100" b="0" i="0">
                <a:solidFill>
                  <a:srgbClr val="1B2A41"/>
                </a:solidFill>
                <a:latin typeface="Arial"/>
              </a:rPr>
              <a:t>mùa vụ lấn át nhiễu</a:t>
            </a:r>
          </a:p>
        </p:txBody>
      </p:sp>
      <p:sp>
        <p:nvSpPr>
          <p:cNvPr id="23" name="TextBox 22"/>
          <p:cNvSpPr txBox="1"/>
          <p:nvPr/>
        </p:nvSpPr>
        <p:spPr>
          <a:xfrm>
            <a:off x="7223760" y="5017008"/>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24" name="TextBox 23"/>
          <p:cNvSpPr txBox="1"/>
          <p:nvPr/>
        </p:nvSpPr>
        <p:spPr>
          <a:xfrm>
            <a:off x="7223760" y="5337047"/>
            <a:ext cx="4416552" cy="1127760"/>
          </a:xfrm>
          <a:prstGeom prst="rect">
            <a:avLst/>
          </a:prstGeom>
          <a:noFill/>
        </p:spPr>
        <p:txBody>
          <a:bodyPr wrap="square" lIns="0" rIns="0" tIns="0" bIns="0" anchor="t">
            <a:spAutoFit/>
          </a:bodyPr>
          <a:lstStyle/>
          <a:p>
            <a:pPr algn="l"/>
            <a:r>
              <a:rPr sz="1500" b="0" i="0">
                <a:solidFill>
                  <a:srgbClr val="1B2A41"/>
                </a:solidFill>
                <a:latin typeface="Arial"/>
              </a:rPr>
              <a:t>PJM 2024, mùa vụ 24 giờ: 0,618 nếu phân rã cổ điển, 0,829 nếu MSTL. Vì vậy luôn ghi kèm tên cách phân rã.</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Robust: bớt tin điểm có phần dư quá lớn</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6</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robust decomposition · robustness weights (bisquare)</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Một giờ báo 56.260 MW giữa hai giờ khoảng 95.000 MW. Lỗi đó có kéo méo cả mùa vụ không?</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Một giờ số liệu hỏng không được làm méo xu hướng và mùa vụ của cả tuần.</a:t>
            </a:r>
          </a:p>
        </p:txBody>
      </p:sp>
      <p:sp>
        <p:nvSpPr>
          <p:cNvPr id="8" name="Rounded Rectangle 7"/>
          <p:cNvSpPr/>
          <p:nvPr/>
        </p:nvSpPr>
        <p:spPr>
          <a:xfrm>
            <a:off x="548640" y="2432303"/>
            <a:ext cx="6309360"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ff171103745.png"/>
          <p:cNvPicPr>
            <a:picLocks noChangeAspect="1"/>
          </p:cNvPicPr>
          <p:nvPr/>
        </p:nvPicPr>
        <p:blipFill>
          <a:blip r:embed="rId2"/>
          <a:stretch>
            <a:fillRect/>
          </a:stretch>
        </p:blipFill>
        <p:spPr>
          <a:xfrm>
            <a:off x="640080" y="2587455"/>
            <a:ext cx="6126480" cy="348065"/>
          </a:xfrm>
          <a:prstGeom prst="rect">
            <a:avLst/>
          </a:prstGeom>
        </p:spPr>
      </p:pic>
      <p:pic>
        <p:nvPicPr>
          <p:cNvPr id="10" name="Picture 9" descr="robust.png"/>
          <p:cNvPicPr>
            <a:picLocks noChangeAspect="1"/>
          </p:cNvPicPr>
          <p:nvPr/>
        </p:nvPicPr>
        <p:blipFill>
          <a:blip r:embed="rId3"/>
          <a:stretch>
            <a:fillRect/>
          </a:stretch>
        </p:blipFill>
        <p:spPr>
          <a:xfrm>
            <a:off x="1149547" y="3182112"/>
            <a:ext cx="5107544" cy="3310127"/>
          </a:xfrm>
          <a:prstGeom prst="rect">
            <a:avLst/>
          </a:prstGeom>
        </p:spPr>
      </p:pic>
      <p:sp>
        <p:nvSpPr>
          <p:cNvPr id="11" name="TextBox 10"/>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2" name="TextBox 11"/>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Phân rã hai lượt. Lượt sau cho điểm có phần dư lớn trọng số nhỏ, tới 0. Điểm không bị xoá mà nằm lại trong phần dư.</a:t>
            </a:r>
          </a:p>
        </p:txBody>
      </p:sp>
      <p:sp>
        <p:nvSpPr>
          <p:cNvPr id="13" name="TextBox 12"/>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0F8B8D"/>
                </a:solidFill>
                <a:latin typeface="Arial"/>
              </a:rPr>
              <a:t>Cứu được gì</a:t>
            </a:r>
          </a:p>
        </p:txBody>
      </p:sp>
      <p:cxnSp>
        <p:nvCxnSpPr>
          <p:cNvPr id="14" name="Connector 13"/>
          <p:cNvCxnSpPr/>
          <p:nvPr/>
        </p:nvCxnSpPr>
        <p:spPr>
          <a:xfrm>
            <a:off x="8327898" y="4242816"/>
            <a:ext cx="2208276"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8245602"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60336" y="4379976"/>
            <a:ext cx="2135124" cy="274320"/>
          </a:xfrm>
          <a:prstGeom prst="rect">
            <a:avLst/>
          </a:prstGeom>
          <a:noFill/>
        </p:spPr>
        <p:txBody>
          <a:bodyPr wrap="square" lIns="0" rIns="0" tIns="0" bIns="0" anchor="t">
            <a:spAutoFit/>
          </a:bodyPr>
          <a:lstStyle/>
          <a:p>
            <a:pPr algn="ctr"/>
            <a:r>
              <a:rPr sz="1200" b="1" i="0">
                <a:solidFill>
                  <a:srgbClr val="0F8B8D"/>
                </a:solidFill>
                <a:latin typeface="Arial"/>
              </a:rPr>
              <a:t>một giờ hỏng</a:t>
            </a:r>
          </a:p>
        </p:txBody>
      </p:sp>
      <p:sp>
        <p:nvSpPr>
          <p:cNvPr id="17" name="TextBox 16"/>
          <p:cNvSpPr txBox="1"/>
          <p:nvPr/>
        </p:nvSpPr>
        <p:spPr>
          <a:xfrm>
            <a:off x="7260336" y="4654296"/>
            <a:ext cx="2135124" cy="548640"/>
          </a:xfrm>
          <a:prstGeom prst="rect">
            <a:avLst/>
          </a:prstGeom>
          <a:noFill/>
        </p:spPr>
        <p:txBody>
          <a:bodyPr wrap="square" lIns="0" rIns="0" tIns="0" bIns="0" anchor="t">
            <a:spAutoFit/>
          </a:bodyPr>
          <a:lstStyle/>
          <a:p>
            <a:pPr algn="ctr"/>
            <a:r>
              <a:rPr sz="1100" b="0" i="0">
                <a:solidFill>
                  <a:srgbClr val="1B2A41"/>
                </a:solidFill>
                <a:latin typeface="Arial"/>
              </a:rPr>
              <a:t>cứu được: lỗi nằm gọn trong phần dư</a:t>
            </a:r>
          </a:p>
        </p:txBody>
      </p:sp>
      <p:sp>
        <p:nvSpPr>
          <p:cNvPr id="18" name="Oval 17"/>
          <p:cNvSpPr/>
          <p:nvPr/>
        </p:nvSpPr>
        <p:spPr>
          <a:xfrm>
            <a:off x="10453878"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68612" y="4379976"/>
            <a:ext cx="2135124" cy="274320"/>
          </a:xfrm>
          <a:prstGeom prst="rect">
            <a:avLst/>
          </a:prstGeom>
          <a:noFill/>
        </p:spPr>
        <p:txBody>
          <a:bodyPr wrap="square" lIns="0" rIns="0" tIns="0" bIns="0" anchor="t">
            <a:spAutoFit/>
          </a:bodyPr>
          <a:lstStyle/>
          <a:p>
            <a:pPr algn="ctr"/>
            <a:r>
              <a:rPr sz="1200" b="1" i="0">
                <a:solidFill>
                  <a:srgbClr val="0F8B8D"/>
                </a:solidFill>
                <a:latin typeface="Arial"/>
              </a:rPr>
              <a:t>đợt nóng nhiều ngày</a:t>
            </a:r>
          </a:p>
        </p:txBody>
      </p:sp>
      <p:sp>
        <p:nvSpPr>
          <p:cNvPr id="20" name="TextBox 19"/>
          <p:cNvSpPr txBox="1"/>
          <p:nvPr/>
        </p:nvSpPr>
        <p:spPr>
          <a:xfrm>
            <a:off x="9468612" y="4654296"/>
            <a:ext cx="2135124" cy="548640"/>
          </a:xfrm>
          <a:prstGeom prst="rect">
            <a:avLst/>
          </a:prstGeom>
          <a:noFill/>
        </p:spPr>
        <p:txBody>
          <a:bodyPr wrap="square" lIns="0" rIns="0" tIns="0" bIns="0" anchor="t">
            <a:spAutoFit/>
          </a:bodyPr>
          <a:lstStyle/>
          <a:p>
            <a:pPr algn="ctr"/>
            <a:r>
              <a:rPr sz="1100" b="0" i="0">
                <a:solidFill>
                  <a:srgbClr val="1B2A41"/>
                </a:solidFill>
                <a:latin typeface="Arial"/>
              </a:rPr>
              <a:t>không cứu được: cần biến nhiệt độ</a:t>
            </a:r>
          </a:p>
        </p:txBody>
      </p:sp>
      <p:sp>
        <p:nvSpPr>
          <p:cNvPr id="21" name="TextBox 20"/>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22" name="TextBox 21"/>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PJM, 17:00 UTC ngày 20/11 (không có lỗi): mùa vụ ngày −4.051 MW khi không robust, +2.117 MW khi robust.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Mô hình AR: một phần hôm qua cộng nhiễu</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2, 7</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autoregressive model AR(1) · coefficient ρ (φ)</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Có một mô hình nhỏ để hiểu tự tương quan, PACF, tính dừng và prewhitening.</a:t>
            </a:r>
          </a:p>
        </p:txBody>
      </p:sp>
      <p:sp>
        <p:nvSpPr>
          <p:cNvPr id="7" name="Rounded Rectangle 6"/>
          <p:cNvSpPr/>
          <p:nvPr/>
        </p:nvSpPr>
        <p:spPr>
          <a:xfrm>
            <a:off x="548640" y="2066543"/>
            <a:ext cx="6309360"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011c50febc70.png"/>
          <p:cNvPicPr>
            <a:picLocks noChangeAspect="1"/>
          </p:cNvPicPr>
          <p:nvPr/>
        </p:nvPicPr>
        <p:blipFill>
          <a:blip r:embed="rId2"/>
          <a:stretch>
            <a:fillRect/>
          </a:stretch>
        </p:blipFill>
        <p:spPr>
          <a:xfrm>
            <a:off x="2788920" y="2281427"/>
            <a:ext cx="1828800" cy="228600"/>
          </a:xfrm>
          <a:prstGeom prst="rect">
            <a:avLst/>
          </a:prstGeom>
        </p:spPr>
      </p:pic>
      <p:pic>
        <p:nvPicPr>
          <p:cNvPr id="9" name="Picture 8" descr="kn-tu-tuong-quan.png"/>
          <p:cNvPicPr>
            <a:picLocks noChangeAspect="1"/>
          </p:cNvPicPr>
          <p:nvPr/>
        </p:nvPicPr>
        <p:blipFill>
          <a:blip r:embed="rId3"/>
          <a:stretch>
            <a:fillRect/>
          </a:stretch>
        </p:blipFill>
        <p:spPr>
          <a:xfrm>
            <a:off x="548640" y="3012270"/>
            <a:ext cx="6309360" cy="3284051"/>
          </a:xfrm>
          <a:prstGeom prst="rect">
            <a:avLst/>
          </a:prstGeom>
        </p:spPr>
      </p:pic>
      <p:sp>
        <p:nvSpPr>
          <p:cNvPr id="10" name="TextBox 9"/>
          <p:cNvSpPr txBox="1"/>
          <p:nvPr/>
        </p:nvSpPr>
        <p:spPr>
          <a:xfrm>
            <a:off x="7223760" y="206654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1" name="TextBox 10"/>
          <p:cNvSpPr txBox="1"/>
          <p:nvPr/>
        </p:nvSpPr>
        <p:spPr>
          <a:xfrm>
            <a:off x="7223760" y="2386584"/>
            <a:ext cx="4416552" cy="1127760"/>
          </a:xfrm>
          <a:prstGeom prst="rect">
            <a:avLst/>
          </a:prstGeom>
          <a:noFill/>
        </p:spPr>
        <p:txBody>
          <a:bodyPr wrap="square" lIns="0" rIns="0" tIns="0" bIns="0" anchor="t">
            <a:spAutoFit/>
          </a:bodyPr>
          <a:lstStyle/>
          <a:p>
            <a:pPr algn="l"/>
            <a:r>
              <a:rPr sz="1500" b="0" i="0">
                <a:solidFill>
                  <a:srgbClr val="1B2A41"/>
                </a:solidFill>
                <a:latin typeface="Arial"/>
              </a:rPr>
              <a:t>AR(1): giá trị mới = ρ × giá trị cũ + một phần ngẫu nhiên. AR(p) dùng p bước trước. ρ (hay φ) là hệ số, từ −1 tới 1.</a:t>
            </a:r>
          </a:p>
        </p:txBody>
      </p:sp>
      <p:sp>
        <p:nvSpPr>
          <p:cNvPr id="12" name="TextBox 11"/>
          <p:cNvSpPr txBox="1"/>
          <p:nvPr/>
        </p:nvSpPr>
        <p:spPr>
          <a:xfrm>
            <a:off x="7223760" y="3541775"/>
            <a:ext cx="4416552" cy="274320"/>
          </a:xfrm>
          <a:prstGeom prst="rect">
            <a:avLst/>
          </a:prstGeom>
          <a:noFill/>
        </p:spPr>
        <p:txBody>
          <a:bodyPr wrap="square" lIns="0" rIns="0" tIns="0" bIns="0" anchor="t">
            <a:spAutoFit/>
          </a:bodyPr>
          <a:lstStyle/>
          <a:p>
            <a:pPr algn="l"/>
            <a:r>
              <a:rPr sz="1400" b="1" i="0">
                <a:solidFill>
                  <a:srgbClr val="0F8B8D"/>
                </a:solidFill>
                <a:latin typeface="Arial"/>
              </a:rPr>
              <a:t>ρ lớn hay nhỏ nghĩa là gì</a:t>
            </a:r>
          </a:p>
        </p:txBody>
      </p:sp>
      <p:cxnSp>
        <p:nvCxnSpPr>
          <p:cNvPr id="13" name="Connector 12"/>
          <p:cNvCxnSpPr/>
          <p:nvPr/>
        </p:nvCxnSpPr>
        <p:spPr>
          <a:xfrm>
            <a:off x="7959852" y="3998975"/>
            <a:ext cx="2944368"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7877556" y="391668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60336" y="4136136"/>
            <a:ext cx="1399032" cy="274320"/>
          </a:xfrm>
          <a:prstGeom prst="rect">
            <a:avLst/>
          </a:prstGeom>
          <a:noFill/>
        </p:spPr>
        <p:txBody>
          <a:bodyPr wrap="square" lIns="0" rIns="0" tIns="0" bIns="0" anchor="t">
            <a:spAutoFit/>
          </a:bodyPr>
          <a:lstStyle/>
          <a:p>
            <a:pPr algn="ctr"/>
            <a:r>
              <a:rPr sz="1400" b="1" i="0">
                <a:solidFill>
                  <a:srgbClr val="0F8B8D"/>
                </a:solidFill>
                <a:latin typeface="Arial"/>
              </a:rPr>
              <a:t>ρ = 0</a:t>
            </a:r>
          </a:p>
        </p:txBody>
      </p:sp>
      <p:sp>
        <p:nvSpPr>
          <p:cNvPr id="16" name="TextBox 15"/>
          <p:cNvSpPr txBox="1"/>
          <p:nvPr/>
        </p:nvSpPr>
        <p:spPr>
          <a:xfrm>
            <a:off x="7260336" y="4410456"/>
            <a:ext cx="1399032" cy="548640"/>
          </a:xfrm>
          <a:prstGeom prst="rect">
            <a:avLst/>
          </a:prstGeom>
          <a:noFill/>
        </p:spPr>
        <p:txBody>
          <a:bodyPr wrap="square" lIns="0" rIns="0" tIns="0" bIns="0" anchor="t">
            <a:spAutoFit/>
          </a:bodyPr>
          <a:lstStyle/>
          <a:p>
            <a:pPr algn="ctr"/>
            <a:r>
              <a:rPr sz="1100" b="0" i="0">
                <a:solidFill>
                  <a:srgbClr val="1B2A41"/>
                </a:solidFill>
                <a:latin typeface="Arial"/>
              </a:rPr>
              <a:t>nhiễu trắng, không nhớ gì</a:t>
            </a:r>
          </a:p>
        </p:txBody>
      </p:sp>
      <p:sp>
        <p:nvSpPr>
          <p:cNvPr id="17" name="Oval 16"/>
          <p:cNvSpPr/>
          <p:nvPr/>
        </p:nvSpPr>
        <p:spPr>
          <a:xfrm>
            <a:off x="9349740" y="391668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32519" y="4136136"/>
            <a:ext cx="1399032" cy="274320"/>
          </a:xfrm>
          <a:prstGeom prst="rect">
            <a:avLst/>
          </a:prstGeom>
          <a:noFill/>
        </p:spPr>
        <p:txBody>
          <a:bodyPr wrap="square" lIns="0" rIns="0" tIns="0" bIns="0" anchor="t">
            <a:spAutoFit/>
          </a:bodyPr>
          <a:lstStyle/>
          <a:p>
            <a:pPr algn="ctr"/>
            <a:r>
              <a:rPr sz="1400" b="1" i="0">
                <a:solidFill>
                  <a:srgbClr val="0F8B8D"/>
                </a:solidFill>
                <a:latin typeface="Arial"/>
              </a:rPr>
              <a:t>ρ = 0,7</a:t>
            </a:r>
          </a:p>
        </p:txBody>
      </p:sp>
      <p:sp>
        <p:nvSpPr>
          <p:cNvPr id="19" name="TextBox 18"/>
          <p:cNvSpPr txBox="1"/>
          <p:nvPr/>
        </p:nvSpPr>
        <p:spPr>
          <a:xfrm>
            <a:off x="8732519" y="4410456"/>
            <a:ext cx="1399032" cy="548640"/>
          </a:xfrm>
          <a:prstGeom prst="rect">
            <a:avLst/>
          </a:prstGeom>
          <a:noFill/>
        </p:spPr>
        <p:txBody>
          <a:bodyPr wrap="square" lIns="0" rIns="0" tIns="0" bIns="0" anchor="t">
            <a:spAutoFit/>
          </a:bodyPr>
          <a:lstStyle/>
          <a:p>
            <a:pPr algn="ctr"/>
            <a:r>
              <a:rPr sz="1100" b="0" i="0">
                <a:solidFill>
                  <a:srgbClr val="1B2A41"/>
                </a:solidFill>
                <a:latin typeface="Arial"/>
              </a:rPr>
              <a:t>nhớ, rồi kéo về mức: dừng</a:t>
            </a:r>
          </a:p>
        </p:txBody>
      </p:sp>
      <p:sp>
        <p:nvSpPr>
          <p:cNvPr id="20" name="Oval 19"/>
          <p:cNvSpPr/>
          <p:nvPr/>
        </p:nvSpPr>
        <p:spPr>
          <a:xfrm>
            <a:off x="10821924" y="391668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204704" y="4136136"/>
            <a:ext cx="1399032" cy="274320"/>
          </a:xfrm>
          <a:prstGeom prst="rect">
            <a:avLst/>
          </a:prstGeom>
          <a:noFill/>
        </p:spPr>
        <p:txBody>
          <a:bodyPr wrap="square" lIns="0" rIns="0" tIns="0" bIns="0" anchor="t">
            <a:spAutoFit/>
          </a:bodyPr>
          <a:lstStyle/>
          <a:p>
            <a:pPr algn="ctr"/>
            <a:r>
              <a:rPr sz="1400" b="1" i="0">
                <a:solidFill>
                  <a:srgbClr val="0F8B8D"/>
                </a:solidFill>
                <a:latin typeface="Arial"/>
              </a:rPr>
              <a:t>ρ = 1</a:t>
            </a:r>
          </a:p>
        </p:txBody>
      </p:sp>
      <p:sp>
        <p:nvSpPr>
          <p:cNvPr id="22" name="TextBox 21"/>
          <p:cNvSpPr txBox="1"/>
          <p:nvPr/>
        </p:nvSpPr>
        <p:spPr>
          <a:xfrm>
            <a:off x="10204704" y="4410456"/>
            <a:ext cx="1399032" cy="548640"/>
          </a:xfrm>
          <a:prstGeom prst="rect">
            <a:avLst/>
          </a:prstGeom>
          <a:noFill/>
        </p:spPr>
        <p:txBody>
          <a:bodyPr wrap="square" lIns="0" rIns="0" tIns="0" bIns="0" anchor="t">
            <a:spAutoFit/>
          </a:bodyPr>
          <a:lstStyle/>
          <a:p>
            <a:pPr algn="ctr"/>
            <a:r>
              <a:rPr sz="1100" b="0" i="0">
                <a:solidFill>
                  <a:srgbClr val="1B2A41"/>
                </a:solidFill>
                <a:latin typeface="Arial"/>
              </a:rPr>
              <a:t>random walk, không quay về</a:t>
            </a:r>
          </a:p>
        </p:txBody>
      </p:sp>
      <p:sp>
        <p:nvSpPr>
          <p:cNvPr id="23" name="TextBox 22"/>
          <p:cNvSpPr txBox="1"/>
          <p:nvPr/>
        </p:nvSpPr>
        <p:spPr>
          <a:xfrm>
            <a:off x="7223760" y="5017008"/>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24" name="TextBox 23"/>
          <p:cNvSpPr txBox="1"/>
          <p:nvPr/>
        </p:nvSpPr>
        <p:spPr>
          <a:xfrm>
            <a:off x="7223760" y="5337047"/>
            <a:ext cx="4416552" cy="1127760"/>
          </a:xfrm>
          <a:prstGeom prst="rect">
            <a:avLst/>
          </a:prstGeom>
          <a:noFill/>
        </p:spPr>
        <p:txBody>
          <a:bodyPr wrap="square" lIns="0" rIns="0" tIns="0" bIns="0" anchor="t">
            <a:spAutoFit/>
          </a:bodyPr>
          <a:lstStyle/>
          <a:p>
            <a:pPr algn="l"/>
            <a:r>
              <a:rPr sz="1500" b="0" i="0">
                <a:solidFill>
                  <a:srgbClr val="1B2A41"/>
                </a:solidFill>
                <a:latin typeface="Arial"/>
              </a:rPr>
              <a:t>Trung bình 0, đang ở 10, ρ = 0,7: kỳ vọng bước sau 7, rồi 4,9, dần về 0. ρ = 1: kỳ vọng mãi là 10.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PACF: trễ xa còn thêm gì sau trễ gần?</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7</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partial autocorrelation function (PACF) · AR(1)</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Biết cần bao nhiêu bước quá khứ để dự báo, tức bậc AR.</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0F8B8D"/>
                </a:solidFill>
                <a:latin typeface="Arial"/>
              </a:rPr>
              <a:t>“Sau khi biết quá khứ gần, quá khứ xa còn thông tin gì?”</a:t>
            </a:r>
          </a:p>
        </p:txBody>
      </p:sp>
      <p:sp>
        <p:nvSpPr>
          <p:cNvPr id="8" name="Rounded Rectangle 7"/>
          <p:cNvSpPr/>
          <p:nvPr/>
        </p:nvSpPr>
        <p:spPr>
          <a:xfrm>
            <a:off x="548640" y="2450591"/>
            <a:ext cx="6309360"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99098aae50aa.png"/>
          <p:cNvPicPr>
            <a:picLocks noChangeAspect="1"/>
          </p:cNvPicPr>
          <p:nvPr/>
        </p:nvPicPr>
        <p:blipFill>
          <a:blip r:embed="rId2"/>
          <a:stretch>
            <a:fillRect/>
          </a:stretch>
        </p:blipFill>
        <p:spPr>
          <a:xfrm>
            <a:off x="3055620" y="2526792"/>
            <a:ext cx="1295400" cy="505968"/>
          </a:xfrm>
          <a:prstGeom prst="rect">
            <a:avLst/>
          </a:prstGeom>
        </p:spPr>
      </p:pic>
      <p:pic>
        <p:nvPicPr>
          <p:cNvPr id="10" name="Picture 9" descr="bon-chuoi.png"/>
          <p:cNvPicPr>
            <a:picLocks noChangeAspect="1"/>
          </p:cNvPicPr>
          <p:nvPr/>
        </p:nvPicPr>
        <p:blipFill>
          <a:blip r:embed="rId3"/>
          <a:stretch>
            <a:fillRect/>
          </a:stretch>
        </p:blipFill>
        <p:spPr>
          <a:xfrm>
            <a:off x="1860632" y="3200399"/>
            <a:ext cx="3685375" cy="3291840"/>
          </a:xfrm>
          <a:prstGeom prst="rect">
            <a:avLst/>
          </a:prstGeom>
        </p:spPr>
      </p:pic>
      <p:sp>
        <p:nvSpPr>
          <p:cNvPr id="11" name="TextBox 10"/>
          <p:cNvSpPr txBox="1"/>
          <p:nvPr/>
        </p:nvSpPr>
        <p:spPr>
          <a:xfrm>
            <a:off x="7223760" y="2450591"/>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2" name="TextBox 11"/>
          <p:cNvSpPr txBox="1"/>
          <p:nvPr/>
        </p:nvSpPr>
        <p:spPr>
          <a:xfrm>
            <a:off x="7223760" y="2770632"/>
            <a:ext cx="4416552" cy="999743"/>
          </a:xfrm>
          <a:prstGeom prst="rect">
            <a:avLst/>
          </a:prstGeom>
          <a:noFill/>
        </p:spPr>
        <p:txBody>
          <a:bodyPr wrap="square" lIns="0" rIns="0" tIns="0" bIns="0" anchor="t">
            <a:spAutoFit/>
          </a:bodyPr>
          <a:lstStyle/>
          <a:p>
            <a:pPr algn="l"/>
            <a:r>
              <a:rPr sz="1500" b="0" i="0">
                <a:solidFill>
                  <a:srgbClr val="1B2A41"/>
                </a:solidFill>
                <a:latin typeface="Arial"/>
              </a:rPr>
              <a:t>PACF ở trễ k là phần tương quan còn lại sau khi đã bỏ phần mà các trễ ngắn hơn giải thích.</a:t>
            </a:r>
          </a:p>
        </p:txBody>
      </p:sp>
      <p:sp>
        <p:nvSpPr>
          <p:cNvPr id="13" name="TextBox 12"/>
          <p:cNvSpPr txBox="1"/>
          <p:nvPr/>
        </p:nvSpPr>
        <p:spPr>
          <a:xfrm>
            <a:off x="7223760" y="3797808"/>
            <a:ext cx="4416552" cy="274320"/>
          </a:xfrm>
          <a:prstGeom prst="rect">
            <a:avLst/>
          </a:prstGeom>
          <a:noFill/>
        </p:spPr>
        <p:txBody>
          <a:bodyPr wrap="square" lIns="0" rIns="0" tIns="0" bIns="0" anchor="t">
            <a:spAutoFit/>
          </a:bodyPr>
          <a:lstStyle/>
          <a:p>
            <a:pPr algn="l"/>
            <a:r>
              <a:rPr sz="1400" b="1" i="0">
                <a:solidFill>
                  <a:srgbClr val="0F8B8D"/>
                </a:solidFill>
                <a:latin typeface="Arial"/>
              </a:rPr>
              <a:t>Nhận ra thế nào</a:t>
            </a:r>
          </a:p>
        </p:txBody>
      </p:sp>
      <p:sp>
        <p:nvSpPr>
          <p:cNvPr id="14" name="TextBox 13"/>
          <p:cNvSpPr txBox="1"/>
          <p:nvPr/>
        </p:nvSpPr>
        <p:spPr>
          <a:xfrm>
            <a:off x="7223760" y="4117847"/>
            <a:ext cx="4416552" cy="999743"/>
          </a:xfrm>
          <a:prstGeom prst="rect">
            <a:avLst/>
          </a:prstGeom>
          <a:noFill/>
        </p:spPr>
        <p:txBody>
          <a:bodyPr wrap="square" lIns="0" rIns="0" tIns="0" bIns="0" anchor="t">
            <a:spAutoFit/>
          </a:bodyPr>
          <a:lstStyle/>
          <a:p>
            <a:pPr algn="l"/>
            <a:r>
              <a:rPr sz="1500" b="0" i="0">
                <a:solidFill>
                  <a:srgbClr val="1B2A41"/>
                </a:solidFill>
                <a:latin typeface="Arial"/>
              </a:rPr>
              <a:t>PACF cao ở trễ 1 rồi tắt hẳn: chỉ cần hôm qua, tức AR(1). ACF giảm rất chậm qua nhiều trễ: chuỗi chưa dừng.</a:t>
            </a:r>
          </a:p>
        </p:txBody>
      </p:sp>
      <p:sp>
        <p:nvSpPr>
          <p:cNvPr id="15" name="TextBox 14"/>
          <p:cNvSpPr txBox="1"/>
          <p:nvPr/>
        </p:nvSpPr>
        <p:spPr>
          <a:xfrm>
            <a:off x="7223760" y="5145024"/>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16" name="TextBox 15"/>
          <p:cNvSpPr txBox="1"/>
          <p:nvPr/>
        </p:nvSpPr>
        <p:spPr>
          <a:xfrm>
            <a:off x="7223760" y="5465064"/>
            <a:ext cx="4416552" cy="999743"/>
          </a:xfrm>
          <a:prstGeom prst="rect">
            <a:avLst/>
          </a:prstGeom>
          <a:noFill/>
        </p:spPr>
        <p:txBody>
          <a:bodyPr wrap="square" lIns="0" rIns="0" tIns="0" bIns="0" anchor="t">
            <a:spAutoFit/>
          </a:bodyPr>
          <a:lstStyle/>
          <a:p>
            <a:pPr algn="l"/>
            <a:r>
              <a:rPr sz="1500" b="0" i="0">
                <a:solidFill>
                  <a:srgbClr val="1B2A41"/>
                </a:solidFill>
                <a:latin typeface="Arial"/>
              </a:rPr>
              <a:t>Chuỗi AR(1) với φ = 0,7: ACF giảm dần; PACF ở trễ 1 là 0,713, ở trễ 2 chỉ còn −0,110.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Đừng đếm cột vượt dải: dùng Ljung-Box</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7, 14</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Ljung–Box test · white noise · model_df</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Dự báo xong, phần sai số còn sót quy luật nào không?</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Kiểm một chuỗi, hay phần dư của mô hình, đã hết quy luật chưa, bằng một con số.</a:t>
            </a:r>
          </a:p>
        </p:txBody>
      </p:sp>
      <p:sp>
        <p:nvSpPr>
          <p:cNvPr id="8" name="Rounded Rectangle 7"/>
          <p:cNvSpPr/>
          <p:nvPr/>
        </p:nvSpPr>
        <p:spPr>
          <a:xfrm>
            <a:off x="548640" y="2432303"/>
            <a:ext cx="11091672" cy="82600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432303"/>
            <a:ext cx="1097280" cy="826008"/>
          </a:xfrm>
          <a:prstGeom prst="rect">
            <a:avLst/>
          </a:prstGeom>
          <a:noFill/>
        </p:spPr>
        <p:txBody>
          <a:bodyPr wrap="square" lIns="0" rIns="0" tIns="0" bIns="0" anchor="ctr">
            <a:spAutoFit/>
          </a:bodyPr>
          <a:lstStyle/>
          <a:p>
            <a:pPr algn="l"/>
            <a:r>
              <a:rPr sz="1200" b="1" i="0">
                <a:solidFill>
                  <a:srgbClr val="0F8B8D"/>
                </a:solidFill>
                <a:latin typeface="Arial"/>
              </a:rPr>
              <a:t>Công thức</a:t>
            </a:r>
          </a:p>
        </p:txBody>
      </p:sp>
      <p:pic>
        <p:nvPicPr>
          <p:cNvPr id="10" name="Picture 9" descr="25492fc6d284.png"/>
          <p:cNvPicPr>
            <a:picLocks noChangeAspect="1"/>
          </p:cNvPicPr>
          <p:nvPr/>
        </p:nvPicPr>
        <p:blipFill>
          <a:blip r:embed="rId2"/>
          <a:stretch>
            <a:fillRect/>
          </a:stretch>
        </p:blipFill>
        <p:spPr>
          <a:xfrm>
            <a:off x="1783080" y="2496311"/>
            <a:ext cx="2575560" cy="697992"/>
          </a:xfrm>
          <a:prstGeom prst="rect">
            <a:avLst/>
          </a:prstGeom>
        </p:spPr>
      </p:pic>
      <p:sp>
        <p:nvSpPr>
          <p:cNvPr id="11" name="TextBox 10"/>
          <p:cNvSpPr txBox="1"/>
          <p:nvPr/>
        </p:nvSpPr>
        <p:spPr>
          <a:xfrm>
            <a:off x="5602071" y="2432303"/>
            <a:ext cx="5901080" cy="826008"/>
          </a:xfrm>
          <a:prstGeom prst="rect">
            <a:avLst/>
          </a:prstGeom>
          <a:noFill/>
        </p:spPr>
        <p:txBody>
          <a:bodyPr wrap="square" lIns="0" rIns="0" tIns="0" bIns="0" anchor="ctr">
            <a:spAutoFit/>
          </a:bodyPr>
          <a:lstStyle/>
          <a:p>
            <a:pPr algn="l"/>
            <a:r>
              <a:rPr sz="1150" b="0" i="0">
                <a:solidFill>
                  <a:srgbClr val="1B2A41"/>
                </a:solidFill>
                <a:latin typeface="Arial"/>
              </a:rPr>
              <a:t>Gộp bình phương ACF của ℓ trễ đầu. Q* lớn thì p nhỏ: còn quy luật.</a:t>
            </a:r>
          </a:p>
        </p:txBody>
      </p:sp>
      <p:pic>
        <p:nvPicPr>
          <p:cNvPr id="12" name="Picture 11" descr="nhieu-trang.png"/>
          <p:cNvPicPr>
            <a:picLocks noChangeAspect="1"/>
          </p:cNvPicPr>
          <p:nvPr/>
        </p:nvPicPr>
        <p:blipFill>
          <a:blip r:embed="rId3"/>
          <a:stretch>
            <a:fillRect/>
          </a:stretch>
        </p:blipFill>
        <p:spPr>
          <a:xfrm>
            <a:off x="3767168" y="3349752"/>
            <a:ext cx="4654614" cy="1588008"/>
          </a:xfrm>
          <a:prstGeom prst="rect">
            <a:avLst/>
          </a:prstGeom>
        </p:spPr>
      </p:pic>
      <p:sp>
        <p:nvSpPr>
          <p:cNvPr id="13" name="Rounded Rectangle 12"/>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5" name="TextBox 14"/>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Ljung-Box gộp ACF của nhiều trễ vào một kiểm định, với giả định ban đầu H0 là chuỗi chỉ là nhiễu trắng.</a:t>
            </a:r>
          </a:p>
        </p:txBody>
      </p:sp>
      <p:sp>
        <p:nvSpPr>
          <p:cNvPr id="16" name="Rounded Rectangle 15"/>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p lớn hay nhỏ nghĩa là gì</a:t>
            </a:r>
          </a:p>
        </p:txBody>
      </p:sp>
      <p:sp>
        <p:nvSpPr>
          <p:cNvPr id="18" name="TextBox 17"/>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600" b="0" i="0">
                <a:solidFill>
                  <a:srgbClr val="1B2A41"/>
                </a:solidFill>
                <a:latin typeface="Arial"/>
              </a:rPr>
              <a:t/>
            </a:r>
          </a:p>
        </p:txBody>
      </p:sp>
      <p:cxnSp>
        <p:nvCxnSpPr>
          <p:cNvPr id="19" name="Connector 18"/>
          <p:cNvCxnSpPr/>
          <p:nvPr/>
        </p:nvCxnSpPr>
        <p:spPr>
          <a:xfrm>
            <a:off x="5246370" y="5532120"/>
            <a:ext cx="1696211"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5164074"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34840" y="5669280"/>
            <a:ext cx="1623060" cy="274320"/>
          </a:xfrm>
          <a:prstGeom prst="rect">
            <a:avLst/>
          </a:prstGeom>
          <a:noFill/>
        </p:spPr>
        <p:txBody>
          <a:bodyPr wrap="square" lIns="0" rIns="0" tIns="0" bIns="0" anchor="t">
            <a:spAutoFit/>
          </a:bodyPr>
          <a:lstStyle/>
          <a:p>
            <a:pPr algn="ctr"/>
            <a:r>
              <a:rPr sz="1400" b="1" i="0">
                <a:solidFill>
                  <a:srgbClr val="0F8B8D"/>
                </a:solidFill>
                <a:latin typeface="Arial"/>
              </a:rPr>
              <a:t>p &lt; 0,05</a:t>
            </a:r>
          </a:p>
        </p:txBody>
      </p:sp>
      <p:sp>
        <p:nvSpPr>
          <p:cNvPr id="22" name="TextBox 21"/>
          <p:cNvSpPr txBox="1"/>
          <p:nvPr/>
        </p:nvSpPr>
        <p:spPr>
          <a:xfrm>
            <a:off x="4434840" y="5943600"/>
            <a:ext cx="1623060" cy="548640"/>
          </a:xfrm>
          <a:prstGeom prst="rect">
            <a:avLst/>
          </a:prstGeom>
          <a:noFill/>
        </p:spPr>
        <p:txBody>
          <a:bodyPr wrap="square" lIns="0" rIns="0" tIns="0" bIns="0" anchor="t">
            <a:spAutoFit/>
          </a:bodyPr>
          <a:lstStyle/>
          <a:p>
            <a:pPr algn="ctr"/>
            <a:r>
              <a:rPr sz="1100" b="0" i="0">
                <a:solidFill>
                  <a:srgbClr val="1B2A41"/>
                </a:solidFill>
                <a:latin typeface="Arial"/>
              </a:rPr>
              <a:t>còn quy luật chưa khai thác</a:t>
            </a:r>
          </a:p>
        </p:txBody>
      </p:sp>
      <p:sp>
        <p:nvSpPr>
          <p:cNvPr id="23" name="Oval 22"/>
          <p:cNvSpPr/>
          <p:nvPr/>
        </p:nvSpPr>
        <p:spPr>
          <a:xfrm>
            <a:off x="6860286"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31051" y="5669280"/>
            <a:ext cx="1623060" cy="274320"/>
          </a:xfrm>
          <a:prstGeom prst="rect">
            <a:avLst/>
          </a:prstGeom>
          <a:noFill/>
        </p:spPr>
        <p:txBody>
          <a:bodyPr wrap="square" lIns="0" rIns="0" tIns="0" bIns="0" anchor="t">
            <a:spAutoFit/>
          </a:bodyPr>
          <a:lstStyle/>
          <a:p>
            <a:pPr algn="ctr"/>
            <a:r>
              <a:rPr sz="1400" b="1" i="0">
                <a:solidFill>
                  <a:srgbClr val="0F8B8D"/>
                </a:solidFill>
                <a:latin typeface="Arial"/>
              </a:rPr>
              <a:t>p ≥ 0,05</a:t>
            </a:r>
          </a:p>
        </p:txBody>
      </p:sp>
      <p:sp>
        <p:nvSpPr>
          <p:cNvPr id="25" name="TextBox 24"/>
          <p:cNvSpPr txBox="1"/>
          <p:nvPr/>
        </p:nvSpPr>
        <p:spPr>
          <a:xfrm>
            <a:off x="6131051" y="5943600"/>
            <a:ext cx="1623060" cy="548640"/>
          </a:xfrm>
          <a:prstGeom prst="rect">
            <a:avLst/>
          </a:prstGeom>
          <a:noFill/>
        </p:spPr>
        <p:txBody>
          <a:bodyPr wrap="square" lIns="0" rIns="0" tIns="0" bIns="0" anchor="t">
            <a:spAutoFit/>
          </a:bodyPr>
          <a:lstStyle/>
          <a:p>
            <a:pPr algn="ctr"/>
            <a:r>
              <a:rPr sz="1100" b="0" i="0">
                <a:solidFill>
                  <a:srgbClr val="1B2A41"/>
                </a:solidFill>
                <a:latin typeface="Arial"/>
              </a:rPr>
              <a:t>chưa thấy quy luật nào còn sót</a:t>
            </a:r>
          </a:p>
        </p:txBody>
      </p:sp>
      <p:sp>
        <p:nvSpPr>
          <p:cNvPr id="26" name="Rounded Rectangle 25"/>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28" name="TextBox 27"/>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1.000 chuỗi nhiễu trắng thuần: 62% vẫn có ít nhất một cột ACF vượt dải. Vì vậy đừng đếm cột.</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Q* vượt ngưỡng χ² mới là còn quy luật</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7</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Ljung–Box Q* · χ² distribution · degrees of freedom (model_df)</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Q* = 5,16 là lớn hay nhỏ? Phải so với ngưỡng nào?</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Tự tính, tự đọc con số Ljung-Box, và khai đúng bậc tự do khi kiểm sai số của mô hình.</a:t>
            </a:r>
          </a:p>
        </p:txBody>
      </p:sp>
      <p:sp>
        <p:nvSpPr>
          <p:cNvPr id="8" name="Rounded Rectangle 7"/>
          <p:cNvSpPr/>
          <p:nvPr/>
        </p:nvSpPr>
        <p:spPr>
          <a:xfrm>
            <a:off x="548640" y="2432303"/>
            <a:ext cx="6309360" cy="82600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4b31fa04932e.png"/>
          <p:cNvPicPr>
            <a:picLocks noChangeAspect="1"/>
          </p:cNvPicPr>
          <p:nvPr/>
        </p:nvPicPr>
        <p:blipFill>
          <a:blip r:embed="rId2"/>
          <a:stretch>
            <a:fillRect/>
          </a:stretch>
        </p:blipFill>
        <p:spPr>
          <a:xfrm>
            <a:off x="1030224" y="2496311"/>
            <a:ext cx="5346192" cy="697992"/>
          </a:xfrm>
          <a:prstGeom prst="rect">
            <a:avLst/>
          </a:prstGeom>
        </p:spPr>
      </p:pic>
      <p:pic>
        <p:nvPicPr>
          <p:cNvPr id="10" name="Picture 9" descr="kn-ljung-box.png"/>
          <p:cNvPicPr>
            <a:picLocks noChangeAspect="1"/>
          </p:cNvPicPr>
          <p:nvPr/>
        </p:nvPicPr>
        <p:blipFill>
          <a:blip r:embed="rId3"/>
          <a:stretch>
            <a:fillRect/>
          </a:stretch>
        </p:blipFill>
        <p:spPr>
          <a:xfrm>
            <a:off x="928476" y="3349752"/>
            <a:ext cx="5549686" cy="3142488"/>
          </a:xfrm>
          <a:prstGeom prst="rect">
            <a:avLst/>
          </a:prstGeom>
        </p:spPr>
      </p:pic>
      <p:sp>
        <p:nvSpPr>
          <p:cNvPr id="11" name="TextBox 10"/>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2" name="TextBox 11"/>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Nếu chuỗi là nhiễu trắng, Q* theo phân phối χ². Bậc tự do là số trễ gộp vào, trừ số tham số nếu kiểm sai số của một mô hình.</a:t>
            </a:r>
          </a:p>
        </p:txBody>
      </p:sp>
      <p:sp>
        <p:nvSpPr>
          <p:cNvPr id="13" name="TextBox 12"/>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0F8B8D"/>
                </a:solidFill>
                <a:latin typeface="Arial"/>
              </a:rPr>
              <a:t>Ngưỡng 5% của χ²</a:t>
            </a:r>
          </a:p>
        </p:txBody>
      </p:sp>
      <p:cxnSp>
        <p:nvCxnSpPr>
          <p:cNvPr id="14" name="Connector 13"/>
          <p:cNvCxnSpPr/>
          <p:nvPr/>
        </p:nvCxnSpPr>
        <p:spPr>
          <a:xfrm>
            <a:off x="7959852" y="4242816"/>
            <a:ext cx="2944368"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7877556"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60336" y="4379976"/>
            <a:ext cx="1399032" cy="274320"/>
          </a:xfrm>
          <a:prstGeom prst="rect">
            <a:avLst/>
          </a:prstGeom>
          <a:noFill/>
        </p:spPr>
        <p:txBody>
          <a:bodyPr wrap="square" lIns="0" rIns="0" tIns="0" bIns="0" anchor="t">
            <a:spAutoFit/>
          </a:bodyPr>
          <a:lstStyle/>
          <a:p>
            <a:pPr algn="ctr"/>
            <a:r>
              <a:rPr sz="1200" b="1" i="0">
                <a:solidFill>
                  <a:srgbClr val="0F8B8D"/>
                </a:solidFill>
                <a:latin typeface="Arial"/>
              </a:rPr>
              <a:t>2 bậc tự do</a:t>
            </a:r>
          </a:p>
        </p:txBody>
      </p:sp>
      <p:sp>
        <p:nvSpPr>
          <p:cNvPr id="17" name="TextBox 16"/>
          <p:cNvSpPr txBox="1"/>
          <p:nvPr/>
        </p:nvSpPr>
        <p:spPr>
          <a:xfrm>
            <a:off x="7260336"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5,99</a:t>
            </a:r>
          </a:p>
        </p:txBody>
      </p:sp>
      <p:sp>
        <p:nvSpPr>
          <p:cNvPr id="18" name="Oval 17"/>
          <p:cNvSpPr/>
          <p:nvPr/>
        </p:nvSpPr>
        <p:spPr>
          <a:xfrm>
            <a:off x="9349740"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32519" y="4379976"/>
            <a:ext cx="1399032" cy="274320"/>
          </a:xfrm>
          <a:prstGeom prst="rect">
            <a:avLst/>
          </a:prstGeom>
          <a:noFill/>
        </p:spPr>
        <p:txBody>
          <a:bodyPr wrap="square" lIns="0" rIns="0" tIns="0" bIns="0" anchor="t">
            <a:spAutoFit/>
          </a:bodyPr>
          <a:lstStyle/>
          <a:p>
            <a:pPr algn="ctr"/>
            <a:r>
              <a:rPr sz="1200" b="1" i="0">
                <a:solidFill>
                  <a:srgbClr val="0F8B8D"/>
                </a:solidFill>
                <a:latin typeface="Arial"/>
              </a:rPr>
              <a:t>8 bậc tự do</a:t>
            </a:r>
          </a:p>
        </p:txBody>
      </p:sp>
      <p:sp>
        <p:nvSpPr>
          <p:cNvPr id="20" name="TextBox 19"/>
          <p:cNvSpPr txBox="1"/>
          <p:nvPr/>
        </p:nvSpPr>
        <p:spPr>
          <a:xfrm>
            <a:off x="8732519"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15,51</a:t>
            </a:r>
          </a:p>
        </p:txBody>
      </p:sp>
      <p:sp>
        <p:nvSpPr>
          <p:cNvPr id="21" name="Oval 20"/>
          <p:cNvSpPr/>
          <p:nvPr/>
        </p:nvSpPr>
        <p:spPr>
          <a:xfrm>
            <a:off x="10821924"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04704" y="4379976"/>
            <a:ext cx="1399032" cy="274320"/>
          </a:xfrm>
          <a:prstGeom prst="rect">
            <a:avLst/>
          </a:prstGeom>
          <a:noFill/>
        </p:spPr>
        <p:txBody>
          <a:bodyPr wrap="square" lIns="0" rIns="0" tIns="0" bIns="0" anchor="t">
            <a:spAutoFit/>
          </a:bodyPr>
          <a:lstStyle/>
          <a:p>
            <a:pPr algn="ctr"/>
            <a:r>
              <a:rPr sz="1200" b="1" i="0">
                <a:solidFill>
                  <a:srgbClr val="0F8B8D"/>
                </a:solidFill>
                <a:latin typeface="Arial"/>
              </a:rPr>
              <a:t>10 bậc tự do</a:t>
            </a:r>
          </a:p>
        </p:txBody>
      </p:sp>
      <p:sp>
        <p:nvSpPr>
          <p:cNvPr id="23" name="TextBox 22"/>
          <p:cNvSpPr txBox="1"/>
          <p:nvPr/>
        </p:nvSpPr>
        <p:spPr>
          <a:xfrm>
            <a:off x="10204704"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18,31</a:t>
            </a:r>
          </a:p>
        </p:txBody>
      </p:sp>
      <p:sp>
        <p:nvSpPr>
          <p:cNvPr id="24" name="TextBox 23"/>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25" name="TextBox 24"/>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100 điểm, r1 = 0,2, r2 = 0,1: Q* ≈ 5,16, nhỏ hơn 5,99 nên chưa bác bỏ nhiễu trắng (p ≈ 0,076). 10 trễ, mô hình 2 tham số: 8 bậc.</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Chuỗi dừng: mức và dao động không đổi</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7</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stationarity · white noise · random walk · trend-stationary</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Mức và độ dao động của chuỗi có giữ nguyên không? Nếu không, học quá khứ khó dùng cho mai sau.</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Biết chuỗi có “mức để quay về” không, để chọn sai phân hay khử xu hướng.</a:t>
            </a:r>
          </a:p>
        </p:txBody>
      </p:sp>
      <p:sp>
        <p:nvSpPr>
          <p:cNvPr id="8" name="TextBox 7"/>
          <p:cNvSpPr txBox="1"/>
          <p:nvPr/>
        </p:nvSpPr>
        <p:spPr>
          <a:xfrm>
            <a:off x="1325880" y="2084831"/>
            <a:ext cx="10332720" cy="411480"/>
          </a:xfrm>
          <a:prstGeom prst="rect">
            <a:avLst/>
          </a:prstGeom>
          <a:noFill/>
        </p:spPr>
        <p:txBody>
          <a:bodyPr wrap="square" lIns="0" rIns="0" tIns="0" bIns="0" anchor="t">
            <a:spAutoFit/>
          </a:bodyPr>
          <a:lstStyle/>
          <a:p>
            <a:pPr algn="l"/>
            <a:r>
              <a:rPr sz="1700" b="0" i="1">
                <a:solidFill>
                  <a:srgbClr val="0F8B8D"/>
                </a:solidFill>
                <a:latin typeface="Arial"/>
              </a:rPr>
              <a:t>“Nhiễu trắng là khi quá khứ không có ‘ký ức’ gì về tương lai.”</a:t>
            </a:r>
          </a:p>
        </p:txBody>
      </p:sp>
      <p:sp>
        <p:nvSpPr>
          <p:cNvPr id="9" name="Rounded Rectangle 8"/>
          <p:cNvSpPr/>
          <p:nvPr/>
        </p:nvSpPr>
        <p:spPr>
          <a:xfrm>
            <a:off x="548640" y="2816351"/>
            <a:ext cx="6309360"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4075b285a75a.png"/>
          <p:cNvPicPr>
            <a:picLocks noChangeAspect="1"/>
          </p:cNvPicPr>
          <p:nvPr/>
        </p:nvPicPr>
        <p:blipFill>
          <a:blip r:embed="rId2"/>
          <a:stretch>
            <a:fillRect/>
          </a:stretch>
        </p:blipFill>
        <p:spPr>
          <a:xfrm>
            <a:off x="1709928" y="3012947"/>
            <a:ext cx="3986784" cy="265176"/>
          </a:xfrm>
          <a:prstGeom prst="rect">
            <a:avLst/>
          </a:prstGeom>
        </p:spPr>
      </p:pic>
      <p:pic>
        <p:nvPicPr>
          <p:cNvPr id="11" name="Picture 10" descr="kn-dung.png"/>
          <p:cNvPicPr>
            <a:picLocks noChangeAspect="1"/>
          </p:cNvPicPr>
          <p:nvPr/>
        </p:nvPicPr>
        <p:blipFill>
          <a:blip r:embed="rId3"/>
          <a:stretch>
            <a:fillRect/>
          </a:stretch>
        </p:blipFill>
        <p:spPr>
          <a:xfrm>
            <a:off x="1100796" y="3566160"/>
            <a:ext cx="5205046" cy="2926079"/>
          </a:xfrm>
          <a:prstGeom prst="rect">
            <a:avLst/>
          </a:prstGeom>
        </p:spPr>
      </p:pic>
      <p:sp>
        <p:nvSpPr>
          <p:cNvPr id="12" name="TextBox 11"/>
          <p:cNvSpPr txBox="1"/>
          <p:nvPr/>
        </p:nvSpPr>
        <p:spPr>
          <a:xfrm>
            <a:off x="7223760" y="2816351"/>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3" name="TextBox 12"/>
          <p:cNvSpPr txBox="1"/>
          <p:nvPr/>
        </p:nvSpPr>
        <p:spPr>
          <a:xfrm>
            <a:off x="7223760" y="3136391"/>
            <a:ext cx="4416552" cy="877823"/>
          </a:xfrm>
          <a:prstGeom prst="rect">
            <a:avLst/>
          </a:prstGeom>
          <a:noFill/>
        </p:spPr>
        <p:txBody>
          <a:bodyPr wrap="square" lIns="0" rIns="0" tIns="0" bIns="0" anchor="t">
            <a:spAutoFit/>
          </a:bodyPr>
          <a:lstStyle/>
          <a:p>
            <a:pPr algn="l"/>
            <a:r>
              <a:rPr sz="1500" b="0" i="0">
                <a:solidFill>
                  <a:srgbClr val="1B2A41"/>
                </a:solidFill>
                <a:latin typeface="Arial"/>
              </a:rPr>
              <a:t>Chuỗi có trung bình và độ dao động giữ nguyên theo thời gian, như luôn có một mức để quay về.</a:t>
            </a:r>
          </a:p>
        </p:txBody>
      </p:sp>
      <p:sp>
        <p:nvSpPr>
          <p:cNvPr id="14" name="TextBox 13"/>
          <p:cNvSpPr txBox="1"/>
          <p:nvPr/>
        </p:nvSpPr>
        <p:spPr>
          <a:xfrm>
            <a:off x="7223760" y="4041648"/>
            <a:ext cx="4416552" cy="274320"/>
          </a:xfrm>
          <a:prstGeom prst="rect">
            <a:avLst/>
          </a:prstGeom>
          <a:noFill/>
        </p:spPr>
        <p:txBody>
          <a:bodyPr wrap="square" lIns="0" rIns="0" tIns="0" bIns="0" anchor="t">
            <a:spAutoFit/>
          </a:bodyPr>
          <a:lstStyle/>
          <a:p>
            <a:pPr algn="l"/>
            <a:r>
              <a:rPr sz="1400" b="1" i="0">
                <a:solidFill>
                  <a:srgbClr val="0F8B8D"/>
                </a:solidFill>
                <a:latin typeface="Arial"/>
              </a:rPr>
              <a:t>Nhận ra thế nào</a:t>
            </a:r>
          </a:p>
        </p:txBody>
      </p:sp>
      <p:sp>
        <p:nvSpPr>
          <p:cNvPr id="15" name="TextBox 14"/>
          <p:cNvSpPr txBox="1"/>
          <p:nvPr/>
        </p:nvSpPr>
        <p:spPr>
          <a:xfrm>
            <a:off x="7223760" y="4361688"/>
            <a:ext cx="4416552" cy="877823"/>
          </a:xfrm>
          <a:prstGeom prst="rect">
            <a:avLst/>
          </a:prstGeom>
          <a:noFill/>
        </p:spPr>
        <p:txBody>
          <a:bodyPr wrap="square" lIns="0" rIns="0" tIns="0" bIns="0" anchor="t">
            <a:spAutoFit/>
          </a:bodyPr>
          <a:lstStyle/>
          <a:p>
            <a:pPr algn="l"/>
            <a:r>
              <a:rPr sz="1500" b="0" i="0">
                <a:solidFill>
                  <a:srgbClr val="1B2A41"/>
                </a:solidFill>
                <a:latin typeface="Arial"/>
              </a:rPr>
              <a:t>Dừng thì dao động quanh một mức. Dừng quanh xu hướng thì bám một đường. Random walk thì trôi đi, không quay về. Kiểm lại bằng ADF và KPSS.</a:t>
            </a:r>
          </a:p>
        </p:txBody>
      </p:sp>
      <p:sp>
        <p:nvSpPr>
          <p:cNvPr id="16" name="TextBox 15"/>
          <p:cNvSpPr txBox="1"/>
          <p:nvPr/>
        </p:nvSpPr>
        <p:spPr>
          <a:xfrm>
            <a:off x="7223760" y="5266944"/>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17" name="TextBox 16"/>
          <p:cNvSpPr txBox="1"/>
          <p:nvPr/>
        </p:nvSpPr>
        <p:spPr>
          <a:xfrm>
            <a:off x="7223760" y="5586983"/>
            <a:ext cx="4416552" cy="877823"/>
          </a:xfrm>
          <a:prstGeom prst="rect">
            <a:avLst/>
          </a:prstGeom>
          <a:noFill/>
        </p:spPr>
        <p:txBody>
          <a:bodyPr wrap="square" lIns="0" rIns="0" tIns="0" bIns="0" anchor="t">
            <a:spAutoFit/>
          </a:bodyPr>
          <a:lstStyle/>
          <a:p>
            <a:pPr algn="l"/>
            <a:r>
              <a:rPr sz="1500" b="0" i="0">
                <a:solidFill>
                  <a:srgbClr val="1B2A41"/>
                </a:solidFill>
                <a:latin typeface="Arial"/>
              </a:rPr>
              <a:t>Phòng máy lạnh 25 °C là dừng; chiều cao một đứa trẻ là dừng quanh xu hướng; tung đồng xu rồi bước là random walk.</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Random walk: càng lâu càng có thể đi xa</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7</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random walk · variance grows with √n · naive forecast</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Số liệu tăng vài tháng liền: có xu hướng thật, hay chỉ là các bước ngẫu nhiên cộng dồn?</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Thấy vì sao random walk không dừng, phải sai phân, và dự báo tốt nhất là giá trị cuối.</a:t>
            </a:r>
          </a:p>
        </p:txBody>
      </p:sp>
      <p:sp>
        <p:nvSpPr>
          <p:cNvPr id="8" name="Rounded Rectangle 7"/>
          <p:cNvSpPr/>
          <p:nvPr/>
        </p:nvSpPr>
        <p:spPr>
          <a:xfrm>
            <a:off x="548640" y="2432303"/>
            <a:ext cx="6309360"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734acc1a7915.png"/>
          <p:cNvPicPr>
            <a:picLocks noChangeAspect="1"/>
          </p:cNvPicPr>
          <p:nvPr/>
        </p:nvPicPr>
        <p:blipFill>
          <a:blip r:embed="rId2"/>
          <a:stretch>
            <a:fillRect/>
          </a:stretch>
        </p:blipFill>
        <p:spPr>
          <a:xfrm>
            <a:off x="640080" y="2618063"/>
            <a:ext cx="6126480" cy="286848"/>
          </a:xfrm>
          <a:prstGeom prst="rect">
            <a:avLst/>
          </a:prstGeom>
        </p:spPr>
      </p:pic>
      <p:pic>
        <p:nvPicPr>
          <p:cNvPr id="10" name="Picture 9" descr="kn-random-walk.png"/>
          <p:cNvPicPr>
            <a:picLocks noChangeAspect="1"/>
          </p:cNvPicPr>
          <p:nvPr/>
        </p:nvPicPr>
        <p:blipFill>
          <a:blip r:embed="rId3"/>
          <a:stretch>
            <a:fillRect/>
          </a:stretch>
        </p:blipFill>
        <p:spPr>
          <a:xfrm>
            <a:off x="548640" y="3244306"/>
            <a:ext cx="6309360" cy="3185738"/>
          </a:xfrm>
          <a:prstGeom prst="rect">
            <a:avLst/>
          </a:prstGeom>
        </p:spPr>
      </p:pic>
      <p:sp>
        <p:nvSpPr>
          <p:cNvPr id="11" name="TextBox 10"/>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2" name="TextBox 11"/>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Vị trí mới bằng vị trí cũ cộng một bước ngẫu nhiên. Không có mức để quay về, nên độ dao động nở ra theo căn bậc hai số bước.</a:t>
            </a:r>
          </a:p>
        </p:txBody>
      </p:sp>
      <p:sp>
        <p:nvSpPr>
          <p:cNvPr id="13" name="TextBox 12"/>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0F8B8D"/>
                </a:solidFill>
                <a:latin typeface="Arial"/>
              </a:rPr>
              <a:t>Độ lệch chuẩn vị trí, 10.000 người mô phỏng</a:t>
            </a:r>
          </a:p>
        </p:txBody>
      </p:sp>
      <p:cxnSp>
        <p:nvCxnSpPr>
          <p:cNvPr id="14" name="Connector 13"/>
          <p:cNvCxnSpPr/>
          <p:nvPr/>
        </p:nvCxnSpPr>
        <p:spPr>
          <a:xfrm>
            <a:off x="7959852" y="4242816"/>
            <a:ext cx="2944368"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7877556"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60336" y="4379976"/>
            <a:ext cx="1399032" cy="274320"/>
          </a:xfrm>
          <a:prstGeom prst="rect">
            <a:avLst/>
          </a:prstGeom>
          <a:noFill/>
        </p:spPr>
        <p:txBody>
          <a:bodyPr wrap="square" lIns="0" rIns="0" tIns="0" bIns="0" anchor="t">
            <a:spAutoFit/>
          </a:bodyPr>
          <a:lstStyle/>
          <a:p>
            <a:pPr algn="ctr"/>
            <a:r>
              <a:rPr sz="1400" b="1" i="0">
                <a:solidFill>
                  <a:srgbClr val="0F8B8D"/>
                </a:solidFill>
                <a:latin typeface="Arial"/>
              </a:rPr>
              <a:t>4 bước</a:t>
            </a:r>
          </a:p>
        </p:txBody>
      </p:sp>
      <p:sp>
        <p:nvSpPr>
          <p:cNvPr id="17" name="TextBox 16"/>
          <p:cNvSpPr txBox="1"/>
          <p:nvPr/>
        </p:nvSpPr>
        <p:spPr>
          <a:xfrm>
            <a:off x="7260336"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2,0</a:t>
            </a:r>
          </a:p>
        </p:txBody>
      </p:sp>
      <p:sp>
        <p:nvSpPr>
          <p:cNvPr id="18" name="Oval 17"/>
          <p:cNvSpPr/>
          <p:nvPr/>
        </p:nvSpPr>
        <p:spPr>
          <a:xfrm>
            <a:off x="9349740"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32519" y="4379976"/>
            <a:ext cx="1399032" cy="274320"/>
          </a:xfrm>
          <a:prstGeom prst="rect">
            <a:avLst/>
          </a:prstGeom>
          <a:noFill/>
        </p:spPr>
        <p:txBody>
          <a:bodyPr wrap="square" lIns="0" rIns="0" tIns="0" bIns="0" anchor="t">
            <a:spAutoFit/>
          </a:bodyPr>
          <a:lstStyle/>
          <a:p>
            <a:pPr algn="ctr"/>
            <a:r>
              <a:rPr sz="1400" b="1" i="0">
                <a:solidFill>
                  <a:srgbClr val="0F8B8D"/>
                </a:solidFill>
                <a:latin typeface="Arial"/>
              </a:rPr>
              <a:t>25 bước</a:t>
            </a:r>
          </a:p>
        </p:txBody>
      </p:sp>
      <p:sp>
        <p:nvSpPr>
          <p:cNvPr id="20" name="TextBox 19"/>
          <p:cNvSpPr txBox="1"/>
          <p:nvPr/>
        </p:nvSpPr>
        <p:spPr>
          <a:xfrm>
            <a:off x="8732519"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5,0</a:t>
            </a:r>
          </a:p>
        </p:txBody>
      </p:sp>
      <p:sp>
        <p:nvSpPr>
          <p:cNvPr id="21" name="Oval 20"/>
          <p:cNvSpPr/>
          <p:nvPr/>
        </p:nvSpPr>
        <p:spPr>
          <a:xfrm>
            <a:off x="10821924"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04704" y="4379976"/>
            <a:ext cx="1399032" cy="274320"/>
          </a:xfrm>
          <a:prstGeom prst="rect">
            <a:avLst/>
          </a:prstGeom>
          <a:noFill/>
        </p:spPr>
        <p:txBody>
          <a:bodyPr wrap="square" lIns="0" rIns="0" tIns="0" bIns="0" anchor="t">
            <a:spAutoFit/>
          </a:bodyPr>
          <a:lstStyle/>
          <a:p>
            <a:pPr algn="ctr"/>
            <a:r>
              <a:rPr sz="1400" b="1" i="0">
                <a:solidFill>
                  <a:srgbClr val="0F8B8D"/>
                </a:solidFill>
                <a:latin typeface="Arial"/>
              </a:rPr>
              <a:t>100 bước</a:t>
            </a:r>
          </a:p>
        </p:txBody>
      </p:sp>
      <p:sp>
        <p:nvSpPr>
          <p:cNvPr id="23" name="TextBox 22"/>
          <p:cNvSpPr txBox="1"/>
          <p:nvPr/>
        </p:nvSpPr>
        <p:spPr>
          <a:xfrm>
            <a:off x="10204704"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10,1</a:t>
            </a:r>
          </a:p>
        </p:txBody>
      </p:sp>
      <p:sp>
        <p:nvSpPr>
          <p:cNvPr id="24" name="TextBox 23"/>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25" name="TextBox 24"/>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Sáu lần tung +1, −1, +1, +1, −1, +1: vị trí 1, 0, 1, 2, 1, 2. Số bước gấp 25 lần thì độ lệch chuẩn gấp 5 lần.</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ADF và KPSS là gì: hai câu hỏi ngược chiều</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7</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augmented Dickey–Fuller (ADF) · KPSS · unit root · null hypothesis H0</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Có một con số để quyết định chuỗi có thành phần random walk không, tức có cần sai phân không.</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0F8B8D"/>
                </a:solidFill>
                <a:latin typeface="Arial"/>
              </a:rPr>
              <a:t>“ADF hỏi ‘có lực kéo về không?’; KPSS hỏi ‘có trôi đi không?’”</a:t>
            </a:r>
          </a:p>
        </p:txBody>
      </p:sp>
      <p:pic>
        <p:nvPicPr>
          <p:cNvPr id="8" name="Picture 7" descr="kn-adf-kpss.png"/>
          <p:cNvPicPr>
            <a:picLocks noChangeAspect="1"/>
          </p:cNvPicPr>
          <p:nvPr/>
        </p:nvPicPr>
        <p:blipFill>
          <a:blip r:embed="rId2"/>
          <a:stretch>
            <a:fillRect/>
          </a:stretch>
        </p:blipFill>
        <p:spPr>
          <a:xfrm>
            <a:off x="548640" y="2466755"/>
            <a:ext cx="5760720" cy="2820601"/>
          </a:xfrm>
          <a:prstGeom prst="rect">
            <a:avLst/>
          </a:prstGeom>
        </p:spPr>
      </p:pic>
      <p:sp>
        <p:nvSpPr>
          <p:cNvPr id="9" name="Rounded Rectangle 8"/>
          <p:cNvSpPr/>
          <p:nvPr/>
        </p:nvSpPr>
        <p:spPr>
          <a:xfrm>
            <a:off x="6583680" y="2450591"/>
            <a:ext cx="5056632" cy="1417320"/>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12280" y="2587751"/>
            <a:ext cx="4599432" cy="274320"/>
          </a:xfrm>
          <a:prstGeom prst="rect">
            <a:avLst/>
          </a:prstGeom>
          <a:noFill/>
        </p:spPr>
        <p:txBody>
          <a:bodyPr wrap="square" lIns="0" rIns="0" tIns="0" bIns="0" anchor="t">
            <a:spAutoFit/>
          </a:bodyPr>
          <a:lstStyle/>
          <a:p>
            <a:pPr algn="l"/>
            <a:r>
              <a:rPr sz="1300" b="1" i="0">
                <a:solidFill>
                  <a:srgbClr val="2E6FBF"/>
                </a:solidFill>
                <a:latin typeface="Arial"/>
              </a:rPr>
              <a:t>ADF</a:t>
            </a:r>
          </a:p>
        </p:txBody>
      </p:sp>
      <p:sp>
        <p:nvSpPr>
          <p:cNvPr id="11" name="TextBox 10"/>
          <p:cNvSpPr txBox="1"/>
          <p:nvPr/>
        </p:nvSpPr>
        <p:spPr>
          <a:xfrm>
            <a:off x="6812280" y="2862072"/>
            <a:ext cx="4599432" cy="960120"/>
          </a:xfrm>
          <a:prstGeom prst="rect">
            <a:avLst/>
          </a:prstGeom>
          <a:noFill/>
        </p:spPr>
        <p:txBody>
          <a:bodyPr wrap="square" lIns="0" rIns="0" tIns="0" bIns="0" anchor="t">
            <a:spAutoFit/>
          </a:bodyPr>
          <a:lstStyle/>
          <a:p>
            <a:pPr algn="l">
              <a:spcAft>
                <a:spcPts val="300"/>
              </a:spcAft>
            </a:pPr>
            <a:r>
              <a:rPr sz="1300" b="0" i="0">
                <a:solidFill>
                  <a:srgbClr val="1B2A41"/>
                </a:solidFill>
                <a:latin typeface="Arial"/>
              </a:rPr>
              <a:t>Đang cao hơn mức thường thì bước sau có bị kéo xuống không? Giả định ban đầu: chuỗi không dừng. p &lt; 0,05 nghĩa là có bằng chứng chuỗi dừng.</a:t>
            </a:r>
          </a:p>
        </p:txBody>
      </p:sp>
      <p:sp>
        <p:nvSpPr>
          <p:cNvPr id="12" name="Rounded Rectangle 11"/>
          <p:cNvSpPr/>
          <p:nvPr/>
        </p:nvSpPr>
        <p:spPr>
          <a:xfrm>
            <a:off x="6583680" y="3959352"/>
            <a:ext cx="5056632" cy="1417320"/>
          </a:xfrm>
          <a:prstGeom prst="roundRect">
            <a:avLst>
              <a:gd name="adj" fmla="val 10000"/>
            </a:avLst>
          </a:prstGeom>
          <a:solidFill>
            <a:srgbClr val="FD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12280" y="4096512"/>
            <a:ext cx="4599432" cy="274320"/>
          </a:xfrm>
          <a:prstGeom prst="rect">
            <a:avLst/>
          </a:prstGeom>
          <a:noFill/>
        </p:spPr>
        <p:txBody>
          <a:bodyPr wrap="square" lIns="0" rIns="0" tIns="0" bIns="0" anchor="t">
            <a:spAutoFit/>
          </a:bodyPr>
          <a:lstStyle/>
          <a:p>
            <a:pPr algn="l"/>
            <a:r>
              <a:rPr sz="1300" b="1" i="0">
                <a:solidFill>
                  <a:srgbClr val="B4541B"/>
                </a:solidFill>
                <a:latin typeface="Arial"/>
              </a:rPr>
              <a:t>KPSS</a:t>
            </a:r>
          </a:p>
        </p:txBody>
      </p:sp>
      <p:sp>
        <p:nvSpPr>
          <p:cNvPr id="14" name="TextBox 13"/>
          <p:cNvSpPr txBox="1"/>
          <p:nvPr/>
        </p:nvSpPr>
        <p:spPr>
          <a:xfrm>
            <a:off x="6812280" y="4370832"/>
            <a:ext cx="4599432" cy="960120"/>
          </a:xfrm>
          <a:prstGeom prst="rect">
            <a:avLst/>
          </a:prstGeom>
          <a:noFill/>
        </p:spPr>
        <p:txBody>
          <a:bodyPr wrap="square" lIns="0" rIns="0" tIns="0" bIns="0" anchor="t">
            <a:spAutoFit/>
          </a:bodyPr>
          <a:lstStyle/>
          <a:p>
            <a:pPr algn="l">
              <a:spcAft>
                <a:spcPts val="300"/>
              </a:spcAft>
            </a:pPr>
            <a:r>
              <a:rPr sz="1300" b="0" i="0">
                <a:solidFill>
                  <a:srgbClr val="1B2A41"/>
                </a:solidFill>
                <a:latin typeface="Arial"/>
              </a:rPr>
              <a:t>Chuỗi có trôi xa khỏi mức (hay đường xu hướng) hơn một chuỗi dừng cho phép không? Giả định ban đầu: chuỗi dừng. p &lt; 0,05 nghĩa là có bằng chứng chuỗi không dừng.</a:t>
            </a:r>
          </a:p>
        </p:txBody>
      </p:sp>
      <p:sp>
        <p:nvSpPr>
          <p:cNvPr id="15" name="Rounded Rectangle 14"/>
          <p:cNvSpPr/>
          <p:nvPr/>
        </p:nvSpPr>
        <p:spPr>
          <a:xfrm>
            <a:off x="548640" y="5440680"/>
            <a:ext cx="11091672" cy="10058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577840"/>
            <a:ext cx="10634472" cy="274320"/>
          </a:xfrm>
          <a:prstGeom prst="rect">
            <a:avLst/>
          </a:prstGeom>
          <a:noFill/>
        </p:spPr>
        <p:txBody>
          <a:bodyPr wrap="square" lIns="0" rIns="0" tIns="0" bIns="0" anchor="t">
            <a:spAutoFit/>
          </a:bodyPr>
          <a:lstStyle/>
          <a:p>
            <a:pPr algn="l"/>
            <a:r>
              <a:rPr sz="1300" b="1" i="0">
                <a:solidFill>
                  <a:srgbClr val="0F8B8D"/>
                </a:solidFill>
                <a:latin typeface="Arial"/>
              </a:rPr>
              <a:t>Ví dụ tính tay</a:t>
            </a:r>
          </a:p>
        </p:txBody>
      </p:sp>
      <p:sp>
        <p:nvSpPr>
          <p:cNvPr id="17" name="TextBox 16"/>
          <p:cNvSpPr txBox="1"/>
          <p:nvPr/>
        </p:nvSpPr>
        <p:spPr>
          <a:xfrm>
            <a:off x="777240" y="5852160"/>
            <a:ext cx="10634472" cy="5486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Chuỗi 5, 8, 4, 6, 5: cứ cao hơn 5 là bước sau đi xuống, có lực kéo về như chuỗi dừng. Chuỗi 5, 6, 7, 6, 7: độ cao hiện tại không đoán được bước sau, giống random walk.</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Chạy cả ADF và KPSS, rồi đọc bảng 2 × 2</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7</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ADF · KPSS · regression="c" / "ct"</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Ghép kết luận của hai kiểm định để quyết định có sai phân hay không.</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0F8B8D"/>
                </a:solidFill>
                <a:latin typeface="Arial"/>
              </a:rPr>
              <a:t>“Hai kiểm định cùng nói một hướng thì tin; nói ngược nhau thì xem lại chuỗi.”</a:t>
            </a:r>
          </a:p>
        </p:txBody>
      </p:sp>
      <p:sp>
        <p:nvSpPr>
          <p:cNvPr id="8" name="Rectangle 7"/>
          <p:cNvSpPr/>
          <p:nvPr/>
        </p:nvSpPr>
        <p:spPr>
          <a:xfrm>
            <a:off x="548640" y="2542032"/>
            <a:ext cx="2103120" cy="868680"/>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1" i="0">
                <a:solidFill>
                  <a:srgbClr val="FFFFFF"/>
                </a:solidFill>
                <a:latin typeface="Arial"/>
              </a:rPr>
              <a:t/>
            </a:r>
          </a:p>
        </p:txBody>
      </p:sp>
      <p:sp>
        <p:nvSpPr>
          <p:cNvPr id="9" name="Rectangle 8"/>
          <p:cNvSpPr/>
          <p:nvPr/>
        </p:nvSpPr>
        <p:spPr>
          <a:xfrm>
            <a:off x="2651760" y="2542032"/>
            <a:ext cx="2514600" cy="868680"/>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1" i="0">
                <a:solidFill>
                  <a:srgbClr val="FFFFFF"/>
                </a:solidFill>
                <a:latin typeface="Arial"/>
              </a:rPr>
              <a:t>KPSS không bác bỏ</a:t>
            </a:r>
          </a:p>
        </p:txBody>
      </p:sp>
      <p:sp>
        <p:nvSpPr>
          <p:cNvPr id="10" name="Rectangle 9"/>
          <p:cNvSpPr/>
          <p:nvPr/>
        </p:nvSpPr>
        <p:spPr>
          <a:xfrm>
            <a:off x="5166360" y="2542032"/>
            <a:ext cx="2514600" cy="868680"/>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1" i="0">
                <a:solidFill>
                  <a:srgbClr val="FFFFFF"/>
                </a:solidFill>
                <a:latin typeface="Arial"/>
              </a:rPr>
              <a:t>KPSS bác bỏ</a:t>
            </a:r>
          </a:p>
        </p:txBody>
      </p:sp>
      <p:sp>
        <p:nvSpPr>
          <p:cNvPr id="11" name="Rectangle 10"/>
          <p:cNvSpPr/>
          <p:nvPr/>
        </p:nvSpPr>
        <p:spPr>
          <a:xfrm>
            <a:off x="548640" y="3410711"/>
            <a:ext cx="2103120" cy="868680"/>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ADF bác bỏ</a:t>
            </a:r>
          </a:p>
        </p:txBody>
      </p:sp>
      <p:sp>
        <p:nvSpPr>
          <p:cNvPr id="12" name="Rectangle 11"/>
          <p:cNvSpPr/>
          <p:nvPr/>
        </p:nvSpPr>
        <p:spPr>
          <a:xfrm>
            <a:off x="2651760" y="3410711"/>
            <a:ext cx="2514600" cy="868680"/>
          </a:xfrm>
          <a:prstGeom prst="rect">
            <a:avLst/>
          </a:prstGeom>
          <a:solidFill>
            <a:srgbClr val="E6F4EC"/>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E8449"/>
                </a:solidFill>
                <a:latin typeface="Arial"/>
              </a:rPr>
              <a:t>Dừng: không cần sai phân</a:t>
            </a:r>
          </a:p>
        </p:txBody>
      </p:sp>
      <p:sp>
        <p:nvSpPr>
          <p:cNvPr id="13" name="Rectangle 12"/>
          <p:cNvSpPr/>
          <p:nvPr/>
        </p:nvSpPr>
        <p:spPr>
          <a:xfrm>
            <a:off x="5166360" y="3410711"/>
            <a:ext cx="2514600" cy="868680"/>
          </a:xfrm>
          <a:prstGeom prst="rect">
            <a:avLst/>
          </a:prstGeom>
          <a:solidFill>
            <a:srgbClr val="FBEAE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C0392B"/>
                </a:solidFill>
                <a:latin typeface="Arial"/>
              </a:rPr>
              <a:t>Mâu thuẫn: vẽ chuỗi, tìm cú sốc</a:t>
            </a:r>
          </a:p>
        </p:txBody>
      </p:sp>
      <p:sp>
        <p:nvSpPr>
          <p:cNvPr id="14" name="Rectangle 13"/>
          <p:cNvSpPr/>
          <p:nvPr/>
        </p:nvSpPr>
        <p:spPr>
          <a:xfrm>
            <a:off x="548640" y="4279392"/>
            <a:ext cx="2103120" cy="868680"/>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1B2A41"/>
                </a:solidFill>
                <a:latin typeface="Arial"/>
              </a:rPr>
              <a:t>ADF không bác bỏ</a:t>
            </a:r>
          </a:p>
        </p:txBody>
      </p:sp>
      <p:sp>
        <p:nvSpPr>
          <p:cNvPr id="15" name="Rectangle 14"/>
          <p:cNvSpPr/>
          <p:nvPr/>
        </p:nvSpPr>
        <p:spPr>
          <a:xfrm>
            <a:off x="2651760" y="4279392"/>
            <a:ext cx="2514600" cy="868680"/>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5B6778"/>
                </a:solidFill>
                <a:latin typeface="Arial"/>
              </a:rPr>
              <a:t>Chưa đủ bằng chứng</a:t>
            </a:r>
          </a:p>
        </p:txBody>
      </p:sp>
      <p:sp>
        <p:nvSpPr>
          <p:cNvPr id="16" name="Rectangle 15"/>
          <p:cNvSpPr/>
          <p:nvPr/>
        </p:nvSpPr>
        <p:spPr>
          <a:xfrm>
            <a:off x="5166360" y="4279392"/>
            <a:ext cx="2514600" cy="868680"/>
          </a:xfrm>
          <a:prstGeom prst="rect">
            <a:avLst/>
          </a:prstGeom>
          <a:solidFill>
            <a:srgbClr val="FDF0E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0" i="0">
                <a:solidFill>
                  <a:srgbClr val="B4541B"/>
                </a:solidFill>
                <a:latin typeface="Arial"/>
              </a:rPr>
              <a:t>Không dừng: sai phân</a:t>
            </a:r>
          </a:p>
        </p:txBody>
      </p:sp>
      <p:sp>
        <p:nvSpPr>
          <p:cNvPr id="17" name="TextBox 16"/>
          <p:cNvSpPr txBox="1"/>
          <p:nvPr/>
        </p:nvSpPr>
        <p:spPr>
          <a:xfrm>
            <a:off x="548640" y="5239512"/>
            <a:ext cx="7132320" cy="822960"/>
          </a:xfrm>
          <a:prstGeom prst="rect">
            <a:avLst/>
          </a:prstGeom>
          <a:noFill/>
        </p:spPr>
        <p:txBody>
          <a:bodyPr wrap="square" lIns="0" rIns="0" tIns="0" bIns="0" anchor="t">
            <a:spAutoFit/>
          </a:bodyPr>
          <a:lstStyle/>
          <a:p>
            <a:pPr algn="l"/>
            <a:r>
              <a:rPr sz="1300" b="0" i="0">
                <a:solidFill>
                  <a:srgbClr val="5B6778"/>
                </a:solidFill>
                <a:latin typeface="Arial"/>
              </a:rPr>
              <a:t>ADF p &lt; 0,05: có bằng chứng dừng. KPSS p &lt; 0,05: có bằng chứng không dừng. Chỉ ô xanh và ô cam cho kết luận rõ.</a:t>
            </a:r>
          </a:p>
        </p:txBody>
      </p:sp>
      <p:sp>
        <p:nvSpPr>
          <p:cNvPr id="18" name="Rounded Rectangle 17"/>
          <p:cNvSpPr/>
          <p:nvPr/>
        </p:nvSpPr>
        <p:spPr>
          <a:xfrm>
            <a:off x="7955279" y="2542032"/>
            <a:ext cx="3685032" cy="1783080"/>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83879" y="2679191"/>
            <a:ext cx="3227832" cy="274320"/>
          </a:xfrm>
          <a:prstGeom prst="rect">
            <a:avLst/>
          </a:prstGeom>
          <a:noFill/>
        </p:spPr>
        <p:txBody>
          <a:bodyPr wrap="square" lIns="0" rIns="0" tIns="0" bIns="0" anchor="t">
            <a:spAutoFit/>
          </a:bodyPr>
          <a:lstStyle/>
          <a:p>
            <a:pPr algn="l"/>
            <a:r>
              <a:rPr sz="1300" b="1" i="0">
                <a:solidFill>
                  <a:srgbClr val="2E6FBF"/>
                </a:solidFill>
                <a:latin typeface="Arial"/>
              </a:rPr>
              <a:t>Dữ liệu thật: GDP Mỹ</a:t>
            </a:r>
          </a:p>
        </p:txBody>
      </p:sp>
      <p:sp>
        <p:nvSpPr>
          <p:cNvPr id="20" name="TextBox 19"/>
          <p:cNvSpPr txBox="1"/>
          <p:nvPr/>
        </p:nvSpPr>
        <p:spPr>
          <a:xfrm>
            <a:off x="8183879" y="2953512"/>
            <a:ext cx="3227832" cy="132588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Cả giai đoạn 1947–2026: ADF p = 0,000, KPSS p = 0,048, rơi vào ô mâu thuẫn. Chỉ lấy 1985–2019 thì dừng.</a:t>
            </a:r>
          </a:p>
        </p:txBody>
      </p:sp>
      <p:sp>
        <p:nvSpPr>
          <p:cNvPr id="21" name="Rounded Rectangle 20"/>
          <p:cNvSpPr/>
          <p:nvPr/>
        </p:nvSpPr>
        <p:spPr>
          <a:xfrm>
            <a:off x="7955279" y="4462272"/>
            <a:ext cx="3685032" cy="178308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83879" y="4599432"/>
            <a:ext cx="3227832" cy="274320"/>
          </a:xfrm>
          <a:prstGeom prst="rect">
            <a:avLst/>
          </a:prstGeom>
          <a:noFill/>
        </p:spPr>
        <p:txBody>
          <a:bodyPr wrap="square" lIns="0" rIns="0" tIns="0" bIns="0" anchor="t">
            <a:spAutoFit/>
          </a:bodyPr>
          <a:lstStyle/>
          <a:p>
            <a:pPr algn="l"/>
            <a:r>
              <a:rPr sz="1300" b="1" i="0">
                <a:solidFill>
                  <a:srgbClr val="0F8B8D"/>
                </a:solidFill>
                <a:latin typeface="Arial"/>
              </a:rPr>
              <a:t>Khai dạng cho đúng</a:t>
            </a:r>
          </a:p>
        </p:txBody>
      </p:sp>
      <p:sp>
        <p:nvSpPr>
          <p:cNvPr id="23" name="TextBox 22"/>
          <p:cNvSpPr txBox="1"/>
          <p:nvPr/>
        </p:nvSpPr>
        <p:spPr>
          <a:xfrm>
            <a:off x="8183879" y="4873752"/>
            <a:ext cx="3227832" cy="132588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 hỏi dừng quanh một mức; “ct” hỏi dừng quanh một đường xu hướng. Khai sai dạng là kết luận sai.</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Sai phân: nhìn vào thay đổi thay vì mức</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5, 7</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differencing · seasonal differencing · detrending</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Biến một chuỗi trôi đi (không dừng) thành chuỗi có mức để quay về, để mô hình học được.</a:t>
            </a:r>
          </a:p>
        </p:txBody>
      </p:sp>
      <p:sp>
        <p:nvSpPr>
          <p:cNvPr id="7" name="Rounded Rectangle 6"/>
          <p:cNvSpPr/>
          <p:nvPr/>
        </p:nvSpPr>
        <p:spPr>
          <a:xfrm>
            <a:off x="548640" y="2066543"/>
            <a:ext cx="6309360"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8011ab4c1930.png"/>
          <p:cNvPicPr>
            <a:picLocks noChangeAspect="1"/>
          </p:cNvPicPr>
          <p:nvPr/>
        </p:nvPicPr>
        <p:blipFill>
          <a:blip r:embed="rId2"/>
          <a:stretch>
            <a:fillRect/>
          </a:stretch>
        </p:blipFill>
        <p:spPr>
          <a:xfrm>
            <a:off x="1463039" y="2269236"/>
            <a:ext cx="4480560" cy="252984"/>
          </a:xfrm>
          <a:prstGeom prst="rect">
            <a:avLst/>
          </a:prstGeom>
        </p:spPr>
      </p:pic>
      <p:pic>
        <p:nvPicPr>
          <p:cNvPr id="9" name="Picture 8" descr="gdp.png"/>
          <p:cNvPicPr>
            <a:picLocks noChangeAspect="1"/>
          </p:cNvPicPr>
          <p:nvPr/>
        </p:nvPicPr>
        <p:blipFill>
          <a:blip r:embed="rId3"/>
          <a:stretch>
            <a:fillRect/>
          </a:stretch>
        </p:blipFill>
        <p:spPr>
          <a:xfrm>
            <a:off x="548640" y="2943674"/>
            <a:ext cx="6309360" cy="3421243"/>
          </a:xfrm>
          <a:prstGeom prst="rect">
            <a:avLst/>
          </a:prstGeom>
        </p:spPr>
      </p:pic>
      <p:sp>
        <p:nvSpPr>
          <p:cNvPr id="10" name="TextBox 9"/>
          <p:cNvSpPr txBox="1"/>
          <p:nvPr/>
        </p:nvSpPr>
        <p:spPr>
          <a:xfrm>
            <a:off x="7223760" y="206654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1" name="TextBox 10"/>
          <p:cNvSpPr txBox="1"/>
          <p:nvPr/>
        </p:nvSpPr>
        <p:spPr>
          <a:xfrm>
            <a:off x="7223760" y="2386584"/>
            <a:ext cx="4416552" cy="1127760"/>
          </a:xfrm>
          <a:prstGeom prst="rect">
            <a:avLst/>
          </a:prstGeom>
          <a:noFill/>
        </p:spPr>
        <p:txBody>
          <a:bodyPr wrap="square" lIns="0" rIns="0" tIns="0" bIns="0" anchor="t">
            <a:spAutoFit/>
          </a:bodyPr>
          <a:lstStyle/>
          <a:p>
            <a:pPr algn="l"/>
            <a:r>
              <a:rPr sz="1500" b="0" i="0">
                <a:solidFill>
                  <a:srgbClr val="1B2A41"/>
                </a:solidFill>
                <a:latin typeface="Arial"/>
              </a:rPr>
              <a:t>Sai phân: thay mỗi giá trị bằng hiệu với giá trị trước, y_t − y_(t−1). Sai phân mùa vụ: hiệu với cùng vị trí của vòng trước, y_t − y_(t−m).</a:t>
            </a:r>
          </a:p>
        </p:txBody>
      </p:sp>
      <p:sp>
        <p:nvSpPr>
          <p:cNvPr id="12" name="TextBox 11"/>
          <p:cNvSpPr txBox="1"/>
          <p:nvPr/>
        </p:nvSpPr>
        <p:spPr>
          <a:xfrm>
            <a:off x="7223760" y="3541775"/>
            <a:ext cx="4416552" cy="274320"/>
          </a:xfrm>
          <a:prstGeom prst="rect">
            <a:avLst/>
          </a:prstGeom>
          <a:noFill/>
        </p:spPr>
        <p:txBody>
          <a:bodyPr wrap="square" lIns="0" rIns="0" tIns="0" bIns="0" anchor="t">
            <a:spAutoFit/>
          </a:bodyPr>
          <a:lstStyle/>
          <a:p>
            <a:pPr algn="l"/>
            <a:r>
              <a:rPr sz="1400" b="1" i="0">
                <a:solidFill>
                  <a:srgbClr val="0F8B8D"/>
                </a:solidFill>
                <a:latin typeface="Arial"/>
              </a:rPr>
              <a:t>Khi nào dùng</a:t>
            </a:r>
          </a:p>
        </p:txBody>
      </p:sp>
      <p:sp>
        <p:nvSpPr>
          <p:cNvPr id="13" name="TextBox 12"/>
          <p:cNvSpPr txBox="1"/>
          <p:nvPr/>
        </p:nvSpPr>
        <p:spPr>
          <a:xfrm>
            <a:off x="7223760" y="3861815"/>
            <a:ext cx="4416552" cy="1127760"/>
          </a:xfrm>
          <a:prstGeom prst="rect">
            <a:avLst/>
          </a:prstGeom>
          <a:noFill/>
        </p:spPr>
        <p:txBody>
          <a:bodyPr wrap="square" lIns="0" rIns="0" tIns="0" bIns="0" anchor="t">
            <a:spAutoFit/>
          </a:bodyPr>
          <a:lstStyle/>
          <a:p>
            <a:pPr algn="l"/>
            <a:r>
              <a:rPr sz="1500" b="0" i="0">
                <a:solidFill>
                  <a:srgbClr val="1B2A41"/>
                </a:solidFill>
                <a:latin typeface="Arial"/>
              </a:rPr>
              <a:t>Chuỗi random walk thì sai phân một lần. Chuỗi có mùa vụ thì sai phân mùa vụ trước. Chuỗi dừng quanh xu hướng thì khử xu hướng (trừ đường xu hướng) thay vì sai phân.</a:t>
            </a:r>
          </a:p>
        </p:txBody>
      </p:sp>
      <p:sp>
        <p:nvSpPr>
          <p:cNvPr id="14" name="TextBox 13"/>
          <p:cNvSpPr txBox="1"/>
          <p:nvPr/>
        </p:nvSpPr>
        <p:spPr>
          <a:xfrm>
            <a:off x="7223760" y="5017008"/>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15" name="TextBox 14"/>
          <p:cNvSpPr txBox="1"/>
          <p:nvPr/>
        </p:nvSpPr>
        <p:spPr>
          <a:xfrm>
            <a:off x="7223760" y="5337047"/>
            <a:ext cx="4416552" cy="1127760"/>
          </a:xfrm>
          <a:prstGeom prst="rect">
            <a:avLst/>
          </a:prstGeom>
          <a:noFill/>
        </p:spPr>
        <p:txBody>
          <a:bodyPr wrap="square" lIns="0" rIns="0" tIns="0" bIns="0" anchor="t">
            <a:spAutoFit/>
          </a:bodyPr>
          <a:lstStyle/>
          <a:p>
            <a:pPr algn="l"/>
            <a:r>
              <a:rPr sz="1500" b="0" i="0">
                <a:solidFill>
                  <a:srgbClr val="1B2A41"/>
                </a:solidFill>
                <a:latin typeface="Arial"/>
              </a:rPr>
              <a:t>100, 103, 105 thành 3, 2. GDP Mỹ: log GDP trôi lên mãi; sai phân log dao động quanh 0,76% mỗi quý.</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Vẽ scatter trước khi tin r</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2, 8</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scatter plot · Pearson / Spearman correlation · Anscombe's quartet</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Đo hai đại lượng đi cùng nhau tới đâu, sau khi đã nhìn hình dạng của quan hệ.</a:t>
            </a:r>
          </a:p>
        </p:txBody>
      </p:sp>
      <p:sp>
        <p:nvSpPr>
          <p:cNvPr id="7" name="Rounded Rectangle 6"/>
          <p:cNvSpPr/>
          <p:nvPr/>
        </p:nvSpPr>
        <p:spPr>
          <a:xfrm>
            <a:off x="548640" y="2066543"/>
            <a:ext cx="11091672" cy="93268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066543"/>
            <a:ext cx="1097280" cy="932688"/>
          </a:xfrm>
          <a:prstGeom prst="rect">
            <a:avLst/>
          </a:prstGeom>
          <a:noFill/>
        </p:spPr>
        <p:txBody>
          <a:bodyPr wrap="square" lIns="0" rIns="0" tIns="0" bIns="0" anchor="ctr">
            <a:spAutoFit/>
          </a:bodyPr>
          <a:lstStyle/>
          <a:p>
            <a:pPr algn="l"/>
            <a:r>
              <a:rPr sz="1200" b="1" i="0">
                <a:solidFill>
                  <a:srgbClr val="0F8B8D"/>
                </a:solidFill>
                <a:latin typeface="Arial"/>
              </a:rPr>
              <a:t>Công thức</a:t>
            </a:r>
          </a:p>
        </p:txBody>
      </p:sp>
      <p:pic>
        <p:nvPicPr>
          <p:cNvPr id="9" name="Picture 8" descr="cc1c5cfc3668.png"/>
          <p:cNvPicPr>
            <a:picLocks noChangeAspect="1"/>
          </p:cNvPicPr>
          <p:nvPr/>
        </p:nvPicPr>
        <p:blipFill>
          <a:blip r:embed="rId2"/>
          <a:stretch>
            <a:fillRect/>
          </a:stretch>
        </p:blipFill>
        <p:spPr>
          <a:xfrm>
            <a:off x="1783080" y="2121408"/>
            <a:ext cx="2480850" cy="822960"/>
          </a:xfrm>
          <a:prstGeom prst="rect">
            <a:avLst/>
          </a:prstGeom>
        </p:spPr>
      </p:pic>
      <p:sp>
        <p:nvSpPr>
          <p:cNvPr id="10" name="TextBox 9"/>
          <p:cNvSpPr txBox="1"/>
          <p:nvPr/>
        </p:nvSpPr>
        <p:spPr>
          <a:xfrm>
            <a:off x="5602071" y="2066543"/>
            <a:ext cx="5901080" cy="932688"/>
          </a:xfrm>
          <a:prstGeom prst="rect">
            <a:avLst/>
          </a:prstGeom>
          <a:noFill/>
        </p:spPr>
        <p:txBody>
          <a:bodyPr wrap="square" lIns="0" rIns="0" tIns="0" bIns="0" anchor="ctr">
            <a:spAutoFit/>
          </a:bodyPr>
          <a:lstStyle/>
          <a:p>
            <a:pPr algn="l"/>
            <a:r>
              <a:rPr sz="1150" b="0" i="0">
                <a:solidFill>
                  <a:srgbClr val="1B2A41"/>
                </a:solidFill>
                <a:latin typeface="Arial"/>
              </a:rPr>
              <a:t>1, 2, 3 với 2, 4, 6 cho r = 1. Spearman: tính r trên thứ hạng.</a:t>
            </a:r>
          </a:p>
        </p:txBody>
      </p:sp>
      <p:pic>
        <p:nvPicPr>
          <p:cNvPr id="11" name="Picture 10" descr="anscombe.png"/>
          <p:cNvPicPr>
            <a:picLocks noChangeAspect="1"/>
          </p:cNvPicPr>
          <p:nvPr/>
        </p:nvPicPr>
        <p:blipFill>
          <a:blip r:embed="rId3"/>
          <a:stretch>
            <a:fillRect/>
          </a:stretch>
        </p:blipFill>
        <p:spPr>
          <a:xfrm>
            <a:off x="2781579" y="3090672"/>
            <a:ext cx="6625792" cy="1847088"/>
          </a:xfrm>
          <a:prstGeom prst="rect">
            <a:avLst/>
          </a:prstGeom>
        </p:spPr>
      </p:pic>
      <p:sp>
        <p:nvSpPr>
          <p:cNvPr id="12" name="Rounded Rectangle 11"/>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4" name="TextBox 13"/>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Pearson r đo quan hệ đường thẳng. Spearman đo hai biến có cùng tăng theo thứ hạng không. Kendall đếm cặp cùng chiều.</a:t>
            </a:r>
          </a:p>
        </p:txBody>
      </p:sp>
      <p:sp>
        <p:nvSpPr>
          <p:cNvPr id="15" name="Rounded Rectangle 14"/>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Cao hay thấp nghĩa là gì</a:t>
            </a:r>
          </a:p>
        </p:txBody>
      </p:sp>
      <p:sp>
        <p:nvSpPr>
          <p:cNvPr id="17" name="TextBox 16"/>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600" b="0" i="0">
                <a:solidFill>
                  <a:srgbClr val="1B2A41"/>
                </a:solidFill>
                <a:latin typeface="Arial"/>
              </a:rPr>
              <a:t/>
            </a:r>
          </a:p>
        </p:txBody>
      </p:sp>
      <p:cxnSp>
        <p:nvCxnSpPr>
          <p:cNvPr id="18" name="Connector 17"/>
          <p:cNvCxnSpPr/>
          <p:nvPr/>
        </p:nvCxnSpPr>
        <p:spPr>
          <a:xfrm>
            <a:off x="4963667" y="5532120"/>
            <a:ext cx="2261617"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9" name="Oval 18"/>
          <p:cNvSpPr/>
          <p:nvPr/>
        </p:nvSpPr>
        <p:spPr>
          <a:xfrm>
            <a:off x="4881372"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34840" y="5669280"/>
            <a:ext cx="1057655" cy="274320"/>
          </a:xfrm>
          <a:prstGeom prst="rect">
            <a:avLst/>
          </a:prstGeom>
          <a:noFill/>
        </p:spPr>
        <p:txBody>
          <a:bodyPr wrap="square" lIns="0" rIns="0" tIns="0" bIns="0" anchor="t">
            <a:spAutoFit/>
          </a:bodyPr>
          <a:lstStyle/>
          <a:p>
            <a:pPr algn="ctr"/>
            <a:r>
              <a:rPr sz="1400" b="1" i="0">
                <a:solidFill>
                  <a:srgbClr val="0F8B8D"/>
                </a:solidFill>
                <a:latin typeface="Arial"/>
              </a:rPr>
              <a:t>−1</a:t>
            </a:r>
          </a:p>
        </p:txBody>
      </p:sp>
      <p:sp>
        <p:nvSpPr>
          <p:cNvPr id="21" name="TextBox 20"/>
          <p:cNvSpPr txBox="1"/>
          <p:nvPr/>
        </p:nvSpPr>
        <p:spPr>
          <a:xfrm>
            <a:off x="4434840"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ngược chiều</a:t>
            </a:r>
          </a:p>
        </p:txBody>
      </p:sp>
      <p:sp>
        <p:nvSpPr>
          <p:cNvPr id="22" name="Oval 21"/>
          <p:cNvSpPr/>
          <p:nvPr/>
        </p:nvSpPr>
        <p:spPr>
          <a:xfrm>
            <a:off x="6012179"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65647" y="5669280"/>
            <a:ext cx="1057655" cy="274320"/>
          </a:xfrm>
          <a:prstGeom prst="rect">
            <a:avLst/>
          </a:prstGeom>
          <a:noFill/>
        </p:spPr>
        <p:txBody>
          <a:bodyPr wrap="square" lIns="0" rIns="0" tIns="0" bIns="0" anchor="t">
            <a:spAutoFit/>
          </a:bodyPr>
          <a:lstStyle/>
          <a:p>
            <a:pPr algn="ctr"/>
            <a:r>
              <a:rPr sz="1400" b="1" i="0">
                <a:solidFill>
                  <a:srgbClr val="0F8B8D"/>
                </a:solidFill>
                <a:latin typeface="Arial"/>
              </a:rPr>
              <a:t>0</a:t>
            </a:r>
          </a:p>
        </p:txBody>
      </p:sp>
      <p:sp>
        <p:nvSpPr>
          <p:cNvPr id="24" name="TextBox 23"/>
          <p:cNvSpPr txBox="1"/>
          <p:nvPr/>
        </p:nvSpPr>
        <p:spPr>
          <a:xfrm>
            <a:off x="5565647"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không có quan hệ thẳng</a:t>
            </a:r>
          </a:p>
        </p:txBody>
      </p:sp>
      <p:sp>
        <p:nvSpPr>
          <p:cNvPr id="25" name="Oval 24"/>
          <p:cNvSpPr/>
          <p:nvPr/>
        </p:nvSpPr>
        <p:spPr>
          <a:xfrm>
            <a:off x="7142987"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96456" y="5669280"/>
            <a:ext cx="1057655" cy="274320"/>
          </a:xfrm>
          <a:prstGeom prst="rect">
            <a:avLst/>
          </a:prstGeom>
          <a:noFill/>
        </p:spPr>
        <p:txBody>
          <a:bodyPr wrap="square" lIns="0" rIns="0" tIns="0" bIns="0" anchor="t">
            <a:spAutoFit/>
          </a:bodyPr>
          <a:lstStyle/>
          <a:p>
            <a:pPr algn="ctr"/>
            <a:r>
              <a:rPr sz="1400" b="1" i="0">
                <a:solidFill>
                  <a:srgbClr val="0F8B8D"/>
                </a:solidFill>
                <a:latin typeface="Arial"/>
              </a:rPr>
              <a:t>+1</a:t>
            </a:r>
          </a:p>
        </p:txBody>
      </p:sp>
      <p:sp>
        <p:nvSpPr>
          <p:cNvPr id="27" name="TextBox 26"/>
          <p:cNvSpPr txBox="1"/>
          <p:nvPr/>
        </p:nvSpPr>
        <p:spPr>
          <a:xfrm>
            <a:off x="6696456"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cùng tăng</a:t>
            </a:r>
          </a:p>
        </p:txBody>
      </p:sp>
      <p:sp>
        <p:nvSpPr>
          <p:cNvPr id="28" name="Rounded Rectangle 27"/>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30" name="TextBox 29"/>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Bốn bộ Anscombe khác hẳn nhau mà cùng r = 0,82. Hình chữ U đối xứng thì Pearson và Spearman đều bằng 0.</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Spearman: cùng tăng là đủ, không cần thẳng</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8</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Spearman rank correlation · Kendall τ · Pearson r</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y luôn tăng khi x tăng, nhưng theo đường cong. Pearson có thấy quan hệ đó là hoàn hảo không?</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Đo hai đại lượng có cùng tăng (hay cùng giảm) không, kể cả khi quan hệ là đường cong.</a:t>
            </a:r>
          </a:p>
        </p:txBody>
      </p:sp>
      <p:sp>
        <p:nvSpPr>
          <p:cNvPr id="8" name="Rounded Rectangle 7"/>
          <p:cNvSpPr/>
          <p:nvPr/>
        </p:nvSpPr>
        <p:spPr>
          <a:xfrm>
            <a:off x="548640" y="2432303"/>
            <a:ext cx="6309360"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68c094a12a72.png"/>
          <p:cNvPicPr>
            <a:picLocks noChangeAspect="1"/>
          </p:cNvPicPr>
          <p:nvPr/>
        </p:nvPicPr>
        <p:blipFill>
          <a:blip r:embed="rId2"/>
          <a:stretch>
            <a:fillRect/>
          </a:stretch>
        </p:blipFill>
        <p:spPr>
          <a:xfrm>
            <a:off x="2186940" y="2628899"/>
            <a:ext cx="3032760" cy="265176"/>
          </a:xfrm>
          <a:prstGeom prst="rect">
            <a:avLst/>
          </a:prstGeom>
        </p:spPr>
      </p:pic>
      <p:pic>
        <p:nvPicPr>
          <p:cNvPr id="10" name="Picture 9" descr="kn-spearman.png"/>
          <p:cNvPicPr>
            <a:picLocks noChangeAspect="1"/>
          </p:cNvPicPr>
          <p:nvPr/>
        </p:nvPicPr>
        <p:blipFill>
          <a:blip r:embed="rId3"/>
          <a:stretch>
            <a:fillRect/>
          </a:stretch>
        </p:blipFill>
        <p:spPr>
          <a:xfrm>
            <a:off x="548640" y="3292742"/>
            <a:ext cx="6309360" cy="3088866"/>
          </a:xfrm>
          <a:prstGeom prst="rect">
            <a:avLst/>
          </a:prstGeom>
        </p:spPr>
      </p:pic>
      <p:sp>
        <p:nvSpPr>
          <p:cNvPr id="11" name="TextBox 10"/>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2" name="TextBox 11"/>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Spearman xếp hạng từng biến (nhỏ nhất là hạng 1) rồi tính Pearson trên các hạng. Kendall cũng dùng hạng, đếm số cặp cùng chiều.</a:t>
            </a:r>
          </a:p>
        </p:txBody>
      </p:sp>
      <p:sp>
        <p:nvSpPr>
          <p:cNvPr id="13" name="TextBox 12"/>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0F8B8D"/>
                </a:solidFill>
                <a:latin typeface="Arial"/>
              </a:rPr>
              <a:t>So với Pearson</a:t>
            </a:r>
          </a:p>
        </p:txBody>
      </p:sp>
      <p:cxnSp>
        <p:nvCxnSpPr>
          <p:cNvPr id="14" name="Connector 13"/>
          <p:cNvCxnSpPr/>
          <p:nvPr/>
        </p:nvCxnSpPr>
        <p:spPr>
          <a:xfrm>
            <a:off x="7959852" y="4242816"/>
            <a:ext cx="2944368"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7877556"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60336" y="4379976"/>
            <a:ext cx="1399032" cy="274320"/>
          </a:xfrm>
          <a:prstGeom prst="rect">
            <a:avLst/>
          </a:prstGeom>
          <a:noFill/>
        </p:spPr>
        <p:txBody>
          <a:bodyPr wrap="square" lIns="0" rIns="0" tIns="0" bIns="0" anchor="t">
            <a:spAutoFit/>
          </a:bodyPr>
          <a:lstStyle/>
          <a:p>
            <a:pPr algn="ctr"/>
            <a:r>
              <a:rPr sz="1400" b="1" i="0">
                <a:solidFill>
                  <a:srgbClr val="0F8B8D"/>
                </a:solidFill>
                <a:latin typeface="Arial"/>
              </a:rPr>
              <a:t>Pearson</a:t>
            </a:r>
          </a:p>
        </p:txBody>
      </p:sp>
      <p:sp>
        <p:nvSpPr>
          <p:cNvPr id="17" name="TextBox 16"/>
          <p:cNvSpPr txBox="1"/>
          <p:nvPr/>
        </p:nvSpPr>
        <p:spPr>
          <a:xfrm>
            <a:off x="7260336"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đo mức thẳng hàng</a:t>
            </a:r>
          </a:p>
        </p:txBody>
      </p:sp>
      <p:sp>
        <p:nvSpPr>
          <p:cNvPr id="18" name="Oval 17"/>
          <p:cNvSpPr/>
          <p:nvPr/>
        </p:nvSpPr>
        <p:spPr>
          <a:xfrm>
            <a:off x="9349740"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32519" y="4379976"/>
            <a:ext cx="1399032" cy="274320"/>
          </a:xfrm>
          <a:prstGeom prst="rect">
            <a:avLst/>
          </a:prstGeom>
          <a:noFill/>
        </p:spPr>
        <p:txBody>
          <a:bodyPr wrap="square" lIns="0" rIns="0" tIns="0" bIns="0" anchor="t">
            <a:spAutoFit/>
          </a:bodyPr>
          <a:lstStyle/>
          <a:p>
            <a:pPr algn="ctr"/>
            <a:r>
              <a:rPr sz="1400" b="1" i="0">
                <a:solidFill>
                  <a:srgbClr val="0F8B8D"/>
                </a:solidFill>
                <a:latin typeface="Arial"/>
              </a:rPr>
              <a:t>Spearman</a:t>
            </a:r>
          </a:p>
        </p:txBody>
      </p:sp>
      <p:sp>
        <p:nvSpPr>
          <p:cNvPr id="20" name="TextBox 19"/>
          <p:cNvSpPr txBox="1"/>
          <p:nvPr/>
        </p:nvSpPr>
        <p:spPr>
          <a:xfrm>
            <a:off x="8732519"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đo mức cùng tăng theo thứ hạng</a:t>
            </a:r>
          </a:p>
        </p:txBody>
      </p:sp>
      <p:sp>
        <p:nvSpPr>
          <p:cNvPr id="21" name="Oval 20"/>
          <p:cNvSpPr/>
          <p:nvPr/>
        </p:nvSpPr>
        <p:spPr>
          <a:xfrm>
            <a:off x="10821924"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04704" y="4379976"/>
            <a:ext cx="1399032" cy="274320"/>
          </a:xfrm>
          <a:prstGeom prst="rect">
            <a:avLst/>
          </a:prstGeom>
          <a:noFill/>
        </p:spPr>
        <p:txBody>
          <a:bodyPr wrap="square" lIns="0" rIns="0" tIns="0" bIns="0" anchor="t">
            <a:spAutoFit/>
          </a:bodyPr>
          <a:lstStyle/>
          <a:p>
            <a:pPr algn="ctr"/>
            <a:r>
              <a:rPr sz="1200" b="1" i="0">
                <a:solidFill>
                  <a:srgbClr val="0F8B8D"/>
                </a:solidFill>
                <a:latin typeface="Arial"/>
              </a:rPr>
              <a:t>cả hai = 0</a:t>
            </a:r>
          </a:p>
        </p:txBody>
      </p:sp>
      <p:sp>
        <p:nvSpPr>
          <p:cNvPr id="23" name="TextBox 22"/>
          <p:cNvSpPr txBox="1"/>
          <p:nvPr/>
        </p:nvSpPr>
        <p:spPr>
          <a:xfrm>
            <a:off x="10204704"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vẫn có thể là chữ U</a:t>
            </a:r>
          </a:p>
        </p:txBody>
      </p:sp>
      <p:sp>
        <p:nvSpPr>
          <p:cNvPr id="24" name="TextBox 23"/>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25" name="TextBox 24"/>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y = x² với x = 1…5: Pearson 0,981, Spearman 1. Với x = −2…2 (chữ U): cả hai bằng 0 dù y hoàn toàn theo x.</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Durbin–Watson: phần dư đổi chậm là đáng ngờ</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8</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Durbin–Watson statistic · regression residuals · spurious regression</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CPI và dân số Mỹ có R² = 0,95 và t = 88,6. Hai thứ đó liên quan mạnh tới vậy thật sao?</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Biết đường hồi quy có bỏ sót cấu trúc thời gian không, trước khi tin R² và t.</a:t>
            </a:r>
          </a:p>
        </p:txBody>
      </p:sp>
      <p:sp>
        <p:nvSpPr>
          <p:cNvPr id="8" name="Rounded Rectangle 7"/>
          <p:cNvSpPr/>
          <p:nvPr/>
        </p:nvSpPr>
        <p:spPr>
          <a:xfrm>
            <a:off x="548640" y="2432303"/>
            <a:ext cx="6309360" cy="93268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69fcb2f19c9c.png"/>
          <p:cNvPicPr>
            <a:picLocks noChangeAspect="1"/>
          </p:cNvPicPr>
          <p:nvPr/>
        </p:nvPicPr>
        <p:blipFill>
          <a:blip r:embed="rId2"/>
          <a:stretch>
            <a:fillRect/>
          </a:stretch>
        </p:blipFill>
        <p:spPr>
          <a:xfrm>
            <a:off x="2859353" y="2487168"/>
            <a:ext cx="1687932" cy="822960"/>
          </a:xfrm>
          <a:prstGeom prst="rect">
            <a:avLst/>
          </a:prstGeom>
        </p:spPr>
      </p:pic>
      <p:pic>
        <p:nvPicPr>
          <p:cNvPr id="10" name="Picture 9" descr="kn-durbin-watson.png"/>
          <p:cNvPicPr>
            <a:picLocks noChangeAspect="1"/>
          </p:cNvPicPr>
          <p:nvPr/>
        </p:nvPicPr>
        <p:blipFill>
          <a:blip r:embed="rId3"/>
          <a:stretch>
            <a:fillRect/>
          </a:stretch>
        </p:blipFill>
        <p:spPr>
          <a:xfrm>
            <a:off x="548640" y="3552809"/>
            <a:ext cx="6309360" cy="2843053"/>
          </a:xfrm>
          <a:prstGeom prst="rect">
            <a:avLst/>
          </a:prstGeom>
        </p:spPr>
      </p:pic>
      <p:sp>
        <p:nvSpPr>
          <p:cNvPr id="11" name="TextBox 10"/>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2" name="TextBox 11"/>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Hồi quy chuỗi này theo chuỗi kia rồi xem phần dư, tức phần đường thẳng không giải thích được. DW so bước nhảy giữa hai phần dư liền nhau với độ lớn phần dư.</a:t>
            </a:r>
          </a:p>
        </p:txBody>
      </p:sp>
      <p:sp>
        <p:nvSpPr>
          <p:cNvPr id="13" name="TextBox 12"/>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0F8B8D"/>
                </a:solidFill>
                <a:latin typeface="Arial"/>
              </a:rPr>
              <a:t>DW lớn hay nhỏ nghĩa là gì</a:t>
            </a:r>
          </a:p>
        </p:txBody>
      </p:sp>
      <p:cxnSp>
        <p:nvCxnSpPr>
          <p:cNvPr id="14" name="Connector 13"/>
          <p:cNvCxnSpPr/>
          <p:nvPr/>
        </p:nvCxnSpPr>
        <p:spPr>
          <a:xfrm>
            <a:off x="7959852" y="4242816"/>
            <a:ext cx="2944368"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7877556"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60336" y="4379976"/>
            <a:ext cx="1399032" cy="274320"/>
          </a:xfrm>
          <a:prstGeom prst="rect">
            <a:avLst/>
          </a:prstGeom>
          <a:noFill/>
        </p:spPr>
        <p:txBody>
          <a:bodyPr wrap="square" lIns="0" rIns="0" tIns="0" bIns="0" anchor="t">
            <a:spAutoFit/>
          </a:bodyPr>
          <a:lstStyle/>
          <a:p>
            <a:pPr algn="ctr"/>
            <a:r>
              <a:rPr sz="1400" b="1" i="0">
                <a:solidFill>
                  <a:srgbClr val="0F8B8D"/>
                </a:solidFill>
                <a:latin typeface="Arial"/>
              </a:rPr>
              <a:t>gần 0</a:t>
            </a:r>
          </a:p>
        </p:txBody>
      </p:sp>
      <p:sp>
        <p:nvSpPr>
          <p:cNvPr id="17" name="TextBox 16"/>
          <p:cNvSpPr txBox="1"/>
          <p:nvPr/>
        </p:nvSpPr>
        <p:spPr>
          <a:xfrm>
            <a:off x="7260336"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phần dư đổi rất chậm: nghi tương quan giả</a:t>
            </a:r>
          </a:p>
        </p:txBody>
      </p:sp>
      <p:sp>
        <p:nvSpPr>
          <p:cNvPr id="18" name="Oval 17"/>
          <p:cNvSpPr/>
          <p:nvPr/>
        </p:nvSpPr>
        <p:spPr>
          <a:xfrm>
            <a:off x="9349740"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32519" y="4379976"/>
            <a:ext cx="1399032" cy="274320"/>
          </a:xfrm>
          <a:prstGeom prst="rect">
            <a:avLst/>
          </a:prstGeom>
          <a:noFill/>
        </p:spPr>
        <p:txBody>
          <a:bodyPr wrap="square" lIns="0" rIns="0" tIns="0" bIns="0" anchor="t">
            <a:spAutoFit/>
          </a:bodyPr>
          <a:lstStyle/>
          <a:p>
            <a:pPr algn="ctr"/>
            <a:r>
              <a:rPr sz="1400" b="1" i="0">
                <a:solidFill>
                  <a:srgbClr val="0F8B8D"/>
                </a:solidFill>
                <a:latin typeface="Arial"/>
              </a:rPr>
              <a:t>gần 2</a:t>
            </a:r>
          </a:p>
        </p:txBody>
      </p:sp>
      <p:sp>
        <p:nvSpPr>
          <p:cNvPr id="20" name="TextBox 19"/>
          <p:cNvSpPr txBox="1"/>
          <p:nvPr/>
        </p:nvSpPr>
        <p:spPr>
          <a:xfrm>
            <a:off x="8732519"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phần dư lộn xộn: ổn</a:t>
            </a:r>
          </a:p>
        </p:txBody>
      </p:sp>
      <p:sp>
        <p:nvSpPr>
          <p:cNvPr id="21" name="Oval 20"/>
          <p:cNvSpPr/>
          <p:nvPr/>
        </p:nvSpPr>
        <p:spPr>
          <a:xfrm>
            <a:off x="10821924"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04704" y="4379976"/>
            <a:ext cx="1399032" cy="274320"/>
          </a:xfrm>
          <a:prstGeom prst="rect">
            <a:avLst/>
          </a:prstGeom>
          <a:noFill/>
        </p:spPr>
        <p:txBody>
          <a:bodyPr wrap="square" lIns="0" rIns="0" tIns="0" bIns="0" anchor="t">
            <a:spAutoFit/>
          </a:bodyPr>
          <a:lstStyle/>
          <a:p>
            <a:pPr algn="ctr"/>
            <a:r>
              <a:rPr sz="1400" b="1" i="0">
                <a:solidFill>
                  <a:srgbClr val="0F8B8D"/>
                </a:solidFill>
                <a:latin typeface="Arial"/>
              </a:rPr>
              <a:t>trên 2</a:t>
            </a:r>
          </a:p>
        </p:txBody>
      </p:sp>
      <p:sp>
        <p:nvSpPr>
          <p:cNvPr id="23" name="TextBox 22"/>
          <p:cNvSpPr txBox="1"/>
          <p:nvPr/>
        </p:nvSpPr>
        <p:spPr>
          <a:xfrm>
            <a:off x="10204704"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phần dư đổi dấu liên tục</a:t>
            </a:r>
          </a:p>
        </p:txBody>
      </p:sp>
      <p:sp>
        <p:nvSpPr>
          <p:cNvPr id="24" name="TextBox 23"/>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25" name="TextBox 24"/>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Phần dư 1, 1, 1, −1, −1, −1: DW = 4 / 6 ≈ 0,67. CPI theo dân số Mỹ: R² 0,95 mà DW chỉ 0,0051.</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CDD, HDD: tách chữ U thành hai nhánh thẳng</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8</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cooling / heating degree days (CDD / HDD) · base temperature 65 °F</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Lạnh bật sưởi, nóng bật điều hoà. Một đường thẳng theo nhiệt độ có tả được tải điện không?</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Đưa quan hệ “lạnh cũng tăng, nóng cũng tăng” vào một mô hình đường thẳng.</a:t>
            </a:r>
          </a:p>
        </p:txBody>
      </p:sp>
      <p:sp>
        <p:nvSpPr>
          <p:cNvPr id="8" name="Rounded Rectangle 7"/>
          <p:cNvSpPr/>
          <p:nvPr/>
        </p:nvSpPr>
        <p:spPr>
          <a:xfrm>
            <a:off x="548640" y="2432303"/>
            <a:ext cx="6309360"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e6389da89fc7.png"/>
          <p:cNvPicPr>
            <a:picLocks noChangeAspect="1"/>
          </p:cNvPicPr>
          <p:nvPr/>
        </p:nvPicPr>
        <p:blipFill>
          <a:blip r:embed="rId2"/>
          <a:stretch>
            <a:fillRect/>
          </a:stretch>
        </p:blipFill>
        <p:spPr>
          <a:xfrm>
            <a:off x="640080" y="2656818"/>
            <a:ext cx="6126480" cy="209339"/>
          </a:xfrm>
          <a:prstGeom prst="rect">
            <a:avLst/>
          </a:prstGeom>
        </p:spPr>
      </p:pic>
      <p:pic>
        <p:nvPicPr>
          <p:cNvPr id="10" name="Picture 9" descr="kn-cdd-hdd.png"/>
          <p:cNvPicPr>
            <a:picLocks noChangeAspect="1"/>
          </p:cNvPicPr>
          <p:nvPr/>
        </p:nvPicPr>
        <p:blipFill>
          <a:blip r:embed="rId3"/>
          <a:stretch>
            <a:fillRect/>
          </a:stretch>
        </p:blipFill>
        <p:spPr>
          <a:xfrm>
            <a:off x="548640" y="3212312"/>
            <a:ext cx="6309360" cy="3249727"/>
          </a:xfrm>
          <a:prstGeom prst="rect">
            <a:avLst/>
          </a:prstGeom>
        </p:spPr>
      </p:pic>
      <p:sp>
        <p:nvSpPr>
          <p:cNvPr id="11" name="TextBox 10"/>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2" name="TextBox 11"/>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CDD là số độ nóng hơn mốc, HDD là số độ lạnh hơn mốc; phía còn lại bằng 0. Mốc 18,33 °C (65 °F) theo quy ước của cơ quan năng lượng Mỹ EIA.</a:t>
            </a:r>
          </a:p>
        </p:txBody>
      </p:sp>
      <p:sp>
        <p:nvSpPr>
          <p:cNvPr id="13" name="TextBox 12"/>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0F8B8D"/>
                </a:solidFill>
                <a:latin typeface="Arial"/>
              </a:rPr>
              <a:t>Dùng thế nào</a:t>
            </a:r>
          </a:p>
        </p:txBody>
      </p:sp>
      <p:sp>
        <p:nvSpPr>
          <p:cNvPr id="14" name="TextBox 13"/>
          <p:cNvSpPr txBox="1"/>
          <p:nvPr/>
        </p:nvSpPr>
        <p:spPr>
          <a:xfrm>
            <a:off x="7223760" y="4105655"/>
            <a:ext cx="4416552" cy="1005839"/>
          </a:xfrm>
          <a:prstGeom prst="rect">
            <a:avLst/>
          </a:prstGeom>
          <a:noFill/>
        </p:spPr>
        <p:txBody>
          <a:bodyPr wrap="square" lIns="0" rIns="0" tIns="0" bIns="0" anchor="t">
            <a:spAutoFit/>
          </a:bodyPr>
          <a:lstStyle/>
          <a:p>
            <a:pPr algn="l"/>
            <a:r>
              <a:rPr sz="1500" b="0" i="0">
                <a:solidFill>
                  <a:srgbClr val="1B2A41"/>
                </a:solidFill>
                <a:latin typeface="Arial"/>
              </a:rPr>
              <a:t>Hồi quy tải theo cả CDD và HDD: phía nóng một độ dốc, phía lạnh một độ dốc, thành hình chữ V. Không cần chia dữ liệu làm hai nhóm.</a:t>
            </a:r>
          </a:p>
        </p:txBody>
      </p:sp>
      <p:sp>
        <p:nvSpPr>
          <p:cNvPr id="15" name="TextBox 14"/>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16" name="TextBox 15"/>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10; 18,33; 25; 30 °C cho CDD = 0; 0; 6,67; 11,67 và HDD = 8,33; 0; 0; 0. Tải điện ERCOT: R² tăng từ 0,379 lên 0,812.</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Mutual information: biết x có giúp đoán y?</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8</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mutual information (MI) · nat · nonlinear dependence</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Pearson giữa nhiệt độ và tải là 0,616. Con số nào đo được cả nhánh lạnh lẫn nhánh nóng?</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Đo mọi kiểu phụ thuộc, kể cả chữ U mà Pearson và Spearman đều bỏ sót.</a:t>
            </a:r>
          </a:p>
        </p:txBody>
      </p:sp>
      <p:sp>
        <p:nvSpPr>
          <p:cNvPr id="8" name="Rounded Rectangle 7"/>
          <p:cNvSpPr/>
          <p:nvPr/>
        </p:nvSpPr>
        <p:spPr>
          <a:xfrm>
            <a:off x="548640" y="2432303"/>
            <a:ext cx="11091672"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432303"/>
            <a:ext cx="1097280" cy="658368"/>
          </a:xfrm>
          <a:prstGeom prst="rect">
            <a:avLst/>
          </a:prstGeom>
          <a:noFill/>
        </p:spPr>
        <p:txBody>
          <a:bodyPr wrap="square" lIns="0" rIns="0" tIns="0" bIns="0" anchor="ctr">
            <a:spAutoFit/>
          </a:bodyPr>
          <a:lstStyle/>
          <a:p>
            <a:pPr algn="l"/>
            <a:r>
              <a:rPr sz="1200" b="1" i="0">
                <a:solidFill>
                  <a:srgbClr val="0F8B8D"/>
                </a:solidFill>
                <a:latin typeface="Arial"/>
              </a:rPr>
              <a:t>Công thức</a:t>
            </a:r>
          </a:p>
        </p:txBody>
      </p:sp>
      <p:pic>
        <p:nvPicPr>
          <p:cNvPr id="10" name="Picture 9" descr="5237eb5d210d.png"/>
          <p:cNvPicPr>
            <a:picLocks noChangeAspect="1"/>
          </p:cNvPicPr>
          <p:nvPr/>
        </p:nvPicPr>
        <p:blipFill>
          <a:blip r:embed="rId2"/>
          <a:stretch>
            <a:fillRect/>
          </a:stretch>
        </p:blipFill>
        <p:spPr>
          <a:xfrm>
            <a:off x="1783080" y="2502407"/>
            <a:ext cx="3236976" cy="518160"/>
          </a:xfrm>
          <a:prstGeom prst="rect">
            <a:avLst/>
          </a:prstGeom>
        </p:spPr>
      </p:pic>
      <p:sp>
        <p:nvSpPr>
          <p:cNvPr id="11" name="TextBox 10"/>
          <p:cNvSpPr txBox="1"/>
          <p:nvPr/>
        </p:nvSpPr>
        <p:spPr>
          <a:xfrm>
            <a:off x="5602071" y="2432303"/>
            <a:ext cx="5901080" cy="658368"/>
          </a:xfrm>
          <a:prstGeom prst="rect">
            <a:avLst/>
          </a:prstGeom>
          <a:noFill/>
        </p:spPr>
        <p:txBody>
          <a:bodyPr wrap="square" lIns="0" rIns="0" tIns="0" bIns="0" anchor="ctr">
            <a:spAutoFit/>
          </a:bodyPr>
          <a:lstStyle/>
          <a:p>
            <a:pPr algn="l"/>
            <a:r>
              <a:rPr sz="1150" b="0" i="0">
                <a:solidFill>
                  <a:srgbClr val="1B2A41"/>
                </a:solidFill>
                <a:latin typeface="Arial"/>
              </a:rPr>
              <a:t>Ô (vừa, thấp): tỷ lệ thật 1/3 gấp 3 lần 1/9, góp 1/3 × ln 3 ≈ 0,366.</a:t>
            </a:r>
          </a:p>
        </p:txBody>
      </p:sp>
      <p:pic>
        <p:nvPicPr>
          <p:cNvPr id="12" name="Picture 11" descr="chu-u.png"/>
          <p:cNvPicPr>
            <a:picLocks noChangeAspect="1"/>
          </p:cNvPicPr>
          <p:nvPr/>
        </p:nvPicPr>
        <p:blipFill>
          <a:blip r:embed="rId3"/>
          <a:stretch>
            <a:fillRect/>
          </a:stretch>
        </p:blipFill>
        <p:spPr>
          <a:xfrm>
            <a:off x="3484368" y="3182112"/>
            <a:ext cx="5220215" cy="1755648"/>
          </a:xfrm>
          <a:prstGeom prst="rect">
            <a:avLst/>
          </a:prstGeom>
        </p:spPr>
      </p:pic>
      <p:sp>
        <p:nvSpPr>
          <p:cNvPr id="13" name="Rounded Rectangle 12"/>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5" name="TextBox 14"/>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MI so tỷ lệ thật của mỗi cặp (x, y) với tỷ lệ nếu x và y độc lập. Độc lập thì MI = 0; biết x càng giúp đoán y thì MI càng lớn. Đơn vị: nat.</a:t>
            </a:r>
          </a:p>
        </p:txBody>
      </p:sp>
      <p:sp>
        <p:nvSpPr>
          <p:cNvPr id="16" name="Rounded Rectangle 15"/>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MI lớn hay nhỏ nghĩa là gì</a:t>
            </a:r>
          </a:p>
        </p:txBody>
      </p:sp>
      <p:sp>
        <p:nvSpPr>
          <p:cNvPr id="18" name="TextBox 17"/>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600" b="0" i="0">
                <a:solidFill>
                  <a:srgbClr val="1B2A41"/>
                </a:solidFill>
                <a:latin typeface="Arial"/>
              </a:rPr>
              <a:t/>
            </a:r>
          </a:p>
        </p:txBody>
      </p:sp>
      <p:cxnSp>
        <p:nvCxnSpPr>
          <p:cNvPr id="19" name="Connector 18"/>
          <p:cNvCxnSpPr/>
          <p:nvPr/>
        </p:nvCxnSpPr>
        <p:spPr>
          <a:xfrm>
            <a:off x="5246370" y="5532120"/>
            <a:ext cx="1696211"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5164074"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34840" y="5669280"/>
            <a:ext cx="1623060" cy="274320"/>
          </a:xfrm>
          <a:prstGeom prst="rect">
            <a:avLst/>
          </a:prstGeom>
          <a:noFill/>
        </p:spPr>
        <p:txBody>
          <a:bodyPr wrap="square" lIns="0" rIns="0" tIns="0" bIns="0" anchor="t">
            <a:spAutoFit/>
          </a:bodyPr>
          <a:lstStyle/>
          <a:p>
            <a:pPr algn="ctr"/>
            <a:r>
              <a:rPr sz="1400" b="1" i="0">
                <a:solidFill>
                  <a:srgbClr val="0F8B8D"/>
                </a:solidFill>
                <a:latin typeface="Arial"/>
              </a:rPr>
              <a:t>0</a:t>
            </a:r>
          </a:p>
        </p:txBody>
      </p:sp>
      <p:sp>
        <p:nvSpPr>
          <p:cNvPr id="22" name="TextBox 21"/>
          <p:cNvSpPr txBox="1"/>
          <p:nvPr/>
        </p:nvSpPr>
        <p:spPr>
          <a:xfrm>
            <a:off x="4434840" y="5943600"/>
            <a:ext cx="1623060" cy="548640"/>
          </a:xfrm>
          <a:prstGeom prst="rect">
            <a:avLst/>
          </a:prstGeom>
          <a:noFill/>
        </p:spPr>
        <p:txBody>
          <a:bodyPr wrap="square" lIns="0" rIns="0" tIns="0" bIns="0" anchor="t">
            <a:spAutoFit/>
          </a:bodyPr>
          <a:lstStyle/>
          <a:p>
            <a:pPr algn="ctr"/>
            <a:r>
              <a:rPr sz="1100" b="0" i="0">
                <a:solidFill>
                  <a:srgbClr val="1B2A41"/>
                </a:solidFill>
                <a:latin typeface="Arial"/>
              </a:rPr>
              <a:t>độc lập: biết x không giúp gì</a:t>
            </a:r>
          </a:p>
        </p:txBody>
      </p:sp>
      <p:sp>
        <p:nvSpPr>
          <p:cNvPr id="23" name="Oval 22"/>
          <p:cNvSpPr/>
          <p:nvPr/>
        </p:nvSpPr>
        <p:spPr>
          <a:xfrm>
            <a:off x="6860286"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31051" y="5669280"/>
            <a:ext cx="1623060" cy="274320"/>
          </a:xfrm>
          <a:prstGeom prst="rect">
            <a:avLst/>
          </a:prstGeom>
          <a:noFill/>
        </p:spPr>
        <p:txBody>
          <a:bodyPr wrap="square" lIns="0" rIns="0" tIns="0" bIns="0" anchor="t">
            <a:spAutoFit/>
          </a:bodyPr>
          <a:lstStyle/>
          <a:p>
            <a:pPr algn="ctr"/>
            <a:r>
              <a:rPr sz="1400" b="1" i="0">
                <a:solidFill>
                  <a:srgbClr val="0F8B8D"/>
                </a:solidFill>
                <a:latin typeface="Arial"/>
              </a:rPr>
              <a:t>lớn</a:t>
            </a:r>
          </a:p>
        </p:txBody>
      </p:sp>
      <p:sp>
        <p:nvSpPr>
          <p:cNvPr id="25" name="TextBox 24"/>
          <p:cNvSpPr txBox="1"/>
          <p:nvPr/>
        </p:nvSpPr>
        <p:spPr>
          <a:xfrm>
            <a:off x="6131051" y="5943600"/>
            <a:ext cx="1623060" cy="548640"/>
          </a:xfrm>
          <a:prstGeom prst="rect">
            <a:avLst/>
          </a:prstGeom>
          <a:noFill/>
        </p:spPr>
        <p:txBody>
          <a:bodyPr wrap="square" lIns="0" rIns="0" tIns="0" bIns="0" anchor="t">
            <a:spAutoFit/>
          </a:bodyPr>
          <a:lstStyle/>
          <a:p>
            <a:pPr algn="ctr"/>
            <a:r>
              <a:rPr sz="1100" b="0" i="0">
                <a:solidFill>
                  <a:srgbClr val="1B2A41"/>
                </a:solidFill>
                <a:latin typeface="Arial"/>
              </a:rPr>
              <a:t>biết x đoán được y, theo bất kỳ hình dạng nào</a:t>
            </a:r>
          </a:p>
        </p:txBody>
      </p:sp>
      <p:sp>
        <p:nvSpPr>
          <p:cNvPr id="26" name="Rounded Rectangle 25"/>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28" name="TextBox 27"/>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Ngày lạnh → tải cao, vừa → thấp, nóng → cao, mỗi loại 1/3: Pearson = 0 mà MI ≈ 0,637 nat. Nhiệt độ × tải ERCOT: MI = 0,862.</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Hoán vị theo khối: MI có lớn thật không?</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8</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block permutation test · autocorrelation · null distribution</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MI giữa nhiệt độ và tải là 0,862 nat. Lớn thật, hay hai chuỗi trơn nào cũng cho con số cỡ đó?</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Biết một giá trị MI là quan hệ thật, hay chỉ vì hai chuỗi trơn tình cờ cùng lên xuống.</a:t>
            </a:r>
          </a:p>
        </p:txBody>
      </p:sp>
      <p:sp>
        <p:nvSpPr>
          <p:cNvPr id="8" name="Rounded Rectangle 7"/>
          <p:cNvSpPr/>
          <p:nvPr/>
        </p:nvSpPr>
        <p:spPr>
          <a:xfrm>
            <a:off x="548640" y="2432303"/>
            <a:ext cx="6309360"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ebd38e8283f1.png"/>
          <p:cNvPicPr>
            <a:picLocks noChangeAspect="1"/>
          </p:cNvPicPr>
          <p:nvPr/>
        </p:nvPicPr>
        <p:blipFill>
          <a:blip r:embed="rId2"/>
          <a:stretch>
            <a:fillRect/>
          </a:stretch>
        </p:blipFill>
        <p:spPr>
          <a:xfrm>
            <a:off x="3221736" y="2596896"/>
            <a:ext cx="963167" cy="329184"/>
          </a:xfrm>
          <a:prstGeom prst="rect">
            <a:avLst/>
          </a:prstGeom>
        </p:spPr>
      </p:pic>
      <p:pic>
        <p:nvPicPr>
          <p:cNvPr id="10" name="Picture 9" descr="kn-hoan-vi-theo-khoi.png"/>
          <p:cNvPicPr>
            <a:picLocks noChangeAspect="1"/>
          </p:cNvPicPr>
          <p:nvPr/>
        </p:nvPicPr>
        <p:blipFill>
          <a:blip r:embed="rId3"/>
          <a:stretch>
            <a:fillRect/>
          </a:stretch>
        </p:blipFill>
        <p:spPr>
          <a:xfrm>
            <a:off x="707495" y="3182112"/>
            <a:ext cx="5991649" cy="3310127"/>
          </a:xfrm>
          <a:prstGeom prst="rect">
            <a:avLst/>
          </a:prstGeom>
        </p:spPr>
      </p:pic>
      <p:sp>
        <p:nvSpPr>
          <p:cNvPr id="11" name="TextBox 10"/>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2" name="TextBox 11"/>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Xáo trộn y nhiều lần để phá quan hệ, rồi xem MI của dữ liệu xáo dao động cỡ nào. Với chuỗi thời gian phải xáo cả khối liền nhau để giữ độ trơn.</a:t>
            </a:r>
          </a:p>
        </p:txBody>
      </p:sp>
      <p:sp>
        <p:nvSpPr>
          <p:cNvPr id="13" name="TextBox 12"/>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0F8B8D"/>
                </a:solidFill>
                <a:latin typeface="Arial"/>
              </a:rPr>
              <a:t>Xáo kiểu nào</a:t>
            </a:r>
          </a:p>
        </p:txBody>
      </p:sp>
      <p:cxnSp>
        <p:nvCxnSpPr>
          <p:cNvPr id="14" name="Connector 13"/>
          <p:cNvCxnSpPr/>
          <p:nvPr/>
        </p:nvCxnSpPr>
        <p:spPr>
          <a:xfrm>
            <a:off x="8327898" y="4242816"/>
            <a:ext cx="2208276"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8245602"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60336" y="4379976"/>
            <a:ext cx="2135124" cy="274320"/>
          </a:xfrm>
          <a:prstGeom prst="rect">
            <a:avLst/>
          </a:prstGeom>
          <a:noFill/>
        </p:spPr>
        <p:txBody>
          <a:bodyPr wrap="square" lIns="0" rIns="0" tIns="0" bIns="0" anchor="t">
            <a:spAutoFit/>
          </a:bodyPr>
          <a:lstStyle/>
          <a:p>
            <a:pPr algn="ctr"/>
            <a:r>
              <a:rPr sz="1200" b="1" i="0">
                <a:solidFill>
                  <a:srgbClr val="0F8B8D"/>
                </a:solidFill>
                <a:latin typeface="Arial"/>
              </a:rPr>
              <a:t>từng điểm</a:t>
            </a:r>
          </a:p>
        </p:txBody>
      </p:sp>
      <p:sp>
        <p:nvSpPr>
          <p:cNvPr id="17" name="TextBox 16"/>
          <p:cNvSpPr txBox="1"/>
          <p:nvPr/>
        </p:nvSpPr>
        <p:spPr>
          <a:xfrm>
            <a:off x="7260336" y="4654296"/>
            <a:ext cx="2135124" cy="548640"/>
          </a:xfrm>
          <a:prstGeom prst="rect">
            <a:avLst/>
          </a:prstGeom>
          <a:noFill/>
        </p:spPr>
        <p:txBody>
          <a:bodyPr wrap="square" lIns="0" rIns="0" tIns="0" bIns="0" anchor="t">
            <a:spAutoFit/>
          </a:bodyPr>
          <a:lstStyle/>
          <a:p>
            <a:pPr algn="ctr"/>
            <a:r>
              <a:rPr sz="1100" b="0" i="0">
                <a:solidFill>
                  <a:srgbClr val="1B2A41"/>
                </a:solidFill>
                <a:latin typeface="Arial"/>
              </a:rPr>
              <a:t>phá cả độ trơn, MI xáo quá nhỏ: dễ kết luận nhầm</a:t>
            </a:r>
          </a:p>
        </p:txBody>
      </p:sp>
      <p:sp>
        <p:nvSpPr>
          <p:cNvPr id="18" name="Oval 17"/>
          <p:cNvSpPr/>
          <p:nvPr/>
        </p:nvSpPr>
        <p:spPr>
          <a:xfrm>
            <a:off x="10453878"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68612" y="4379976"/>
            <a:ext cx="2135124" cy="274320"/>
          </a:xfrm>
          <a:prstGeom prst="rect">
            <a:avLst/>
          </a:prstGeom>
          <a:noFill/>
        </p:spPr>
        <p:txBody>
          <a:bodyPr wrap="square" lIns="0" rIns="0" tIns="0" bIns="0" anchor="t">
            <a:spAutoFit/>
          </a:bodyPr>
          <a:lstStyle/>
          <a:p>
            <a:pPr algn="ctr"/>
            <a:r>
              <a:rPr sz="1200" b="1" i="0">
                <a:solidFill>
                  <a:srgbClr val="0F8B8D"/>
                </a:solidFill>
                <a:latin typeface="Arial"/>
              </a:rPr>
              <a:t>theo khối</a:t>
            </a:r>
          </a:p>
        </p:txBody>
      </p:sp>
      <p:sp>
        <p:nvSpPr>
          <p:cNvPr id="20" name="TextBox 19"/>
          <p:cNvSpPr txBox="1"/>
          <p:nvPr/>
        </p:nvSpPr>
        <p:spPr>
          <a:xfrm>
            <a:off x="9468612" y="4654296"/>
            <a:ext cx="2135124" cy="548640"/>
          </a:xfrm>
          <a:prstGeom prst="rect">
            <a:avLst/>
          </a:prstGeom>
          <a:noFill/>
        </p:spPr>
        <p:txBody>
          <a:bodyPr wrap="square" lIns="0" rIns="0" tIns="0" bIns="0" anchor="t">
            <a:spAutoFit/>
          </a:bodyPr>
          <a:lstStyle/>
          <a:p>
            <a:pPr algn="ctr"/>
            <a:r>
              <a:rPr sz="1100" b="0" i="0">
                <a:solidFill>
                  <a:srgbClr val="1B2A41"/>
                </a:solidFill>
                <a:latin typeface="Arial"/>
              </a:rPr>
              <a:t>giữ độ trơn: so sánh công bằng</a:t>
            </a:r>
          </a:p>
        </p:txBody>
      </p:sp>
      <p:sp>
        <p:nvSpPr>
          <p:cNvPr id="21" name="TextBox 20"/>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22" name="TextBox 21"/>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Hai chuỗi AR độc lập: xáo từng điểm cho p = 0,005 (nhầm là có quan hệ), xáo khối 200 điểm cho p = 0,055. ERCOT: 0,862 so với ngưỡng 0,124.</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Ai đi trước? Prewhiten rồi mới đọc CCF</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8</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cross-correlation function (CCF) · prewhitening · lead / lag</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Nhiệt độ tăng thì bao lâu sau tải điện mới tăng?</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Tìm biến nào đi trước biến nào, trước bao nhiêu bước, để chọn độ trễ cho feature.</a:t>
            </a:r>
          </a:p>
        </p:txBody>
      </p:sp>
      <p:sp>
        <p:nvSpPr>
          <p:cNvPr id="8" name="TextBox 7"/>
          <p:cNvSpPr txBox="1"/>
          <p:nvPr/>
        </p:nvSpPr>
        <p:spPr>
          <a:xfrm>
            <a:off x="1325880" y="2084831"/>
            <a:ext cx="10332720" cy="411480"/>
          </a:xfrm>
          <a:prstGeom prst="rect">
            <a:avLst/>
          </a:prstGeom>
          <a:noFill/>
        </p:spPr>
        <p:txBody>
          <a:bodyPr wrap="square" lIns="0" rIns="0" tIns="0" bIns="0" anchor="t">
            <a:spAutoFit/>
          </a:bodyPr>
          <a:lstStyle/>
          <a:p>
            <a:pPr algn="l"/>
            <a:r>
              <a:rPr sz="1700" b="0" i="1">
                <a:solidFill>
                  <a:srgbClr val="0F8B8D"/>
                </a:solidFill>
                <a:latin typeface="Arial"/>
              </a:rPr>
              <a:t>“Tưởng tải điện theo nhịp ngày của nắng; lọc xong mới thấy trời nóng lên là tải tăng ngay.”</a:t>
            </a:r>
          </a:p>
        </p:txBody>
      </p:sp>
      <p:sp>
        <p:nvSpPr>
          <p:cNvPr id="9" name="Rounded Rectangle 8"/>
          <p:cNvSpPr/>
          <p:nvPr/>
        </p:nvSpPr>
        <p:spPr>
          <a:xfrm>
            <a:off x="548640" y="2816351"/>
            <a:ext cx="11091672"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816351"/>
            <a:ext cx="1097280" cy="658368"/>
          </a:xfrm>
          <a:prstGeom prst="rect">
            <a:avLst/>
          </a:prstGeom>
          <a:noFill/>
        </p:spPr>
        <p:txBody>
          <a:bodyPr wrap="square" lIns="0" rIns="0" tIns="0" bIns="0" anchor="ctr">
            <a:spAutoFit/>
          </a:bodyPr>
          <a:lstStyle/>
          <a:p>
            <a:pPr algn="l"/>
            <a:r>
              <a:rPr sz="1200" b="1" i="0">
                <a:solidFill>
                  <a:srgbClr val="0F8B8D"/>
                </a:solidFill>
                <a:latin typeface="Arial"/>
              </a:rPr>
              <a:t>Công thức</a:t>
            </a:r>
          </a:p>
        </p:txBody>
      </p:sp>
      <p:pic>
        <p:nvPicPr>
          <p:cNvPr id="11" name="Picture 10" descr="72cc300bc49e.png"/>
          <p:cNvPicPr>
            <a:picLocks noChangeAspect="1"/>
          </p:cNvPicPr>
          <p:nvPr/>
        </p:nvPicPr>
        <p:blipFill>
          <a:blip r:embed="rId2"/>
          <a:stretch>
            <a:fillRect/>
          </a:stretch>
        </p:blipFill>
        <p:spPr>
          <a:xfrm>
            <a:off x="1783080" y="3006852"/>
            <a:ext cx="2679192" cy="277368"/>
          </a:xfrm>
          <a:prstGeom prst="rect">
            <a:avLst/>
          </a:prstGeom>
        </p:spPr>
      </p:pic>
      <p:sp>
        <p:nvSpPr>
          <p:cNvPr id="12" name="TextBox 11"/>
          <p:cNvSpPr txBox="1"/>
          <p:nvPr/>
        </p:nvSpPr>
        <p:spPr>
          <a:xfrm>
            <a:off x="5602071" y="2816351"/>
            <a:ext cx="5901080" cy="658368"/>
          </a:xfrm>
          <a:prstGeom prst="rect">
            <a:avLst/>
          </a:prstGeom>
          <a:noFill/>
        </p:spPr>
        <p:txBody>
          <a:bodyPr wrap="square" lIns="0" rIns="0" tIns="0" bIns="0" anchor="ctr">
            <a:spAutoFit/>
          </a:bodyPr>
          <a:lstStyle/>
          <a:p>
            <a:pPr algn="l"/>
            <a:r>
              <a:rPr sz="1150" b="0" i="0">
                <a:solidFill>
                  <a:srgbClr val="1B2A41"/>
                </a:solidFill>
                <a:latin typeface="Arial"/>
              </a:rPr>
              <a:t>Đỉnh ở k &gt; 0: x đi trước y k bước.</a:t>
            </a:r>
          </a:p>
        </p:txBody>
      </p:sp>
      <p:pic>
        <p:nvPicPr>
          <p:cNvPr id="13" name="Picture 12" descr="ccf.png"/>
          <p:cNvPicPr>
            <a:picLocks noChangeAspect="1"/>
          </p:cNvPicPr>
          <p:nvPr/>
        </p:nvPicPr>
        <p:blipFill>
          <a:blip r:embed="rId3"/>
          <a:stretch>
            <a:fillRect/>
          </a:stretch>
        </p:blipFill>
        <p:spPr>
          <a:xfrm>
            <a:off x="3859541" y="3566160"/>
            <a:ext cx="4469869" cy="1371600"/>
          </a:xfrm>
          <a:prstGeom prst="rect">
            <a:avLst/>
          </a:prstGeom>
        </p:spPr>
      </p:pic>
      <p:sp>
        <p:nvSpPr>
          <p:cNvPr id="14" name="Rounded Rectangle 13"/>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6" name="TextBox 15"/>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Tương quan chéo đo x lúc này giống y sau k bước tới đâu. Prewhitening lọc x bằng mô hình AR của chính nó, rồi lọc y bằng đúng bộ lọc đó.</a:t>
            </a:r>
          </a:p>
        </p:txBody>
      </p:sp>
      <p:sp>
        <p:nvSpPr>
          <p:cNvPr id="17" name="Rounded Rectangle 16"/>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Nhận ra thế nào</a:t>
            </a:r>
          </a:p>
        </p:txBody>
      </p:sp>
      <p:sp>
        <p:nvSpPr>
          <p:cNvPr id="19" name="TextBox 18"/>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Đỉnh ở trễ k dương nghĩa là x đi trước y k bước. CCF thô cao ở mọi trễ thường chỉ là nhịp riêng, chưa phải quan hệ.</a:t>
            </a:r>
          </a:p>
        </p:txBody>
      </p:sp>
      <p:sp>
        <p:nvSpPr>
          <p:cNvPr id="20" name="Rounded Rectangle 19"/>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22" name="TextBox 21"/>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CDD và tải điện: thô là 0,848 ở trễ 0 và vẫn 0,828 ở trễ 24; sau prewhitening chỉ còn 0,205 và 0,061.</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Prewhitening: lọc nhịp riêng rồi mới đo</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8</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prewhitening · AR filter · cross-correlation</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Tìm đúng độ trễ giữa hai chuỗi, không nhầm nhịp riêng của từng chuỗi thành quan hệ giữa hai chuỗi.</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0F8B8D"/>
                </a:solidFill>
                <a:latin typeface="Arial"/>
              </a:rPr>
              <a:t>“Nhịp ngày có sẵn trong cả hai chuỗi làm tương quan chéo cao ở mọi trễ.”</a:t>
            </a:r>
          </a:p>
        </p:txBody>
      </p:sp>
      <p:pic>
        <p:nvPicPr>
          <p:cNvPr id="8" name="Picture 7" descr="ccf.png"/>
          <p:cNvPicPr>
            <a:picLocks noChangeAspect="1"/>
          </p:cNvPicPr>
          <p:nvPr/>
        </p:nvPicPr>
        <p:blipFill>
          <a:blip r:embed="rId2"/>
          <a:stretch>
            <a:fillRect/>
          </a:stretch>
        </p:blipFill>
        <p:spPr>
          <a:xfrm>
            <a:off x="1997095" y="2450591"/>
            <a:ext cx="8194761" cy="2514600"/>
          </a:xfrm>
          <a:prstGeom prst="rect">
            <a:avLst/>
          </a:prstGeom>
        </p:spPr>
      </p:pic>
      <p:sp>
        <p:nvSpPr>
          <p:cNvPr id="9" name="Oval 8"/>
          <p:cNvSpPr/>
          <p:nvPr/>
        </p:nvSpPr>
        <p:spPr>
          <a:xfrm>
            <a:off x="548640" y="5148072"/>
            <a:ext cx="420624" cy="420624"/>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1" i="0">
                <a:solidFill>
                  <a:srgbClr val="FFFFFF"/>
                </a:solidFill>
                <a:latin typeface="Arial"/>
              </a:rPr>
              <a:t>1</a:t>
            </a:r>
          </a:p>
        </p:txBody>
      </p:sp>
      <p:sp>
        <p:nvSpPr>
          <p:cNvPr id="10" name="TextBox 9"/>
          <p:cNvSpPr txBox="1"/>
          <p:nvPr/>
        </p:nvSpPr>
        <p:spPr>
          <a:xfrm>
            <a:off x="1078992" y="5166360"/>
            <a:ext cx="2194560" cy="365760"/>
          </a:xfrm>
          <a:prstGeom prst="rect">
            <a:avLst/>
          </a:prstGeom>
          <a:noFill/>
        </p:spPr>
        <p:txBody>
          <a:bodyPr wrap="square" lIns="0" rIns="0" tIns="0" bIns="0" anchor="t">
            <a:spAutoFit/>
          </a:bodyPr>
          <a:lstStyle/>
          <a:p>
            <a:pPr algn="l"/>
            <a:r>
              <a:rPr sz="1400" b="1" i="0">
                <a:solidFill>
                  <a:srgbClr val="0F8B8D"/>
                </a:solidFill>
                <a:latin typeface="Arial"/>
              </a:rPr>
              <a:t>Dựng AR cho x</a:t>
            </a:r>
          </a:p>
        </p:txBody>
      </p:sp>
      <p:sp>
        <p:nvSpPr>
          <p:cNvPr id="11" name="TextBox 10"/>
          <p:cNvSpPr txBox="1"/>
          <p:nvPr/>
        </p:nvSpPr>
        <p:spPr>
          <a:xfrm>
            <a:off x="548640" y="5650992"/>
            <a:ext cx="2651760" cy="914400"/>
          </a:xfrm>
          <a:prstGeom prst="rect">
            <a:avLst/>
          </a:prstGeom>
          <a:noFill/>
        </p:spPr>
        <p:txBody>
          <a:bodyPr wrap="square" lIns="0" rIns="0" tIns="0" bIns="0" anchor="t">
            <a:spAutoFit/>
          </a:bodyPr>
          <a:lstStyle/>
          <a:p>
            <a:pPr algn="l"/>
            <a:r>
              <a:rPr sz="1300" b="0" i="0">
                <a:solidFill>
                  <a:srgbClr val="1B2A41"/>
                </a:solidFill>
                <a:latin typeface="Arial"/>
              </a:rPr>
              <a:t>Tìm phần x tự đoán được từ quá khứ của chính nó (ở đây AR(48)).</a:t>
            </a:r>
          </a:p>
        </p:txBody>
      </p:sp>
      <p:sp>
        <p:nvSpPr>
          <p:cNvPr id="12" name="Oval 11"/>
          <p:cNvSpPr/>
          <p:nvPr/>
        </p:nvSpPr>
        <p:spPr>
          <a:xfrm>
            <a:off x="3364992" y="5148072"/>
            <a:ext cx="420624" cy="420624"/>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1" i="0">
                <a:solidFill>
                  <a:srgbClr val="FFFFFF"/>
                </a:solidFill>
                <a:latin typeface="Arial"/>
              </a:rPr>
              <a:t>2</a:t>
            </a:r>
          </a:p>
        </p:txBody>
      </p:sp>
      <p:sp>
        <p:nvSpPr>
          <p:cNvPr id="13" name="TextBox 12"/>
          <p:cNvSpPr txBox="1"/>
          <p:nvPr/>
        </p:nvSpPr>
        <p:spPr>
          <a:xfrm>
            <a:off x="3895344" y="5166360"/>
            <a:ext cx="2194560" cy="365760"/>
          </a:xfrm>
          <a:prstGeom prst="rect">
            <a:avLst/>
          </a:prstGeom>
          <a:noFill/>
        </p:spPr>
        <p:txBody>
          <a:bodyPr wrap="square" lIns="0" rIns="0" tIns="0" bIns="0" anchor="t">
            <a:spAutoFit/>
          </a:bodyPr>
          <a:lstStyle/>
          <a:p>
            <a:pPr algn="l"/>
            <a:r>
              <a:rPr sz="1400" b="1" i="0">
                <a:solidFill>
                  <a:srgbClr val="0F8B8D"/>
                </a:solidFill>
                <a:latin typeface="Arial"/>
              </a:rPr>
              <a:t>Lọc x</a:t>
            </a:r>
          </a:p>
        </p:txBody>
      </p:sp>
      <p:sp>
        <p:nvSpPr>
          <p:cNvPr id="14" name="TextBox 13"/>
          <p:cNvSpPr txBox="1"/>
          <p:nvPr/>
        </p:nvSpPr>
        <p:spPr>
          <a:xfrm>
            <a:off x="3364992" y="5650992"/>
            <a:ext cx="2651760" cy="914400"/>
          </a:xfrm>
          <a:prstGeom prst="rect">
            <a:avLst/>
          </a:prstGeom>
          <a:noFill/>
        </p:spPr>
        <p:txBody>
          <a:bodyPr wrap="square" lIns="0" rIns="0" tIns="0" bIns="0" anchor="t">
            <a:spAutoFit/>
          </a:bodyPr>
          <a:lstStyle/>
          <a:p>
            <a:pPr algn="l"/>
            <a:r>
              <a:rPr sz="1300" b="0" i="0">
                <a:solidFill>
                  <a:srgbClr val="1B2A41"/>
                </a:solidFill>
                <a:latin typeface="Arial"/>
              </a:rPr>
              <a:t>Trừ phần tự đoán được, còn lại phần “bất ngờ” của x.</a:t>
            </a:r>
          </a:p>
        </p:txBody>
      </p:sp>
      <p:sp>
        <p:nvSpPr>
          <p:cNvPr id="15" name="Oval 14"/>
          <p:cNvSpPr/>
          <p:nvPr/>
        </p:nvSpPr>
        <p:spPr>
          <a:xfrm>
            <a:off x="6181344" y="5148072"/>
            <a:ext cx="420624" cy="420624"/>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1" i="0">
                <a:solidFill>
                  <a:srgbClr val="FFFFFF"/>
                </a:solidFill>
                <a:latin typeface="Arial"/>
              </a:rPr>
              <a:t>3</a:t>
            </a:r>
          </a:p>
        </p:txBody>
      </p:sp>
      <p:sp>
        <p:nvSpPr>
          <p:cNvPr id="16" name="TextBox 15"/>
          <p:cNvSpPr txBox="1"/>
          <p:nvPr/>
        </p:nvSpPr>
        <p:spPr>
          <a:xfrm>
            <a:off x="6711696" y="5166360"/>
            <a:ext cx="2194560" cy="365760"/>
          </a:xfrm>
          <a:prstGeom prst="rect">
            <a:avLst/>
          </a:prstGeom>
          <a:noFill/>
        </p:spPr>
        <p:txBody>
          <a:bodyPr wrap="square" lIns="0" rIns="0" tIns="0" bIns="0" anchor="t">
            <a:spAutoFit/>
          </a:bodyPr>
          <a:lstStyle/>
          <a:p>
            <a:pPr algn="l"/>
            <a:r>
              <a:rPr sz="1400" b="1" i="0">
                <a:solidFill>
                  <a:srgbClr val="0F8B8D"/>
                </a:solidFill>
                <a:latin typeface="Arial"/>
              </a:rPr>
              <a:t>Lọc y cùng bộ lọc</a:t>
            </a:r>
          </a:p>
        </p:txBody>
      </p:sp>
      <p:sp>
        <p:nvSpPr>
          <p:cNvPr id="17" name="TextBox 16"/>
          <p:cNvSpPr txBox="1"/>
          <p:nvPr/>
        </p:nvSpPr>
        <p:spPr>
          <a:xfrm>
            <a:off x="6181344" y="5650992"/>
            <a:ext cx="2651760" cy="914400"/>
          </a:xfrm>
          <a:prstGeom prst="rect">
            <a:avLst/>
          </a:prstGeom>
          <a:noFill/>
        </p:spPr>
        <p:txBody>
          <a:bodyPr wrap="square" lIns="0" rIns="0" tIns="0" bIns="0" anchor="t">
            <a:spAutoFit/>
          </a:bodyPr>
          <a:lstStyle/>
          <a:p>
            <a:pPr algn="l"/>
            <a:r>
              <a:rPr sz="1300" b="0" i="0">
                <a:solidFill>
                  <a:srgbClr val="1B2A41"/>
                </a:solidFill>
                <a:latin typeface="Arial"/>
              </a:rPr>
              <a:t>Dùng đúng hệ số của x để lọc y, không dựng mô hình riêng.</a:t>
            </a:r>
          </a:p>
        </p:txBody>
      </p:sp>
      <p:sp>
        <p:nvSpPr>
          <p:cNvPr id="18" name="Oval 17"/>
          <p:cNvSpPr/>
          <p:nvPr/>
        </p:nvSpPr>
        <p:spPr>
          <a:xfrm>
            <a:off x="8997696" y="5148072"/>
            <a:ext cx="420624" cy="420624"/>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1" i="0">
                <a:solidFill>
                  <a:srgbClr val="FFFFFF"/>
                </a:solidFill>
                <a:latin typeface="Arial"/>
              </a:rPr>
              <a:t>4</a:t>
            </a:r>
          </a:p>
        </p:txBody>
      </p:sp>
      <p:sp>
        <p:nvSpPr>
          <p:cNvPr id="19" name="TextBox 18"/>
          <p:cNvSpPr txBox="1"/>
          <p:nvPr/>
        </p:nvSpPr>
        <p:spPr>
          <a:xfrm>
            <a:off x="9528048" y="5166360"/>
            <a:ext cx="2194560" cy="365760"/>
          </a:xfrm>
          <a:prstGeom prst="rect">
            <a:avLst/>
          </a:prstGeom>
          <a:noFill/>
        </p:spPr>
        <p:txBody>
          <a:bodyPr wrap="square" lIns="0" rIns="0" tIns="0" bIns="0" anchor="t">
            <a:spAutoFit/>
          </a:bodyPr>
          <a:lstStyle/>
          <a:p>
            <a:pPr algn="l"/>
            <a:r>
              <a:rPr sz="1400" b="1" i="0">
                <a:solidFill>
                  <a:srgbClr val="0F8B8D"/>
                </a:solidFill>
                <a:latin typeface="Arial"/>
              </a:rPr>
              <a:t>Tính CCF</a:t>
            </a:r>
          </a:p>
        </p:txBody>
      </p:sp>
      <p:sp>
        <p:nvSpPr>
          <p:cNvPr id="20" name="TextBox 19"/>
          <p:cNvSpPr txBox="1"/>
          <p:nvPr/>
        </p:nvSpPr>
        <p:spPr>
          <a:xfrm>
            <a:off x="8997696" y="5650992"/>
            <a:ext cx="2651760" cy="914400"/>
          </a:xfrm>
          <a:prstGeom prst="rect">
            <a:avLst/>
          </a:prstGeom>
          <a:noFill/>
        </p:spPr>
        <p:txBody>
          <a:bodyPr wrap="square" lIns="0" rIns="0" tIns="0" bIns="0" anchor="t">
            <a:spAutoFit/>
          </a:bodyPr>
          <a:lstStyle/>
          <a:p>
            <a:pPr algn="l"/>
            <a:r>
              <a:rPr sz="1300" b="0" i="0">
                <a:solidFill>
                  <a:srgbClr val="1B2A41"/>
                </a:solidFill>
                <a:latin typeface="Arial"/>
              </a:rPr>
              <a:t>Đỉnh còn lại ở trễ nào thì x đi trước y chừng ấy bước.</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Một hệ số cho cả năm che mất các mùa</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8</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rolling correlation · regime</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Quan hệ giữa nhiệt độ và tải điện có giữ nguyên suốt năm không?</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Kiểm quan hệ có ổn định theo thời gian không, trước khi dùng một con số cho cả năm.</a:t>
            </a:r>
          </a:p>
        </p:txBody>
      </p:sp>
      <p:sp>
        <p:nvSpPr>
          <p:cNvPr id="8" name="Rounded Rectangle 7"/>
          <p:cNvSpPr/>
          <p:nvPr/>
        </p:nvSpPr>
        <p:spPr>
          <a:xfrm>
            <a:off x="548640" y="2432303"/>
            <a:ext cx="11091672"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432303"/>
            <a:ext cx="1097280" cy="658368"/>
          </a:xfrm>
          <a:prstGeom prst="rect">
            <a:avLst/>
          </a:prstGeom>
          <a:noFill/>
        </p:spPr>
        <p:txBody>
          <a:bodyPr wrap="square" lIns="0" rIns="0" tIns="0" bIns="0" anchor="ctr">
            <a:spAutoFit/>
          </a:bodyPr>
          <a:lstStyle/>
          <a:p>
            <a:pPr algn="l"/>
            <a:r>
              <a:rPr sz="1200" b="1" i="0">
                <a:solidFill>
                  <a:srgbClr val="0F8B8D"/>
                </a:solidFill>
                <a:latin typeface="Arial"/>
              </a:rPr>
              <a:t>Công thức</a:t>
            </a:r>
          </a:p>
        </p:txBody>
      </p:sp>
      <p:pic>
        <p:nvPicPr>
          <p:cNvPr id="10" name="Picture 9" descr="afb0bbca1b0a.png"/>
          <p:cNvPicPr>
            <a:picLocks noChangeAspect="1"/>
          </p:cNvPicPr>
          <p:nvPr/>
        </p:nvPicPr>
        <p:blipFill>
          <a:blip r:embed="rId2"/>
          <a:stretch>
            <a:fillRect/>
          </a:stretch>
        </p:blipFill>
        <p:spPr>
          <a:xfrm>
            <a:off x="1783080" y="2628899"/>
            <a:ext cx="3846576" cy="265176"/>
          </a:xfrm>
          <a:prstGeom prst="rect">
            <a:avLst/>
          </a:prstGeom>
        </p:spPr>
      </p:pic>
      <p:sp>
        <p:nvSpPr>
          <p:cNvPr id="11" name="TextBox 10"/>
          <p:cNvSpPr txBox="1"/>
          <p:nvPr/>
        </p:nvSpPr>
        <p:spPr>
          <a:xfrm>
            <a:off x="5812536" y="2432303"/>
            <a:ext cx="5690615" cy="658368"/>
          </a:xfrm>
          <a:prstGeom prst="rect">
            <a:avLst/>
          </a:prstGeom>
          <a:noFill/>
        </p:spPr>
        <p:txBody>
          <a:bodyPr wrap="square" lIns="0" rIns="0" tIns="0" bIns="0" anchor="ctr">
            <a:spAutoFit/>
          </a:bodyPr>
          <a:lstStyle/>
          <a:p>
            <a:pPr algn="l"/>
            <a:r>
              <a:rPr sz="1150" b="0" i="0">
                <a:solidFill>
                  <a:srgbClr val="1B2A41"/>
                </a:solidFill>
                <a:latin typeface="Arial"/>
              </a:rPr>
              <a:t>Mỗi ngày một r, tính trên w ngày gần nhất.</a:t>
            </a:r>
          </a:p>
        </p:txBody>
      </p:sp>
      <p:pic>
        <p:nvPicPr>
          <p:cNvPr id="12" name="Picture 11" descr="truot.png"/>
          <p:cNvPicPr>
            <a:picLocks noChangeAspect="1"/>
          </p:cNvPicPr>
          <p:nvPr/>
        </p:nvPicPr>
        <p:blipFill>
          <a:blip r:embed="rId3"/>
          <a:stretch>
            <a:fillRect/>
          </a:stretch>
        </p:blipFill>
        <p:spPr>
          <a:xfrm>
            <a:off x="3576364" y="3182112"/>
            <a:ext cx="5036222" cy="1755648"/>
          </a:xfrm>
          <a:prstGeom prst="rect">
            <a:avLst/>
          </a:prstGeom>
        </p:spPr>
      </p:pic>
      <p:sp>
        <p:nvSpPr>
          <p:cNvPr id="13" name="Rounded Rectangle 12"/>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5" name="TextBox 14"/>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Tương quan trượt tính r trên từng cửa sổ thời gian, ví dụ 90 ngày, rồi trượt dần cửa sổ đi.</a:t>
            </a:r>
          </a:p>
        </p:txBody>
      </p:sp>
      <p:sp>
        <p:nvSpPr>
          <p:cNvPr id="16" name="Rounded Rectangle 15"/>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Nhận ra thế nào</a:t>
            </a:r>
          </a:p>
        </p:txBody>
      </p:sp>
      <p:sp>
        <p:nvSpPr>
          <p:cNvPr id="18" name="TextBox 17"/>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Đường r đổi dấu theo mùa nghĩa là có nhiều chế độ, phải tách riêng. Đường gần như phẳng thì quan hệ ổn định.</a:t>
            </a:r>
          </a:p>
        </p:txBody>
      </p:sp>
      <p:sp>
        <p:nvSpPr>
          <p:cNvPr id="19" name="Rounded Rectangle 18"/>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21" name="TextBox 20"/>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Nhiệt độ và tải điện: −0,801 với cửa sổ tới 31/3, +0,968 với cửa sổ tới 14/10, còn cả năm chỉ 0,616.</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Granger: “giúp dự báo”, không phải “gây ra”</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8</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Granger causality test · confounder</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Nhiệt độ có “gây ra” tải điện không?</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Kiểm quá khứ của một biến có giúp dự báo biến kia không.</a:t>
            </a:r>
          </a:p>
        </p:txBody>
      </p:sp>
      <p:sp>
        <p:nvSpPr>
          <p:cNvPr id="8" name="Rounded Rectangle 7"/>
          <p:cNvSpPr/>
          <p:nvPr/>
        </p:nvSpPr>
        <p:spPr>
          <a:xfrm>
            <a:off x="548640" y="2432303"/>
            <a:ext cx="11091672" cy="82600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432303"/>
            <a:ext cx="1097280" cy="826008"/>
          </a:xfrm>
          <a:prstGeom prst="rect">
            <a:avLst/>
          </a:prstGeom>
          <a:noFill/>
        </p:spPr>
        <p:txBody>
          <a:bodyPr wrap="square" lIns="0" rIns="0" tIns="0" bIns="0" anchor="ctr">
            <a:spAutoFit/>
          </a:bodyPr>
          <a:lstStyle/>
          <a:p>
            <a:pPr algn="l"/>
            <a:r>
              <a:rPr sz="1200" b="1" i="0">
                <a:solidFill>
                  <a:srgbClr val="0F8B8D"/>
                </a:solidFill>
                <a:latin typeface="Arial"/>
              </a:rPr>
              <a:t>Công thức</a:t>
            </a:r>
          </a:p>
        </p:txBody>
      </p:sp>
      <p:pic>
        <p:nvPicPr>
          <p:cNvPr id="10" name="Picture 9" descr="8095d5b1ea1b.png"/>
          <p:cNvPicPr>
            <a:picLocks noChangeAspect="1"/>
          </p:cNvPicPr>
          <p:nvPr/>
        </p:nvPicPr>
        <p:blipFill>
          <a:blip r:embed="rId2"/>
          <a:stretch>
            <a:fillRect/>
          </a:stretch>
        </p:blipFill>
        <p:spPr>
          <a:xfrm>
            <a:off x="1783080" y="2528715"/>
            <a:ext cx="6611112" cy="633184"/>
          </a:xfrm>
          <a:prstGeom prst="rect">
            <a:avLst/>
          </a:prstGeom>
        </p:spPr>
      </p:pic>
      <p:sp>
        <p:nvSpPr>
          <p:cNvPr id="11" name="TextBox 10"/>
          <p:cNvSpPr txBox="1"/>
          <p:nvPr/>
        </p:nvSpPr>
        <p:spPr>
          <a:xfrm>
            <a:off x="8577072" y="2432303"/>
            <a:ext cx="2926080" cy="826008"/>
          </a:xfrm>
          <a:prstGeom prst="rect">
            <a:avLst/>
          </a:prstGeom>
          <a:noFill/>
        </p:spPr>
        <p:txBody>
          <a:bodyPr wrap="square" lIns="0" rIns="0" tIns="0" bIns="0" anchor="ctr">
            <a:spAutoFit/>
          </a:bodyPr>
          <a:lstStyle/>
          <a:p>
            <a:pPr algn="l"/>
            <a:r>
              <a:rPr sz="1150" b="0" i="0">
                <a:solidFill>
                  <a:srgbClr val="1B2A41"/>
                </a:solidFill>
                <a:latin typeface="Arial"/>
              </a:rPr>
              <a:t>p nhỏ: quá khứ của x giúp dự báo y, chưa nói x gây ra y.</a:t>
            </a:r>
          </a:p>
        </p:txBody>
      </p:sp>
      <p:pic>
        <p:nvPicPr>
          <p:cNvPr id="12" name="Picture 11" descr="granger.png"/>
          <p:cNvPicPr>
            <a:picLocks noChangeAspect="1"/>
          </p:cNvPicPr>
          <p:nvPr/>
        </p:nvPicPr>
        <p:blipFill>
          <a:blip r:embed="rId3"/>
          <a:stretch>
            <a:fillRect/>
          </a:stretch>
        </p:blipFill>
        <p:spPr>
          <a:xfrm>
            <a:off x="3498182" y="3349752"/>
            <a:ext cx="5192586" cy="1588008"/>
          </a:xfrm>
          <a:prstGeom prst="rect">
            <a:avLst/>
          </a:prstGeom>
        </p:spPr>
      </p:pic>
      <p:sp>
        <p:nvSpPr>
          <p:cNvPr id="13" name="Rounded Rectangle 12"/>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5" name="TextBox 14"/>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Granger so sai số dự báo Y khi có và khi không có quá khứ của X. Biến gây nhiễu là thứ thứ ba điều khiển cả hai.</a:t>
            </a:r>
          </a:p>
        </p:txBody>
      </p:sp>
      <p:sp>
        <p:nvSpPr>
          <p:cNvPr id="16" name="Rounded Rectangle 15"/>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Kết quả nói gì</a:t>
            </a:r>
          </a:p>
        </p:txBody>
      </p:sp>
      <p:sp>
        <p:nvSpPr>
          <p:cNvPr id="18" name="TextBox 17"/>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p nhỏ chỉ nói quá khứ X giúp dự báo Y, không nói X gây ra Y. Có ý nghĩa ở cả hai chiều thì nghĩ tới biến gây nhiễu.</a:t>
            </a:r>
          </a:p>
        </p:txBody>
      </p:sp>
      <p:sp>
        <p:nvSpPr>
          <p:cNvPr id="19" name="Rounded Rectangle 18"/>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21" name="TextBox 20"/>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Tải điện và nhiệt độ “Granger” lẫn nhau ở cả hai chiều, vì cả hai cùng chạy theo nhịp ngày.</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Đặc trưng: tóm cả chuỗi thành vài con số</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9</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time series features · scale-free · feature table</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48.000 chuỗi thì không ai xem từng hình. Chuỗi nào khó, chuỗi nào giống nhau?</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So và phân loại hàng nghìn chuỗi mà không phải xem từng hình.</a:t>
            </a:r>
          </a:p>
        </p:txBody>
      </p:sp>
      <p:sp>
        <p:nvSpPr>
          <p:cNvPr id="8" name="Rounded Rectangle 7"/>
          <p:cNvSpPr/>
          <p:nvPr/>
        </p:nvSpPr>
        <p:spPr>
          <a:xfrm>
            <a:off x="548640" y="2432303"/>
            <a:ext cx="11091672"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432303"/>
            <a:ext cx="1097280" cy="658368"/>
          </a:xfrm>
          <a:prstGeom prst="rect">
            <a:avLst/>
          </a:prstGeom>
          <a:noFill/>
        </p:spPr>
        <p:txBody>
          <a:bodyPr wrap="square" lIns="0" rIns="0" tIns="0" bIns="0" anchor="ctr">
            <a:spAutoFit/>
          </a:bodyPr>
          <a:lstStyle/>
          <a:p>
            <a:pPr algn="l"/>
            <a:r>
              <a:rPr sz="1200" b="1" i="0">
                <a:solidFill>
                  <a:srgbClr val="0F8B8D"/>
                </a:solidFill>
                <a:latin typeface="Arial"/>
              </a:rPr>
              <a:t>Công thức</a:t>
            </a:r>
          </a:p>
        </p:txBody>
      </p:sp>
      <p:pic>
        <p:nvPicPr>
          <p:cNvPr id="10" name="Picture 9" descr="413e64fdf766.png"/>
          <p:cNvPicPr>
            <a:picLocks noChangeAspect="1"/>
          </p:cNvPicPr>
          <p:nvPr/>
        </p:nvPicPr>
        <p:blipFill>
          <a:blip r:embed="rId2"/>
          <a:stretch>
            <a:fillRect/>
          </a:stretch>
        </p:blipFill>
        <p:spPr>
          <a:xfrm>
            <a:off x="1783080" y="2596896"/>
            <a:ext cx="3352800" cy="329184"/>
          </a:xfrm>
          <a:prstGeom prst="rect">
            <a:avLst/>
          </a:prstGeom>
        </p:spPr>
      </p:pic>
      <p:sp>
        <p:nvSpPr>
          <p:cNvPr id="11" name="TextBox 10"/>
          <p:cNvSpPr txBox="1"/>
          <p:nvPr/>
        </p:nvSpPr>
        <p:spPr>
          <a:xfrm>
            <a:off x="5602071" y="2432303"/>
            <a:ext cx="5901080" cy="658368"/>
          </a:xfrm>
          <a:prstGeom prst="rect">
            <a:avLst/>
          </a:prstGeom>
          <a:noFill/>
        </p:spPr>
        <p:txBody>
          <a:bodyPr wrap="square" lIns="0" rIns="0" tIns="0" bIns="0" anchor="ctr">
            <a:spAutoFit/>
          </a:bodyPr>
          <a:lstStyle/>
          <a:p>
            <a:pPr algn="l"/>
            <a:r>
              <a:rPr sz="1150" b="0" i="0">
                <a:solidFill>
                  <a:srgbClr val="1B2A41"/>
                </a:solidFill>
                <a:latin typeface="Arial"/>
              </a:rPr>
              <a:t>1,51 / 4 = 1.512 / 4.000 = 0,378.</a:t>
            </a:r>
          </a:p>
        </p:txBody>
      </p:sp>
      <p:pic>
        <p:nvPicPr>
          <p:cNvPr id="12" name="Picture 11" descr="kn-z-score-chuan-hoa.png"/>
          <p:cNvPicPr>
            <a:picLocks noChangeAspect="1"/>
          </p:cNvPicPr>
          <p:nvPr/>
        </p:nvPicPr>
        <p:blipFill>
          <a:blip r:embed="rId3"/>
          <a:stretch>
            <a:fillRect/>
          </a:stretch>
        </p:blipFill>
        <p:spPr>
          <a:xfrm>
            <a:off x="3801610" y="3182112"/>
            <a:ext cx="4585730" cy="1755648"/>
          </a:xfrm>
          <a:prstGeom prst="rect">
            <a:avLst/>
          </a:prstGeom>
        </p:spPr>
      </p:pic>
      <p:sp>
        <p:nvSpPr>
          <p:cNvPr id="13" name="Rounded Rectangle 12"/>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5" name="TextBox 14"/>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Một con số tóm một tính chất của cả chuỗi: CV, r1, F_S, entropy… Mỗi chuỗi thành một hàng số, cả tập thành một bảng.</a:t>
            </a:r>
          </a:p>
        </p:txBody>
      </p:sp>
      <p:sp>
        <p:nvSpPr>
          <p:cNvPr id="16" name="Rounded Rectangle 15"/>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Đặc trưng tốt thế nào</a:t>
            </a:r>
          </a:p>
        </p:txBody>
      </p:sp>
      <p:sp>
        <p:nvSpPr>
          <p:cNvPr id="18" name="TextBox 17"/>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Không đổi theo đơn vị và tính trên cùng độ dài. Nhân chuỗi với 1.000 mà đặc trưng đổi theo thì nó đang đo độ lớn, không đo hình dạng.</a:t>
            </a:r>
          </a:p>
        </p:txBody>
      </p:sp>
      <p:sp>
        <p:nvSpPr>
          <p:cNvPr id="19" name="Rounded Rectangle 18"/>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21" name="TextBox 20"/>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Chuỗi a và 1.000 × a có CV cùng bằng 0,378. Nhân một chuỗi 120 tháng với 1.000: chỉ trung bình và độ lệch chuẩn đổi, mọi đặc trưng khác giữ nguyên.</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Tần số và phổ: chuỗi rung ở nhịp nào</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9, 12</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frequency · spectrum · periodogram · energy</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Trước khi lọc, cần biết chuỗi có những nhịp nào: nhịp nào phải giữ, phần nào là nhiễu?</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Nhìn chuỗi theo nhịp lặp để biết nhịp nào là tín hiệu cần giữ, nhịp nào là nhiễu có thể lọc.</a:t>
            </a:r>
          </a:p>
        </p:txBody>
      </p:sp>
      <p:sp>
        <p:nvSpPr>
          <p:cNvPr id="8" name="Rounded Rectangle 7"/>
          <p:cNvSpPr/>
          <p:nvPr/>
        </p:nvSpPr>
        <p:spPr>
          <a:xfrm>
            <a:off x="548640" y="2432303"/>
            <a:ext cx="6309360"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7b6388b235e6.png"/>
          <p:cNvPicPr>
            <a:picLocks noChangeAspect="1"/>
          </p:cNvPicPr>
          <p:nvPr/>
        </p:nvPicPr>
        <p:blipFill>
          <a:blip r:embed="rId2"/>
          <a:stretch>
            <a:fillRect/>
          </a:stretch>
        </p:blipFill>
        <p:spPr>
          <a:xfrm>
            <a:off x="3189732" y="2570988"/>
            <a:ext cx="1027176" cy="381000"/>
          </a:xfrm>
          <a:prstGeom prst="rect">
            <a:avLst/>
          </a:prstGeom>
        </p:spPr>
      </p:pic>
      <p:pic>
        <p:nvPicPr>
          <p:cNvPr id="10" name="Picture 9" descr="kn-tan-so.png"/>
          <p:cNvPicPr>
            <a:picLocks noChangeAspect="1"/>
          </p:cNvPicPr>
          <p:nvPr/>
        </p:nvPicPr>
        <p:blipFill>
          <a:blip r:embed="rId3"/>
          <a:stretch>
            <a:fillRect/>
          </a:stretch>
        </p:blipFill>
        <p:spPr>
          <a:xfrm>
            <a:off x="548640" y="3344937"/>
            <a:ext cx="6309360" cy="2984477"/>
          </a:xfrm>
          <a:prstGeom prst="rect">
            <a:avLst/>
          </a:prstGeom>
        </p:spPr>
      </p:pic>
      <p:sp>
        <p:nvSpPr>
          <p:cNvPr id="11" name="TextBox 10"/>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2" name="TextBox 11"/>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Tần số: số vòng lặp mỗi bước, bằng 1 / chu kỳ. Phổ (periodogram): mỗi tần số góp bao nhiêu phần dao động (năng lượng) vào chuỗi.</a:t>
            </a:r>
          </a:p>
        </p:txBody>
      </p:sp>
      <p:sp>
        <p:nvSpPr>
          <p:cNvPr id="13" name="TextBox 12"/>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0F8B8D"/>
                </a:solidFill>
                <a:latin typeface="Arial"/>
              </a:rPr>
              <a:t>Tần số thấp hay cao nghĩa là gì</a:t>
            </a:r>
          </a:p>
        </p:txBody>
      </p:sp>
      <p:cxnSp>
        <p:nvCxnSpPr>
          <p:cNvPr id="14" name="Connector 13"/>
          <p:cNvCxnSpPr/>
          <p:nvPr/>
        </p:nvCxnSpPr>
        <p:spPr>
          <a:xfrm>
            <a:off x="7959852" y="4242816"/>
            <a:ext cx="2944368"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7877556"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60336" y="4379976"/>
            <a:ext cx="1399032" cy="274320"/>
          </a:xfrm>
          <a:prstGeom prst="rect">
            <a:avLst/>
          </a:prstGeom>
          <a:noFill/>
        </p:spPr>
        <p:txBody>
          <a:bodyPr wrap="square" lIns="0" rIns="0" tIns="0" bIns="0" anchor="t">
            <a:spAutoFit/>
          </a:bodyPr>
          <a:lstStyle/>
          <a:p>
            <a:pPr algn="ctr"/>
            <a:r>
              <a:rPr sz="1400" b="1" i="0">
                <a:solidFill>
                  <a:srgbClr val="0F8B8D"/>
                </a:solidFill>
                <a:latin typeface="Arial"/>
              </a:rPr>
              <a:t>thấp</a:t>
            </a:r>
          </a:p>
        </p:txBody>
      </p:sp>
      <p:sp>
        <p:nvSpPr>
          <p:cNvPr id="17" name="TextBox 16"/>
          <p:cNvSpPr txBox="1"/>
          <p:nvPr/>
        </p:nvSpPr>
        <p:spPr>
          <a:xfrm>
            <a:off x="7260336"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dao động chậm: xu hướng, mùa năm</a:t>
            </a:r>
          </a:p>
        </p:txBody>
      </p:sp>
      <p:sp>
        <p:nvSpPr>
          <p:cNvPr id="18" name="Oval 17"/>
          <p:cNvSpPr/>
          <p:nvPr/>
        </p:nvSpPr>
        <p:spPr>
          <a:xfrm>
            <a:off x="9349740"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32519" y="4379976"/>
            <a:ext cx="1399032" cy="274320"/>
          </a:xfrm>
          <a:prstGeom prst="rect">
            <a:avLst/>
          </a:prstGeom>
          <a:noFill/>
        </p:spPr>
        <p:txBody>
          <a:bodyPr wrap="square" lIns="0" rIns="0" tIns="0" bIns="0" anchor="t">
            <a:spAutoFit/>
          </a:bodyPr>
          <a:lstStyle/>
          <a:p>
            <a:pPr algn="ctr"/>
            <a:r>
              <a:rPr sz="1200" b="1" i="0">
                <a:solidFill>
                  <a:srgbClr val="0F8B8D"/>
                </a:solidFill>
                <a:latin typeface="Arial"/>
              </a:rPr>
              <a:t>trung bình</a:t>
            </a:r>
          </a:p>
        </p:txBody>
      </p:sp>
      <p:sp>
        <p:nvSpPr>
          <p:cNvPr id="20" name="TextBox 19"/>
          <p:cNvSpPr txBox="1"/>
          <p:nvPr/>
        </p:nvSpPr>
        <p:spPr>
          <a:xfrm>
            <a:off x="8732519"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nhịp ngày, nhịp tuần</a:t>
            </a:r>
          </a:p>
        </p:txBody>
      </p:sp>
      <p:sp>
        <p:nvSpPr>
          <p:cNvPr id="21" name="Oval 20"/>
          <p:cNvSpPr/>
          <p:nvPr/>
        </p:nvSpPr>
        <p:spPr>
          <a:xfrm>
            <a:off x="10821924"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04704" y="4379976"/>
            <a:ext cx="1399032" cy="274320"/>
          </a:xfrm>
          <a:prstGeom prst="rect">
            <a:avLst/>
          </a:prstGeom>
          <a:noFill/>
        </p:spPr>
        <p:txBody>
          <a:bodyPr wrap="square" lIns="0" rIns="0" tIns="0" bIns="0" anchor="t">
            <a:spAutoFit/>
          </a:bodyPr>
          <a:lstStyle/>
          <a:p>
            <a:pPr algn="ctr"/>
            <a:r>
              <a:rPr sz="1400" b="1" i="0">
                <a:solidFill>
                  <a:srgbClr val="0F8B8D"/>
                </a:solidFill>
                <a:latin typeface="Arial"/>
              </a:rPr>
              <a:t>cao</a:t>
            </a:r>
          </a:p>
        </p:txBody>
      </p:sp>
      <p:sp>
        <p:nvSpPr>
          <p:cNvPr id="23" name="TextBox 22"/>
          <p:cNvSpPr txBox="1"/>
          <p:nvPr/>
        </p:nvSpPr>
        <p:spPr>
          <a:xfrm>
            <a:off x="10204704"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dao động rất nhanh, thường là nhiễu</a:t>
            </a:r>
          </a:p>
        </p:txBody>
      </p:sp>
      <p:sp>
        <p:nvSpPr>
          <p:cNvPr id="24" name="TextBox 23"/>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25" name="TextBox 24"/>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Lặp mỗi 12 tháng thì tần số 1/12 ≈ 0,083. Điện thiết bị có đỉnh phổ ở 1 vòng/ngày, và 17,8% năng lượng nhanh hơn 1 giờ.</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Spectral entropy: năng lượng dồn hay trải đều</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9</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spectral entropy · normalized power spectrum</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Chuỗi này có nhịp đều để khai thác, hay gần như ngẫu nhiên?</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Xếp hạng độ khó của hàng nghìn chuỗi trước khi chạy bất kỳ mô hình nào.</a:t>
            </a:r>
          </a:p>
        </p:txBody>
      </p:sp>
      <p:sp>
        <p:nvSpPr>
          <p:cNvPr id="8" name="Rounded Rectangle 7"/>
          <p:cNvSpPr/>
          <p:nvPr/>
        </p:nvSpPr>
        <p:spPr>
          <a:xfrm>
            <a:off x="548640" y="2432303"/>
            <a:ext cx="6309360" cy="93268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9d5485388892.png"/>
          <p:cNvPicPr>
            <a:picLocks noChangeAspect="1"/>
          </p:cNvPicPr>
          <p:nvPr/>
        </p:nvPicPr>
        <p:blipFill>
          <a:blip r:embed="rId2"/>
          <a:stretch>
            <a:fillRect/>
          </a:stretch>
        </p:blipFill>
        <p:spPr>
          <a:xfrm>
            <a:off x="2395788" y="2487168"/>
            <a:ext cx="2615063" cy="822960"/>
          </a:xfrm>
          <a:prstGeom prst="rect">
            <a:avLst/>
          </a:prstGeom>
        </p:spPr>
      </p:pic>
      <p:pic>
        <p:nvPicPr>
          <p:cNvPr id="10" name="Picture 9" descr="entropy-hai-chuoi.png"/>
          <p:cNvPicPr>
            <a:picLocks noChangeAspect="1"/>
          </p:cNvPicPr>
          <p:nvPr/>
        </p:nvPicPr>
        <p:blipFill>
          <a:blip r:embed="rId3"/>
          <a:stretch>
            <a:fillRect/>
          </a:stretch>
        </p:blipFill>
        <p:spPr>
          <a:xfrm>
            <a:off x="692027" y="3456432"/>
            <a:ext cx="6022585" cy="3035808"/>
          </a:xfrm>
          <a:prstGeom prst="rect">
            <a:avLst/>
          </a:prstGeom>
        </p:spPr>
      </p:pic>
      <p:sp>
        <p:nvSpPr>
          <p:cNvPr id="11" name="TextBox 10"/>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2" name="TextBox 11"/>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Đổi phổ thành các phần năng lượng cộng lại bằng 1, như chia một chiếc bánh. Entropy đo bánh chia đều tới đâu: 0 là dồn một đĩa, 1 là chia đều.</a:t>
            </a:r>
          </a:p>
        </p:txBody>
      </p:sp>
      <p:sp>
        <p:nvSpPr>
          <p:cNvPr id="13" name="TextBox 12"/>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 phổ 4 tần số</a:t>
            </a:r>
          </a:p>
        </p:txBody>
      </p:sp>
      <p:cxnSp>
        <p:nvCxnSpPr>
          <p:cNvPr id="14" name="Connector 13"/>
          <p:cNvCxnSpPr/>
          <p:nvPr/>
        </p:nvCxnSpPr>
        <p:spPr>
          <a:xfrm>
            <a:off x="7959852" y="4242816"/>
            <a:ext cx="2944368"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7877556"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60336" y="4379976"/>
            <a:ext cx="1399032" cy="274320"/>
          </a:xfrm>
          <a:prstGeom prst="rect">
            <a:avLst/>
          </a:prstGeom>
          <a:noFill/>
        </p:spPr>
        <p:txBody>
          <a:bodyPr wrap="square" lIns="0" rIns="0" tIns="0" bIns="0" anchor="t">
            <a:spAutoFit/>
          </a:bodyPr>
          <a:lstStyle/>
          <a:p>
            <a:pPr algn="ctr"/>
            <a:r>
              <a:rPr sz="1400" b="1" i="0">
                <a:solidFill>
                  <a:srgbClr val="0F8B8D"/>
                </a:solidFill>
                <a:latin typeface="Arial"/>
              </a:rPr>
              <a:t>0</a:t>
            </a:r>
          </a:p>
        </p:txBody>
      </p:sp>
      <p:sp>
        <p:nvSpPr>
          <p:cNvPr id="17" name="TextBox 16"/>
          <p:cNvSpPr txBox="1"/>
          <p:nvPr/>
        </p:nvSpPr>
        <p:spPr>
          <a:xfrm>
            <a:off x="7260336"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sóng đều: 0; 1; 0; 0</a:t>
            </a:r>
          </a:p>
        </p:txBody>
      </p:sp>
      <p:sp>
        <p:nvSpPr>
          <p:cNvPr id="18" name="Oval 17"/>
          <p:cNvSpPr/>
          <p:nvPr/>
        </p:nvSpPr>
        <p:spPr>
          <a:xfrm>
            <a:off x="9349740"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32519" y="4379976"/>
            <a:ext cx="1399032" cy="274320"/>
          </a:xfrm>
          <a:prstGeom prst="rect">
            <a:avLst/>
          </a:prstGeom>
          <a:noFill/>
        </p:spPr>
        <p:txBody>
          <a:bodyPr wrap="square" lIns="0" rIns="0" tIns="0" bIns="0" anchor="t">
            <a:spAutoFit/>
          </a:bodyPr>
          <a:lstStyle/>
          <a:p>
            <a:pPr algn="ctr"/>
            <a:r>
              <a:rPr sz="1400" b="1" i="0">
                <a:solidFill>
                  <a:srgbClr val="0F8B8D"/>
                </a:solidFill>
                <a:latin typeface="Arial"/>
              </a:rPr>
              <a:t>0,5</a:t>
            </a:r>
          </a:p>
        </p:txBody>
      </p:sp>
      <p:sp>
        <p:nvSpPr>
          <p:cNvPr id="20" name="TextBox 19"/>
          <p:cNvSpPr txBox="1"/>
          <p:nvPr/>
        </p:nvSpPr>
        <p:spPr>
          <a:xfrm>
            <a:off x="8732519"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hai nhịp: 0,5; 0,5; 0; 0</a:t>
            </a:r>
          </a:p>
        </p:txBody>
      </p:sp>
      <p:sp>
        <p:nvSpPr>
          <p:cNvPr id="21" name="Oval 20"/>
          <p:cNvSpPr/>
          <p:nvPr/>
        </p:nvSpPr>
        <p:spPr>
          <a:xfrm>
            <a:off x="10821924"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04704" y="4379976"/>
            <a:ext cx="1399032" cy="274320"/>
          </a:xfrm>
          <a:prstGeom prst="rect">
            <a:avLst/>
          </a:prstGeom>
          <a:noFill/>
        </p:spPr>
        <p:txBody>
          <a:bodyPr wrap="square" lIns="0" rIns="0" tIns="0" bIns="0" anchor="t">
            <a:spAutoFit/>
          </a:bodyPr>
          <a:lstStyle/>
          <a:p>
            <a:pPr algn="ctr"/>
            <a:r>
              <a:rPr sz="1400" b="1" i="0">
                <a:solidFill>
                  <a:srgbClr val="0F8B8D"/>
                </a:solidFill>
                <a:latin typeface="Arial"/>
              </a:rPr>
              <a:t>1</a:t>
            </a:r>
          </a:p>
        </p:txBody>
      </p:sp>
      <p:sp>
        <p:nvSpPr>
          <p:cNvPr id="23" name="TextBox 22"/>
          <p:cNvSpPr txBox="1"/>
          <p:nvPr/>
        </p:nvSpPr>
        <p:spPr>
          <a:xfrm>
            <a:off x="10204704"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nhiễu: 0,25 mỗi tần số</a:t>
            </a:r>
          </a:p>
        </p:txBody>
      </p:sp>
      <p:sp>
        <p:nvSpPr>
          <p:cNvPr id="24" name="TextBox 23"/>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25" name="TextBox 24"/>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Chuỗi mùa vụ 12 tháng: 0,33. Nhiễu thuần: 0,94. Trên 4.000 chuỗi M4: trung vị 0,462; một phần năm số chuỗi từ 0,666 trở lên.</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Đo độ khó bằng sMAPE, không bằng MASE</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9</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forecastability · sMAPE · MASE · scale-free error</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Đo độ khó của từng chuỗi bằng một thước đo không tự triệt tiêu độ khó.</a:t>
            </a:r>
          </a:p>
        </p:txBody>
      </p:sp>
      <p:sp>
        <p:nvSpPr>
          <p:cNvPr id="7" name="Rounded Rectangle 6"/>
          <p:cNvSpPr/>
          <p:nvPr/>
        </p:nvSpPr>
        <p:spPr>
          <a:xfrm>
            <a:off x="548640" y="2066543"/>
            <a:ext cx="11091672" cy="68580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066543"/>
            <a:ext cx="1097280" cy="685800"/>
          </a:xfrm>
          <a:prstGeom prst="rect">
            <a:avLst/>
          </a:prstGeom>
          <a:noFill/>
        </p:spPr>
        <p:txBody>
          <a:bodyPr wrap="square" lIns="0" rIns="0" tIns="0" bIns="0" anchor="ctr">
            <a:spAutoFit/>
          </a:bodyPr>
          <a:lstStyle/>
          <a:p>
            <a:pPr algn="l"/>
            <a:r>
              <a:rPr sz="1200" b="1" i="0">
                <a:solidFill>
                  <a:srgbClr val="0F8B8D"/>
                </a:solidFill>
                <a:latin typeface="Arial"/>
              </a:rPr>
              <a:t>Công thức</a:t>
            </a:r>
          </a:p>
        </p:txBody>
      </p:sp>
      <p:pic>
        <p:nvPicPr>
          <p:cNvPr id="9" name="Picture 8" descr="70408fec0a41.png"/>
          <p:cNvPicPr>
            <a:picLocks noChangeAspect="1"/>
          </p:cNvPicPr>
          <p:nvPr/>
        </p:nvPicPr>
        <p:blipFill>
          <a:blip r:embed="rId2"/>
          <a:stretch>
            <a:fillRect/>
          </a:stretch>
        </p:blipFill>
        <p:spPr>
          <a:xfrm>
            <a:off x="1783080" y="2130552"/>
            <a:ext cx="2575560" cy="557784"/>
          </a:xfrm>
          <a:prstGeom prst="rect">
            <a:avLst/>
          </a:prstGeom>
        </p:spPr>
      </p:pic>
      <p:sp>
        <p:nvSpPr>
          <p:cNvPr id="10" name="TextBox 9"/>
          <p:cNvSpPr txBox="1"/>
          <p:nvPr/>
        </p:nvSpPr>
        <p:spPr>
          <a:xfrm>
            <a:off x="5602071" y="2066543"/>
            <a:ext cx="5901080" cy="685800"/>
          </a:xfrm>
          <a:prstGeom prst="rect">
            <a:avLst/>
          </a:prstGeom>
          <a:noFill/>
        </p:spPr>
        <p:txBody>
          <a:bodyPr wrap="square" lIns="0" rIns="0" tIns="0" bIns="0" anchor="ctr">
            <a:spAutoFit/>
          </a:bodyPr>
          <a:lstStyle/>
          <a:p>
            <a:pPr algn="l"/>
            <a:r>
              <a:rPr sz="1150" b="0" i="0">
                <a:solidFill>
                  <a:srgbClr val="1B2A41"/>
                </a:solidFill>
                <a:latin typeface="Arial"/>
              </a:rPr>
              <a:t>Chia cho mức của chuỗi, không chia cho độ khó của chuỗi như MASE.</a:t>
            </a:r>
          </a:p>
        </p:txBody>
      </p:sp>
      <p:pic>
        <p:nvPicPr>
          <p:cNvPr id="11" name="Picture 10" descr="entropy-sai-so.png"/>
          <p:cNvPicPr>
            <a:picLocks noChangeAspect="1"/>
          </p:cNvPicPr>
          <p:nvPr/>
        </p:nvPicPr>
        <p:blipFill>
          <a:blip r:embed="rId3"/>
          <a:stretch>
            <a:fillRect/>
          </a:stretch>
        </p:blipFill>
        <p:spPr>
          <a:xfrm>
            <a:off x="3050996" y="2843784"/>
            <a:ext cx="6086958" cy="2093976"/>
          </a:xfrm>
          <a:prstGeom prst="rect">
            <a:avLst/>
          </a:prstGeom>
        </p:spPr>
      </p:pic>
      <p:sp>
        <p:nvSpPr>
          <p:cNvPr id="12" name="Rounded Rectangle 11"/>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4" name="TextBox 13"/>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MASE chia sai số cho sai số naive của chính chuỗi đó; sMAPE chia cho mức của chuỗi.</a:t>
            </a:r>
          </a:p>
        </p:txBody>
      </p:sp>
      <p:sp>
        <p:nvSpPr>
          <p:cNvPr id="15" name="Rounded Rectangle 14"/>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Nhận ra thế nào</a:t>
            </a:r>
          </a:p>
        </p:txBody>
      </p:sp>
      <p:sp>
        <p:nvSpPr>
          <p:cNvPr id="17" name="TextBox 16"/>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Chuỗi khó thì mẫu số của MASE cũng lớn, nên MASE của seasonal naive nằm ngang quanh 1 dù chuỗi dễ hay khó. sMAPE mới tăng theo độ khó.</a:t>
            </a:r>
          </a:p>
        </p:txBody>
      </p:sp>
      <p:sp>
        <p:nvSpPr>
          <p:cNvPr id="18" name="Rounded Rectangle 17"/>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20" name="TextBox 19"/>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Tương quan với entropy: sMAPE +0,245, còn MASE chia seasonal naive chỉ −0,048.</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Bản đồ 4.000 chuỗi: vùng nào khó</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9</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PCA · principal component (PC1, PC2) · feature space</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15 đặc trưng là 15 chiều, không vẽ được. Làm sao thấy cả 4.000 chuỗi trên một hình?</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Nhìn cả tập hàng nghìn chuỗi trên một hình, khoanh vùng chuỗi khó và chuỗi lạ.</a:t>
            </a:r>
          </a:p>
        </p:txBody>
      </p:sp>
      <p:pic>
        <p:nvPicPr>
          <p:cNvPr id="8" name="Picture 7" descr="khong-gian-dac-trung.png"/>
          <p:cNvPicPr>
            <a:picLocks noChangeAspect="1"/>
          </p:cNvPicPr>
          <p:nvPr/>
        </p:nvPicPr>
        <p:blipFill>
          <a:blip r:embed="rId2"/>
          <a:stretch>
            <a:fillRect/>
          </a:stretch>
        </p:blipFill>
        <p:spPr>
          <a:xfrm>
            <a:off x="1632401" y="2432303"/>
            <a:ext cx="8924148" cy="2505456"/>
          </a:xfrm>
          <a:prstGeom prst="rect">
            <a:avLst/>
          </a:prstGeom>
        </p:spPr>
      </p:pic>
      <p:sp>
        <p:nvSpPr>
          <p:cNvPr id="9" name="Rounded Rectangle 8"/>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1" name="TextBox 10"/>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PCA chiếu nhiều đặc trưng xuống hai trục giữ được nhiều khác biệt nhất. Mỗi chuỗi thành một chấm.</a:t>
            </a:r>
          </a:p>
        </p:txBody>
      </p:sp>
      <p:sp>
        <p:nvSpPr>
          <p:cNvPr id="12" name="Rounded Rectangle 11"/>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Nhận ra thế nào</a:t>
            </a:r>
          </a:p>
        </p:txBody>
      </p:sp>
      <p:sp>
        <p:nvSpPr>
          <p:cNvPr id="14" name="TextBox 13"/>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Chấm lệch về bên phải là chuỗi lởm chởm, khó. Chấm đứng lẻ xa đám đông là chuỗi lạ, cần xem tận mắt.</a:t>
            </a:r>
          </a:p>
        </p:txBody>
      </p:sp>
      <p:sp>
        <p:nvSpPr>
          <p:cNvPr id="15" name="Rounded Rectangle 14"/>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17" name="TextBox 16"/>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4.000 chuỗi M4: trục ngang giữ 41% khác biệt. Entropy từ 0,666 trở lên và F_S dưới 0,4 thì chỉ cần baseline.</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DTW: gom chuỗi theo hình dạng</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9</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dynamic time warping (DTW) · z-score normalization · Ward clustering</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Hai chuỗi cùng hình dạng có thể lệch nhau một hai bước và khác hẳn độ lớn. Gom chúng thế nào?</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Gom các chuỗi cùng hình dạng để dùng chung cách xử lý hay cùng một mô hình.</a:t>
            </a:r>
          </a:p>
        </p:txBody>
      </p:sp>
      <p:sp>
        <p:nvSpPr>
          <p:cNvPr id="8" name="Rounded Rectangle 7"/>
          <p:cNvSpPr/>
          <p:nvPr/>
        </p:nvSpPr>
        <p:spPr>
          <a:xfrm>
            <a:off x="548640" y="2432303"/>
            <a:ext cx="6309360"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38bfc46aaeb7.png"/>
          <p:cNvPicPr>
            <a:picLocks noChangeAspect="1"/>
          </p:cNvPicPr>
          <p:nvPr/>
        </p:nvPicPr>
        <p:blipFill>
          <a:blip r:embed="rId2"/>
          <a:stretch>
            <a:fillRect/>
          </a:stretch>
        </p:blipFill>
        <p:spPr>
          <a:xfrm>
            <a:off x="640080" y="2631879"/>
            <a:ext cx="6126480" cy="259216"/>
          </a:xfrm>
          <a:prstGeom prst="rect">
            <a:avLst/>
          </a:prstGeom>
        </p:spPr>
      </p:pic>
      <p:pic>
        <p:nvPicPr>
          <p:cNvPr id="10" name="Picture 9" descr="phan-cum-dtw.png"/>
          <p:cNvPicPr>
            <a:picLocks noChangeAspect="1"/>
          </p:cNvPicPr>
          <p:nvPr/>
        </p:nvPicPr>
        <p:blipFill>
          <a:blip r:embed="rId3"/>
          <a:stretch>
            <a:fillRect/>
          </a:stretch>
        </p:blipFill>
        <p:spPr>
          <a:xfrm>
            <a:off x="548640" y="3402529"/>
            <a:ext cx="6309360" cy="2869293"/>
          </a:xfrm>
          <a:prstGeom prst="rect">
            <a:avLst/>
          </a:prstGeom>
        </p:spPr>
      </p:pic>
      <p:sp>
        <p:nvSpPr>
          <p:cNvPr id="11" name="TextBox 10"/>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2" name="TextBox 11"/>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DTW đo khoảng cách hai chuỗi mà cho phép lệch thời gian đôi chút. Ward gộp dần các chuỗi gần nhau thành cụm.</a:t>
            </a:r>
          </a:p>
        </p:txBody>
      </p:sp>
      <p:sp>
        <p:nvSpPr>
          <p:cNvPr id="13" name="TextBox 12"/>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0F8B8D"/>
                </a:solidFill>
                <a:latin typeface="Arial"/>
              </a:rPr>
              <a:t>Nhận ra thế nào</a:t>
            </a:r>
          </a:p>
        </p:txBody>
      </p:sp>
      <p:sp>
        <p:nvSpPr>
          <p:cNvPr id="14" name="TextBox 13"/>
          <p:cNvSpPr txBox="1"/>
          <p:nvPr/>
        </p:nvSpPr>
        <p:spPr>
          <a:xfrm>
            <a:off x="7223760" y="4105655"/>
            <a:ext cx="4416552" cy="1005839"/>
          </a:xfrm>
          <a:prstGeom prst="rect">
            <a:avLst/>
          </a:prstGeom>
          <a:noFill/>
        </p:spPr>
        <p:txBody>
          <a:bodyPr wrap="square" lIns="0" rIns="0" tIns="0" bIns="0" anchor="t">
            <a:spAutoFit/>
          </a:bodyPr>
          <a:lstStyle/>
          <a:p>
            <a:pPr algn="l"/>
            <a:r>
              <a:rPr sz="1500" b="0" i="0">
                <a:solidFill>
                  <a:srgbClr val="1B2A41"/>
                </a:solidFill>
                <a:latin typeface="Arial"/>
              </a:rPr>
              <a:t>DTW nhỏ là cùng hình dạng. Mức trung vị của các cụm tăng đều nghĩa là đang gom theo độ lớn: đã quên chuẩn hoá.</a:t>
            </a:r>
          </a:p>
        </p:txBody>
      </p:sp>
      <p:sp>
        <p:nvSpPr>
          <p:cNvPr id="15" name="TextBox 14"/>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16" name="TextBox 15"/>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Không chuẩn hoá, 4 cụm chỉ khác độ lớn (trung vị 1.585 lên tới 9.832). Chuẩn hoá z-score thì gom đúng theo hình dạng.</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ABC hỏi quan trọng, XYZ hỏi dao động</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9</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ABC–XYZ classification · coefficient of variation (CV)</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Hàng nghìn mã hàng mà ít người. Dồn công sức vào mã nào?</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Chọn nơi đặt công sức: mã hàng nào đáng làm mô hình kỹ nhất.</a:t>
            </a:r>
          </a:p>
        </p:txBody>
      </p:sp>
      <p:sp>
        <p:nvSpPr>
          <p:cNvPr id="8" name="TextBox 7"/>
          <p:cNvSpPr txBox="1"/>
          <p:nvPr/>
        </p:nvSpPr>
        <p:spPr>
          <a:xfrm>
            <a:off x="1325880" y="2084831"/>
            <a:ext cx="10332720" cy="411480"/>
          </a:xfrm>
          <a:prstGeom prst="rect">
            <a:avLst/>
          </a:prstGeom>
          <a:noFill/>
        </p:spPr>
        <p:txBody>
          <a:bodyPr wrap="square" lIns="0" rIns="0" tIns="0" bIns="0" anchor="t">
            <a:spAutoFit/>
          </a:bodyPr>
          <a:lstStyle/>
          <a:p>
            <a:pPr algn="l"/>
            <a:r>
              <a:rPr sz="1700" b="0" i="1">
                <a:solidFill>
                  <a:srgbClr val="0F8B8D"/>
                </a:solidFill>
                <a:latin typeface="Arial"/>
              </a:rPr>
              <a:t>“ABC hỏi cái nào quan trọng, CV hỏi cái nào dao động, sai số baseline mới hỏi cái nào khó.”</a:t>
            </a:r>
          </a:p>
        </p:txBody>
      </p:sp>
      <p:sp>
        <p:nvSpPr>
          <p:cNvPr id="9" name="Rounded Rectangle 8"/>
          <p:cNvSpPr/>
          <p:nvPr/>
        </p:nvSpPr>
        <p:spPr>
          <a:xfrm>
            <a:off x="548640" y="2816351"/>
            <a:ext cx="11091672"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816351"/>
            <a:ext cx="1097280" cy="658368"/>
          </a:xfrm>
          <a:prstGeom prst="rect">
            <a:avLst/>
          </a:prstGeom>
          <a:noFill/>
        </p:spPr>
        <p:txBody>
          <a:bodyPr wrap="square" lIns="0" rIns="0" tIns="0" bIns="0" anchor="ctr">
            <a:spAutoFit/>
          </a:bodyPr>
          <a:lstStyle/>
          <a:p>
            <a:pPr algn="l"/>
            <a:r>
              <a:rPr sz="1200" b="1" i="0">
                <a:solidFill>
                  <a:srgbClr val="0F8B8D"/>
                </a:solidFill>
                <a:latin typeface="Arial"/>
              </a:rPr>
              <a:t>Công thức</a:t>
            </a:r>
          </a:p>
        </p:txBody>
      </p:sp>
      <p:pic>
        <p:nvPicPr>
          <p:cNvPr id="11" name="Picture 10" descr="c9a3d42fbb75.png"/>
          <p:cNvPicPr>
            <a:picLocks noChangeAspect="1"/>
          </p:cNvPicPr>
          <p:nvPr/>
        </p:nvPicPr>
        <p:blipFill>
          <a:blip r:embed="rId2"/>
          <a:stretch>
            <a:fillRect/>
          </a:stretch>
        </p:blipFill>
        <p:spPr>
          <a:xfrm>
            <a:off x="1783080" y="2980944"/>
            <a:ext cx="810768" cy="329184"/>
          </a:xfrm>
          <a:prstGeom prst="rect">
            <a:avLst/>
          </a:prstGeom>
        </p:spPr>
      </p:pic>
      <p:sp>
        <p:nvSpPr>
          <p:cNvPr id="12" name="TextBox 11"/>
          <p:cNvSpPr txBox="1"/>
          <p:nvPr/>
        </p:nvSpPr>
        <p:spPr>
          <a:xfrm>
            <a:off x="5602071" y="2816351"/>
            <a:ext cx="5901080" cy="658368"/>
          </a:xfrm>
          <a:prstGeom prst="rect">
            <a:avLst/>
          </a:prstGeom>
          <a:noFill/>
        </p:spPr>
        <p:txBody>
          <a:bodyPr wrap="square" lIns="0" rIns="0" tIns="0" bIns="0" anchor="ctr">
            <a:spAutoFit/>
          </a:bodyPr>
          <a:lstStyle/>
          <a:p>
            <a:pPr algn="l"/>
            <a:r>
              <a:rPr sz="1150" b="0" i="0">
                <a:solidFill>
                  <a:srgbClr val="1B2A41"/>
                </a:solidFill>
                <a:latin typeface="Arial"/>
              </a:rPr>
              <a:t>Trung bình 100, s = 10 → CV = 0,1.</a:t>
            </a:r>
          </a:p>
        </p:txBody>
      </p:sp>
      <p:pic>
        <p:nvPicPr>
          <p:cNvPr id="13" name="Picture 12" descr="abc-xyz.png"/>
          <p:cNvPicPr>
            <a:picLocks noChangeAspect="1"/>
          </p:cNvPicPr>
          <p:nvPr/>
        </p:nvPicPr>
        <p:blipFill>
          <a:blip r:embed="rId3"/>
          <a:stretch>
            <a:fillRect/>
          </a:stretch>
        </p:blipFill>
        <p:spPr>
          <a:xfrm>
            <a:off x="4206841" y="3566160"/>
            <a:ext cx="3775268" cy="1371600"/>
          </a:xfrm>
          <a:prstGeom prst="rect">
            <a:avLst/>
          </a:prstGeom>
        </p:spPr>
      </p:pic>
      <p:sp>
        <p:nvSpPr>
          <p:cNvPr id="14" name="Rounded Rectangle 13"/>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6" name="TextBox 15"/>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ABC xếp mã hàng theo doanh thu. XYZ xếp theo CV, tức độ lệch chuẩn chia trung bình.</a:t>
            </a:r>
          </a:p>
        </p:txBody>
      </p:sp>
      <p:sp>
        <p:nvSpPr>
          <p:cNvPr id="17" name="Rounded Rectangle 16"/>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CV cao hay thấp nghĩa là gì</a:t>
            </a:r>
          </a:p>
        </p:txBody>
      </p:sp>
      <p:sp>
        <p:nvSpPr>
          <p:cNvPr id="19" name="TextBox 18"/>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600" b="0" i="0">
                <a:solidFill>
                  <a:srgbClr val="1B2A41"/>
                </a:solidFill>
                <a:latin typeface="Arial"/>
              </a:rPr>
              <a:t/>
            </a:r>
          </a:p>
        </p:txBody>
      </p:sp>
      <p:cxnSp>
        <p:nvCxnSpPr>
          <p:cNvPr id="20" name="Connector 19"/>
          <p:cNvCxnSpPr/>
          <p:nvPr/>
        </p:nvCxnSpPr>
        <p:spPr>
          <a:xfrm>
            <a:off x="5246370" y="5532120"/>
            <a:ext cx="1696211"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5164074"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34840" y="5669280"/>
            <a:ext cx="1623060" cy="274320"/>
          </a:xfrm>
          <a:prstGeom prst="rect">
            <a:avLst/>
          </a:prstGeom>
          <a:noFill/>
        </p:spPr>
        <p:txBody>
          <a:bodyPr wrap="square" lIns="0" rIns="0" tIns="0" bIns="0" anchor="t">
            <a:spAutoFit/>
          </a:bodyPr>
          <a:lstStyle/>
          <a:p>
            <a:pPr algn="ctr"/>
            <a:r>
              <a:rPr sz="1400" b="1" i="0">
                <a:solidFill>
                  <a:srgbClr val="0F8B8D"/>
                </a:solidFill>
                <a:latin typeface="Arial"/>
              </a:rPr>
              <a:t>CV thấp</a:t>
            </a:r>
          </a:p>
        </p:txBody>
      </p:sp>
      <p:sp>
        <p:nvSpPr>
          <p:cNvPr id="23" name="TextBox 22"/>
          <p:cNvSpPr txBox="1"/>
          <p:nvPr/>
        </p:nvSpPr>
        <p:spPr>
          <a:xfrm>
            <a:off x="4434840" y="5943600"/>
            <a:ext cx="1623060" cy="548640"/>
          </a:xfrm>
          <a:prstGeom prst="rect">
            <a:avLst/>
          </a:prstGeom>
          <a:noFill/>
        </p:spPr>
        <p:txBody>
          <a:bodyPr wrap="square" lIns="0" rIns="0" tIns="0" bIns="0" anchor="t">
            <a:spAutoFit/>
          </a:bodyPr>
          <a:lstStyle/>
          <a:p>
            <a:pPr algn="ctr"/>
            <a:r>
              <a:rPr sz="1100" b="0" i="0">
                <a:solidFill>
                  <a:srgbClr val="1B2A41"/>
                </a:solidFill>
                <a:latin typeface="Arial"/>
              </a:rPr>
              <a:t>bán đều</a:t>
            </a:r>
          </a:p>
        </p:txBody>
      </p:sp>
      <p:sp>
        <p:nvSpPr>
          <p:cNvPr id="24" name="Oval 23"/>
          <p:cNvSpPr/>
          <p:nvPr/>
        </p:nvSpPr>
        <p:spPr>
          <a:xfrm>
            <a:off x="6860286" y="5449824"/>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31051" y="5669280"/>
            <a:ext cx="1623060" cy="274320"/>
          </a:xfrm>
          <a:prstGeom prst="rect">
            <a:avLst/>
          </a:prstGeom>
          <a:noFill/>
        </p:spPr>
        <p:txBody>
          <a:bodyPr wrap="square" lIns="0" rIns="0" tIns="0" bIns="0" anchor="t">
            <a:spAutoFit/>
          </a:bodyPr>
          <a:lstStyle/>
          <a:p>
            <a:pPr algn="ctr"/>
            <a:r>
              <a:rPr sz="1400" b="1" i="0">
                <a:solidFill>
                  <a:srgbClr val="0F8B8D"/>
                </a:solidFill>
                <a:latin typeface="Arial"/>
              </a:rPr>
              <a:t>CV cao</a:t>
            </a:r>
          </a:p>
        </p:txBody>
      </p:sp>
      <p:sp>
        <p:nvSpPr>
          <p:cNvPr id="26" name="TextBox 25"/>
          <p:cNvSpPr txBox="1"/>
          <p:nvPr/>
        </p:nvSpPr>
        <p:spPr>
          <a:xfrm>
            <a:off x="6131051" y="5943600"/>
            <a:ext cx="1623060" cy="548640"/>
          </a:xfrm>
          <a:prstGeom prst="rect">
            <a:avLst/>
          </a:prstGeom>
          <a:noFill/>
        </p:spPr>
        <p:txBody>
          <a:bodyPr wrap="square" lIns="0" rIns="0" tIns="0" bIns="0" anchor="t">
            <a:spAutoFit/>
          </a:bodyPr>
          <a:lstStyle/>
          <a:p>
            <a:pPr algn="ctr"/>
            <a:r>
              <a:rPr sz="1100" b="0" i="0">
                <a:solidFill>
                  <a:srgbClr val="1B2A41"/>
                </a:solidFill>
                <a:latin typeface="Arial"/>
              </a:rPr>
              <a:t>dao động nhiều, chưa chắc khó đoán</a:t>
            </a:r>
          </a:p>
        </p:txBody>
      </p:sp>
      <p:sp>
        <p:nvSpPr>
          <p:cNvPr id="27" name="Rounded Rectangle 26"/>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29" name="TextBox 28"/>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Online Retail II: nhóm A (một phần năm số mã) mang 74,7% doanh thu. Chuỗi 10, 30, 10, 30 có CV 0,58 mà rất dễ đoán.</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Mỗi feature: biết trước bao lâu?</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13</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feature · calendar feature · lag feature</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Lúc học, mọi con số đều đã có. Lúc dự báo thật thì chưa. Cột nào thật sự có trong tay lúc đó?</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Mỗi cột đầu vào của mô hình chỉ chứa thông tin thật sự có trong tay lúc ra dự báo.</a:t>
            </a:r>
          </a:p>
        </p:txBody>
      </p:sp>
      <p:sp>
        <p:nvSpPr>
          <p:cNvPr id="8" name="Rounded Rectangle 7"/>
          <p:cNvSpPr/>
          <p:nvPr/>
        </p:nvSpPr>
        <p:spPr>
          <a:xfrm>
            <a:off x="548640" y="2432303"/>
            <a:ext cx="11091672"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432303"/>
            <a:ext cx="1097280" cy="658368"/>
          </a:xfrm>
          <a:prstGeom prst="rect">
            <a:avLst/>
          </a:prstGeom>
          <a:noFill/>
        </p:spPr>
        <p:txBody>
          <a:bodyPr wrap="square" lIns="0" rIns="0" tIns="0" bIns="0" anchor="ctr">
            <a:spAutoFit/>
          </a:bodyPr>
          <a:lstStyle/>
          <a:p>
            <a:pPr algn="l"/>
            <a:r>
              <a:rPr sz="1200" b="1" i="0">
                <a:solidFill>
                  <a:srgbClr val="0F8B8D"/>
                </a:solidFill>
                <a:latin typeface="Arial"/>
              </a:rPr>
              <a:t>Công thức</a:t>
            </a:r>
          </a:p>
        </p:txBody>
      </p:sp>
      <p:pic>
        <p:nvPicPr>
          <p:cNvPr id="10" name="Picture 9" descr="afb2fe38f7f8.png"/>
          <p:cNvPicPr>
            <a:picLocks noChangeAspect="1"/>
          </p:cNvPicPr>
          <p:nvPr/>
        </p:nvPicPr>
        <p:blipFill>
          <a:blip r:embed="rId2"/>
          <a:stretch>
            <a:fillRect/>
          </a:stretch>
        </p:blipFill>
        <p:spPr>
          <a:xfrm>
            <a:off x="1783080" y="2628899"/>
            <a:ext cx="4419600" cy="265176"/>
          </a:xfrm>
          <a:prstGeom prst="rect">
            <a:avLst/>
          </a:prstGeom>
        </p:spPr>
      </p:pic>
      <p:sp>
        <p:nvSpPr>
          <p:cNvPr id="11" name="TextBox 10"/>
          <p:cNvSpPr txBox="1"/>
          <p:nvPr/>
        </p:nvSpPr>
        <p:spPr>
          <a:xfrm>
            <a:off x="6385560" y="2432303"/>
            <a:ext cx="5117592" cy="658368"/>
          </a:xfrm>
          <a:prstGeom prst="rect">
            <a:avLst/>
          </a:prstGeom>
          <a:noFill/>
        </p:spPr>
        <p:txBody>
          <a:bodyPr wrap="square" lIns="0" rIns="0" tIns="0" bIns="0" anchor="ctr">
            <a:spAutoFit/>
          </a:bodyPr>
          <a:lstStyle/>
          <a:p>
            <a:pPr algn="l"/>
            <a:r>
              <a:rPr sz="1150" b="0" i="0">
                <a:solidFill>
                  <a:srgbClr val="1B2A41"/>
                </a:solidFill>
                <a:latin typeface="Arial"/>
              </a:rPr>
              <a:t>Dự báo trước 24 giờ thì lag nhỏ nhất là 24.</a:t>
            </a:r>
          </a:p>
        </p:txBody>
      </p:sp>
      <p:pic>
        <p:nvPicPr>
          <p:cNvPr id="12" name="Picture 11" descr="biet-truoc.png"/>
          <p:cNvPicPr>
            <a:picLocks noChangeAspect="1"/>
          </p:cNvPicPr>
          <p:nvPr/>
        </p:nvPicPr>
        <p:blipFill>
          <a:blip r:embed="rId3"/>
          <a:stretch>
            <a:fillRect/>
          </a:stretch>
        </p:blipFill>
        <p:spPr>
          <a:xfrm>
            <a:off x="3858736" y="3182112"/>
            <a:ext cx="4471478" cy="1755648"/>
          </a:xfrm>
          <a:prstGeom prst="rect">
            <a:avLst/>
          </a:prstGeom>
        </p:spPr>
      </p:pic>
      <p:sp>
        <p:nvSpPr>
          <p:cNvPr id="13" name="Rounded Rectangle 12"/>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5" name="TextBox 14"/>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Feature là một cột đầu vào. Ba nhóm hợp lệ: lịch (biết mãi mãi), kế hoạch đã công bố, và quá khứ của chuỗi.</a:t>
            </a:r>
          </a:p>
        </p:txBody>
      </p:sp>
      <p:sp>
        <p:nvSpPr>
          <p:cNvPr id="16" name="Rounded Rectangle 15"/>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Nhận ra thế nào</a:t>
            </a:r>
          </a:p>
        </p:txBody>
      </p:sp>
      <p:sp>
        <p:nvSpPr>
          <p:cNvPr id="18" name="TextBox 17"/>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Feature không xếp được vào ba nhóm là đáng nghi rò rỉ. Số quá khứ phải cách thời điểm cần dự báo ít nhất h bước.</a:t>
            </a:r>
          </a:p>
        </p:txBody>
      </p:sp>
      <p:sp>
        <p:nvSpPr>
          <p:cNvPr id="19" name="Rounded Rectangle 18"/>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21" name="TextBox 20"/>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41 feature của buổi 13: 23 cột là lịch, 18 cột lấy từ quá khứ của chuỗi.</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Dự báo trước h bước: shift h trước, rolling sau</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13</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lag feature · rolling feature · shift</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Tạo feature từ quá khứ mà không vô tình chứa chính ngày đang cần dự báo.</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0F8B8D"/>
                </a:solidFill>
                <a:latin typeface="Arial"/>
              </a:rPr>
              <a:t>“Lag nhìn về một điểm quá khứ; rolling lấy trung bình một vùng gần đây.”</a:t>
            </a:r>
          </a:p>
        </p:txBody>
      </p:sp>
      <p:sp>
        <p:nvSpPr>
          <p:cNvPr id="8" name="Rectangle 7"/>
          <p:cNvSpPr/>
          <p:nvPr/>
        </p:nvSpPr>
        <p:spPr>
          <a:xfrm>
            <a:off x="548640" y="2148840"/>
            <a:ext cx="3108960" cy="548640"/>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1" i="0">
                <a:solidFill>
                  <a:srgbClr val="FFFFFF"/>
                </a:solidFill>
                <a:latin typeface="Arial"/>
              </a:rPr>
              <a:t>ngày</a:t>
            </a:r>
          </a:p>
        </p:txBody>
      </p:sp>
      <p:sp>
        <p:nvSpPr>
          <p:cNvPr id="9" name="Rectangle 8"/>
          <p:cNvSpPr/>
          <p:nvPr/>
        </p:nvSpPr>
        <p:spPr>
          <a:xfrm>
            <a:off x="3657600" y="2148840"/>
            <a:ext cx="1325880" cy="548640"/>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1" i="0">
                <a:solidFill>
                  <a:srgbClr val="FFFFFF"/>
                </a:solidFill>
                <a:latin typeface="Arial"/>
              </a:rPr>
              <a:t>1</a:t>
            </a:r>
          </a:p>
        </p:txBody>
      </p:sp>
      <p:sp>
        <p:nvSpPr>
          <p:cNvPr id="10" name="Rectangle 9"/>
          <p:cNvSpPr/>
          <p:nvPr/>
        </p:nvSpPr>
        <p:spPr>
          <a:xfrm>
            <a:off x="4983480" y="2148840"/>
            <a:ext cx="1325880" cy="548640"/>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1" i="0">
                <a:solidFill>
                  <a:srgbClr val="FFFFFF"/>
                </a:solidFill>
                <a:latin typeface="Arial"/>
              </a:rPr>
              <a:t>2</a:t>
            </a:r>
          </a:p>
        </p:txBody>
      </p:sp>
      <p:sp>
        <p:nvSpPr>
          <p:cNvPr id="11" name="Rectangle 10"/>
          <p:cNvSpPr/>
          <p:nvPr/>
        </p:nvSpPr>
        <p:spPr>
          <a:xfrm>
            <a:off x="6309360" y="2148840"/>
            <a:ext cx="1325880" cy="548640"/>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1" i="0">
                <a:solidFill>
                  <a:srgbClr val="FFFFFF"/>
                </a:solidFill>
                <a:latin typeface="Arial"/>
              </a:rPr>
              <a:t>3</a:t>
            </a:r>
          </a:p>
        </p:txBody>
      </p:sp>
      <p:sp>
        <p:nvSpPr>
          <p:cNvPr id="12" name="Rectangle 11"/>
          <p:cNvSpPr/>
          <p:nvPr/>
        </p:nvSpPr>
        <p:spPr>
          <a:xfrm>
            <a:off x="7635240" y="2148840"/>
            <a:ext cx="1325880" cy="548640"/>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1" i="0">
                <a:solidFill>
                  <a:srgbClr val="FFFFFF"/>
                </a:solidFill>
                <a:latin typeface="Arial"/>
              </a:rPr>
              <a:t>4</a:t>
            </a:r>
          </a:p>
        </p:txBody>
      </p:sp>
      <p:sp>
        <p:nvSpPr>
          <p:cNvPr id="13" name="Rectangle 12"/>
          <p:cNvSpPr/>
          <p:nvPr/>
        </p:nvSpPr>
        <p:spPr>
          <a:xfrm>
            <a:off x="8961119" y="2148840"/>
            <a:ext cx="1325880" cy="548640"/>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1" i="0">
                <a:solidFill>
                  <a:srgbClr val="FFFFFF"/>
                </a:solidFill>
                <a:latin typeface="Arial"/>
              </a:rPr>
              <a:t>5</a:t>
            </a:r>
          </a:p>
        </p:txBody>
      </p:sp>
      <p:sp>
        <p:nvSpPr>
          <p:cNvPr id="14" name="Rectangle 13"/>
          <p:cNvSpPr/>
          <p:nvPr/>
        </p:nvSpPr>
        <p:spPr>
          <a:xfrm>
            <a:off x="10286999" y="2148840"/>
            <a:ext cx="1325880" cy="548640"/>
          </a:xfrm>
          <a:prstGeom prst="rect">
            <a:avLst/>
          </a:prstGeom>
          <a:solidFill>
            <a:srgbClr val="1B2A41"/>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1" i="0">
                <a:solidFill>
                  <a:srgbClr val="FFFFFF"/>
                </a:solidFill>
                <a:latin typeface="Arial"/>
              </a:rPr>
              <a:t>6</a:t>
            </a:r>
          </a:p>
        </p:txBody>
      </p:sp>
      <p:sp>
        <p:nvSpPr>
          <p:cNvPr id="15" name="Rectangle 14"/>
          <p:cNvSpPr/>
          <p:nvPr/>
        </p:nvSpPr>
        <p:spPr>
          <a:xfrm>
            <a:off x="548640" y="2697480"/>
            <a:ext cx="3108960" cy="548640"/>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1B2A41"/>
                </a:solidFill>
                <a:latin typeface="Arial"/>
              </a:rPr>
              <a:t>y</a:t>
            </a:r>
          </a:p>
        </p:txBody>
      </p:sp>
      <p:sp>
        <p:nvSpPr>
          <p:cNvPr id="16" name="Rectangle 15"/>
          <p:cNvSpPr/>
          <p:nvPr/>
        </p:nvSpPr>
        <p:spPr>
          <a:xfrm>
            <a:off x="3657600" y="2697480"/>
            <a:ext cx="1325880" cy="548640"/>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1B2A41"/>
                </a:solidFill>
                <a:latin typeface="Arial"/>
              </a:rPr>
              <a:t>10</a:t>
            </a:r>
          </a:p>
        </p:txBody>
      </p:sp>
      <p:sp>
        <p:nvSpPr>
          <p:cNvPr id="17" name="Rectangle 16"/>
          <p:cNvSpPr/>
          <p:nvPr/>
        </p:nvSpPr>
        <p:spPr>
          <a:xfrm>
            <a:off x="4983480" y="2697480"/>
            <a:ext cx="1325880" cy="548640"/>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1B2A41"/>
                </a:solidFill>
                <a:latin typeface="Arial"/>
              </a:rPr>
              <a:t>20</a:t>
            </a:r>
          </a:p>
        </p:txBody>
      </p:sp>
      <p:sp>
        <p:nvSpPr>
          <p:cNvPr id="18" name="Rectangle 17"/>
          <p:cNvSpPr/>
          <p:nvPr/>
        </p:nvSpPr>
        <p:spPr>
          <a:xfrm>
            <a:off x="6309360" y="2697480"/>
            <a:ext cx="1325880" cy="548640"/>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1B2A41"/>
                </a:solidFill>
                <a:latin typeface="Arial"/>
              </a:rPr>
              <a:t>30</a:t>
            </a:r>
          </a:p>
        </p:txBody>
      </p:sp>
      <p:sp>
        <p:nvSpPr>
          <p:cNvPr id="19" name="Rectangle 18"/>
          <p:cNvSpPr/>
          <p:nvPr/>
        </p:nvSpPr>
        <p:spPr>
          <a:xfrm>
            <a:off x="7635240" y="2697480"/>
            <a:ext cx="1325880" cy="548640"/>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1B2A41"/>
                </a:solidFill>
                <a:latin typeface="Arial"/>
              </a:rPr>
              <a:t>40</a:t>
            </a:r>
          </a:p>
        </p:txBody>
      </p:sp>
      <p:sp>
        <p:nvSpPr>
          <p:cNvPr id="20" name="Rectangle 19"/>
          <p:cNvSpPr/>
          <p:nvPr/>
        </p:nvSpPr>
        <p:spPr>
          <a:xfrm>
            <a:off x="8961119" y="2697480"/>
            <a:ext cx="1325880" cy="548640"/>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1B2A41"/>
                </a:solidFill>
                <a:latin typeface="Arial"/>
              </a:rPr>
              <a:t>50</a:t>
            </a:r>
          </a:p>
        </p:txBody>
      </p:sp>
      <p:sp>
        <p:nvSpPr>
          <p:cNvPr id="21" name="Rectangle 20"/>
          <p:cNvSpPr/>
          <p:nvPr/>
        </p:nvSpPr>
        <p:spPr>
          <a:xfrm>
            <a:off x="10286999" y="2697480"/>
            <a:ext cx="1325880" cy="548640"/>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1B2A41"/>
                </a:solidFill>
                <a:latin typeface="Arial"/>
              </a:rPr>
              <a:t>60</a:t>
            </a:r>
          </a:p>
        </p:txBody>
      </p:sp>
      <p:sp>
        <p:nvSpPr>
          <p:cNvPr id="22" name="Rectangle 21"/>
          <p:cNvSpPr/>
          <p:nvPr/>
        </p:nvSpPr>
        <p:spPr>
          <a:xfrm>
            <a:off x="548640" y="3246120"/>
            <a:ext cx="3108960" cy="548640"/>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1B2A41"/>
                </a:solidFill>
                <a:latin typeface="Arial"/>
              </a:rPr>
              <a:t>shift(3)</a:t>
            </a:r>
          </a:p>
        </p:txBody>
      </p:sp>
      <p:sp>
        <p:nvSpPr>
          <p:cNvPr id="23" name="Rectangle 22"/>
          <p:cNvSpPr/>
          <p:nvPr/>
        </p:nvSpPr>
        <p:spPr>
          <a:xfrm>
            <a:off x="3657600" y="3246120"/>
            <a:ext cx="1325880" cy="548640"/>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1B2A41"/>
                </a:solidFill>
                <a:latin typeface="Arial"/>
              </a:rPr>
              <a:t>–</a:t>
            </a:r>
          </a:p>
        </p:txBody>
      </p:sp>
      <p:sp>
        <p:nvSpPr>
          <p:cNvPr id="24" name="Rectangle 23"/>
          <p:cNvSpPr/>
          <p:nvPr/>
        </p:nvSpPr>
        <p:spPr>
          <a:xfrm>
            <a:off x="4983480" y="3246120"/>
            <a:ext cx="1325880" cy="548640"/>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1B2A41"/>
                </a:solidFill>
                <a:latin typeface="Arial"/>
              </a:rPr>
              <a:t>–</a:t>
            </a:r>
          </a:p>
        </p:txBody>
      </p:sp>
      <p:sp>
        <p:nvSpPr>
          <p:cNvPr id="25" name="Rectangle 24"/>
          <p:cNvSpPr/>
          <p:nvPr/>
        </p:nvSpPr>
        <p:spPr>
          <a:xfrm>
            <a:off x="6309360" y="3246120"/>
            <a:ext cx="1325880" cy="548640"/>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1B2A41"/>
                </a:solidFill>
                <a:latin typeface="Arial"/>
              </a:rPr>
              <a:t>–</a:t>
            </a:r>
          </a:p>
        </p:txBody>
      </p:sp>
      <p:sp>
        <p:nvSpPr>
          <p:cNvPr id="26" name="Rectangle 25"/>
          <p:cNvSpPr/>
          <p:nvPr/>
        </p:nvSpPr>
        <p:spPr>
          <a:xfrm>
            <a:off x="7635240" y="3246120"/>
            <a:ext cx="1325880" cy="548640"/>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1B2A41"/>
                </a:solidFill>
                <a:latin typeface="Arial"/>
              </a:rPr>
              <a:t>10</a:t>
            </a:r>
          </a:p>
        </p:txBody>
      </p:sp>
      <p:sp>
        <p:nvSpPr>
          <p:cNvPr id="27" name="Rectangle 26"/>
          <p:cNvSpPr/>
          <p:nvPr/>
        </p:nvSpPr>
        <p:spPr>
          <a:xfrm>
            <a:off x="8961119" y="3246120"/>
            <a:ext cx="1325880" cy="548640"/>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1B2A41"/>
                </a:solidFill>
                <a:latin typeface="Arial"/>
              </a:rPr>
              <a:t>20</a:t>
            </a:r>
          </a:p>
        </p:txBody>
      </p:sp>
      <p:sp>
        <p:nvSpPr>
          <p:cNvPr id="28" name="Rectangle 27"/>
          <p:cNvSpPr/>
          <p:nvPr/>
        </p:nvSpPr>
        <p:spPr>
          <a:xfrm>
            <a:off x="10286999" y="3246120"/>
            <a:ext cx="1325880" cy="548640"/>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1B2A41"/>
                </a:solidFill>
                <a:latin typeface="Arial"/>
              </a:rPr>
              <a:t>30</a:t>
            </a:r>
          </a:p>
        </p:txBody>
      </p:sp>
      <p:sp>
        <p:nvSpPr>
          <p:cNvPr id="29" name="Rectangle 28"/>
          <p:cNvSpPr/>
          <p:nvPr/>
        </p:nvSpPr>
        <p:spPr>
          <a:xfrm>
            <a:off x="548640" y="3794760"/>
            <a:ext cx="3108960" cy="548640"/>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1B2A41"/>
                </a:solidFill>
                <a:latin typeface="Arial"/>
              </a:rPr>
              <a:t>shift(3) rồi rolling(2)</a:t>
            </a:r>
          </a:p>
        </p:txBody>
      </p:sp>
      <p:sp>
        <p:nvSpPr>
          <p:cNvPr id="30" name="Rectangle 29"/>
          <p:cNvSpPr/>
          <p:nvPr/>
        </p:nvSpPr>
        <p:spPr>
          <a:xfrm>
            <a:off x="3657600" y="3794760"/>
            <a:ext cx="1325880" cy="548640"/>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1B2A41"/>
                </a:solidFill>
                <a:latin typeface="Arial"/>
              </a:rPr>
              <a:t>–</a:t>
            </a:r>
          </a:p>
        </p:txBody>
      </p:sp>
      <p:sp>
        <p:nvSpPr>
          <p:cNvPr id="31" name="Rectangle 30"/>
          <p:cNvSpPr/>
          <p:nvPr/>
        </p:nvSpPr>
        <p:spPr>
          <a:xfrm>
            <a:off x="4983480" y="3794760"/>
            <a:ext cx="1325880" cy="548640"/>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1B2A41"/>
                </a:solidFill>
                <a:latin typeface="Arial"/>
              </a:rPr>
              <a:t>–</a:t>
            </a:r>
          </a:p>
        </p:txBody>
      </p:sp>
      <p:sp>
        <p:nvSpPr>
          <p:cNvPr id="32" name="Rectangle 31"/>
          <p:cNvSpPr/>
          <p:nvPr/>
        </p:nvSpPr>
        <p:spPr>
          <a:xfrm>
            <a:off x="6309360" y="3794760"/>
            <a:ext cx="1325880" cy="548640"/>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1B2A41"/>
                </a:solidFill>
                <a:latin typeface="Arial"/>
              </a:rPr>
              <a:t>–</a:t>
            </a:r>
          </a:p>
        </p:txBody>
      </p:sp>
      <p:sp>
        <p:nvSpPr>
          <p:cNvPr id="33" name="Rectangle 32"/>
          <p:cNvSpPr/>
          <p:nvPr/>
        </p:nvSpPr>
        <p:spPr>
          <a:xfrm>
            <a:off x="7635240" y="3794760"/>
            <a:ext cx="1325880" cy="548640"/>
          </a:xfrm>
          <a:prstGeom prst="rect">
            <a:avLst/>
          </a:prstGeom>
          <a:solidFill>
            <a:srgbClr val="F3F5F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1B2A41"/>
                </a:solidFill>
                <a:latin typeface="Arial"/>
              </a:rPr>
              <a:t>–</a:t>
            </a:r>
          </a:p>
        </p:txBody>
      </p:sp>
      <p:sp>
        <p:nvSpPr>
          <p:cNvPr id="34" name="Rectangle 33"/>
          <p:cNvSpPr/>
          <p:nvPr/>
        </p:nvSpPr>
        <p:spPr>
          <a:xfrm>
            <a:off x="8961119" y="3794760"/>
            <a:ext cx="1325880" cy="548640"/>
          </a:xfrm>
          <a:prstGeom prst="rect">
            <a:avLst/>
          </a:prstGeom>
          <a:solidFill>
            <a:srgbClr val="E6F4EC"/>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1E8449"/>
                </a:solidFill>
                <a:latin typeface="Arial"/>
              </a:rPr>
              <a:t>15</a:t>
            </a:r>
          </a:p>
        </p:txBody>
      </p:sp>
      <p:sp>
        <p:nvSpPr>
          <p:cNvPr id="35" name="Rectangle 34"/>
          <p:cNvSpPr/>
          <p:nvPr/>
        </p:nvSpPr>
        <p:spPr>
          <a:xfrm>
            <a:off x="10286999" y="3794760"/>
            <a:ext cx="1325880" cy="548640"/>
          </a:xfrm>
          <a:prstGeom prst="rect">
            <a:avLst/>
          </a:prstGeom>
          <a:solidFill>
            <a:srgbClr val="E6F4EC"/>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1E8449"/>
                </a:solidFill>
                <a:latin typeface="Arial"/>
              </a:rPr>
              <a:t>25</a:t>
            </a:r>
          </a:p>
        </p:txBody>
      </p:sp>
      <p:sp>
        <p:nvSpPr>
          <p:cNvPr id="36" name="Rectangle 35"/>
          <p:cNvSpPr/>
          <p:nvPr/>
        </p:nvSpPr>
        <p:spPr>
          <a:xfrm>
            <a:off x="548640" y="4343400"/>
            <a:ext cx="3108960" cy="548640"/>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1B2A41"/>
                </a:solidFill>
                <a:latin typeface="Arial"/>
              </a:rPr>
              <a:t>rolling(2), quên shift</a:t>
            </a:r>
          </a:p>
        </p:txBody>
      </p:sp>
      <p:sp>
        <p:nvSpPr>
          <p:cNvPr id="37" name="Rectangle 36"/>
          <p:cNvSpPr/>
          <p:nvPr/>
        </p:nvSpPr>
        <p:spPr>
          <a:xfrm>
            <a:off x="3657600" y="4343400"/>
            <a:ext cx="1325880" cy="548640"/>
          </a:xfrm>
          <a:prstGeom prst="rect">
            <a:avLst/>
          </a:prstGeom>
          <a:solidFill>
            <a:srgbClr val="FFFFFF"/>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1B2A41"/>
                </a:solidFill>
                <a:latin typeface="Arial"/>
              </a:rPr>
              <a:t>–</a:t>
            </a:r>
          </a:p>
        </p:txBody>
      </p:sp>
      <p:sp>
        <p:nvSpPr>
          <p:cNvPr id="38" name="Rectangle 37"/>
          <p:cNvSpPr/>
          <p:nvPr/>
        </p:nvSpPr>
        <p:spPr>
          <a:xfrm>
            <a:off x="4983480" y="4343400"/>
            <a:ext cx="1325880" cy="548640"/>
          </a:xfrm>
          <a:prstGeom prst="rect">
            <a:avLst/>
          </a:prstGeom>
          <a:solidFill>
            <a:srgbClr val="FBEAE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C0392B"/>
                </a:solidFill>
                <a:latin typeface="Arial"/>
              </a:rPr>
              <a:t>15</a:t>
            </a:r>
          </a:p>
        </p:txBody>
      </p:sp>
      <p:sp>
        <p:nvSpPr>
          <p:cNvPr id="39" name="Rectangle 38"/>
          <p:cNvSpPr/>
          <p:nvPr/>
        </p:nvSpPr>
        <p:spPr>
          <a:xfrm>
            <a:off x="6309360" y="4343400"/>
            <a:ext cx="1325880" cy="548640"/>
          </a:xfrm>
          <a:prstGeom prst="rect">
            <a:avLst/>
          </a:prstGeom>
          <a:solidFill>
            <a:srgbClr val="FBEAE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C0392B"/>
                </a:solidFill>
                <a:latin typeface="Arial"/>
              </a:rPr>
              <a:t>25</a:t>
            </a:r>
          </a:p>
        </p:txBody>
      </p:sp>
      <p:sp>
        <p:nvSpPr>
          <p:cNvPr id="40" name="Rectangle 39"/>
          <p:cNvSpPr/>
          <p:nvPr/>
        </p:nvSpPr>
        <p:spPr>
          <a:xfrm>
            <a:off x="7635240" y="4343400"/>
            <a:ext cx="1325880" cy="548640"/>
          </a:xfrm>
          <a:prstGeom prst="rect">
            <a:avLst/>
          </a:prstGeom>
          <a:solidFill>
            <a:srgbClr val="FBEAE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C0392B"/>
                </a:solidFill>
                <a:latin typeface="Arial"/>
              </a:rPr>
              <a:t>35</a:t>
            </a:r>
          </a:p>
        </p:txBody>
      </p:sp>
      <p:sp>
        <p:nvSpPr>
          <p:cNvPr id="41" name="Rectangle 40"/>
          <p:cNvSpPr/>
          <p:nvPr/>
        </p:nvSpPr>
        <p:spPr>
          <a:xfrm>
            <a:off x="8961119" y="4343400"/>
            <a:ext cx="1325880" cy="548640"/>
          </a:xfrm>
          <a:prstGeom prst="rect">
            <a:avLst/>
          </a:prstGeom>
          <a:solidFill>
            <a:srgbClr val="FBEAE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C0392B"/>
                </a:solidFill>
                <a:latin typeface="Arial"/>
              </a:rPr>
              <a:t>45</a:t>
            </a:r>
          </a:p>
        </p:txBody>
      </p:sp>
      <p:sp>
        <p:nvSpPr>
          <p:cNvPr id="42" name="Rectangle 41"/>
          <p:cNvSpPr/>
          <p:nvPr/>
        </p:nvSpPr>
        <p:spPr>
          <a:xfrm>
            <a:off x="10286999" y="4343400"/>
            <a:ext cx="1325880" cy="548640"/>
          </a:xfrm>
          <a:prstGeom prst="rect">
            <a:avLst/>
          </a:prstGeom>
          <a:solidFill>
            <a:srgbClr val="FBEAE8"/>
          </a:solidFill>
          <a:ln w="15875">
            <a:solidFill>
              <a:srgbClr val="D5DBE3"/>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600" b="0" i="0">
                <a:solidFill>
                  <a:srgbClr val="C0392B"/>
                </a:solidFill>
                <a:latin typeface="Arial"/>
              </a:rPr>
              <a:t>55</a:t>
            </a:r>
          </a:p>
        </p:txBody>
      </p:sp>
      <p:sp>
        <p:nvSpPr>
          <p:cNvPr id="43" name="Rounded Rectangle 42"/>
          <p:cNvSpPr/>
          <p:nvPr/>
        </p:nvSpPr>
        <p:spPr>
          <a:xfrm>
            <a:off x="548640" y="5120640"/>
            <a:ext cx="5440680" cy="1188720"/>
          </a:xfrm>
          <a:prstGeom prst="roundRect">
            <a:avLst>
              <a:gd name="adj" fmla="val 1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77240" y="5257800"/>
            <a:ext cx="4983480" cy="274320"/>
          </a:xfrm>
          <a:prstGeom prst="rect">
            <a:avLst/>
          </a:prstGeom>
          <a:noFill/>
        </p:spPr>
        <p:txBody>
          <a:bodyPr wrap="square" lIns="0" rIns="0" tIns="0" bIns="0" anchor="t">
            <a:spAutoFit/>
          </a:bodyPr>
          <a:lstStyle/>
          <a:p>
            <a:pPr algn="l"/>
            <a:r>
              <a:rPr sz="1300" b="1" i="0">
                <a:solidFill>
                  <a:srgbClr val="1E8449"/>
                </a:solidFill>
                <a:latin typeface="Arial"/>
              </a:rPr>
              <a:t>Đúng (h = 3)</a:t>
            </a:r>
          </a:p>
        </p:txBody>
      </p:sp>
      <p:sp>
        <p:nvSpPr>
          <p:cNvPr id="45" name="TextBox 44"/>
          <p:cNvSpPr txBox="1"/>
          <p:nvPr/>
        </p:nvSpPr>
        <p:spPr>
          <a:xfrm>
            <a:off x="777240" y="5532120"/>
            <a:ext cx="4983480" cy="731520"/>
          </a:xfrm>
          <a:prstGeom prst="rect">
            <a:avLst/>
          </a:prstGeom>
          <a:noFill/>
        </p:spPr>
        <p:txBody>
          <a:bodyPr wrap="square" lIns="0" rIns="0" tIns="0" bIns="0" anchor="t">
            <a:spAutoFit/>
          </a:bodyPr>
          <a:lstStyle/>
          <a:p>
            <a:pPr algn="l">
              <a:spcAft>
                <a:spcPts val="300"/>
              </a:spcAft>
            </a:pPr>
            <a:r>
              <a:rPr sz="1600" b="0" i="0">
                <a:solidFill>
                  <a:srgbClr val="1B2A41"/>
                </a:solidFill>
                <a:latin typeface="Arial"/>
              </a:rPr>
              <a:t>Ngày 6 dùng trung bình ngày 2–3: đã biết từ ngày 3.</a:t>
            </a:r>
          </a:p>
        </p:txBody>
      </p:sp>
      <p:sp>
        <p:nvSpPr>
          <p:cNvPr id="46" name="Rounded Rectangle 45"/>
          <p:cNvSpPr/>
          <p:nvPr/>
        </p:nvSpPr>
        <p:spPr>
          <a:xfrm>
            <a:off x="6199632" y="5120640"/>
            <a:ext cx="5440680" cy="1188720"/>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28232" y="5257800"/>
            <a:ext cx="4983480" cy="274320"/>
          </a:xfrm>
          <a:prstGeom prst="rect">
            <a:avLst/>
          </a:prstGeom>
          <a:noFill/>
        </p:spPr>
        <p:txBody>
          <a:bodyPr wrap="square" lIns="0" rIns="0" tIns="0" bIns="0" anchor="t">
            <a:spAutoFit/>
          </a:bodyPr>
          <a:lstStyle/>
          <a:p>
            <a:pPr algn="l"/>
            <a:r>
              <a:rPr sz="1300" b="1" i="0">
                <a:solidFill>
                  <a:srgbClr val="C0392B"/>
                </a:solidFill>
                <a:latin typeface="Arial"/>
              </a:rPr>
              <a:t>Rò rỉ</a:t>
            </a:r>
          </a:p>
        </p:txBody>
      </p:sp>
      <p:sp>
        <p:nvSpPr>
          <p:cNvPr id="48" name="TextBox 47"/>
          <p:cNvSpPr txBox="1"/>
          <p:nvPr/>
        </p:nvSpPr>
        <p:spPr>
          <a:xfrm>
            <a:off x="6428232" y="5532120"/>
            <a:ext cx="4983480" cy="731520"/>
          </a:xfrm>
          <a:prstGeom prst="rect">
            <a:avLst/>
          </a:prstGeom>
          <a:noFill/>
        </p:spPr>
        <p:txBody>
          <a:bodyPr wrap="square" lIns="0" rIns="0" tIns="0" bIns="0" anchor="t">
            <a:spAutoFit/>
          </a:bodyPr>
          <a:lstStyle/>
          <a:p>
            <a:pPr algn="l">
              <a:spcAft>
                <a:spcPts val="300"/>
              </a:spcAft>
            </a:pPr>
            <a:r>
              <a:rPr sz="1600" b="0" i="0">
                <a:solidFill>
                  <a:srgbClr val="1B2A41"/>
                </a:solidFill>
                <a:latin typeface="Arial"/>
              </a:rPr>
              <a:t>Ngày 6 dùng ngày 5–6: lúc dự báo (ngày 3) chưa có.</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Feature lịch: sin/cos, Fourier, Tết âm lịch</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13</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cyclical encoding (sin/cos) · Fourier terms · moving holiday</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Đưa lịch (thứ, tháng, ngày lễ) vào mô hình theo cách mô hình hiểu được.</a:t>
            </a:r>
          </a:p>
        </p:txBody>
      </p:sp>
      <p:sp>
        <p:nvSpPr>
          <p:cNvPr id="7" name="Rounded Rectangle 6"/>
          <p:cNvSpPr/>
          <p:nvPr/>
        </p:nvSpPr>
        <p:spPr>
          <a:xfrm>
            <a:off x="548640" y="2066543"/>
            <a:ext cx="11091672"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066543"/>
            <a:ext cx="1097280" cy="658368"/>
          </a:xfrm>
          <a:prstGeom prst="rect">
            <a:avLst/>
          </a:prstGeom>
          <a:noFill/>
        </p:spPr>
        <p:txBody>
          <a:bodyPr wrap="square" lIns="0" rIns="0" tIns="0" bIns="0" anchor="ctr">
            <a:spAutoFit/>
          </a:bodyPr>
          <a:lstStyle/>
          <a:p>
            <a:pPr algn="l"/>
            <a:r>
              <a:rPr sz="1200" b="1" i="0">
                <a:solidFill>
                  <a:srgbClr val="0F8B8D"/>
                </a:solidFill>
                <a:latin typeface="Arial"/>
              </a:rPr>
              <a:t>Công thức</a:t>
            </a:r>
          </a:p>
        </p:txBody>
      </p:sp>
      <p:pic>
        <p:nvPicPr>
          <p:cNvPr id="9" name="Picture 8" descr="8b7077e2d35d.png"/>
          <p:cNvPicPr>
            <a:picLocks noChangeAspect="1"/>
          </p:cNvPicPr>
          <p:nvPr/>
        </p:nvPicPr>
        <p:blipFill>
          <a:blip r:embed="rId2"/>
          <a:stretch>
            <a:fillRect/>
          </a:stretch>
        </p:blipFill>
        <p:spPr>
          <a:xfrm>
            <a:off x="1783080" y="2234411"/>
            <a:ext cx="6611112" cy="322633"/>
          </a:xfrm>
          <a:prstGeom prst="rect">
            <a:avLst/>
          </a:prstGeom>
        </p:spPr>
      </p:pic>
      <p:sp>
        <p:nvSpPr>
          <p:cNvPr id="10" name="TextBox 9"/>
          <p:cNvSpPr txBox="1"/>
          <p:nvPr/>
        </p:nvSpPr>
        <p:spPr>
          <a:xfrm>
            <a:off x="8577072" y="2066543"/>
            <a:ext cx="2926080" cy="658368"/>
          </a:xfrm>
          <a:prstGeom prst="rect">
            <a:avLst/>
          </a:prstGeom>
          <a:noFill/>
        </p:spPr>
        <p:txBody>
          <a:bodyPr wrap="square" lIns="0" rIns="0" tIns="0" bIns="0" anchor="ctr">
            <a:spAutoFit/>
          </a:bodyPr>
          <a:lstStyle/>
          <a:p>
            <a:pPr algn="l"/>
            <a:r>
              <a:rPr sz="1150" b="0" i="0">
                <a:solidFill>
                  <a:srgbClr val="1B2A41"/>
                </a:solidFill>
                <a:latin typeface="Arial"/>
              </a:rPr>
              <a:t>Ngày 31/12 và 1/1 nằm cạnh nhau trên vòng tròn.</a:t>
            </a:r>
          </a:p>
        </p:txBody>
      </p:sp>
      <p:pic>
        <p:nvPicPr>
          <p:cNvPr id="11" name="Picture 10" descr="tet-di-dong.png"/>
          <p:cNvPicPr>
            <a:picLocks noChangeAspect="1"/>
          </p:cNvPicPr>
          <p:nvPr/>
        </p:nvPicPr>
        <p:blipFill>
          <a:blip r:embed="rId3"/>
          <a:stretch>
            <a:fillRect/>
          </a:stretch>
        </p:blipFill>
        <p:spPr>
          <a:xfrm>
            <a:off x="2768091" y="2816351"/>
            <a:ext cx="6652768" cy="2121408"/>
          </a:xfrm>
          <a:prstGeom prst="rect">
            <a:avLst/>
          </a:prstGeom>
        </p:spPr>
      </p:pic>
      <p:sp>
        <p:nvSpPr>
          <p:cNvPr id="12" name="Rounded Rectangle 11"/>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4" name="TextBox 13"/>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Mã hoá tuần hoàn dùng một cặp sin/cos cho thứ hay tháng. Fourier term dùng vài cặp sin/cos cho mùa vụ dài.</a:t>
            </a:r>
          </a:p>
        </p:txBody>
      </p:sp>
      <p:sp>
        <p:nvSpPr>
          <p:cNvPr id="15" name="Rounded Rectangle 14"/>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Vì sao không ghi thẳng số</a:t>
            </a:r>
          </a:p>
        </p:txBody>
      </p:sp>
      <p:sp>
        <p:nvSpPr>
          <p:cNvPr id="17" name="TextBox 16"/>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Ghi thứ là 1–7 thì Chủ nhật cách thứ Hai rất xa; sin/cos đặt chúng cạnh nhau. Tết theo lịch âm nên tính số ngày tới Tết.</a:t>
            </a:r>
          </a:p>
        </p:txBody>
      </p:sp>
      <p:sp>
        <p:nvSpPr>
          <p:cNvPr id="18" name="Rounded Rectangle 17"/>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20" name="TextBox 19"/>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Tết xê dịch gần một tháng giữa các năm; vào mùng 1, lượt xem Wikipedia chỉ còn 0,62 lần mức thường.</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Số tính trên cả chuỗi mang tương lai vào</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13</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full-sample leakage · scaler fit · target encoding</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Chuẩn hoá cả tập dữ liệu rồi mới chia học và kiểm. Tương lai lọt vào ở đâu?</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Nhận ra rò rỉ không chỉ ở lag hay rolling, mà ở mọi con số tính trên toàn bộ dữ liệu.</a:t>
            </a:r>
          </a:p>
        </p:txBody>
      </p:sp>
      <p:pic>
        <p:nvPicPr>
          <p:cNvPr id="8" name="Picture 7" descr="kn-nhan-qua-cach-dien.png"/>
          <p:cNvPicPr>
            <a:picLocks noChangeAspect="1"/>
          </p:cNvPicPr>
          <p:nvPr/>
        </p:nvPicPr>
        <p:blipFill>
          <a:blip r:embed="rId2"/>
          <a:stretch>
            <a:fillRect/>
          </a:stretch>
        </p:blipFill>
        <p:spPr>
          <a:xfrm>
            <a:off x="548640" y="2869446"/>
            <a:ext cx="6309360" cy="3185651"/>
          </a:xfrm>
          <a:prstGeom prst="rect">
            <a:avLst/>
          </a:prstGeom>
        </p:spPr>
      </p:pic>
      <p:sp>
        <p:nvSpPr>
          <p:cNvPr id="9" name="TextBox 8"/>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0" name="TextBox 9"/>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Một con số tính trên cả dữ liệu, kể cả phần tương lai, rồi đưa vào feature từng ngày: trung bình, độ lệch chuẩn, trung bình nhóm, nội suy hai phía.</a:t>
            </a:r>
          </a:p>
        </p:txBody>
      </p:sp>
      <p:sp>
        <p:nvSpPr>
          <p:cNvPr id="11" name="TextBox 10"/>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0F8B8D"/>
                </a:solidFill>
                <a:latin typeface="Arial"/>
              </a:rPr>
              <a:t>Ba kiểu và cách sửa</a:t>
            </a:r>
          </a:p>
        </p:txBody>
      </p:sp>
      <p:cxnSp>
        <p:nvCxnSpPr>
          <p:cNvPr id="12" name="Connector 11"/>
          <p:cNvCxnSpPr/>
          <p:nvPr/>
        </p:nvCxnSpPr>
        <p:spPr>
          <a:xfrm>
            <a:off x="7959852" y="4242816"/>
            <a:ext cx="2944368"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7877556"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60336" y="4379976"/>
            <a:ext cx="1399032" cy="274320"/>
          </a:xfrm>
          <a:prstGeom prst="rect">
            <a:avLst/>
          </a:prstGeom>
          <a:noFill/>
        </p:spPr>
        <p:txBody>
          <a:bodyPr wrap="square" lIns="0" rIns="0" tIns="0" bIns="0" anchor="t">
            <a:spAutoFit/>
          </a:bodyPr>
          <a:lstStyle/>
          <a:p>
            <a:pPr algn="ctr"/>
            <a:r>
              <a:rPr sz="1200" b="1" i="0">
                <a:solidFill>
                  <a:srgbClr val="0F8B8D"/>
                </a:solidFill>
                <a:latin typeface="Arial"/>
              </a:rPr>
              <a:t>chuẩn hoá cả chuỗi</a:t>
            </a:r>
          </a:p>
        </p:txBody>
      </p:sp>
      <p:sp>
        <p:nvSpPr>
          <p:cNvPr id="15" name="TextBox 14"/>
          <p:cNvSpPr txBox="1"/>
          <p:nvPr/>
        </p:nvSpPr>
        <p:spPr>
          <a:xfrm>
            <a:off x="7260336"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fit scaler chỉ trên phần học</a:t>
            </a:r>
          </a:p>
        </p:txBody>
      </p:sp>
      <p:sp>
        <p:nvSpPr>
          <p:cNvPr id="16" name="Oval 15"/>
          <p:cNvSpPr/>
          <p:nvPr/>
        </p:nvSpPr>
        <p:spPr>
          <a:xfrm>
            <a:off x="9349740"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732519" y="4379976"/>
            <a:ext cx="1399032" cy="274320"/>
          </a:xfrm>
          <a:prstGeom prst="rect">
            <a:avLst/>
          </a:prstGeom>
          <a:noFill/>
        </p:spPr>
        <p:txBody>
          <a:bodyPr wrap="square" lIns="0" rIns="0" tIns="0" bIns="0" anchor="t">
            <a:spAutoFit/>
          </a:bodyPr>
          <a:lstStyle/>
          <a:p>
            <a:pPr algn="ctr"/>
            <a:r>
              <a:rPr sz="1200" b="1" i="0">
                <a:solidFill>
                  <a:srgbClr val="0F8B8D"/>
                </a:solidFill>
                <a:latin typeface="Arial"/>
              </a:rPr>
              <a:t>target encoding</a:t>
            </a:r>
          </a:p>
        </p:txBody>
      </p:sp>
      <p:sp>
        <p:nvSpPr>
          <p:cNvPr id="18" name="TextBox 17"/>
          <p:cNvSpPr txBox="1"/>
          <p:nvPr/>
        </p:nvSpPr>
        <p:spPr>
          <a:xfrm>
            <a:off x="8732519"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chỉ dùng các ngày trước t</a:t>
            </a:r>
          </a:p>
        </p:txBody>
      </p:sp>
      <p:sp>
        <p:nvSpPr>
          <p:cNvPr id="19" name="Oval 18"/>
          <p:cNvSpPr/>
          <p:nvPr/>
        </p:nvSpPr>
        <p:spPr>
          <a:xfrm>
            <a:off x="10821924"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204704" y="4379976"/>
            <a:ext cx="1399032" cy="274320"/>
          </a:xfrm>
          <a:prstGeom prst="rect">
            <a:avLst/>
          </a:prstGeom>
          <a:noFill/>
        </p:spPr>
        <p:txBody>
          <a:bodyPr wrap="square" lIns="0" rIns="0" tIns="0" bIns="0" anchor="t">
            <a:spAutoFit/>
          </a:bodyPr>
          <a:lstStyle/>
          <a:p>
            <a:pPr algn="ctr"/>
            <a:r>
              <a:rPr sz="1200" b="1" i="0">
                <a:solidFill>
                  <a:srgbClr val="0F8B8D"/>
                </a:solidFill>
                <a:latin typeface="Arial"/>
              </a:rPr>
              <a:t>nội suy hai phía</a:t>
            </a:r>
          </a:p>
        </p:txBody>
      </p:sp>
      <p:sp>
        <p:nvSpPr>
          <p:cNvPr id="21" name="TextBox 20"/>
          <p:cNvSpPr txBox="1"/>
          <p:nvPr/>
        </p:nvSpPr>
        <p:spPr>
          <a:xfrm>
            <a:off x="10204704" y="4654296"/>
            <a:ext cx="1399032" cy="548640"/>
          </a:xfrm>
          <a:prstGeom prst="rect">
            <a:avLst/>
          </a:prstGeom>
          <a:noFill/>
        </p:spPr>
        <p:txBody>
          <a:bodyPr wrap="square" lIns="0" rIns="0" tIns="0" bIns="0" anchor="t">
            <a:spAutoFit/>
          </a:bodyPr>
          <a:lstStyle/>
          <a:p>
            <a:pPr algn="ctr"/>
            <a:r>
              <a:rPr sz="1100" b="0" i="0">
                <a:solidFill>
                  <a:srgbClr val="1B2A41"/>
                </a:solidFill>
                <a:latin typeface="Arial"/>
              </a:rPr>
              <a:t>ffill: chỉ dùng số đã có</a:t>
            </a:r>
          </a:p>
        </p:txBody>
      </p:sp>
      <p:sp>
        <p:nvSpPr>
          <p:cNvPr id="22" name="TextBox 21"/>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23" name="TextBox 22"/>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10, 12, 8, 14, 20, 16: trung bình 13,33 đã chứa hai ngày cuối. Nhóm A (10, 8, 20) = 12,67: ngày 1 đã “biết” số 20 của ngày 5.</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Kiểm rò rỉ: cắt tương lai và nhiễu mục tiêu</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13</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leakage test · truncation test · target perturbation</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41 feature, không ai đọc hết từng dòng code. Máy kiểm rò rỉ giúp được không?</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Bắt rò rỉ bằng máy trên mọi hàm tạo feature, không phải đọc từng dòng code.</a:t>
            </a:r>
          </a:p>
        </p:txBody>
      </p:sp>
      <p:pic>
        <p:nvPicPr>
          <p:cNvPr id="8" name="Picture 7" descr="kn-kiem-nhieu-muc-tieu.png"/>
          <p:cNvPicPr>
            <a:picLocks noChangeAspect="1"/>
          </p:cNvPicPr>
          <p:nvPr/>
        </p:nvPicPr>
        <p:blipFill>
          <a:blip r:embed="rId2"/>
          <a:stretch>
            <a:fillRect/>
          </a:stretch>
        </p:blipFill>
        <p:spPr>
          <a:xfrm>
            <a:off x="548640" y="2713014"/>
            <a:ext cx="6309360" cy="3498514"/>
          </a:xfrm>
          <a:prstGeom prst="rect">
            <a:avLst/>
          </a:prstGeom>
        </p:spPr>
      </p:pic>
      <p:sp>
        <p:nvSpPr>
          <p:cNvPr id="9" name="TextBox 8"/>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0F8B8D"/>
                </a:solidFill>
                <a:latin typeface="Arial"/>
              </a:rPr>
              <a:t>Là gì</a:t>
            </a:r>
          </a:p>
        </p:txBody>
      </p:sp>
      <p:sp>
        <p:nvSpPr>
          <p:cNvPr id="10" name="TextBox 9"/>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Cắt tương lai: cắt dữ liệu, tính lại feature, so mọi dòng trước mốc cắt. Nhiễu mục tiêu: đổi y từ một mốc, xem feature lẽ ra đã biết có đổi không.</a:t>
            </a:r>
          </a:p>
        </p:txBody>
      </p:sp>
      <p:sp>
        <p:nvSpPr>
          <p:cNvPr id="11" name="TextBox 10"/>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0F8B8D"/>
                </a:solidFill>
                <a:latin typeface="Arial"/>
              </a:rPr>
              <a:t>Mỗi bài bắt gì</a:t>
            </a:r>
          </a:p>
        </p:txBody>
      </p:sp>
      <p:cxnSp>
        <p:nvCxnSpPr>
          <p:cNvPr id="12" name="Connector 11"/>
          <p:cNvCxnSpPr/>
          <p:nvPr/>
        </p:nvCxnSpPr>
        <p:spPr>
          <a:xfrm>
            <a:off x="8327898" y="4242816"/>
            <a:ext cx="2208276"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245602"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60336" y="4379976"/>
            <a:ext cx="2135124" cy="274320"/>
          </a:xfrm>
          <a:prstGeom prst="rect">
            <a:avLst/>
          </a:prstGeom>
          <a:noFill/>
        </p:spPr>
        <p:txBody>
          <a:bodyPr wrap="square" lIns="0" rIns="0" tIns="0" bIns="0" anchor="t">
            <a:spAutoFit/>
          </a:bodyPr>
          <a:lstStyle/>
          <a:p>
            <a:pPr algn="ctr"/>
            <a:r>
              <a:rPr sz="1200" b="1" i="0">
                <a:solidFill>
                  <a:srgbClr val="0F8B8D"/>
                </a:solidFill>
                <a:latin typeface="Arial"/>
              </a:rPr>
              <a:t>cắt tương lai</a:t>
            </a:r>
          </a:p>
        </p:txBody>
      </p:sp>
      <p:sp>
        <p:nvSpPr>
          <p:cNvPr id="15" name="TextBox 14"/>
          <p:cNvSpPr txBox="1"/>
          <p:nvPr/>
        </p:nvSpPr>
        <p:spPr>
          <a:xfrm>
            <a:off x="7260336" y="4654296"/>
            <a:ext cx="2135124" cy="548640"/>
          </a:xfrm>
          <a:prstGeom prst="rect">
            <a:avLst/>
          </a:prstGeom>
          <a:noFill/>
        </p:spPr>
        <p:txBody>
          <a:bodyPr wrap="square" lIns="0" rIns="0" tIns="0" bIns="0" anchor="t">
            <a:spAutoFit/>
          </a:bodyPr>
          <a:lstStyle/>
          <a:p>
            <a:pPr algn="ctr"/>
            <a:r>
              <a:rPr sz="1100" b="0" i="0">
                <a:solidFill>
                  <a:srgbClr val="1B2A41"/>
                </a:solidFill>
                <a:latin typeface="Arial"/>
              </a:rPr>
              <a:t>rolling không shift, số tính trên cả chuỗi</a:t>
            </a:r>
          </a:p>
        </p:txBody>
      </p:sp>
      <p:sp>
        <p:nvSpPr>
          <p:cNvPr id="16" name="Oval 15"/>
          <p:cNvSpPr/>
          <p:nvPr/>
        </p:nvSpPr>
        <p:spPr>
          <a:xfrm>
            <a:off x="10453878" y="4160520"/>
            <a:ext cx="164592" cy="164592"/>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68612" y="4379976"/>
            <a:ext cx="2135124" cy="274320"/>
          </a:xfrm>
          <a:prstGeom prst="rect">
            <a:avLst/>
          </a:prstGeom>
          <a:noFill/>
        </p:spPr>
        <p:txBody>
          <a:bodyPr wrap="square" lIns="0" rIns="0" tIns="0" bIns="0" anchor="t">
            <a:spAutoFit/>
          </a:bodyPr>
          <a:lstStyle/>
          <a:p>
            <a:pPr algn="ctr"/>
            <a:r>
              <a:rPr sz="1200" b="1" i="0">
                <a:solidFill>
                  <a:srgbClr val="0F8B8D"/>
                </a:solidFill>
                <a:latin typeface="Arial"/>
              </a:rPr>
              <a:t>nhiễu mục tiêu</a:t>
            </a:r>
          </a:p>
        </p:txBody>
      </p:sp>
      <p:sp>
        <p:nvSpPr>
          <p:cNvPr id="18" name="TextBox 17"/>
          <p:cNvSpPr txBox="1"/>
          <p:nvPr/>
        </p:nvSpPr>
        <p:spPr>
          <a:xfrm>
            <a:off x="9468612" y="4654296"/>
            <a:ext cx="2135124" cy="548640"/>
          </a:xfrm>
          <a:prstGeom prst="rect">
            <a:avLst/>
          </a:prstGeom>
          <a:noFill/>
        </p:spPr>
        <p:txBody>
          <a:bodyPr wrap="square" lIns="0" rIns="0" tIns="0" bIns="0" anchor="t">
            <a:spAutoFit/>
          </a:bodyPr>
          <a:lstStyle/>
          <a:p>
            <a:pPr algn="ctr"/>
            <a:r>
              <a:rPr sz="1100" b="0" i="0">
                <a:solidFill>
                  <a:srgbClr val="1B2A41"/>
                </a:solidFill>
                <a:latin typeface="Arial"/>
              </a:rPr>
              <a:t>lag nhỏ hơn tầm dự báo h</a:t>
            </a:r>
          </a:p>
        </p:txBody>
      </p:sp>
      <p:sp>
        <p:nvSpPr>
          <p:cNvPr id="19" name="TextBox 18"/>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0F8B8D"/>
                </a:solidFill>
                <a:latin typeface="Arial"/>
              </a:rPr>
              <a:t>Ví dụ</a:t>
            </a:r>
          </a:p>
        </p:txBody>
      </p:sp>
      <p:sp>
        <p:nvSpPr>
          <p:cNvPr id="20" name="TextBox 19"/>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Cắt sau ngày 4: cột có tâm đổi từ 14 thành NaN, cột đã shift giữ nguyên. Với h = 24, lag_1 đổi ở 23 dòng ngay sau mốc: bị bắt.</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Ngoại sinh: dùng bản dự báo, không số thật</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13</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exogenous variable · ex-ante vs ex-post · point-in-time</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0F8B8D"/>
                </a:solidFill>
                <a:latin typeface="Arial"/>
              </a:rPr>
              <a:t>Vấn đề:  </a:t>
            </a:r>
            <a:r>
              <a:rPr sz="1600" b="0" i="0">
                <a:solidFill>
                  <a:srgbClr val="1B2A41"/>
                </a:solidFill>
                <a:latin typeface="Arial"/>
              </a:rPr>
              <a:t>Tối nay dự báo tải điện trưa mai. Nhiệt độ trưa mai trong tay ta là số nào?</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Đưa nhiệt độ hay số liệu công bố vào mô hình đúng dạng sẽ có trong tay lúc chạy thật.</a:t>
            </a:r>
          </a:p>
        </p:txBody>
      </p:sp>
      <p:pic>
        <p:nvPicPr>
          <p:cNvPr id="8" name="Picture 7" descr="du-bao-vs-that.png"/>
          <p:cNvPicPr>
            <a:picLocks noChangeAspect="1"/>
          </p:cNvPicPr>
          <p:nvPr/>
        </p:nvPicPr>
        <p:blipFill>
          <a:blip r:embed="rId2"/>
          <a:stretch>
            <a:fillRect/>
          </a:stretch>
        </p:blipFill>
        <p:spPr>
          <a:xfrm>
            <a:off x="2089205" y="2432303"/>
            <a:ext cx="8010540" cy="2505456"/>
          </a:xfrm>
          <a:prstGeom prst="rect">
            <a:avLst/>
          </a:prstGeom>
        </p:spPr>
      </p:pic>
      <p:sp>
        <p:nvSpPr>
          <p:cNvPr id="9" name="Rounded Rectangle 8"/>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Là gì</a:t>
            </a:r>
          </a:p>
        </p:txBody>
      </p:sp>
      <p:sp>
        <p:nvSpPr>
          <p:cNvPr id="11" name="TextBox 10"/>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Biến ngoại sinh là biến ngoài chuỗi dùng làm feature. Ex-ante: chỉ dùng bản có lúc dự báo. Ex-post: dùng cả số thật về sau, tức rò rỉ.</a:t>
            </a:r>
          </a:p>
        </p:txBody>
      </p:sp>
      <p:sp>
        <p:nvSpPr>
          <p:cNvPr id="12" name="Rounded Rectangle 11"/>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Nhận ra thế nào</a:t>
            </a:r>
          </a:p>
        </p:txBody>
      </p:sp>
      <p:sp>
        <p:nvSpPr>
          <p:cNvPr id="14" name="TextBox 13"/>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Hỏi với từng biến: lúc ra dự báo đã có con số này chưa? Số bị sửa sau công bố (GDP) thì dùng bản point-in-time, đúng như lúc đó.</a:t>
            </a:r>
          </a:p>
        </p:txBody>
      </p:sp>
      <p:sp>
        <p:nvSpPr>
          <p:cNvPr id="15" name="Rounded Rectangle 14"/>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0F8B8D"/>
                </a:solidFill>
                <a:latin typeface="Arial"/>
              </a:rPr>
              <a:t>Ví dụ</a:t>
            </a:r>
          </a:p>
        </p:txBody>
      </p:sp>
      <p:sp>
        <p:nvSpPr>
          <p:cNvPr id="17" name="TextBox 16"/>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Trưa mai thật 35 °C, bản dự báo có tối nay 33 °C: feature phải là 33. Dự báo trước 1 ngày sai trung bình 1,32 °C, trước 3 ngày 2,07 °C.</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1B2A41"/>
        </a:solidFill>
        <a:effectLst/>
      </p:bgPr>
    </p:bg>
    <p:spTree>
      <p:nvGrpSpPr>
        <p:cNvPr id="1" name=""/>
        <p:cNvGrpSpPr/>
        <p:nvPr/>
      </p:nvGrpSpPr>
      <p:grpSpPr/>
      <p:sp>
        <p:nvSpPr>
          <p:cNvPr id="2" name="Oval 1"/>
          <p:cNvSpPr/>
          <p:nvPr/>
        </p:nvSpPr>
        <p:spPr>
          <a:xfrm>
            <a:off x="822960" y="1828800"/>
            <a:ext cx="1463040" cy="1463040"/>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6000" b="1" i="0">
                <a:solidFill>
                  <a:srgbClr val="FFFFFF"/>
                </a:solidFill>
                <a:latin typeface="Arial"/>
              </a:rPr>
              <a:t>B</a:t>
            </a:r>
          </a:p>
        </p:txBody>
      </p:sp>
      <p:sp>
        <p:nvSpPr>
          <p:cNvPr id="3" name="TextBox 2"/>
          <p:cNvSpPr txBox="1"/>
          <p:nvPr/>
        </p:nvSpPr>
        <p:spPr>
          <a:xfrm>
            <a:off x="822960" y="3611880"/>
            <a:ext cx="6035040" cy="822960"/>
          </a:xfrm>
          <a:prstGeom prst="rect">
            <a:avLst/>
          </a:prstGeom>
          <a:noFill/>
        </p:spPr>
        <p:txBody>
          <a:bodyPr wrap="square" lIns="0" rIns="0" tIns="0" bIns="0" anchor="t">
            <a:spAutoFit/>
          </a:bodyPr>
          <a:lstStyle/>
          <a:p>
            <a:pPr algn="l"/>
            <a:r>
              <a:rPr sz="3800" b="1" i="0">
                <a:solidFill>
                  <a:srgbClr val="FFFFFF"/>
                </a:solidFill>
                <a:latin typeface="Arial"/>
              </a:rPr>
              <a:t>Vấn đề dữ liệu</a:t>
            </a:r>
          </a:p>
        </p:txBody>
      </p:sp>
      <p:sp>
        <p:nvSpPr>
          <p:cNvPr id="4" name="TextBox 3"/>
          <p:cNvSpPr txBox="1"/>
          <p:nvPr/>
        </p:nvSpPr>
        <p:spPr>
          <a:xfrm>
            <a:off x="822960" y="4434840"/>
            <a:ext cx="5120640" cy="457200"/>
          </a:xfrm>
          <a:prstGeom prst="rect">
            <a:avLst/>
          </a:prstGeom>
          <a:noFill/>
        </p:spPr>
        <p:txBody>
          <a:bodyPr wrap="square" lIns="0" rIns="0" tIns="0" bIns="0" anchor="t">
            <a:spAutoFit/>
          </a:bodyPr>
          <a:lstStyle/>
          <a:p>
            <a:pPr algn="l"/>
            <a:r>
              <a:rPr sz="1800" b="1" i="0">
                <a:solidFill>
                  <a:srgbClr val="D9642B"/>
                </a:solidFill>
                <a:latin typeface="Arial"/>
              </a:rPr>
              <a:t>Buổi 3–13</a:t>
            </a:r>
          </a:p>
        </p:txBody>
      </p:sp>
      <p:sp>
        <p:nvSpPr>
          <p:cNvPr id="5" name="TextBox 4"/>
          <p:cNvSpPr txBox="1"/>
          <p:nvPr/>
        </p:nvSpPr>
        <p:spPr>
          <a:xfrm>
            <a:off x="822960" y="4937760"/>
            <a:ext cx="4937760" cy="914400"/>
          </a:xfrm>
          <a:prstGeom prst="rect">
            <a:avLst/>
          </a:prstGeom>
          <a:noFill/>
        </p:spPr>
        <p:txBody>
          <a:bodyPr wrap="square" lIns="0" rIns="0" tIns="0" bIns="0" anchor="t">
            <a:spAutoFit/>
          </a:bodyPr>
          <a:lstStyle/>
          <a:p>
            <a:pPr algn="l"/>
            <a:r>
              <a:rPr sz="1600" b="0" i="0">
                <a:solidFill>
                  <a:srgbClr val="C9D3E0"/>
                </a:solidFill>
                <a:latin typeface="Arial"/>
              </a:rPr>
              <a:t>Mỗi vấn đề: thấy gì thì nghi, kiểm bằng gì, và sửa ra sao.</a:t>
            </a:r>
          </a:p>
        </p:txBody>
      </p:sp>
      <p:cxnSp>
        <p:nvCxnSpPr>
          <p:cNvPr id="6" name="Connector 5"/>
          <p:cNvCxnSpPr/>
          <p:nvPr/>
        </p:nvCxnSpPr>
        <p:spPr>
          <a:xfrm flipH="1" flipV="1">
            <a:off x="7155180" y="2125980"/>
            <a:ext cx="1943100" cy="937259"/>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7155180" y="3063239"/>
            <a:ext cx="1943100" cy="0"/>
          </a:xfrm>
          <a:prstGeom prst="line">
            <a:avLst/>
          </a:prstGeom>
          <a:ln w="19050">
            <a:solidFill>
              <a:srgbClr val="D9642B"/>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7155180" y="3063239"/>
            <a:ext cx="1943100" cy="937261"/>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9098280" y="2125980"/>
            <a:ext cx="1943100" cy="937259"/>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098280" y="3063239"/>
            <a:ext cx="1943100" cy="0"/>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098280" y="3063239"/>
            <a:ext cx="1943100" cy="937261"/>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8298179" y="2697479"/>
            <a:ext cx="1600200" cy="731520"/>
          </a:xfrm>
          <a:prstGeom prst="ellipse">
            <a:avLst/>
          </a:prstGeom>
          <a:solidFill>
            <a:srgbClr val="1B2A41"/>
          </a:solidFill>
          <a:ln w="15875">
            <a:solidFill>
              <a:srgbClr val="8FA3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55080" y="1817369"/>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A. Khái niệm nền</a:t>
            </a:r>
          </a:p>
        </p:txBody>
      </p:sp>
      <p:sp>
        <p:nvSpPr>
          <p:cNvPr id="14" name="Rounded Rectangle 13"/>
          <p:cNvSpPr/>
          <p:nvPr/>
        </p:nvSpPr>
        <p:spPr>
          <a:xfrm>
            <a:off x="6355080" y="2754630"/>
            <a:ext cx="1600200" cy="617220"/>
          </a:xfrm>
          <a:prstGeom prst="roundRect">
            <a:avLst>
              <a:gd name="adj" fmla="val 18000"/>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FFFFFF"/>
                </a:solidFill>
                <a:latin typeface="Arial"/>
              </a:rPr>
              <a:t>B. Vấn đề dữ liệu</a:t>
            </a:r>
          </a:p>
        </p:txBody>
      </p:sp>
      <p:sp>
        <p:nvSpPr>
          <p:cNvPr id="15" name="Rounded Rectangle 14"/>
          <p:cNvSpPr/>
          <p:nvPr/>
        </p:nvSpPr>
        <p:spPr>
          <a:xfrm>
            <a:off x="6355080" y="3691889"/>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C. Bảng tra &amp; từ điển</a:t>
            </a:r>
          </a:p>
        </p:txBody>
      </p:sp>
      <p:sp>
        <p:nvSpPr>
          <p:cNvPr id="16" name="Rounded Rectangle 15"/>
          <p:cNvSpPr/>
          <p:nvPr/>
        </p:nvSpPr>
        <p:spPr>
          <a:xfrm>
            <a:off x="10241280" y="1817369"/>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D. Đánh giá trung thực</a:t>
            </a:r>
          </a:p>
        </p:txBody>
      </p:sp>
      <p:sp>
        <p:nvSpPr>
          <p:cNvPr id="17" name="Rounded Rectangle 16"/>
          <p:cNvSpPr/>
          <p:nvPr/>
        </p:nvSpPr>
        <p:spPr>
          <a:xfrm>
            <a:off x="10241280" y="2754630"/>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E. Quy trình tiền xử lý</a:t>
            </a:r>
          </a:p>
        </p:txBody>
      </p:sp>
      <p:sp>
        <p:nvSpPr>
          <p:cNvPr id="18" name="Rounded Rectangle 17"/>
          <p:cNvSpPr/>
          <p:nvPr/>
        </p:nvSpPr>
        <p:spPr>
          <a:xfrm>
            <a:off x="10241280" y="3691889"/>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F. Dữ liệu &amp; phía trước</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10332720" cy="731520"/>
          </a:xfrm>
          <a:prstGeom prst="rect">
            <a:avLst/>
          </a:prstGeom>
          <a:noFill/>
        </p:spPr>
        <p:txBody>
          <a:bodyPr wrap="square" lIns="0" rIns="0" tIns="0" bIns="0" anchor="ctr">
            <a:spAutoFit/>
          </a:bodyPr>
          <a:lstStyle/>
          <a:p>
            <a:pPr algn="l"/>
            <a:r>
              <a:rPr sz="3000" b="1" i="0">
                <a:solidFill>
                  <a:srgbClr val="1B2A41"/>
                </a:solidFill>
                <a:latin typeface="Arial"/>
              </a:rPr>
              <a:t>Rò rỉ tương lai gặp ở 8 buổi</a:t>
            </a:r>
          </a:p>
        </p:txBody>
      </p:sp>
      <p:sp>
        <p:nvSpPr>
          <p:cNvPr id="4" name="TextBox 3"/>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data leakage · look-ahead bias</a:t>
            </a:r>
          </a:p>
        </p:txBody>
      </p:sp>
      <p:sp>
        <p:nvSpPr>
          <p:cNvPr id="5" name="TextBox 4"/>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Thấy cùng một lỗi quay lại ở nhiều buổi, dưới những dạng khác nhau.</a:t>
            </a:r>
          </a:p>
        </p:txBody>
      </p:sp>
      <p:sp>
        <p:nvSpPr>
          <p:cNvPr id="6" name="TextBox 5"/>
          <p:cNvSpPr txBox="1"/>
          <p:nvPr/>
        </p:nvSpPr>
        <p:spPr>
          <a:xfrm>
            <a:off x="3749039" y="1737360"/>
            <a:ext cx="521207" cy="320040"/>
          </a:xfrm>
          <a:prstGeom prst="rect">
            <a:avLst/>
          </a:prstGeom>
          <a:noFill/>
        </p:spPr>
        <p:txBody>
          <a:bodyPr wrap="square" lIns="0" rIns="0" tIns="0" bIns="0" anchor="t">
            <a:spAutoFit/>
          </a:bodyPr>
          <a:lstStyle/>
          <a:p>
            <a:pPr algn="ctr"/>
            <a:r>
              <a:rPr sz="1300" b="1" i="0">
                <a:solidFill>
                  <a:srgbClr val="5B6778"/>
                </a:solidFill>
                <a:latin typeface="Arial"/>
              </a:rPr>
              <a:t>1</a:t>
            </a:r>
          </a:p>
        </p:txBody>
      </p:sp>
      <p:sp>
        <p:nvSpPr>
          <p:cNvPr id="7" name="TextBox 6"/>
          <p:cNvSpPr txBox="1"/>
          <p:nvPr/>
        </p:nvSpPr>
        <p:spPr>
          <a:xfrm>
            <a:off x="4270248" y="1737360"/>
            <a:ext cx="521207" cy="320040"/>
          </a:xfrm>
          <a:prstGeom prst="rect">
            <a:avLst/>
          </a:prstGeom>
          <a:noFill/>
        </p:spPr>
        <p:txBody>
          <a:bodyPr wrap="square" lIns="0" rIns="0" tIns="0" bIns="0" anchor="t">
            <a:spAutoFit/>
          </a:bodyPr>
          <a:lstStyle/>
          <a:p>
            <a:pPr algn="ctr"/>
            <a:r>
              <a:rPr sz="1300" b="1" i="0">
                <a:solidFill>
                  <a:srgbClr val="5B6778"/>
                </a:solidFill>
                <a:latin typeface="Arial"/>
              </a:rPr>
              <a:t>2</a:t>
            </a:r>
          </a:p>
        </p:txBody>
      </p:sp>
      <p:sp>
        <p:nvSpPr>
          <p:cNvPr id="8" name="TextBox 7"/>
          <p:cNvSpPr txBox="1"/>
          <p:nvPr/>
        </p:nvSpPr>
        <p:spPr>
          <a:xfrm>
            <a:off x="4791455" y="1737360"/>
            <a:ext cx="521207" cy="320040"/>
          </a:xfrm>
          <a:prstGeom prst="rect">
            <a:avLst/>
          </a:prstGeom>
          <a:noFill/>
        </p:spPr>
        <p:txBody>
          <a:bodyPr wrap="square" lIns="0" rIns="0" tIns="0" bIns="0" anchor="t">
            <a:spAutoFit/>
          </a:bodyPr>
          <a:lstStyle/>
          <a:p>
            <a:pPr algn="ctr"/>
            <a:r>
              <a:rPr sz="1300" b="1" i="0">
                <a:solidFill>
                  <a:srgbClr val="5B6778"/>
                </a:solidFill>
                <a:latin typeface="Arial"/>
              </a:rPr>
              <a:t>3</a:t>
            </a:r>
          </a:p>
        </p:txBody>
      </p:sp>
      <p:sp>
        <p:nvSpPr>
          <p:cNvPr id="9" name="TextBox 8"/>
          <p:cNvSpPr txBox="1"/>
          <p:nvPr/>
        </p:nvSpPr>
        <p:spPr>
          <a:xfrm>
            <a:off x="5312664" y="1737360"/>
            <a:ext cx="521207" cy="320040"/>
          </a:xfrm>
          <a:prstGeom prst="rect">
            <a:avLst/>
          </a:prstGeom>
          <a:noFill/>
        </p:spPr>
        <p:txBody>
          <a:bodyPr wrap="square" lIns="0" rIns="0" tIns="0" bIns="0" anchor="t">
            <a:spAutoFit/>
          </a:bodyPr>
          <a:lstStyle/>
          <a:p>
            <a:pPr algn="ctr"/>
            <a:r>
              <a:rPr sz="1300" b="1" i="0">
                <a:solidFill>
                  <a:srgbClr val="5B6778"/>
                </a:solidFill>
                <a:latin typeface="Arial"/>
              </a:rPr>
              <a:t>4</a:t>
            </a:r>
          </a:p>
        </p:txBody>
      </p:sp>
      <p:sp>
        <p:nvSpPr>
          <p:cNvPr id="10" name="TextBox 9"/>
          <p:cNvSpPr txBox="1"/>
          <p:nvPr/>
        </p:nvSpPr>
        <p:spPr>
          <a:xfrm>
            <a:off x="5833871" y="1737360"/>
            <a:ext cx="521207" cy="320040"/>
          </a:xfrm>
          <a:prstGeom prst="rect">
            <a:avLst/>
          </a:prstGeom>
          <a:noFill/>
        </p:spPr>
        <p:txBody>
          <a:bodyPr wrap="square" lIns="0" rIns="0" tIns="0" bIns="0" anchor="t">
            <a:spAutoFit/>
          </a:bodyPr>
          <a:lstStyle/>
          <a:p>
            <a:pPr algn="ctr"/>
            <a:r>
              <a:rPr sz="1300" b="1" i="0">
                <a:solidFill>
                  <a:srgbClr val="5B6778"/>
                </a:solidFill>
                <a:latin typeface="Arial"/>
              </a:rPr>
              <a:t>5</a:t>
            </a:r>
          </a:p>
        </p:txBody>
      </p:sp>
      <p:sp>
        <p:nvSpPr>
          <p:cNvPr id="11" name="TextBox 10"/>
          <p:cNvSpPr txBox="1"/>
          <p:nvPr/>
        </p:nvSpPr>
        <p:spPr>
          <a:xfrm>
            <a:off x="6355079" y="1737360"/>
            <a:ext cx="521207" cy="320040"/>
          </a:xfrm>
          <a:prstGeom prst="rect">
            <a:avLst/>
          </a:prstGeom>
          <a:noFill/>
        </p:spPr>
        <p:txBody>
          <a:bodyPr wrap="square" lIns="0" rIns="0" tIns="0" bIns="0" anchor="t">
            <a:spAutoFit/>
          </a:bodyPr>
          <a:lstStyle/>
          <a:p>
            <a:pPr algn="ctr"/>
            <a:r>
              <a:rPr sz="1300" b="1" i="0">
                <a:solidFill>
                  <a:srgbClr val="5B6778"/>
                </a:solidFill>
                <a:latin typeface="Arial"/>
              </a:rPr>
              <a:t>6</a:t>
            </a:r>
          </a:p>
        </p:txBody>
      </p:sp>
      <p:sp>
        <p:nvSpPr>
          <p:cNvPr id="12" name="TextBox 11"/>
          <p:cNvSpPr txBox="1"/>
          <p:nvPr/>
        </p:nvSpPr>
        <p:spPr>
          <a:xfrm>
            <a:off x="6876288" y="1737360"/>
            <a:ext cx="521207" cy="320040"/>
          </a:xfrm>
          <a:prstGeom prst="rect">
            <a:avLst/>
          </a:prstGeom>
          <a:noFill/>
        </p:spPr>
        <p:txBody>
          <a:bodyPr wrap="square" lIns="0" rIns="0" tIns="0" bIns="0" anchor="t">
            <a:spAutoFit/>
          </a:bodyPr>
          <a:lstStyle/>
          <a:p>
            <a:pPr algn="ctr"/>
            <a:r>
              <a:rPr sz="1300" b="1" i="0">
                <a:solidFill>
                  <a:srgbClr val="5B6778"/>
                </a:solidFill>
                <a:latin typeface="Arial"/>
              </a:rPr>
              <a:t>7</a:t>
            </a:r>
          </a:p>
        </p:txBody>
      </p:sp>
      <p:sp>
        <p:nvSpPr>
          <p:cNvPr id="13" name="TextBox 12"/>
          <p:cNvSpPr txBox="1"/>
          <p:nvPr/>
        </p:nvSpPr>
        <p:spPr>
          <a:xfrm>
            <a:off x="7397496" y="1737360"/>
            <a:ext cx="521207" cy="320040"/>
          </a:xfrm>
          <a:prstGeom prst="rect">
            <a:avLst/>
          </a:prstGeom>
          <a:noFill/>
        </p:spPr>
        <p:txBody>
          <a:bodyPr wrap="square" lIns="0" rIns="0" tIns="0" bIns="0" anchor="t">
            <a:spAutoFit/>
          </a:bodyPr>
          <a:lstStyle/>
          <a:p>
            <a:pPr algn="ctr"/>
            <a:r>
              <a:rPr sz="1300" b="1" i="0">
                <a:solidFill>
                  <a:srgbClr val="5B6778"/>
                </a:solidFill>
                <a:latin typeface="Arial"/>
              </a:rPr>
              <a:t>8</a:t>
            </a:r>
          </a:p>
        </p:txBody>
      </p:sp>
      <p:sp>
        <p:nvSpPr>
          <p:cNvPr id="14" name="TextBox 13"/>
          <p:cNvSpPr txBox="1"/>
          <p:nvPr/>
        </p:nvSpPr>
        <p:spPr>
          <a:xfrm>
            <a:off x="7918704" y="1737360"/>
            <a:ext cx="521207" cy="320040"/>
          </a:xfrm>
          <a:prstGeom prst="rect">
            <a:avLst/>
          </a:prstGeom>
          <a:noFill/>
        </p:spPr>
        <p:txBody>
          <a:bodyPr wrap="square" lIns="0" rIns="0" tIns="0" bIns="0" anchor="t">
            <a:spAutoFit/>
          </a:bodyPr>
          <a:lstStyle/>
          <a:p>
            <a:pPr algn="ctr"/>
            <a:r>
              <a:rPr sz="1300" b="1" i="0">
                <a:solidFill>
                  <a:srgbClr val="5B6778"/>
                </a:solidFill>
                <a:latin typeface="Arial"/>
              </a:rPr>
              <a:t>9</a:t>
            </a:r>
          </a:p>
        </p:txBody>
      </p:sp>
      <p:sp>
        <p:nvSpPr>
          <p:cNvPr id="15" name="TextBox 14"/>
          <p:cNvSpPr txBox="1"/>
          <p:nvPr/>
        </p:nvSpPr>
        <p:spPr>
          <a:xfrm>
            <a:off x="8439912" y="1737360"/>
            <a:ext cx="521207" cy="320040"/>
          </a:xfrm>
          <a:prstGeom prst="rect">
            <a:avLst/>
          </a:prstGeom>
          <a:noFill/>
        </p:spPr>
        <p:txBody>
          <a:bodyPr wrap="square" lIns="0" rIns="0" tIns="0" bIns="0" anchor="t">
            <a:spAutoFit/>
          </a:bodyPr>
          <a:lstStyle/>
          <a:p>
            <a:pPr algn="ctr"/>
            <a:r>
              <a:rPr sz="1300" b="1" i="0">
                <a:solidFill>
                  <a:srgbClr val="5B6778"/>
                </a:solidFill>
                <a:latin typeface="Arial"/>
              </a:rPr>
              <a:t>10</a:t>
            </a:r>
          </a:p>
        </p:txBody>
      </p:sp>
      <p:sp>
        <p:nvSpPr>
          <p:cNvPr id="16" name="TextBox 15"/>
          <p:cNvSpPr txBox="1"/>
          <p:nvPr/>
        </p:nvSpPr>
        <p:spPr>
          <a:xfrm>
            <a:off x="8961119" y="1737360"/>
            <a:ext cx="521207" cy="320040"/>
          </a:xfrm>
          <a:prstGeom prst="rect">
            <a:avLst/>
          </a:prstGeom>
          <a:noFill/>
        </p:spPr>
        <p:txBody>
          <a:bodyPr wrap="square" lIns="0" rIns="0" tIns="0" bIns="0" anchor="t">
            <a:spAutoFit/>
          </a:bodyPr>
          <a:lstStyle/>
          <a:p>
            <a:pPr algn="ctr"/>
            <a:r>
              <a:rPr sz="1300" b="1" i="0">
                <a:solidFill>
                  <a:srgbClr val="5B6778"/>
                </a:solidFill>
                <a:latin typeface="Arial"/>
              </a:rPr>
              <a:t>11</a:t>
            </a:r>
          </a:p>
        </p:txBody>
      </p:sp>
      <p:sp>
        <p:nvSpPr>
          <p:cNvPr id="17" name="TextBox 16"/>
          <p:cNvSpPr txBox="1"/>
          <p:nvPr/>
        </p:nvSpPr>
        <p:spPr>
          <a:xfrm>
            <a:off x="9482328" y="1737360"/>
            <a:ext cx="521207" cy="320040"/>
          </a:xfrm>
          <a:prstGeom prst="rect">
            <a:avLst/>
          </a:prstGeom>
          <a:noFill/>
        </p:spPr>
        <p:txBody>
          <a:bodyPr wrap="square" lIns="0" rIns="0" tIns="0" bIns="0" anchor="t">
            <a:spAutoFit/>
          </a:bodyPr>
          <a:lstStyle/>
          <a:p>
            <a:pPr algn="ctr"/>
            <a:r>
              <a:rPr sz="1300" b="1" i="0">
                <a:solidFill>
                  <a:srgbClr val="5B6778"/>
                </a:solidFill>
                <a:latin typeface="Arial"/>
              </a:rPr>
              <a:t>12</a:t>
            </a:r>
          </a:p>
        </p:txBody>
      </p:sp>
      <p:sp>
        <p:nvSpPr>
          <p:cNvPr id="18" name="TextBox 17"/>
          <p:cNvSpPr txBox="1"/>
          <p:nvPr/>
        </p:nvSpPr>
        <p:spPr>
          <a:xfrm>
            <a:off x="10003536" y="1737360"/>
            <a:ext cx="521207" cy="320040"/>
          </a:xfrm>
          <a:prstGeom prst="rect">
            <a:avLst/>
          </a:prstGeom>
          <a:noFill/>
        </p:spPr>
        <p:txBody>
          <a:bodyPr wrap="square" lIns="0" rIns="0" tIns="0" bIns="0" anchor="t">
            <a:spAutoFit/>
          </a:bodyPr>
          <a:lstStyle/>
          <a:p>
            <a:pPr algn="ctr"/>
            <a:r>
              <a:rPr sz="1300" b="1" i="0">
                <a:solidFill>
                  <a:srgbClr val="5B6778"/>
                </a:solidFill>
                <a:latin typeface="Arial"/>
              </a:rPr>
              <a:t>13</a:t>
            </a:r>
          </a:p>
        </p:txBody>
      </p:sp>
      <p:sp>
        <p:nvSpPr>
          <p:cNvPr id="19" name="TextBox 18"/>
          <p:cNvSpPr txBox="1"/>
          <p:nvPr/>
        </p:nvSpPr>
        <p:spPr>
          <a:xfrm>
            <a:off x="10524743" y="1737360"/>
            <a:ext cx="521207" cy="320040"/>
          </a:xfrm>
          <a:prstGeom prst="rect">
            <a:avLst/>
          </a:prstGeom>
          <a:noFill/>
        </p:spPr>
        <p:txBody>
          <a:bodyPr wrap="square" lIns="0" rIns="0" tIns="0" bIns="0" anchor="t">
            <a:spAutoFit/>
          </a:bodyPr>
          <a:lstStyle/>
          <a:p>
            <a:pPr algn="ctr"/>
            <a:r>
              <a:rPr sz="1300" b="1" i="0">
                <a:solidFill>
                  <a:srgbClr val="5B6778"/>
                </a:solidFill>
                <a:latin typeface="Arial"/>
              </a:rPr>
              <a:t>14</a:t>
            </a:r>
          </a:p>
        </p:txBody>
      </p:sp>
      <p:sp>
        <p:nvSpPr>
          <p:cNvPr id="20" name="TextBox 19"/>
          <p:cNvSpPr txBox="1"/>
          <p:nvPr/>
        </p:nvSpPr>
        <p:spPr>
          <a:xfrm>
            <a:off x="11045951" y="1737360"/>
            <a:ext cx="521207" cy="320040"/>
          </a:xfrm>
          <a:prstGeom prst="rect">
            <a:avLst/>
          </a:prstGeom>
          <a:noFill/>
        </p:spPr>
        <p:txBody>
          <a:bodyPr wrap="square" lIns="0" rIns="0" tIns="0" bIns="0" anchor="t">
            <a:spAutoFit/>
          </a:bodyPr>
          <a:lstStyle/>
          <a:p>
            <a:pPr algn="ctr"/>
            <a:r>
              <a:rPr sz="1300" b="1" i="0">
                <a:solidFill>
                  <a:srgbClr val="5B6778"/>
                </a:solidFill>
                <a:latin typeface="Arial"/>
              </a:rPr>
              <a:t>15</a:t>
            </a:r>
          </a:p>
        </p:txBody>
      </p:sp>
      <p:sp>
        <p:nvSpPr>
          <p:cNvPr id="21" name="TextBox 20"/>
          <p:cNvSpPr txBox="1"/>
          <p:nvPr/>
        </p:nvSpPr>
        <p:spPr>
          <a:xfrm>
            <a:off x="731520" y="2194560"/>
            <a:ext cx="2926080" cy="402336"/>
          </a:xfrm>
          <a:prstGeom prst="rect">
            <a:avLst/>
          </a:prstGeom>
          <a:noFill/>
        </p:spPr>
        <p:txBody>
          <a:bodyPr wrap="square" lIns="0" rIns="0" tIns="0" bIns="0" anchor="ctr">
            <a:spAutoFit/>
          </a:bodyPr>
          <a:lstStyle/>
          <a:p>
            <a:pPr algn="l"/>
            <a:r>
              <a:rPr sz="1600" b="0" i="0">
                <a:solidFill>
                  <a:srgbClr val="1B2A41"/>
                </a:solidFill>
                <a:latin typeface="Arial"/>
              </a:rPr>
              <a:t>Múi giờ / DST</a:t>
            </a:r>
          </a:p>
        </p:txBody>
      </p:sp>
      <p:sp>
        <p:nvSpPr>
          <p:cNvPr id="22" name="Oval 21"/>
          <p:cNvSpPr/>
          <p:nvPr/>
        </p:nvSpPr>
        <p:spPr>
          <a:xfrm>
            <a:off x="3973068" y="2368296"/>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4494276" y="2368296"/>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924044" y="2276856"/>
            <a:ext cx="256032" cy="25603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5536692" y="2368296"/>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057899" y="2368296"/>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487668" y="2276856"/>
            <a:ext cx="256032" cy="25603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100316" y="2368296"/>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621524" y="2368296"/>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8142732" y="2368296"/>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572500" y="2276856"/>
            <a:ext cx="256032" cy="25603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9185148" y="2368296"/>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9706356" y="2368296"/>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10227564" y="2368296"/>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10748772" y="2368296"/>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11269980" y="2368296"/>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1520" y="2670048"/>
            <a:ext cx="2926080" cy="402336"/>
          </a:xfrm>
          <a:prstGeom prst="rect">
            <a:avLst/>
          </a:prstGeom>
          <a:noFill/>
        </p:spPr>
        <p:txBody>
          <a:bodyPr wrap="square" lIns="0" rIns="0" tIns="0" bIns="0" anchor="ctr">
            <a:spAutoFit/>
          </a:bodyPr>
          <a:lstStyle/>
          <a:p>
            <a:pPr algn="l"/>
            <a:r>
              <a:rPr sz="1600" b="0" i="0">
                <a:solidFill>
                  <a:srgbClr val="1B2A41"/>
                </a:solidFill>
                <a:latin typeface="Arial"/>
              </a:rPr>
              <a:t>Thiếu dữ liệu</a:t>
            </a:r>
          </a:p>
        </p:txBody>
      </p:sp>
      <p:sp>
        <p:nvSpPr>
          <p:cNvPr id="38" name="Oval 37"/>
          <p:cNvSpPr/>
          <p:nvPr/>
        </p:nvSpPr>
        <p:spPr>
          <a:xfrm>
            <a:off x="3881628" y="2752344"/>
            <a:ext cx="256032" cy="25603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4494276" y="2843784"/>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5015483" y="2843784"/>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5445252" y="2752344"/>
            <a:ext cx="256032" cy="25603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6057899" y="2843784"/>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6487668" y="2752344"/>
            <a:ext cx="256032" cy="25603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7008876" y="2752344"/>
            <a:ext cx="256032" cy="25603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7621524" y="2843784"/>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8142732" y="2843784"/>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8572500" y="2752344"/>
            <a:ext cx="256032" cy="25603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9185148" y="2843784"/>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9706356" y="2843784"/>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10227564" y="2843784"/>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Oval 50"/>
          <p:cNvSpPr/>
          <p:nvPr/>
        </p:nvSpPr>
        <p:spPr>
          <a:xfrm>
            <a:off x="10748772" y="2843784"/>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Oval 51"/>
          <p:cNvSpPr/>
          <p:nvPr/>
        </p:nvSpPr>
        <p:spPr>
          <a:xfrm>
            <a:off x="11269980" y="2843784"/>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31520" y="3145536"/>
            <a:ext cx="2926080" cy="402336"/>
          </a:xfrm>
          <a:prstGeom prst="rect">
            <a:avLst/>
          </a:prstGeom>
          <a:noFill/>
        </p:spPr>
        <p:txBody>
          <a:bodyPr wrap="square" lIns="0" rIns="0" tIns="0" bIns="0" anchor="ctr">
            <a:spAutoFit/>
          </a:bodyPr>
          <a:lstStyle/>
          <a:p>
            <a:pPr algn="l"/>
            <a:r>
              <a:rPr sz="1600" b="0" i="0">
                <a:solidFill>
                  <a:srgbClr val="1B2A41"/>
                </a:solidFill>
                <a:latin typeface="Arial"/>
              </a:rPr>
              <a:t>Mốc trùng, mã trá hình</a:t>
            </a:r>
          </a:p>
        </p:txBody>
      </p:sp>
      <p:sp>
        <p:nvSpPr>
          <p:cNvPr id="54" name="Oval 53"/>
          <p:cNvSpPr/>
          <p:nvPr/>
        </p:nvSpPr>
        <p:spPr>
          <a:xfrm>
            <a:off x="3973068" y="3319272"/>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Oval 54"/>
          <p:cNvSpPr/>
          <p:nvPr/>
        </p:nvSpPr>
        <p:spPr>
          <a:xfrm>
            <a:off x="4494276" y="3319272"/>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4924044" y="3227832"/>
            <a:ext cx="256032" cy="25603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5536692" y="3319272"/>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6057899" y="3319272"/>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6579107" y="3319272"/>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7100316" y="3319272"/>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7621524" y="3319272"/>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8142732" y="3319272"/>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8572500" y="3227832"/>
            <a:ext cx="256032" cy="25603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9185148" y="3319272"/>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9706356" y="3319272"/>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Oval 65"/>
          <p:cNvSpPr/>
          <p:nvPr/>
        </p:nvSpPr>
        <p:spPr>
          <a:xfrm>
            <a:off x="10227564" y="3319272"/>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Oval 66"/>
          <p:cNvSpPr/>
          <p:nvPr/>
        </p:nvSpPr>
        <p:spPr>
          <a:xfrm>
            <a:off x="10748772" y="3319272"/>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Oval 67"/>
          <p:cNvSpPr/>
          <p:nvPr/>
        </p:nvSpPr>
        <p:spPr>
          <a:xfrm>
            <a:off x="11269980" y="3319272"/>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31520" y="3621024"/>
            <a:ext cx="2926080" cy="402336"/>
          </a:xfrm>
          <a:prstGeom prst="rect">
            <a:avLst/>
          </a:prstGeom>
          <a:noFill/>
        </p:spPr>
        <p:txBody>
          <a:bodyPr wrap="square" lIns="0" rIns="0" tIns="0" bIns="0" anchor="ctr">
            <a:spAutoFit/>
          </a:bodyPr>
          <a:lstStyle/>
          <a:p>
            <a:pPr algn="l"/>
            <a:r>
              <a:rPr sz="1600" b="0" i="0">
                <a:solidFill>
                  <a:srgbClr val="1B2A41"/>
                </a:solidFill>
                <a:latin typeface="Arial"/>
              </a:rPr>
              <a:t>Ngoại lai</a:t>
            </a:r>
          </a:p>
        </p:txBody>
      </p:sp>
      <p:sp>
        <p:nvSpPr>
          <p:cNvPr id="70" name="Oval 69"/>
          <p:cNvSpPr/>
          <p:nvPr/>
        </p:nvSpPr>
        <p:spPr>
          <a:xfrm>
            <a:off x="3973068" y="3794759"/>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Oval 70"/>
          <p:cNvSpPr/>
          <p:nvPr/>
        </p:nvSpPr>
        <p:spPr>
          <a:xfrm>
            <a:off x="4494276" y="3794759"/>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Oval 71"/>
          <p:cNvSpPr/>
          <p:nvPr/>
        </p:nvSpPr>
        <p:spPr>
          <a:xfrm>
            <a:off x="5015483" y="3794759"/>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Oval 72"/>
          <p:cNvSpPr/>
          <p:nvPr/>
        </p:nvSpPr>
        <p:spPr>
          <a:xfrm>
            <a:off x="5536692" y="3794759"/>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Oval 73"/>
          <p:cNvSpPr/>
          <p:nvPr/>
        </p:nvSpPr>
        <p:spPr>
          <a:xfrm>
            <a:off x="6057899" y="3794759"/>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Oval 74"/>
          <p:cNvSpPr/>
          <p:nvPr/>
        </p:nvSpPr>
        <p:spPr>
          <a:xfrm>
            <a:off x="6487668" y="3703320"/>
            <a:ext cx="256032" cy="25603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Oval 75"/>
          <p:cNvSpPr/>
          <p:nvPr/>
        </p:nvSpPr>
        <p:spPr>
          <a:xfrm>
            <a:off x="7100316" y="3794759"/>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Oval 76"/>
          <p:cNvSpPr/>
          <p:nvPr/>
        </p:nvSpPr>
        <p:spPr>
          <a:xfrm>
            <a:off x="7621524" y="3794759"/>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Oval 77"/>
          <p:cNvSpPr/>
          <p:nvPr/>
        </p:nvSpPr>
        <p:spPr>
          <a:xfrm>
            <a:off x="8142732" y="3794759"/>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Oval 78"/>
          <p:cNvSpPr/>
          <p:nvPr/>
        </p:nvSpPr>
        <p:spPr>
          <a:xfrm>
            <a:off x="8663940" y="3794759"/>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Oval 79"/>
          <p:cNvSpPr/>
          <p:nvPr/>
        </p:nvSpPr>
        <p:spPr>
          <a:xfrm>
            <a:off x="9093707" y="3703320"/>
            <a:ext cx="256032" cy="25603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Oval 80"/>
          <p:cNvSpPr/>
          <p:nvPr/>
        </p:nvSpPr>
        <p:spPr>
          <a:xfrm>
            <a:off x="9706356" y="3794759"/>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Oval 81"/>
          <p:cNvSpPr/>
          <p:nvPr/>
        </p:nvSpPr>
        <p:spPr>
          <a:xfrm>
            <a:off x="10227564" y="3794759"/>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Oval 82"/>
          <p:cNvSpPr/>
          <p:nvPr/>
        </p:nvSpPr>
        <p:spPr>
          <a:xfrm>
            <a:off x="10748772" y="3794759"/>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Oval 83"/>
          <p:cNvSpPr/>
          <p:nvPr/>
        </p:nvSpPr>
        <p:spPr>
          <a:xfrm>
            <a:off x="11269980" y="3794759"/>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731520" y="4096512"/>
            <a:ext cx="2926080" cy="402336"/>
          </a:xfrm>
          <a:prstGeom prst="rect">
            <a:avLst/>
          </a:prstGeom>
          <a:noFill/>
        </p:spPr>
        <p:txBody>
          <a:bodyPr wrap="square" lIns="0" rIns="0" tIns="0" bIns="0" anchor="ctr">
            <a:spAutoFit/>
          </a:bodyPr>
          <a:lstStyle/>
          <a:p>
            <a:pPr algn="l"/>
            <a:r>
              <a:rPr sz="1600" b="0" i="0">
                <a:solidFill>
                  <a:srgbClr val="1B2A41"/>
                </a:solidFill>
                <a:latin typeface="Arial"/>
              </a:rPr>
              <a:t>Điểm gãy, dịch mức</a:t>
            </a:r>
          </a:p>
        </p:txBody>
      </p:sp>
      <p:sp>
        <p:nvSpPr>
          <p:cNvPr id="86" name="Oval 85"/>
          <p:cNvSpPr/>
          <p:nvPr/>
        </p:nvSpPr>
        <p:spPr>
          <a:xfrm>
            <a:off x="3973068" y="4270248"/>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Oval 86"/>
          <p:cNvSpPr/>
          <p:nvPr/>
        </p:nvSpPr>
        <p:spPr>
          <a:xfrm>
            <a:off x="4402836" y="4178808"/>
            <a:ext cx="256032" cy="25603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Oval 87"/>
          <p:cNvSpPr/>
          <p:nvPr/>
        </p:nvSpPr>
        <p:spPr>
          <a:xfrm>
            <a:off x="5015483" y="4270248"/>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Oval 88"/>
          <p:cNvSpPr/>
          <p:nvPr/>
        </p:nvSpPr>
        <p:spPr>
          <a:xfrm>
            <a:off x="5536692" y="4270248"/>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Oval 89"/>
          <p:cNvSpPr/>
          <p:nvPr/>
        </p:nvSpPr>
        <p:spPr>
          <a:xfrm>
            <a:off x="5966459" y="4178808"/>
            <a:ext cx="256032" cy="25603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Oval 90"/>
          <p:cNvSpPr/>
          <p:nvPr/>
        </p:nvSpPr>
        <p:spPr>
          <a:xfrm>
            <a:off x="6579107" y="4270248"/>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Oval 91"/>
          <p:cNvSpPr/>
          <p:nvPr/>
        </p:nvSpPr>
        <p:spPr>
          <a:xfrm>
            <a:off x="7008876" y="4178808"/>
            <a:ext cx="256032" cy="25603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Oval 92"/>
          <p:cNvSpPr/>
          <p:nvPr/>
        </p:nvSpPr>
        <p:spPr>
          <a:xfrm>
            <a:off x="7621524" y="4270248"/>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Oval 93"/>
          <p:cNvSpPr/>
          <p:nvPr/>
        </p:nvSpPr>
        <p:spPr>
          <a:xfrm>
            <a:off x="8142732" y="4270248"/>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Oval 94"/>
          <p:cNvSpPr/>
          <p:nvPr/>
        </p:nvSpPr>
        <p:spPr>
          <a:xfrm>
            <a:off x="8663940" y="4270248"/>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Oval 95"/>
          <p:cNvSpPr/>
          <p:nvPr/>
        </p:nvSpPr>
        <p:spPr>
          <a:xfrm>
            <a:off x="9093707" y="4178808"/>
            <a:ext cx="256032" cy="25603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Oval 96"/>
          <p:cNvSpPr/>
          <p:nvPr/>
        </p:nvSpPr>
        <p:spPr>
          <a:xfrm>
            <a:off x="9706356" y="4270248"/>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Oval 97"/>
          <p:cNvSpPr/>
          <p:nvPr/>
        </p:nvSpPr>
        <p:spPr>
          <a:xfrm>
            <a:off x="10227564" y="4270248"/>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Oval 98"/>
          <p:cNvSpPr/>
          <p:nvPr/>
        </p:nvSpPr>
        <p:spPr>
          <a:xfrm>
            <a:off x="10748772" y="4270248"/>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Oval 99"/>
          <p:cNvSpPr/>
          <p:nvPr/>
        </p:nvSpPr>
        <p:spPr>
          <a:xfrm>
            <a:off x="11269980" y="4270248"/>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TextBox 100"/>
          <p:cNvSpPr txBox="1"/>
          <p:nvPr/>
        </p:nvSpPr>
        <p:spPr>
          <a:xfrm>
            <a:off x="731520" y="4572000"/>
            <a:ext cx="2926080" cy="402336"/>
          </a:xfrm>
          <a:prstGeom prst="rect">
            <a:avLst/>
          </a:prstGeom>
          <a:noFill/>
        </p:spPr>
        <p:txBody>
          <a:bodyPr wrap="square" lIns="0" rIns="0" tIns="0" bIns="0" anchor="ctr">
            <a:spAutoFit/>
          </a:bodyPr>
          <a:lstStyle/>
          <a:p>
            <a:pPr algn="l"/>
            <a:r>
              <a:rPr sz="1600" b="0" i="0">
                <a:solidFill>
                  <a:srgbClr val="1B2A41"/>
                </a:solidFill>
                <a:latin typeface="Arial"/>
              </a:rPr>
              <a:t>Nhiễu</a:t>
            </a:r>
          </a:p>
        </p:txBody>
      </p:sp>
      <p:sp>
        <p:nvSpPr>
          <p:cNvPr id="102" name="Oval 101"/>
          <p:cNvSpPr/>
          <p:nvPr/>
        </p:nvSpPr>
        <p:spPr>
          <a:xfrm>
            <a:off x="3973068" y="4745736"/>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Oval 102"/>
          <p:cNvSpPr/>
          <p:nvPr/>
        </p:nvSpPr>
        <p:spPr>
          <a:xfrm>
            <a:off x="4494276" y="4745736"/>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Oval 103"/>
          <p:cNvSpPr/>
          <p:nvPr/>
        </p:nvSpPr>
        <p:spPr>
          <a:xfrm>
            <a:off x="5015483" y="4745736"/>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Oval 104"/>
          <p:cNvSpPr/>
          <p:nvPr/>
        </p:nvSpPr>
        <p:spPr>
          <a:xfrm>
            <a:off x="5536692" y="4745736"/>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Oval 105"/>
          <p:cNvSpPr/>
          <p:nvPr/>
        </p:nvSpPr>
        <p:spPr>
          <a:xfrm>
            <a:off x="6057899" y="4745736"/>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Oval 106"/>
          <p:cNvSpPr/>
          <p:nvPr/>
        </p:nvSpPr>
        <p:spPr>
          <a:xfrm>
            <a:off x="6579107" y="4745736"/>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Oval 107"/>
          <p:cNvSpPr/>
          <p:nvPr/>
        </p:nvSpPr>
        <p:spPr>
          <a:xfrm>
            <a:off x="7100316" y="4745736"/>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Oval 108"/>
          <p:cNvSpPr/>
          <p:nvPr/>
        </p:nvSpPr>
        <p:spPr>
          <a:xfrm>
            <a:off x="7621524" y="4745736"/>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Oval 109"/>
          <p:cNvSpPr/>
          <p:nvPr/>
        </p:nvSpPr>
        <p:spPr>
          <a:xfrm>
            <a:off x="8142732" y="4745736"/>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Oval 110"/>
          <p:cNvSpPr/>
          <p:nvPr/>
        </p:nvSpPr>
        <p:spPr>
          <a:xfrm>
            <a:off x="8663940" y="4745736"/>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Oval 111"/>
          <p:cNvSpPr/>
          <p:nvPr/>
        </p:nvSpPr>
        <p:spPr>
          <a:xfrm>
            <a:off x="9185148" y="4745736"/>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Oval 112"/>
          <p:cNvSpPr/>
          <p:nvPr/>
        </p:nvSpPr>
        <p:spPr>
          <a:xfrm>
            <a:off x="9614915" y="4654296"/>
            <a:ext cx="256032" cy="25603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10227564" y="4745736"/>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Oval 114"/>
          <p:cNvSpPr/>
          <p:nvPr/>
        </p:nvSpPr>
        <p:spPr>
          <a:xfrm>
            <a:off x="10748772" y="4745736"/>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Oval 115"/>
          <p:cNvSpPr/>
          <p:nvPr/>
        </p:nvSpPr>
        <p:spPr>
          <a:xfrm>
            <a:off x="11269980" y="4745736"/>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Rounded Rectangle 116"/>
          <p:cNvSpPr/>
          <p:nvPr/>
        </p:nvSpPr>
        <p:spPr>
          <a:xfrm>
            <a:off x="548640" y="5020055"/>
            <a:ext cx="11091672" cy="457200"/>
          </a:xfrm>
          <a:prstGeom prst="roundRect">
            <a:avLst>
              <a:gd name="adj" fmla="val 30000"/>
            </a:avLst>
          </a:prstGeom>
          <a:solidFill>
            <a:srgbClr val="FDF0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731520" y="5047488"/>
            <a:ext cx="2926080" cy="402336"/>
          </a:xfrm>
          <a:prstGeom prst="rect">
            <a:avLst/>
          </a:prstGeom>
          <a:noFill/>
        </p:spPr>
        <p:txBody>
          <a:bodyPr wrap="square" lIns="0" rIns="0" tIns="0" bIns="0" anchor="ctr">
            <a:spAutoFit/>
          </a:bodyPr>
          <a:lstStyle/>
          <a:p>
            <a:pPr algn="l"/>
            <a:r>
              <a:rPr sz="1600" b="1" i="0">
                <a:solidFill>
                  <a:srgbClr val="1B2A41"/>
                </a:solidFill>
                <a:latin typeface="Arial"/>
              </a:rPr>
              <a:t>Rò rỉ tương lai</a:t>
            </a:r>
          </a:p>
        </p:txBody>
      </p:sp>
      <p:sp>
        <p:nvSpPr>
          <p:cNvPr id="119" name="Oval 118"/>
          <p:cNvSpPr/>
          <p:nvPr/>
        </p:nvSpPr>
        <p:spPr>
          <a:xfrm>
            <a:off x="3881628" y="5129783"/>
            <a:ext cx="256032" cy="25603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Oval 119"/>
          <p:cNvSpPr/>
          <p:nvPr/>
        </p:nvSpPr>
        <p:spPr>
          <a:xfrm>
            <a:off x="4494276" y="5221223"/>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Oval 120"/>
          <p:cNvSpPr/>
          <p:nvPr/>
        </p:nvSpPr>
        <p:spPr>
          <a:xfrm>
            <a:off x="5015483" y="5221223"/>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Oval 121"/>
          <p:cNvSpPr/>
          <p:nvPr/>
        </p:nvSpPr>
        <p:spPr>
          <a:xfrm>
            <a:off x="5536692" y="5221223"/>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Oval 122"/>
          <p:cNvSpPr/>
          <p:nvPr/>
        </p:nvSpPr>
        <p:spPr>
          <a:xfrm>
            <a:off x="5966459" y="5129783"/>
            <a:ext cx="256032" cy="25603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Oval 123"/>
          <p:cNvSpPr/>
          <p:nvPr/>
        </p:nvSpPr>
        <p:spPr>
          <a:xfrm>
            <a:off x="6579107" y="5221223"/>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Oval 124"/>
          <p:cNvSpPr/>
          <p:nvPr/>
        </p:nvSpPr>
        <p:spPr>
          <a:xfrm>
            <a:off x="7100316" y="5221223"/>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Oval 125"/>
          <p:cNvSpPr/>
          <p:nvPr/>
        </p:nvSpPr>
        <p:spPr>
          <a:xfrm>
            <a:off x="7530083" y="5129783"/>
            <a:ext cx="256032" cy="25603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Oval 126"/>
          <p:cNvSpPr/>
          <p:nvPr/>
        </p:nvSpPr>
        <p:spPr>
          <a:xfrm>
            <a:off x="8051292" y="5129783"/>
            <a:ext cx="256032" cy="25603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Oval 127"/>
          <p:cNvSpPr/>
          <p:nvPr/>
        </p:nvSpPr>
        <p:spPr>
          <a:xfrm>
            <a:off x="8572500" y="5129783"/>
            <a:ext cx="256032" cy="25603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Oval 128"/>
          <p:cNvSpPr/>
          <p:nvPr/>
        </p:nvSpPr>
        <p:spPr>
          <a:xfrm>
            <a:off x="9185148" y="5221223"/>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Oval 129"/>
          <p:cNvSpPr/>
          <p:nvPr/>
        </p:nvSpPr>
        <p:spPr>
          <a:xfrm>
            <a:off x="9614915" y="5129783"/>
            <a:ext cx="256032" cy="25603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Oval 130"/>
          <p:cNvSpPr/>
          <p:nvPr/>
        </p:nvSpPr>
        <p:spPr>
          <a:xfrm>
            <a:off x="10136124" y="5129783"/>
            <a:ext cx="256032" cy="25603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Oval 131"/>
          <p:cNvSpPr/>
          <p:nvPr/>
        </p:nvSpPr>
        <p:spPr>
          <a:xfrm>
            <a:off x="10748772" y="5221223"/>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Oval 132"/>
          <p:cNvSpPr/>
          <p:nvPr/>
        </p:nvSpPr>
        <p:spPr>
          <a:xfrm>
            <a:off x="11178539" y="5129783"/>
            <a:ext cx="256032" cy="25603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TextBox 133"/>
          <p:cNvSpPr txBox="1"/>
          <p:nvPr/>
        </p:nvSpPr>
        <p:spPr>
          <a:xfrm>
            <a:off x="731520" y="5522976"/>
            <a:ext cx="2926080" cy="402336"/>
          </a:xfrm>
          <a:prstGeom prst="rect">
            <a:avLst/>
          </a:prstGeom>
          <a:noFill/>
        </p:spPr>
        <p:txBody>
          <a:bodyPr wrap="square" lIns="0" rIns="0" tIns="0" bIns="0" anchor="ctr">
            <a:spAutoFit/>
          </a:bodyPr>
          <a:lstStyle/>
          <a:p>
            <a:pPr algn="l"/>
            <a:r>
              <a:rPr sz="1600" b="0" i="0">
                <a:solidFill>
                  <a:srgbClr val="1B2A41"/>
                </a:solidFill>
                <a:latin typeface="Arial"/>
              </a:rPr>
              <a:t>Số 0 làm hỏng chỉ số</a:t>
            </a:r>
          </a:p>
        </p:txBody>
      </p:sp>
      <p:sp>
        <p:nvSpPr>
          <p:cNvPr id="135" name="Oval 134"/>
          <p:cNvSpPr/>
          <p:nvPr/>
        </p:nvSpPr>
        <p:spPr>
          <a:xfrm>
            <a:off x="3973068" y="5696712"/>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Oval 135"/>
          <p:cNvSpPr/>
          <p:nvPr/>
        </p:nvSpPr>
        <p:spPr>
          <a:xfrm>
            <a:off x="4494276" y="5696712"/>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Oval 136"/>
          <p:cNvSpPr/>
          <p:nvPr/>
        </p:nvSpPr>
        <p:spPr>
          <a:xfrm>
            <a:off x="5015483" y="5696712"/>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Oval 137"/>
          <p:cNvSpPr/>
          <p:nvPr/>
        </p:nvSpPr>
        <p:spPr>
          <a:xfrm>
            <a:off x="5536692" y="5696712"/>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Oval 138"/>
          <p:cNvSpPr/>
          <p:nvPr/>
        </p:nvSpPr>
        <p:spPr>
          <a:xfrm>
            <a:off x="6057899" y="5696712"/>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Oval 139"/>
          <p:cNvSpPr/>
          <p:nvPr/>
        </p:nvSpPr>
        <p:spPr>
          <a:xfrm>
            <a:off x="6579107" y="5696712"/>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Oval 140"/>
          <p:cNvSpPr/>
          <p:nvPr/>
        </p:nvSpPr>
        <p:spPr>
          <a:xfrm>
            <a:off x="7100316" y="5696712"/>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Oval 141"/>
          <p:cNvSpPr/>
          <p:nvPr/>
        </p:nvSpPr>
        <p:spPr>
          <a:xfrm>
            <a:off x="7621524" y="5696712"/>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Oval 142"/>
          <p:cNvSpPr/>
          <p:nvPr/>
        </p:nvSpPr>
        <p:spPr>
          <a:xfrm>
            <a:off x="8142732" y="5696712"/>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Oval 143"/>
          <p:cNvSpPr/>
          <p:nvPr/>
        </p:nvSpPr>
        <p:spPr>
          <a:xfrm>
            <a:off x="8572500" y="5605272"/>
            <a:ext cx="256032" cy="25603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Oval 144"/>
          <p:cNvSpPr/>
          <p:nvPr/>
        </p:nvSpPr>
        <p:spPr>
          <a:xfrm>
            <a:off x="9185148" y="5696712"/>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Oval 145"/>
          <p:cNvSpPr/>
          <p:nvPr/>
        </p:nvSpPr>
        <p:spPr>
          <a:xfrm>
            <a:off x="9706356" y="5696712"/>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Oval 146"/>
          <p:cNvSpPr/>
          <p:nvPr/>
        </p:nvSpPr>
        <p:spPr>
          <a:xfrm>
            <a:off x="10227564" y="5696712"/>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Oval 147"/>
          <p:cNvSpPr/>
          <p:nvPr/>
        </p:nvSpPr>
        <p:spPr>
          <a:xfrm>
            <a:off x="10657331" y="5605272"/>
            <a:ext cx="256032" cy="25603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Oval 148"/>
          <p:cNvSpPr/>
          <p:nvPr/>
        </p:nvSpPr>
        <p:spPr>
          <a:xfrm>
            <a:off x="11269980" y="5696712"/>
            <a:ext cx="73152" cy="73152"/>
          </a:xfrm>
          <a:prstGeom prst="ellipse">
            <a:avLst/>
          </a:prstGeom>
          <a:solidFill>
            <a:srgbClr val="D5DB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TextBox 149"/>
          <p:cNvSpPr txBox="1"/>
          <p:nvPr/>
        </p:nvSpPr>
        <p:spPr>
          <a:xfrm>
            <a:off x="548640" y="6144768"/>
            <a:ext cx="11091672" cy="320040"/>
          </a:xfrm>
          <a:prstGeom prst="rect">
            <a:avLst/>
          </a:prstGeom>
          <a:noFill/>
        </p:spPr>
        <p:txBody>
          <a:bodyPr wrap="square" lIns="0" rIns="0" tIns="0" bIns="0" anchor="t">
            <a:spAutoFit/>
          </a:bodyPr>
          <a:lstStyle/>
          <a:p>
            <a:pPr algn="l"/>
            <a:r>
              <a:rPr sz="1300" b="0" i="0">
                <a:solidFill>
                  <a:srgbClr val="5B6778"/>
                </a:solidFill>
                <a:latin typeface="Arial"/>
              </a:rPr>
              <a:t>Cột = buổi · chấm cam = buổi dạy cách nhận ra và sửa</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Sai múi giờ: giờ giả, nóng lúc 20h</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3</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time zone · DST transition · UTC conversion</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Nếu bỏ qua:  </a:t>
            </a:r>
            <a:r>
              <a:rPr sz="1600" b="0" i="0">
                <a:solidFill>
                  <a:srgbClr val="1B2A41"/>
                </a:solidFill>
                <a:latin typeface="Arial"/>
              </a:rPr>
              <a:t>có giờ 0 chuyến giả, và ghép thời tiết lệch giờ làm quan hệ sai hẳn.</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D9642B"/>
                </a:solidFill>
                <a:latin typeface="Arial"/>
              </a:rPr>
              <a:t>“Khi làm dữ liệu, lưu tâm múi giờ trước tiên.”</a:t>
            </a:r>
          </a:p>
        </p:txBody>
      </p:sp>
      <p:sp>
        <p:nvSpPr>
          <p:cNvPr id="8" name="TextBox 7"/>
          <p:cNvSpPr txBox="1"/>
          <p:nvPr/>
        </p:nvSpPr>
        <p:spPr>
          <a:xfrm>
            <a:off x="548640" y="2450591"/>
            <a:ext cx="5440680" cy="274320"/>
          </a:xfrm>
          <a:prstGeom prst="rect">
            <a:avLst/>
          </a:prstGeom>
          <a:noFill/>
        </p:spPr>
        <p:txBody>
          <a:bodyPr wrap="square" lIns="0" rIns="0" tIns="0" bIns="0" anchor="t">
            <a:spAutoFit/>
          </a:bodyPr>
          <a:lstStyle/>
          <a:p>
            <a:pPr algn="l"/>
            <a:r>
              <a:rPr sz="1200" b="1" i="0">
                <a:solidFill>
                  <a:srgbClr val="5B6778"/>
                </a:solidFill>
                <a:latin typeface="Arial"/>
              </a:rPr>
              <a:t>Đổi giờ mùa hè: giờ 0 chuyến giả</a:t>
            </a:r>
          </a:p>
        </p:txBody>
      </p:sp>
      <p:pic>
        <p:nvPicPr>
          <p:cNvPr id="9" name="Picture 8" descr="dst-hai-ngay.png"/>
          <p:cNvPicPr>
            <a:picLocks noChangeAspect="1"/>
          </p:cNvPicPr>
          <p:nvPr/>
        </p:nvPicPr>
        <p:blipFill>
          <a:blip r:embed="rId2"/>
          <a:stretch>
            <a:fillRect/>
          </a:stretch>
        </p:blipFill>
        <p:spPr>
          <a:xfrm>
            <a:off x="1414083" y="2770632"/>
            <a:ext cx="3709793" cy="2075688"/>
          </a:xfrm>
          <a:prstGeom prst="rect">
            <a:avLst/>
          </a:prstGeom>
        </p:spPr>
      </p:pic>
      <p:sp>
        <p:nvSpPr>
          <p:cNvPr id="10" name="TextBox 9"/>
          <p:cNvSpPr txBox="1"/>
          <p:nvPr/>
        </p:nvSpPr>
        <p:spPr>
          <a:xfrm>
            <a:off x="6199631" y="2450591"/>
            <a:ext cx="5440680" cy="274320"/>
          </a:xfrm>
          <a:prstGeom prst="rect">
            <a:avLst/>
          </a:prstGeom>
          <a:noFill/>
        </p:spPr>
        <p:txBody>
          <a:bodyPr wrap="square" lIns="0" rIns="0" tIns="0" bIns="0" anchor="t">
            <a:spAutoFit/>
          </a:bodyPr>
          <a:lstStyle/>
          <a:p>
            <a:pPr algn="l"/>
            <a:r>
              <a:rPr sz="1200" b="1" i="0">
                <a:solidFill>
                  <a:srgbClr val="5B6778"/>
                </a:solidFill>
                <a:latin typeface="Arial"/>
              </a:rPr>
              <a:t>Ghép lệch múi giờ</a:t>
            </a:r>
          </a:p>
        </p:txBody>
      </p:sp>
      <p:pic>
        <p:nvPicPr>
          <p:cNvPr id="11" name="Picture 10" descr="gio-nong-nhat.png"/>
          <p:cNvPicPr>
            <a:picLocks noChangeAspect="1"/>
          </p:cNvPicPr>
          <p:nvPr/>
        </p:nvPicPr>
        <p:blipFill>
          <a:blip r:embed="rId3"/>
          <a:stretch>
            <a:fillRect/>
          </a:stretch>
        </p:blipFill>
        <p:spPr>
          <a:xfrm>
            <a:off x="6848322" y="2770632"/>
            <a:ext cx="4143299" cy="2075688"/>
          </a:xfrm>
          <a:prstGeom prst="rect">
            <a:avLst/>
          </a:prstGeom>
        </p:spPr>
      </p:pic>
      <p:sp>
        <p:nvSpPr>
          <p:cNvPr id="12" name="Rounded Rectangle 11"/>
          <p:cNvSpPr/>
          <p:nvPr/>
        </p:nvSpPr>
        <p:spPr>
          <a:xfrm>
            <a:off x="548640" y="4983480"/>
            <a:ext cx="3575304" cy="1463040"/>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120640"/>
            <a:ext cx="3118104" cy="274320"/>
          </a:xfrm>
          <a:prstGeom prst="rect">
            <a:avLst/>
          </a:prstGeom>
          <a:noFill/>
        </p:spPr>
        <p:txBody>
          <a:bodyPr wrap="square" lIns="0" rIns="0" tIns="0" bIns="0" anchor="t">
            <a:spAutoFit/>
          </a:bodyPr>
          <a:lstStyle/>
          <a:p>
            <a:pPr algn="l"/>
            <a:r>
              <a:rPr sz="1300" b="1" i="0">
                <a:solidFill>
                  <a:srgbClr val="C0392B"/>
                </a:solidFill>
                <a:latin typeface="Arial"/>
              </a:rPr>
              <a:t>Dấu hiệu</a:t>
            </a:r>
          </a:p>
        </p:txBody>
      </p:sp>
      <p:sp>
        <p:nvSpPr>
          <p:cNvPr id="14" name="TextBox 13"/>
          <p:cNvSpPr txBox="1"/>
          <p:nvPr/>
        </p:nvSpPr>
        <p:spPr>
          <a:xfrm>
            <a:off x="777240"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Một giờ bằng 0 lúc rạng sáng Chủ nhật tháng 3, và giờ nóng nhất trong ngày rơi vào 20h.</a:t>
            </a:r>
          </a:p>
        </p:txBody>
      </p:sp>
      <p:sp>
        <p:nvSpPr>
          <p:cNvPr id="15" name="Rounded Rectangle 14"/>
          <p:cNvSpPr/>
          <p:nvPr/>
        </p:nvSpPr>
        <p:spPr>
          <a:xfrm>
            <a:off x="4306824" y="4983480"/>
            <a:ext cx="3575304" cy="1463040"/>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35424" y="5120640"/>
            <a:ext cx="3118104" cy="274320"/>
          </a:xfrm>
          <a:prstGeom prst="rect">
            <a:avLst/>
          </a:prstGeom>
          <a:noFill/>
        </p:spPr>
        <p:txBody>
          <a:bodyPr wrap="square" lIns="0" rIns="0" tIns="0" bIns="0" anchor="t">
            <a:spAutoFit/>
          </a:bodyPr>
          <a:lstStyle/>
          <a:p>
            <a:pPr algn="l"/>
            <a:r>
              <a:rPr sz="1300" b="1" i="0">
                <a:solidFill>
                  <a:srgbClr val="2E6FBF"/>
                </a:solidFill>
                <a:latin typeface="Arial"/>
              </a:rPr>
              <a:t>Kiểm bằng</a:t>
            </a:r>
          </a:p>
        </p:txBody>
      </p:sp>
      <p:sp>
        <p:nvSpPr>
          <p:cNvPr id="17" name="TextBox 16"/>
          <p:cNvSpPr txBox="1"/>
          <p:nvPr/>
        </p:nvSpPr>
        <p:spPr>
          <a:xfrm>
            <a:off x="4535424"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In các giờ 00:00–05:00 của ngày đổi giờ, rồi xem giờ nóng nhất trung bình có rơi vào buổi chiều không.</a:t>
            </a:r>
          </a:p>
        </p:txBody>
      </p:sp>
      <p:sp>
        <p:nvSpPr>
          <p:cNvPr id="18" name="Rounded Rectangle 17"/>
          <p:cNvSpPr/>
          <p:nvPr/>
        </p:nvSpPr>
        <p:spPr>
          <a:xfrm>
            <a:off x="8065008" y="4983480"/>
            <a:ext cx="3575304" cy="1463040"/>
          </a:xfrm>
          <a:prstGeom prst="roundRect">
            <a:avLst>
              <a:gd name="adj" fmla="val 1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3608" y="5120640"/>
            <a:ext cx="3118104" cy="274320"/>
          </a:xfrm>
          <a:prstGeom prst="rect">
            <a:avLst/>
          </a:prstGeom>
          <a:noFill/>
        </p:spPr>
        <p:txBody>
          <a:bodyPr wrap="square" lIns="0" rIns="0" tIns="0" bIns="0" anchor="t">
            <a:spAutoFit/>
          </a:bodyPr>
          <a:lstStyle/>
          <a:p>
            <a:pPr algn="l"/>
            <a:r>
              <a:rPr sz="1300" b="1" i="0">
                <a:solidFill>
                  <a:srgbClr val="1E8449"/>
                </a:solidFill>
                <a:latin typeface="Arial"/>
              </a:rPr>
              <a:t>Cách sửa</a:t>
            </a:r>
          </a:p>
        </p:txBody>
      </p:sp>
      <p:sp>
        <p:nvSpPr>
          <p:cNvPr id="20" name="TextBox 19"/>
          <p:cNvSpPr txBox="1"/>
          <p:nvPr/>
        </p:nvSpPr>
        <p:spPr>
          <a:xfrm>
            <a:off x="8293608"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Gắn đúng múi giờ, đổi sang UTC, rồi mới gộp và ghép.</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Gộp thô quá thì mất mùa vụ</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4</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aggregation · resample · missing values as zero</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Nếu bỏ qua:  </a:t>
            </a:r>
            <a:r>
              <a:rPr sz="1600" b="0" i="0">
                <a:solidFill>
                  <a:srgbClr val="1B2A41"/>
                </a:solidFill>
                <a:latin typeface="Arial"/>
              </a:rPr>
              <a:t>kết luận nhầm “không có mùa vụ tuần”; giờ thiếu thành 0 kéo tổng xuống.</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D9642B"/>
                </a:solidFill>
                <a:latin typeface="Arial"/>
              </a:rPr>
              <a:t>“Gộp theo tháng thì nhịp ngày, nhịp tuần và những ngày bất thường đều biến mất.”</a:t>
            </a:r>
          </a:p>
        </p:txBody>
      </p:sp>
      <p:pic>
        <p:nvPicPr>
          <p:cNvPr id="8" name="Picture 7" descr="gop-tan-suat.png"/>
          <p:cNvPicPr>
            <a:picLocks noChangeAspect="1"/>
          </p:cNvPicPr>
          <p:nvPr/>
        </p:nvPicPr>
        <p:blipFill>
          <a:blip r:embed="rId2"/>
          <a:stretch>
            <a:fillRect/>
          </a:stretch>
        </p:blipFill>
        <p:spPr>
          <a:xfrm>
            <a:off x="922529" y="2450591"/>
            <a:ext cx="6018781" cy="3995928"/>
          </a:xfrm>
          <a:prstGeom prst="rect">
            <a:avLst/>
          </a:prstGeom>
        </p:spPr>
      </p:pic>
      <p:sp>
        <p:nvSpPr>
          <p:cNvPr id="9" name="Rounded Rectangle 8"/>
          <p:cNvSpPr/>
          <p:nvPr/>
        </p:nvSpPr>
        <p:spPr>
          <a:xfrm>
            <a:off x="7543800" y="2450591"/>
            <a:ext cx="4096512" cy="1240536"/>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0" y="2587751"/>
            <a:ext cx="3639312" cy="274320"/>
          </a:xfrm>
          <a:prstGeom prst="rect">
            <a:avLst/>
          </a:prstGeom>
          <a:noFill/>
        </p:spPr>
        <p:txBody>
          <a:bodyPr wrap="square" lIns="0" rIns="0" tIns="0" bIns="0" anchor="t">
            <a:spAutoFit/>
          </a:bodyPr>
          <a:lstStyle/>
          <a:p>
            <a:pPr algn="l"/>
            <a:r>
              <a:rPr sz="1300" b="1" i="0">
                <a:solidFill>
                  <a:srgbClr val="C0392B"/>
                </a:solidFill>
                <a:latin typeface="Arial"/>
              </a:rPr>
              <a:t>Dấu hiệu</a:t>
            </a:r>
          </a:p>
        </p:txBody>
      </p:sp>
      <p:sp>
        <p:nvSpPr>
          <p:cNvPr id="11" name="TextBox 10"/>
          <p:cNvSpPr txBox="1"/>
          <p:nvPr/>
        </p:nvSpPr>
        <p:spPr>
          <a:xfrm>
            <a:off x="7772400" y="2862072"/>
            <a:ext cx="3639312" cy="783336"/>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Kết luận “không có mùa vụ tuần”, hoặc giờ thiếu hiện thành số 0.</a:t>
            </a:r>
          </a:p>
        </p:txBody>
      </p:sp>
      <p:sp>
        <p:nvSpPr>
          <p:cNvPr id="12" name="Rounded Rectangle 11"/>
          <p:cNvSpPr/>
          <p:nvPr/>
        </p:nvSpPr>
        <p:spPr>
          <a:xfrm>
            <a:off x="7543800" y="3828288"/>
            <a:ext cx="4096512" cy="1240536"/>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0" y="3965448"/>
            <a:ext cx="3639312" cy="274320"/>
          </a:xfrm>
          <a:prstGeom prst="rect">
            <a:avLst/>
          </a:prstGeom>
          <a:noFill/>
        </p:spPr>
        <p:txBody>
          <a:bodyPr wrap="square" lIns="0" rIns="0" tIns="0" bIns="0" anchor="t">
            <a:spAutoFit/>
          </a:bodyPr>
          <a:lstStyle/>
          <a:p>
            <a:pPr algn="l"/>
            <a:r>
              <a:rPr sz="1300" b="1" i="0">
                <a:solidFill>
                  <a:srgbClr val="2E6FBF"/>
                </a:solidFill>
                <a:latin typeface="Arial"/>
              </a:rPr>
              <a:t>Kiểm bằng</a:t>
            </a:r>
          </a:p>
        </p:txBody>
      </p:sp>
      <p:sp>
        <p:nvSpPr>
          <p:cNvPr id="14" name="TextBox 13"/>
          <p:cNvSpPr txBox="1"/>
          <p:nvPr/>
        </p:nvSpPr>
        <p:spPr>
          <a:xfrm>
            <a:off x="7772400" y="4239768"/>
            <a:ext cx="3639312" cy="783336"/>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Vẽ heatmap giờ × thứ và ACF tới trễ 168; đếm NaN trên lưới giờ đầy đủ.</a:t>
            </a:r>
          </a:p>
        </p:txBody>
      </p:sp>
      <p:sp>
        <p:nvSpPr>
          <p:cNvPr id="15" name="Rounded Rectangle 14"/>
          <p:cNvSpPr/>
          <p:nvPr/>
        </p:nvSpPr>
        <p:spPr>
          <a:xfrm>
            <a:off x="7543800" y="5205984"/>
            <a:ext cx="4096512" cy="1240536"/>
          </a:xfrm>
          <a:prstGeom prst="roundRect">
            <a:avLst>
              <a:gd name="adj" fmla="val 1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0" y="5343144"/>
            <a:ext cx="3639312" cy="274320"/>
          </a:xfrm>
          <a:prstGeom prst="rect">
            <a:avLst/>
          </a:prstGeom>
          <a:noFill/>
        </p:spPr>
        <p:txBody>
          <a:bodyPr wrap="square" lIns="0" rIns="0" tIns="0" bIns="0" anchor="t">
            <a:spAutoFit/>
          </a:bodyPr>
          <a:lstStyle/>
          <a:p>
            <a:pPr algn="l"/>
            <a:r>
              <a:rPr sz="1300" b="1" i="0">
                <a:solidFill>
                  <a:srgbClr val="1E8449"/>
                </a:solidFill>
                <a:latin typeface="Arial"/>
              </a:rPr>
              <a:t>Cách sửa</a:t>
            </a:r>
          </a:p>
        </p:txBody>
      </p:sp>
      <p:sp>
        <p:nvSpPr>
          <p:cNvPr id="17" name="TextBox 16"/>
          <p:cNvSpPr txBox="1"/>
          <p:nvPr/>
        </p:nvSpPr>
        <p:spPr>
          <a:xfrm>
            <a:off x="7772400" y="5617464"/>
            <a:ext cx="3639312" cy="783336"/>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Vẽ ở nhiều mức gộp. Khi cộng, dùng sum(min_count=1) để giờ thiếu vẫn là NaN.</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Hai đường trùng khít vì chọn thang</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4</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dual axis · truncated y-axis · misleading chart</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Nếu bỏ qua:  </a:t>
            </a:r>
            <a:r>
              <a:rPr sz="1600" b="0" i="0">
                <a:solidFill>
                  <a:srgbClr val="1B2A41"/>
                </a:solidFill>
                <a:latin typeface="Arial"/>
              </a:rPr>
              <a:t>đọc ra quan hệ không có thật, hoặc phóng to một chênh lệch nhỏ.</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D9642B"/>
                </a:solidFill>
                <a:latin typeface="Arial"/>
              </a:rPr>
              <a:t>“Biểu đồ đẹp chưa chắc đúng: đọc thang trước khi đọc đường.”</a:t>
            </a:r>
          </a:p>
        </p:txBody>
      </p:sp>
      <p:sp>
        <p:nvSpPr>
          <p:cNvPr id="8" name="TextBox 7"/>
          <p:cNvSpPr txBox="1"/>
          <p:nvPr/>
        </p:nvSpPr>
        <p:spPr>
          <a:xfrm>
            <a:off x="548640" y="2450591"/>
            <a:ext cx="5440680" cy="274320"/>
          </a:xfrm>
          <a:prstGeom prst="rect">
            <a:avLst/>
          </a:prstGeom>
          <a:noFill/>
        </p:spPr>
        <p:txBody>
          <a:bodyPr wrap="square" lIns="0" rIns="0" tIns="0" bIns="0" anchor="t">
            <a:spAutoFit/>
          </a:bodyPr>
          <a:lstStyle/>
          <a:p>
            <a:pPr algn="l"/>
            <a:r>
              <a:rPr sz="1200" b="1" i="0">
                <a:solidFill>
                  <a:srgbClr val="5B6778"/>
                </a:solidFill>
                <a:latin typeface="Arial"/>
              </a:rPr>
              <a:t>Trước: trục kép, trục trái cắt ở 90.000</a:t>
            </a:r>
          </a:p>
        </p:txBody>
      </p:sp>
      <p:pic>
        <p:nvPicPr>
          <p:cNvPr id="9" name="Picture 8" descr="gay-hieu-nham.png"/>
          <p:cNvPicPr>
            <a:picLocks noChangeAspect="1"/>
          </p:cNvPicPr>
          <p:nvPr/>
        </p:nvPicPr>
        <p:blipFill>
          <a:blip r:embed="rId2"/>
          <a:stretch>
            <a:fillRect/>
          </a:stretch>
        </p:blipFill>
        <p:spPr>
          <a:xfrm>
            <a:off x="1009291" y="2770632"/>
            <a:ext cx="4519376" cy="2075688"/>
          </a:xfrm>
          <a:prstGeom prst="rect">
            <a:avLst/>
          </a:prstGeom>
        </p:spPr>
      </p:pic>
      <p:sp>
        <p:nvSpPr>
          <p:cNvPr id="10" name="TextBox 9"/>
          <p:cNvSpPr txBox="1"/>
          <p:nvPr/>
        </p:nvSpPr>
        <p:spPr>
          <a:xfrm>
            <a:off x="6199631" y="2450591"/>
            <a:ext cx="5440680" cy="274320"/>
          </a:xfrm>
          <a:prstGeom prst="rect">
            <a:avLst/>
          </a:prstGeom>
          <a:noFill/>
        </p:spPr>
        <p:txBody>
          <a:bodyPr wrap="square" lIns="0" rIns="0" tIns="0" bIns="0" anchor="t">
            <a:spAutoFit/>
          </a:bodyPr>
          <a:lstStyle/>
          <a:p>
            <a:pPr algn="l"/>
            <a:r>
              <a:rPr sz="1200" b="1" i="0">
                <a:solidFill>
                  <a:srgbClr val="5B6778"/>
                </a:solidFill>
                <a:latin typeface="Arial"/>
              </a:rPr>
              <a:t>Sau: tách hình, vẽ từ 0</a:t>
            </a:r>
          </a:p>
        </p:txBody>
      </p:sp>
      <p:pic>
        <p:nvPicPr>
          <p:cNvPr id="11" name="Picture 10" descr="ve-lai.png"/>
          <p:cNvPicPr>
            <a:picLocks noChangeAspect="1"/>
          </p:cNvPicPr>
          <p:nvPr/>
        </p:nvPicPr>
        <p:blipFill>
          <a:blip r:embed="rId3"/>
          <a:stretch>
            <a:fillRect/>
          </a:stretch>
        </p:blipFill>
        <p:spPr>
          <a:xfrm>
            <a:off x="6199631" y="3059311"/>
            <a:ext cx="5440680" cy="1498329"/>
          </a:xfrm>
          <a:prstGeom prst="rect">
            <a:avLst/>
          </a:prstGeom>
        </p:spPr>
      </p:pic>
      <p:sp>
        <p:nvSpPr>
          <p:cNvPr id="12" name="Rounded Rectangle 11"/>
          <p:cNvSpPr/>
          <p:nvPr/>
        </p:nvSpPr>
        <p:spPr>
          <a:xfrm>
            <a:off x="548640" y="4983480"/>
            <a:ext cx="3575304" cy="1463040"/>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120640"/>
            <a:ext cx="3118104" cy="274320"/>
          </a:xfrm>
          <a:prstGeom prst="rect">
            <a:avLst/>
          </a:prstGeom>
          <a:noFill/>
        </p:spPr>
        <p:txBody>
          <a:bodyPr wrap="square" lIns="0" rIns="0" tIns="0" bIns="0" anchor="t">
            <a:spAutoFit/>
          </a:bodyPr>
          <a:lstStyle/>
          <a:p>
            <a:pPr algn="l"/>
            <a:r>
              <a:rPr sz="1300" b="1" i="0">
                <a:solidFill>
                  <a:srgbClr val="C0392B"/>
                </a:solidFill>
                <a:latin typeface="Arial"/>
              </a:rPr>
              <a:t>Dấu hiệu</a:t>
            </a:r>
          </a:p>
        </p:txBody>
      </p:sp>
      <p:sp>
        <p:nvSpPr>
          <p:cNvPr id="14" name="TextBox 13"/>
          <p:cNvSpPr txBox="1"/>
          <p:nvPr/>
        </p:nvSpPr>
        <p:spPr>
          <a:xfrm>
            <a:off x="777240"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Hai trục dọc trên cùng một hình, hoặc trục y không bắt đầu từ 0.</a:t>
            </a:r>
          </a:p>
        </p:txBody>
      </p:sp>
      <p:sp>
        <p:nvSpPr>
          <p:cNvPr id="15" name="Rounded Rectangle 14"/>
          <p:cNvSpPr/>
          <p:nvPr/>
        </p:nvSpPr>
        <p:spPr>
          <a:xfrm>
            <a:off x="4306824" y="4983480"/>
            <a:ext cx="3575304" cy="1463040"/>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35424" y="5120640"/>
            <a:ext cx="3118104" cy="274320"/>
          </a:xfrm>
          <a:prstGeom prst="rect">
            <a:avLst/>
          </a:prstGeom>
          <a:noFill/>
        </p:spPr>
        <p:txBody>
          <a:bodyPr wrap="square" lIns="0" rIns="0" tIns="0" bIns="0" anchor="t">
            <a:spAutoFit/>
          </a:bodyPr>
          <a:lstStyle/>
          <a:p>
            <a:pPr algn="l"/>
            <a:r>
              <a:rPr sz="1300" b="1" i="0">
                <a:solidFill>
                  <a:srgbClr val="2E6FBF"/>
                </a:solidFill>
                <a:latin typeface="Arial"/>
              </a:rPr>
              <a:t>Kiểm bằng</a:t>
            </a:r>
          </a:p>
        </p:txBody>
      </p:sp>
      <p:sp>
        <p:nvSpPr>
          <p:cNvPr id="17" name="TextBox 16"/>
          <p:cNvSpPr txBox="1"/>
          <p:nvPr/>
        </p:nvSpPr>
        <p:spPr>
          <a:xfrm>
            <a:off x="4535424"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Đọc thang của từng trục, và xem tháng thấp nhất có bị vẽ sát đáy như gần bằng 0 không.</a:t>
            </a:r>
          </a:p>
        </p:txBody>
      </p:sp>
      <p:sp>
        <p:nvSpPr>
          <p:cNvPr id="18" name="Rounded Rectangle 17"/>
          <p:cNvSpPr/>
          <p:nvPr/>
        </p:nvSpPr>
        <p:spPr>
          <a:xfrm>
            <a:off x="8065008" y="4983480"/>
            <a:ext cx="3575304" cy="1463040"/>
          </a:xfrm>
          <a:prstGeom prst="roundRect">
            <a:avLst>
              <a:gd name="adj" fmla="val 1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3608" y="5120640"/>
            <a:ext cx="3118104" cy="274320"/>
          </a:xfrm>
          <a:prstGeom prst="rect">
            <a:avLst/>
          </a:prstGeom>
          <a:noFill/>
        </p:spPr>
        <p:txBody>
          <a:bodyPr wrap="square" lIns="0" rIns="0" tIns="0" bIns="0" anchor="t">
            <a:spAutoFit/>
          </a:bodyPr>
          <a:lstStyle/>
          <a:p>
            <a:pPr algn="l"/>
            <a:r>
              <a:rPr sz="1300" b="1" i="0">
                <a:solidFill>
                  <a:srgbClr val="1E8449"/>
                </a:solidFill>
                <a:latin typeface="Arial"/>
              </a:rPr>
              <a:t>Cách sửa</a:t>
            </a:r>
          </a:p>
        </p:txBody>
      </p:sp>
      <p:sp>
        <p:nvSpPr>
          <p:cNvPr id="20" name="TextBox 19"/>
          <p:cNvSpPr txBox="1"/>
          <p:nvPr/>
        </p:nvSpPr>
        <p:spPr>
          <a:xfrm>
            <a:off x="8293608"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Tách thành hai hình, số đếm vẽ từ 0, và nói về quan hệ bằng scatter.</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Doanh thu tăng chưa chắc bán nhiều hơn</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5</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nominal vs real value · inflation adjustment · per capita · Box-Cox</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Nếu bỏ qua:  </a:t>
            </a:r>
            <a:r>
              <a:rPr sz="1600" b="0" i="0">
                <a:solidFill>
                  <a:srgbClr val="1B2A41"/>
                </a:solidFill>
                <a:latin typeface="Arial"/>
              </a:rPr>
              <a:t>tưởng tăng trưởng thật trong khi chỉ là giá và dân số tăng.</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D9642B"/>
                </a:solidFill>
                <a:latin typeface="Arial"/>
              </a:rPr>
              <a:t>“Doanh thu tăng có thể vì giá tăng, dân số tăng, hay mỗi người mua nhiều hơn thật.”</a:t>
            </a:r>
          </a:p>
        </p:txBody>
      </p:sp>
      <p:sp>
        <p:nvSpPr>
          <p:cNvPr id="8" name="TextBox 7"/>
          <p:cNvSpPr txBox="1"/>
          <p:nvPr/>
        </p:nvSpPr>
        <p:spPr>
          <a:xfrm>
            <a:off x="548640" y="2450591"/>
            <a:ext cx="5440680" cy="274320"/>
          </a:xfrm>
          <a:prstGeom prst="rect">
            <a:avLst/>
          </a:prstGeom>
          <a:noFill/>
        </p:spPr>
        <p:txBody>
          <a:bodyPr wrap="square" lIns="0" rIns="0" tIns="0" bIns="0" anchor="t">
            <a:spAutoFit/>
          </a:bodyPr>
          <a:lstStyle/>
          <a:p>
            <a:pPr algn="l"/>
            <a:r>
              <a:rPr sz="1200" b="1" i="0">
                <a:solidFill>
                  <a:srgbClr val="5B6778"/>
                </a:solidFill>
                <a:latin typeface="Arial"/>
              </a:rPr>
              <a:t>Dao động lớn dần theo mức</a:t>
            </a:r>
          </a:p>
        </p:txBody>
      </p:sp>
      <p:pic>
        <p:nvPicPr>
          <p:cNvPr id="9" name="Picture 8" descr="dao-dong-theo-muc.png"/>
          <p:cNvPicPr>
            <a:picLocks noChangeAspect="1"/>
          </p:cNvPicPr>
          <p:nvPr/>
        </p:nvPicPr>
        <p:blipFill>
          <a:blip r:embed="rId2"/>
          <a:stretch>
            <a:fillRect/>
          </a:stretch>
        </p:blipFill>
        <p:spPr>
          <a:xfrm>
            <a:off x="1431089" y="2770632"/>
            <a:ext cx="3675781" cy="2075688"/>
          </a:xfrm>
          <a:prstGeom prst="rect">
            <a:avLst/>
          </a:prstGeom>
        </p:spPr>
      </p:pic>
      <p:sp>
        <p:nvSpPr>
          <p:cNvPr id="10" name="TextBox 9"/>
          <p:cNvSpPr txBox="1"/>
          <p:nvPr/>
        </p:nvSpPr>
        <p:spPr>
          <a:xfrm>
            <a:off x="6199631" y="2450591"/>
            <a:ext cx="5440680" cy="274320"/>
          </a:xfrm>
          <a:prstGeom prst="rect">
            <a:avLst/>
          </a:prstGeom>
          <a:noFill/>
        </p:spPr>
        <p:txBody>
          <a:bodyPr wrap="square" lIns="0" rIns="0" tIns="0" bIns="0" anchor="t">
            <a:spAutoFit/>
          </a:bodyPr>
          <a:lstStyle/>
          <a:p>
            <a:pPr algn="l"/>
            <a:r>
              <a:rPr sz="1200" b="1" i="0">
                <a:solidFill>
                  <a:srgbClr val="5B6778"/>
                </a:solidFill>
                <a:latin typeface="Arial"/>
              </a:rPr>
              <a:t>Danh nghĩa gấp 4, thực chỉ +42%</a:t>
            </a:r>
          </a:p>
        </p:txBody>
      </p:sp>
      <p:pic>
        <p:nvPicPr>
          <p:cNvPr id="11" name="Picture 10" descr="danh-nghia-thuc.png"/>
          <p:cNvPicPr>
            <a:picLocks noChangeAspect="1"/>
          </p:cNvPicPr>
          <p:nvPr/>
        </p:nvPicPr>
        <p:blipFill>
          <a:blip r:embed="rId3"/>
          <a:stretch>
            <a:fillRect/>
          </a:stretch>
        </p:blipFill>
        <p:spPr>
          <a:xfrm>
            <a:off x="6405346" y="2770632"/>
            <a:ext cx="5029251" cy="2075688"/>
          </a:xfrm>
          <a:prstGeom prst="rect">
            <a:avLst/>
          </a:prstGeom>
        </p:spPr>
      </p:pic>
      <p:sp>
        <p:nvSpPr>
          <p:cNvPr id="12" name="Rounded Rectangle 11"/>
          <p:cNvSpPr/>
          <p:nvPr/>
        </p:nvSpPr>
        <p:spPr>
          <a:xfrm>
            <a:off x="548640" y="4983480"/>
            <a:ext cx="3575304" cy="1463040"/>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120640"/>
            <a:ext cx="3118104" cy="274320"/>
          </a:xfrm>
          <a:prstGeom prst="rect">
            <a:avLst/>
          </a:prstGeom>
          <a:noFill/>
        </p:spPr>
        <p:txBody>
          <a:bodyPr wrap="square" lIns="0" rIns="0" tIns="0" bIns="0" anchor="t">
            <a:spAutoFit/>
          </a:bodyPr>
          <a:lstStyle/>
          <a:p>
            <a:pPr algn="l"/>
            <a:r>
              <a:rPr sz="1300" b="1" i="0">
                <a:solidFill>
                  <a:srgbClr val="C0392B"/>
                </a:solidFill>
                <a:latin typeface="Arial"/>
              </a:rPr>
              <a:t>Dấu hiệu</a:t>
            </a:r>
          </a:p>
        </p:txBody>
      </p:sp>
      <p:sp>
        <p:nvSpPr>
          <p:cNvPr id="14" name="TextBox 13"/>
          <p:cNvSpPr txBox="1"/>
          <p:nvPr/>
        </p:nvSpPr>
        <p:spPr>
          <a:xfrm>
            <a:off x="777240"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Biên độ dao động lớn dần theo mức, hoặc câu kiểu “doanh số tăng gấp 4 lần”.</a:t>
            </a:r>
          </a:p>
        </p:txBody>
      </p:sp>
      <p:sp>
        <p:nvSpPr>
          <p:cNvPr id="15" name="Rounded Rectangle 14"/>
          <p:cNvSpPr/>
          <p:nvPr/>
        </p:nvSpPr>
        <p:spPr>
          <a:xfrm>
            <a:off x="4306824" y="4983480"/>
            <a:ext cx="3575304" cy="1463040"/>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35424" y="5120640"/>
            <a:ext cx="3118104" cy="274320"/>
          </a:xfrm>
          <a:prstGeom prst="rect">
            <a:avLst/>
          </a:prstGeom>
          <a:noFill/>
        </p:spPr>
        <p:txBody>
          <a:bodyPr wrap="square" lIns="0" rIns="0" tIns="0" bIns="0" anchor="t">
            <a:spAutoFit/>
          </a:bodyPr>
          <a:lstStyle/>
          <a:p>
            <a:pPr algn="l"/>
            <a:r>
              <a:rPr sz="1300" b="1" i="0">
                <a:solidFill>
                  <a:srgbClr val="2E6FBF"/>
                </a:solidFill>
                <a:latin typeface="Arial"/>
              </a:rPr>
              <a:t>Kiểm bằng</a:t>
            </a:r>
          </a:p>
        </p:txBody>
      </p:sp>
      <p:sp>
        <p:nvSpPr>
          <p:cNvPr id="17" name="TextBox 16"/>
          <p:cNvSpPr txBox="1"/>
          <p:nvPr/>
        </p:nvSpPr>
        <p:spPr>
          <a:xfrm>
            <a:off x="4535424"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So độ lệch chuẩn từng năm với mức của năm đó; vẽ cạnh nhau chuỗi danh nghĩa và chuỗi đã trừ lạm phát.</a:t>
            </a:r>
          </a:p>
        </p:txBody>
      </p:sp>
      <p:sp>
        <p:nvSpPr>
          <p:cNvPr id="18" name="Rounded Rectangle 17"/>
          <p:cNvSpPr/>
          <p:nvPr/>
        </p:nvSpPr>
        <p:spPr>
          <a:xfrm>
            <a:off x="8065008" y="4983480"/>
            <a:ext cx="3575304" cy="1463040"/>
          </a:xfrm>
          <a:prstGeom prst="roundRect">
            <a:avLst>
              <a:gd name="adj" fmla="val 1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3608" y="5120640"/>
            <a:ext cx="3118104" cy="274320"/>
          </a:xfrm>
          <a:prstGeom prst="rect">
            <a:avLst/>
          </a:prstGeom>
          <a:noFill/>
        </p:spPr>
        <p:txBody>
          <a:bodyPr wrap="square" lIns="0" rIns="0" tIns="0" bIns="0" anchor="t">
            <a:spAutoFit/>
          </a:bodyPr>
          <a:lstStyle/>
          <a:p>
            <a:pPr algn="l"/>
            <a:r>
              <a:rPr sz="1300" b="1" i="0">
                <a:solidFill>
                  <a:srgbClr val="1E8449"/>
                </a:solidFill>
                <a:latin typeface="Arial"/>
              </a:rPr>
              <a:t>Cách sửa</a:t>
            </a:r>
          </a:p>
        </p:txBody>
      </p:sp>
      <p:sp>
        <p:nvSpPr>
          <p:cNvPr id="20" name="TextBox 19"/>
          <p:cNvSpPr txBox="1"/>
          <p:nvPr/>
        </p:nvSpPr>
        <p:spPr>
          <a:xfrm>
            <a:off x="8293608"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Lấy log hoặc Box-Cox; chia cho CPI, cho dân số, và cho số ngày trong tháng.</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Log rồi exp ngược thì ra trung vị</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5</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back-transformation bias · bias adjustment</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Nếu bỏ qua:  </a:t>
            </a:r>
            <a:r>
              <a:rPr sz="1600" b="0" i="0">
                <a:solidFill>
                  <a:srgbClr val="1B2A41"/>
                </a:solidFill>
                <a:latin typeface="Arial"/>
              </a:rPr>
              <a:t>cộng dự báo nhiều cửa hàng ra tổng thấp hơn thật.</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1" i="0">
                <a:solidFill>
                  <a:srgbClr val="D9642B"/>
                </a:solidFill>
                <a:latin typeface="Arial"/>
              </a:rPr>
              <a:t>Đổi ngược</a:t>
            </a:r>
            <a:r>
              <a:rPr sz="1700" b="0" i="0">
                <a:solidFill>
                  <a:srgbClr val="1B2A41"/>
                </a:solidFill>
                <a:latin typeface="Arial"/>
              </a:rPr>
              <a:t> từ thang log bằng exp cho ra trung vị, thấp hơn trung bình.</a:t>
            </a:r>
          </a:p>
        </p:txBody>
      </p:sp>
      <p:sp>
        <p:nvSpPr>
          <p:cNvPr id="8" name="Rounded Rectangle 7"/>
          <p:cNvSpPr/>
          <p:nvPr/>
        </p:nvSpPr>
        <p:spPr>
          <a:xfrm>
            <a:off x="548640" y="2450591"/>
            <a:ext cx="11091672"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450591"/>
            <a:ext cx="1097280" cy="658368"/>
          </a:xfrm>
          <a:prstGeom prst="rect">
            <a:avLst/>
          </a:prstGeom>
          <a:noFill/>
        </p:spPr>
        <p:txBody>
          <a:bodyPr wrap="square" lIns="0" rIns="0" tIns="0" bIns="0" anchor="ctr">
            <a:spAutoFit/>
          </a:bodyPr>
          <a:lstStyle/>
          <a:p>
            <a:pPr algn="l"/>
            <a:r>
              <a:rPr sz="1200" b="1" i="0">
                <a:solidFill>
                  <a:srgbClr val="D9642B"/>
                </a:solidFill>
                <a:latin typeface="Arial"/>
              </a:rPr>
              <a:t>Công thức</a:t>
            </a:r>
          </a:p>
        </p:txBody>
      </p:sp>
      <p:pic>
        <p:nvPicPr>
          <p:cNvPr id="10" name="Picture 9" descr="ace2e476819c.png"/>
          <p:cNvPicPr>
            <a:picLocks noChangeAspect="1"/>
          </p:cNvPicPr>
          <p:nvPr/>
        </p:nvPicPr>
        <p:blipFill>
          <a:blip r:embed="rId2"/>
          <a:stretch>
            <a:fillRect/>
          </a:stretch>
        </p:blipFill>
        <p:spPr>
          <a:xfrm>
            <a:off x="1783080" y="2589276"/>
            <a:ext cx="6373368" cy="381000"/>
          </a:xfrm>
          <a:prstGeom prst="rect">
            <a:avLst/>
          </a:prstGeom>
        </p:spPr>
      </p:pic>
      <p:pic>
        <p:nvPicPr>
          <p:cNvPr id="11" name="Picture 10" descr="bias-log-normal.png"/>
          <p:cNvPicPr>
            <a:picLocks noChangeAspect="1"/>
          </p:cNvPicPr>
          <p:nvPr/>
        </p:nvPicPr>
        <p:blipFill>
          <a:blip r:embed="rId3"/>
          <a:stretch>
            <a:fillRect/>
          </a:stretch>
        </p:blipFill>
        <p:spPr>
          <a:xfrm>
            <a:off x="4096322" y="3200399"/>
            <a:ext cx="3996306" cy="1645920"/>
          </a:xfrm>
          <a:prstGeom prst="rect">
            <a:avLst/>
          </a:prstGeom>
        </p:spPr>
      </p:pic>
      <p:sp>
        <p:nvSpPr>
          <p:cNvPr id="12" name="Rounded Rectangle 11"/>
          <p:cNvSpPr/>
          <p:nvPr/>
        </p:nvSpPr>
        <p:spPr>
          <a:xfrm>
            <a:off x="548640" y="4983480"/>
            <a:ext cx="3575304" cy="1463040"/>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120640"/>
            <a:ext cx="3118104" cy="274320"/>
          </a:xfrm>
          <a:prstGeom prst="rect">
            <a:avLst/>
          </a:prstGeom>
          <a:noFill/>
        </p:spPr>
        <p:txBody>
          <a:bodyPr wrap="square" lIns="0" rIns="0" tIns="0" bIns="0" anchor="t">
            <a:spAutoFit/>
          </a:bodyPr>
          <a:lstStyle/>
          <a:p>
            <a:pPr algn="l"/>
            <a:r>
              <a:rPr sz="1300" b="1" i="0">
                <a:solidFill>
                  <a:srgbClr val="C0392B"/>
                </a:solidFill>
                <a:latin typeface="Arial"/>
              </a:rPr>
              <a:t>Dấu hiệu</a:t>
            </a:r>
          </a:p>
        </p:txBody>
      </p:sp>
      <p:sp>
        <p:nvSpPr>
          <p:cNvPr id="14" name="TextBox 13"/>
          <p:cNvSpPr txBox="1"/>
          <p:nvPr/>
        </p:nvSpPr>
        <p:spPr>
          <a:xfrm>
            <a:off x="777240"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Cộng dự báo của nhiều cửa hàng thì ra một tổng thấp hơn tổng thật.</a:t>
            </a:r>
          </a:p>
        </p:txBody>
      </p:sp>
      <p:sp>
        <p:nvSpPr>
          <p:cNvPr id="15" name="Rounded Rectangle 14"/>
          <p:cNvSpPr/>
          <p:nvPr/>
        </p:nvSpPr>
        <p:spPr>
          <a:xfrm>
            <a:off x="4306824" y="4983480"/>
            <a:ext cx="3575304" cy="1463040"/>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35424" y="5120640"/>
            <a:ext cx="3118104" cy="274320"/>
          </a:xfrm>
          <a:prstGeom prst="rect">
            <a:avLst/>
          </a:prstGeom>
          <a:noFill/>
        </p:spPr>
        <p:txBody>
          <a:bodyPr wrap="square" lIns="0" rIns="0" tIns="0" bIns="0" anchor="t">
            <a:spAutoFit/>
          </a:bodyPr>
          <a:lstStyle/>
          <a:p>
            <a:pPr algn="l"/>
            <a:r>
              <a:rPr sz="1300" b="1" i="0">
                <a:solidFill>
                  <a:srgbClr val="2E6FBF"/>
                </a:solidFill>
                <a:latin typeface="Arial"/>
              </a:rPr>
              <a:t>Kiểm bằng</a:t>
            </a:r>
          </a:p>
        </p:txBody>
      </p:sp>
      <p:sp>
        <p:nvSpPr>
          <p:cNvPr id="17" name="TextBox 16"/>
          <p:cNvSpPr txBox="1"/>
          <p:nvPr/>
        </p:nvSpPr>
        <p:spPr>
          <a:xfrm>
            <a:off x="4535424"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So tổng các dự báo với tổng thực tế trên kỳ chấm.</a:t>
            </a:r>
          </a:p>
        </p:txBody>
      </p:sp>
      <p:sp>
        <p:nvSpPr>
          <p:cNvPr id="18" name="Rounded Rectangle 17"/>
          <p:cNvSpPr/>
          <p:nvPr/>
        </p:nvSpPr>
        <p:spPr>
          <a:xfrm>
            <a:off x="8065008" y="4983480"/>
            <a:ext cx="3575304" cy="1463040"/>
          </a:xfrm>
          <a:prstGeom prst="roundRect">
            <a:avLst>
              <a:gd name="adj" fmla="val 1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3608" y="5120640"/>
            <a:ext cx="3118104" cy="274320"/>
          </a:xfrm>
          <a:prstGeom prst="rect">
            <a:avLst/>
          </a:prstGeom>
          <a:noFill/>
        </p:spPr>
        <p:txBody>
          <a:bodyPr wrap="square" lIns="0" rIns="0" tIns="0" bIns="0" anchor="t">
            <a:spAutoFit/>
          </a:bodyPr>
          <a:lstStyle/>
          <a:p>
            <a:pPr algn="l"/>
            <a:r>
              <a:rPr sz="1300" b="1" i="0">
                <a:solidFill>
                  <a:srgbClr val="1E8449"/>
                </a:solidFill>
                <a:latin typeface="Arial"/>
              </a:rPr>
              <a:t>Cách sửa</a:t>
            </a:r>
          </a:p>
        </p:txBody>
      </p:sp>
      <p:sp>
        <p:nvSpPr>
          <p:cNvPr id="20" name="TextBox 19"/>
          <p:cNvSpPr txBox="1"/>
          <p:nvPr/>
        </p:nvSpPr>
        <p:spPr>
          <a:xfrm>
            <a:off x="8293608"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Cần tổng hay trung bình thì nhân 1 + σ²/2 (σ đo trên thang log). Chấm bằng MAE, vốn ưa trung vị, thì không cần.</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Khai sai chu kỳ: nhịp tuần chui vào xu hướng</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6</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classical decomposition · MSTL · robust decomposition</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Nếu bỏ qua:  </a:t>
            </a:r>
            <a:r>
              <a:rPr sz="1600" b="0" i="0">
                <a:solidFill>
                  <a:srgbClr val="1B2A41"/>
                </a:solidFill>
                <a:latin typeface="Arial"/>
              </a:rPr>
              <a:t>nhịp tuần lẫn vào xu hướng, mùa vụ ngày bị ép giống nhau cả năm.</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D9642B"/>
                </a:solidFill>
                <a:latin typeface="Arial"/>
              </a:rPr>
              <a:t>“Khai chu kỳ 24 cho chuỗi có nhịp tuần thì nhịp tuần chạy vào xu hướng.”</a:t>
            </a:r>
          </a:p>
        </p:txBody>
      </p:sp>
      <p:pic>
        <p:nvPicPr>
          <p:cNvPr id="8" name="Picture 7" descr="co-dien-24.png"/>
          <p:cNvPicPr>
            <a:picLocks noChangeAspect="1"/>
          </p:cNvPicPr>
          <p:nvPr/>
        </p:nvPicPr>
        <p:blipFill>
          <a:blip r:embed="rId2"/>
          <a:stretch>
            <a:fillRect/>
          </a:stretch>
        </p:blipFill>
        <p:spPr>
          <a:xfrm>
            <a:off x="1256588" y="2450591"/>
            <a:ext cx="5350662" cy="3995928"/>
          </a:xfrm>
          <a:prstGeom prst="rect">
            <a:avLst/>
          </a:prstGeom>
        </p:spPr>
      </p:pic>
      <p:sp>
        <p:nvSpPr>
          <p:cNvPr id="9" name="Rounded Rectangle 8"/>
          <p:cNvSpPr/>
          <p:nvPr/>
        </p:nvSpPr>
        <p:spPr>
          <a:xfrm>
            <a:off x="7543800" y="2450591"/>
            <a:ext cx="4096512" cy="1240536"/>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0" y="2587751"/>
            <a:ext cx="3639312" cy="274320"/>
          </a:xfrm>
          <a:prstGeom prst="rect">
            <a:avLst/>
          </a:prstGeom>
          <a:noFill/>
        </p:spPr>
        <p:txBody>
          <a:bodyPr wrap="square" lIns="0" rIns="0" tIns="0" bIns="0" anchor="t">
            <a:spAutoFit/>
          </a:bodyPr>
          <a:lstStyle/>
          <a:p>
            <a:pPr algn="l"/>
            <a:r>
              <a:rPr sz="1300" b="1" i="0">
                <a:solidFill>
                  <a:srgbClr val="C0392B"/>
                </a:solidFill>
                <a:latin typeface="Arial"/>
              </a:rPr>
              <a:t>Dấu hiệu</a:t>
            </a:r>
          </a:p>
        </p:txBody>
      </p:sp>
      <p:sp>
        <p:nvSpPr>
          <p:cNvPr id="11" name="TextBox 10"/>
          <p:cNvSpPr txBox="1"/>
          <p:nvPr/>
        </p:nvSpPr>
        <p:spPr>
          <a:xfrm>
            <a:off x="7772400" y="2862072"/>
            <a:ext cx="3639312" cy="783336"/>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Đường xu hướng lõm xuống mỗi cuối tuần.</a:t>
            </a:r>
          </a:p>
        </p:txBody>
      </p:sp>
      <p:sp>
        <p:nvSpPr>
          <p:cNvPr id="12" name="Rounded Rectangle 11"/>
          <p:cNvSpPr/>
          <p:nvPr/>
        </p:nvSpPr>
        <p:spPr>
          <a:xfrm>
            <a:off x="7543800" y="3828288"/>
            <a:ext cx="4096512" cy="1240536"/>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0" y="3965448"/>
            <a:ext cx="3639312" cy="274320"/>
          </a:xfrm>
          <a:prstGeom prst="rect">
            <a:avLst/>
          </a:prstGeom>
          <a:noFill/>
        </p:spPr>
        <p:txBody>
          <a:bodyPr wrap="square" lIns="0" rIns="0" tIns="0" bIns="0" anchor="t">
            <a:spAutoFit/>
          </a:bodyPr>
          <a:lstStyle/>
          <a:p>
            <a:pPr algn="l"/>
            <a:r>
              <a:rPr sz="1300" b="1" i="0">
                <a:solidFill>
                  <a:srgbClr val="2E6FBF"/>
                </a:solidFill>
                <a:latin typeface="Arial"/>
              </a:rPr>
              <a:t>Kiểm bằng</a:t>
            </a:r>
          </a:p>
        </p:txBody>
      </p:sp>
      <p:sp>
        <p:nvSpPr>
          <p:cNvPr id="14" name="TextBox 13"/>
          <p:cNvSpPr txBox="1"/>
          <p:nvPr/>
        </p:nvSpPr>
        <p:spPr>
          <a:xfrm>
            <a:off x="7772400" y="4239768"/>
            <a:ext cx="3639312" cy="783336"/>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Tính trung bình của đường xu hướng theo từng thứ; cuối tuần thấp hẳn là có vấn đề.</a:t>
            </a:r>
          </a:p>
        </p:txBody>
      </p:sp>
      <p:sp>
        <p:nvSpPr>
          <p:cNvPr id="15" name="Rounded Rectangle 14"/>
          <p:cNvSpPr/>
          <p:nvPr/>
        </p:nvSpPr>
        <p:spPr>
          <a:xfrm>
            <a:off x="7543800" y="5205984"/>
            <a:ext cx="4096512" cy="1240536"/>
          </a:xfrm>
          <a:prstGeom prst="roundRect">
            <a:avLst>
              <a:gd name="adj" fmla="val 1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0" y="5343144"/>
            <a:ext cx="3639312" cy="274320"/>
          </a:xfrm>
          <a:prstGeom prst="rect">
            <a:avLst/>
          </a:prstGeom>
          <a:noFill/>
        </p:spPr>
        <p:txBody>
          <a:bodyPr wrap="square" lIns="0" rIns="0" tIns="0" bIns="0" anchor="t">
            <a:spAutoFit/>
          </a:bodyPr>
          <a:lstStyle/>
          <a:p>
            <a:pPr algn="l"/>
            <a:r>
              <a:rPr sz="1300" b="1" i="0">
                <a:solidFill>
                  <a:srgbClr val="1E8449"/>
                </a:solidFill>
                <a:latin typeface="Arial"/>
              </a:rPr>
              <a:t>Cách sửa</a:t>
            </a:r>
          </a:p>
        </p:txBody>
      </p:sp>
      <p:sp>
        <p:nvSpPr>
          <p:cNvPr id="17" name="TextBox 16"/>
          <p:cNvSpPr txBox="1"/>
          <p:nvPr/>
        </p:nvSpPr>
        <p:spPr>
          <a:xfrm>
            <a:off x="7772400" y="5617464"/>
            <a:ext cx="3639312" cy="783336"/>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Dùng MSTL(24, 168). Giờ hỏng lẻ thì bật robust=True; đợt nóng nhiều ngày thì cần thêm biến nhiệt độ.</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Sai phân thừa làm chuỗi tệ hơn</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7</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over-differencing · ADF / KPSS test</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Nếu bỏ qua:  </a:t>
            </a:r>
            <a:r>
              <a:rPr sz="1600" b="0" i="0">
                <a:solidFill>
                  <a:srgbClr val="1B2A41"/>
                </a:solidFill>
                <a:latin typeface="Arial"/>
              </a:rPr>
              <a:t>chuỗi đã dừng mà sai phân thêm thì nhiễu to ra, dự báo tệ hơn.</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D9642B"/>
                </a:solidFill>
                <a:latin typeface="Arial"/>
              </a:rPr>
              <a:t>“Sai phân như thuốc: đúng liều thì khỏi, quá liều thì hại.”</a:t>
            </a:r>
          </a:p>
        </p:txBody>
      </p:sp>
      <p:pic>
        <p:nvPicPr>
          <p:cNvPr id="8" name="Picture 7" descr="sai-phan-thua.png"/>
          <p:cNvPicPr>
            <a:picLocks noChangeAspect="1"/>
          </p:cNvPicPr>
          <p:nvPr/>
        </p:nvPicPr>
        <p:blipFill>
          <a:blip r:embed="rId2"/>
          <a:stretch>
            <a:fillRect/>
          </a:stretch>
        </p:blipFill>
        <p:spPr>
          <a:xfrm>
            <a:off x="548640" y="2595482"/>
            <a:ext cx="6766560" cy="3706146"/>
          </a:xfrm>
          <a:prstGeom prst="rect">
            <a:avLst/>
          </a:prstGeom>
        </p:spPr>
      </p:pic>
      <p:sp>
        <p:nvSpPr>
          <p:cNvPr id="9" name="Rounded Rectangle 8"/>
          <p:cNvSpPr/>
          <p:nvPr/>
        </p:nvSpPr>
        <p:spPr>
          <a:xfrm>
            <a:off x="7543800" y="2450591"/>
            <a:ext cx="4096512" cy="1240536"/>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0" y="2587751"/>
            <a:ext cx="3639312" cy="274320"/>
          </a:xfrm>
          <a:prstGeom prst="rect">
            <a:avLst/>
          </a:prstGeom>
          <a:noFill/>
        </p:spPr>
        <p:txBody>
          <a:bodyPr wrap="square" lIns="0" rIns="0" tIns="0" bIns="0" anchor="t">
            <a:spAutoFit/>
          </a:bodyPr>
          <a:lstStyle/>
          <a:p>
            <a:pPr algn="l"/>
            <a:r>
              <a:rPr sz="1300" b="1" i="0">
                <a:solidFill>
                  <a:srgbClr val="C0392B"/>
                </a:solidFill>
                <a:latin typeface="Arial"/>
              </a:rPr>
              <a:t>Dấu hiệu</a:t>
            </a:r>
          </a:p>
        </p:txBody>
      </p:sp>
      <p:sp>
        <p:nvSpPr>
          <p:cNvPr id="11" name="TextBox 10"/>
          <p:cNvSpPr txBox="1"/>
          <p:nvPr/>
        </p:nvSpPr>
        <p:spPr>
          <a:xfrm>
            <a:off x="7772400" y="2862072"/>
            <a:ext cx="3639312" cy="783336"/>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Sau khi sai phân, r1 về gần −0,5 và độ lệch chuẩn lại tăng (0,96 lên 1,29).</a:t>
            </a:r>
          </a:p>
        </p:txBody>
      </p:sp>
      <p:sp>
        <p:nvSpPr>
          <p:cNvPr id="12" name="Rounded Rectangle 11"/>
          <p:cNvSpPr/>
          <p:nvPr/>
        </p:nvSpPr>
        <p:spPr>
          <a:xfrm>
            <a:off x="7543800" y="3828288"/>
            <a:ext cx="4096512" cy="1240536"/>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0" y="3965448"/>
            <a:ext cx="3639312" cy="274320"/>
          </a:xfrm>
          <a:prstGeom prst="rect">
            <a:avLst/>
          </a:prstGeom>
          <a:noFill/>
        </p:spPr>
        <p:txBody>
          <a:bodyPr wrap="square" lIns="0" rIns="0" tIns="0" bIns="0" anchor="t">
            <a:spAutoFit/>
          </a:bodyPr>
          <a:lstStyle/>
          <a:p>
            <a:pPr algn="l"/>
            <a:r>
              <a:rPr sz="1300" b="1" i="0">
                <a:solidFill>
                  <a:srgbClr val="2E6FBF"/>
                </a:solidFill>
                <a:latin typeface="Arial"/>
              </a:rPr>
              <a:t>Kiểm bằng</a:t>
            </a:r>
          </a:p>
        </p:txBody>
      </p:sp>
      <p:sp>
        <p:nvSpPr>
          <p:cNvPr id="14" name="TextBox 13"/>
          <p:cNvSpPr txBox="1"/>
          <p:nvPr/>
        </p:nvSpPr>
        <p:spPr>
          <a:xfrm>
            <a:off x="7772400" y="4239768"/>
            <a:ext cx="3639312" cy="783336"/>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Chạy ADF và KPSS trước khi sai phân, và xem ACF sau khi sai phân.</a:t>
            </a:r>
          </a:p>
        </p:txBody>
      </p:sp>
      <p:sp>
        <p:nvSpPr>
          <p:cNvPr id="15" name="Rounded Rectangle 14"/>
          <p:cNvSpPr/>
          <p:nvPr/>
        </p:nvSpPr>
        <p:spPr>
          <a:xfrm>
            <a:off x="7543800" y="5205984"/>
            <a:ext cx="4096512" cy="1240536"/>
          </a:xfrm>
          <a:prstGeom prst="roundRect">
            <a:avLst>
              <a:gd name="adj" fmla="val 1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0" y="5343144"/>
            <a:ext cx="3639312" cy="274320"/>
          </a:xfrm>
          <a:prstGeom prst="rect">
            <a:avLst/>
          </a:prstGeom>
          <a:noFill/>
        </p:spPr>
        <p:txBody>
          <a:bodyPr wrap="square" lIns="0" rIns="0" tIns="0" bIns="0" anchor="t">
            <a:spAutoFit/>
          </a:bodyPr>
          <a:lstStyle/>
          <a:p>
            <a:pPr algn="l"/>
            <a:r>
              <a:rPr sz="1300" b="1" i="0">
                <a:solidFill>
                  <a:srgbClr val="1E8449"/>
                </a:solidFill>
                <a:latin typeface="Arial"/>
              </a:rPr>
              <a:t>Cách sửa</a:t>
            </a:r>
          </a:p>
        </p:txBody>
      </p:sp>
      <p:sp>
        <p:nvSpPr>
          <p:cNvPr id="17" name="TextBox 16"/>
          <p:cNvSpPr txBox="1"/>
          <p:nvPr/>
        </p:nvSpPr>
        <p:spPr>
          <a:xfrm>
            <a:off x="7772400" y="5617464"/>
            <a:ext cx="3639312" cy="783336"/>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Bớt một lần sai phân. Xu hướng thẳng thì khử xu hướng. Có mùa vụ thì sai phân mùa vụ (trừ mùa trước) trước.</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r = 0,97 chưa chắc là quan hệ thật</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8</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spurious correlation · Durbin–Watson statistic</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Nếu bỏ qua:  </a:t>
            </a:r>
            <a:r>
              <a:rPr sz="1600" b="0" i="0">
                <a:solidFill>
                  <a:srgbClr val="1B2A41"/>
                </a:solidFill>
                <a:latin typeface="Arial"/>
              </a:rPr>
              <a:t>chọn một biến giải thích vô dụng vì tưởng nó liên quan.</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1" i="0">
                <a:solidFill>
                  <a:srgbClr val="D9642B"/>
                </a:solidFill>
                <a:latin typeface="Arial"/>
              </a:rPr>
              <a:t>Tương quan giả</a:t>
            </a:r>
            <a:r>
              <a:rPr sz="1700" b="0" i="0">
                <a:solidFill>
                  <a:srgbClr val="1B2A41"/>
                </a:solidFill>
                <a:latin typeface="Arial"/>
              </a:rPr>
              <a:t> là r rất cao chỉ vì hai chuỗi cùng tăng theo thời gian.</a:t>
            </a:r>
          </a:p>
        </p:txBody>
      </p:sp>
      <p:pic>
        <p:nvPicPr>
          <p:cNvPr id="8" name="Picture 7" descr="tuong-quan-gia.png"/>
          <p:cNvPicPr>
            <a:picLocks noChangeAspect="1"/>
          </p:cNvPicPr>
          <p:nvPr/>
        </p:nvPicPr>
        <p:blipFill>
          <a:blip r:embed="rId2"/>
          <a:stretch>
            <a:fillRect/>
          </a:stretch>
        </p:blipFill>
        <p:spPr>
          <a:xfrm>
            <a:off x="2188289" y="2450591"/>
            <a:ext cx="7812373" cy="2395728"/>
          </a:xfrm>
          <a:prstGeom prst="rect">
            <a:avLst/>
          </a:prstGeom>
        </p:spPr>
      </p:pic>
      <p:sp>
        <p:nvSpPr>
          <p:cNvPr id="9" name="Rounded Rectangle 8"/>
          <p:cNvSpPr/>
          <p:nvPr/>
        </p:nvSpPr>
        <p:spPr>
          <a:xfrm>
            <a:off x="548640" y="4983480"/>
            <a:ext cx="3575304" cy="1463040"/>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120640"/>
            <a:ext cx="3118104" cy="274320"/>
          </a:xfrm>
          <a:prstGeom prst="rect">
            <a:avLst/>
          </a:prstGeom>
          <a:noFill/>
        </p:spPr>
        <p:txBody>
          <a:bodyPr wrap="square" lIns="0" rIns="0" tIns="0" bIns="0" anchor="t">
            <a:spAutoFit/>
          </a:bodyPr>
          <a:lstStyle/>
          <a:p>
            <a:pPr algn="l"/>
            <a:r>
              <a:rPr sz="1300" b="1" i="0">
                <a:solidFill>
                  <a:srgbClr val="C0392B"/>
                </a:solidFill>
                <a:latin typeface="Arial"/>
              </a:rPr>
              <a:t>Dấu hiệu</a:t>
            </a:r>
          </a:p>
        </p:txBody>
      </p:sp>
      <p:sp>
        <p:nvSpPr>
          <p:cNvPr id="11" name="TextBox 10"/>
          <p:cNvSpPr txBox="1"/>
          <p:nvPr/>
        </p:nvSpPr>
        <p:spPr>
          <a:xfrm>
            <a:off x="777240"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CPI và dân số Mỹ có r = 0,97.</a:t>
            </a:r>
          </a:p>
        </p:txBody>
      </p:sp>
      <p:sp>
        <p:nvSpPr>
          <p:cNvPr id="12" name="Rounded Rectangle 11"/>
          <p:cNvSpPr/>
          <p:nvPr/>
        </p:nvSpPr>
        <p:spPr>
          <a:xfrm>
            <a:off x="4306824" y="4983480"/>
            <a:ext cx="3575304" cy="1463040"/>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5120640"/>
            <a:ext cx="3118104" cy="274320"/>
          </a:xfrm>
          <a:prstGeom prst="rect">
            <a:avLst/>
          </a:prstGeom>
          <a:noFill/>
        </p:spPr>
        <p:txBody>
          <a:bodyPr wrap="square" lIns="0" rIns="0" tIns="0" bIns="0" anchor="t">
            <a:spAutoFit/>
          </a:bodyPr>
          <a:lstStyle/>
          <a:p>
            <a:pPr algn="l"/>
            <a:r>
              <a:rPr sz="1300" b="1" i="0">
                <a:solidFill>
                  <a:srgbClr val="2E6FBF"/>
                </a:solidFill>
                <a:latin typeface="Arial"/>
              </a:rPr>
              <a:t>Kiểm bằng</a:t>
            </a:r>
          </a:p>
        </p:txBody>
      </p:sp>
      <p:sp>
        <p:nvSpPr>
          <p:cNvPr id="14" name="TextBox 13"/>
          <p:cNvSpPr txBox="1"/>
          <p:nvPr/>
        </p:nvSpPr>
        <p:spPr>
          <a:xfrm>
            <a:off x="4535424"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Tính lại r trên phần thay đổi (sai phân): chỉ còn −0,21. Durbin–Watson gần 0 cũng là một dấu hiệu.</a:t>
            </a:r>
          </a:p>
        </p:txBody>
      </p:sp>
      <p:sp>
        <p:nvSpPr>
          <p:cNvPr id="15" name="Rounded Rectangle 14"/>
          <p:cNvSpPr/>
          <p:nvPr/>
        </p:nvSpPr>
        <p:spPr>
          <a:xfrm>
            <a:off x="8065008" y="4983480"/>
            <a:ext cx="3575304" cy="1463040"/>
          </a:xfrm>
          <a:prstGeom prst="roundRect">
            <a:avLst>
              <a:gd name="adj" fmla="val 1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5120640"/>
            <a:ext cx="3118104" cy="274320"/>
          </a:xfrm>
          <a:prstGeom prst="rect">
            <a:avLst/>
          </a:prstGeom>
          <a:noFill/>
        </p:spPr>
        <p:txBody>
          <a:bodyPr wrap="square" lIns="0" rIns="0" tIns="0" bIns="0" anchor="t">
            <a:spAutoFit/>
          </a:bodyPr>
          <a:lstStyle/>
          <a:p>
            <a:pPr algn="l"/>
            <a:r>
              <a:rPr sz="1300" b="1" i="0">
                <a:solidFill>
                  <a:srgbClr val="1E8449"/>
                </a:solidFill>
                <a:latin typeface="Arial"/>
              </a:rPr>
              <a:t>Cách sửa</a:t>
            </a:r>
          </a:p>
        </p:txBody>
      </p:sp>
      <p:sp>
        <p:nvSpPr>
          <p:cNvPr id="17" name="TextBox 16"/>
          <p:cNvSpPr txBox="1"/>
          <p:nvPr/>
        </p:nvSpPr>
        <p:spPr>
          <a:xfrm>
            <a:off x="8293608"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Sai phân rồi đo lại. Khi viết kết luận, nói “đi cùng”, đừng nói “gây ra”.</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Lạnh cũng tăng, nóng cũng tăng: hình chữ U</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8</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nonlinear relationship · CDD / HDD (degree days) · mutual information</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Nếu bỏ qua:  </a:t>
            </a:r>
            <a:r>
              <a:rPr sz="1600" b="0" i="0">
                <a:solidFill>
                  <a:srgbClr val="1B2A41"/>
                </a:solidFill>
                <a:latin typeface="Arial"/>
              </a:rPr>
              <a:t>dùng một đường thẳng cho nhiệt độ thì bỏ sót hẳn nhánh trời lạnh.</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D9642B"/>
                </a:solidFill>
                <a:latin typeface="Arial"/>
              </a:rPr>
              <a:t>“Trời nóng bật điều hoà, trời lạnh bật sưởi: tải điện tăng ở cả hai phía.”</a:t>
            </a:r>
          </a:p>
        </p:txBody>
      </p:sp>
      <p:pic>
        <p:nvPicPr>
          <p:cNvPr id="8" name="Picture 7" descr="chu-u.png"/>
          <p:cNvPicPr>
            <a:picLocks noChangeAspect="1"/>
          </p:cNvPicPr>
          <p:nvPr/>
        </p:nvPicPr>
        <p:blipFill>
          <a:blip r:embed="rId2"/>
          <a:stretch>
            <a:fillRect/>
          </a:stretch>
        </p:blipFill>
        <p:spPr>
          <a:xfrm>
            <a:off x="2532766" y="2450591"/>
            <a:ext cx="7123419" cy="2395728"/>
          </a:xfrm>
          <a:prstGeom prst="rect">
            <a:avLst/>
          </a:prstGeom>
        </p:spPr>
      </p:pic>
      <p:sp>
        <p:nvSpPr>
          <p:cNvPr id="9" name="Rounded Rectangle 8"/>
          <p:cNvSpPr/>
          <p:nvPr/>
        </p:nvSpPr>
        <p:spPr>
          <a:xfrm>
            <a:off x="548640" y="4983480"/>
            <a:ext cx="3575304" cy="1463040"/>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120640"/>
            <a:ext cx="3118104" cy="274320"/>
          </a:xfrm>
          <a:prstGeom prst="rect">
            <a:avLst/>
          </a:prstGeom>
          <a:noFill/>
        </p:spPr>
        <p:txBody>
          <a:bodyPr wrap="square" lIns="0" rIns="0" tIns="0" bIns="0" anchor="t">
            <a:spAutoFit/>
          </a:bodyPr>
          <a:lstStyle/>
          <a:p>
            <a:pPr algn="l"/>
            <a:r>
              <a:rPr sz="1300" b="1" i="0">
                <a:solidFill>
                  <a:srgbClr val="C0392B"/>
                </a:solidFill>
                <a:latin typeface="Arial"/>
              </a:rPr>
              <a:t>Dấu hiệu</a:t>
            </a:r>
          </a:p>
        </p:txBody>
      </p:sp>
      <p:sp>
        <p:nvSpPr>
          <p:cNvPr id="11" name="TextBox 10"/>
          <p:cNvSpPr txBox="1"/>
          <p:nvPr/>
        </p:nvSpPr>
        <p:spPr>
          <a:xfrm>
            <a:off x="777240"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Pearson 0,616 trông khá mạnh, nhưng là trộn nhánh lạnh (−0,649) với nhánh nóng (+0,910); scatter có hình chữ U.</a:t>
            </a:r>
          </a:p>
        </p:txBody>
      </p:sp>
      <p:sp>
        <p:nvSpPr>
          <p:cNvPr id="12" name="Rounded Rectangle 11"/>
          <p:cNvSpPr/>
          <p:nvPr/>
        </p:nvSpPr>
        <p:spPr>
          <a:xfrm>
            <a:off x="4306824" y="4983480"/>
            <a:ext cx="3575304" cy="1463040"/>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5120640"/>
            <a:ext cx="3118104" cy="274320"/>
          </a:xfrm>
          <a:prstGeom prst="rect">
            <a:avLst/>
          </a:prstGeom>
          <a:noFill/>
        </p:spPr>
        <p:txBody>
          <a:bodyPr wrap="square" lIns="0" rIns="0" tIns="0" bIns="0" anchor="t">
            <a:spAutoFit/>
          </a:bodyPr>
          <a:lstStyle/>
          <a:p>
            <a:pPr algn="l"/>
            <a:r>
              <a:rPr sz="1300" b="1" i="0">
                <a:solidFill>
                  <a:srgbClr val="2E6FBF"/>
                </a:solidFill>
                <a:latin typeface="Arial"/>
              </a:rPr>
              <a:t>Kiểm bằng</a:t>
            </a:r>
          </a:p>
        </p:txBody>
      </p:sp>
      <p:sp>
        <p:nvSpPr>
          <p:cNvPr id="14" name="TextBox 13"/>
          <p:cNvSpPr txBox="1"/>
          <p:nvPr/>
        </p:nvSpPr>
        <p:spPr>
          <a:xfrm>
            <a:off x="4535424"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Vẽ scatter trước; đo thêm mutual information, thứ bắt được cả quan hệ cong.</a:t>
            </a:r>
          </a:p>
        </p:txBody>
      </p:sp>
      <p:sp>
        <p:nvSpPr>
          <p:cNvPr id="15" name="Rounded Rectangle 14"/>
          <p:cNvSpPr/>
          <p:nvPr/>
        </p:nvSpPr>
        <p:spPr>
          <a:xfrm>
            <a:off x="8065008" y="4983480"/>
            <a:ext cx="3575304" cy="1463040"/>
          </a:xfrm>
          <a:prstGeom prst="roundRect">
            <a:avLst>
              <a:gd name="adj" fmla="val 1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5120640"/>
            <a:ext cx="3118104" cy="274320"/>
          </a:xfrm>
          <a:prstGeom prst="rect">
            <a:avLst/>
          </a:prstGeom>
          <a:noFill/>
        </p:spPr>
        <p:txBody>
          <a:bodyPr wrap="square" lIns="0" rIns="0" tIns="0" bIns="0" anchor="t">
            <a:spAutoFit/>
          </a:bodyPr>
          <a:lstStyle/>
          <a:p>
            <a:pPr algn="l"/>
            <a:r>
              <a:rPr sz="1300" b="1" i="0">
                <a:solidFill>
                  <a:srgbClr val="1E8449"/>
                </a:solidFill>
                <a:latin typeface="Arial"/>
              </a:rPr>
              <a:t>Cách sửa</a:t>
            </a:r>
          </a:p>
        </p:txBody>
      </p:sp>
      <p:sp>
        <p:nvSpPr>
          <p:cNvPr id="17" name="TextBox 16"/>
          <p:cNvSpPr txBox="1"/>
          <p:nvPr/>
        </p:nvSpPr>
        <p:spPr>
          <a:xfrm>
            <a:off x="8293608"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Tách nhiệt độ thành CDD (độ nóng) và HDD (độ lạnh) quanh 18,33 °C: R² tăng từ 0,379 lên 0,812.</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isna() không thấy dòng bị mất</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10</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missing timestamps vs missing values · reindex</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Nếu bỏ qua:  </a:t>
            </a:r>
            <a:r>
              <a:rPr sz="1600" b="0" i="0">
                <a:solidFill>
                  <a:srgbClr val="1B2A41"/>
                </a:solidFill>
                <a:latin typeface="Arial"/>
              </a:rPr>
              <a:t>chuỗi trông đủ nhưng thiếu cả dòng; lag và rolling tính sai số bước.</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1" i="0">
                <a:solidFill>
                  <a:srgbClr val="D9642B"/>
                </a:solidFill>
                <a:latin typeface="Arial"/>
              </a:rPr>
              <a:t>Thiếu mốc</a:t>
            </a:r>
            <a:r>
              <a:rPr sz="1700" b="0" i="0">
                <a:solidFill>
                  <a:srgbClr val="1B2A41"/>
                </a:solidFill>
                <a:latin typeface="Arial"/>
              </a:rPr>
              <a:t> là mất cả dòng; thiếu giá trị là còn dòng nhưng ô rỗng. isna() chỉ thấy loại sau.</a:t>
            </a:r>
          </a:p>
        </p:txBody>
      </p:sp>
      <p:pic>
        <p:nvPicPr>
          <p:cNvPr id="8" name="Picture 7" descr="hai-loai-thieu.png"/>
          <p:cNvPicPr>
            <a:picLocks noChangeAspect="1"/>
          </p:cNvPicPr>
          <p:nvPr/>
        </p:nvPicPr>
        <p:blipFill>
          <a:blip r:embed="rId2"/>
          <a:stretch>
            <a:fillRect/>
          </a:stretch>
        </p:blipFill>
        <p:spPr>
          <a:xfrm>
            <a:off x="2411280" y="2450591"/>
            <a:ext cx="7366392" cy="2395728"/>
          </a:xfrm>
          <a:prstGeom prst="rect">
            <a:avLst/>
          </a:prstGeom>
        </p:spPr>
      </p:pic>
      <p:sp>
        <p:nvSpPr>
          <p:cNvPr id="9" name="Rounded Rectangle 8"/>
          <p:cNvSpPr/>
          <p:nvPr/>
        </p:nvSpPr>
        <p:spPr>
          <a:xfrm>
            <a:off x="548640" y="4983480"/>
            <a:ext cx="3575304" cy="1463040"/>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120640"/>
            <a:ext cx="3118104" cy="274320"/>
          </a:xfrm>
          <a:prstGeom prst="rect">
            <a:avLst/>
          </a:prstGeom>
          <a:noFill/>
        </p:spPr>
        <p:txBody>
          <a:bodyPr wrap="square" lIns="0" rIns="0" tIns="0" bIns="0" anchor="t">
            <a:spAutoFit/>
          </a:bodyPr>
          <a:lstStyle/>
          <a:p>
            <a:pPr algn="l"/>
            <a:r>
              <a:rPr sz="1300" b="1" i="0">
                <a:solidFill>
                  <a:srgbClr val="C0392B"/>
                </a:solidFill>
                <a:latin typeface="Arial"/>
              </a:rPr>
              <a:t>Dấu hiệu</a:t>
            </a:r>
          </a:p>
        </p:txBody>
      </p:sp>
      <p:sp>
        <p:nvSpPr>
          <p:cNvPr id="11" name="TextBox 10"/>
          <p:cNvSpPr txBox="1"/>
          <p:nvPr/>
        </p:nvSpPr>
        <p:spPr>
          <a:xfrm>
            <a:off x="777240"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Từ 00:00 tới 02:30 phải có 6 mốc 30 phút, nhưng tệp chỉ có 5 dòng.</a:t>
            </a:r>
          </a:p>
        </p:txBody>
      </p:sp>
      <p:sp>
        <p:nvSpPr>
          <p:cNvPr id="12" name="Rounded Rectangle 11"/>
          <p:cNvSpPr/>
          <p:nvPr/>
        </p:nvSpPr>
        <p:spPr>
          <a:xfrm>
            <a:off x="4306824" y="4983480"/>
            <a:ext cx="3575304" cy="1463040"/>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5120640"/>
            <a:ext cx="3118104" cy="274320"/>
          </a:xfrm>
          <a:prstGeom prst="rect">
            <a:avLst/>
          </a:prstGeom>
          <a:noFill/>
        </p:spPr>
        <p:txBody>
          <a:bodyPr wrap="square" lIns="0" rIns="0" tIns="0" bIns="0" anchor="t">
            <a:spAutoFit/>
          </a:bodyPr>
          <a:lstStyle/>
          <a:p>
            <a:pPr algn="l"/>
            <a:r>
              <a:rPr sz="1300" b="1" i="0">
                <a:solidFill>
                  <a:srgbClr val="2E6FBF"/>
                </a:solidFill>
                <a:latin typeface="Arial"/>
              </a:rPr>
              <a:t>Kiểm bằng</a:t>
            </a:r>
          </a:p>
        </p:txBody>
      </p:sp>
      <p:sp>
        <p:nvSpPr>
          <p:cNvPr id="14" name="TextBox 13"/>
          <p:cNvSpPr txBox="1"/>
          <p:nvPr/>
        </p:nvSpPr>
        <p:spPr>
          <a:xfrm>
            <a:off x="4535424"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So số dòng với số mốc của lưới thời gian đầy đủ, và đếm mốc trùng.</a:t>
            </a:r>
          </a:p>
        </p:txBody>
      </p:sp>
      <p:sp>
        <p:nvSpPr>
          <p:cNvPr id="15" name="Rounded Rectangle 14"/>
          <p:cNvSpPr/>
          <p:nvPr/>
        </p:nvSpPr>
        <p:spPr>
          <a:xfrm>
            <a:off x="8065008" y="4983480"/>
            <a:ext cx="3575304" cy="1463040"/>
          </a:xfrm>
          <a:prstGeom prst="roundRect">
            <a:avLst>
              <a:gd name="adj" fmla="val 1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5120640"/>
            <a:ext cx="3118104" cy="274320"/>
          </a:xfrm>
          <a:prstGeom prst="rect">
            <a:avLst/>
          </a:prstGeom>
          <a:noFill/>
        </p:spPr>
        <p:txBody>
          <a:bodyPr wrap="square" lIns="0" rIns="0" tIns="0" bIns="0" anchor="t">
            <a:spAutoFit/>
          </a:bodyPr>
          <a:lstStyle/>
          <a:p>
            <a:pPr algn="l"/>
            <a:r>
              <a:rPr sz="1300" b="1" i="0">
                <a:solidFill>
                  <a:srgbClr val="1E8449"/>
                </a:solidFill>
                <a:latin typeface="Arial"/>
              </a:rPr>
              <a:t>Cách sửa</a:t>
            </a:r>
          </a:p>
        </p:txBody>
      </p:sp>
      <p:sp>
        <p:nvSpPr>
          <p:cNvPr id="17" name="TextBox 16"/>
          <p:cNvSpPr txBox="1"/>
          <p:nvPr/>
        </p:nvSpPr>
        <p:spPr>
          <a:xfrm>
            <a:off x="8293608"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reindex lên lưới đầy đủ trước mọi việc khác, để mốc bị mất hiện ra thành NaN.</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Vì sao số bị mất quyết định có điền được không</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10</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missing data mechanism · MCAR / MAR / MNAR</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Biết trước khi điền: phần dữ liệu còn lại có còn đại diện cho cái đã mất không.</a:t>
            </a:r>
          </a:p>
        </p:txBody>
      </p:sp>
      <p:pic>
        <p:nvPicPr>
          <p:cNvPr id="7" name="Picture 6" descr="kn-mcar-mar-mnar.png"/>
          <p:cNvPicPr>
            <a:picLocks noChangeAspect="1"/>
          </p:cNvPicPr>
          <p:nvPr/>
        </p:nvPicPr>
        <p:blipFill>
          <a:blip r:embed="rId2"/>
          <a:stretch>
            <a:fillRect/>
          </a:stretch>
        </p:blipFill>
        <p:spPr>
          <a:xfrm>
            <a:off x="548640" y="2715123"/>
            <a:ext cx="6309360" cy="3128536"/>
          </a:xfrm>
          <a:prstGeom prst="rect">
            <a:avLst/>
          </a:prstGeom>
        </p:spPr>
      </p:pic>
      <p:sp>
        <p:nvSpPr>
          <p:cNvPr id="8" name="TextBox 7"/>
          <p:cNvSpPr txBox="1"/>
          <p:nvPr/>
        </p:nvSpPr>
        <p:spPr>
          <a:xfrm>
            <a:off x="7223760" y="2066543"/>
            <a:ext cx="4416552" cy="274320"/>
          </a:xfrm>
          <a:prstGeom prst="rect">
            <a:avLst/>
          </a:prstGeom>
          <a:noFill/>
        </p:spPr>
        <p:txBody>
          <a:bodyPr wrap="square" lIns="0" rIns="0" tIns="0" bIns="0" anchor="t">
            <a:spAutoFit/>
          </a:bodyPr>
          <a:lstStyle/>
          <a:p>
            <a:pPr algn="l"/>
            <a:r>
              <a:rPr sz="1400" b="1" i="0">
                <a:solidFill>
                  <a:srgbClr val="D9642B"/>
                </a:solidFill>
                <a:latin typeface="Arial"/>
              </a:rPr>
              <a:t>Là gì</a:t>
            </a:r>
          </a:p>
        </p:txBody>
      </p:sp>
      <p:sp>
        <p:nvSpPr>
          <p:cNvPr id="9" name="TextBox 8"/>
          <p:cNvSpPr txBox="1"/>
          <p:nvPr/>
        </p:nvSpPr>
        <p:spPr>
          <a:xfrm>
            <a:off x="7223760" y="2386584"/>
            <a:ext cx="4416552" cy="1127760"/>
          </a:xfrm>
          <a:prstGeom prst="rect">
            <a:avLst/>
          </a:prstGeom>
          <a:noFill/>
        </p:spPr>
        <p:txBody>
          <a:bodyPr wrap="square" lIns="0" rIns="0" tIns="0" bIns="0" anchor="t">
            <a:spAutoFit/>
          </a:bodyPr>
          <a:lstStyle/>
          <a:p>
            <a:pPr algn="l"/>
            <a:r>
              <a:rPr sz="1500" b="0" i="0">
                <a:solidFill>
                  <a:srgbClr val="1B2A41"/>
                </a:solidFill>
                <a:latin typeface="Arial"/>
              </a:rPr>
              <a:t>Ba cơ chế thiếu: MCAR thiếu hoàn toàn ngẫu nhiên; MAR thiếu vì một thứ khác đã đo được; MNAR thiếu vì chính giá trị bị mất.</a:t>
            </a:r>
          </a:p>
        </p:txBody>
      </p:sp>
      <p:sp>
        <p:nvSpPr>
          <p:cNvPr id="10" name="TextBox 9"/>
          <p:cNvSpPr txBox="1"/>
          <p:nvPr/>
        </p:nvSpPr>
        <p:spPr>
          <a:xfrm>
            <a:off x="7223760" y="3541775"/>
            <a:ext cx="4416552" cy="274320"/>
          </a:xfrm>
          <a:prstGeom prst="rect">
            <a:avLst/>
          </a:prstGeom>
          <a:noFill/>
        </p:spPr>
        <p:txBody>
          <a:bodyPr wrap="square" lIns="0" rIns="0" tIns="0" bIns="0" anchor="t">
            <a:spAutoFit/>
          </a:bodyPr>
          <a:lstStyle/>
          <a:p>
            <a:pPr algn="l"/>
            <a:r>
              <a:rPr sz="1400" b="1" i="0">
                <a:solidFill>
                  <a:srgbClr val="D9642B"/>
                </a:solidFill>
                <a:latin typeface="Arial"/>
              </a:rPr>
              <a:t>Điền được tới đâu</a:t>
            </a:r>
          </a:p>
        </p:txBody>
      </p:sp>
      <p:cxnSp>
        <p:nvCxnSpPr>
          <p:cNvPr id="11" name="Connector 10"/>
          <p:cNvCxnSpPr/>
          <p:nvPr/>
        </p:nvCxnSpPr>
        <p:spPr>
          <a:xfrm>
            <a:off x="7959852" y="3998975"/>
            <a:ext cx="2944368"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7877556" y="3916680"/>
            <a:ext cx="164592" cy="16459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260336" y="4136136"/>
            <a:ext cx="1399032" cy="274320"/>
          </a:xfrm>
          <a:prstGeom prst="rect">
            <a:avLst/>
          </a:prstGeom>
          <a:noFill/>
        </p:spPr>
        <p:txBody>
          <a:bodyPr wrap="square" lIns="0" rIns="0" tIns="0" bIns="0" anchor="t">
            <a:spAutoFit/>
          </a:bodyPr>
          <a:lstStyle/>
          <a:p>
            <a:pPr algn="ctr"/>
            <a:r>
              <a:rPr sz="1400" b="1" i="0">
                <a:solidFill>
                  <a:srgbClr val="D9642B"/>
                </a:solidFill>
                <a:latin typeface="Arial"/>
              </a:rPr>
              <a:t>MCAR</a:t>
            </a:r>
          </a:p>
        </p:txBody>
      </p:sp>
      <p:sp>
        <p:nvSpPr>
          <p:cNvPr id="14" name="TextBox 13"/>
          <p:cNvSpPr txBox="1"/>
          <p:nvPr/>
        </p:nvSpPr>
        <p:spPr>
          <a:xfrm>
            <a:off x="7260336" y="4410456"/>
            <a:ext cx="1399032" cy="548640"/>
          </a:xfrm>
          <a:prstGeom prst="rect">
            <a:avLst/>
          </a:prstGeom>
          <a:noFill/>
        </p:spPr>
        <p:txBody>
          <a:bodyPr wrap="square" lIns="0" rIns="0" tIns="0" bIns="0" anchor="t">
            <a:spAutoFit/>
          </a:bodyPr>
          <a:lstStyle/>
          <a:p>
            <a:pPr algn="ctr"/>
            <a:r>
              <a:rPr sz="1100" b="0" i="0">
                <a:solidFill>
                  <a:srgbClr val="1B2A41"/>
                </a:solidFill>
                <a:latin typeface="Arial"/>
              </a:rPr>
              <a:t>mất mạng vài phút: điền thoải mái</a:t>
            </a:r>
          </a:p>
        </p:txBody>
      </p:sp>
      <p:sp>
        <p:nvSpPr>
          <p:cNvPr id="15" name="Oval 14"/>
          <p:cNvSpPr/>
          <p:nvPr/>
        </p:nvSpPr>
        <p:spPr>
          <a:xfrm>
            <a:off x="9349740" y="3916680"/>
            <a:ext cx="164592" cy="16459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32519" y="4136136"/>
            <a:ext cx="1399032" cy="274320"/>
          </a:xfrm>
          <a:prstGeom prst="rect">
            <a:avLst/>
          </a:prstGeom>
          <a:noFill/>
        </p:spPr>
        <p:txBody>
          <a:bodyPr wrap="square" lIns="0" rIns="0" tIns="0" bIns="0" anchor="t">
            <a:spAutoFit/>
          </a:bodyPr>
          <a:lstStyle/>
          <a:p>
            <a:pPr algn="ctr"/>
            <a:r>
              <a:rPr sz="1400" b="1" i="0">
                <a:solidFill>
                  <a:srgbClr val="D9642B"/>
                </a:solidFill>
                <a:latin typeface="Arial"/>
              </a:rPr>
              <a:t>MAR</a:t>
            </a:r>
          </a:p>
        </p:txBody>
      </p:sp>
      <p:sp>
        <p:nvSpPr>
          <p:cNvPr id="17" name="TextBox 16"/>
          <p:cNvSpPr txBox="1"/>
          <p:nvPr/>
        </p:nvSpPr>
        <p:spPr>
          <a:xfrm>
            <a:off x="8732519" y="4410456"/>
            <a:ext cx="1399032" cy="548640"/>
          </a:xfrm>
          <a:prstGeom prst="rect">
            <a:avLst/>
          </a:prstGeom>
          <a:noFill/>
        </p:spPr>
        <p:txBody>
          <a:bodyPr wrap="square" lIns="0" rIns="0" tIns="0" bIns="0" anchor="t">
            <a:spAutoFit/>
          </a:bodyPr>
          <a:lstStyle/>
          <a:p>
            <a:pPr algn="ctr"/>
            <a:r>
              <a:rPr sz="1100" b="0" i="0">
                <a:solidFill>
                  <a:srgbClr val="1B2A41"/>
                </a:solidFill>
                <a:latin typeface="Arial"/>
              </a:rPr>
              <a:t>trạm hay hỏng mùa mưa: điền, có dùng mùa</a:t>
            </a:r>
          </a:p>
        </p:txBody>
      </p:sp>
      <p:sp>
        <p:nvSpPr>
          <p:cNvPr id="18" name="Oval 17"/>
          <p:cNvSpPr/>
          <p:nvPr/>
        </p:nvSpPr>
        <p:spPr>
          <a:xfrm>
            <a:off x="10821924" y="3916680"/>
            <a:ext cx="164592" cy="16459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204704" y="4136136"/>
            <a:ext cx="1399032" cy="274320"/>
          </a:xfrm>
          <a:prstGeom prst="rect">
            <a:avLst/>
          </a:prstGeom>
          <a:noFill/>
        </p:spPr>
        <p:txBody>
          <a:bodyPr wrap="square" lIns="0" rIns="0" tIns="0" bIns="0" anchor="t">
            <a:spAutoFit/>
          </a:bodyPr>
          <a:lstStyle/>
          <a:p>
            <a:pPr algn="ctr"/>
            <a:r>
              <a:rPr sz="1400" b="1" i="0">
                <a:solidFill>
                  <a:srgbClr val="D9642B"/>
                </a:solidFill>
                <a:latin typeface="Arial"/>
              </a:rPr>
              <a:t>MNAR</a:t>
            </a:r>
          </a:p>
        </p:txBody>
      </p:sp>
      <p:sp>
        <p:nvSpPr>
          <p:cNvPr id="20" name="TextBox 19"/>
          <p:cNvSpPr txBox="1"/>
          <p:nvPr/>
        </p:nvSpPr>
        <p:spPr>
          <a:xfrm>
            <a:off x="10204704" y="4410456"/>
            <a:ext cx="1399032" cy="548640"/>
          </a:xfrm>
          <a:prstGeom prst="rect">
            <a:avLst/>
          </a:prstGeom>
          <a:noFill/>
        </p:spPr>
        <p:txBody>
          <a:bodyPr wrap="square" lIns="0" rIns="0" tIns="0" bIns="0" anchor="t">
            <a:spAutoFit/>
          </a:bodyPr>
          <a:lstStyle/>
          <a:p>
            <a:pPr algn="ctr"/>
            <a:r>
              <a:rPr sz="1100" b="0" i="0">
                <a:solidFill>
                  <a:srgbClr val="1B2A41"/>
                </a:solidFill>
                <a:latin typeface="Arial"/>
              </a:rPr>
              <a:t>cảm biến tắt khi quá tải: đừng điền</a:t>
            </a:r>
          </a:p>
        </p:txBody>
      </p:sp>
      <p:sp>
        <p:nvSpPr>
          <p:cNvPr id="21" name="TextBox 20"/>
          <p:cNvSpPr txBox="1"/>
          <p:nvPr/>
        </p:nvSpPr>
        <p:spPr>
          <a:xfrm>
            <a:off x="7223760" y="5017008"/>
            <a:ext cx="4416552" cy="274320"/>
          </a:xfrm>
          <a:prstGeom prst="rect">
            <a:avLst/>
          </a:prstGeom>
          <a:noFill/>
        </p:spPr>
        <p:txBody>
          <a:bodyPr wrap="square" lIns="0" rIns="0" tIns="0" bIns="0" anchor="t">
            <a:spAutoFit/>
          </a:bodyPr>
          <a:lstStyle/>
          <a:p>
            <a:pPr algn="l"/>
            <a:r>
              <a:rPr sz="1400" b="1" i="0">
                <a:solidFill>
                  <a:srgbClr val="D9642B"/>
                </a:solidFill>
                <a:latin typeface="Arial"/>
              </a:rPr>
              <a:t>Ví dụ</a:t>
            </a:r>
          </a:p>
        </p:txBody>
      </p:sp>
      <p:sp>
        <p:nvSpPr>
          <p:cNvPr id="22" name="TextBox 21"/>
          <p:cNvSpPr txBox="1"/>
          <p:nvPr/>
        </p:nvSpPr>
        <p:spPr>
          <a:xfrm>
            <a:off x="7223760" y="5337047"/>
            <a:ext cx="4416552" cy="1127760"/>
          </a:xfrm>
          <a:prstGeom prst="rect">
            <a:avLst/>
          </a:prstGeom>
          <a:noFill/>
        </p:spPr>
        <p:txBody>
          <a:bodyPr wrap="square" lIns="0" rIns="0" tIns="0" bIns="0" anchor="t">
            <a:spAutoFit/>
          </a:bodyPr>
          <a:lstStyle/>
          <a:p>
            <a:pPr algn="l"/>
            <a:r>
              <a:rPr sz="1500" b="0" i="0">
                <a:solidFill>
                  <a:srgbClr val="1B2A41"/>
                </a:solidFill>
                <a:latin typeface="Arial"/>
              </a:rPr>
              <a:t>PM2.5 thật 10, 20, 30, 40 (trung bình 25); cảm biến tắt khi trên 30 thì chỉ còn 10, 20, 30, trung bình 20: lệch 5 dù chưa điền gì.</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Thiếu vì chính giá trị: điền kiểu gì cũng lệch</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10</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missing data mechanism · MCAR / MAR / MNAR</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Nếu bỏ qua:  </a:t>
            </a:r>
            <a:r>
              <a:rPr sz="1600" b="0" i="0">
                <a:solidFill>
                  <a:srgbClr val="1B2A41"/>
                </a:solidFill>
                <a:latin typeface="Arial"/>
              </a:rPr>
              <a:t>điền xong trung bình vẫn lệch, và dự báo lệch theo.</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1" i="0">
                <a:solidFill>
                  <a:srgbClr val="D9642B"/>
                </a:solidFill>
                <a:latin typeface="Arial"/>
              </a:rPr>
              <a:t>MNAR</a:t>
            </a:r>
            <a:r>
              <a:rPr sz="1700" b="0" i="0">
                <a:solidFill>
                  <a:srgbClr val="1B2A41"/>
                </a:solidFill>
                <a:latin typeface="Arial"/>
              </a:rPr>
              <a:t> là thiếu vì chính giá trị, như cảm biến tắt đúng lúc ô nhiễm quá cao.</a:t>
            </a:r>
          </a:p>
        </p:txBody>
      </p:sp>
      <p:pic>
        <p:nvPicPr>
          <p:cNvPr id="8" name="Picture 7" descr="mnar.png"/>
          <p:cNvPicPr>
            <a:picLocks noChangeAspect="1"/>
          </p:cNvPicPr>
          <p:nvPr/>
        </p:nvPicPr>
        <p:blipFill>
          <a:blip r:embed="rId2"/>
          <a:stretch>
            <a:fillRect/>
          </a:stretch>
        </p:blipFill>
        <p:spPr>
          <a:xfrm>
            <a:off x="2576488" y="2450591"/>
            <a:ext cx="7035974" cy="2395728"/>
          </a:xfrm>
          <a:prstGeom prst="rect">
            <a:avLst/>
          </a:prstGeom>
        </p:spPr>
      </p:pic>
      <p:sp>
        <p:nvSpPr>
          <p:cNvPr id="9" name="Rounded Rectangle 8"/>
          <p:cNvSpPr/>
          <p:nvPr/>
        </p:nvSpPr>
        <p:spPr>
          <a:xfrm>
            <a:off x="548640" y="4983480"/>
            <a:ext cx="3575304" cy="1463040"/>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120640"/>
            <a:ext cx="3118104" cy="274320"/>
          </a:xfrm>
          <a:prstGeom prst="rect">
            <a:avLst/>
          </a:prstGeom>
          <a:noFill/>
        </p:spPr>
        <p:txBody>
          <a:bodyPr wrap="square" lIns="0" rIns="0" tIns="0" bIns="0" anchor="t">
            <a:spAutoFit/>
          </a:bodyPr>
          <a:lstStyle/>
          <a:p>
            <a:pPr algn="l"/>
            <a:r>
              <a:rPr sz="1300" b="1" i="0">
                <a:solidFill>
                  <a:srgbClr val="C0392B"/>
                </a:solidFill>
                <a:latin typeface="Arial"/>
              </a:rPr>
              <a:t>Dấu hiệu</a:t>
            </a:r>
          </a:p>
        </p:txBody>
      </p:sp>
      <p:sp>
        <p:nvSpPr>
          <p:cNvPr id="11" name="TextBox 10"/>
          <p:cNvSpPr txBox="1"/>
          <p:nvPr/>
        </p:nvSpPr>
        <p:spPr>
          <a:xfrm>
            <a:off x="777240"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Điền xong mà trung bình vẫn lệch: mất 16,2% số điểm ở phía cao thì trung bình còn −0,30 thay vì −0,005.</a:t>
            </a:r>
          </a:p>
        </p:txBody>
      </p:sp>
      <p:sp>
        <p:nvSpPr>
          <p:cNvPr id="12" name="Rounded Rectangle 11"/>
          <p:cNvSpPr/>
          <p:nvPr/>
        </p:nvSpPr>
        <p:spPr>
          <a:xfrm>
            <a:off x="4306824" y="4983480"/>
            <a:ext cx="3575304" cy="1463040"/>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5120640"/>
            <a:ext cx="3118104" cy="274320"/>
          </a:xfrm>
          <a:prstGeom prst="rect">
            <a:avLst/>
          </a:prstGeom>
          <a:noFill/>
        </p:spPr>
        <p:txBody>
          <a:bodyPr wrap="square" lIns="0" rIns="0" tIns="0" bIns="0" anchor="t">
            <a:spAutoFit/>
          </a:bodyPr>
          <a:lstStyle/>
          <a:p>
            <a:pPr algn="l"/>
            <a:r>
              <a:rPr sz="1300" b="1" i="0">
                <a:solidFill>
                  <a:srgbClr val="2E6FBF"/>
                </a:solidFill>
                <a:latin typeface="Arial"/>
              </a:rPr>
              <a:t>Kiểm bằng</a:t>
            </a:r>
          </a:p>
        </p:txBody>
      </p:sp>
      <p:sp>
        <p:nvSpPr>
          <p:cNvPr id="14" name="TextBox 13"/>
          <p:cNvSpPr txBox="1"/>
          <p:nvPr/>
        </p:nvSpPr>
        <p:spPr>
          <a:xfrm>
            <a:off x="4535424"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So trạm hàng xóm lúc trạm này thiếu và lúc có số. Dongsi thiếu thì trạm khác còn thấp hơn 3%: không phải MNAR.</a:t>
            </a:r>
          </a:p>
        </p:txBody>
      </p:sp>
      <p:sp>
        <p:nvSpPr>
          <p:cNvPr id="15" name="Rounded Rectangle 14"/>
          <p:cNvSpPr/>
          <p:nvPr/>
        </p:nvSpPr>
        <p:spPr>
          <a:xfrm>
            <a:off x="8065008" y="4983480"/>
            <a:ext cx="3575304" cy="1463040"/>
          </a:xfrm>
          <a:prstGeom prst="roundRect">
            <a:avLst>
              <a:gd name="adj" fmla="val 1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5120640"/>
            <a:ext cx="3118104" cy="274320"/>
          </a:xfrm>
          <a:prstGeom prst="rect">
            <a:avLst/>
          </a:prstGeom>
          <a:noFill/>
        </p:spPr>
        <p:txBody>
          <a:bodyPr wrap="square" lIns="0" rIns="0" tIns="0" bIns="0" anchor="t">
            <a:spAutoFit/>
          </a:bodyPr>
          <a:lstStyle/>
          <a:p>
            <a:pPr algn="l"/>
            <a:r>
              <a:rPr sz="1300" b="1" i="0">
                <a:solidFill>
                  <a:srgbClr val="1E8449"/>
                </a:solidFill>
                <a:latin typeface="Arial"/>
              </a:rPr>
              <a:t>Cách sửa</a:t>
            </a:r>
          </a:p>
        </p:txBody>
      </p:sp>
      <p:sp>
        <p:nvSpPr>
          <p:cNvPr id="17" name="TextBox 16"/>
          <p:cNvSpPr txBox="1"/>
          <p:nvPr/>
        </p:nvSpPr>
        <p:spPr>
          <a:xfrm>
            <a:off x="8293608"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Thiếu do may rủi (MCAR) hay do thứ đã đo được (MAR) thì còn điền được. MNAR thì đừng điền.</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9,999 km không phải số đo</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10</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sentinel value · flag column · quality flag</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Nếu bỏ qua:  </a:t>
            </a:r>
            <a:r>
              <a:rPr sz="1600" b="0" i="0">
                <a:solidFill>
                  <a:srgbClr val="1B2A41"/>
                </a:solidFill>
                <a:latin typeface="Arial"/>
              </a:rPr>
              <a:t>mô hình học trên 35% số dòng là số quy ước, không phải số đo.</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1" i="0">
                <a:solidFill>
                  <a:srgbClr val="D9642B"/>
                </a:solidFill>
                <a:latin typeface="Arial"/>
              </a:rPr>
              <a:t>Mã trá hình</a:t>
            </a:r>
            <a:r>
              <a:rPr sz="1700" b="0" i="0">
                <a:solidFill>
                  <a:srgbClr val="1B2A41"/>
                </a:solidFill>
                <a:latin typeface="Arial"/>
              </a:rPr>
              <a:t> là con số quy ước của nguồn, như 9,999 nghĩa là “tầm nhìn từ 10 km trở lên”.</a:t>
            </a:r>
          </a:p>
        </p:txBody>
      </p:sp>
      <p:pic>
        <p:nvPicPr>
          <p:cNvPr id="8" name="Picture 7" descr="gia-tri-tra-hinh.png"/>
          <p:cNvPicPr>
            <a:picLocks noChangeAspect="1"/>
          </p:cNvPicPr>
          <p:nvPr/>
        </p:nvPicPr>
        <p:blipFill>
          <a:blip r:embed="rId2"/>
          <a:stretch>
            <a:fillRect/>
          </a:stretch>
        </p:blipFill>
        <p:spPr>
          <a:xfrm>
            <a:off x="1983567" y="2450591"/>
            <a:ext cx="8221817" cy="2395728"/>
          </a:xfrm>
          <a:prstGeom prst="rect">
            <a:avLst/>
          </a:prstGeom>
        </p:spPr>
      </p:pic>
      <p:sp>
        <p:nvSpPr>
          <p:cNvPr id="9" name="Rounded Rectangle 8"/>
          <p:cNvSpPr/>
          <p:nvPr/>
        </p:nvSpPr>
        <p:spPr>
          <a:xfrm>
            <a:off x="548640" y="4983480"/>
            <a:ext cx="3575304" cy="1463040"/>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120640"/>
            <a:ext cx="3118104" cy="274320"/>
          </a:xfrm>
          <a:prstGeom prst="rect">
            <a:avLst/>
          </a:prstGeom>
          <a:noFill/>
        </p:spPr>
        <p:txBody>
          <a:bodyPr wrap="square" lIns="0" rIns="0" tIns="0" bIns="0" anchor="t">
            <a:spAutoFit/>
          </a:bodyPr>
          <a:lstStyle/>
          <a:p>
            <a:pPr algn="l"/>
            <a:r>
              <a:rPr sz="1300" b="1" i="0">
                <a:solidFill>
                  <a:srgbClr val="C0392B"/>
                </a:solidFill>
                <a:latin typeface="Arial"/>
              </a:rPr>
              <a:t>Dấu hiệu</a:t>
            </a:r>
          </a:p>
        </p:txBody>
      </p:sp>
      <p:sp>
        <p:nvSpPr>
          <p:cNvPr id="11" name="TextBox 10"/>
          <p:cNvSpPr txBox="1"/>
          <p:nvPr/>
        </p:nvSpPr>
        <p:spPr>
          <a:xfrm>
            <a:off x="777240"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Một giá trị chiếm tới 35% số dòng; hoặc số 0 rơi đúng những ngày hết hàng.</a:t>
            </a:r>
          </a:p>
        </p:txBody>
      </p:sp>
      <p:sp>
        <p:nvSpPr>
          <p:cNvPr id="12" name="Rounded Rectangle 11"/>
          <p:cNvSpPr/>
          <p:nvPr/>
        </p:nvSpPr>
        <p:spPr>
          <a:xfrm>
            <a:off x="4306824" y="4983480"/>
            <a:ext cx="3575304" cy="1463040"/>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5120640"/>
            <a:ext cx="3118104" cy="274320"/>
          </a:xfrm>
          <a:prstGeom prst="rect">
            <a:avLst/>
          </a:prstGeom>
          <a:noFill/>
        </p:spPr>
        <p:txBody>
          <a:bodyPr wrap="square" lIns="0" rIns="0" tIns="0" bIns="0" anchor="t">
            <a:spAutoFit/>
          </a:bodyPr>
          <a:lstStyle/>
          <a:p>
            <a:pPr algn="l"/>
            <a:r>
              <a:rPr sz="1300" b="1" i="0">
                <a:solidFill>
                  <a:srgbClr val="2E6FBF"/>
                </a:solidFill>
                <a:latin typeface="Arial"/>
              </a:rPr>
              <a:t>Kiểm bằng</a:t>
            </a:r>
          </a:p>
        </p:txBody>
      </p:sp>
      <p:sp>
        <p:nvSpPr>
          <p:cNvPr id="14" name="TextBox 13"/>
          <p:cNvSpPr txBox="1"/>
          <p:nvPr/>
        </p:nvSpPr>
        <p:spPr>
          <a:xfrm>
            <a:off x="4535424"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Chạy value_counts().head(), đọc tài liệu nguồn; đo độ phân giải trước khi gọi đoạn lặp là cảm biến kẹt.</a:t>
            </a:r>
          </a:p>
        </p:txBody>
      </p:sp>
      <p:sp>
        <p:nvSpPr>
          <p:cNvPr id="15" name="Rounded Rectangle 14"/>
          <p:cNvSpPr/>
          <p:nvPr/>
        </p:nvSpPr>
        <p:spPr>
          <a:xfrm>
            <a:off x="8065008" y="4983480"/>
            <a:ext cx="3575304" cy="1463040"/>
          </a:xfrm>
          <a:prstGeom prst="roundRect">
            <a:avLst>
              <a:gd name="adj" fmla="val 1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5120640"/>
            <a:ext cx="3118104" cy="274320"/>
          </a:xfrm>
          <a:prstGeom prst="rect">
            <a:avLst/>
          </a:prstGeom>
          <a:noFill/>
        </p:spPr>
        <p:txBody>
          <a:bodyPr wrap="square" lIns="0" rIns="0" tIns="0" bIns="0" anchor="t">
            <a:spAutoFit/>
          </a:bodyPr>
          <a:lstStyle/>
          <a:p>
            <a:pPr algn="l"/>
            <a:r>
              <a:rPr sz="1300" b="1" i="0">
                <a:solidFill>
                  <a:srgbClr val="1E8449"/>
                </a:solidFill>
                <a:latin typeface="Arial"/>
              </a:rPr>
              <a:t>Cách sửa</a:t>
            </a:r>
          </a:p>
        </p:txBody>
      </p:sp>
      <p:sp>
        <p:nvSpPr>
          <p:cNvPr id="17" name="TextBox 16"/>
          <p:cNvSpPr txBox="1"/>
          <p:nvPr/>
        </p:nvSpPr>
        <p:spPr>
          <a:xfrm>
            <a:off x="8293608"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Đổi thành NaN kèm cột cờ; số 0 do hết hàng cũng là thiếu. Đừng xoá cả dòng, các cột khác vẫn dùng được.</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Đo độ phân giải trước khi gọi cảm biến kẹt</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10</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measurement resolution · stuck sensor · flat-line detection</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D9642B"/>
                </a:solidFill>
                <a:latin typeface="Arial"/>
              </a:rPr>
              <a:t>Vấn đề:  </a:t>
            </a:r>
            <a:r>
              <a:rPr sz="1600" b="0" i="0">
                <a:solidFill>
                  <a:srgbClr val="1B2A41"/>
                </a:solidFill>
                <a:latin typeface="Arial"/>
              </a:rPr>
              <a:t>Nhiệt độ ghi đúng 26,0 °C suốt nhiều giờ: cảm biến hỏng, hay trời đổi quá ít?</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Phân biệt số lặp vì cảm biến làm tròn với số lặp vì cảm biến hỏng.</a:t>
            </a:r>
          </a:p>
        </p:txBody>
      </p:sp>
      <p:pic>
        <p:nvPicPr>
          <p:cNvPr id="8" name="Picture 7" descr="kn-cam-bien-dung-yen-stuck-sensor.png"/>
          <p:cNvPicPr>
            <a:picLocks noChangeAspect="1"/>
          </p:cNvPicPr>
          <p:nvPr/>
        </p:nvPicPr>
        <p:blipFill>
          <a:blip r:embed="rId2"/>
          <a:stretch>
            <a:fillRect/>
          </a:stretch>
        </p:blipFill>
        <p:spPr>
          <a:xfrm>
            <a:off x="548640" y="2925706"/>
            <a:ext cx="6309360" cy="3073130"/>
          </a:xfrm>
          <a:prstGeom prst="rect">
            <a:avLst/>
          </a:prstGeom>
        </p:spPr>
      </p:pic>
      <p:sp>
        <p:nvSpPr>
          <p:cNvPr id="9" name="TextBox 8"/>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D9642B"/>
                </a:solidFill>
                <a:latin typeface="Arial"/>
              </a:rPr>
              <a:t>Là gì</a:t>
            </a:r>
          </a:p>
        </p:txBody>
      </p:sp>
      <p:sp>
        <p:nvSpPr>
          <p:cNvPr id="10" name="TextBox 9"/>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Độ phân giải: bước nhỏ nhất cảm biến ghi được. Cảm biến đứng yên (kẹt): ghi lặp một giá trị nhiều giờ liền dù thực tế đã đổi.</a:t>
            </a:r>
          </a:p>
        </p:txBody>
      </p:sp>
      <p:sp>
        <p:nvSpPr>
          <p:cNvPr id="11" name="TextBox 10"/>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D9642B"/>
                </a:solidFill>
                <a:latin typeface="Arial"/>
              </a:rPr>
              <a:t>Nhận ra thế nào</a:t>
            </a:r>
          </a:p>
        </p:txBody>
      </p:sp>
      <p:sp>
        <p:nvSpPr>
          <p:cNvPr id="12" name="TextBox 11"/>
          <p:cNvSpPr txBox="1"/>
          <p:nvPr/>
        </p:nvSpPr>
        <p:spPr>
          <a:xfrm>
            <a:off x="7223760" y="4105655"/>
            <a:ext cx="4416552" cy="1005839"/>
          </a:xfrm>
          <a:prstGeom prst="rect">
            <a:avLst/>
          </a:prstGeom>
          <a:noFill/>
        </p:spPr>
        <p:txBody>
          <a:bodyPr wrap="square" lIns="0" rIns="0" tIns="0" bIns="0" anchor="t">
            <a:spAutoFit/>
          </a:bodyPr>
          <a:lstStyle/>
          <a:p>
            <a:pPr algn="l"/>
            <a:r>
              <a:rPr sz="1500" b="0" i="0">
                <a:solidFill>
                  <a:srgbClr val="1B2A41"/>
                </a:solidFill>
                <a:latin typeface="Arial"/>
              </a:rPr>
              <a:t>Thực tế đổi chưa tới một bước phân giải thì số ghi vẫn lặp: bình thường. Thực tế đổi vài độ, cả ngày lẫn đêm, mà số không đổi: kẹt.</a:t>
            </a:r>
          </a:p>
        </p:txBody>
      </p:sp>
      <p:sp>
        <p:nvSpPr>
          <p:cNvPr id="13" name="TextBox 12"/>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D9642B"/>
                </a:solidFill>
                <a:latin typeface="Arial"/>
              </a:rPr>
              <a:t>Ví dụ</a:t>
            </a:r>
          </a:p>
        </p:txBody>
      </p:sp>
      <p:sp>
        <p:nvSpPr>
          <p:cNvPr id="14" name="TextBox 13"/>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Thật 25,6; 25,8; 26,1; 26,3; 26,4 °C, ghi tới 1 °C thành năm số 26. Nội Bài: ngưỡng 12 giờ ra 24 đoạn lặp, nên buổi này dùng 18 giờ.</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Bảy cách điền: lỗ dài cần giữ hình dạng</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10</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imputation · forward fill · linear / spline interpolation · seasonal · neighbour station</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Chọn cách điền theo độ dài lỗ, nhịp của chuỗi, và có được dùng số tương lai không.</a:t>
            </a:r>
          </a:p>
        </p:txBody>
      </p:sp>
      <p:sp>
        <p:nvSpPr>
          <p:cNvPr id="7" name="Rounded Rectangle 6"/>
          <p:cNvSpPr/>
          <p:nvPr/>
        </p:nvSpPr>
        <p:spPr>
          <a:xfrm>
            <a:off x="548640" y="2066543"/>
            <a:ext cx="6309360"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95f8bcb0eb18.png"/>
          <p:cNvPicPr>
            <a:picLocks noChangeAspect="1"/>
          </p:cNvPicPr>
          <p:nvPr/>
        </p:nvPicPr>
        <p:blipFill>
          <a:blip r:embed="rId2"/>
          <a:stretch>
            <a:fillRect/>
          </a:stretch>
        </p:blipFill>
        <p:spPr>
          <a:xfrm>
            <a:off x="2357628" y="2225040"/>
            <a:ext cx="2691384" cy="341376"/>
          </a:xfrm>
          <a:prstGeom prst="rect">
            <a:avLst/>
          </a:prstGeom>
        </p:spPr>
      </p:pic>
      <p:pic>
        <p:nvPicPr>
          <p:cNvPr id="9" name="Picture 8" descr="kn-dien-du-lieu-imputation.png"/>
          <p:cNvPicPr>
            <a:picLocks noChangeAspect="1"/>
          </p:cNvPicPr>
          <p:nvPr/>
        </p:nvPicPr>
        <p:blipFill>
          <a:blip r:embed="rId3"/>
          <a:stretch>
            <a:fillRect/>
          </a:stretch>
        </p:blipFill>
        <p:spPr>
          <a:xfrm>
            <a:off x="548640" y="3027097"/>
            <a:ext cx="6309360" cy="3254396"/>
          </a:xfrm>
          <a:prstGeom prst="rect">
            <a:avLst/>
          </a:prstGeom>
        </p:spPr>
      </p:pic>
      <p:sp>
        <p:nvSpPr>
          <p:cNvPr id="10" name="TextBox 9"/>
          <p:cNvSpPr txBox="1"/>
          <p:nvPr/>
        </p:nvSpPr>
        <p:spPr>
          <a:xfrm>
            <a:off x="7223760" y="2066543"/>
            <a:ext cx="4416552" cy="274320"/>
          </a:xfrm>
          <a:prstGeom prst="rect">
            <a:avLst/>
          </a:prstGeom>
          <a:noFill/>
        </p:spPr>
        <p:txBody>
          <a:bodyPr wrap="square" lIns="0" rIns="0" tIns="0" bIns="0" anchor="t">
            <a:spAutoFit/>
          </a:bodyPr>
          <a:lstStyle/>
          <a:p>
            <a:pPr algn="l"/>
            <a:r>
              <a:rPr sz="1400" b="1" i="0">
                <a:solidFill>
                  <a:srgbClr val="D9642B"/>
                </a:solidFill>
                <a:latin typeface="Arial"/>
              </a:rPr>
              <a:t>Là gì</a:t>
            </a:r>
          </a:p>
        </p:txBody>
      </p:sp>
      <p:sp>
        <p:nvSpPr>
          <p:cNvPr id="11" name="TextBox 10"/>
          <p:cNvSpPr txBox="1"/>
          <p:nvPr/>
        </p:nvSpPr>
        <p:spPr>
          <a:xfrm>
            <a:off x="7223760" y="2386584"/>
            <a:ext cx="4416552" cy="1127760"/>
          </a:xfrm>
          <a:prstGeom prst="rect">
            <a:avLst/>
          </a:prstGeom>
          <a:noFill/>
        </p:spPr>
        <p:txBody>
          <a:bodyPr wrap="square" lIns="0" rIns="0" tIns="0" bIns="0" anchor="t">
            <a:spAutoFit/>
          </a:bodyPr>
          <a:lstStyle/>
          <a:p>
            <a:pPr algn="l"/>
            <a:r>
              <a:rPr sz="1500" b="0" i="0">
                <a:solidFill>
                  <a:srgbClr val="1B2A41"/>
                </a:solidFill>
                <a:latin typeface="Arial"/>
              </a:rPr>
              <a:t>ffill giữ số gần nhất; tuyến tính, spline nối hai đầu lỗ; mùa vụ lấy cùng giờ hôm trước; trung bình theo giờ; Kalman smoother; trạm hàng xóm.</a:t>
            </a:r>
          </a:p>
        </p:txBody>
      </p:sp>
      <p:sp>
        <p:nvSpPr>
          <p:cNvPr id="12" name="TextBox 11"/>
          <p:cNvSpPr txBox="1"/>
          <p:nvPr/>
        </p:nvSpPr>
        <p:spPr>
          <a:xfrm>
            <a:off x="7223760" y="3541775"/>
            <a:ext cx="4416552" cy="274320"/>
          </a:xfrm>
          <a:prstGeom prst="rect">
            <a:avLst/>
          </a:prstGeom>
          <a:noFill/>
        </p:spPr>
        <p:txBody>
          <a:bodyPr wrap="square" lIns="0" rIns="0" tIns="0" bIns="0" anchor="t">
            <a:spAutoFit/>
          </a:bodyPr>
          <a:lstStyle/>
          <a:p>
            <a:pPr algn="l"/>
            <a:r>
              <a:rPr sz="1400" b="1" i="0">
                <a:solidFill>
                  <a:srgbClr val="D9642B"/>
                </a:solidFill>
                <a:latin typeface="Arial"/>
              </a:rPr>
              <a:t>Chọn theo độ dài lỗ</a:t>
            </a:r>
          </a:p>
        </p:txBody>
      </p:sp>
      <p:cxnSp>
        <p:nvCxnSpPr>
          <p:cNvPr id="13" name="Connector 12"/>
          <p:cNvCxnSpPr/>
          <p:nvPr/>
        </p:nvCxnSpPr>
        <p:spPr>
          <a:xfrm>
            <a:off x="8327898" y="3998975"/>
            <a:ext cx="2208276"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8245602" y="3916680"/>
            <a:ext cx="164592" cy="16459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60336" y="4136136"/>
            <a:ext cx="2135124" cy="274320"/>
          </a:xfrm>
          <a:prstGeom prst="rect">
            <a:avLst/>
          </a:prstGeom>
          <a:noFill/>
        </p:spPr>
        <p:txBody>
          <a:bodyPr wrap="square" lIns="0" rIns="0" tIns="0" bIns="0" anchor="t">
            <a:spAutoFit/>
          </a:bodyPr>
          <a:lstStyle/>
          <a:p>
            <a:pPr algn="ctr"/>
            <a:r>
              <a:rPr sz="1400" b="1" i="0">
                <a:solidFill>
                  <a:srgbClr val="D9642B"/>
                </a:solidFill>
                <a:latin typeface="Arial"/>
              </a:rPr>
              <a:t>lỗ ngắn</a:t>
            </a:r>
          </a:p>
        </p:txBody>
      </p:sp>
      <p:sp>
        <p:nvSpPr>
          <p:cNvPr id="16" name="TextBox 15"/>
          <p:cNvSpPr txBox="1"/>
          <p:nvPr/>
        </p:nvSpPr>
        <p:spPr>
          <a:xfrm>
            <a:off x="7260336" y="4410456"/>
            <a:ext cx="2135124" cy="548640"/>
          </a:xfrm>
          <a:prstGeom prst="rect">
            <a:avLst/>
          </a:prstGeom>
          <a:noFill/>
        </p:spPr>
        <p:txBody>
          <a:bodyPr wrap="square" lIns="0" rIns="0" tIns="0" bIns="0" anchor="t">
            <a:spAutoFit/>
          </a:bodyPr>
          <a:lstStyle/>
          <a:p>
            <a:pPr algn="ctr"/>
            <a:r>
              <a:rPr sz="1100" b="0" i="0">
                <a:solidFill>
                  <a:srgbClr val="1B2A41"/>
                </a:solidFill>
                <a:latin typeface="Arial"/>
              </a:rPr>
              <a:t>ffill hay tuyến tính đều ổn</a:t>
            </a:r>
          </a:p>
        </p:txBody>
      </p:sp>
      <p:sp>
        <p:nvSpPr>
          <p:cNvPr id="17" name="Oval 16"/>
          <p:cNvSpPr/>
          <p:nvPr/>
        </p:nvSpPr>
        <p:spPr>
          <a:xfrm>
            <a:off x="10453878" y="3916680"/>
            <a:ext cx="164592" cy="16459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68612" y="4136136"/>
            <a:ext cx="2135124" cy="274320"/>
          </a:xfrm>
          <a:prstGeom prst="rect">
            <a:avLst/>
          </a:prstGeom>
          <a:noFill/>
        </p:spPr>
        <p:txBody>
          <a:bodyPr wrap="square" lIns="0" rIns="0" tIns="0" bIns="0" anchor="t">
            <a:spAutoFit/>
          </a:bodyPr>
          <a:lstStyle/>
          <a:p>
            <a:pPr algn="ctr"/>
            <a:r>
              <a:rPr sz="1400" b="1" i="0">
                <a:solidFill>
                  <a:srgbClr val="D9642B"/>
                </a:solidFill>
                <a:latin typeface="Arial"/>
              </a:rPr>
              <a:t>lỗ dài</a:t>
            </a:r>
          </a:p>
        </p:txBody>
      </p:sp>
      <p:sp>
        <p:nvSpPr>
          <p:cNvPr id="19" name="TextBox 18"/>
          <p:cNvSpPr txBox="1"/>
          <p:nvPr/>
        </p:nvSpPr>
        <p:spPr>
          <a:xfrm>
            <a:off x="9468612" y="4410456"/>
            <a:ext cx="2135124" cy="548640"/>
          </a:xfrm>
          <a:prstGeom prst="rect">
            <a:avLst/>
          </a:prstGeom>
          <a:noFill/>
        </p:spPr>
        <p:txBody>
          <a:bodyPr wrap="square" lIns="0" rIns="0" tIns="0" bIns="0" anchor="t">
            <a:spAutoFit/>
          </a:bodyPr>
          <a:lstStyle/>
          <a:p>
            <a:pPr algn="ctr"/>
            <a:r>
              <a:rPr sz="1100" b="0" i="0">
                <a:solidFill>
                  <a:srgbClr val="1B2A41"/>
                </a:solidFill>
                <a:latin typeface="Arial"/>
              </a:rPr>
              <a:t>mùa vụ, hàng xóm: mang theo hình dạng</a:t>
            </a:r>
          </a:p>
        </p:txBody>
      </p:sp>
      <p:sp>
        <p:nvSpPr>
          <p:cNvPr id="20" name="TextBox 19"/>
          <p:cNvSpPr txBox="1"/>
          <p:nvPr/>
        </p:nvSpPr>
        <p:spPr>
          <a:xfrm>
            <a:off x="7223760" y="5017008"/>
            <a:ext cx="4416552" cy="274320"/>
          </a:xfrm>
          <a:prstGeom prst="rect">
            <a:avLst/>
          </a:prstGeom>
          <a:noFill/>
        </p:spPr>
        <p:txBody>
          <a:bodyPr wrap="square" lIns="0" rIns="0" tIns="0" bIns="0" anchor="t">
            <a:spAutoFit/>
          </a:bodyPr>
          <a:lstStyle/>
          <a:p>
            <a:pPr algn="l"/>
            <a:r>
              <a:rPr sz="1400" b="1" i="0">
                <a:solidFill>
                  <a:srgbClr val="D9642B"/>
                </a:solidFill>
                <a:latin typeface="Arial"/>
              </a:rPr>
              <a:t>Ví dụ</a:t>
            </a:r>
          </a:p>
        </p:txBody>
      </p:sp>
      <p:sp>
        <p:nvSpPr>
          <p:cNvPr id="21" name="TextBox 20"/>
          <p:cNvSpPr txBox="1"/>
          <p:nvPr/>
        </p:nvSpPr>
        <p:spPr>
          <a:xfrm>
            <a:off x="7223760" y="5337047"/>
            <a:ext cx="4416552" cy="1127760"/>
          </a:xfrm>
          <a:prstGeom prst="rect">
            <a:avLst/>
          </a:prstGeom>
          <a:noFill/>
        </p:spPr>
        <p:txBody>
          <a:bodyPr wrap="square" lIns="0" rIns="0" tIns="0" bIns="0" anchor="t">
            <a:spAutoFit/>
          </a:bodyPr>
          <a:lstStyle/>
          <a:p>
            <a:pPr algn="l"/>
            <a:r>
              <a:rPr sz="1500" b="0" i="0">
                <a:solidFill>
                  <a:srgbClr val="1B2A41"/>
                </a:solidFill>
                <a:latin typeface="Arial"/>
              </a:rPr>
              <a:t>Hai ô thiếu, thật là 26 và 28: ffill điền 23, 23; tuyến tính 24,33, 25,67; hàng xóm cộng 1 °C ra đúng 26, 28.</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Chấm cách điền: che thử, và che hai kiểu</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10</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imputation evaluation · artificial masking · point vs block masking</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Nếu bỏ qua:  </a:t>
            </a:r>
            <a:r>
              <a:rPr sz="1600" b="0" i="0">
                <a:solidFill>
                  <a:srgbClr val="1B2A41"/>
                </a:solidFill>
                <a:latin typeface="Arial"/>
              </a:rPr>
              <a:t>chọn cách điền giỏi ở lỗ ngắn nhưng tệ ở lỗ dài.</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1" i="0">
                <a:solidFill>
                  <a:srgbClr val="D9642B"/>
                </a:solidFill>
                <a:latin typeface="Arial"/>
              </a:rPr>
              <a:t>Che nhân tạo</a:t>
            </a:r>
            <a:r>
              <a:rPr sz="1700" b="0" i="0">
                <a:solidFill>
                  <a:srgbClr val="1B2A41"/>
                </a:solidFill>
                <a:latin typeface="Arial"/>
              </a:rPr>
              <a:t> là giấu bớt những ô đang có số, điền lại, rồi so với số thật.</a:t>
            </a:r>
          </a:p>
        </p:txBody>
      </p:sp>
      <p:pic>
        <p:nvPicPr>
          <p:cNvPr id="8" name="Picture 7" descr="so-sanh-dien.png"/>
          <p:cNvPicPr>
            <a:picLocks noChangeAspect="1"/>
          </p:cNvPicPr>
          <p:nvPr/>
        </p:nvPicPr>
        <p:blipFill>
          <a:blip r:embed="rId2"/>
          <a:stretch>
            <a:fillRect/>
          </a:stretch>
        </p:blipFill>
        <p:spPr>
          <a:xfrm>
            <a:off x="2507058" y="2450591"/>
            <a:ext cx="7174834" cy="2395728"/>
          </a:xfrm>
          <a:prstGeom prst="rect">
            <a:avLst/>
          </a:prstGeom>
        </p:spPr>
      </p:pic>
      <p:sp>
        <p:nvSpPr>
          <p:cNvPr id="9" name="Rounded Rectangle 8"/>
          <p:cNvSpPr/>
          <p:nvPr/>
        </p:nvSpPr>
        <p:spPr>
          <a:xfrm>
            <a:off x="548640" y="4983480"/>
            <a:ext cx="3575304" cy="1463040"/>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120640"/>
            <a:ext cx="3118104" cy="274320"/>
          </a:xfrm>
          <a:prstGeom prst="rect">
            <a:avLst/>
          </a:prstGeom>
          <a:noFill/>
        </p:spPr>
        <p:txBody>
          <a:bodyPr wrap="square" lIns="0" rIns="0" tIns="0" bIns="0" anchor="t">
            <a:spAutoFit/>
          </a:bodyPr>
          <a:lstStyle/>
          <a:p>
            <a:pPr algn="l"/>
            <a:r>
              <a:rPr sz="1300" b="1" i="0">
                <a:solidFill>
                  <a:srgbClr val="C0392B"/>
                </a:solidFill>
                <a:latin typeface="Arial"/>
              </a:rPr>
              <a:t>Dấu hiệu</a:t>
            </a:r>
          </a:p>
        </p:txBody>
      </p:sp>
      <p:sp>
        <p:nvSpPr>
          <p:cNvPr id="11" name="TextBox 10"/>
          <p:cNvSpPr txBox="1"/>
          <p:nvPr/>
        </p:nvSpPr>
        <p:spPr>
          <a:xfrm>
            <a:off x="777240"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Nội suy tuyến tính đứng hạng 1 khi che từng điểm, nhưng tụt xuống hạng 5 khi che cả khối 48 giờ.</a:t>
            </a:r>
          </a:p>
        </p:txBody>
      </p:sp>
      <p:sp>
        <p:nvSpPr>
          <p:cNvPr id="12" name="Rounded Rectangle 11"/>
          <p:cNvSpPr/>
          <p:nvPr/>
        </p:nvSpPr>
        <p:spPr>
          <a:xfrm>
            <a:off x="4306824" y="4983480"/>
            <a:ext cx="3575304" cy="1463040"/>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5120640"/>
            <a:ext cx="3118104" cy="274320"/>
          </a:xfrm>
          <a:prstGeom prst="rect">
            <a:avLst/>
          </a:prstGeom>
          <a:noFill/>
        </p:spPr>
        <p:txBody>
          <a:bodyPr wrap="square" lIns="0" rIns="0" tIns="0" bIns="0" anchor="t">
            <a:spAutoFit/>
          </a:bodyPr>
          <a:lstStyle/>
          <a:p>
            <a:pPr algn="l"/>
            <a:r>
              <a:rPr sz="1300" b="1" i="0">
                <a:solidFill>
                  <a:srgbClr val="2E6FBF"/>
                </a:solidFill>
                <a:latin typeface="Arial"/>
              </a:rPr>
              <a:t>Kiểm bằng</a:t>
            </a:r>
          </a:p>
        </p:txBody>
      </p:sp>
      <p:sp>
        <p:nvSpPr>
          <p:cNvPr id="14" name="TextBox 13"/>
          <p:cNvSpPr txBox="1"/>
          <p:nvPr/>
        </p:nvSpPr>
        <p:spPr>
          <a:xfrm>
            <a:off x="4535424"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Che 10% số điểm và che nguyên khối 48 giờ, rồi chấm cả hai.</a:t>
            </a:r>
          </a:p>
        </p:txBody>
      </p:sp>
      <p:sp>
        <p:nvSpPr>
          <p:cNvPr id="15" name="Rounded Rectangle 14"/>
          <p:cNvSpPr/>
          <p:nvPr/>
        </p:nvSpPr>
        <p:spPr>
          <a:xfrm>
            <a:off x="8065008" y="4983480"/>
            <a:ext cx="3575304" cy="1463040"/>
          </a:xfrm>
          <a:prstGeom prst="roundRect">
            <a:avLst>
              <a:gd name="adj" fmla="val 1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5120640"/>
            <a:ext cx="3118104" cy="274320"/>
          </a:xfrm>
          <a:prstGeom prst="rect">
            <a:avLst/>
          </a:prstGeom>
          <a:noFill/>
        </p:spPr>
        <p:txBody>
          <a:bodyPr wrap="square" lIns="0" rIns="0" tIns="0" bIns="0" anchor="t">
            <a:spAutoFit/>
          </a:bodyPr>
          <a:lstStyle/>
          <a:p>
            <a:pPr algn="l"/>
            <a:r>
              <a:rPr sz="1300" b="1" i="0">
                <a:solidFill>
                  <a:srgbClr val="1E8449"/>
                </a:solidFill>
                <a:latin typeface="Arial"/>
              </a:rPr>
              <a:t>Cách sửa</a:t>
            </a:r>
          </a:p>
        </p:txBody>
      </p:sp>
      <p:sp>
        <p:nvSpPr>
          <p:cNvPr id="17" name="TextBox 16"/>
          <p:cNvSpPr txBox="1"/>
          <p:nvPr/>
        </p:nvSpPr>
        <p:spPr>
          <a:xfrm>
            <a:off x="8293608"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Lỗ ngắn: tuyến tính hay ffill đều ổn. Lỗ dài: trạm hàng xóm, mùa vụ hôm trước, hoặc để trống.</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Điền nhân quả: có số mới, số cũ không đổi</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10</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causal imputation · two-sided interpolation · cutoff test</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D9642B"/>
                </a:solidFill>
                <a:latin typeface="Arial"/>
              </a:rPr>
              <a:t>Vấn đề:  </a:t>
            </a:r>
            <a:r>
              <a:rPr sz="1600" b="0" i="0">
                <a:solidFill>
                  <a:srgbClr val="1B2A41"/>
                </a:solidFill>
                <a:latin typeface="Arial"/>
              </a:rPr>
              <a:t>Điền xong thì backtest đẹp hẳn. Cách điền có dùng số của tập kiểm không?</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Biết cách điền nào dùng được khi dự báo thật, và kiểm điều đó bằng máy.</a:t>
            </a:r>
          </a:p>
        </p:txBody>
      </p:sp>
      <p:pic>
        <p:nvPicPr>
          <p:cNvPr id="8" name="Picture 7" descr="kn-nhan-qua-cach-dien.png"/>
          <p:cNvPicPr>
            <a:picLocks noChangeAspect="1"/>
          </p:cNvPicPr>
          <p:nvPr/>
        </p:nvPicPr>
        <p:blipFill>
          <a:blip r:embed="rId2"/>
          <a:stretch>
            <a:fillRect/>
          </a:stretch>
        </p:blipFill>
        <p:spPr>
          <a:xfrm>
            <a:off x="548640" y="2869446"/>
            <a:ext cx="6309360" cy="3185651"/>
          </a:xfrm>
          <a:prstGeom prst="rect">
            <a:avLst/>
          </a:prstGeom>
        </p:spPr>
      </p:pic>
      <p:sp>
        <p:nvSpPr>
          <p:cNvPr id="9" name="TextBox 8"/>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D9642B"/>
                </a:solidFill>
                <a:latin typeface="Arial"/>
              </a:rPr>
              <a:t>Là gì</a:t>
            </a:r>
          </a:p>
        </p:txBody>
      </p:sp>
      <p:sp>
        <p:nvSpPr>
          <p:cNvPr id="10" name="TextBox 9"/>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Cách điền nhân quả chỉ dùng dữ liệu trước ô đang điền. Nội suy hai phía nhìn cả số phía sau; nếu số đó thuộc tập kiểm thì là rò rỉ.</a:t>
            </a:r>
          </a:p>
        </p:txBody>
      </p:sp>
      <p:sp>
        <p:nvSpPr>
          <p:cNvPr id="11" name="TextBox 10"/>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D9642B"/>
                </a:solidFill>
                <a:latin typeface="Arial"/>
              </a:rPr>
              <a:t>Kiểm bằng cắt dữ liệu</a:t>
            </a:r>
          </a:p>
        </p:txBody>
      </p:sp>
      <p:sp>
        <p:nvSpPr>
          <p:cNvPr id="12" name="TextBox 11"/>
          <p:cNvSpPr txBox="1"/>
          <p:nvPr/>
        </p:nvSpPr>
        <p:spPr>
          <a:xfrm>
            <a:off x="7223760" y="4105655"/>
            <a:ext cx="4416552" cy="1005839"/>
          </a:xfrm>
          <a:prstGeom prst="rect">
            <a:avLst/>
          </a:prstGeom>
          <a:noFill/>
        </p:spPr>
        <p:txBody>
          <a:bodyPr wrap="square" lIns="0" rIns="0" tIns="0" bIns="0" anchor="t">
            <a:spAutoFit/>
          </a:bodyPr>
          <a:lstStyle/>
          <a:p>
            <a:pPr algn="l"/>
            <a:r>
              <a:rPr sz="1500" b="0" i="0">
                <a:solidFill>
                  <a:srgbClr val="1B2A41"/>
                </a:solidFill>
                <a:latin typeface="Arial"/>
              </a:rPr>
              <a:t>Làm sạch dữ liệu đầy đủ và dữ liệu cắt tại một mốc, so phần trước mốc. Mốc cắt phải nằm trong một lỗ, nếu không bài kiểm luôn báo sạch.</a:t>
            </a:r>
          </a:p>
        </p:txBody>
      </p:sp>
      <p:sp>
        <p:nvSpPr>
          <p:cNvPr id="13" name="TextBox 12"/>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D9642B"/>
                </a:solidFill>
                <a:latin typeface="Arial"/>
              </a:rPr>
              <a:t>Ví dụ</a:t>
            </a:r>
          </a:p>
        </p:txBody>
      </p:sp>
      <p:sp>
        <p:nvSpPr>
          <p:cNvPr id="14" name="TextBox 13"/>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Chuỗi 20, NaN, 30: ffill điền 20, cắt hay không cũng 20. Tuyến tính điền 25 nhờ số 30; cắt tại mốc thứ hai thì không điền được, hoặc điền khác.</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Lỗ dài: đừng lấp bằng đường phẳng</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10</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imputation · forward fill · causal imputation · MNAR</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Nếu bỏ qua:  </a:t>
            </a:r>
            <a:r>
              <a:rPr sz="1600" b="0" i="0">
                <a:solidFill>
                  <a:srgbClr val="1B2A41"/>
                </a:solidFill>
                <a:latin typeface="Arial"/>
              </a:rPr>
              <a:t>có đoạn phẳng giả, và tương lai rò vào dữ liệu học.</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D9642B"/>
                </a:solidFill>
                <a:latin typeface="Arial"/>
              </a:rPr>
              <a:t>“Không dùng tương lai để điền quá khứ; lỗ dài thì để trống.”</a:t>
            </a:r>
          </a:p>
        </p:txBody>
      </p:sp>
      <p:pic>
        <p:nvPicPr>
          <p:cNvPr id="8" name="Picture 7" descr="mot-lo-dai.png"/>
          <p:cNvPicPr>
            <a:picLocks noChangeAspect="1"/>
          </p:cNvPicPr>
          <p:nvPr/>
        </p:nvPicPr>
        <p:blipFill>
          <a:blip r:embed="rId2"/>
          <a:stretch>
            <a:fillRect/>
          </a:stretch>
        </p:blipFill>
        <p:spPr>
          <a:xfrm>
            <a:off x="2124994" y="2450591"/>
            <a:ext cx="7938962" cy="2395728"/>
          </a:xfrm>
          <a:prstGeom prst="rect">
            <a:avLst/>
          </a:prstGeom>
        </p:spPr>
      </p:pic>
      <p:sp>
        <p:nvSpPr>
          <p:cNvPr id="9" name="Rounded Rectangle 8"/>
          <p:cNvSpPr/>
          <p:nvPr/>
        </p:nvSpPr>
        <p:spPr>
          <a:xfrm>
            <a:off x="548640" y="4983480"/>
            <a:ext cx="3575304" cy="1463040"/>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120640"/>
            <a:ext cx="3118104" cy="274320"/>
          </a:xfrm>
          <a:prstGeom prst="rect">
            <a:avLst/>
          </a:prstGeom>
          <a:noFill/>
        </p:spPr>
        <p:txBody>
          <a:bodyPr wrap="square" lIns="0" rIns="0" tIns="0" bIns="0" anchor="t">
            <a:spAutoFit/>
          </a:bodyPr>
          <a:lstStyle/>
          <a:p>
            <a:pPr algn="l"/>
            <a:r>
              <a:rPr sz="1300" b="1" i="0">
                <a:solidFill>
                  <a:srgbClr val="C0392B"/>
                </a:solidFill>
                <a:latin typeface="Arial"/>
              </a:rPr>
              <a:t>Dấu hiệu</a:t>
            </a:r>
          </a:p>
        </p:txBody>
      </p:sp>
      <p:sp>
        <p:nvSpPr>
          <p:cNvPr id="11" name="TextBox 10"/>
          <p:cNvSpPr txBox="1"/>
          <p:nvPr/>
        </p:nvSpPr>
        <p:spPr>
          <a:xfrm>
            <a:off x="777240"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Có đoạn phẳng dài bất thường, hoặc backtest đẹp hẳn lên sau khi làm sạch.</a:t>
            </a:r>
          </a:p>
        </p:txBody>
      </p:sp>
      <p:sp>
        <p:nvSpPr>
          <p:cNvPr id="12" name="Rounded Rectangle 11"/>
          <p:cNvSpPr/>
          <p:nvPr/>
        </p:nvSpPr>
        <p:spPr>
          <a:xfrm>
            <a:off x="4306824" y="4983480"/>
            <a:ext cx="3575304" cy="1463040"/>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5120640"/>
            <a:ext cx="3118104" cy="274320"/>
          </a:xfrm>
          <a:prstGeom prst="rect">
            <a:avLst/>
          </a:prstGeom>
          <a:noFill/>
        </p:spPr>
        <p:txBody>
          <a:bodyPr wrap="square" lIns="0" rIns="0" tIns="0" bIns="0" anchor="t">
            <a:spAutoFit/>
          </a:bodyPr>
          <a:lstStyle/>
          <a:p>
            <a:pPr algn="l"/>
            <a:r>
              <a:rPr sz="1300" b="1" i="0">
                <a:solidFill>
                  <a:srgbClr val="2E6FBF"/>
                </a:solidFill>
                <a:latin typeface="Arial"/>
              </a:rPr>
              <a:t>Kiểm bằng</a:t>
            </a:r>
          </a:p>
        </p:txBody>
      </p:sp>
      <p:sp>
        <p:nvSpPr>
          <p:cNvPr id="14" name="TextBox 13"/>
          <p:cNvSpPr txBox="1"/>
          <p:nvPr/>
        </p:nvSpPr>
        <p:spPr>
          <a:xfrm>
            <a:off x="4535424"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Vẽ chuỗi quanh chỗ lỗ; chạy kiem_ro_ri với mốc cắt đặt ngay trong lỗ.</a:t>
            </a:r>
          </a:p>
        </p:txBody>
      </p:sp>
      <p:sp>
        <p:nvSpPr>
          <p:cNvPr id="15" name="Rounded Rectangle 14"/>
          <p:cNvSpPr/>
          <p:nvPr/>
        </p:nvSpPr>
        <p:spPr>
          <a:xfrm>
            <a:off x="8065008" y="4983480"/>
            <a:ext cx="3575304" cy="1463040"/>
          </a:xfrm>
          <a:prstGeom prst="roundRect">
            <a:avLst>
              <a:gd name="adj" fmla="val 1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5120640"/>
            <a:ext cx="3118104" cy="274320"/>
          </a:xfrm>
          <a:prstGeom prst="rect">
            <a:avLst/>
          </a:prstGeom>
          <a:noFill/>
        </p:spPr>
        <p:txBody>
          <a:bodyPr wrap="square" lIns="0" rIns="0" tIns="0" bIns="0" anchor="t">
            <a:spAutoFit/>
          </a:bodyPr>
          <a:lstStyle/>
          <a:p>
            <a:pPr algn="l"/>
            <a:r>
              <a:rPr sz="1300" b="1" i="0">
                <a:solidFill>
                  <a:srgbClr val="1E8449"/>
                </a:solidFill>
                <a:latin typeface="Arial"/>
              </a:rPr>
              <a:t>Cách sửa</a:t>
            </a:r>
          </a:p>
        </p:txBody>
      </p:sp>
      <p:sp>
        <p:nvSpPr>
          <p:cNvPr id="17" name="TextBox 16"/>
          <p:cNvSpPr txBox="1"/>
          <p:nvPr/>
        </p:nvSpPr>
        <p:spPr>
          <a:xfrm>
            <a:off x="8293608"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Chia tập trước rồi mới điền, chỉ dùng cách điền nhân quả, và giới hạn độ dài lỗ được điền.</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Bốn kiểu bất thường, bốn cách bắt</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11</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additive outlier (AO) · level shift (LS) · temporary change (TC) · variance change</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Gọi đúng tên kiểu bất thường, vì mỗi kiểu cần một cách bắt và một cách sửa riêng.</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D9642B"/>
                </a:solidFill>
                <a:latin typeface="Arial"/>
              </a:rPr>
              <a:t>“Hỏi trước: đây là lỗi, giai đoạn tạm thời, hay một trạng thái mới?”</a:t>
            </a:r>
          </a:p>
        </p:txBody>
      </p:sp>
      <p:pic>
        <p:nvPicPr>
          <p:cNvPr id="8" name="Picture 7" descr="bon-loai-bat-thuong.png"/>
          <p:cNvPicPr>
            <a:picLocks noChangeAspect="1"/>
          </p:cNvPicPr>
          <p:nvPr/>
        </p:nvPicPr>
        <p:blipFill>
          <a:blip r:embed="rId2"/>
          <a:stretch>
            <a:fillRect/>
          </a:stretch>
        </p:blipFill>
        <p:spPr>
          <a:xfrm>
            <a:off x="2608874" y="2450591"/>
            <a:ext cx="6971202" cy="2487168"/>
          </a:xfrm>
          <a:prstGeom prst="rect">
            <a:avLst/>
          </a:prstGeom>
        </p:spPr>
      </p:pic>
      <p:sp>
        <p:nvSpPr>
          <p:cNvPr id="9" name="Rounded Rectangle 8"/>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D9642B"/>
                </a:solidFill>
                <a:latin typeface="Arial"/>
              </a:rPr>
              <a:t>Là gì</a:t>
            </a:r>
          </a:p>
        </p:txBody>
      </p:sp>
      <p:sp>
        <p:nvSpPr>
          <p:cNvPr id="11" name="TextBox 10"/>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Điểm đơn (AO), dịch mức (LS), thay đổi tạm (TC) và đổi phương sai.</a:t>
            </a:r>
          </a:p>
        </p:txBody>
      </p:sp>
      <p:sp>
        <p:nvSpPr>
          <p:cNvPr id="12" name="Rounded Rectangle 11"/>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D9642B"/>
                </a:solidFill>
                <a:latin typeface="Arial"/>
              </a:rPr>
              <a:t>Nhận ra thế nào</a:t>
            </a:r>
          </a:p>
        </p:txBody>
      </p:sp>
      <p:sp>
        <p:nvSpPr>
          <p:cNvPr id="14" name="TextBox 13"/>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Lệch rồi về ngay là AO. Nhảy bậc rồi ở lại là LS. Nhảy rồi tắt dần là TC. Mức giữ nguyên mà dao động to ra là đổi phương sai.</a:t>
            </a:r>
          </a:p>
        </p:txBody>
      </p:sp>
      <p:sp>
        <p:nvSpPr>
          <p:cNvPr id="15" name="Rounded Rectangle 14"/>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D9642B"/>
                </a:solidFill>
                <a:latin typeface="Arial"/>
              </a:rPr>
              <a:t>Ví dụ</a:t>
            </a:r>
          </a:p>
        </p:txBody>
      </p:sp>
      <p:sp>
        <p:nvSpPr>
          <p:cNvPr id="17" name="TextBox 16"/>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Quanh mức 10: AO là 10, 25, 10; LS là 10, 20, 20, 20; TC là 20, 15, 12, 11, 10.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z-score: ngoại lai kéo cả ngưỡng lên theo</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11</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z-score · 3σ rule · masking / swamping</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D9642B"/>
                </a:solidFill>
                <a:latin typeface="Arial"/>
              </a:rPr>
              <a:t>Vấn đề:  </a:t>
            </a:r>
            <a:r>
              <a:rPr sz="1600" b="0" i="0">
                <a:solidFill>
                  <a:srgbClr val="1B2A41"/>
                </a:solidFill>
                <a:latin typeface="Arial"/>
              </a:rPr>
              <a:t>Mười số quanh 12 có một số 50. Vì sao ngưỡng 3σ không gắn cờ nó?</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Hiểu vì sao ngưỡng 3σ bỏ sót ngoại lai, để không đọc “không vượt 3σ” thành “dữ liệu sạch”.</a:t>
            </a:r>
          </a:p>
        </p:txBody>
      </p:sp>
      <p:sp>
        <p:nvSpPr>
          <p:cNvPr id="8" name="Rounded Rectangle 7"/>
          <p:cNvSpPr/>
          <p:nvPr/>
        </p:nvSpPr>
        <p:spPr>
          <a:xfrm>
            <a:off x="548640" y="2432303"/>
            <a:ext cx="11091672"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432303"/>
            <a:ext cx="1097280" cy="658368"/>
          </a:xfrm>
          <a:prstGeom prst="rect">
            <a:avLst/>
          </a:prstGeom>
          <a:noFill/>
        </p:spPr>
        <p:txBody>
          <a:bodyPr wrap="square" lIns="0" rIns="0" tIns="0" bIns="0" anchor="ctr">
            <a:spAutoFit/>
          </a:bodyPr>
          <a:lstStyle/>
          <a:p>
            <a:pPr algn="l"/>
            <a:r>
              <a:rPr sz="1200" b="1" i="0">
                <a:solidFill>
                  <a:srgbClr val="D9642B"/>
                </a:solidFill>
                <a:latin typeface="Arial"/>
              </a:rPr>
              <a:t>Công thức</a:t>
            </a:r>
          </a:p>
        </p:txBody>
      </p:sp>
      <p:pic>
        <p:nvPicPr>
          <p:cNvPr id="10" name="Picture 9" descr="468f392e87f5.png"/>
          <p:cNvPicPr>
            <a:picLocks noChangeAspect="1"/>
          </p:cNvPicPr>
          <p:nvPr/>
        </p:nvPicPr>
        <p:blipFill>
          <a:blip r:embed="rId2"/>
          <a:stretch>
            <a:fillRect/>
          </a:stretch>
        </p:blipFill>
        <p:spPr>
          <a:xfrm>
            <a:off x="1783080" y="2590799"/>
            <a:ext cx="3858768" cy="341376"/>
          </a:xfrm>
          <a:prstGeom prst="rect">
            <a:avLst/>
          </a:prstGeom>
        </p:spPr>
      </p:pic>
      <p:sp>
        <p:nvSpPr>
          <p:cNvPr id="11" name="TextBox 10"/>
          <p:cNvSpPr txBox="1"/>
          <p:nvPr/>
        </p:nvSpPr>
        <p:spPr>
          <a:xfrm>
            <a:off x="5824728" y="2432303"/>
            <a:ext cx="5678424" cy="658368"/>
          </a:xfrm>
          <a:prstGeom prst="rect">
            <a:avLst/>
          </a:prstGeom>
          <a:noFill/>
        </p:spPr>
        <p:txBody>
          <a:bodyPr wrap="square" lIns="0" rIns="0" tIns="0" bIns="0" anchor="ctr">
            <a:spAutoFit/>
          </a:bodyPr>
          <a:lstStyle/>
          <a:p>
            <a:pPr algn="l"/>
            <a:r>
              <a:rPr sz="1150" b="0" i="0">
                <a:solidFill>
                  <a:srgbClr val="1B2A41"/>
                </a:solidFill>
                <a:latin typeface="Arial"/>
              </a:rPr>
              <a:t>(50 − 15,6) / 12,1 ≈ 2,84: không vượt 3.</a:t>
            </a:r>
          </a:p>
        </p:txBody>
      </p:sp>
      <p:pic>
        <p:nvPicPr>
          <p:cNvPr id="12" name="Picture 11" descr="masking-10-so.png"/>
          <p:cNvPicPr>
            <a:picLocks noChangeAspect="1"/>
          </p:cNvPicPr>
          <p:nvPr/>
        </p:nvPicPr>
        <p:blipFill>
          <a:blip r:embed="rId3"/>
          <a:stretch>
            <a:fillRect/>
          </a:stretch>
        </p:blipFill>
        <p:spPr>
          <a:xfrm>
            <a:off x="3526538" y="3182112"/>
            <a:ext cx="5135874" cy="1755648"/>
          </a:xfrm>
          <a:prstGeom prst="rect">
            <a:avLst/>
          </a:prstGeom>
        </p:spPr>
      </p:pic>
      <p:sp>
        <p:nvSpPr>
          <p:cNvPr id="13" name="Rounded Rectangle 12"/>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D9642B"/>
                </a:solidFill>
                <a:latin typeface="Arial"/>
              </a:rPr>
              <a:t>Là gì</a:t>
            </a:r>
          </a:p>
        </p:txBody>
      </p:sp>
      <p:sp>
        <p:nvSpPr>
          <p:cNvPr id="15" name="TextBox 14"/>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z-score đo một điểm cách trung bình bao nhiêu lần độ lệch chuẩn. Masking: ngoại lai kéo cả trung bình lẫn độ lệch chuẩn lên, nên tự che mình và che nhau.</a:t>
            </a:r>
          </a:p>
        </p:txBody>
      </p:sp>
      <p:sp>
        <p:nvSpPr>
          <p:cNvPr id="16" name="Rounded Rectangle 15"/>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D9642B"/>
                </a:solidFill>
                <a:latin typeface="Arial"/>
              </a:rPr>
              <a:t>Nhận ra thế nào</a:t>
            </a:r>
          </a:p>
        </p:txBody>
      </p:sp>
      <p:sp>
        <p:nvSpPr>
          <p:cNvPr id="18" name="TextBox 17"/>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Thêm một điểm cực lớn mà số điểm bị gắn cờ lại giảm là đang bị che. Cách chữa: đo bằng trung vị (slide sau).</a:t>
            </a:r>
          </a:p>
        </p:txBody>
      </p:sp>
      <p:sp>
        <p:nvSpPr>
          <p:cNvPr id="19" name="Rounded Rectangle 18"/>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D9642B"/>
                </a:solidFill>
                <a:latin typeface="Arial"/>
              </a:rPr>
              <a:t>Ví dụ</a:t>
            </a:r>
          </a:p>
        </p:txBody>
      </p:sp>
      <p:sp>
        <p:nvSpPr>
          <p:cNvPr id="21" name="TextBox 20"/>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10, 12, 11, 13, 12, 50, 11, 12, 13, 12: trung bình 15,6, s ≈ 12,1, nên z của 50 chỉ 2,84, không vượt 3.</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3σ bỏ sót chính ngoại lai</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11</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outlier · z-score · masking · MAD · Hampel filter</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Nếu bỏ qua:  </a:t>
            </a:r>
            <a:r>
              <a:rPr sz="1600" b="0" i="0">
                <a:solidFill>
                  <a:srgbClr val="1B2A41"/>
                </a:solidFill>
                <a:latin typeface="Arial"/>
              </a:rPr>
              <a:t>ngoại lai thật lọt qua, trong khi báo cáo nói “dữ liệu sạch”.</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D9642B"/>
                </a:solidFill>
                <a:latin typeface="Arial"/>
              </a:rPr>
              <a:t>“Z-score dùng để bắt ngoại lai, nhưng chính ngoại lai làm nó ‘mù’.”</a:t>
            </a:r>
          </a:p>
        </p:txBody>
      </p:sp>
      <p:pic>
        <p:nvPicPr>
          <p:cNvPr id="8" name="Picture 7" descr="masking.png"/>
          <p:cNvPicPr>
            <a:picLocks noChangeAspect="1"/>
          </p:cNvPicPr>
          <p:nvPr/>
        </p:nvPicPr>
        <p:blipFill>
          <a:blip r:embed="rId2"/>
          <a:stretch>
            <a:fillRect/>
          </a:stretch>
        </p:blipFill>
        <p:spPr>
          <a:xfrm>
            <a:off x="2239660" y="2450591"/>
            <a:ext cx="7709631" cy="2395728"/>
          </a:xfrm>
          <a:prstGeom prst="rect">
            <a:avLst/>
          </a:prstGeom>
        </p:spPr>
      </p:pic>
      <p:sp>
        <p:nvSpPr>
          <p:cNvPr id="9" name="Rounded Rectangle 8"/>
          <p:cNvSpPr/>
          <p:nvPr/>
        </p:nvSpPr>
        <p:spPr>
          <a:xfrm>
            <a:off x="548640" y="4983480"/>
            <a:ext cx="3575304" cy="1463040"/>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120640"/>
            <a:ext cx="3118104" cy="274320"/>
          </a:xfrm>
          <a:prstGeom prst="rect">
            <a:avLst/>
          </a:prstGeom>
          <a:noFill/>
        </p:spPr>
        <p:txBody>
          <a:bodyPr wrap="square" lIns="0" rIns="0" tIns="0" bIns="0" anchor="t">
            <a:spAutoFit/>
          </a:bodyPr>
          <a:lstStyle/>
          <a:p>
            <a:pPr algn="l"/>
            <a:r>
              <a:rPr sz="1300" b="1" i="0">
                <a:solidFill>
                  <a:srgbClr val="C0392B"/>
                </a:solidFill>
                <a:latin typeface="Arial"/>
              </a:rPr>
              <a:t>Dấu hiệu</a:t>
            </a:r>
          </a:p>
        </p:txBody>
      </p:sp>
      <p:sp>
        <p:nvSpPr>
          <p:cNvPr id="11" name="TextBox 10"/>
          <p:cNvSpPr txBox="1"/>
          <p:nvPr/>
        </p:nvSpPr>
        <p:spPr>
          <a:xfrm>
            <a:off x="777240"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Năm số 5, 5, 5, 5, 100: điểm 100 chỉ có z = 1,79 nên không bị gắn cờ.</a:t>
            </a:r>
          </a:p>
        </p:txBody>
      </p:sp>
      <p:sp>
        <p:nvSpPr>
          <p:cNvPr id="12" name="Rounded Rectangle 11"/>
          <p:cNvSpPr/>
          <p:nvPr/>
        </p:nvSpPr>
        <p:spPr>
          <a:xfrm>
            <a:off x="4306824" y="4983480"/>
            <a:ext cx="3575304" cy="1463040"/>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5120640"/>
            <a:ext cx="3118104" cy="274320"/>
          </a:xfrm>
          <a:prstGeom prst="rect">
            <a:avLst/>
          </a:prstGeom>
          <a:noFill/>
        </p:spPr>
        <p:txBody>
          <a:bodyPr wrap="square" lIns="0" rIns="0" tIns="0" bIns="0" anchor="t">
            <a:spAutoFit/>
          </a:bodyPr>
          <a:lstStyle/>
          <a:p>
            <a:pPr algn="l"/>
            <a:r>
              <a:rPr sz="1300" b="1" i="0">
                <a:solidFill>
                  <a:srgbClr val="2E6FBF"/>
                </a:solidFill>
                <a:latin typeface="Arial"/>
              </a:rPr>
              <a:t>Kiểm bằng</a:t>
            </a:r>
          </a:p>
        </p:txBody>
      </p:sp>
      <p:sp>
        <p:nvSpPr>
          <p:cNvPr id="14" name="TextBox 13"/>
          <p:cNvSpPr txBox="1"/>
          <p:nvPr/>
        </p:nvSpPr>
        <p:spPr>
          <a:xfrm>
            <a:off x="4535424"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Thêm một điểm cực lớn rồi đếm lại: số ngày bị gắn cờ giảm từ 16 còn 5 là đang bị che.</a:t>
            </a:r>
          </a:p>
        </p:txBody>
      </p:sp>
      <p:sp>
        <p:nvSpPr>
          <p:cNvPr id="15" name="Rounded Rectangle 14"/>
          <p:cNvSpPr/>
          <p:nvPr/>
        </p:nvSpPr>
        <p:spPr>
          <a:xfrm>
            <a:off x="8065008" y="4983480"/>
            <a:ext cx="3575304" cy="1463040"/>
          </a:xfrm>
          <a:prstGeom prst="roundRect">
            <a:avLst>
              <a:gd name="adj" fmla="val 1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5120640"/>
            <a:ext cx="3118104" cy="274320"/>
          </a:xfrm>
          <a:prstGeom prst="rect">
            <a:avLst/>
          </a:prstGeom>
          <a:noFill/>
        </p:spPr>
        <p:txBody>
          <a:bodyPr wrap="square" lIns="0" rIns="0" tIns="0" bIns="0" anchor="t">
            <a:spAutoFit/>
          </a:bodyPr>
          <a:lstStyle/>
          <a:p>
            <a:pPr algn="l"/>
            <a:r>
              <a:rPr sz="1300" b="1" i="0">
                <a:solidFill>
                  <a:srgbClr val="1E8449"/>
                </a:solidFill>
                <a:latin typeface="Arial"/>
              </a:rPr>
              <a:t>Cách sửa</a:t>
            </a:r>
          </a:p>
        </p:txBody>
      </p:sp>
      <p:sp>
        <p:nvSpPr>
          <p:cNvPr id="17" name="TextBox 16"/>
          <p:cNvSpPr txBox="1"/>
          <p:nvPr/>
        </p:nvSpPr>
        <p:spPr>
          <a:xfrm>
            <a:off x="8293608"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Dùng MAD hoặc bộ lọc Hampel. Cả hai dựa trên trung vị nên ngoại lai không kéo được.</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MAD và Hampel: đo bằng trung vị, so tại chỗ</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11</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median absolute deviation (MAD) · 1.4826 · Hampel filter</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D9642B"/>
                </a:solidFill>
                <a:latin typeface="Arial"/>
              </a:rPr>
              <a:t>Vấn đề:  </a:t>
            </a:r>
            <a:r>
              <a:rPr sz="1600" b="0" i="0">
                <a:solidFill>
                  <a:srgbClr val="1B2A41"/>
                </a:solidFill>
                <a:latin typeface="Arial"/>
              </a:rPr>
              <a:t>Lượt xem tăng suốt mười năm. So mỗi ngày với trung bình cả chuỗi còn có nghĩa không?</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Có thước đo độ dao động mà ngoại lai không kéo được, và so mỗi điểm với mức quanh nó.</a:t>
            </a:r>
          </a:p>
        </p:txBody>
      </p:sp>
      <p:sp>
        <p:nvSpPr>
          <p:cNvPr id="8" name="Rounded Rectangle 7"/>
          <p:cNvSpPr/>
          <p:nvPr/>
        </p:nvSpPr>
        <p:spPr>
          <a:xfrm>
            <a:off x="548640" y="2432303"/>
            <a:ext cx="6309360"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23007b40b47c.png"/>
          <p:cNvPicPr>
            <a:picLocks noChangeAspect="1"/>
          </p:cNvPicPr>
          <p:nvPr/>
        </p:nvPicPr>
        <p:blipFill>
          <a:blip r:embed="rId2"/>
          <a:stretch>
            <a:fillRect/>
          </a:stretch>
        </p:blipFill>
        <p:spPr>
          <a:xfrm>
            <a:off x="1773936" y="2558795"/>
            <a:ext cx="3858768" cy="405384"/>
          </a:xfrm>
          <a:prstGeom prst="rect">
            <a:avLst/>
          </a:prstGeom>
        </p:spPr>
      </p:pic>
      <p:pic>
        <p:nvPicPr>
          <p:cNvPr id="10" name="Picture 9" descr="kn-bo-loc-hampel.png"/>
          <p:cNvPicPr>
            <a:picLocks noChangeAspect="1"/>
          </p:cNvPicPr>
          <p:nvPr/>
        </p:nvPicPr>
        <p:blipFill>
          <a:blip r:embed="rId3"/>
          <a:stretch>
            <a:fillRect/>
          </a:stretch>
        </p:blipFill>
        <p:spPr>
          <a:xfrm>
            <a:off x="548640" y="3237557"/>
            <a:ext cx="6309360" cy="3199237"/>
          </a:xfrm>
          <a:prstGeom prst="rect">
            <a:avLst/>
          </a:prstGeom>
        </p:spPr>
      </p:pic>
      <p:sp>
        <p:nvSpPr>
          <p:cNvPr id="11" name="TextBox 10"/>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D9642B"/>
                </a:solidFill>
                <a:latin typeface="Arial"/>
              </a:rPr>
              <a:t>Là gì</a:t>
            </a:r>
          </a:p>
        </p:txBody>
      </p:sp>
      <p:sp>
        <p:nvSpPr>
          <p:cNvPr id="12" name="TextBox 11"/>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MAD là trung vị của khoảng cách tới trung vị, nhân 1,4826 để cùng thang với độ lệch chuẩn. Hampel tính MAD trên cửa sổ quanh mỗi điểm.</a:t>
            </a:r>
          </a:p>
        </p:txBody>
      </p:sp>
      <p:sp>
        <p:nvSpPr>
          <p:cNvPr id="13" name="TextBox 12"/>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D9642B"/>
                </a:solidFill>
                <a:latin typeface="Arial"/>
              </a:rPr>
              <a:t>Điểm MAD lớn hay nhỏ nghĩa là gì</a:t>
            </a:r>
          </a:p>
        </p:txBody>
      </p:sp>
      <p:cxnSp>
        <p:nvCxnSpPr>
          <p:cNvPr id="14" name="Connector 13"/>
          <p:cNvCxnSpPr/>
          <p:nvPr/>
        </p:nvCxnSpPr>
        <p:spPr>
          <a:xfrm>
            <a:off x="8327898" y="4242816"/>
            <a:ext cx="2208276"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8245602" y="4160520"/>
            <a:ext cx="164592" cy="16459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60336" y="4379976"/>
            <a:ext cx="2135124" cy="274320"/>
          </a:xfrm>
          <a:prstGeom prst="rect">
            <a:avLst/>
          </a:prstGeom>
          <a:noFill/>
        </p:spPr>
        <p:txBody>
          <a:bodyPr wrap="square" lIns="0" rIns="0" tIns="0" bIns="0" anchor="t">
            <a:spAutoFit/>
          </a:bodyPr>
          <a:lstStyle/>
          <a:p>
            <a:pPr algn="ctr"/>
            <a:r>
              <a:rPr sz="1400" b="1" i="0">
                <a:solidFill>
                  <a:srgbClr val="D9642B"/>
                </a:solidFill>
                <a:latin typeface="Arial"/>
              </a:rPr>
              <a:t>≤ 3</a:t>
            </a:r>
          </a:p>
        </p:txBody>
      </p:sp>
      <p:sp>
        <p:nvSpPr>
          <p:cNvPr id="17" name="TextBox 16"/>
          <p:cNvSpPr txBox="1"/>
          <p:nvPr/>
        </p:nvSpPr>
        <p:spPr>
          <a:xfrm>
            <a:off x="7260336" y="4654296"/>
            <a:ext cx="2135124" cy="548640"/>
          </a:xfrm>
          <a:prstGeom prst="rect">
            <a:avLst/>
          </a:prstGeom>
          <a:noFill/>
        </p:spPr>
        <p:txBody>
          <a:bodyPr wrap="square" lIns="0" rIns="0" tIns="0" bIns="0" anchor="t">
            <a:spAutoFit/>
          </a:bodyPr>
          <a:lstStyle/>
          <a:p>
            <a:pPr algn="ctr"/>
            <a:r>
              <a:rPr sz="1100" b="0" i="0">
                <a:solidFill>
                  <a:srgbClr val="1B2A41"/>
                </a:solidFill>
                <a:latin typeface="Arial"/>
              </a:rPr>
              <a:t>bình thường so với mức quanh nó</a:t>
            </a:r>
          </a:p>
        </p:txBody>
      </p:sp>
      <p:sp>
        <p:nvSpPr>
          <p:cNvPr id="18" name="Oval 17"/>
          <p:cNvSpPr/>
          <p:nvPr/>
        </p:nvSpPr>
        <p:spPr>
          <a:xfrm>
            <a:off x="10453878" y="4160520"/>
            <a:ext cx="164592" cy="16459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68612" y="4379976"/>
            <a:ext cx="2135124" cy="274320"/>
          </a:xfrm>
          <a:prstGeom prst="rect">
            <a:avLst/>
          </a:prstGeom>
          <a:noFill/>
        </p:spPr>
        <p:txBody>
          <a:bodyPr wrap="square" lIns="0" rIns="0" tIns="0" bIns="0" anchor="t">
            <a:spAutoFit/>
          </a:bodyPr>
          <a:lstStyle/>
          <a:p>
            <a:pPr algn="ctr"/>
            <a:r>
              <a:rPr sz="1400" b="1" i="0">
                <a:solidFill>
                  <a:srgbClr val="D9642B"/>
                </a:solidFill>
                <a:latin typeface="Arial"/>
              </a:rPr>
              <a:t>&gt; 3</a:t>
            </a:r>
          </a:p>
        </p:txBody>
      </p:sp>
      <p:sp>
        <p:nvSpPr>
          <p:cNvPr id="20" name="TextBox 19"/>
          <p:cNvSpPr txBox="1"/>
          <p:nvPr/>
        </p:nvSpPr>
        <p:spPr>
          <a:xfrm>
            <a:off x="9468612" y="4654296"/>
            <a:ext cx="2135124" cy="548640"/>
          </a:xfrm>
          <a:prstGeom prst="rect">
            <a:avLst/>
          </a:prstGeom>
          <a:noFill/>
        </p:spPr>
        <p:txBody>
          <a:bodyPr wrap="square" lIns="0" rIns="0" tIns="0" bIns="0" anchor="t">
            <a:spAutoFit/>
          </a:bodyPr>
          <a:lstStyle/>
          <a:p>
            <a:pPr algn="ctr"/>
            <a:r>
              <a:rPr sz="1100" b="0" i="0">
                <a:solidFill>
                  <a:srgbClr val="1B2A41"/>
                </a:solidFill>
                <a:latin typeface="Arial"/>
              </a:rPr>
              <a:t>gắn cờ ngoại lai</a:t>
            </a:r>
          </a:p>
        </p:txBody>
      </p:sp>
      <p:sp>
        <p:nvSpPr>
          <p:cNvPr id="21" name="TextBox 20"/>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D9642B"/>
                </a:solidFill>
                <a:latin typeface="Arial"/>
              </a:rPr>
              <a:t>Ví dụ</a:t>
            </a:r>
          </a:p>
        </p:txBody>
      </p:sp>
      <p:sp>
        <p:nvSpPr>
          <p:cNvPr id="22" name="TextBox 21"/>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Cùng 10 số: trung vị 12, MAD = 1,4826 × 1 ≈ 1,48. Điểm của 50 là 38 / 1,48 ≈ 25,6: bị gắn cờ. Điểm của 10 chỉ 1,35.</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Hampel: so với mức địa phương</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11</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MAD · Hampel filter · winsorize · IQR rule</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Nếu bỏ qua:  </a:t>
            </a:r>
            <a:r>
              <a:rPr sz="1600" b="0" i="0">
                <a:solidFill>
                  <a:srgbClr val="1B2A41"/>
                </a:solidFill>
                <a:latin typeface="Arial"/>
              </a:rPr>
              <a:t>chỉ gắn cờ những ngày đông, bỏ sót bất thường ở vùng mức thấp.</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1" i="0">
                <a:solidFill>
                  <a:srgbClr val="D9642B"/>
                </a:solidFill>
                <a:latin typeface="Arial"/>
              </a:rPr>
              <a:t>MAD</a:t>
            </a:r>
            <a:r>
              <a:rPr sz="1700" b="0" i="0">
                <a:solidFill>
                  <a:srgbClr val="1B2A41"/>
                </a:solidFill>
                <a:latin typeface="Arial"/>
              </a:rPr>
              <a:t> đo độ dao động bằng trung vị; Hampel dùng MAD trên một cửa sổ trượt quanh từng điểm.</a:t>
            </a:r>
          </a:p>
        </p:txBody>
      </p:sp>
      <p:pic>
        <p:nvPicPr>
          <p:cNvPr id="8" name="Picture 7" descr="nguong-toan-chuoi.png"/>
          <p:cNvPicPr>
            <a:picLocks noChangeAspect="1"/>
          </p:cNvPicPr>
          <p:nvPr/>
        </p:nvPicPr>
        <p:blipFill>
          <a:blip r:embed="rId2"/>
          <a:stretch>
            <a:fillRect/>
          </a:stretch>
        </p:blipFill>
        <p:spPr>
          <a:xfrm>
            <a:off x="3361247" y="2450591"/>
            <a:ext cx="5466456" cy="2395728"/>
          </a:xfrm>
          <a:prstGeom prst="rect">
            <a:avLst/>
          </a:prstGeom>
        </p:spPr>
      </p:pic>
      <p:sp>
        <p:nvSpPr>
          <p:cNvPr id="9" name="Rounded Rectangle 8"/>
          <p:cNvSpPr/>
          <p:nvPr/>
        </p:nvSpPr>
        <p:spPr>
          <a:xfrm>
            <a:off x="548640" y="4983480"/>
            <a:ext cx="3575304" cy="1463040"/>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120640"/>
            <a:ext cx="3118104" cy="274320"/>
          </a:xfrm>
          <a:prstGeom prst="rect">
            <a:avLst/>
          </a:prstGeom>
          <a:noFill/>
        </p:spPr>
        <p:txBody>
          <a:bodyPr wrap="square" lIns="0" rIns="0" tIns="0" bIns="0" anchor="t">
            <a:spAutoFit/>
          </a:bodyPr>
          <a:lstStyle/>
          <a:p>
            <a:pPr algn="l"/>
            <a:r>
              <a:rPr sz="1300" b="1" i="0">
                <a:solidFill>
                  <a:srgbClr val="C0392B"/>
                </a:solidFill>
                <a:latin typeface="Arial"/>
              </a:rPr>
              <a:t>Dấu hiệu</a:t>
            </a:r>
          </a:p>
        </p:txBody>
      </p:sp>
      <p:sp>
        <p:nvSpPr>
          <p:cNvPr id="11" name="TextBox 10"/>
          <p:cNvSpPr txBox="1"/>
          <p:nvPr/>
        </p:nvSpPr>
        <p:spPr>
          <a:xfrm>
            <a:off x="777240"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3σ toàn chuỗi chỉ gắn cờ 16 ngày, và toàn là những ngày mức cao.</a:t>
            </a:r>
          </a:p>
        </p:txBody>
      </p:sp>
      <p:sp>
        <p:nvSpPr>
          <p:cNvPr id="12" name="Rounded Rectangle 11"/>
          <p:cNvSpPr/>
          <p:nvPr/>
        </p:nvSpPr>
        <p:spPr>
          <a:xfrm>
            <a:off x="4306824" y="4983480"/>
            <a:ext cx="3575304" cy="1463040"/>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5120640"/>
            <a:ext cx="3118104" cy="274320"/>
          </a:xfrm>
          <a:prstGeom prst="rect">
            <a:avLst/>
          </a:prstGeom>
          <a:noFill/>
        </p:spPr>
        <p:txBody>
          <a:bodyPr wrap="square" lIns="0" rIns="0" tIns="0" bIns="0" anchor="t">
            <a:spAutoFit/>
          </a:bodyPr>
          <a:lstStyle/>
          <a:p>
            <a:pPr algn="l"/>
            <a:r>
              <a:rPr sz="1300" b="1" i="0">
                <a:solidFill>
                  <a:srgbClr val="2E6FBF"/>
                </a:solidFill>
                <a:latin typeface="Arial"/>
              </a:rPr>
              <a:t>Kiểm bằng</a:t>
            </a:r>
          </a:p>
        </p:txBody>
      </p:sp>
      <p:sp>
        <p:nvSpPr>
          <p:cNvPr id="14" name="TextBox 13"/>
          <p:cNvSpPr txBox="1"/>
          <p:nvPr/>
        </p:nvSpPr>
        <p:spPr>
          <a:xfrm>
            <a:off x="4535424"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Xem mỗi cách gắn cờ bao nhiêu phần trăm dữ liệu: Hampel 3,31%, STL robust tới 16,86%.</a:t>
            </a:r>
          </a:p>
        </p:txBody>
      </p:sp>
      <p:sp>
        <p:nvSpPr>
          <p:cNvPr id="15" name="Rounded Rectangle 14"/>
          <p:cNvSpPr/>
          <p:nvPr/>
        </p:nvSpPr>
        <p:spPr>
          <a:xfrm>
            <a:off x="8065008" y="4983480"/>
            <a:ext cx="3575304" cy="1463040"/>
          </a:xfrm>
          <a:prstGeom prst="roundRect">
            <a:avLst>
              <a:gd name="adj" fmla="val 1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5120640"/>
            <a:ext cx="3118104" cy="274320"/>
          </a:xfrm>
          <a:prstGeom prst="rect">
            <a:avLst/>
          </a:prstGeom>
          <a:noFill/>
        </p:spPr>
        <p:txBody>
          <a:bodyPr wrap="square" lIns="0" rIns="0" tIns="0" bIns="0" anchor="t">
            <a:spAutoFit/>
          </a:bodyPr>
          <a:lstStyle/>
          <a:p>
            <a:pPr algn="l"/>
            <a:r>
              <a:rPr sz="1300" b="1" i="0">
                <a:solidFill>
                  <a:srgbClr val="1E8449"/>
                </a:solidFill>
                <a:latin typeface="Arial"/>
              </a:rPr>
              <a:t>Cách sửa</a:t>
            </a:r>
          </a:p>
        </p:txBody>
      </p:sp>
      <p:sp>
        <p:nvSpPr>
          <p:cNvPr id="17" name="TextBox 16"/>
          <p:cNvSpPr txBox="1"/>
          <p:nvPr/>
        </p:nvSpPr>
        <p:spPr>
          <a:xfrm>
            <a:off x="8293608"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Hampel ±15 ngày, sửa bằng winsorize (kéo về trung vị địa phương). Bản center=True chỉ để làm sạch, không làm feature.</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Gắn cờ xong: giữ, winsorize hay biến giả</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11</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winsorizing · event log · dummy variable</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D9642B"/>
                </a:solidFill>
                <a:latin typeface="Arial"/>
              </a:rPr>
              <a:t>Vấn đề:  </a:t>
            </a:r>
            <a:r>
              <a:rPr sz="1600" b="0" i="0">
                <a:solidFill>
                  <a:srgbClr val="1B2A41"/>
                </a:solidFill>
                <a:latin typeface="Arial"/>
              </a:rPr>
              <a:t>Điểm 90 bị gắn cờ giữa các số quanh 12: xoá, kéo về 12, hay giữ nguyên?</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Chọn cách sửa theo loại bất thường và theo nhật ký sự kiện, mà vẫn giữ đủ số mốc.</a:t>
            </a:r>
          </a:p>
        </p:txBody>
      </p:sp>
      <p:pic>
        <p:nvPicPr>
          <p:cNvPr id="8" name="Picture 7" descr="kn-winsorize.png"/>
          <p:cNvPicPr>
            <a:picLocks noChangeAspect="1"/>
          </p:cNvPicPr>
          <p:nvPr/>
        </p:nvPicPr>
        <p:blipFill>
          <a:blip r:embed="rId2"/>
          <a:stretch>
            <a:fillRect/>
          </a:stretch>
        </p:blipFill>
        <p:spPr>
          <a:xfrm>
            <a:off x="2602158" y="2432303"/>
            <a:ext cx="6984634" cy="2505456"/>
          </a:xfrm>
          <a:prstGeom prst="rect">
            <a:avLst/>
          </a:prstGeom>
        </p:spPr>
      </p:pic>
      <p:sp>
        <p:nvSpPr>
          <p:cNvPr id="9" name="Rounded Rectangle 8"/>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D9642B"/>
                </a:solidFill>
                <a:latin typeface="Arial"/>
              </a:rPr>
              <a:t>Là gì</a:t>
            </a:r>
          </a:p>
        </p:txBody>
      </p:sp>
      <p:sp>
        <p:nvSpPr>
          <p:cNvPr id="11" name="TextBox 10"/>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Winsorize kéo điểm bị gắn cờ về trung vị địa phương, không xoá. Nhật ký sự kiện: danh sách mốc có sự kiện thật. Biến giả: cột 0/1 đánh dấu sự kiện.</a:t>
            </a:r>
          </a:p>
        </p:txBody>
      </p:sp>
      <p:sp>
        <p:nvSpPr>
          <p:cNvPr id="12" name="Rounded Rectangle 11"/>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D9642B"/>
                </a:solidFill>
                <a:latin typeface="Arial"/>
              </a:rPr>
              <a:t>Chọn theo loại</a:t>
            </a:r>
          </a:p>
        </p:txBody>
      </p:sp>
      <p:sp>
        <p:nvSpPr>
          <p:cNvPr id="14" name="TextBox 13"/>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600" b="0" i="0">
                <a:solidFill>
                  <a:srgbClr val="1B2A41"/>
                </a:solidFill>
                <a:latin typeface="Arial"/>
              </a:rPr>
              <a:t/>
            </a:r>
          </a:p>
        </p:txBody>
      </p:sp>
      <p:cxnSp>
        <p:nvCxnSpPr>
          <p:cNvPr id="15" name="Connector 14"/>
          <p:cNvCxnSpPr/>
          <p:nvPr/>
        </p:nvCxnSpPr>
        <p:spPr>
          <a:xfrm>
            <a:off x="4963667" y="5532120"/>
            <a:ext cx="2261617"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6" name="Oval 15"/>
          <p:cNvSpPr/>
          <p:nvPr/>
        </p:nvSpPr>
        <p:spPr>
          <a:xfrm>
            <a:off x="4881372" y="5449824"/>
            <a:ext cx="164592" cy="16459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34840" y="5669280"/>
            <a:ext cx="1057655" cy="274320"/>
          </a:xfrm>
          <a:prstGeom prst="rect">
            <a:avLst/>
          </a:prstGeom>
          <a:noFill/>
        </p:spPr>
        <p:txBody>
          <a:bodyPr wrap="square" lIns="0" rIns="0" tIns="0" bIns="0" anchor="t">
            <a:spAutoFit/>
          </a:bodyPr>
          <a:lstStyle/>
          <a:p>
            <a:pPr algn="ctr"/>
            <a:r>
              <a:rPr sz="1400" b="1" i="0">
                <a:solidFill>
                  <a:srgbClr val="D9642B"/>
                </a:solidFill>
                <a:latin typeface="Arial"/>
              </a:rPr>
              <a:t>lỗi đo</a:t>
            </a:r>
          </a:p>
        </p:txBody>
      </p:sp>
      <p:sp>
        <p:nvSpPr>
          <p:cNvPr id="18" name="TextBox 17"/>
          <p:cNvSpPr txBox="1"/>
          <p:nvPr/>
        </p:nvSpPr>
        <p:spPr>
          <a:xfrm>
            <a:off x="4434840"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winsorize</a:t>
            </a:r>
          </a:p>
        </p:txBody>
      </p:sp>
      <p:sp>
        <p:nvSpPr>
          <p:cNvPr id="19" name="Oval 18"/>
          <p:cNvSpPr/>
          <p:nvPr/>
        </p:nvSpPr>
        <p:spPr>
          <a:xfrm>
            <a:off x="6012179" y="5449824"/>
            <a:ext cx="164592" cy="16459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565647" y="5669280"/>
            <a:ext cx="1057655" cy="274320"/>
          </a:xfrm>
          <a:prstGeom prst="rect">
            <a:avLst/>
          </a:prstGeom>
          <a:noFill/>
        </p:spPr>
        <p:txBody>
          <a:bodyPr wrap="square" lIns="0" rIns="0" tIns="0" bIns="0" anchor="t">
            <a:spAutoFit/>
          </a:bodyPr>
          <a:lstStyle/>
          <a:p>
            <a:pPr algn="ctr"/>
            <a:r>
              <a:rPr sz="1200" b="1" i="0">
                <a:solidFill>
                  <a:srgbClr val="D9642B"/>
                </a:solidFill>
                <a:latin typeface="Arial"/>
              </a:rPr>
              <a:t>sự kiện thật</a:t>
            </a:r>
          </a:p>
        </p:txBody>
      </p:sp>
      <p:sp>
        <p:nvSpPr>
          <p:cNvPr id="21" name="TextBox 20"/>
          <p:cNvSpPr txBox="1"/>
          <p:nvPr/>
        </p:nvSpPr>
        <p:spPr>
          <a:xfrm>
            <a:off x="5565647"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giữ, ghi nhật ký</a:t>
            </a:r>
          </a:p>
        </p:txBody>
      </p:sp>
      <p:sp>
        <p:nvSpPr>
          <p:cNvPr id="22" name="Oval 21"/>
          <p:cNvSpPr/>
          <p:nvPr/>
        </p:nvSpPr>
        <p:spPr>
          <a:xfrm>
            <a:off x="7142987" y="5449824"/>
            <a:ext cx="164592" cy="16459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96456" y="5669280"/>
            <a:ext cx="1057655" cy="274320"/>
          </a:xfrm>
          <a:prstGeom prst="rect">
            <a:avLst/>
          </a:prstGeom>
          <a:noFill/>
        </p:spPr>
        <p:txBody>
          <a:bodyPr wrap="square" lIns="0" rIns="0" tIns="0" bIns="0" anchor="t">
            <a:spAutoFit/>
          </a:bodyPr>
          <a:lstStyle/>
          <a:p>
            <a:pPr algn="ctr"/>
            <a:r>
              <a:rPr sz="1400" b="1" i="0">
                <a:solidFill>
                  <a:srgbClr val="D9642B"/>
                </a:solidFill>
                <a:latin typeface="Arial"/>
              </a:rPr>
              <a:t>dịch mức</a:t>
            </a:r>
          </a:p>
        </p:txBody>
      </p:sp>
      <p:sp>
        <p:nvSpPr>
          <p:cNvPr id="24" name="TextBox 23"/>
          <p:cNvSpPr txBox="1"/>
          <p:nvPr/>
        </p:nvSpPr>
        <p:spPr>
          <a:xfrm>
            <a:off x="6696456"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thêm biến giả</a:t>
            </a:r>
          </a:p>
        </p:txBody>
      </p:sp>
      <p:sp>
        <p:nvSpPr>
          <p:cNvPr id="25" name="Rounded Rectangle 24"/>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D9642B"/>
                </a:solidFill>
                <a:latin typeface="Arial"/>
              </a:rPr>
              <a:t>Ví dụ</a:t>
            </a:r>
          </a:p>
        </p:txBody>
      </p:sp>
      <p:sp>
        <p:nvSpPr>
          <p:cNvPr id="27" name="TextBox 26"/>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12, 11, 13, 90, 12: xoá thì lưới thủng một mốc; winsorize ra 12, 11, 13, 12, 12 kèm cột da_sua = 1; nếu ngày đó là Tết thì giữ 90.</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Tết không phải ngoại lai</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11</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event log · dummy variable · moving holiday</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Nếu bỏ qua:  </a:t>
            </a:r>
            <a:r>
              <a:rPr sz="1600" b="0" i="0">
                <a:solidFill>
                  <a:srgbClr val="1B2A41"/>
                </a:solidFill>
                <a:latin typeface="Arial"/>
              </a:rPr>
              <a:t>xoá mất đỉnh Tết, thứ đáng dự báo nhất trong năm.</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D9642B"/>
                </a:solidFill>
                <a:latin typeface="Arial"/>
              </a:rPr>
              <a:t>“Outlier không đồng nghĩa với lỗi; Tết là bất thường, nhưng là bất thường thật.”</a:t>
            </a:r>
          </a:p>
        </p:txBody>
      </p:sp>
      <p:pic>
        <p:nvPicPr>
          <p:cNvPr id="8" name="Picture 7" descr="tet-khong-phai-ngoai-lai.png"/>
          <p:cNvPicPr>
            <a:picLocks noChangeAspect="1"/>
          </p:cNvPicPr>
          <p:nvPr/>
        </p:nvPicPr>
        <p:blipFill>
          <a:blip r:embed="rId2"/>
          <a:stretch>
            <a:fillRect/>
          </a:stretch>
        </p:blipFill>
        <p:spPr>
          <a:xfrm>
            <a:off x="2239660" y="2450591"/>
            <a:ext cx="7709631" cy="2395728"/>
          </a:xfrm>
          <a:prstGeom prst="rect">
            <a:avLst/>
          </a:prstGeom>
        </p:spPr>
      </p:pic>
      <p:sp>
        <p:nvSpPr>
          <p:cNvPr id="9" name="Rounded Rectangle 8"/>
          <p:cNvSpPr/>
          <p:nvPr/>
        </p:nvSpPr>
        <p:spPr>
          <a:xfrm>
            <a:off x="548640" y="4983480"/>
            <a:ext cx="3575304" cy="1463040"/>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120640"/>
            <a:ext cx="3118104" cy="274320"/>
          </a:xfrm>
          <a:prstGeom prst="rect">
            <a:avLst/>
          </a:prstGeom>
          <a:noFill/>
        </p:spPr>
        <p:txBody>
          <a:bodyPr wrap="square" lIns="0" rIns="0" tIns="0" bIns="0" anchor="t">
            <a:spAutoFit/>
          </a:bodyPr>
          <a:lstStyle/>
          <a:p>
            <a:pPr algn="l"/>
            <a:r>
              <a:rPr sz="1300" b="1" i="0">
                <a:solidFill>
                  <a:srgbClr val="C0392B"/>
                </a:solidFill>
                <a:latin typeface="Arial"/>
              </a:rPr>
              <a:t>Dấu hiệu</a:t>
            </a:r>
          </a:p>
        </p:txBody>
      </p:sp>
      <p:sp>
        <p:nvSpPr>
          <p:cNvPr id="11" name="TextBox 10"/>
          <p:cNvSpPr txBox="1"/>
          <p:nvPr/>
        </p:nvSpPr>
        <p:spPr>
          <a:xfrm>
            <a:off x="777240"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Cả 10/10 đỉnh Tết bị gắn cờ ngoại lai, và đỉnh xê dịch tới 25 ngày giữa các năm.</a:t>
            </a:r>
          </a:p>
        </p:txBody>
      </p:sp>
      <p:sp>
        <p:nvSpPr>
          <p:cNvPr id="12" name="Rounded Rectangle 11"/>
          <p:cNvSpPr/>
          <p:nvPr/>
        </p:nvSpPr>
        <p:spPr>
          <a:xfrm>
            <a:off x="4306824" y="4983480"/>
            <a:ext cx="3575304" cy="1463040"/>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5120640"/>
            <a:ext cx="3118104" cy="274320"/>
          </a:xfrm>
          <a:prstGeom prst="rect">
            <a:avLst/>
          </a:prstGeom>
          <a:noFill/>
        </p:spPr>
        <p:txBody>
          <a:bodyPr wrap="square" lIns="0" rIns="0" tIns="0" bIns="0" anchor="t">
            <a:spAutoFit/>
          </a:bodyPr>
          <a:lstStyle/>
          <a:p>
            <a:pPr algn="l"/>
            <a:r>
              <a:rPr sz="1300" b="1" i="0">
                <a:solidFill>
                  <a:srgbClr val="2E6FBF"/>
                </a:solidFill>
                <a:latin typeface="Arial"/>
              </a:rPr>
              <a:t>Kiểm bằng</a:t>
            </a:r>
          </a:p>
        </p:txBody>
      </p:sp>
      <p:sp>
        <p:nvSpPr>
          <p:cNvPr id="14" name="TextBox 13"/>
          <p:cNvSpPr txBox="1"/>
          <p:nvPr/>
        </p:nvSpPr>
        <p:spPr>
          <a:xfrm>
            <a:off x="4535424"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Vẽ chuỗi quanh những mốc bị sửa, rồi đối chiếu với lịch lễ.</a:t>
            </a:r>
          </a:p>
        </p:txBody>
      </p:sp>
      <p:sp>
        <p:nvSpPr>
          <p:cNvPr id="15" name="Rounded Rectangle 14"/>
          <p:cNvSpPr/>
          <p:nvPr/>
        </p:nvSpPr>
        <p:spPr>
          <a:xfrm>
            <a:off x="8065008" y="4983480"/>
            <a:ext cx="3575304" cy="1463040"/>
          </a:xfrm>
          <a:prstGeom prst="roundRect">
            <a:avLst>
              <a:gd name="adj" fmla="val 1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5120640"/>
            <a:ext cx="3118104" cy="274320"/>
          </a:xfrm>
          <a:prstGeom prst="rect">
            <a:avLst/>
          </a:prstGeom>
          <a:noFill/>
        </p:spPr>
        <p:txBody>
          <a:bodyPr wrap="square" lIns="0" rIns="0" tIns="0" bIns="0" anchor="t">
            <a:spAutoFit/>
          </a:bodyPr>
          <a:lstStyle/>
          <a:p>
            <a:pPr algn="l"/>
            <a:r>
              <a:rPr sz="1300" b="1" i="0">
                <a:solidFill>
                  <a:srgbClr val="1E8449"/>
                </a:solidFill>
                <a:latin typeface="Arial"/>
              </a:rPr>
              <a:t>Cách sửa</a:t>
            </a:r>
          </a:p>
        </p:txBody>
      </p:sp>
      <p:sp>
        <p:nvSpPr>
          <p:cNvPr id="17" name="TextBox 16"/>
          <p:cNvSpPr txBox="1"/>
          <p:nvPr/>
        </p:nvSpPr>
        <p:spPr>
          <a:xfrm>
            <a:off x="8293608"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Giữ nguyên, ghi vào nhật ký sự kiện, và thêm biến giả tính theo lịch âm.</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PELT: mỗi điểm gãy phải trả một penalty</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11</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changepoint · cost function · PELT · penalty β</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D9642B"/>
                </a:solidFill>
                <a:latin typeface="Arial"/>
              </a:rPr>
              <a:t>Vấn đề:  </a:t>
            </a:r>
            <a:r>
              <a:rPr sz="1600" b="0" i="0">
                <a:solidFill>
                  <a:srgbClr val="1B2A41"/>
                </a:solidFill>
                <a:latin typeface="Arial"/>
              </a:rPr>
              <a:t>Mức đổi đột ngột mà từng điểm riêng lẻ trông vẫn bình thường. Tìm mốc đổi thế nào?</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Tìm mốc mà chuỗi trước và sau khác nhau, không cắt vụn chuỗi ra từng điểm.</a:t>
            </a:r>
          </a:p>
        </p:txBody>
      </p:sp>
      <p:sp>
        <p:nvSpPr>
          <p:cNvPr id="8" name="Rounded Rectangle 7"/>
          <p:cNvSpPr/>
          <p:nvPr/>
        </p:nvSpPr>
        <p:spPr>
          <a:xfrm>
            <a:off x="548640" y="2432303"/>
            <a:ext cx="11091672" cy="83820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432303"/>
            <a:ext cx="1097280" cy="838200"/>
          </a:xfrm>
          <a:prstGeom prst="rect">
            <a:avLst/>
          </a:prstGeom>
          <a:noFill/>
        </p:spPr>
        <p:txBody>
          <a:bodyPr wrap="square" lIns="0" rIns="0" tIns="0" bIns="0" anchor="ctr">
            <a:spAutoFit/>
          </a:bodyPr>
          <a:lstStyle/>
          <a:p>
            <a:pPr algn="l"/>
            <a:r>
              <a:rPr sz="1200" b="1" i="0">
                <a:solidFill>
                  <a:srgbClr val="D9642B"/>
                </a:solidFill>
                <a:latin typeface="Arial"/>
              </a:rPr>
              <a:t>Công thức</a:t>
            </a:r>
          </a:p>
        </p:txBody>
      </p:sp>
      <p:pic>
        <p:nvPicPr>
          <p:cNvPr id="10" name="Picture 9" descr="b09068cc5c5a.png"/>
          <p:cNvPicPr>
            <a:picLocks noChangeAspect="1"/>
          </p:cNvPicPr>
          <p:nvPr/>
        </p:nvPicPr>
        <p:blipFill>
          <a:blip r:embed="rId2"/>
          <a:stretch>
            <a:fillRect/>
          </a:stretch>
        </p:blipFill>
        <p:spPr>
          <a:xfrm>
            <a:off x="1783080" y="2496311"/>
            <a:ext cx="3745992" cy="710184"/>
          </a:xfrm>
          <a:prstGeom prst="rect">
            <a:avLst/>
          </a:prstGeom>
        </p:spPr>
      </p:pic>
      <p:sp>
        <p:nvSpPr>
          <p:cNvPr id="11" name="TextBox 10"/>
          <p:cNvSpPr txBox="1"/>
          <p:nvPr/>
        </p:nvSpPr>
        <p:spPr>
          <a:xfrm>
            <a:off x="5711952" y="2432303"/>
            <a:ext cx="5791200" cy="838200"/>
          </a:xfrm>
          <a:prstGeom prst="rect">
            <a:avLst/>
          </a:prstGeom>
          <a:noFill/>
        </p:spPr>
        <p:txBody>
          <a:bodyPr wrap="square" lIns="0" rIns="0" tIns="0" bIns="0" anchor="ctr">
            <a:spAutoFit/>
          </a:bodyPr>
          <a:lstStyle/>
          <a:p>
            <a:pPr algn="l"/>
            <a:r>
              <a:rPr sz="1150" b="0" i="0">
                <a:solidFill>
                  <a:srgbClr val="1B2A41"/>
                </a:solidFill>
                <a:latin typeface="Arial"/>
              </a:rPr>
              <a:t>Tổng chi phí các đoạn, cộng β cho mỗi điểm gãy. β lớn thì ít điểm gãy.</a:t>
            </a:r>
          </a:p>
        </p:txBody>
      </p:sp>
      <p:pic>
        <p:nvPicPr>
          <p:cNvPr id="12" name="Picture 11" descr="kn-penalty-phat.png"/>
          <p:cNvPicPr>
            <a:picLocks noChangeAspect="1"/>
          </p:cNvPicPr>
          <p:nvPr/>
        </p:nvPicPr>
        <p:blipFill>
          <a:blip r:embed="rId3"/>
          <a:stretch>
            <a:fillRect/>
          </a:stretch>
        </p:blipFill>
        <p:spPr>
          <a:xfrm>
            <a:off x="4028463" y="3361943"/>
            <a:ext cx="4132025" cy="1575816"/>
          </a:xfrm>
          <a:prstGeom prst="rect">
            <a:avLst/>
          </a:prstGeom>
        </p:spPr>
      </p:pic>
      <p:sp>
        <p:nvSpPr>
          <p:cNvPr id="13" name="Rounded Rectangle 12"/>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D9642B"/>
                </a:solidFill>
                <a:latin typeface="Arial"/>
              </a:rPr>
              <a:t>Là gì</a:t>
            </a:r>
          </a:p>
        </p:txBody>
      </p:sp>
      <p:sp>
        <p:nvSpPr>
          <p:cNvPr id="15" name="TextBox 14"/>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Chi phí một đoạn là tổng bình phương khoảng cách tới trung bình đoạn. PELT chọn điểm gãy sao cho tổng chi phí cộng penalty nhỏ nhất.</a:t>
            </a:r>
          </a:p>
        </p:txBody>
      </p:sp>
      <p:sp>
        <p:nvSpPr>
          <p:cNvPr id="16" name="Rounded Rectangle 15"/>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D9642B"/>
                </a:solidFill>
                <a:latin typeface="Arial"/>
              </a:rPr>
              <a:t>Penalty lớn hay nhỏ nghĩa là gì</a:t>
            </a:r>
          </a:p>
        </p:txBody>
      </p:sp>
      <p:sp>
        <p:nvSpPr>
          <p:cNvPr id="18" name="TextBox 17"/>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600" b="0" i="0">
                <a:solidFill>
                  <a:srgbClr val="1B2A41"/>
                </a:solidFill>
                <a:latin typeface="Arial"/>
              </a:rPr>
              <a:t/>
            </a:r>
          </a:p>
        </p:txBody>
      </p:sp>
      <p:cxnSp>
        <p:nvCxnSpPr>
          <p:cNvPr id="19" name="Connector 18"/>
          <p:cNvCxnSpPr/>
          <p:nvPr/>
        </p:nvCxnSpPr>
        <p:spPr>
          <a:xfrm>
            <a:off x="4963667" y="5532120"/>
            <a:ext cx="2261617"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4881372" y="5449824"/>
            <a:ext cx="164592" cy="16459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34840" y="5669280"/>
            <a:ext cx="1057655" cy="274320"/>
          </a:xfrm>
          <a:prstGeom prst="rect">
            <a:avLst/>
          </a:prstGeom>
          <a:noFill/>
        </p:spPr>
        <p:txBody>
          <a:bodyPr wrap="square" lIns="0" rIns="0" tIns="0" bIns="0" anchor="t">
            <a:spAutoFit/>
          </a:bodyPr>
          <a:lstStyle/>
          <a:p>
            <a:pPr algn="ctr"/>
            <a:r>
              <a:rPr sz="1400" b="1" i="0">
                <a:solidFill>
                  <a:srgbClr val="D9642B"/>
                </a:solidFill>
                <a:latin typeface="Arial"/>
              </a:rPr>
              <a:t>nhỏ</a:t>
            </a:r>
          </a:p>
        </p:txBody>
      </p:sp>
      <p:sp>
        <p:nvSpPr>
          <p:cNvPr id="22" name="TextBox 21"/>
          <p:cNvSpPr txBox="1"/>
          <p:nvPr/>
        </p:nvSpPr>
        <p:spPr>
          <a:xfrm>
            <a:off x="4434840"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cắt nhiều, dễ ra điểm gãy giả</a:t>
            </a:r>
          </a:p>
        </p:txBody>
      </p:sp>
      <p:sp>
        <p:nvSpPr>
          <p:cNvPr id="23" name="Oval 22"/>
          <p:cNvSpPr/>
          <p:nvPr/>
        </p:nvSpPr>
        <p:spPr>
          <a:xfrm>
            <a:off x="6012179" y="5449824"/>
            <a:ext cx="164592" cy="16459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565647" y="5669280"/>
            <a:ext cx="1057655" cy="274320"/>
          </a:xfrm>
          <a:prstGeom prst="rect">
            <a:avLst/>
          </a:prstGeom>
          <a:noFill/>
        </p:spPr>
        <p:txBody>
          <a:bodyPr wrap="square" lIns="0" rIns="0" tIns="0" bIns="0" anchor="t">
            <a:spAutoFit/>
          </a:bodyPr>
          <a:lstStyle/>
          <a:p>
            <a:pPr algn="ctr"/>
            <a:r>
              <a:rPr sz="1400" b="1" i="0">
                <a:solidFill>
                  <a:srgbClr val="D9642B"/>
                </a:solidFill>
                <a:latin typeface="Arial"/>
              </a:rPr>
              <a:t>vừa</a:t>
            </a:r>
          </a:p>
        </p:txBody>
      </p:sp>
      <p:sp>
        <p:nvSpPr>
          <p:cNvPr id="25" name="TextBox 24"/>
          <p:cNvSpPr txBox="1"/>
          <p:nvPr/>
        </p:nvSpPr>
        <p:spPr>
          <a:xfrm>
            <a:off x="5565647"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quét nhiều mức, giữ kết quả ổn định</a:t>
            </a:r>
          </a:p>
        </p:txBody>
      </p:sp>
      <p:sp>
        <p:nvSpPr>
          <p:cNvPr id="26" name="Oval 25"/>
          <p:cNvSpPr/>
          <p:nvPr/>
        </p:nvSpPr>
        <p:spPr>
          <a:xfrm>
            <a:off x="7142987" y="5449824"/>
            <a:ext cx="164592" cy="16459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96456" y="5669280"/>
            <a:ext cx="1057655" cy="274320"/>
          </a:xfrm>
          <a:prstGeom prst="rect">
            <a:avLst/>
          </a:prstGeom>
          <a:noFill/>
        </p:spPr>
        <p:txBody>
          <a:bodyPr wrap="square" lIns="0" rIns="0" tIns="0" bIns="0" anchor="t">
            <a:spAutoFit/>
          </a:bodyPr>
          <a:lstStyle/>
          <a:p>
            <a:pPr algn="ctr"/>
            <a:r>
              <a:rPr sz="1400" b="1" i="0">
                <a:solidFill>
                  <a:srgbClr val="D9642B"/>
                </a:solidFill>
                <a:latin typeface="Arial"/>
              </a:rPr>
              <a:t>lớn</a:t>
            </a:r>
          </a:p>
        </p:txBody>
      </p:sp>
      <p:sp>
        <p:nvSpPr>
          <p:cNvPr id="28" name="TextBox 27"/>
          <p:cNvSpPr txBox="1"/>
          <p:nvPr/>
        </p:nvSpPr>
        <p:spPr>
          <a:xfrm>
            <a:off x="6696456"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ít hoặc không còn điểm gãy</a:t>
            </a:r>
          </a:p>
        </p:txBody>
      </p:sp>
      <p:sp>
        <p:nvSpPr>
          <p:cNvPr id="29" name="Rounded Rectangle 28"/>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D9642B"/>
                </a:solidFill>
                <a:latin typeface="Arial"/>
              </a:rPr>
              <a:t>Ví dụ</a:t>
            </a:r>
          </a:p>
        </p:txBody>
      </p:sp>
      <p:sp>
        <p:nvSpPr>
          <p:cNvPr id="31" name="TextBox 30"/>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10, 11, 10, 9, 10, 20, 21, 19, 20, 20, penalty ≈ 6,9: không cắt tốn 254; cắt một lần 4 + 6,9 = 10,9; cắt hai lần 3,17 + 13,8 = 17,0.</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Lấy log trước: 43 điểm gãy còn 2</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11</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changepoint detection · PELT · penalty</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Nếu bỏ qua:  </a:t>
            </a:r>
            <a:r>
              <a:rPr sz="1600" b="0" i="0">
                <a:solidFill>
                  <a:srgbClr val="1B2A41"/>
                </a:solidFill>
                <a:latin typeface="Arial"/>
              </a:rPr>
              <a:t>hàng chục điểm gãy giả, chuỗi bị cắt vụn vô nghĩa.</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1" i="0">
                <a:solidFill>
                  <a:srgbClr val="D9642B"/>
                </a:solidFill>
                <a:latin typeface="Arial"/>
              </a:rPr>
              <a:t>Điểm gãy</a:t>
            </a:r>
            <a:r>
              <a:rPr sz="1700" b="0" i="0">
                <a:solidFill>
                  <a:srgbClr val="1B2A41"/>
                </a:solidFill>
                <a:latin typeface="Arial"/>
              </a:rPr>
              <a:t> là mốc mà trước và sau khác hẳn nhau. PELT tìm chúng, mỗi điểm phải trả một penalty.</a:t>
            </a:r>
          </a:p>
        </p:txBody>
      </p:sp>
      <p:pic>
        <p:nvPicPr>
          <p:cNvPr id="8" name="Picture 7" descr="diem-gay-pelt.png"/>
          <p:cNvPicPr>
            <a:picLocks noChangeAspect="1"/>
          </p:cNvPicPr>
          <p:nvPr/>
        </p:nvPicPr>
        <p:blipFill>
          <a:blip r:embed="rId2"/>
          <a:stretch>
            <a:fillRect/>
          </a:stretch>
        </p:blipFill>
        <p:spPr>
          <a:xfrm>
            <a:off x="2328446" y="2450591"/>
            <a:ext cx="7532058" cy="2395728"/>
          </a:xfrm>
          <a:prstGeom prst="rect">
            <a:avLst/>
          </a:prstGeom>
        </p:spPr>
      </p:pic>
      <p:sp>
        <p:nvSpPr>
          <p:cNvPr id="9" name="Rounded Rectangle 8"/>
          <p:cNvSpPr/>
          <p:nvPr/>
        </p:nvSpPr>
        <p:spPr>
          <a:xfrm>
            <a:off x="548640" y="4983480"/>
            <a:ext cx="3575304" cy="1463040"/>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120640"/>
            <a:ext cx="3118104" cy="274320"/>
          </a:xfrm>
          <a:prstGeom prst="rect">
            <a:avLst/>
          </a:prstGeom>
          <a:noFill/>
        </p:spPr>
        <p:txBody>
          <a:bodyPr wrap="square" lIns="0" rIns="0" tIns="0" bIns="0" anchor="t">
            <a:spAutoFit/>
          </a:bodyPr>
          <a:lstStyle/>
          <a:p>
            <a:pPr algn="l"/>
            <a:r>
              <a:rPr sz="1300" b="1" i="0">
                <a:solidFill>
                  <a:srgbClr val="C0392B"/>
                </a:solidFill>
                <a:latin typeface="Arial"/>
              </a:rPr>
              <a:t>Dấu hiệu</a:t>
            </a:r>
          </a:p>
        </p:txBody>
      </p:sp>
      <p:sp>
        <p:nvSpPr>
          <p:cNvPr id="11" name="TextBox 10"/>
          <p:cNvSpPr txBox="1"/>
          <p:nvPr/>
        </p:nvSpPr>
        <p:spPr>
          <a:xfrm>
            <a:off x="777240"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Chạy trên một chuỗi tăng trưởng ra tới 43 điểm gãy.</a:t>
            </a:r>
          </a:p>
        </p:txBody>
      </p:sp>
      <p:sp>
        <p:nvSpPr>
          <p:cNvPr id="12" name="Rounded Rectangle 11"/>
          <p:cNvSpPr/>
          <p:nvPr/>
        </p:nvSpPr>
        <p:spPr>
          <a:xfrm>
            <a:off x="4306824" y="4983480"/>
            <a:ext cx="3575304" cy="1463040"/>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5120640"/>
            <a:ext cx="3118104" cy="274320"/>
          </a:xfrm>
          <a:prstGeom prst="rect">
            <a:avLst/>
          </a:prstGeom>
          <a:noFill/>
        </p:spPr>
        <p:txBody>
          <a:bodyPr wrap="square" lIns="0" rIns="0" tIns="0" bIns="0" anchor="t">
            <a:spAutoFit/>
          </a:bodyPr>
          <a:lstStyle/>
          <a:p>
            <a:pPr algn="l"/>
            <a:r>
              <a:rPr sz="1300" b="1" i="0">
                <a:solidFill>
                  <a:srgbClr val="2E6FBF"/>
                </a:solidFill>
                <a:latin typeface="Arial"/>
              </a:rPr>
              <a:t>Kiểm bằng</a:t>
            </a:r>
          </a:p>
        </p:txBody>
      </p:sp>
      <p:sp>
        <p:nvSpPr>
          <p:cNvPr id="14" name="TextBox 13"/>
          <p:cNvSpPr txBox="1"/>
          <p:nvPr/>
        </p:nvSpPr>
        <p:spPr>
          <a:xfrm>
            <a:off x="4535424"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So số điểm gãy khi chạy trên log và trên mức gốc; quét nhiều mức penalty.</a:t>
            </a:r>
          </a:p>
        </p:txBody>
      </p:sp>
      <p:sp>
        <p:nvSpPr>
          <p:cNvPr id="15" name="Rounded Rectangle 14"/>
          <p:cNvSpPr/>
          <p:nvPr/>
        </p:nvSpPr>
        <p:spPr>
          <a:xfrm>
            <a:off x="8065008" y="4983480"/>
            <a:ext cx="3575304" cy="1463040"/>
          </a:xfrm>
          <a:prstGeom prst="roundRect">
            <a:avLst>
              <a:gd name="adj" fmla="val 1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5120640"/>
            <a:ext cx="3118104" cy="274320"/>
          </a:xfrm>
          <a:prstGeom prst="rect">
            <a:avLst/>
          </a:prstGeom>
          <a:noFill/>
        </p:spPr>
        <p:txBody>
          <a:bodyPr wrap="square" lIns="0" rIns="0" tIns="0" bIns="0" anchor="t">
            <a:spAutoFit/>
          </a:bodyPr>
          <a:lstStyle/>
          <a:p>
            <a:pPr algn="l"/>
            <a:r>
              <a:rPr sz="1300" b="1" i="0">
                <a:solidFill>
                  <a:srgbClr val="1E8449"/>
                </a:solidFill>
                <a:latin typeface="Arial"/>
              </a:rPr>
              <a:t>Cách sửa</a:t>
            </a:r>
          </a:p>
        </p:txBody>
      </p:sp>
      <p:sp>
        <p:nvSpPr>
          <p:cNvPr id="17" name="TextBox 16"/>
          <p:cNvSpPr txBox="1"/>
          <p:nvPr/>
        </p:nvSpPr>
        <p:spPr>
          <a:xfrm>
            <a:off x="8293608"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Lấy log trước: còn 2 điểm, đúng quanh COVID. Chọn penalty trong khoảng mà kết quả ổn định.</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COVID: cách xử lý đổi sai số gần 3 lần</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11</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structural break · changepoint · PELT</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Nếu bỏ qua:  </a:t>
            </a:r>
            <a:r>
              <a:rPr sz="1600" b="0" i="0">
                <a:solidFill>
                  <a:srgbClr val="1B2A41"/>
                </a:solidFill>
                <a:latin typeface="Arial"/>
              </a:rPr>
              <a:t>sai số chênh gần 3 lần tuỳ cách xử lý mà không ai biết.</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D9642B"/>
                </a:solidFill>
                <a:latin typeface="Arial"/>
              </a:rPr>
              <a:t>“Cách xử lý COVID là một giả định về tương lai, nên phải kiểm bằng dự báo.”</a:t>
            </a:r>
          </a:p>
        </p:txBody>
      </p:sp>
      <p:pic>
        <p:nvPicPr>
          <p:cNvPr id="8" name="Picture 7" descr="ba-cach-covid.png"/>
          <p:cNvPicPr>
            <a:picLocks noChangeAspect="1"/>
          </p:cNvPicPr>
          <p:nvPr/>
        </p:nvPicPr>
        <p:blipFill>
          <a:blip r:embed="rId2"/>
          <a:stretch>
            <a:fillRect/>
          </a:stretch>
        </p:blipFill>
        <p:spPr>
          <a:xfrm>
            <a:off x="2229713" y="2450591"/>
            <a:ext cx="7729524" cy="2395728"/>
          </a:xfrm>
          <a:prstGeom prst="rect">
            <a:avLst/>
          </a:prstGeom>
        </p:spPr>
      </p:pic>
      <p:sp>
        <p:nvSpPr>
          <p:cNvPr id="9" name="Rounded Rectangle 8"/>
          <p:cNvSpPr/>
          <p:nvPr/>
        </p:nvSpPr>
        <p:spPr>
          <a:xfrm>
            <a:off x="548640" y="4983480"/>
            <a:ext cx="3575304" cy="1463040"/>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120640"/>
            <a:ext cx="3118104" cy="274320"/>
          </a:xfrm>
          <a:prstGeom prst="rect">
            <a:avLst/>
          </a:prstGeom>
          <a:noFill/>
        </p:spPr>
        <p:txBody>
          <a:bodyPr wrap="square" lIns="0" rIns="0" tIns="0" bIns="0" anchor="t">
            <a:spAutoFit/>
          </a:bodyPr>
          <a:lstStyle/>
          <a:p>
            <a:pPr algn="l"/>
            <a:r>
              <a:rPr sz="1300" b="1" i="0">
                <a:solidFill>
                  <a:srgbClr val="C0392B"/>
                </a:solidFill>
                <a:latin typeface="Arial"/>
              </a:rPr>
              <a:t>Dấu hiệu</a:t>
            </a:r>
          </a:p>
        </p:txBody>
      </p:sp>
      <p:sp>
        <p:nvSpPr>
          <p:cNvPr id="11" name="TextBox 10"/>
          <p:cNvSpPr txBox="1"/>
          <p:nvPr/>
        </p:nvSpPr>
        <p:spPr>
          <a:xfrm>
            <a:off x="777240"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MAPE năm 2023 chênh gần 3 lần: giữ nguyên 24,01%, nội suy 8,71%, cắt bỏ 18,11%.</a:t>
            </a:r>
          </a:p>
        </p:txBody>
      </p:sp>
      <p:sp>
        <p:nvSpPr>
          <p:cNvPr id="12" name="Rounded Rectangle 11"/>
          <p:cNvSpPr/>
          <p:nvPr/>
        </p:nvSpPr>
        <p:spPr>
          <a:xfrm>
            <a:off x="4306824" y="4983480"/>
            <a:ext cx="3575304" cy="1463040"/>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5120640"/>
            <a:ext cx="3118104" cy="274320"/>
          </a:xfrm>
          <a:prstGeom prst="rect">
            <a:avLst/>
          </a:prstGeom>
          <a:noFill/>
        </p:spPr>
        <p:txBody>
          <a:bodyPr wrap="square" lIns="0" rIns="0" tIns="0" bIns="0" anchor="t">
            <a:spAutoFit/>
          </a:bodyPr>
          <a:lstStyle/>
          <a:p>
            <a:pPr algn="l"/>
            <a:r>
              <a:rPr sz="1300" b="1" i="0">
                <a:solidFill>
                  <a:srgbClr val="2E6FBF"/>
                </a:solidFill>
                <a:latin typeface="Arial"/>
              </a:rPr>
              <a:t>Kiểm bằng</a:t>
            </a:r>
          </a:p>
        </p:txBody>
      </p:sp>
      <p:sp>
        <p:nvSpPr>
          <p:cNvPr id="14" name="TextBox 13"/>
          <p:cNvSpPr txBox="1"/>
          <p:nvPr/>
        </p:nvSpPr>
        <p:spPr>
          <a:xfrm>
            <a:off x="4535424"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Thử từng cách, rồi chấm dự báo trên năm sau đó.</a:t>
            </a:r>
          </a:p>
        </p:txBody>
      </p:sp>
      <p:sp>
        <p:nvSpPr>
          <p:cNvPr id="15" name="Rounded Rectangle 14"/>
          <p:cNvSpPr/>
          <p:nvPr/>
        </p:nvSpPr>
        <p:spPr>
          <a:xfrm>
            <a:off x="8065008" y="4983480"/>
            <a:ext cx="3575304" cy="1463040"/>
          </a:xfrm>
          <a:prstGeom prst="roundRect">
            <a:avLst>
              <a:gd name="adj" fmla="val 1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5120640"/>
            <a:ext cx="3118104" cy="274320"/>
          </a:xfrm>
          <a:prstGeom prst="rect">
            <a:avLst/>
          </a:prstGeom>
          <a:noFill/>
        </p:spPr>
        <p:txBody>
          <a:bodyPr wrap="square" lIns="0" rIns="0" tIns="0" bIns="0" anchor="t">
            <a:spAutoFit/>
          </a:bodyPr>
          <a:lstStyle/>
          <a:p>
            <a:pPr algn="l"/>
            <a:r>
              <a:rPr sz="1300" b="1" i="0">
                <a:solidFill>
                  <a:srgbClr val="1E8449"/>
                </a:solidFill>
                <a:latin typeface="Arial"/>
              </a:rPr>
              <a:t>Cách sửa</a:t>
            </a:r>
          </a:p>
        </p:txBody>
      </p:sp>
      <p:sp>
        <p:nvSpPr>
          <p:cNvPr id="17" name="TextBox 16"/>
          <p:cNvSpPr txBox="1"/>
          <p:nvPr/>
        </p:nvSpPr>
        <p:spPr>
          <a:xfrm>
            <a:off x="8293608"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Nội suy nếu hành vi quay về như cũ; dịch mức kéo dài thì thêm biến giả. Ghi rõ giả định vào báo cáo.</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Khử nhiễu: trailing nhân quả nhưng trễ</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12</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signal + noise · trailing / centered moving average · causal filter</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D9642B"/>
                </a:solidFill>
                <a:latin typeface="Arial"/>
              </a:rPr>
              <a:t>Vấn đề:  </a:t>
            </a:r>
            <a:r>
              <a:rPr sz="1600" b="0" i="0">
                <a:solidFill>
                  <a:srgbClr val="1B2A41"/>
                </a:solidFill>
                <a:latin typeface="Arial"/>
              </a:rPr>
              <a:t>Đường làm trơn đẹp nhất thường mượn số của giờ sau. Dùng nó để dự báo được không?</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Ước lượng phần tín hiệu mà không dùng số của tương lai, khi đầu ra làm feature dự báo.</a:t>
            </a:r>
          </a:p>
        </p:txBody>
      </p:sp>
      <p:sp>
        <p:nvSpPr>
          <p:cNvPr id="8" name="Rounded Rectangle 7"/>
          <p:cNvSpPr/>
          <p:nvPr/>
        </p:nvSpPr>
        <p:spPr>
          <a:xfrm>
            <a:off x="548640" y="2432303"/>
            <a:ext cx="6309360" cy="890016"/>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948130cf4226.png"/>
          <p:cNvPicPr>
            <a:picLocks noChangeAspect="1"/>
          </p:cNvPicPr>
          <p:nvPr/>
        </p:nvPicPr>
        <p:blipFill>
          <a:blip r:embed="rId2"/>
          <a:stretch>
            <a:fillRect/>
          </a:stretch>
        </p:blipFill>
        <p:spPr>
          <a:xfrm>
            <a:off x="640080" y="2574500"/>
            <a:ext cx="6126479" cy="605622"/>
          </a:xfrm>
          <a:prstGeom prst="rect">
            <a:avLst/>
          </a:prstGeom>
        </p:spPr>
      </p:pic>
      <p:pic>
        <p:nvPicPr>
          <p:cNvPr id="10" name="Picture 9" descr="kn-bo-loc-nhan-qua.png"/>
          <p:cNvPicPr>
            <a:picLocks noChangeAspect="1"/>
          </p:cNvPicPr>
          <p:nvPr/>
        </p:nvPicPr>
        <p:blipFill>
          <a:blip r:embed="rId3"/>
          <a:stretch>
            <a:fillRect/>
          </a:stretch>
        </p:blipFill>
        <p:spPr>
          <a:xfrm>
            <a:off x="714879" y="3413759"/>
            <a:ext cx="5976881" cy="3078480"/>
          </a:xfrm>
          <a:prstGeom prst="rect">
            <a:avLst/>
          </a:prstGeom>
        </p:spPr>
      </p:pic>
      <p:sp>
        <p:nvSpPr>
          <p:cNvPr id="11" name="TextBox 10"/>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D9642B"/>
                </a:solidFill>
                <a:latin typeface="Arial"/>
              </a:rPr>
              <a:t>Là gì</a:t>
            </a:r>
          </a:p>
        </p:txBody>
      </p:sp>
      <p:sp>
        <p:nvSpPr>
          <p:cNvPr id="12" name="TextBox 11"/>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Chuỗi = tín hiệu + nhiễu; bộ lọc ước lượng phần tín hiệu. Trailing lấy k điểm gần nhất; centered lấy cả điểm trước lẫn sau.</a:t>
            </a:r>
          </a:p>
        </p:txBody>
      </p:sp>
      <p:sp>
        <p:nvSpPr>
          <p:cNvPr id="13" name="TextBox 12"/>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D9642B"/>
                </a:solidFill>
                <a:latin typeface="Arial"/>
              </a:rPr>
              <a:t>Dùng kiểu nào</a:t>
            </a:r>
          </a:p>
        </p:txBody>
      </p:sp>
      <p:cxnSp>
        <p:nvCxnSpPr>
          <p:cNvPr id="14" name="Connector 13"/>
          <p:cNvCxnSpPr/>
          <p:nvPr/>
        </p:nvCxnSpPr>
        <p:spPr>
          <a:xfrm>
            <a:off x="8327898" y="4242816"/>
            <a:ext cx="2208276"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5" name="Oval 14"/>
          <p:cNvSpPr/>
          <p:nvPr/>
        </p:nvSpPr>
        <p:spPr>
          <a:xfrm>
            <a:off x="8245602" y="4160520"/>
            <a:ext cx="164592" cy="16459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60336" y="4379976"/>
            <a:ext cx="2135124" cy="274320"/>
          </a:xfrm>
          <a:prstGeom prst="rect">
            <a:avLst/>
          </a:prstGeom>
          <a:noFill/>
        </p:spPr>
        <p:txBody>
          <a:bodyPr wrap="square" lIns="0" rIns="0" tIns="0" bIns="0" anchor="t">
            <a:spAutoFit/>
          </a:bodyPr>
          <a:lstStyle/>
          <a:p>
            <a:pPr algn="ctr"/>
            <a:r>
              <a:rPr sz="1400" b="1" i="0">
                <a:solidFill>
                  <a:srgbClr val="D9642B"/>
                </a:solidFill>
                <a:latin typeface="Arial"/>
              </a:rPr>
              <a:t>trailing</a:t>
            </a:r>
          </a:p>
        </p:txBody>
      </p:sp>
      <p:sp>
        <p:nvSpPr>
          <p:cNvPr id="17" name="TextBox 16"/>
          <p:cNvSpPr txBox="1"/>
          <p:nvPr/>
        </p:nvSpPr>
        <p:spPr>
          <a:xfrm>
            <a:off x="7260336" y="4654296"/>
            <a:ext cx="2135124" cy="548640"/>
          </a:xfrm>
          <a:prstGeom prst="rect">
            <a:avLst/>
          </a:prstGeom>
          <a:noFill/>
        </p:spPr>
        <p:txBody>
          <a:bodyPr wrap="square" lIns="0" rIns="0" tIns="0" bIns="0" anchor="t">
            <a:spAutoFit/>
          </a:bodyPr>
          <a:lstStyle/>
          <a:p>
            <a:pPr algn="ctr"/>
            <a:r>
              <a:rPr sz="1100" b="0" i="0">
                <a:solidFill>
                  <a:srgbClr val="1B2A41"/>
                </a:solidFill>
                <a:latin typeface="Arial"/>
              </a:rPr>
              <a:t>làm feature dự báo; đổi lại bị trễ</a:t>
            </a:r>
          </a:p>
        </p:txBody>
      </p:sp>
      <p:sp>
        <p:nvSpPr>
          <p:cNvPr id="18" name="Oval 17"/>
          <p:cNvSpPr/>
          <p:nvPr/>
        </p:nvSpPr>
        <p:spPr>
          <a:xfrm>
            <a:off x="10453878" y="4160520"/>
            <a:ext cx="164592" cy="16459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468612" y="4379976"/>
            <a:ext cx="2135124" cy="274320"/>
          </a:xfrm>
          <a:prstGeom prst="rect">
            <a:avLst/>
          </a:prstGeom>
          <a:noFill/>
        </p:spPr>
        <p:txBody>
          <a:bodyPr wrap="square" lIns="0" rIns="0" tIns="0" bIns="0" anchor="t">
            <a:spAutoFit/>
          </a:bodyPr>
          <a:lstStyle/>
          <a:p>
            <a:pPr algn="ctr"/>
            <a:r>
              <a:rPr sz="1400" b="1" i="0">
                <a:solidFill>
                  <a:srgbClr val="D9642B"/>
                </a:solidFill>
                <a:latin typeface="Arial"/>
              </a:rPr>
              <a:t>centered</a:t>
            </a:r>
          </a:p>
        </p:txBody>
      </p:sp>
      <p:sp>
        <p:nvSpPr>
          <p:cNvPr id="20" name="TextBox 19"/>
          <p:cNvSpPr txBox="1"/>
          <p:nvPr/>
        </p:nvSpPr>
        <p:spPr>
          <a:xfrm>
            <a:off x="9468612" y="4654296"/>
            <a:ext cx="2135124" cy="548640"/>
          </a:xfrm>
          <a:prstGeom prst="rect">
            <a:avLst/>
          </a:prstGeom>
          <a:noFill/>
        </p:spPr>
        <p:txBody>
          <a:bodyPr wrap="square" lIns="0" rIns="0" tIns="0" bIns="0" anchor="t">
            <a:spAutoFit/>
          </a:bodyPr>
          <a:lstStyle/>
          <a:p>
            <a:pPr algn="ctr"/>
            <a:r>
              <a:rPr sz="1100" b="0" i="0">
                <a:solidFill>
                  <a:srgbClr val="1B2A41"/>
                </a:solidFill>
                <a:latin typeface="Arial"/>
              </a:rPr>
              <a:t>chỉ để mô tả, vẽ, tách xu hướng</a:t>
            </a:r>
          </a:p>
        </p:txBody>
      </p:sp>
      <p:sp>
        <p:nvSpPr>
          <p:cNvPr id="21" name="TextBox 20"/>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D9642B"/>
                </a:solidFill>
                <a:latin typeface="Arial"/>
              </a:rPr>
              <a:t>Ví dụ</a:t>
            </a:r>
          </a:p>
        </p:txBody>
      </p:sp>
      <p:sp>
        <p:nvSpPr>
          <p:cNvPr id="22" name="TextBox 21"/>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10, 12, 14, 30, 16, tại giờ 3: trailing (10 + 12 + 14) / 3 = 12; centered (12 + 14 + 30) / 3 = 18,67, đã chứa số 30 của giờ sau.</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Nyquist: lấy mẫu thưa thì sinh nhịp giả</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12</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Nyquist frequency · sampling frequency f_s · aliasing</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D9642B"/>
                </a:solidFill>
                <a:latin typeface="Arial"/>
              </a:rPr>
              <a:t>Vấn đề:  </a:t>
            </a:r>
            <a:r>
              <a:rPr sz="1600" b="0" i="0">
                <a:solidFill>
                  <a:srgbClr val="1B2A41"/>
                </a:solidFill>
                <a:latin typeface="Arial"/>
              </a:rPr>
              <a:t>Hạ dữ liệu 10 phút xuống 1 giờ thì hiện ra một chu kỳ 2,5 giờ. Nó từ đâu ra?</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Hạ mẫu mà không tạo ra một chu kỳ không có thật trong dữ liệu.</a:t>
            </a:r>
          </a:p>
        </p:txBody>
      </p:sp>
      <p:sp>
        <p:nvSpPr>
          <p:cNvPr id="8" name="Rounded Rectangle 7"/>
          <p:cNvSpPr/>
          <p:nvPr/>
        </p:nvSpPr>
        <p:spPr>
          <a:xfrm>
            <a:off x="548640" y="2432303"/>
            <a:ext cx="6309360"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c90b78e034ca.png"/>
          <p:cNvPicPr>
            <a:picLocks noChangeAspect="1"/>
          </p:cNvPicPr>
          <p:nvPr/>
        </p:nvPicPr>
        <p:blipFill>
          <a:blip r:embed="rId2"/>
          <a:stretch>
            <a:fillRect/>
          </a:stretch>
        </p:blipFill>
        <p:spPr>
          <a:xfrm>
            <a:off x="897636" y="2584703"/>
            <a:ext cx="5611368" cy="353568"/>
          </a:xfrm>
          <a:prstGeom prst="rect">
            <a:avLst/>
          </a:prstGeom>
        </p:spPr>
      </p:pic>
      <p:pic>
        <p:nvPicPr>
          <p:cNvPr id="10" name="Picture 9" descr="kn-aliasing.png"/>
          <p:cNvPicPr>
            <a:picLocks noChangeAspect="1"/>
          </p:cNvPicPr>
          <p:nvPr/>
        </p:nvPicPr>
        <p:blipFill>
          <a:blip r:embed="rId3"/>
          <a:stretch>
            <a:fillRect/>
          </a:stretch>
        </p:blipFill>
        <p:spPr>
          <a:xfrm>
            <a:off x="596041" y="3182112"/>
            <a:ext cx="6214557" cy="3310127"/>
          </a:xfrm>
          <a:prstGeom prst="rect">
            <a:avLst/>
          </a:prstGeom>
        </p:spPr>
      </p:pic>
      <p:sp>
        <p:nvSpPr>
          <p:cNvPr id="11" name="TextBox 10"/>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D9642B"/>
                </a:solidFill>
                <a:latin typeface="Arial"/>
              </a:rPr>
              <a:t>Là gì</a:t>
            </a:r>
          </a:p>
        </p:txBody>
      </p:sp>
      <p:sp>
        <p:nvSpPr>
          <p:cNvPr id="12" name="TextBox 11"/>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Tần số Nyquist bằng nửa tần số lấy mẫu f_s. Dao động nhanh hơn Nyquist bị gập thành dao động chậm giả: đó là aliasing.</a:t>
            </a:r>
          </a:p>
        </p:txBody>
      </p:sp>
      <p:sp>
        <p:nvSpPr>
          <p:cNvPr id="13" name="TextBox 12"/>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D9642B"/>
                </a:solidFill>
                <a:latin typeface="Arial"/>
              </a:rPr>
              <a:t>Tính nhịp giả thế nào</a:t>
            </a:r>
          </a:p>
        </p:txBody>
      </p:sp>
      <p:sp>
        <p:nvSpPr>
          <p:cNvPr id="14" name="TextBox 13"/>
          <p:cNvSpPr txBox="1"/>
          <p:nvPr/>
        </p:nvSpPr>
        <p:spPr>
          <a:xfrm>
            <a:off x="7223760" y="4105655"/>
            <a:ext cx="4416552" cy="1005839"/>
          </a:xfrm>
          <a:prstGeom prst="rect">
            <a:avLst/>
          </a:prstGeom>
          <a:noFill/>
        </p:spPr>
        <p:txBody>
          <a:bodyPr wrap="square" lIns="0" rIns="0" tIns="0" bIns="0" anchor="t">
            <a:spAutoFit/>
          </a:bodyPr>
          <a:lstStyle/>
          <a:p>
            <a:pPr algn="l"/>
            <a:r>
              <a:rPr sz="1500" b="0" i="0">
                <a:solidFill>
                  <a:srgbClr val="1B2A41"/>
                </a:solidFill>
                <a:latin typeface="Arial"/>
              </a:rPr>
              <a:t>Lấy tần số thật trừ bội số gần nhất của f_s. Muốn tránh: lọc thông thấp, tức bỏ dao động nhanh, trước khi hạ mẫu.</a:t>
            </a:r>
          </a:p>
        </p:txBody>
      </p:sp>
      <p:sp>
        <p:nvSpPr>
          <p:cNvPr id="15" name="TextBox 14"/>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D9642B"/>
                </a:solidFill>
                <a:latin typeface="Arial"/>
              </a:rPr>
              <a:t>Ví dụ</a:t>
            </a:r>
          </a:p>
        </p:txBody>
      </p:sp>
      <p:sp>
        <p:nvSpPr>
          <p:cNvPr id="16" name="TextBox 15"/>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Sóng lặp mỗi 4 bước, lấy mẫu mỗi 3 bước: |1/4 − 1/3| = 1/12, ra sóng giả lặp mỗi 12 bước. Dao động 43 phút thành chu kỳ giả 2,5 giờ.</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Đọc phổ trước khi lọc và hạ mẫu</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12</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periodogram · aliasing · Nyquist frequency · low-pass filter · downsampling</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Nếu bỏ qua:  </a:t>
            </a:r>
            <a:r>
              <a:rPr sz="1600" b="0" i="0">
                <a:solidFill>
                  <a:srgbClr val="1B2A41"/>
                </a:solidFill>
                <a:latin typeface="Arial"/>
              </a:rPr>
              <a:t>thấy một chu kỳ không có thật, rồi dựng feature theo nhịp giả.</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1" i="0">
                <a:solidFill>
                  <a:srgbClr val="D9642B"/>
                </a:solidFill>
                <a:latin typeface="Arial"/>
              </a:rPr>
              <a:t>Aliasing</a:t>
            </a:r>
            <a:r>
              <a:rPr sz="1700" b="0" i="0">
                <a:solidFill>
                  <a:srgbClr val="1B2A41"/>
                </a:solidFill>
                <a:latin typeface="Arial"/>
              </a:rPr>
              <a:t> là khi lấy mẫu quá thưa, một dao động nhanh hoá thành nhịp chậm không có thật.</a:t>
            </a:r>
          </a:p>
        </p:txBody>
      </p:sp>
      <p:sp>
        <p:nvSpPr>
          <p:cNvPr id="8" name="TextBox 7"/>
          <p:cNvSpPr txBox="1"/>
          <p:nvPr/>
        </p:nvSpPr>
        <p:spPr>
          <a:xfrm>
            <a:off x="548640" y="2450591"/>
            <a:ext cx="5440680" cy="274320"/>
          </a:xfrm>
          <a:prstGeom prst="rect">
            <a:avLst/>
          </a:prstGeom>
          <a:noFill/>
        </p:spPr>
        <p:txBody>
          <a:bodyPr wrap="square" lIns="0" rIns="0" tIns="0" bIns="0" anchor="t">
            <a:spAutoFit/>
          </a:bodyPr>
          <a:lstStyle/>
          <a:p>
            <a:pPr algn="l"/>
            <a:r>
              <a:rPr sz="1200" b="1" i="0">
                <a:solidFill>
                  <a:srgbClr val="5B6778"/>
                </a:solidFill>
                <a:latin typeface="Arial"/>
              </a:rPr>
              <a:t>Phổ: nhịp nào mạnh, nhiễu nằm ở đâu</a:t>
            </a:r>
          </a:p>
        </p:txBody>
      </p:sp>
      <p:pic>
        <p:nvPicPr>
          <p:cNvPr id="9" name="Picture 8" descr="pho-cam-bien.png"/>
          <p:cNvPicPr>
            <a:picLocks noChangeAspect="1"/>
          </p:cNvPicPr>
          <p:nvPr/>
        </p:nvPicPr>
        <p:blipFill>
          <a:blip r:embed="rId2"/>
          <a:stretch>
            <a:fillRect/>
          </a:stretch>
        </p:blipFill>
        <p:spPr>
          <a:xfrm>
            <a:off x="548640" y="2926062"/>
            <a:ext cx="5440680" cy="1764827"/>
          </a:xfrm>
          <a:prstGeom prst="rect">
            <a:avLst/>
          </a:prstGeom>
        </p:spPr>
      </p:pic>
      <p:sp>
        <p:nvSpPr>
          <p:cNvPr id="10" name="TextBox 9"/>
          <p:cNvSpPr txBox="1"/>
          <p:nvPr/>
        </p:nvSpPr>
        <p:spPr>
          <a:xfrm>
            <a:off x="6199631" y="2450591"/>
            <a:ext cx="5440680" cy="274320"/>
          </a:xfrm>
          <a:prstGeom prst="rect">
            <a:avLst/>
          </a:prstGeom>
          <a:noFill/>
        </p:spPr>
        <p:txBody>
          <a:bodyPr wrap="square" lIns="0" rIns="0" tIns="0" bIns="0" anchor="t">
            <a:spAutoFit/>
          </a:bodyPr>
          <a:lstStyle/>
          <a:p>
            <a:pPr algn="l"/>
            <a:r>
              <a:rPr sz="1200" b="1" i="0">
                <a:solidFill>
                  <a:srgbClr val="5B6778"/>
                </a:solidFill>
                <a:latin typeface="Arial"/>
              </a:rPr>
              <a:t>Hạ mẫu thô: chu kỳ giả 2,5 giờ</a:t>
            </a:r>
          </a:p>
        </p:txBody>
      </p:sp>
      <p:pic>
        <p:nvPicPr>
          <p:cNvPr id="11" name="Picture 10" descr="aliasing.png"/>
          <p:cNvPicPr>
            <a:picLocks noChangeAspect="1"/>
          </p:cNvPicPr>
          <p:nvPr/>
        </p:nvPicPr>
        <p:blipFill>
          <a:blip r:embed="rId3"/>
          <a:stretch>
            <a:fillRect/>
          </a:stretch>
        </p:blipFill>
        <p:spPr>
          <a:xfrm>
            <a:off x="6199631" y="2915177"/>
            <a:ext cx="5440680" cy="1786596"/>
          </a:xfrm>
          <a:prstGeom prst="rect">
            <a:avLst/>
          </a:prstGeom>
        </p:spPr>
      </p:pic>
      <p:sp>
        <p:nvSpPr>
          <p:cNvPr id="12" name="Rounded Rectangle 11"/>
          <p:cNvSpPr/>
          <p:nvPr/>
        </p:nvSpPr>
        <p:spPr>
          <a:xfrm>
            <a:off x="548640" y="4983480"/>
            <a:ext cx="3575304" cy="1463040"/>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5120640"/>
            <a:ext cx="3118104" cy="274320"/>
          </a:xfrm>
          <a:prstGeom prst="rect">
            <a:avLst/>
          </a:prstGeom>
          <a:noFill/>
        </p:spPr>
        <p:txBody>
          <a:bodyPr wrap="square" lIns="0" rIns="0" tIns="0" bIns="0" anchor="t">
            <a:spAutoFit/>
          </a:bodyPr>
          <a:lstStyle/>
          <a:p>
            <a:pPr algn="l"/>
            <a:r>
              <a:rPr sz="1300" b="1" i="0">
                <a:solidFill>
                  <a:srgbClr val="C0392B"/>
                </a:solidFill>
                <a:latin typeface="Arial"/>
              </a:rPr>
              <a:t>Dấu hiệu</a:t>
            </a:r>
          </a:p>
        </p:txBody>
      </p:sp>
      <p:sp>
        <p:nvSpPr>
          <p:cNvPr id="14" name="TextBox 13"/>
          <p:cNvSpPr txBox="1"/>
          <p:nvPr/>
        </p:nvSpPr>
        <p:spPr>
          <a:xfrm>
            <a:off x="777240"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Sau khi resample xuất hiện một chu kỳ lạ, chẳng hạn 2,5 giờ.</a:t>
            </a:r>
          </a:p>
        </p:txBody>
      </p:sp>
      <p:sp>
        <p:nvSpPr>
          <p:cNvPr id="15" name="Rounded Rectangle 14"/>
          <p:cNvSpPr/>
          <p:nvPr/>
        </p:nvSpPr>
        <p:spPr>
          <a:xfrm>
            <a:off x="4306824" y="4983480"/>
            <a:ext cx="3575304" cy="1463040"/>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35424" y="5120640"/>
            <a:ext cx="3118104" cy="274320"/>
          </a:xfrm>
          <a:prstGeom prst="rect">
            <a:avLst/>
          </a:prstGeom>
          <a:noFill/>
        </p:spPr>
        <p:txBody>
          <a:bodyPr wrap="square" lIns="0" rIns="0" tIns="0" bIns="0" anchor="t">
            <a:spAutoFit/>
          </a:bodyPr>
          <a:lstStyle/>
          <a:p>
            <a:pPr algn="l"/>
            <a:r>
              <a:rPr sz="1300" b="1" i="0">
                <a:solidFill>
                  <a:srgbClr val="2E6FBF"/>
                </a:solidFill>
                <a:latin typeface="Arial"/>
              </a:rPr>
              <a:t>Kiểm bằng</a:t>
            </a:r>
          </a:p>
        </p:txBody>
      </p:sp>
      <p:sp>
        <p:nvSpPr>
          <p:cNvPr id="17" name="TextBox 16"/>
          <p:cNvSpPr txBox="1"/>
          <p:nvPr/>
        </p:nvSpPr>
        <p:spPr>
          <a:xfrm>
            <a:off x="4535424"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Đọc phổ trước và sau khi hạ mẫu; chu kỳ giả tính được: f_giả = |f − k·f_s|, f_s là tần số lấy mẫu.</a:t>
            </a:r>
          </a:p>
        </p:txBody>
      </p:sp>
      <p:sp>
        <p:nvSpPr>
          <p:cNvPr id="18" name="Rounded Rectangle 17"/>
          <p:cNvSpPr/>
          <p:nvPr/>
        </p:nvSpPr>
        <p:spPr>
          <a:xfrm>
            <a:off x="8065008" y="4983480"/>
            <a:ext cx="3575304" cy="1463040"/>
          </a:xfrm>
          <a:prstGeom prst="roundRect">
            <a:avLst>
              <a:gd name="adj" fmla="val 1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93608" y="5120640"/>
            <a:ext cx="3118104" cy="274320"/>
          </a:xfrm>
          <a:prstGeom prst="rect">
            <a:avLst/>
          </a:prstGeom>
          <a:noFill/>
        </p:spPr>
        <p:txBody>
          <a:bodyPr wrap="square" lIns="0" rIns="0" tIns="0" bIns="0" anchor="t">
            <a:spAutoFit/>
          </a:bodyPr>
          <a:lstStyle/>
          <a:p>
            <a:pPr algn="l"/>
            <a:r>
              <a:rPr sz="1300" b="1" i="0">
                <a:solidFill>
                  <a:srgbClr val="1E8449"/>
                </a:solidFill>
                <a:latin typeface="Arial"/>
              </a:rPr>
              <a:t>Cách sửa</a:t>
            </a:r>
          </a:p>
        </p:txBody>
      </p:sp>
      <p:sp>
        <p:nvSpPr>
          <p:cNvPr id="20" name="TextBox 19"/>
          <p:cNvSpPr txBox="1"/>
          <p:nvPr/>
        </p:nvSpPr>
        <p:spPr>
          <a:xfrm>
            <a:off x="8293608"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Lọc thông thấp, tức bỏ dao động nhanh, trước khi hạ mẫu.</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EWMA: điểm mới nặng hơn, trễ ít hơn</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12</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exponentially weighted moving average (EWMA) · α, span, com · phase lag</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Làm trơn nhân quả mà trễ ít hơn trung bình trượt có cùng độ trơn.</a:t>
            </a:r>
          </a:p>
        </p:txBody>
      </p:sp>
      <p:sp>
        <p:nvSpPr>
          <p:cNvPr id="7" name="Rounded Rectangle 6"/>
          <p:cNvSpPr/>
          <p:nvPr/>
        </p:nvSpPr>
        <p:spPr>
          <a:xfrm>
            <a:off x="548640" y="2066543"/>
            <a:ext cx="6309360"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c01928a583dc.png"/>
          <p:cNvPicPr>
            <a:picLocks noChangeAspect="1"/>
          </p:cNvPicPr>
          <p:nvPr/>
        </p:nvPicPr>
        <p:blipFill>
          <a:blip r:embed="rId2"/>
          <a:stretch>
            <a:fillRect/>
          </a:stretch>
        </p:blipFill>
        <p:spPr>
          <a:xfrm>
            <a:off x="640080" y="2256380"/>
            <a:ext cx="6126480" cy="278694"/>
          </a:xfrm>
          <a:prstGeom prst="rect">
            <a:avLst/>
          </a:prstGeom>
        </p:spPr>
      </p:pic>
      <p:pic>
        <p:nvPicPr>
          <p:cNvPr id="9" name="Picture 8" descr="kn-ewma.png"/>
          <p:cNvPicPr>
            <a:picLocks noChangeAspect="1"/>
          </p:cNvPicPr>
          <p:nvPr/>
        </p:nvPicPr>
        <p:blipFill>
          <a:blip r:embed="rId3"/>
          <a:stretch>
            <a:fillRect/>
          </a:stretch>
        </p:blipFill>
        <p:spPr>
          <a:xfrm>
            <a:off x="548640" y="3102884"/>
            <a:ext cx="6309360" cy="3102822"/>
          </a:xfrm>
          <a:prstGeom prst="rect">
            <a:avLst/>
          </a:prstGeom>
        </p:spPr>
      </p:pic>
      <p:sp>
        <p:nvSpPr>
          <p:cNvPr id="10" name="TextBox 9"/>
          <p:cNvSpPr txBox="1"/>
          <p:nvPr/>
        </p:nvSpPr>
        <p:spPr>
          <a:xfrm>
            <a:off x="7223760" y="2066543"/>
            <a:ext cx="4416552" cy="274320"/>
          </a:xfrm>
          <a:prstGeom prst="rect">
            <a:avLst/>
          </a:prstGeom>
          <a:noFill/>
        </p:spPr>
        <p:txBody>
          <a:bodyPr wrap="square" lIns="0" rIns="0" tIns="0" bIns="0" anchor="t">
            <a:spAutoFit/>
          </a:bodyPr>
          <a:lstStyle/>
          <a:p>
            <a:pPr algn="l"/>
            <a:r>
              <a:rPr sz="1400" b="1" i="0">
                <a:solidFill>
                  <a:srgbClr val="D9642B"/>
                </a:solidFill>
                <a:latin typeface="Arial"/>
              </a:rPr>
              <a:t>Là gì</a:t>
            </a:r>
          </a:p>
        </p:txBody>
      </p:sp>
      <p:sp>
        <p:nvSpPr>
          <p:cNvPr id="11" name="TextBox 10"/>
          <p:cNvSpPr txBox="1"/>
          <p:nvPr/>
        </p:nvSpPr>
        <p:spPr>
          <a:xfrm>
            <a:off x="7223760" y="2386584"/>
            <a:ext cx="4416552" cy="1127760"/>
          </a:xfrm>
          <a:prstGeom prst="rect">
            <a:avLst/>
          </a:prstGeom>
          <a:noFill/>
        </p:spPr>
        <p:txBody>
          <a:bodyPr wrap="square" lIns="0" rIns="0" tIns="0" bIns="0" anchor="t">
            <a:spAutoFit/>
          </a:bodyPr>
          <a:lstStyle/>
          <a:p>
            <a:pPr algn="l"/>
            <a:r>
              <a:rPr sz="1500" b="0" i="0">
                <a:solidFill>
                  <a:srgbClr val="1B2A41"/>
                </a:solidFill>
                <a:latin typeface="Arial"/>
              </a:rPr>
              <a:t>EWMA trộn số mới với đầu ra trước theo tỷ lệ α và 1 − α, nên trọng số giảm dần về quá khứ. Trung bình trượt k điểm trễ (k − 1) / 2 bước.</a:t>
            </a:r>
          </a:p>
        </p:txBody>
      </p:sp>
      <p:sp>
        <p:nvSpPr>
          <p:cNvPr id="12" name="TextBox 11"/>
          <p:cNvSpPr txBox="1"/>
          <p:nvPr/>
        </p:nvSpPr>
        <p:spPr>
          <a:xfrm>
            <a:off x="7223760" y="3541775"/>
            <a:ext cx="4416552" cy="274320"/>
          </a:xfrm>
          <a:prstGeom prst="rect">
            <a:avLst/>
          </a:prstGeom>
          <a:noFill/>
        </p:spPr>
        <p:txBody>
          <a:bodyPr wrap="square" lIns="0" rIns="0" tIns="0" bIns="0" anchor="t">
            <a:spAutoFit/>
          </a:bodyPr>
          <a:lstStyle/>
          <a:p>
            <a:pPr algn="l"/>
            <a:r>
              <a:rPr sz="1400" b="1" i="0">
                <a:solidFill>
                  <a:srgbClr val="D9642B"/>
                </a:solidFill>
                <a:latin typeface="Arial"/>
              </a:rPr>
              <a:t>α lớn hay nhỏ nghĩa là gì</a:t>
            </a:r>
          </a:p>
        </p:txBody>
      </p:sp>
      <p:cxnSp>
        <p:nvCxnSpPr>
          <p:cNvPr id="13" name="Connector 12"/>
          <p:cNvCxnSpPr/>
          <p:nvPr/>
        </p:nvCxnSpPr>
        <p:spPr>
          <a:xfrm>
            <a:off x="8327898" y="3998975"/>
            <a:ext cx="2208276"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8245602" y="3916680"/>
            <a:ext cx="164592" cy="16459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260336" y="4136136"/>
            <a:ext cx="2135124" cy="274320"/>
          </a:xfrm>
          <a:prstGeom prst="rect">
            <a:avLst/>
          </a:prstGeom>
          <a:noFill/>
        </p:spPr>
        <p:txBody>
          <a:bodyPr wrap="square" lIns="0" rIns="0" tIns="0" bIns="0" anchor="t">
            <a:spAutoFit/>
          </a:bodyPr>
          <a:lstStyle/>
          <a:p>
            <a:pPr algn="ctr"/>
            <a:r>
              <a:rPr sz="1400" b="1" i="0">
                <a:solidFill>
                  <a:srgbClr val="D9642B"/>
                </a:solidFill>
                <a:latin typeface="Arial"/>
              </a:rPr>
              <a:t>α nhỏ</a:t>
            </a:r>
          </a:p>
        </p:txBody>
      </p:sp>
      <p:sp>
        <p:nvSpPr>
          <p:cNvPr id="16" name="TextBox 15"/>
          <p:cNvSpPr txBox="1"/>
          <p:nvPr/>
        </p:nvSpPr>
        <p:spPr>
          <a:xfrm>
            <a:off x="7260336" y="4410456"/>
            <a:ext cx="2135124" cy="548640"/>
          </a:xfrm>
          <a:prstGeom prst="rect">
            <a:avLst/>
          </a:prstGeom>
          <a:noFill/>
        </p:spPr>
        <p:txBody>
          <a:bodyPr wrap="square" lIns="0" rIns="0" tIns="0" bIns="0" anchor="t">
            <a:spAutoFit/>
          </a:bodyPr>
          <a:lstStyle/>
          <a:p>
            <a:pPr algn="ctr"/>
            <a:r>
              <a:rPr sz="1100" b="0" i="0">
                <a:solidFill>
                  <a:srgbClr val="1B2A41"/>
                </a:solidFill>
                <a:latin typeface="Arial"/>
              </a:rPr>
              <a:t>rất trơn, trễ nhiều</a:t>
            </a:r>
          </a:p>
        </p:txBody>
      </p:sp>
      <p:sp>
        <p:nvSpPr>
          <p:cNvPr id="17" name="Oval 16"/>
          <p:cNvSpPr/>
          <p:nvPr/>
        </p:nvSpPr>
        <p:spPr>
          <a:xfrm>
            <a:off x="10453878" y="3916680"/>
            <a:ext cx="164592" cy="16459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68612" y="4136136"/>
            <a:ext cx="2135124" cy="274320"/>
          </a:xfrm>
          <a:prstGeom prst="rect">
            <a:avLst/>
          </a:prstGeom>
          <a:noFill/>
        </p:spPr>
        <p:txBody>
          <a:bodyPr wrap="square" lIns="0" rIns="0" tIns="0" bIns="0" anchor="t">
            <a:spAutoFit/>
          </a:bodyPr>
          <a:lstStyle/>
          <a:p>
            <a:pPr algn="ctr"/>
            <a:r>
              <a:rPr sz="1400" b="1" i="0">
                <a:solidFill>
                  <a:srgbClr val="D9642B"/>
                </a:solidFill>
                <a:latin typeface="Arial"/>
              </a:rPr>
              <a:t>α lớn</a:t>
            </a:r>
          </a:p>
        </p:txBody>
      </p:sp>
      <p:sp>
        <p:nvSpPr>
          <p:cNvPr id="19" name="TextBox 18"/>
          <p:cNvSpPr txBox="1"/>
          <p:nvPr/>
        </p:nvSpPr>
        <p:spPr>
          <a:xfrm>
            <a:off x="9468612" y="4410456"/>
            <a:ext cx="2135124" cy="548640"/>
          </a:xfrm>
          <a:prstGeom prst="rect">
            <a:avLst/>
          </a:prstGeom>
          <a:noFill/>
        </p:spPr>
        <p:txBody>
          <a:bodyPr wrap="square" lIns="0" rIns="0" tIns="0" bIns="0" anchor="t">
            <a:spAutoFit/>
          </a:bodyPr>
          <a:lstStyle/>
          <a:p>
            <a:pPr algn="ctr"/>
            <a:r>
              <a:rPr sz="1100" b="0" i="0">
                <a:solidFill>
                  <a:srgbClr val="1B2A41"/>
                </a:solidFill>
                <a:latin typeface="Arial"/>
              </a:rPr>
              <a:t>bám sát số mới, ít trơn</a:t>
            </a:r>
          </a:p>
        </p:txBody>
      </p:sp>
      <p:sp>
        <p:nvSpPr>
          <p:cNvPr id="20" name="TextBox 19"/>
          <p:cNvSpPr txBox="1"/>
          <p:nvPr/>
        </p:nvSpPr>
        <p:spPr>
          <a:xfrm>
            <a:off x="7223760" y="5017008"/>
            <a:ext cx="4416552" cy="274320"/>
          </a:xfrm>
          <a:prstGeom prst="rect">
            <a:avLst/>
          </a:prstGeom>
          <a:noFill/>
        </p:spPr>
        <p:txBody>
          <a:bodyPr wrap="square" lIns="0" rIns="0" tIns="0" bIns="0" anchor="t">
            <a:spAutoFit/>
          </a:bodyPr>
          <a:lstStyle/>
          <a:p>
            <a:pPr algn="l"/>
            <a:r>
              <a:rPr sz="1400" b="1" i="0">
                <a:solidFill>
                  <a:srgbClr val="D9642B"/>
                </a:solidFill>
                <a:latin typeface="Arial"/>
              </a:rPr>
              <a:t>Ví dụ</a:t>
            </a:r>
          </a:p>
        </p:txBody>
      </p:sp>
      <p:sp>
        <p:nvSpPr>
          <p:cNvPr id="21" name="TextBox 20"/>
          <p:cNvSpPr txBox="1"/>
          <p:nvPr/>
        </p:nvSpPr>
        <p:spPr>
          <a:xfrm>
            <a:off x="7223760" y="5337047"/>
            <a:ext cx="4416552" cy="1127760"/>
          </a:xfrm>
          <a:prstGeom prst="rect">
            <a:avLst/>
          </a:prstGeom>
          <a:noFill/>
        </p:spPr>
        <p:txBody>
          <a:bodyPr wrap="square" lIns="0" rIns="0" tIns="0" bIns="0" anchor="t">
            <a:spAutoFit/>
          </a:bodyPr>
          <a:lstStyle/>
          <a:p>
            <a:pPr algn="l"/>
            <a:r>
              <a:rPr sz="1500" b="0" i="0">
                <a:solidFill>
                  <a:srgbClr val="1B2A41"/>
                </a:solidFill>
                <a:latin typeface="Arial"/>
              </a:rPr>
              <a:t>α = 0,5, chuỗi 10, 20, 10: z = 10; 15; 12,5. Đo được: trung bình 13 điểm trễ 6 bước, EWMA α = 0,15 trễ 4.</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Lọc hai chiều không trễ vì nhìn tương lai</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12</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Savitzky–Golay · Butterworth sosfilt / sosfiltfilt · Kalman filter / smoother</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D9642B"/>
                </a:solidFill>
                <a:latin typeface="Arial"/>
              </a:rPr>
              <a:t>Vấn đề:  </a:t>
            </a:r>
            <a:r>
              <a:rPr sz="1600" b="0" i="0">
                <a:solidFill>
                  <a:srgbClr val="1B2A41"/>
                </a:solidFill>
                <a:latin typeface="Arial"/>
              </a:rPr>
              <a:t>Sáu họ bộ lọc, mười cấu hình. Cái nào dùng được làm feature dự báo?</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Biết họ bộ lọc nào dùng được làm feature dự báo, họ nào chỉ để mô tả lịch sử.</a:t>
            </a:r>
          </a:p>
        </p:txBody>
      </p:sp>
      <p:pic>
        <p:nvPicPr>
          <p:cNvPr id="8" name="Picture 7" descr="kn-sosfilt-sosfiltfilt.png"/>
          <p:cNvPicPr>
            <a:picLocks noChangeAspect="1"/>
          </p:cNvPicPr>
          <p:nvPr/>
        </p:nvPicPr>
        <p:blipFill>
          <a:blip r:embed="rId2"/>
          <a:stretch>
            <a:fillRect/>
          </a:stretch>
        </p:blipFill>
        <p:spPr>
          <a:xfrm>
            <a:off x="548640" y="2791598"/>
            <a:ext cx="6309360" cy="3341347"/>
          </a:xfrm>
          <a:prstGeom prst="rect">
            <a:avLst/>
          </a:prstGeom>
        </p:spPr>
      </p:pic>
      <p:sp>
        <p:nvSpPr>
          <p:cNvPr id="9" name="TextBox 8"/>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D9642B"/>
                </a:solidFill>
                <a:latin typeface="Arial"/>
              </a:rPr>
              <a:t>Là gì</a:t>
            </a:r>
          </a:p>
        </p:txBody>
      </p:sp>
      <p:sp>
        <p:nvSpPr>
          <p:cNvPr id="10" name="TextBox 9"/>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Savitzky–Golay khớp đa thức quanh mỗi điểm. Butterworth cắt tần số theo ngưỡng. Kalman ước lượng tín hiệu ẩn. Bản hai chiều chạy xuôi rồi ngược.</a:t>
            </a:r>
          </a:p>
        </p:txBody>
      </p:sp>
      <p:sp>
        <p:nvSpPr>
          <p:cNvPr id="11" name="TextBox 10"/>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D9642B"/>
                </a:solidFill>
                <a:latin typeface="Arial"/>
              </a:rPr>
              <a:t>Nhân quả hay không</a:t>
            </a:r>
          </a:p>
        </p:txBody>
      </p:sp>
      <p:cxnSp>
        <p:nvCxnSpPr>
          <p:cNvPr id="12" name="Connector 11"/>
          <p:cNvCxnSpPr/>
          <p:nvPr/>
        </p:nvCxnSpPr>
        <p:spPr>
          <a:xfrm>
            <a:off x="8327898" y="4242816"/>
            <a:ext cx="2208276"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3" name="Oval 12"/>
          <p:cNvSpPr/>
          <p:nvPr/>
        </p:nvSpPr>
        <p:spPr>
          <a:xfrm>
            <a:off x="8245602" y="4160520"/>
            <a:ext cx="164592" cy="16459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260336" y="4379976"/>
            <a:ext cx="2135124" cy="274320"/>
          </a:xfrm>
          <a:prstGeom prst="rect">
            <a:avLst/>
          </a:prstGeom>
          <a:noFill/>
        </p:spPr>
        <p:txBody>
          <a:bodyPr wrap="square" lIns="0" rIns="0" tIns="0" bIns="0" anchor="t">
            <a:spAutoFit/>
          </a:bodyPr>
          <a:lstStyle/>
          <a:p>
            <a:pPr algn="ctr"/>
            <a:r>
              <a:rPr sz="1400" b="1" i="0">
                <a:solidFill>
                  <a:srgbClr val="D9642B"/>
                </a:solidFill>
                <a:latin typeface="Arial"/>
              </a:rPr>
              <a:t>nhân quả</a:t>
            </a:r>
          </a:p>
        </p:txBody>
      </p:sp>
      <p:sp>
        <p:nvSpPr>
          <p:cNvPr id="15" name="TextBox 14"/>
          <p:cNvSpPr txBox="1"/>
          <p:nvPr/>
        </p:nvSpPr>
        <p:spPr>
          <a:xfrm>
            <a:off x="7260336" y="4654296"/>
            <a:ext cx="2135124" cy="548640"/>
          </a:xfrm>
          <a:prstGeom prst="rect">
            <a:avLst/>
          </a:prstGeom>
          <a:noFill/>
        </p:spPr>
        <p:txBody>
          <a:bodyPr wrap="square" lIns="0" rIns="0" tIns="0" bIns="0" anchor="t">
            <a:spAutoFit/>
          </a:bodyPr>
          <a:lstStyle/>
          <a:p>
            <a:pPr algn="ctr"/>
            <a:r>
              <a:rPr sz="1100" b="0" i="0">
                <a:solidFill>
                  <a:srgbClr val="1B2A41"/>
                </a:solidFill>
                <a:latin typeface="Arial"/>
              </a:rPr>
              <a:t>trailing, EWMA, sosfilt, Kalman filter (tham số cố định)</a:t>
            </a:r>
          </a:p>
        </p:txBody>
      </p:sp>
      <p:sp>
        <p:nvSpPr>
          <p:cNvPr id="16" name="Oval 15"/>
          <p:cNvSpPr/>
          <p:nvPr/>
        </p:nvSpPr>
        <p:spPr>
          <a:xfrm>
            <a:off x="10453878" y="4160520"/>
            <a:ext cx="164592" cy="164592"/>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68612" y="4379976"/>
            <a:ext cx="2135124" cy="274320"/>
          </a:xfrm>
          <a:prstGeom prst="rect">
            <a:avLst/>
          </a:prstGeom>
          <a:noFill/>
        </p:spPr>
        <p:txBody>
          <a:bodyPr wrap="square" lIns="0" rIns="0" tIns="0" bIns="0" anchor="t">
            <a:spAutoFit/>
          </a:bodyPr>
          <a:lstStyle/>
          <a:p>
            <a:pPr algn="ctr"/>
            <a:r>
              <a:rPr sz="1200" b="1" i="0">
                <a:solidFill>
                  <a:srgbClr val="D9642B"/>
                </a:solidFill>
                <a:latin typeface="Arial"/>
              </a:rPr>
              <a:t>nhìn tương lai</a:t>
            </a:r>
          </a:p>
        </p:txBody>
      </p:sp>
      <p:sp>
        <p:nvSpPr>
          <p:cNvPr id="18" name="TextBox 17"/>
          <p:cNvSpPr txBox="1"/>
          <p:nvPr/>
        </p:nvSpPr>
        <p:spPr>
          <a:xfrm>
            <a:off x="9468612" y="4654296"/>
            <a:ext cx="2135124" cy="548640"/>
          </a:xfrm>
          <a:prstGeom prst="rect">
            <a:avLst/>
          </a:prstGeom>
          <a:noFill/>
        </p:spPr>
        <p:txBody>
          <a:bodyPr wrap="square" lIns="0" rIns="0" tIns="0" bIns="0" anchor="t">
            <a:spAutoFit/>
          </a:bodyPr>
          <a:lstStyle/>
          <a:p>
            <a:pPr algn="ctr"/>
            <a:r>
              <a:rPr sz="1100" b="0" i="0">
                <a:solidFill>
                  <a:srgbClr val="1B2A41"/>
                </a:solidFill>
                <a:latin typeface="Arial"/>
              </a:rPr>
              <a:t>centered, Savitzky–Golay, sosfiltfilt, Kalman smoother</a:t>
            </a:r>
          </a:p>
        </p:txBody>
      </p:sp>
      <p:sp>
        <p:nvSpPr>
          <p:cNvPr id="19" name="TextBox 18"/>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D9642B"/>
                </a:solidFill>
                <a:latin typeface="Arial"/>
              </a:rPr>
              <a:t>Ví dụ</a:t>
            </a:r>
          </a:p>
        </p:txBody>
      </p:sp>
      <p:sp>
        <p:nvSpPr>
          <p:cNvPr id="20" name="TextBox 19"/>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Đổi 10 số cuối: sosfilt giữ nguyên quá khứ; filtfilt đổi tới 23,615 và kéo ngược 274 bước. Butterworth nhân quả trễ 19 bước.</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Bộ lọc trơn nhất lại là bộ lọc nhìn tương lai</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12</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moving average · EWMA · Savitzky–Golay · Butterworth · Kalman filter · phase lag</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Nếu bỏ qua:  </a:t>
            </a:r>
            <a:r>
              <a:rPr sz="1600" b="0" i="0">
                <a:solidFill>
                  <a:srgbClr val="1B2A41"/>
                </a:solidFill>
                <a:latin typeface="Arial"/>
              </a:rPr>
              <a:t>chọn bộ lọc “tốt nhất” mà không dùng được lúc dự báo.</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D9642B"/>
                </a:solidFill>
                <a:latin typeface="Arial"/>
              </a:rPr>
              <a:t>“Độ trơn phải trả bằng trễ, hoặc bằng việc nhìn tương lai.”</a:t>
            </a:r>
          </a:p>
        </p:txBody>
      </p:sp>
      <p:pic>
        <p:nvPicPr>
          <p:cNvPr id="8" name="Picture 7" descr="bo-loc.png"/>
          <p:cNvPicPr>
            <a:picLocks noChangeAspect="1"/>
          </p:cNvPicPr>
          <p:nvPr/>
        </p:nvPicPr>
        <p:blipFill>
          <a:blip r:embed="rId2"/>
          <a:stretch>
            <a:fillRect/>
          </a:stretch>
        </p:blipFill>
        <p:spPr>
          <a:xfrm>
            <a:off x="973740" y="2450591"/>
            <a:ext cx="5916359" cy="3995928"/>
          </a:xfrm>
          <a:prstGeom prst="rect">
            <a:avLst/>
          </a:prstGeom>
        </p:spPr>
      </p:pic>
      <p:sp>
        <p:nvSpPr>
          <p:cNvPr id="9" name="Rounded Rectangle 8"/>
          <p:cNvSpPr/>
          <p:nvPr/>
        </p:nvSpPr>
        <p:spPr>
          <a:xfrm>
            <a:off x="7543800" y="2450591"/>
            <a:ext cx="4096512" cy="1240536"/>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0" y="2587751"/>
            <a:ext cx="3639312" cy="274320"/>
          </a:xfrm>
          <a:prstGeom prst="rect">
            <a:avLst/>
          </a:prstGeom>
          <a:noFill/>
        </p:spPr>
        <p:txBody>
          <a:bodyPr wrap="square" lIns="0" rIns="0" tIns="0" bIns="0" anchor="t">
            <a:spAutoFit/>
          </a:bodyPr>
          <a:lstStyle/>
          <a:p>
            <a:pPr algn="l"/>
            <a:r>
              <a:rPr sz="1300" b="1" i="0">
                <a:solidFill>
                  <a:srgbClr val="C0392B"/>
                </a:solidFill>
                <a:latin typeface="Arial"/>
              </a:rPr>
              <a:t>Dấu hiệu</a:t>
            </a:r>
          </a:p>
        </p:txBody>
      </p:sp>
      <p:sp>
        <p:nvSpPr>
          <p:cNvPr id="11" name="TextBox 10"/>
          <p:cNvSpPr txBox="1"/>
          <p:nvPr/>
        </p:nvSpPr>
        <p:spPr>
          <a:xfrm>
            <a:off x="7772400" y="2862072"/>
            <a:ext cx="3639312" cy="783336"/>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Ba bộ lọc có RMSE thấp nhất (centered, Kalman smoother, Savitzky–Golay) đều nhìn tương lai.</a:t>
            </a:r>
          </a:p>
        </p:txBody>
      </p:sp>
      <p:sp>
        <p:nvSpPr>
          <p:cNvPr id="12" name="Rounded Rectangle 11"/>
          <p:cNvSpPr/>
          <p:nvPr/>
        </p:nvSpPr>
        <p:spPr>
          <a:xfrm>
            <a:off x="7543800" y="3828288"/>
            <a:ext cx="4096512" cy="1240536"/>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0" y="3965448"/>
            <a:ext cx="3639312" cy="274320"/>
          </a:xfrm>
          <a:prstGeom prst="rect">
            <a:avLst/>
          </a:prstGeom>
          <a:noFill/>
        </p:spPr>
        <p:txBody>
          <a:bodyPr wrap="square" lIns="0" rIns="0" tIns="0" bIns="0" anchor="t">
            <a:spAutoFit/>
          </a:bodyPr>
          <a:lstStyle/>
          <a:p>
            <a:pPr algn="l"/>
            <a:r>
              <a:rPr sz="1300" b="1" i="0">
                <a:solidFill>
                  <a:srgbClr val="2E6FBF"/>
                </a:solidFill>
                <a:latin typeface="Arial"/>
              </a:rPr>
              <a:t>Kiểm bằng</a:t>
            </a:r>
          </a:p>
        </p:txBody>
      </p:sp>
      <p:sp>
        <p:nvSpPr>
          <p:cNvPr id="14" name="TextBox 13"/>
          <p:cNvSpPr txBox="1"/>
          <p:nvPr/>
        </p:nvSpPr>
        <p:spPr>
          <a:xfrm>
            <a:off x="7772400" y="4239768"/>
            <a:ext cx="3639312" cy="783336"/>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Thêm cột “nhân quả” vào bảng xếp hạng; đo độ trễ bằng tương quan chéo.</a:t>
            </a:r>
          </a:p>
        </p:txBody>
      </p:sp>
      <p:sp>
        <p:nvSpPr>
          <p:cNvPr id="15" name="Rounded Rectangle 14"/>
          <p:cNvSpPr/>
          <p:nvPr/>
        </p:nvSpPr>
        <p:spPr>
          <a:xfrm>
            <a:off x="7543800" y="5205984"/>
            <a:ext cx="4096512" cy="1240536"/>
          </a:xfrm>
          <a:prstGeom prst="roundRect">
            <a:avLst>
              <a:gd name="adj" fmla="val 1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0" y="5343144"/>
            <a:ext cx="3639312" cy="274320"/>
          </a:xfrm>
          <a:prstGeom prst="rect">
            <a:avLst/>
          </a:prstGeom>
          <a:noFill/>
        </p:spPr>
        <p:txBody>
          <a:bodyPr wrap="square" lIns="0" rIns="0" tIns="0" bIns="0" anchor="t">
            <a:spAutoFit/>
          </a:bodyPr>
          <a:lstStyle/>
          <a:p>
            <a:pPr algn="l"/>
            <a:r>
              <a:rPr sz="1300" b="1" i="0">
                <a:solidFill>
                  <a:srgbClr val="1E8449"/>
                </a:solidFill>
                <a:latin typeface="Arial"/>
              </a:rPr>
              <a:t>Cách sửa</a:t>
            </a:r>
          </a:p>
        </p:txBody>
      </p:sp>
      <p:sp>
        <p:nvSpPr>
          <p:cNvPr id="17" name="TextBox 16"/>
          <p:cNvSpPr txBox="1"/>
          <p:nvPr/>
        </p:nvSpPr>
        <p:spPr>
          <a:xfrm>
            <a:off x="7772400" y="5617464"/>
            <a:ext cx="3639312" cy="783336"/>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Chỉ so các bộ lọc nhân quả với nhau. Trong nhóm này Kalman filter tốt nhất, RMSE 0,584.</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Đổi số cuối: nhân quả thì quá khứ đứng yên</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12</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causality test · perturb the tail · tolerance</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D9642B"/>
                </a:solidFill>
                <a:latin typeface="Arial"/>
              </a:rPr>
              <a:t>Vấn đề:  </a:t>
            </a:r>
            <a:r>
              <a:rPr sz="1600" b="0" i="0">
                <a:solidFill>
                  <a:srgbClr val="1B2A41"/>
                </a:solidFill>
                <a:latin typeface="Arial"/>
              </a:rPr>
              <a:t>Tài liệu thư viện không nói bộ lọc có dùng số của giờ sau không. Kiểm thế nào?</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Có một phép thử chạy được trên mọi hàm làm trơn, kể cả khi tài liệu thư viện không nói rõ.</a:t>
            </a:r>
          </a:p>
        </p:txBody>
      </p:sp>
      <p:pic>
        <p:nvPicPr>
          <p:cNvPr id="8" name="Picture 7" descr="kiem-nhan-qua.png"/>
          <p:cNvPicPr>
            <a:picLocks noChangeAspect="1"/>
          </p:cNvPicPr>
          <p:nvPr/>
        </p:nvPicPr>
        <p:blipFill>
          <a:blip r:embed="rId2"/>
          <a:stretch>
            <a:fillRect/>
          </a:stretch>
        </p:blipFill>
        <p:spPr>
          <a:xfrm>
            <a:off x="548640" y="2899772"/>
            <a:ext cx="6309360" cy="3124998"/>
          </a:xfrm>
          <a:prstGeom prst="rect">
            <a:avLst/>
          </a:prstGeom>
        </p:spPr>
      </p:pic>
      <p:sp>
        <p:nvSpPr>
          <p:cNvPr id="9" name="TextBox 8"/>
          <p:cNvSpPr txBox="1"/>
          <p:nvPr/>
        </p:nvSpPr>
        <p:spPr>
          <a:xfrm>
            <a:off x="7223760" y="2432303"/>
            <a:ext cx="4416552" cy="274320"/>
          </a:xfrm>
          <a:prstGeom prst="rect">
            <a:avLst/>
          </a:prstGeom>
          <a:noFill/>
        </p:spPr>
        <p:txBody>
          <a:bodyPr wrap="square" lIns="0" rIns="0" tIns="0" bIns="0" anchor="t">
            <a:spAutoFit/>
          </a:bodyPr>
          <a:lstStyle/>
          <a:p>
            <a:pPr algn="l"/>
            <a:r>
              <a:rPr sz="1400" b="1" i="0">
                <a:solidFill>
                  <a:srgbClr val="D9642B"/>
                </a:solidFill>
                <a:latin typeface="Arial"/>
              </a:rPr>
              <a:t>Là gì</a:t>
            </a:r>
          </a:p>
        </p:txBody>
      </p:sp>
      <p:sp>
        <p:nvSpPr>
          <p:cNvPr id="10" name="TextBox 9"/>
          <p:cNvSpPr txBox="1"/>
          <p:nvPr/>
        </p:nvSpPr>
        <p:spPr>
          <a:xfrm>
            <a:off x="7223760" y="2752344"/>
            <a:ext cx="4416552" cy="1005839"/>
          </a:xfrm>
          <a:prstGeom prst="rect">
            <a:avLst/>
          </a:prstGeom>
          <a:noFill/>
        </p:spPr>
        <p:txBody>
          <a:bodyPr wrap="square" lIns="0" rIns="0" tIns="0" bIns="0" anchor="t">
            <a:spAutoFit/>
          </a:bodyPr>
          <a:lstStyle/>
          <a:p>
            <a:pPr algn="l"/>
            <a:r>
              <a:rPr sz="1500" b="0" i="0">
                <a:solidFill>
                  <a:srgbClr val="1B2A41"/>
                </a:solidFill>
                <a:latin typeface="Arial"/>
              </a:rPr>
              <a:t>Đổi vài giá trị cuối chuỗi, chạy lại bộ lọc, so đầu ra ở mọi mốc trước đó. Nhân quả thì quá khứ không đổi, chỉ lệch cỡ sai số tính toán.</a:t>
            </a:r>
          </a:p>
        </p:txBody>
      </p:sp>
      <p:sp>
        <p:nvSpPr>
          <p:cNvPr id="11" name="TextBox 10"/>
          <p:cNvSpPr txBox="1"/>
          <p:nvPr/>
        </p:nvSpPr>
        <p:spPr>
          <a:xfrm>
            <a:off x="7223760" y="3785615"/>
            <a:ext cx="4416552" cy="274320"/>
          </a:xfrm>
          <a:prstGeom prst="rect">
            <a:avLst/>
          </a:prstGeom>
          <a:noFill/>
        </p:spPr>
        <p:txBody>
          <a:bodyPr wrap="square" lIns="0" rIns="0" tIns="0" bIns="0" anchor="t">
            <a:spAutoFit/>
          </a:bodyPr>
          <a:lstStyle/>
          <a:p>
            <a:pPr algn="l"/>
            <a:r>
              <a:rPr sz="1400" b="1" i="0">
                <a:solidFill>
                  <a:srgbClr val="D9642B"/>
                </a:solidFill>
                <a:latin typeface="Arial"/>
              </a:rPr>
              <a:t>Ba chỗ hay làm sai</a:t>
            </a:r>
          </a:p>
        </p:txBody>
      </p:sp>
      <p:sp>
        <p:nvSpPr>
          <p:cNvPr id="12" name="TextBox 11"/>
          <p:cNvSpPr txBox="1"/>
          <p:nvPr/>
        </p:nvSpPr>
        <p:spPr>
          <a:xfrm>
            <a:off x="7223760" y="4105655"/>
            <a:ext cx="4416552" cy="1005839"/>
          </a:xfrm>
          <a:prstGeom prst="rect">
            <a:avLst/>
          </a:prstGeom>
          <a:noFill/>
        </p:spPr>
        <p:txBody>
          <a:bodyPr wrap="square" lIns="0" rIns="0" tIns="0" bIns="0" anchor="t">
            <a:spAutoFit/>
          </a:bodyPr>
          <a:lstStyle/>
          <a:p>
            <a:pPr algn="l"/>
            <a:r>
              <a:rPr sz="1500" b="0" i="0">
                <a:solidFill>
                  <a:srgbClr val="1B2A41"/>
                </a:solidFill>
                <a:latin typeface="Arial"/>
              </a:rPr>
              <a:t>So mọi mốc trước điểm đổi, không bỏ đoạn cuối. Dung sai theo thang dữ liệu. Tham số ước lượng trên cả chuỗi cũng làm quá khứ đổi.</a:t>
            </a:r>
          </a:p>
        </p:txBody>
      </p:sp>
      <p:sp>
        <p:nvSpPr>
          <p:cNvPr id="13" name="TextBox 12"/>
          <p:cNvSpPr txBox="1"/>
          <p:nvPr/>
        </p:nvSpPr>
        <p:spPr>
          <a:xfrm>
            <a:off x="7223760" y="5138927"/>
            <a:ext cx="4416552" cy="274320"/>
          </a:xfrm>
          <a:prstGeom prst="rect">
            <a:avLst/>
          </a:prstGeom>
          <a:noFill/>
        </p:spPr>
        <p:txBody>
          <a:bodyPr wrap="square" lIns="0" rIns="0" tIns="0" bIns="0" anchor="t">
            <a:spAutoFit/>
          </a:bodyPr>
          <a:lstStyle/>
          <a:p>
            <a:pPr algn="l"/>
            <a:r>
              <a:rPr sz="1400" b="1" i="0">
                <a:solidFill>
                  <a:srgbClr val="D9642B"/>
                </a:solidFill>
                <a:latin typeface="Arial"/>
              </a:rPr>
              <a:t>Ví dụ</a:t>
            </a:r>
          </a:p>
        </p:txBody>
      </p:sp>
      <p:sp>
        <p:nvSpPr>
          <p:cNvPr id="14" name="TextBox 13"/>
          <p:cNvSpPr txBox="1"/>
          <p:nvPr/>
        </p:nvSpPr>
        <p:spPr>
          <a:xfrm>
            <a:off x="7223760" y="5458967"/>
            <a:ext cx="4416552" cy="1005839"/>
          </a:xfrm>
          <a:prstGeom prst="rect">
            <a:avLst/>
          </a:prstGeom>
          <a:noFill/>
        </p:spPr>
        <p:txBody>
          <a:bodyPr wrap="square" lIns="0" rIns="0" tIns="0" bIns="0" anchor="t">
            <a:spAutoFit/>
          </a:bodyPr>
          <a:lstStyle/>
          <a:p>
            <a:pPr algn="l"/>
            <a:r>
              <a:rPr sz="1500" b="0" i="0">
                <a:solidFill>
                  <a:srgbClr val="1B2A41"/>
                </a:solidFill>
                <a:latin typeface="Arial"/>
              </a:rPr>
              <a:t>10, 12, 14, 30, 16, đổi 16 thành 40: centered ở giờ 4 từ 20 thành 28, trailing vẫn 18,67. Kalman khớp lại trên cả chuỗi đổi quá khứ 1,134.</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Đổi số cuối mà số cũ đổi theo: đã nhìn tương lai</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12</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causal filter · trailing / centered moving average · EWMA</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Nếu bỏ qua:  </a:t>
            </a:r>
            <a:r>
              <a:rPr sz="1600" b="0" i="0">
                <a:solidFill>
                  <a:srgbClr val="1B2A41"/>
                </a:solidFill>
                <a:latin typeface="Arial"/>
              </a:rPr>
              <a:t>backtest đẹp, dùng thật thì mất sạch phần cải thiện.</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1" i="0">
                <a:solidFill>
                  <a:srgbClr val="D9642B"/>
                </a:solidFill>
                <a:latin typeface="Arial"/>
              </a:rPr>
              <a:t>Bộ lọc nhân quả</a:t>
            </a:r>
            <a:r>
              <a:rPr sz="1700" b="0" i="0">
                <a:solidFill>
                  <a:srgbClr val="1B2A41"/>
                </a:solidFill>
                <a:latin typeface="Arial"/>
              </a:rPr>
              <a:t> chỉ dùng dữ liệu tới thời điểm đang xét, không dùng số của các giờ sau.</a:t>
            </a:r>
          </a:p>
        </p:txBody>
      </p:sp>
      <p:pic>
        <p:nvPicPr>
          <p:cNvPr id="8" name="Picture 7" descr="gia-ro-ri.png"/>
          <p:cNvPicPr>
            <a:picLocks noChangeAspect="1"/>
          </p:cNvPicPr>
          <p:nvPr/>
        </p:nvPicPr>
        <p:blipFill>
          <a:blip r:embed="rId2"/>
          <a:stretch>
            <a:fillRect/>
          </a:stretch>
        </p:blipFill>
        <p:spPr>
          <a:xfrm>
            <a:off x="548640" y="2803403"/>
            <a:ext cx="6766560" cy="3290304"/>
          </a:xfrm>
          <a:prstGeom prst="rect">
            <a:avLst/>
          </a:prstGeom>
        </p:spPr>
      </p:pic>
      <p:sp>
        <p:nvSpPr>
          <p:cNvPr id="9" name="Rounded Rectangle 8"/>
          <p:cNvSpPr/>
          <p:nvPr/>
        </p:nvSpPr>
        <p:spPr>
          <a:xfrm>
            <a:off x="7543800" y="2450591"/>
            <a:ext cx="4096512" cy="1240536"/>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0" y="2587751"/>
            <a:ext cx="3639312" cy="274320"/>
          </a:xfrm>
          <a:prstGeom prst="rect">
            <a:avLst/>
          </a:prstGeom>
          <a:noFill/>
        </p:spPr>
        <p:txBody>
          <a:bodyPr wrap="square" lIns="0" rIns="0" tIns="0" bIns="0" anchor="t">
            <a:spAutoFit/>
          </a:bodyPr>
          <a:lstStyle/>
          <a:p>
            <a:pPr algn="l"/>
            <a:r>
              <a:rPr sz="1300" b="1" i="0">
                <a:solidFill>
                  <a:srgbClr val="C0392B"/>
                </a:solidFill>
                <a:latin typeface="Arial"/>
              </a:rPr>
              <a:t>Dấu hiệu</a:t>
            </a:r>
          </a:p>
        </p:txBody>
      </p:sp>
      <p:sp>
        <p:nvSpPr>
          <p:cNvPr id="11" name="TextBox 10"/>
          <p:cNvSpPr txBox="1"/>
          <p:nvPr/>
        </p:nvSpPr>
        <p:spPr>
          <a:xfrm>
            <a:off x="7772400" y="2862072"/>
            <a:ext cx="3639312" cy="783336"/>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Feature làm trơn kiểu centered hứa giảm MAE 24–28%, còn feature nhân quả chỉ giúp 1–6%.</a:t>
            </a:r>
          </a:p>
        </p:txBody>
      </p:sp>
      <p:sp>
        <p:nvSpPr>
          <p:cNvPr id="12" name="Rounded Rectangle 11"/>
          <p:cNvSpPr/>
          <p:nvPr/>
        </p:nvSpPr>
        <p:spPr>
          <a:xfrm>
            <a:off x="7543800" y="3828288"/>
            <a:ext cx="4096512" cy="1240536"/>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0" y="3965448"/>
            <a:ext cx="3639312" cy="274320"/>
          </a:xfrm>
          <a:prstGeom prst="rect">
            <a:avLst/>
          </a:prstGeom>
          <a:noFill/>
        </p:spPr>
        <p:txBody>
          <a:bodyPr wrap="square" lIns="0" rIns="0" tIns="0" bIns="0" anchor="t">
            <a:spAutoFit/>
          </a:bodyPr>
          <a:lstStyle/>
          <a:p>
            <a:pPr algn="l"/>
            <a:r>
              <a:rPr sz="1300" b="1" i="0">
                <a:solidFill>
                  <a:srgbClr val="2E6FBF"/>
                </a:solidFill>
                <a:latin typeface="Arial"/>
              </a:rPr>
              <a:t>Kiểm bằng</a:t>
            </a:r>
          </a:p>
        </p:txBody>
      </p:sp>
      <p:sp>
        <p:nvSpPr>
          <p:cNvPr id="14" name="TextBox 13"/>
          <p:cNvSpPr txBox="1"/>
          <p:nvPr/>
        </p:nvSpPr>
        <p:spPr>
          <a:xfrm>
            <a:off x="7772400" y="4239768"/>
            <a:ext cx="3639312" cy="783336"/>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Đổi 10 giá trị cuối rồi chạy lại: đầu ra ở các mốc trước mà đổi theo là bộ lọc nhìn tương lai.</a:t>
            </a:r>
          </a:p>
        </p:txBody>
      </p:sp>
      <p:sp>
        <p:nvSpPr>
          <p:cNvPr id="15" name="Rounded Rectangle 14"/>
          <p:cNvSpPr/>
          <p:nvPr/>
        </p:nvSpPr>
        <p:spPr>
          <a:xfrm>
            <a:off x="7543800" y="5205984"/>
            <a:ext cx="4096512" cy="1240536"/>
          </a:xfrm>
          <a:prstGeom prst="roundRect">
            <a:avLst>
              <a:gd name="adj" fmla="val 1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0" y="5343144"/>
            <a:ext cx="3639312" cy="274320"/>
          </a:xfrm>
          <a:prstGeom prst="rect">
            <a:avLst/>
          </a:prstGeom>
          <a:noFill/>
        </p:spPr>
        <p:txBody>
          <a:bodyPr wrap="square" lIns="0" rIns="0" tIns="0" bIns="0" anchor="t">
            <a:spAutoFit/>
          </a:bodyPr>
          <a:lstStyle/>
          <a:p>
            <a:pPr algn="l"/>
            <a:r>
              <a:rPr sz="1300" b="1" i="0">
                <a:solidFill>
                  <a:srgbClr val="1E8449"/>
                </a:solidFill>
                <a:latin typeface="Arial"/>
              </a:rPr>
              <a:t>Cách sửa</a:t>
            </a:r>
          </a:p>
        </p:txBody>
      </p:sp>
      <p:sp>
        <p:nvSpPr>
          <p:cNvPr id="17" name="TextBox 16"/>
          <p:cNvSpPr txBox="1"/>
          <p:nvPr/>
        </p:nvSpPr>
        <p:spPr>
          <a:xfrm>
            <a:off x="7772400" y="5617464"/>
            <a:ext cx="3639312" cy="783336"/>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Dùng trailing, EWMA hay sosfilt, tham số ước lượng trên phần học rồi cố định. Luôn chấm trên chuỗi gốc.</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Làm trơn mục tiêu là chấm trên đề dễ hơn</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12</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target smoothing · evaluation on the raw series</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Nếu bỏ qua:  </a:t>
            </a:r>
            <a:r>
              <a:rPr sz="1600" b="0" i="0">
                <a:solidFill>
                  <a:srgbClr val="1B2A41"/>
                </a:solidFill>
                <a:latin typeface="Arial"/>
              </a:rPr>
              <a:t>báo sai số đẹp giả, và giấu đúng những đỉnh nhọn mô hình sai nhiều nhất.</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D9642B"/>
                </a:solidFill>
                <a:latin typeface="Arial"/>
              </a:rPr>
              <a:t>“Không ai trả tiền điện ‘đã làm trơn’: luôn chấm trên chuỗi gốc.”</a:t>
            </a:r>
          </a:p>
        </p:txBody>
      </p:sp>
      <p:pic>
        <p:nvPicPr>
          <p:cNvPr id="8" name="Picture 7" descr="muc-tieu-lam-tron.png"/>
          <p:cNvPicPr>
            <a:picLocks noChangeAspect="1"/>
          </p:cNvPicPr>
          <p:nvPr/>
        </p:nvPicPr>
        <p:blipFill>
          <a:blip r:embed="rId2"/>
          <a:stretch>
            <a:fillRect/>
          </a:stretch>
        </p:blipFill>
        <p:spPr>
          <a:xfrm>
            <a:off x="2815839" y="2450591"/>
            <a:ext cx="6557272" cy="2395728"/>
          </a:xfrm>
          <a:prstGeom prst="rect">
            <a:avLst/>
          </a:prstGeom>
        </p:spPr>
      </p:pic>
      <p:sp>
        <p:nvSpPr>
          <p:cNvPr id="9" name="Rounded Rectangle 8"/>
          <p:cNvSpPr/>
          <p:nvPr/>
        </p:nvSpPr>
        <p:spPr>
          <a:xfrm>
            <a:off x="548640" y="4983480"/>
            <a:ext cx="3575304" cy="1463040"/>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120640"/>
            <a:ext cx="3118104" cy="274320"/>
          </a:xfrm>
          <a:prstGeom prst="rect">
            <a:avLst/>
          </a:prstGeom>
          <a:noFill/>
        </p:spPr>
        <p:txBody>
          <a:bodyPr wrap="square" lIns="0" rIns="0" tIns="0" bIns="0" anchor="t">
            <a:spAutoFit/>
          </a:bodyPr>
          <a:lstStyle/>
          <a:p>
            <a:pPr algn="l"/>
            <a:r>
              <a:rPr sz="1300" b="1" i="0">
                <a:solidFill>
                  <a:srgbClr val="C0392B"/>
                </a:solidFill>
                <a:latin typeface="Arial"/>
              </a:rPr>
              <a:t>Dấu hiệu</a:t>
            </a:r>
          </a:p>
        </p:txBody>
      </p:sp>
      <p:sp>
        <p:nvSpPr>
          <p:cNvPr id="11" name="TextBox 10"/>
          <p:cNvSpPr txBox="1"/>
          <p:nvPr/>
        </p:nvSpPr>
        <p:spPr>
          <a:xfrm>
            <a:off x="777240"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Chấm trên điện đã làm trơn (centered 13 điểm), MAE giảm từ 46,84 xuống 35,78 Wh (−23,6%) mà mô hình không đổi.</a:t>
            </a:r>
          </a:p>
        </p:txBody>
      </p:sp>
      <p:sp>
        <p:nvSpPr>
          <p:cNvPr id="12" name="Rounded Rectangle 11"/>
          <p:cNvSpPr/>
          <p:nvPr/>
        </p:nvSpPr>
        <p:spPr>
          <a:xfrm>
            <a:off x="4306824" y="4983480"/>
            <a:ext cx="3575304" cy="1463040"/>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5120640"/>
            <a:ext cx="3118104" cy="274320"/>
          </a:xfrm>
          <a:prstGeom prst="rect">
            <a:avLst/>
          </a:prstGeom>
          <a:noFill/>
        </p:spPr>
        <p:txBody>
          <a:bodyPr wrap="square" lIns="0" rIns="0" tIns="0" bIns="0" anchor="t">
            <a:spAutoFit/>
          </a:bodyPr>
          <a:lstStyle/>
          <a:p>
            <a:pPr algn="l"/>
            <a:r>
              <a:rPr sz="1300" b="1" i="0">
                <a:solidFill>
                  <a:srgbClr val="2E6FBF"/>
                </a:solidFill>
                <a:latin typeface="Arial"/>
              </a:rPr>
              <a:t>Kiểm bằng</a:t>
            </a:r>
          </a:p>
        </p:txBody>
      </p:sp>
      <p:sp>
        <p:nvSpPr>
          <p:cNvPr id="14" name="TextBox 13"/>
          <p:cNvSpPr txBox="1"/>
          <p:nvPr/>
        </p:nvSpPr>
        <p:spPr>
          <a:xfrm>
            <a:off x="4535424"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Chấm lại cùng mô hình trên chuỗi gốc; nhìn các đỉnh nhọn mà đường làm trơn đã cắt đi.</a:t>
            </a:r>
          </a:p>
        </p:txBody>
      </p:sp>
      <p:sp>
        <p:nvSpPr>
          <p:cNvPr id="15" name="Rounded Rectangle 14"/>
          <p:cNvSpPr/>
          <p:nvPr/>
        </p:nvSpPr>
        <p:spPr>
          <a:xfrm>
            <a:off x="8065008" y="4983480"/>
            <a:ext cx="3575304" cy="1463040"/>
          </a:xfrm>
          <a:prstGeom prst="roundRect">
            <a:avLst>
              <a:gd name="adj" fmla="val 1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5120640"/>
            <a:ext cx="3118104" cy="274320"/>
          </a:xfrm>
          <a:prstGeom prst="rect">
            <a:avLst/>
          </a:prstGeom>
          <a:noFill/>
        </p:spPr>
        <p:txBody>
          <a:bodyPr wrap="square" lIns="0" rIns="0" tIns="0" bIns="0" anchor="t">
            <a:spAutoFit/>
          </a:bodyPr>
          <a:lstStyle/>
          <a:p>
            <a:pPr algn="l"/>
            <a:r>
              <a:rPr sz="1300" b="1" i="0">
                <a:solidFill>
                  <a:srgbClr val="1E8449"/>
                </a:solidFill>
                <a:latin typeface="Arial"/>
              </a:rPr>
              <a:t>Cách sửa</a:t>
            </a:r>
          </a:p>
        </p:txBody>
      </p:sp>
      <p:sp>
        <p:nvSpPr>
          <p:cNvPr id="17" name="TextBox 16"/>
          <p:cNvSpPr txBox="1"/>
          <p:nvPr/>
        </p:nvSpPr>
        <p:spPr>
          <a:xfrm>
            <a:off x="8293608"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Không làm trơn mục tiêu dùng để chấm. Cần “trung bình 3 giờ tới” thì định nghĩa lại mục tiêu và ghi rõ.</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Rò rỉ: backtest đẹp, dùng thật tệ</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13</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data leakage · target encoding · fit on training data only</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Nếu bỏ qua:  </a:t>
            </a:r>
            <a:r>
              <a:rPr sz="1600" b="0" i="0">
                <a:solidFill>
                  <a:srgbClr val="1B2A41"/>
                </a:solidFill>
                <a:latin typeface="Arial"/>
              </a:rPr>
              <a:t>backtest đẹp, dùng thật tệ, mà không có lỗi nào báo.</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1" i="0">
                <a:solidFill>
                  <a:srgbClr val="D9642B"/>
                </a:solidFill>
                <a:latin typeface="Arial"/>
              </a:rPr>
              <a:t>Rò rỉ tương lai</a:t>
            </a:r>
            <a:r>
              <a:rPr sz="1700" b="0" i="0">
                <a:solidFill>
                  <a:srgbClr val="1B2A41"/>
                </a:solidFill>
                <a:latin typeface="Arial"/>
              </a:rPr>
              <a:t> là dùng thông tin chưa có lúc ra dự báo. Nó không báo lỗi, chỉ làm backtest đẹp giả.</a:t>
            </a:r>
          </a:p>
        </p:txBody>
      </p:sp>
      <p:pic>
        <p:nvPicPr>
          <p:cNvPr id="8" name="Picture 7" descr="kiem-ro-ri.png"/>
          <p:cNvPicPr>
            <a:picLocks noChangeAspect="1"/>
          </p:cNvPicPr>
          <p:nvPr/>
        </p:nvPicPr>
        <p:blipFill>
          <a:blip r:embed="rId2"/>
          <a:stretch>
            <a:fillRect/>
          </a:stretch>
        </p:blipFill>
        <p:spPr>
          <a:xfrm>
            <a:off x="2251427" y="2450591"/>
            <a:ext cx="7686097" cy="2395728"/>
          </a:xfrm>
          <a:prstGeom prst="rect">
            <a:avLst/>
          </a:prstGeom>
        </p:spPr>
      </p:pic>
      <p:sp>
        <p:nvSpPr>
          <p:cNvPr id="9" name="Rounded Rectangle 8"/>
          <p:cNvSpPr/>
          <p:nvPr/>
        </p:nvSpPr>
        <p:spPr>
          <a:xfrm>
            <a:off x="548640" y="4983480"/>
            <a:ext cx="3575304" cy="1463040"/>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120640"/>
            <a:ext cx="3118104" cy="274320"/>
          </a:xfrm>
          <a:prstGeom prst="rect">
            <a:avLst/>
          </a:prstGeom>
          <a:noFill/>
        </p:spPr>
        <p:txBody>
          <a:bodyPr wrap="square" lIns="0" rIns="0" tIns="0" bIns="0" anchor="t">
            <a:spAutoFit/>
          </a:bodyPr>
          <a:lstStyle/>
          <a:p>
            <a:pPr algn="l"/>
            <a:r>
              <a:rPr sz="1300" b="1" i="0">
                <a:solidFill>
                  <a:srgbClr val="C0392B"/>
                </a:solidFill>
                <a:latin typeface="Arial"/>
              </a:rPr>
              <a:t>Dấu hiệu</a:t>
            </a:r>
          </a:p>
        </p:txBody>
      </p:sp>
      <p:sp>
        <p:nvSpPr>
          <p:cNvPr id="11" name="TextBox 10"/>
          <p:cNvSpPr txBox="1"/>
          <p:nvPr/>
        </p:nvSpPr>
        <p:spPr>
          <a:xfrm>
            <a:off x="777240"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Sai số backtest đẹp hơn hẳn sai số khi chạy thật.</a:t>
            </a:r>
          </a:p>
        </p:txBody>
      </p:sp>
      <p:sp>
        <p:nvSpPr>
          <p:cNvPr id="12" name="Rounded Rectangle 11"/>
          <p:cNvSpPr/>
          <p:nvPr/>
        </p:nvSpPr>
        <p:spPr>
          <a:xfrm>
            <a:off x="4306824" y="4983480"/>
            <a:ext cx="3575304" cy="1463040"/>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5120640"/>
            <a:ext cx="3118104" cy="274320"/>
          </a:xfrm>
          <a:prstGeom prst="rect">
            <a:avLst/>
          </a:prstGeom>
          <a:noFill/>
        </p:spPr>
        <p:txBody>
          <a:bodyPr wrap="square" lIns="0" rIns="0" tIns="0" bIns="0" anchor="t">
            <a:spAutoFit/>
          </a:bodyPr>
          <a:lstStyle/>
          <a:p>
            <a:pPr algn="l"/>
            <a:r>
              <a:rPr sz="1300" b="1" i="0">
                <a:solidFill>
                  <a:srgbClr val="2E6FBF"/>
                </a:solidFill>
                <a:latin typeface="Arial"/>
              </a:rPr>
              <a:t>Kiểm bằng</a:t>
            </a:r>
          </a:p>
        </p:txBody>
      </p:sp>
      <p:sp>
        <p:nvSpPr>
          <p:cNvPr id="14" name="TextBox 13"/>
          <p:cNvSpPr txBox="1"/>
          <p:nvPr/>
        </p:nvSpPr>
        <p:spPr>
          <a:xfrm>
            <a:off x="4535424"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kiem_ro_ri: cắt ở nhiều mốc, tính lại, so từng dòng. Thêm kiểm nhiễu mục tiêu để bắt lag nhỏ hơn h.</a:t>
            </a:r>
          </a:p>
        </p:txBody>
      </p:sp>
      <p:sp>
        <p:nvSpPr>
          <p:cNvPr id="15" name="Rounded Rectangle 14"/>
          <p:cNvSpPr/>
          <p:nvPr/>
        </p:nvSpPr>
        <p:spPr>
          <a:xfrm>
            <a:off x="8065008" y="4983480"/>
            <a:ext cx="3575304" cy="1463040"/>
          </a:xfrm>
          <a:prstGeom prst="roundRect">
            <a:avLst>
              <a:gd name="adj" fmla="val 1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5120640"/>
            <a:ext cx="3118104" cy="274320"/>
          </a:xfrm>
          <a:prstGeom prst="rect">
            <a:avLst/>
          </a:prstGeom>
          <a:noFill/>
        </p:spPr>
        <p:txBody>
          <a:bodyPr wrap="square" lIns="0" rIns="0" tIns="0" bIns="0" anchor="t">
            <a:spAutoFit/>
          </a:bodyPr>
          <a:lstStyle/>
          <a:p>
            <a:pPr algn="l"/>
            <a:r>
              <a:rPr sz="1300" b="1" i="0">
                <a:solidFill>
                  <a:srgbClr val="1E8449"/>
                </a:solidFill>
                <a:latin typeface="Arial"/>
              </a:rPr>
              <a:t>Cách sửa</a:t>
            </a:r>
          </a:p>
        </p:txBody>
      </p:sp>
      <p:sp>
        <p:nvSpPr>
          <p:cNvPr id="17" name="TextBox 16"/>
          <p:cNvSpPr txBox="1"/>
          <p:nvPr/>
        </p:nvSpPr>
        <p:spPr>
          <a:xfrm>
            <a:off x="8293608"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shift(h) rồi mới rolling; scaler và target encoding chỉ fit trên phần học.</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Học bằng nhiệt độ thật, chạy thật lại tệ hơn</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13</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exogenous variable · ex-ante vs ex-post · archived forecasts</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Nếu bỏ qua:  </a:t>
            </a:r>
            <a:r>
              <a:rPr sz="1600" b="0" i="0">
                <a:solidFill>
                  <a:srgbClr val="1B2A41"/>
                </a:solidFill>
                <a:latin typeface="Arial"/>
              </a:rPr>
              <a:t>mô hình tin nhiệt độ quá mức, chạy thật còn tệ hơn không dùng.</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D9642B"/>
                </a:solidFill>
                <a:latin typeface="Arial"/>
              </a:rPr>
              <a:t>“Train bằng bản dự báo thì lúc chạy cũng dùng bản dự báo; đừng train bằng số thật.”</a:t>
            </a:r>
          </a:p>
        </p:txBody>
      </p:sp>
      <p:pic>
        <p:nvPicPr>
          <p:cNvPr id="8" name="Picture 7" descr="gia-ro-ri.png"/>
          <p:cNvPicPr>
            <a:picLocks noChangeAspect="1"/>
          </p:cNvPicPr>
          <p:nvPr/>
        </p:nvPicPr>
        <p:blipFill>
          <a:blip r:embed="rId2"/>
          <a:stretch>
            <a:fillRect/>
          </a:stretch>
        </p:blipFill>
        <p:spPr>
          <a:xfrm>
            <a:off x="2232545" y="2450591"/>
            <a:ext cx="7723861" cy="2395728"/>
          </a:xfrm>
          <a:prstGeom prst="rect">
            <a:avLst/>
          </a:prstGeom>
        </p:spPr>
      </p:pic>
      <p:sp>
        <p:nvSpPr>
          <p:cNvPr id="9" name="Rounded Rectangle 8"/>
          <p:cNvSpPr/>
          <p:nvPr/>
        </p:nvSpPr>
        <p:spPr>
          <a:xfrm>
            <a:off x="548640" y="4983480"/>
            <a:ext cx="3575304" cy="1463040"/>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120640"/>
            <a:ext cx="3118104" cy="274320"/>
          </a:xfrm>
          <a:prstGeom prst="rect">
            <a:avLst/>
          </a:prstGeom>
          <a:noFill/>
        </p:spPr>
        <p:txBody>
          <a:bodyPr wrap="square" lIns="0" rIns="0" tIns="0" bIns="0" anchor="t">
            <a:spAutoFit/>
          </a:bodyPr>
          <a:lstStyle/>
          <a:p>
            <a:pPr algn="l"/>
            <a:r>
              <a:rPr sz="1300" b="1" i="0">
                <a:solidFill>
                  <a:srgbClr val="C0392B"/>
                </a:solidFill>
                <a:latin typeface="Arial"/>
              </a:rPr>
              <a:t>Dấu hiệu</a:t>
            </a:r>
          </a:p>
        </p:txBody>
      </p:sp>
      <p:sp>
        <p:nvSpPr>
          <p:cNvPr id="11" name="TextBox 10"/>
          <p:cNvSpPr txBox="1"/>
          <p:nvPr/>
        </p:nvSpPr>
        <p:spPr>
          <a:xfrm>
            <a:off x="777240"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Backtest hứa giảm 3,85% sai số, nhưng chạy bằng dự báo trước 3 ngày thì sai số lại tăng 2,20%.</a:t>
            </a:r>
          </a:p>
        </p:txBody>
      </p:sp>
      <p:sp>
        <p:nvSpPr>
          <p:cNvPr id="12" name="Rounded Rectangle 11"/>
          <p:cNvSpPr/>
          <p:nvPr/>
        </p:nvSpPr>
        <p:spPr>
          <a:xfrm>
            <a:off x="4306824" y="4983480"/>
            <a:ext cx="3575304" cy="1463040"/>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5120640"/>
            <a:ext cx="3118104" cy="274320"/>
          </a:xfrm>
          <a:prstGeom prst="rect">
            <a:avLst/>
          </a:prstGeom>
          <a:noFill/>
        </p:spPr>
        <p:txBody>
          <a:bodyPr wrap="square" lIns="0" rIns="0" tIns="0" bIns="0" anchor="t">
            <a:spAutoFit/>
          </a:bodyPr>
          <a:lstStyle/>
          <a:p>
            <a:pPr algn="l"/>
            <a:r>
              <a:rPr sz="1300" b="1" i="0">
                <a:solidFill>
                  <a:srgbClr val="2E6FBF"/>
                </a:solidFill>
                <a:latin typeface="Arial"/>
              </a:rPr>
              <a:t>Kiểm bằng</a:t>
            </a:r>
          </a:p>
        </p:txBody>
      </p:sp>
      <p:sp>
        <p:nvSpPr>
          <p:cNvPr id="14" name="TextBox 13"/>
          <p:cNvSpPr txBox="1"/>
          <p:nvPr/>
        </p:nvSpPr>
        <p:spPr>
          <a:xfrm>
            <a:off x="4535424"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Hỏi với từng biến: lúc ra dự báo, con số này đã có trong tay chưa?</a:t>
            </a:r>
          </a:p>
        </p:txBody>
      </p:sp>
      <p:sp>
        <p:nvSpPr>
          <p:cNvPr id="15" name="Rounded Rectangle 14"/>
          <p:cNvSpPr/>
          <p:nvPr/>
        </p:nvSpPr>
        <p:spPr>
          <a:xfrm>
            <a:off x="8065008" y="4983480"/>
            <a:ext cx="3575304" cy="1463040"/>
          </a:xfrm>
          <a:prstGeom prst="roundRect">
            <a:avLst>
              <a:gd name="adj" fmla="val 1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5120640"/>
            <a:ext cx="3118104" cy="274320"/>
          </a:xfrm>
          <a:prstGeom prst="rect">
            <a:avLst/>
          </a:prstGeom>
          <a:noFill/>
        </p:spPr>
        <p:txBody>
          <a:bodyPr wrap="square" lIns="0" rIns="0" tIns="0" bIns="0" anchor="t">
            <a:spAutoFit/>
          </a:bodyPr>
          <a:lstStyle/>
          <a:p>
            <a:pPr algn="l"/>
            <a:r>
              <a:rPr sz="1300" b="1" i="0">
                <a:solidFill>
                  <a:srgbClr val="1E8449"/>
                </a:solidFill>
                <a:latin typeface="Arial"/>
              </a:rPr>
              <a:t>Cách sửa</a:t>
            </a:r>
          </a:p>
        </p:txBody>
      </p:sp>
      <p:sp>
        <p:nvSpPr>
          <p:cNvPr id="17" name="TextBox 16"/>
          <p:cNvSpPr txBox="1"/>
          <p:nvPr/>
        </p:nvSpPr>
        <p:spPr>
          <a:xfrm>
            <a:off x="8293608"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Huấn luyện bằng các bản dự báo đã lưu lại; ghép bằng merge_asof có tolerance.</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bg>
      <p:bgPr>
        <a:solidFill>
          <a:srgbClr val="1B2A41"/>
        </a:solidFill>
        <a:effectLst/>
      </p:bgPr>
    </p:bg>
    <p:spTree>
      <p:nvGrpSpPr>
        <p:cNvPr id="1" name=""/>
        <p:cNvGrpSpPr/>
        <p:nvPr/>
      </p:nvGrpSpPr>
      <p:grpSpPr/>
      <p:sp>
        <p:nvSpPr>
          <p:cNvPr id="2" name="Oval 1"/>
          <p:cNvSpPr/>
          <p:nvPr/>
        </p:nvSpPr>
        <p:spPr>
          <a:xfrm>
            <a:off x="822960" y="1828800"/>
            <a:ext cx="1463040" cy="1463040"/>
          </a:xfrm>
          <a:prstGeom prst="ellipse">
            <a:avLst/>
          </a:prstGeom>
          <a:solidFill>
            <a:srgbClr val="A77B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6000" b="1" i="0">
                <a:solidFill>
                  <a:srgbClr val="FFFFFF"/>
                </a:solidFill>
                <a:latin typeface="Arial"/>
              </a:rPr>
              <a:t>C</a:t>
            </a:r>
          </a:p>
        </p:txBody>
      </p:sp>
      <p:sp>
        <p:nvSpPr>
          <p:cNvPr id="3" name="TextBox 2"/>
          <p:cNvSpPr txBox="1"/>
          <p:nvPr/>
        </p:nvSpPr>
        <p:spPr>
          <a:xfrm>
            <a:off x="822960" y="3611880"/>
            <a:ext cx="6035040" cy="822960"/>
          </a:xfrm>
          <a:prstGeom prst="rect">
            <a:avLst/>
          </a:prstGeom>
          <a:noFill/>
        </p:spPr>
        <p:txBody>
          <a:bodyPr wrap="square" lIns="0" rIns="0" tIns="0" bIns="0" anchor="t">
            <a:spAutoFit/>
          </a:bodyPr>
          <a:lstStyle/>
          <a:p>
            <a:pPr algn="l"/>
            <a:r>
              <a:rPr sz="3800" b="1" i="0">
                <a:solidFill>
                  <a:srgbClr val="FFFFFF"/>
                </a:solidFill>
                <a:latin typeface="Arial"/>
              </a:rPr>
              <a:t>Bảng tra &amp; từ điển</a:t>
            </a:r>
          </a:p>
        </p:txBody>
      </p:sp>
      <p:sp>
        <p:nvSpPr>
          <p:cNvPr id="4" name="TextBox 3"/>
          <p:cNvSpPr txBox="1"/>
          <p:nvPr/>
        </p:nvSpPr>
        <p:spPr>
          <a:xfrm>
            <a:off x="822960" y="4434840"/>
            <a:ext cx="5120640" cy="457200"/>
          </a:xfrm>
          <a:prstGeom prst="rect">
            <a:avLst/>
          </a:prstGeom>
          <a:noFill/>
        </p:spPr>
        <p:txBody>
          <a:bodyPr wrap="square" lIns="0" rIns="0" tIns="0" bIns="0" anchor="t">
            <a:spAutoFit/>
          </a:bodyPr>
          <a:lstStyle/>
          <a:p>
            <a:pPr algn="l"/>
            <a:r>
              <a:rPr sz="1800" b="1" i="0">
                <a:solidFill>
                  <a:srgbClr val="A77B06"/>
                </a:solidFill>
                <a:latin typeface="Arial"/>
              </a:rPr>
              <a:t>24 lỗi · 10 chỗ nhầm · 100 từ</a:t>
            </a:r>
          </a:p>
        </p:txBody>
      </p:sp>
      <p:sp>
        <p:nvSpPr>
          <p:cNvPr id="5" name="TextBox 4"/>
          <p:cNvSpPr txBox="1"/>
          <p:nvPr/>
        </p:nvSpPr>
        <p:spPr>
          <a:xfrm>
            <a:off x="822960" y="4937760"/>
            <a:ext cx="4937760" cy="914400"/>
          </a:xfrm>
          <a:prstGeom prst="rect">
            <a:avLst/>
          </a:prstGeom>
          <a:noFill/>
        </p:spPr>
        <p:txBody>
          <a:bodyPr wrap="square" lIns="0" rIns="0" tIns="0" bIns="0" anchor="t">
            <a:spAutoFit/>
          </a:bodyPr>
          <a:lstStyle/>
          <a:p>
            <a:pPr algn="l"/>
            <a:r>
              <a:rPr sz="1600" b="0" i="0">
                <a:solidFill>
                  <a:srgbClr val="C9D3E0"/>
                </a:solidFill>
                <a:latin typeface="Arial"/>
              </a:rPr>
              <a:t>Gom lại để tra nhanh khi làm thật, kèm từ điển Việt – Anh để đọc tài liệu gốc.</a:t>
            </a:r>
          </a:p>
        </p:txBody>
      </p:sp>
      <p:cxnSp>
        <p:nvCxnSpPr>
          <p:cNvPr id="6" name="Connector 5"/>
          <p:cNvCxnSpPr/>
          <p:nvPr/>
        </p:nvCxnSpPr>
        <p:spPr>
          <a:xfrm flipH="1" flipV="1">
            <a:off x="7155180" y="2125980"/>
            <a:ext cx="1943100" cy="937259"/>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7155180" y="3063239"/>
            <a:ext cx="1943100" cy="0"/>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7155180" y="3063239"/>
            <a:ext cx="1943100" cy="937261"/>
          </a:xfrm>
          <a:prstGeom prst="line">
            <a:avLst/>
          </a:prstGeom>
          <a:ln w="19050">
            <a:solidFill>
              <a:srgbClr val="A77B06"/>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9098280" y="2125980"/>
            <a:ext cx="1943100" cy="937259"/>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098280" y="3063239"/>
            <a:ext cx="1943100" cy="0"/>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098280" y="3063239"/>
            <a:ext cx="1943100" cy="937261"/>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8298179" y="2697479"/>
            <a:ext cx="1600200" cy="731520"/>
          </a:xfrm>
          <a:prstGeom prst="ellipse">
            <a:avLst/>
          </a:prstGeom>
          <a:solidFill>
            <a:srgbClr val="1B2A41"/>
          </a:solidFill>
          <a:ln w="15875">
            <a:solidFill>
              <a:srgbClr val="8FA3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55080" y="1817369"/>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A. Khái niệm nền</a:t>
            </a:r>
          </a:p>
        </p:txBody>
      </p:sp>
      <p:sp>
        <p:nvSpPr>
          <p:cNvPr id="14" name="Rounded Rectangle 13"/>
          <p:cNvSpPr/>
          <p:nvPr/>
        </p:nvSpPr>
        <p:spPr>
          <a:xfrm>
            <a:off x="6355080" y="2754630"/>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B. Vấn đề dữ liệu</a:t>
            </a:r>
          </a:p>
        </p:txBody>
      </p:sp>
      <p:sp>
        <p:nvSpPr>
          <p:cNvPr id="15" name="Rounded Rectangle 14"/>
          <p:cNvSpPr/>
          <p:nvPr/>
        </p:nvSpPr>
        <p:spPr>
          <a:xfrm>
            <a:off x="6355080" y="3691889"/>
            <a:ext cx="1600200" cy="617220"/>
          </a:xfrm>
          <a:prstGeom prst="roundRect">
            <a:avLst>
              <a:gd name="adj" fmla="val 18000"/>
            </a:avLst>
          </a:prstGeom>
          <a:solidFill>
            <a:srgbClr val="A77B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FFFFFF"/>
                </a:solidFill>
                <a:latin typeface="Arial"/>
              </a:rPr>
              <a:t>C. Bảng tra &amp; từ điển</a:t>
            </a:r>
          </a:p>
        </p:txBody>
      </p:sp>
      <p:sp>
        <p:nvSpPr>
          <p:cNvPr id="16" name="Rounded Rectangle 15"/>
          <p:cNvSpPr/>
          <p:nvPr/>
        </p:nvSpPr>
        <p:spPr>
          <a:xfrm>
            <a:off x="10241280" y="1817369"/>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D. Đánh giá trung thực</a:t>
            </a:r>
          </a:p>
        </p:txBody>
      </p:sp>
      <p:sp>
        <p:nvSpPr>
          <p:cNvPr id="17" name="Rounded Rectangle 16"/>
          <p:cNvSpPr/>
          <p:nvPr/>
        </p:nvSpPr>
        <p:spPr>
          <a:xfrm>
            <a:off x="10241280" y="2754630"/>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E. Quy trình tiền xử lý</a:t>
            </a:r>
          </a:p>
        </p:txBody>
      </p:sp>
      <p:sp>
        <p:nvSpPr>
          <p:cNvPr id="18" name="Rounded Rectangle 17"/>
          <p:cNvSpPr/>
          <p:nvPr/>
        </p:nvSpPr>
        <p:spPr>
          <a:xfrm>
            <a:off x="10241280" y="3691889"/>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F. Dữ liệu &amp; phía trước</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A77B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C</a:t>
            </a:r>
          </a:p>
        </p:txBody>
      </p:sp>
      <p:sp>
        <p:nvSpPr>
          <p:cNvPr id="3" name="TextBox 2"/>
          <p:cNvSpPr txBox="1"/>
          <p:nvPr/>
        </p:nvSpPr>
        <p:spPr>
          <a:xfrm>
            <a:off x="1325880" y="384048"/>
            <a:ext cx="10332720" cy="731520"/>
          </a:xfrm>
          <a:prstGeom prst="rect">
            <a:avLst/>
          </a:prstGeom>
          <a:noFill/>
        </p:spPr>
        <p:txBody>
          <a:bodyPr wrap="square" lIns="0" rIns="0" tIns="0" bIns="0" anchor="ctr">
            <a:spAutoFit/>
          </a:bodyPr>
          <a:lstStyle/>
          <a:p>
            <a:pPr algn="l"/>
            <a:r>
              <a:rPr sz="3000" b="1" i="0">
                <a:solidFill>
                  <a:srgbClr val="1B2A41"/>
                </a:solidFill>
                <a:latin typeface="Arial"/>
              </a:rPr>
              <a:t>Bảng tra 1/3: thời gian, biểu đồ, biến đổi</a:t>
            </a:r>
          </a:p>
        </p:txBody>
      </p:sp>
      <p:sp>
        <p:nvSpPr>
          <p:cNvPr id="4" name="TextBox 3"/>
          <p:cNvSpPr txBox="1"/>
          <p:nvPr/>
        </p:nvSpPr>
        <p:spPr>
          <a:xfrm>
            <a:off x="685800" y="1417320"/>
            <a:ext cx="3291840" cy="365760"/>
          </a:xfrm>
          <a:prstGeom prst="rect">
            <a:avLst/>
          </a:prstGeom>
          <a:noFill/>
        </p:spPr>
        <p:txBody>
          <a:bodyPr wrap="square" lIns="0" rIns="0" tIns="0" bIns="0" anchor="t">
            <a:spAutoFit/>
          </a:bodyPr>
          <a:lstStyle/>
          <a:p>
            <a:pPr algn="l"/>
            <a:r>
              <a:rPr sz="1100" b="1" i="0">
                <a:solidFill>
                  <a:srgbClr val="C0392B"/>
                </a:solidFill>
                <a:latin typeface="Arial"/>
              </a:rPr>
              <a:t>DẤU HIỆU</a:t>
            </a:r>
          </a:p>
        </p:txBody>
      </p:sp>
      <p:sp>
        <p:nvSpPr>
          <p:cNvPr id="5" name="TextBox 4"/>
          <p:cNvSpPr txBox="1"/>
          <p:nvPr/>
        </p:nvSpPr>
        <p:spPr>
          <a:xfrm>
            <a:off x="4251960" y="1417320"/>
            <a:ext cx="3017520" cy="365760"/>
          </a:xfrm>
          <a:prstGeom prst="rect">
            <a:avLst/>
          </a:prstGeom>
          <a:noFill/>
        </p:spPr>
        <p:txBody>
          <a:bodyPr wrap="square" lIns="0" rIns="0" tIns="0" bIns="0" anchor="t">
            <a:spAutoFit/>
          </a:bodyPr>
          <a:lstStyle/>
          <a:p>
            <a:pPr algn="l"/>
            <a:r>
              <a:rPr sz="1100" b="1" i="0">
                <a:solidFill>
                  <a:srgbClr val="2E6FBF"/>
                </a:solidFill>
                <a:latin typeface="Arial"/>
              </a:rPr>
              <a:t>KIỂM BẰNG</a:t>
            </a:r>
          </a:p>
        </p:txBody>
      </p:sp>
      <p:sp>
        <p:nvSpPr>
          <p:cNvPr id="6" name="TextBox 5"/>
          <p:cNvSpPr txBox="1"/>
          <p:nvPr/>
        </p:nvSpPr>
        <p:spPr>
          <a:xfrm>
            <a:off x="7543800" y="1417320"/>
            <a:ext cx="3044952" cy="365760"/>
          </a:xfrm>
          <a:prstGeom prst="rect">
            <a:avLst/>
          </a:prstGeom>
          <a:noFill/>
        </p:spPr>
        <p:txBody>
          <a:bodyPr wrap="square" lIns="0" rIns="0" tIns="0" bIns="0" anchor="t">
            <a:spAutoFit/>
          </a:bodyPr>
          <a:lstStyle/>
          <a:p>
            <a:pPr algn="l"/>
            <a:r>
              <a:rPr sz="1100" b="1" i="0">
                <a:solidFill>
                  <a:srgbClr val="1E8449"/>
                </a:solidFill>
                <a:latin typeface="Arial"/>
              </a:rPr>
              <a:t>CÁCH SỬA</a:t>
            </a:r>
          </a:p>
        </p:txBody>
      </p:sp>
      <p:sp>
        <p:nvSpPr>
          <p:cNvPr id="7" name="TextBox 6"/>
          <p:cNvSpPr txBox="1"/>
          <p:nvPr/>
        </p:nvSpPr>
        <p:spPr>
          <a:xfrm>
            <a:off x="10863072" y="1417320"/>
            <a:ext cx="640080" cy="365760"/>
          </a:xfrm>
          <a:prstGeom prst="rect">
            <a:avLst/>
          </a:prstGeom>
          <a:noFill/>
        </p:spPr>
        <p:txBody>
          <a:bodyPr wrap="square" lIns="0" rIns="0" tIns="0" bIns="0" anchor="t">
            <a:spAutoFit/>
          </a:bodyPr>
          <a:lstStyle/>
          <a:p>
            <a:pPr algn="l"/>
            <a:r>
              <a:rPr sz="1100" b="1" i="0">
                <a:solidFill>
                  <a:srgbClr val="5B6778"/>
                </a:solidFill>
                <a:latin typeface="Arial"/>
              </a:rPr>
              <a:t>BUỔI</a:t>
            </a:r>
          </a:p>
        </p:txBody>
      </p:sp>
      <p:sp>
        <p:nvSpPr>
          <p:cNvPr id="8" name="Rounded Rectangle 7"/>
          <p:cNvSpPr/>
          <p:nvPr/>
        </p:nvSpPr>
        <p:spPr>
          <a:xfrm>
            <a:off x="548640" y="1828800"/>
            <a:ext cx="11091672" cy="493775"/>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828800"/>
            <a:ext cx="3291840" cy="493775"/>
          </a:xfrm>
          <a:prstGeom prst="rect">
            <a:avLst/>
          </a:prstGeom>
          <a:noFill/>
        </p:spPr>
        <p:txBody>
          <a:bodyPr wrap="square" lIns="0" rIns="0" tIns="0" bIns="0" anchor="ctr">
            <a:spAutoFit/>
          </a:bodyPr>
          <a:lstStyle/>
          <a:p>
            <a:pPr algn="l"/>
            <a:r>
              <a:rPr sz="1500" b="1" i="0">
                <a:solidFill>
                  <a:srgbClr val="1B2A41"/>
                </a:solidFill>
                <a:latin typeface="Arial"/>
              </a:rPr>
              <a:t>Giờ = 0 rạng sáng CN tháng 3</a:t>
            </a:r>
          </a:p>
        </p:txBody>
      </p:sp>
      <p:sp>
        <p:nvSpPr>
          <p:cNvPr id="10" name="TextBox 9"/>
          <p:cNvSpPr txBox="1"/>
          <p:nvPr/>
        </p:nvSpPr>
        <p:spPr>
          <a:xfrm>
            <a:off x="4251960" y="1828800"/>
            <a:ext cx="3017520" cy="493775"/>
          </a:xfrm>
          <a:prstGeom prst="rect">
            <a:avLst/>
          </a:prstGeom>
          <a:noFill/>
        </p:spPr>
        <p:txBody>
          <a:bodyPr wrap="square" lIns="0" rIns="0" tIns="0" bIns="0" anchor="ctr">
            <a:spAutoFit/>
          </a:bodyPr>
          <a:lstStyle/>
          <a:p>
            <a:pPr algn="l"/>
            <a:r>
              <a:rPr sz="1500" b="0" i="0">
                <a:solidFill>
                  <a:srgbClr val="1B2A41"/>
                </a:solidFill>
                <a:latin typeface="Arial"/>
              </a:rPr>
              <a:t>In 00:00–05:00 ngày đổi giờ</a:t>
            </a:r>
          </a:p>
        </p:txBody>
      </p:sp>
      <p:sp>
        <p:nvSpPr>
          <p:cNvPr id="11" name="TextBox 10"/>
          <p:cNvSpPr txBox="1"/>
          <p:nvPr/>
        </p:nvSpPr>
        <p:spPr>
          <a:xfrm>
            <a:off x="7543800" y="1828800"/>
            <a:ext cx="3044952" cy="493775"/>
          </a:xfrm>
          <a:prstGeom prst="rect">
            <a:avLst/>
          </a:prstGeom>
          <a:noFill/>
        </p:spPr>
        <p:txBody>
          <a:bodyPr wrap="square" lIns="0" rIns="0" tIns="0" bIns="0" anchor="ctr">
            <a:spAutoFit/>
          </a:bodyPr>
          <a:lstStyle/>
          <a:p>
            <a:pPr algn="l"/>
            <a:r>
              <a:rPr sz="1500" b="0" i="0">
                <a:solidFill>
                  <a:srgbClr val="1B2A41"/>
                </a:solidFill>
                <a:latin typeface="Arial"/>
              </a:rPr>
              <a:t>Gắn múi giờ → UTC rồi gộp</a:t>
            </a:r>
          </a:p>
        </p:txBody>
      </p:sp>
      <p:sp>
        <p:nvSpPr>
          <p:cNvPr id="12" name="TextBox 11"/>
          <p:cNvSpPr txBox="1"/>
          <p:nvPr/>
        </p:nvSpPr>
        <p:spPr>
          <a:xfrm>
            <a:off x="10863072" y="1828800"/>
            <a:ext cx="640080" cy="493775"/>
          </a:xfrm>
          <a:prstGeom prst="rect">
            <a:avLst/>
          </a:prstGeom>
          <a:noFill/>
        </p:spPr>
        <p:txBody>
          <a:bodyPr wrap="square" lIns="0" rIns="0" tIns="0" bIns="0" anchor="ctr">
            <a:spAutoFit/>
          </a:bodyPr>
          <a:lstStyle/>
          <a:p>
            <a:pPr algn="l"/>
            <a:r>
              <a:rPr sz="1500" b="0" i="0">
                <a:solidFill>
                  <a:srgbClr val="5B6778"/>
                </a:solidFill>
                <a:latin typeface="Arial"/>
              </a:rPr>
              <a:t>3</a:t>
            </a:r>
          </a:p>
        </p:txBody>
      </p:sp>
      <p:sp>
        <p:nvSpPr>
          <p:cNvPr id="13" name="TextBox 12"/>
          <p:cNvSpPr txBox="1"/>
          <p:nvPr/>
        </p:nvSpPr>
        <p:spPr>
          <a:xfrm>
            <a:off x="685800" y="2359152"/>
            <a:ext cx="3291840" cy="493775"/>
          </a:xfrm>
          <a:prstGeom prst="rect">
            <a:avLst/>
          </a:prstGeom>
          <a:noFill/>
        </p:spPr>
        <p:txBody>
          <a:bodyPr wrap="square" lIns="0" rIns="0" tIns="0" bIns="0" anchor="ctr">
            <a:spAutoFit/>
          </a:bodyPr>
          <a:lstStyle/>
          <a:p>
            <a:pPr algn="l"/>
            <a:r>
              <a:rPr sz="1500" b="1" i="0">
                <a:solidFill>
                  <a:srgbClr val="1B2A41"/>
                </a:solidFill>
                <a:latin typeface="Arial"/>
              </a:rPr>
              <a:t>Nóng nhất lúc 20h</a:t>
            </a:r>
          </a:p>
        </p:txBody>
      </p:sp>
      <p:sp>
        <p:nvSpPr>
          <p:cNvPr id="14" name="TextBox 13"/>
          <p:cNvSpPr txBox="1"/>
          <p:nvPr/>
        </p:nvSpPr>
        <p:spPr>
          <a:xfrm>
            <a:off x="4251960" y="2359152"/>
            <a:ext cx="3017520" cy="493775"/>
          </a:xfrm>
          <a:prstGeom prst="rect">
            <a:avLst/>
          </a:prstGeom>
          <a:noFill/>
        </p:spPr>
        <p:txBody>
          <a:bodyPr wrap="square" lIns="0" rIns="0" tIns="0" bIns="0" anchor="ctr">
            <a:spAutoFit/>
          </a:bodyPr>
          <a:lstStyle/>
          <a:p>
            <a:pPr algn="l"/>
            <a:r>
              <a:rPr sz="1500" b="0" i="0">
                <a:solidFill>
                  <a:srgbClr val="1B2A41"/>
                </a:solidFill>
                <a:latin typeface="Arial"/>
              </a:rPr>
              <a:t>Giờ nóng nhất trung bình</a:t>
            </a:r>
          </a:p>
        </p:txBody>
      </p:sp>
      <p:sp>
        <p:nvSpPr>
          <p:cNvPr id="15" name="TextBox 14"/>
          <p:cNvSpPr txBox="1"/>
          <p:nvPr/>
        </p:nvSpPr>
        <p:spPr>
          <a:xfrm>
            <a:off x="7543800" y="2359152"/>
            <a:ext cx="3044952" cy="493775"/>
          </a:xfrm>
          <a:prstGeom prst="rect">
            <a:avLst/>
          </a:prstGeom>
          <a:noFill/>
        </p:spPr>
        <p:txBody>
          <a:bodyPr wrap="square" lIns="0" rIns="0" tIns="0" bIns="0" anchor="ctr">
            <a:spAutoFit/>
          </a:bodyPr>
          <a:lstStyle/>
          <a:p>
            <a:pPr algn="l"/>
            <a:r>
              <a:rPr sz="1500" b="0" i="0">
                <a:solidFill>
                  <a:srgbClr val="1B2A41"/>
                </a:solidFill>
                <a:latin typeface="Arial"/>
              </a:rPr>
              <a:t>Mọi nguồn về UTC</a:t>
            </a:r>
          </a:p>
        </p:txBody>
      </p:sp>
      <p:sp>
        <p:nvSpPr>
          <p:cNvPr id="16" name="TextBox 15"/>
          <p:cNvSpPr txBox="1"/>
          <p:nvPr/>
        </p:nvSpPr>
        <p:spPr>
          <a:xfrm>
            <a:off x="10863072" y="2359152"/>
            <a:ext cx="640080" cy="493775"/>
          </a:xfrm>
          <a:prstGeom prst="rect">
            <a:avLst/>
          </a:prstGeom>
          <a:noFill/>
        </p:spPr>
        <p:txBody>
          <a:bodyPr wrap="square" lIns="0" rIns="0" tIns="0" bIns="0" anchor="ctr">
            <a:spAutoFit/>
          </a:bodyPr>
          <a:lstStyle/>
          <a:p>
            <a:pPr algn="l"/>
            <a:r>
              <a:rPr sz="1500" b="0" i="0">
                <a:solidFill>
                  <a:srgbClr val="5B6778"/>
                </a:solidFill>
                <a:latin typeface="Arial"/>
              </a:rPr>
              <a:t>3, 10</a:t>
            </a:r>
          </a:p>
        </p:txBody>
      </p:sp>
      <p:sp>
        <p:nvSpPr>
          <p:cNvPr id="17" name="Rounded Rectangle 16"/>
          <p:cNvSpPr/>
          <p:nvPr/>
        </p:nvSpPr>
        <p:spPr>
          <a:xfrm>
            <a:off x="548640" y="2889504"/>
            <a:ext cx="11091672" cy="493775"/>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889504"/>
            <a:ext cx="3291840" cy="493775"/>
          </a:xfrm>
          <a:prstGeom prst="rect">
            <a:avLst/>
          </a:prstGeom>
          <a:noFill/>
        </p:spPr>
        <p:txBody>
          <a:bodyPr wrap="square" lIns="0" rIns="0" tIns="0" bIns="0" anchor="ctr">
            <a:spAutoFit/>
          </a:bodyPr>
          <a:lstStyle/>
          <a:p>
            <a:pPr algn="l"/>
            <a:r>
              <a:rPr sz="1500" b="1" i="0">
                <a:solidFill>
                  <a:srgbClr val="1B2A41"/>
                </a:solidFill>
                <a:latin typeface="Arial"/>
              </a:rPr>
              <a:t>“Không có mùa vụ tuần”</a:t>
            </a:r>
          </a:p>
        </p:txBody>
      </p:sp>
      <p:sp>
        <p:nvSpPr>
          <p:cNvPr id="19" name="TextBox 18"/>
          <p:cNvSpPr txBox="1"/>
          <p:nvPr/>
        </p:nvSpPr>
        <p:spPr>
          <a:xfrm>
            <a:off x="4251960" y="2889504"/>
            <a:ext cx="3017520" cy="493775"/>
          </a:xfrm>
          <a:prstGeom prst="rect">
            <a:avLst/>
          </a:prstGeom>
          <a:noFill/>
        </p:spPr>
        <p:txBody>
          <a:bodyPr wrap="square" lIns="0" rIns="0" tIns="0" bIns="0" anchor="ctr">
            <a:spAutoFit/>
          </a:bodyPr>
          <a:lstStyle/>
          <a:p>
            <a:pPr algn="l"/>
            <a:r>
              <a:rPr sz="1500" b="0" i="0">
                <a:solidFill>
                  <a:srgbClr val="1B2A41"/>
                </a:solidFill>
                <a:latin typeface="Arial"/>
              </a:rPr>
              <a:t>Heatmap giờ × thứ, ACF 168</a:t>
            </a:r>
          </a:p>
        </p:txBody>
      </p:sp>
      <p:sp>
        <p:nvSpPr>
          <p:cNvPr id="20" name="TextBox 19"/>
          <p:cNvSpPr txBox="1"/>
          <p:nvPr/>
        </p:nvSpPr>
        <p:spPr>
          <a:xfrm>
            <a:off x="7543800" y="2889504"/>
            <a:ext cx="3044952" cy="493775"/>
          </a:xfrm>
          <a:prstGeom prst="rect">
            <a:avLst/>
          </a:prstGeom>
          <a:noFill/>
        </p:spPr>
        <p:txBody>
          <a:bodyPr wrap="square" lIns="0" rIns="0" tIns="0" bIns="0" anchor="ctr">
            <a:spAutoFit/>
          </a:bodyPr>
          <a:lstStyle/>
          <a:p>
            <a:pPr algn="l"/>
            <a:r>
              <a:rPr sz="1500" b="0" i="0">
                <a:solidFill>
                  <a:srgbClr val="1B2A41"/>
                </a:solidFill>
                <a:latin typeface="Arial"/>
              </a:rPr>
              <a:t>Vẽ đủ bộ biểu đồ</a:t>
            </a:r>
          </a:p>
        </p:txBody>
      </p:sp>
      <p:sp>
        <p:nvSpPr>
          <p:cNvPr id="21" name="TextBox 20"/>
          <p:cNvSpPr txBox="1"/>
          <p:nvPr/>
        </p:nvSpPr>
        <p:spPr>
          <a:xfrm>
            <a:off x="10863072" y="2889504"/>
            <a:ext cx="640080" cy="493775"/>
          </a:xfrm>
          <a:prstGeom prst="rect">
            <a:avLst/>
          </a:prstGeom>
          <a:noFill/>
        </p:spPr>
        <p:txBody>
          <a:bodyPr wrap="square" lIns="0" rIns="0" tIns="0" bIns="0" anchor="ctr">
            <a:spAutoFit/>
          </a:bodyPr>
          <a:lstStyle/>
          <a:p>
            <a:pPr algn="l"/>
            <a:r>
              <a:rPr sz="1500" b="0" i="0">
                <a:solidFill>
                  <a:srgbClr val="5B6778"/>
                </a:solidFill>
                <a:latin typeface="Arial"/>
              </a:rPr>
              <a:t>4</a:t>
            </a:r>
          </a:p>
        </p:txBody>
      </p:sp>
      <p:sp>
        <p:nvSpPr>
          <p:cNvPr id="22" name="TextBox 21"/>
          <p:cNvSpPr txBox="1"/>
          <p:nvPr/>
        </p:nvSpPr>
        <p:spPr>
          <a:xfrm>
            <a:off x="685800" y="3419856"/>
            <a:ext cx="3291840" cy="493775"/>
          </a:xfrm>
          <a:prstGeom prst="rect">
            <a:avLst/>
          </a:prstGeom>
          <a:noFill/>
        </p:spPr>
        <p:txBody>
          <a:bodyPr wrap="square" lIns="0" rIns="0" tIns="0" bIns="0" anchor="ctr">
            <a:spAutoFit/>
          </a:bodyPr>
          <a:lstStyle/>
          <a:p>
            <a:pPr algn="l"/>
            <a:r>
              <a:rPr sz="1500" b="1" i="0">
                <a:solidFill>
                  <a:srgbClr val="1B2A41"/>
                </a:solidFill>
                <a:latin typeface="Arial"/>
              </a:rPr>
              <a:t>Giờ thiếu hiện thành 0</a:t>
            </a:r>
          </a:p>
        </p:txBody>
      </p:sp>
      <p:sp>
        <p:nvSpPr>
          <p:cNvPr id="23" name="TextBox 22"/>
          <p:cNvSpPr txBox="1"/>
          <p:nvPr/>
        </p:nvSpPr>
        <p:spPr>
          <a:xfrm>
            <a:off x="4251960" y="3419856"/>
            <a:ext cx="3017520" cy="493775"/>
          </a:xfrm>
          <a:prstGeom prst="rect">
            <a:avLst/>
          </a:prstGeom>
          <a:noFill/>
        </p:spPr>
        <p:txBody>
          <a:bodyPr wrap="square" lIns="0" rIns="0" tIns="0" bIns="0" anchor="ctr">
            <a:spAutoFit/>
          </a:bodyPr>
          <a:lstStyle/>
          <a:p>
            <a:pPr algn="l"/>
            <a:r>
              <a:rPr sz="1500" b="0" i="0">
                <a:solidFill>
                  <a:srgbClr val="1B2A41"/>
                </a:solidFill>
                <a:latin typeface="Arial"/>
              </a:rPr>
              <a:t>Đếm NaN trên lưới đủ</a:t>
            </a:r>
          </a:p>
        </p:txBody>
      </p:sp>
      <p:sp>
        <p:nvSpPr>
          <p:cNvPr id="24" name="TextBox 23"/>
          <p:cNvSpPr txBox="1"/>
          <p:nvPr/>
        </p:nvSpPr>
        <p:spPr>
          <a:xfrm>
            <a:off x="7543800" y="3419856"/>
            <a:ext cx="3044952" cy="493775"/>
          </a:xfrm>
          <a:prstGeom prst="rect">
            <a:avLst/>
          </a:prstGeom>
          <a:noFill/>
        </p:spPr>
        <p:txBody>
          <a:bodyPr wrap="square" lIns="0" rIns="0" tIns="0" bIns="0" anchor="ctr">
            <a:spAutoFit/>
          </a:bodyPr>
          <a:lstStyle/>
          <a:p>
            <a:pPr algn="l"/>
            <a:r>
              <a:rPr sz="1500" b="0" i="0">
                <a:solidFill>
                  <a:srgbClr val="1B2A41"/>
                </a:solidFill>
                <a:latin typeface="Arial"/>
              </a:rPr>
              <a:t>sum(min_count=1)</a:t>
            </a:r>
          </a:p>
        </p:txBody>
      </p:sp>
      <p:sp>
        <p:nvSpPr>
          <p:cNvPr id="25" name="TextBox 24"/>
          <p:cNvSpPr txBox="1"/>
          <p:nvPr/>
        </p:nvSpPr>
        <p:spPr>
          <a:xfrm>
            <a:off x="10863072" y="3419856"/>
            <a:ext cx="640080" cy="493775"/>
          </a:xfrm>
          <a:prstGeom prst="rect">
            <a:avLst/>
          </a:prstGeom>
          <a:noFill/>
        </p:spPr>
        <p:txBody>
          <a:bodyPr wrap="square" lIns="0" rIns="0" tIns="0" bIns="0" anchor="ctr">
            <a:spAutoFit/>
          </a:bodyPr>
          <a:lstStyle/>
          <a:p>
            <a:pPr algn="l"/>
            <a:r>
              <a:rPr sz="1500" b="0" i="0">
                <a:solidFill>
                  <a:srgbClr val="5B6778"/>
                </a:solidFill>
                <a:latin typeface="Arial"/>
              </a:rPr>
              <a:t>4</a:t>
            </a:r>
          </a:p>
        </p:txBody>
      </p:sp>
      <p:sp>
        <p:nvSpPr>
          <p:cNvPr id="26" name="Rounded Rectangle 25"/>
          <p:cNvSpPr/>
          <p:nvPr/>
        </p:nvSpPr>
        <p:spPr>
          <a:xfrm>
            <a:off x="548640" y="3950208"/>
            <a:ext cx="11091672" cy="493775"/>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3950208"/>
            <a:ext cx="3291840" cy="493775"/>
          </a:xfrm>
          <a:prstGeom prst="rect">
            <a:avLst/>
          </a:prstGeom>
          <a:noFill/>
        </p:spPr>
        <p:txBody>
          <a:bodyPr wrap="square" lIns="0" rIns="0" tIns="0" bIns="0" anchor="ctr">
            <a:spAutoFit/>
          </a:bodyPr>
          <a:lstStyle/>
          <a:p>
            <a:pPr algn="l"/>
            <a:r>
              <a:rPr sz="1500" b="1" i="0">
                <a:solidFill>
                  <a:srgbClr val="1B2A41"/>
                </a:solidFill>
                <a:latin typeface="Arial"/>
              </a:rPr>
              <a:t>Tháng 2 sụt năm nào cũng vậy</a:t>
            </a:r>
          </a:p>
        </p:txBody>
      </p:sp>
      <p:sp>
        <p:nvSpPr>
          <p:cNvPr id="28" name="TextBox 27"/>
          <p:cNvSpPr txBox="1"/>
          <p:nvPr/>
        </p:nvSpPr>
        <p:spPr>
          <a:xfrm>
            <a:off x="4251960" y="3950208"/>
            <a:ext cx="3017520" cy="493775"/>
          </a:xfrm>
          <a:prstGeom prst="rect">
            <a:avLst/>
          </a:prstGeom>
          <a:noFill/>
        </p:spPr>
        <p:txBody>
          <a:bodyPr wrap="square" lIns="0" rIns="0" tIns="0" bIns="0" anchor="ctr">
            <a:spAutoFit/>
          </a:bodyPr>
          <a:lstStyle/>
          <a:p>
            <a:pPr algn="l"/>
            <a:r>
              <a:rPr sz="1500" b="0" i="0">
                <a:solidFill>
                  <a:srgbClr val="1B2A41"/>
                </a:solidFill>
                <a:latin typeface="Arial"/>
              </a:rPr>
              <a:t>Tổng tháng vs trung bình ngày</a:t>
            </a:r>
          </a:p>
        </p:txBody>
      </p:sp>
      <p:sp>
        <p:nvSpPr>
          <p:cNvPr id="29" name="TextBox 28"/>
          <p:cNvSpPr txBox="1"/>
          <p:nvPr/>
        </p:nvSpPr>
        <p:spPr>
          <a:xfrm>
            <a:off x="7543800" y="3950208"/>
            <a:ext cx="3044952" cy="493775"/>
          </a:xfrm>
          <a:prstGeom prst="rect">
            <a:avLst/>
          </a:prstGeom>
          <a:noFill/>
        </p:spPr>
        <p:txBody>
          <a:bodyPr wrap="square" lIns="0" rIns="0" tIns="0" bIns="0" anchor="ctr">
            <a:spAutoFit/>
          </a:bodyPr>
          <a:lstStyle/>
          <a:p>
            <a:pPr algn="l"/>
            <a:r>
              <a:rPr sz="1500" b="0" i="0">
                <a:solidFill>
                  <a:srgbClr val="1B2A41"/>
                </a:solidFill>
                <a:latin typeface="Arial"/>
              </a:rPr>
              <a:t>Chia số ngày</a:t>
            </a:r>
          </a:p>
        </p:txBody>
      </p:sp>
      <p:sp>
        <p:nvSpPr>
          <p:cNvPr id="30" name="TextBox 29"/>
          <p:cNvSpPr txBox="1"/>
          <p:nvPr/>
        </p:nvSpPr>
        <p:spPr>
          <a:xfrm>
            <a:off x="10863072" y="3950208"/>
            <a:ext cx="640080" cy="493775"/>
          </a:xfrm>
          <a:prstGeom prst="rect">
            <a:avLst/>
          </a:prstGeom>
          <a:noFill/>
        </p:spPr>
        <p:txBody>
          <a:bodyPr wrap="square" lIns="0" rIns="0" tIns="0" bIns="0" anchor="ctr">
            <a:spAutoFit/>
          </a:bodyPr>
          <a:lstStyle/>
          <a:p>
            <a:pPr algn="l"/>
            <a:r>
              <a:rPr sz="1500" b="0" i="0">
                <a:solidFill>
                  <a:srgbClr val="5B6778"/>
                </a:solidFill>
                <a:latin typeface="Arial"/>
              </a:rPr>
              <a:t>5</a:t>
            </a:r>
          </a:p>
        </p:txBody>
      </p:sp>
      <p:sp>
        <p:nvSpPr>
          <p:cNvPr id="31" name="TextBox 30"/>
          <p:cNvSpPr txBox="1"/>
          <p:nvPr/>
        </p:nvSpPr>
        <p:spPr>
          <a:xfrm>
            <a:off x="685800" y="4480560"/>
            <a:ext cx="3291840" cy="493775"/>
          </a:xfrm>
          <a:prstGeom prst="rect">
            <a:avLst/>
          </a:prstGeom>
          <a:noFill/>
        </p:spPr>
        <p:txBody>
          <a:bodyPr wrap="square" lIns="0" rIns="0" tIns="0" bIns="0" anchor="ctr">
            <a:spAutoFit/>
          </a:bodyPr>
          <a:lstStyle/>
          <a:p>
            <a:pPr algn="l"/>
            <a:r>
              <a:rPr sz="1500" b="1" i="0">
                <a:solidFill>
                  <a:srgbClr val="1B2A41"/>
                </a:solidFill>
                <a:latin typeface="Arial"/>
              </a:rPr>
              <a:t>Data must be positive</a:t>
            </a:r>
          </a:p>
        </p:txBody>
      </p:sp>
      <p:sp>
        <p:nvSpPr>
          <p:cNvPr id="32" name="TextBox 31"/>
          <p:cNvSpPr txBox="1"/>
          <p:nvPr/>
        </p:nvSpPr>
        <p:spPr>
          <a:xfrm>
            <a:off x="4251960" y="4480560"/>
            <a:ext cx="3017520" cy="493775"/>
          </a:xfrm>
          <a:prstGeom prst="rect">
            <a:avLst/>
          </a:prstGeom>
          <a:noFill/>
        </p:spPr>
        <p:txBody>
          <a:bodyPr wrap="square" lIns="0" rIns="0" tIns="0" bIns="0" anchor="ctr">
            <a:spAutoFit/>
          </a:bodyPr>
          <a:lstStyle/>
          <a:p>
            <a:pPr algn="l"/>
            <a:r>
              <a:rPr sz="1500" b="0" i="0">
                <a:solidFill>
                  <a:srgbClr val="1B2A41"/>
                </a:solidFill>
                <a:latin typeface="Arial"/>
              </a:rPr>
              <a:t>y.min()</a:t>
            </a:r>
          </a:p>
        </p:txBody>
      </p:sp>
      <p:sp>
        <p:nvSpPr>
          <p:cNvPr id="33" name="TextBox 32"/>
          <p:cNvSpPr txBox="1"/>
          <p:nvPr/>
        </p:nvSpPr>
        <p:spPr>
          <a:xfrm>
            <a:off x="7543800" y="4480560"/>
            <a:ext cx="3044952" cy="493775"/>
          </a:xfrm>
          <a:prstGeom prst="rect">
            <a:avLst/>
          </a:prstGeom>
          <a:noFill/>
        </p:spPr>
        <p:txBody>
          <a:bodyPr wrap="square" lIns="0" rIns="0" tIns="0" bIns="0" anchor="ctr">
            <a:spAutoFit/>
          </a:bodyPr>
          <a:lstStyle/>
          <a:p>
            <a:pPr algn="l"/>
            <a:r>
              <a:rPr sz="1500" b="0" i="0">
                <a:solidFill>
                  <a:srgbClr val="1B2A41"/>
                </a:solidFill>
                <a:latin typeface="Arial"/>
              </a:rPr>
              <a:t>Yeo-Johnson</a:t>
            </a:r>
          </a:p>
        </p:txBody>
      </p:sp>
      <p:sp>
        <p:nvSpPr>
          <p:cNvPr id="34" name="TextBox 33"/>
          <p:cNvSpPr txBox="1"/>
          <p:nvPr/>
        </p:nvSpPr>
        <p:spPr>
          <a:xfrm>
            <a:off x="10863072" y="4480560"/>
            <a:ext cx="640080" cy="493775"/>
          </a:xfrm>
          <a:prstGeom prst="rect">
            <a:avLst/>
          </a:prstGeom>
          <a:noFill/>
        </p:spPr>
        <p:txBody>
          <a:bodyPr wrap="square" lIns="0" rIns="0" tIns="0" bIns="0" anchor="ctr">
            <a:spAutoFit/>
          </a:bodyPr>
          <a:lstStyle/>
          <a:p>
            <a:pPr algn="l"/>
            <a:r>
              <a:rPr sz="1500" b="0" i="0">
                <a:solidFill>
                  <a:srgbClr val="5B6778"/>
                </a:solidFill>
                <a:latin typeface="Arial"/>
              </a:rPr>
              <a:t>5</a:t>
            </a:r>
          </a:p>
        </p:txBody>
      </p:sp>
      <p:sp>
        <p:nvSpPr>
          <p:cNvPr id="35" name="Rounded Rectangle 34"/>
          <p:cNvSpPr/>
          <p:nvPr/>
        </p:nvSpPr>
        <p:spPr>
          <a:xfrm>
            <a:off x="548640" y="5010912"/>
            <a:ext cx="11091672" cy="493775"/>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800" y="5010912"/>
            <a:ext cx="3291840" cy="493775"/>
          </a:xfrm>
          <a:prstGeom prst="rect">
            <a:avLst/>
          </a:prstGeom>
          <a:noFill/>
        </p:spPr>
        <p:txBody>
          <a:bodyPr wrap="square" lIns="0" rIns="0" tIns="0" bIns="0" anchor="ctr">
            <a:spAutoFit/>
          </a:bodyPr>
          <a:lstStyle/>
          <a:p>
            <a:pPr algn="l"/>
            <a:r>
              <a:rPr sz="1500" b="1" i="0">
                <a:solidFill>
                  <a:srgbClr val="1B2A41"/>
                </a:solidFill>
                <a:latin typeface="Arial"/>
              </a:rPr>
              <a:t>Tổng dự báo thấp hơn thật</a:t>
            </a:r>
          </a:p>
        </p:txBody>
      </p:sp>
      <p:sp>
        <p:nvSpPr>
          <p:cNvPr id="37" name="TextBox 36"/>
          <p:cNvSpPr txBox="1"/>
          <p:nvPr/>
        </p:nvSpPr>
        <p:spPr>
          <a:xfrm>
            <a:off x="4251960" y="5010912"/>
            <a:ext cx="3017520" cy="493775"/>
          </a:xfrm>
          <a:prstGeom prst="rect">
            <a:avLst/>
          </a:prstGeom>
          <a:noFill/>
        </p:spPr>
        <p:txBody>
          <a:bodyPr wrap="square" lIns="0" rIns="0" tIns="0" bIns="0" anchor="ctr">
            <a:spAutoFit/>
          </a:bodyPr>
          <a:lstStyle/>
          <a:p>
            <a:pPr algn="l"/>
            <a:r>
              <a:rPr sz="1500" b="0" i="0">
                <a:solidFill>
                  <a:srgbClr val="1B2A41"/>
                </a:solidFill>
                <a:latin typeface="Arial"/>
              </a:rPr>
              <a:t>So tổng dự báo với tổng thực</a:t>
            </a:r>
          </a:p>
        </p:txBody>
      </p:sp>
      <p:sp>
        <p:nvSpPr>
          <p:cNvPr id="38" name="TextBox 37"/>
          <p:cNvSpPr txBox="1"/>
          <p:nvPr/>
        </p:nvSpPr>
        <p:spPr>
          <a:xfrm>
            <a:off x="7543800" y="5010912"/>
            <a:ext cx="3044952" cy="493775"/>
          </a:xfrm>
          <a:prstGeom prst="rect">
            <a:avLst/>
          </a:prstGeom>
          <a:noFill/>
        </p:spPr>
        <p:txBody>
          <a:bodyPr wrap="square" lIns="0" rIns="0" tIns="0" bIns="0" anchor="ctr">
            <a:spAutoFit/>
          </a:bodyPr>
          <a:lstStyle/>
          <a:p>
            <a:pPr algn="l"/>
            <a:r>
              <a:rPr sz="1500" b="0" i="0">
                <a:solidFill>
                  <a:srgbClr val="1B2A41"/>
                </a:solidFill>
                <a:latin typeface="Arial"/>
              </a:rPr>
              <a:t>Hiệu chỉnh bias</a:t>
            </a:r>
          </a:p>
        </p:txBody>
      </p:sp>
      <p:sp>
        <p:nvSpPr>
          <p:cNvPr id="39" name="TextBox 38"/>
          <p:cNvSpPr txBox="1"/>
          <p:nvPr/>
        </p:nvSpPr>
        <p:spPr>
          <a:xfrm>
            <a:off x="10863072" y="5010912"/>
            <a:ext cx="640080" cy="493775"/>
          </a:xfrm>
          <a:prstGeom prst="rect">
            <a:avLst/>
          </a:prstGeom>
          <a:noFill/>
        </p:spPr>
        <p:txBody>
          <a:bodyPr wrap="square" lIns="0" rIns="0" tIns="0" bIns="0" anchor="ctr">
            <a:spAutoFit/>
          </a:bodyPr>
          <a:lstStyle/>
          <a:p>
            <a:pPr algn="l"/>
            <a:r>
              <a:rPr sz="1500" b="0" i="0">
                <a:solidFill>
                  <a:srgbClr val="5B6778"/>
                </a:solidFill>
                <a:latin typeface="Arial"/>
              </a:rPr>
              <a:t>5</a:t>
            </a:r>
          </a:p>
        </p:txBody>
      </p:sp>
      <p:sp>
        <p:nvSpPr>
          <p:cNvPr id="40" name="TextBox 39"/>
          <p:cNvSpPr txBox="1"/>
          <p:nvPr/>
        </p:nvSpPr>
        <p:spPr>
          <a:xfrm>
            <a:off x="685800" y="5541264"/>
            <a:ext cx="3291840" cy="493775"/>
          </a:xfrm>
          <a:prstGeom prst="rect">
            <a:avLst/>
          </a:prstGeom>
          <a:noFill/>
        </p:spPr>
        <p:txBody>
          <a:bodyPr wrap="square" lIns="0" rIns="0" tIns="0" bIns="0" anchor="ctr">
            <a:spAutoFit/>
          </a:bodyPr>
          <a:lstStyle/>
          <a:p>
            <a:pPr algn="l"/>
            <a:r>
              <a:rPr sz="1500" b="1" i="0">
                <a:solidFill>
                  <a:srgbClr val="1B2A41"/>
                </a:solidFill>
                <a:latin typeface="Arial"/>
              </a:rPr>
              <a:t>Xu hướng lõm cuối tuần</a:t>
            </a:r>
          </a:p>
        </p:txBody>
      </p:sp>
      <p:sp>
        <p:nvSpPr>
          <p:cNvPr id="41" name="TextBox 40"/>
          <p:cNvSpPr txBox="1"/>
          <p:nvPr/>
        </p:nvSpPr>
        <p:spPr>
          <a:xfrm>
            <a:off x="4251960" y="5541264"/>
            <a:ext cx="3017520" cy="493775"/>
          </a:xfrm>
          <a:prstGeom prst="rect">
            <a:avLst/>
          </a:prstGeom>
          <a:noFill/>
        </p:spPr>
        <p:txBody>
          <a:bodyPr wrap="square" lIns="0" rIns="0" tIns="0" bIns="0" anchor="ctr">
            <a:spAutoFit/>
          </a:bodyPr>
          <a:lstStyle/>
          <a:p>
            <a:pPr algn="l"/>
            <a:r>
              <a:rPr sz="1500" b="0" i="0">
                <a:solidFill>
                  <a:srgbClr val="1B2A41"/>
                </a:solidFill>
                <a:latin typeface="Arial"/>
              </a:rPr>
              <a:t>Xu hướng trung bình theo thứ</a:t>
            </a:r>
          </a:p>
        </p:txBody>
      </p:sp>
      <p:sp>
        <p:nvSpPr>
          <p:cNvPr id="42" name="TextBox 41"/>
          <p:cNvSpPr txBox="1"/>
          <p:nvPr/>
        </p:nvSpPr>
        <p:spPr>
          <a:xfrm>
            <a:off x="7543800" y="5541264"/>
            <a:ext cx="3044952" cy="493775"/>
          </a:xfrm>
          <a:prstGeom prst="rect">
            <a:avLst/>
          </a:prstGeom>
          <a:noFill/>
        </p:spPr>
        <p:txBody>
          <a:bodyPr wrap="square" lIns="0" rIns="0" tIns="0" bIns="0" anchor="ctr">
            <a:spAutoFit/>
          </a:bodyPr>
          <a:lstStyle/>
          <a:p>
            <a:pPr algn="l"/>
            <a:r>
              <a:rPr sz="1500" b="0" i="0">
                <a:solidFill>
                  <a:srgbClr val="1B2A41"/>
                </a:solidFill>
                <a:latin typeface="Arial"/>
              </a:rPr>
              <a:t>MSTL(24, 168)</a:t>
            </a:r>
          </a:p>
        </p:txBody>
      </p:sp>
      <p:sp>
        <p:nvSpPr>
          <p:cNvPr id="43" name="TextBox 42"/>
          <p:cNvSpPr txBox="1"/>
          <p:nvPr/>
        </p:nvSpPr>
        <p:spPr>
          <a:xfrm>
            <a:off x="10863072" y="5541264"/>
            <a:ext cx="640080" cy="493775"/>
          </a:xfrm>
          <a:prstGeom prst="rect">
            <a:avLst/>
          </a:prstGeom>
          <a:noFill/>
        </p:spPr>
        <p:txBody>
          <a:bodyPr wrap="square" lIns="0" rIns="0" tIns="0" bIns="0" anchor="ctr">
            <a:spAutoFit/>
          </a:bodyPr>
          <a:lstStyle/>
          <a:p>
            <a:pPr algn="l"/>
            <a:r>
              <a:rPr sz="1500" b="0" i="0">
                <a:solidFill>
                  <a:srgbClr val="5B6778"/>
                </a:solidFill>
                <a:latin typeface="Arial"/>
              </a:rPr>
              <a:t>6</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A77B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C</a:t>
            </a:r>
          </a:p>
        </p:txBody>
      </p:sp>
      <p:sp>
        <p:nvSpPr>
          <p:cNvPr id="3" name="TextBox 2"/>
          <p:cNvSpPr txBox="1"/>
          <p:nvPr/>
        </p:nvSpPr>
        <p:spPr>
          <a:xfrm>
            <a:off x="1325880" y="384048"/>
            <a:ext cx="10332720" cy="731520"/>
          </a:xfrm>
          <a:prstGeom prst="rect">
            <a:avLst/>
          </a:prstGeom>
          <a:noFill/>
        </p:spPr>
        <p:txBody>
          <a:bodyPr wrap="square" lIns="0" rIns="0" tIns="0" bIns="0" anchor="ctr">
            <a:spAutoFit/>
          </a:bodyPr>
          <a:lstStyle/>
          <a:p>
            <a:pPr algn="l"/>
            <a:r>
              <a:rPr sz="3000" b="1" i="0">
                <a:solidFill>
                  <a:srgbClr val="1B2A41"/>
                </a:solidFill>
                <a:latin typeface="Arial"/>
              </a:rPr>
              <a:t>Bảng tra 2/3: dừng, tương quan, thiếu</a:t>
            </a:r>
          </a:p>
        </p:txBody>
      </p:sp>
      <p:sp>
        <p:nvSpPr>
          <p:cNvPr id="4" name="TextBox 3"/>
          <p:cNvSpPr txBox="1"/>
          <p:nvPr/>
        </p:nvSpPr>
        <p:spPr>
          <a:xfrm>
            <a:off x="685800" y="1417320"/>
            <a:ext cx="3291840" cy="365760"/>
          </a:xfrm>
          <a:prstGeom prst="rect">
            <a:avLst/>
          </a:prstGeom>
          <a:noFill/>
        </p:spPr>
        <p:txBody>
          <a:bodyPr wrap="square" lIns="0" rIns="0" tIns="0" bIns="0" anchor="t">
            <a:spAutoFit/>
          </a:bodyPr>
          <a:lstStyle/>
          <a:p>
            <a:pPr algn="l"/>
            <a:r>
              <a:rPr sz="1100" b="1" i="0">
                <a:solidFill>
                  <a:srgbClr val="C0392B"/>
                </a:solidFill>
                <a:latin typeface="Arial"/>
              </a:rPr>
              <a:t>DẤU HIỆU</a:t>
            </a:r>
          </a:p>
        </p:txBody>
      </p:sp>
      <p:sp>
        <p:nvSpPr>
          <p:cNvPr id="5" name="TextBox 4"/>
          <p:cNvSpPr txBox="1"/>
          <p:nvPr/>
        </p:nvSpPr>
        <p:spPr>
          <a:xfrm>
            <a:off x="4251960" y="1417320"/>
            <a:ext cx="3017520" cy="365760"/>
          </a:xfrm>
          <a:prstGeom prst="rect">
            <a:avLst/>
          </a:prstGeom>
          <a:noFill/>
        </p:spPr>
        <p:txBody>
          <a:bodyPr wrap="square" lIns="0" rIns="0" tIns="0" bIns="0" anchor="t">
            <a:spAutoFit/>
          </a:bodyPr>
          <a:lstStyle/>
          <a:p>
            <a:pPr algn="l"/>
            <a:r>
              <a:rPr sz="1100" b="1" i="0">
                <a:solidFill>
                  <a:srgbClr val="2E6FBF"/>
                </a:solidFill>
                <a:latin typeface="Arial"/>
              </a:rPr>
              <a:t>KIỂM BẰNG</a:t>
            </a:r>
          </a:p>
        </p:txBody>
      </p:sp>
      <p:sp>
        <p:nvSpPr>
          <p:cNvPr id="6" name="TextBox 5"/>
          <p:cNvSpPr txBox="1"/>
          <p:nvPr/>
        </p:nvSpPr>
        <p:spPr>
          <a:xfrm>
            <a:off x="7543800" y="1417320"/>
            <a:ext cx="3044952" cy="365760"/>
          </a:xfrm>
          <a:prstGeom prst="rect">
            <a:avLst/>
          </a:prstGeom>
          <a:noFill/>
        </p:spPr>
        <p:txBody>
          <a:bodyPr wrap="square" lIns="0" rIns="0" tIns="0" bIns="0" anchor="t">
            <a:spAutoFit/>
          </a:bodyPr>
          <a:lstStyle/>
          <a:p>
            <a:pPr algn="l"/>
            <a:r>
              <a:rPr sz="1100" b="1" i="0">
                <a:solidFill>
                  <a:srgbClr val="1E8449"/>
                </a:solidFill>
                <a:latin typeface="Arial"/>
              </a:rPr>
              <a:t>CÁCH SỬA</a:t>
            </a:r>
          </a:p>
        </p:txBody>
      </p:sp>
      <p:sp>
        <p:nvSpPr>
          <p:cNvPr id="7" name="TextBox 6"/>
          <p:cNvSpPr txBox="1"/>
          <p:nvPr/>
        </p:nvSpPr>
        <p:spPr>
          <a:xfrm>
            <a:off x="10863072" y="1417320"/>
            <a:ext cx="640080" cy="365760"/>
          </a:xfrm>
          <a:prstGeom prst="rect">
            <a:avLst/>
          </a:prstGeom>
          <a:noFill/>
        </p:spPr>
        <p:txBody>
          <a:bodyPr wrap="square" lIns="0" rIns="0" tIns="0" bIns="0" anchor="t">
            <a:spAutoFit/>
          </a:bodyPr>
          <a:lstStyle/>
          <a:p>
            <a:pPr algn="l"/>
            <a:r>
              <a:rPr sz="1100" b="1" i="0">
                <a:solidFill>
                  <a:srgbClr val="5B6778"/>
                </a:solidFill>
                <a:latin typeface="Arial"/>
              </a:rPr>
              <a:t>BUỔI</a:t>
            </a:r>
          </a:p>
        </p:txBody>
      </p:sp>
      <p:sp>
        <p:nvSpPr>
          <p:cNvPr id="8" name="Rounded Rectangle 7"/>
          <p:cNvSpPr/>
          <p:nvPr/>
        </p:nvSpPr>
        <p:spPr>
          <a:xfrm>
            <a:off x="548640" y="1828800"/>
            <a:ext cx="11091672" cy="493775"/>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828800"/>
            <a:ext cx="3291840" cy="493775"/>
          </a:xfrm>
          <a:prstGeom prst="rect">
            <a:avLst/>
          </a:prstGeom>
          <a:noFill/>
        </p:spPr>
        <p:txBody>
          <a:bodyPr wrap="square" lIns="0" rIns="0" tIns="0" bIns="0" anchor="ctr">
            <a:spAutoFit/>
          </a:bodyPr>
          <a:lstStyle/>
          <a:p>
            <a:pPr algn="l"/>
            <a:r>
              <a:rPr sz="1500" b="1" i="0">
                <a:solidFill>
                  <a:srgbClr val="1B2A41"/>
                </a:solidFill>
                <a:latin typeface="Arial"/>
              </a:rPr>
              <a:t>r1 ≈ −0,5 sau sai phân</a:t>
            </a:r>
          </a:p>
        </p:txBody>
      </p:sp>
      <p:sp>
        <p:nvSpPr>
          <p:cNvPr id="10" name="TextBox 9"/>
          <p:cNvSpPr txBox="1"/>
          <p:nvPr/>
        </p:nvSpPr>
        <p:spPr>
          <a:xfrm>
            <a:off x="4251960" y="1828800"/>
            <a:ext cx="3017520" cy="493775"/>
          </a:xfrm>
          <a:prstGeom prst="rect">
            <a:avLst/>
          </a:prstGeom>
          <a:noFill/>
        </p:spPr>
        <p:txBody>
          <a:bodyPr wrap="square" lIns="0" rIns="0" tIns="0" bIns="0" anchor="ctr">
            <a:spAutoFit/>
          </a:bodyPr>
          <a:lstStyle/>
          <a:p>
            <a:pPr algn="l"/>
            <a:r>
              <a:rPr sz="1500" b="0" i="0">
                <a:solidFill>
                  <a:srgbClr val="1B2A41"/>
                </a:solidFill>
                <a:latin typeface="Arial"/>
              </a:rPr>
              <a:t>ACF, độ lệch chuẩn trước/sau</a:t>
            </a:r>
          </a:p>
        </p:txBody>
      </p:sp>
      <p:sp>
        <p:nvSpPr>
          <p:cNvPr id="11" name="TextBox 10"/>
          <p:cNvSpPr txBox="1"/>
          <p:nvPr/>
        </p:nvSpPr>
        <p:spPr>
          <a:xfrm>
            <a:off x="7543800" y="1828800"/>
            <a:ext cx="3044952" cy="493775"/>
          </a:xfrm>
          <a:prstGeom prst="rect">
            <a:avLst/>
          </a:prstGeom>
          <a:noFill/>
        </p:spPr>
        <p:txBody>
          <a:bodyPr wrap="square" lIns="0" rIns="0" tIns="0" bIns="0" anchor="ctr">
            <a:spAutoFit/>
          </a:bodyPr>
          <a:lstStyle/>
          <a:p>
            <a:pPr algn="l"/>
            <a:r>
              <a:rPr sz="1500" b="0" i="0">
                <a:solidFill>
                  <a:srgbClr val="1B2A41"/>
                </a:solidFill>
                <a:latin typeface="Arial"/>
              </a:rPr>
              <a:t>Bớt một lần sai phân</a:t>
            </a:r>
          </a:p>
        </p:txBody>
      </p:sp>
      <p:sp>
        <p:nvSpPr>
          <p:cNvPr id="12" name="TextBox 11"/>
          <p:cNvSpPr txBox="1"/>
          <p:nvPr/>
        </p:nvSpPr>
        <p:spPr>
          <a:xfrm>
            <a:off x="10863072" y="1828800"/>
            <a:ext cx="640080" cy="493775"/>
          </a:xfrm>
          <a:prstGeom prst="rect">
            <a:avLst/>
          </a:prstGeom>
          <a:noFill/>
        </p:spPr>
        <p:txBody>
          <a:bodyPr wrap="square" lIns="0" rIns="0" tIns="0" bIns="0" anchor="ctr">
            <a:spAutoFit/>
          </a:bodyPr>
          <a:lstStyle/>
          <a:p>
            <a:pPr algn="l"/>
            <a:r>
              <a:rPr sz="1500" b="0" i="0">
                <a:solidFill>
                  <a:srgbClr val="5B6778"/>
                </a:solidFill>
                <a:latin typeface="Arial"/>
              </a:rPr>
              <a:t>7</a:t>
            </a:r>
          </a:p>
        </p:txBody>
      </p:sp>
      <p:sp>
        <p:nvSpPr>
          <p:cNvPr id="13" name="TextBox 12"/>
          <p:cNvSpPr txBox="1"/>
          <p:nvPr/>
        </p:nvSpPr>
        <p:spPr>
          <a:xfrm>
            <a:off x="685800" y="2359152"/>
            <a:ext cx="3291840" cy="493775"/>
          </a:xfrm>
          <a:prstGeom prst="rect">
            <a:avLst/>
          </a:prstGeom>
          <a:noFill/>
        </p:spPr>
        <p:txBody>
          <a:bodyPr wrap="square" lIns="0" rIns="0" tIns="0" bIns="0" anchor="ctr">
            <a:spAutoFit/>
          </a:bodyPr>
          <a:lstStyle/>
          <a:p>
            <a:pPr algn="l"/>
            <a:r>
              <a:rPr sz="1500" b="1" i="0">
                <a:solidFill>
                  <a:srgbClr val="1B2A41"/>
                </a:solidFill>
                <a:latin typeface="Arial"/>
              </a:rPr>
              <a:t>ADF và KPSS cùng bác bỏ</a:t>
            </a:r>
          </a:p>
        </p:txBody>
      </p:sp>
      <p:sp>
        <p:nvSpPr>
          <p:cNvPr id="14" name="TextBox 13"/>
          <p:cNvSpPr txBox="1"/>
          <p:nvPr/>
        </p:nvSpPr>
        <p:spPr>
          <a:xfrm>
            <a:off x="4251960" y="2359152"/>
            <a:ext cx="3017520" cy="493775"/>
          </a:xfrm>
          <a:prstGeom prst="rect">
            <a:avLst/>
          </a:prstGeom>
          <a:noFill/>
        </p:spPr>
        <p:txBody>
          <a:bodyPr wrap="square" lIns="0" rIns="0" tIns="0" bIns="0" anchor="ctr">
            <a:spAutoFit/>
          </a:bodyPr>
          <a:lstStyle/>
          <a:p>
            <a:pPr algn="l"/>
            <a:r>
              <a:rPr sz="1500" b="0" i="0">
                <a:solidFill>
                  <a:srgbClr val="1B2A41"/>
                </a:solidFill>
                <a:latin typeface="Arial"/>
              </a:rPr>
              <a:t>Vẽ chuỗi, tìm cú sốc</a:t>
            </a:r>
          </a:p>
        </p:txBody>
      </p:sp>
      <p:sp>
        <p:nvSpPr>
          <p:cNvPr id="15" name="TextBox 14"/>
          <p:cNvSpPr txBox="1"/>
          <p:nvPr/>
        </p:nvSpPr>
        <p:spPr>
          <a:xfrm>
            <a:off x="7543800" y="2359152"/>
            <a:ext cx="3044952" cy="493775"/>
          </a:xfrm>
          <a:prstGeom prst="rect">
            <a:avLst/>
          </a:prstGeom>
          <a:noFill/>
        </p:spPr>
        <p:txBody>
          <a:bodyPr wrap="square" lIns="0" rIns="0" tIns="0" bIns="0" anchor="ctr">
            <a:spAutoFit/>
          </a:bodyPr>
          <a:lstStyle/>
          <a:p>
            <a:pPr algn="l"/>
            <a:r>
              <a:rPr sz="1500" b="0" i="0">
                <a:solidFill>
                  <a:srgbClr val="1B2A41"/>
                </a:solidFill>
                <a:latin typeface="Arial"/>
              </a:rPr>
              <a:t>Tách đoạn</a:t>
            </a:r>
          </a:p>
        </p:txBody>
      </p:sp>
      <p:sp>
        <p:nvSpPr>
          <p:cNvPr id="16" name="TextBox 15"/>
          <p:cNvSpPr txBox="1"/>
          <p:nvPr/>
        </p:nvSpPr>
        <p:spPr>
          <a:xfrm>
            <a:off x="10863072" y="2359152"/>
            <a:ext cx="640080" cy="493775"/>
          </a:xfrm>
          <a:prstGeom prst="rect">
            <a:avLst/>
          </a:prstGeom>
          <a:noFill/>
        </p:spPr>
        <p:txBody>
          <a:bodyPr wrap="square" lIns="0" rIns="0" tIns="0" bIns="0" anchor="ctr">
            <a:spAutoFit/>
          </a:bodyPr>
          <a:lstStyle/>
          <a:p>
            <a:pPr algn="l"/>
            <a:r>
              <a:rPr sz="1500" b="0" i="0">
                <a:solidFill>
                  <a:srgbClr val="5B6778"/>
                </a:solidFill>
                <a:latin typeface="Arial"/>
              </a:rPr>
              <a:t>7</a:t>
            </a:r>
          </a:p>
        </p:txBody>
      </p:sp>
      <p:sp>
        <p:nvSpPr>
          <p:cNvPr id="17" name="Rounded Rectangle 16"/>
          <p:cNvSpPr/>
          <p:nvPr/>
        </p:nvSpPr>
        <p:spPr>
          <a:xfrm>
            <a:off x="548640" y="2889504"/>
            <a:ext cx="11091672" cy="493775"/>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889504"/>
            <a:ext cx="3291840" cy="493775"/>
          </a:xfrm>
          <a:prstGeom prst="rect">
            <a:avLst/>
          </a:prstGeom>
          <a:noFill/>
        </p:spPr>
        <p:txBody>
          <a:bodyPr wrap="square" lIns="0" rIns="0" tIns="0" bIns="0" anchor="ctr">
            <a:spAutoFit/>
          </a:bodyPr>
          <a:lstStyle/>
          <a:p>
            <a:pPr algn="l"/>
            <a:r>
              <a:rPr sz="1500" b="1" i="0">
                <a:solidFill>
                  <a:srgbClr val="1B2A41"/>
                </a:solidFill>
                <a:latin typeface="Arial"/>
              </a:rPr>
              <a:t>r = 0,97 giữa hai chuỗi lạ</a:t>
            </a:r>
          </a:p>
        </p:txBody>
      </p:sp>
      <p:sp>
        <p:nvSpPr>
          <p:cNvPr id="19" name="TextBox 18"/>
          <p:cNvSpPr txBox="1"/>
          <p:nvPr/>
        </p:nvSpPr>
        <p:spPr>
          <a:xfrm>
            <a:off x="4251960" y="2889504"/>
            <a:ext cx="3017520" cy="493775"/>
          </a:xfrm>
          <a:prstGeom prst="rect">
            <a:avLst/>
          </a:prstGeom>
          <a:noFill/>
        </p:spPr>
        <p:txBody>
          <a:bodyPr wrap="square" lIns="0" rIns="0" tIns="0" bIns="0" anchor="ctr">
            <a:spAutoFit/>
          </a:bodyPr>
          <a:lstStyle/>
          <a:p>
            <a:pPr algn="l"/>
            <a:r>
              <a:rPr sz="1500" b="0" i="0">
                <a:solidFill>
                  <a:srgbClr val="1B2A41"/>
                </a:solidFill>
                <a:latin typeface="Arial"/>
              </a:rPr>
              <a:t>DW; r sau sai phân</a:t>
            </a:r>
          </a:p>
        </p:txBody>
      </p:sp>
      <p:sp>
        <p:nvSpPr>
          <p:cNvPr id="20" name="TextBox 19"/>
          <p:cNvSpPr txBox="1"/>
          <p:nvPr/>
        </p:nvSpPr>
        <p:spPr>
          <a:xfrm>
            <a:off x="7543800" y="2889504"/>
            <a:ext cx="3044952" cy="493775"/>
          </a:xfrm>
          <a:prstGeom prst="rect">
            <a:avLst/>
          </a:prstGeom>
          <a:noFill/>
        </p:spPr>
        <p:txBody>
          <a:bodyPr wrap="square" lIns="0" rIns="0" tIns="0" bIns="0" anchor="ctr">
            <a:spAutoFit/>
          </a:bodyPr>
          <a:lstStyle/>
          <a:p>
            <a:pPr algn="l"/>
            <a:r>
              <a:rPr sz="1500" b="0" i="0">
                <a:solidFill>
                  <a:srgbClr val="1B2A41"/>
                </a:solidFill>
                <a:latin typeface="Arial"/>
              </a:rPr>
              <a:t>Sai phân</a:t>
            </a:r>
          </a:p>
        </p:txBody>
      </p:sp>
      <p:sp>
        <p:nvSpPr>
          <p:cNvPr id="21" name="TextBox 20"/>
          <p:cNvSpPr txBox="1"/>
          <p:nvPr/>
        </p:nvSpPr>
        <p:spPr>
          <a:xfrm>
            <a:off x="10863072" y="2889504"/>
            <a:ext cx="640080" cy="493775"/>
          </a:xfrm>
          <a:prstGeom prst="rect">
            <a:avLst/>
          </a:prstGeom>
          <a:noFill/>
        </p:spPr>
        <p:txBody>
          <a:bodyPr wrap="square" lIns="0" rIns="0" tIns="0" bIns="0" anchor="ctr">
            <a:spAutoFit/>
          </a:bodyPr>
          <a:lstStyle/>
          <a:p>
            <a:pPr algn="l"/>
            <a:r>
              <a:rPr sz="1500" b="0" i="0">
                <a:solidFill>
                  <a:srgbClr val="5B6778"/>
                </a:solidFill>
                <a:latin typeface="Arial"/>
              </a:rPr>
              <a:t>8</a:t>
            </a:r>
          </a:p>
        </p:txBody>
      </p:sp>
      <p:sp>
        <p:nvSpPr>
          <p:cNvPr id="22" name="TextBox 21"/>
          <p:cNvSpPr txBox="1"/>
          <p:nvPr/>
        </p:nvSpPr>
        <p:spPr>
          <a:xfrm>
            <a:off x="685800" y="3419856"/>
            <a:ext cx="3291840" cy="493775"/>
          </a:xfrm>
          <a:prstGeom prst="rect">
            <a:avLst/>
          </a:prstGeom>
          <a:noFill/>
        </p:spPr>
        <p:txBody>
          <a:bodyPr wrap="square" lIns="0" rIns="0" tIns="0" bIns="0" anchor="ctr">
            <a:spAutoFit/>
          </a:bodyPr>
          <a:lstStyle/>
          <a:p>
            <a:pPr algn="l"/>
            <a:r>
              <a:rPr sz="1500" b="1" i="0">
                <a:solidFill>
                  <a:srgbClr val="1B2A41"/>
                </a:solidFill>
                <a:latin typeface="Arial"/>
              </a:rPr>
              <a:t>r nhỏ, scatter chữ U</a:t>
            </a:r>
          </a:p>
        </p:txBody>
      </p:sp>
      <p:sp>
        <p:nvSpPr>
          <p:cNvPr id="23" name="TextBox 22"/>
          <p:cNvSpPr txBox="1"/>
          <p:nvPr/>
        </p:nvSpPr>
        <p:spPr>
          <a:xfrm>
            <a:off x="4251960" y="3419856"/>
            <a:ext cx="3017520" cy="493775"/>
          </a:xfrm>
          <a:prstGeom prst="rect">
            <a:avLst/>
          </a:prstGeom>
          <a:noFill/>
        </p:spPr>
        <p:txBody>
          <a:bodyPr wrap="square" lIns="0" rIns="0" tIns="0" bIns="0" anchor="ctr">
            <a:spAutoFit/>
          </a:bodyPr>
          <a:lstStyle/>
          <a:p>
            <a:pPr algn="l"/>
            <a:r>
              <a:rPr sz="1500" b="0" i="0">
                <a:solidFill>
                  <a:srgbClr val="1B2A41"/>
                </a:solidFill>
                <a:latin typeface="Arial"/>
              </a:rPr>
              <a:t>Vẽ scatter; MI</a:t>
            </a:r>
          </a:p>
        </p:txBody>
      </p:sp>
      <p:sp>
        <p:nvSpPr>
          <p:cNvPr id="24" name="TextBox 23"/>
          <p:cNvSpPr txBox="1"/>
          <p:nvPr/>
        </p:nvSpPr>
        <p:spPr>
          <a:xfrm>
            <a:off x="7543800" y="3419856"/>
            <a:ext cx="3044952" cy="493775"/>
          </a:xfrm>
          <a:prstGeom prst="rect">
            <a:avLst/>
          </a:prstGeom>
          <a:noFill/>
        </p:spPr>
        <p:txBody>
          <a:bodyPr wrap="square" lIns="0" rIns="0" tIns="0" bIns="0" anchor="ctr">
            <a:spAutoFit/>
          </a:bodyPr>
          <a:lstStyle/>
          <a:p>
            <a:pPr algn="l"/>
            <a:r>
              <a:rPr sz="1500" b="0" i="0">
                <a:solidFill>
                  <a:srgbClr val="1B2A41"/>
                </a:solidFill>
                <a:latin typeface="Arial"/>
              </a:rPr>
              <a:t>CDD / HDD</a:t>
            </a:r>
          </a:p>
        </p:txBody>
      </p:sp>
      <p:sp>
        <p:nvSpPr>
          <p:cNvPr id="25" name="TextBox 24"/>
          <p:cNvSpPr txBox="1"/>
          <p:nvPr/>
        </p:nvSpPr>
        <p:spPr>
          <a:xfrm>
            <a:off x="10863072" y="3419856"/>
            <a:ext cx="640080" cy="493775"/>
          </a:xfrm>
          <a:prstGeom prst="rect">
            <a:avLst/>
          </a:prstGeom>
          <a:noFill/>
        </p:spPr>
        <p:txBody>
          <a:bodyPr wrap="square" lIns="0" rIns="0" tIns="0" bIns="0" anchor="ctr">
            <a:spAutoFit/>
          </a:bodyPr>
          <a:lstStyle/>
          <a:p>
            <a:pPr algn="l"/>
            <a:r>
              <a:rPr sz="1500" b="0" i="0">
                <a:solidFill>
                  <a:srgbClr val="5B6778"/>
                </a:solidFill>
                <a:latin typeface="Arial"/>
              </a:rPr>
              <a:t>8</a:t>
            </a:r>
          </a:p>
        </p:txBody>
      </p:sp>
      <p:sp>
        <p:nvSpPr>
          <p:cNvPr id="26" name="Rounded Rectangle 25"/>
          <p:cNvSpPr/>
          <p:nvPr/>
        </p:nvSpPr>
        <p:spPr>
          <a:xfrm>
            <a:off x="548640" y="3950208"/>
            <a:ext cx="11091672" cy="493775"/>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3950208"/>
            <a:ext cx="3291840" cy="493775"/>
          </a:xfrm>
          <a:prstGeom prst="rect">
            <a:avLst/>
          </a:prstGeom>
          <a:noFill/>
        </p:spPr>
        <p:txBody>
          <a:bodyPr wrap="square" lIns="0" rIns="0" tIns="0" bIns="0" anchor="ctr">
            <a:spAutoFit/>
          </a:bodyPr>
          <a:lstStyle/>
          <a:p>
            <a:pPr algn="l"/>
            <a:r>
              <a:rPr sz="1500" b="1" i="0">
                <a:solidFill>
                  <a:srgbClr val="1B2A41"/>
                </a:solidFill>
                <a:latin typeface="Arial"/>
              </a:rPr>
              <a:t>Bản đồ chỉ xếp theo độ lớn</a:t>
            </a:r>
          </a:p>
        </p:txBody>
      </p:sp>
      <p:sp>
        <p:nvSpPr>
          <p:cNvPr id="28" name="TextBox 27"/>
          <p:cNvSpPr txBox="1"/>
          <p:nvPr/>
        </p:nvSpPr>
        <p:spPr>
          <a:xfrm>
            <a:off x="4251960" y="3950208"/>
            <a:ext cx="3017520" cy="493775"/>
          </a:xfrm>
          <a:prstGeom prst="rect">
            <a:avLst/>
          </a:prstGeom>
          <a:noFill/>
        </p:spPr>
        <p:txBody>
          <a:bodyPr wrap="square" lIns="0" rIns="0" tIns="0" bIns="0" anchor="ctr">
            <a:spAutoFit/>
          </a:bodyPr>
          <a:lstStyle/>
          <a:p>
            <a:pPr algn="l"/>
            <a:r>
              <a:rPr sz="1500" b="0" i="0">
                <a:solidFill>
                  <a:srgbClr val="1B2A41"/>
                </a:solidFill>
                <a:latin typeface="Arial"/>
              </a:rPr>
              <a:t>Trọng số của PC1</a:t>
            </a:r>
          </a:p>
        </p:txBody>
      </p:sp>
      <p:sp>
        <p:nvSpPr>
          <p:cNvPr id="29" name="TextBox 28"/>
          <p:cNvSpPr txBox="1"/>
          <p:nvPr/>
        </p:nvSpPr>
        <p:spPr>
          <a:xfrm>
            <a:off x="7543800" y="3950208"/>
            <a:ext cx="3044952" cy="493775"/>
          </a:xfrm>
          <a:prstGeom prst="rect">
            <a:avLst/>
          </a:prstGeom>
          <a:noFill/>
        </p:spPr>
        <p:txBody>
          <a:bodyPr wrap="square" lIns="0" rIns="0" tIns="0" bIns="0" anchor="ctr">
            <a:spAutoFit/>
          </a:bodyPr>
          <a:lstStyle/>
          <a:p>
            <a:pPr algn="l"/>
            <a:r>
              <a:rPr sz="1500" b="0" i="0">
                <a:solidFill>
                  <a:srgbClr val="1B2A41"/>
                </a:solidFill>
                <a:latin typeface="Arial"/>
              </a:rPr>
              <a:t>StandardScaler</a:t>
            </a:r>
          </a:p>
        </p:txBody>
      </p:sp>
      <p:sp>
        <p:nvSpPr>
          <p:cNvPr id="30" name="TextBox 29"/>
          <p:cNvSpPr txBox="1"/>
          <p:nvPr/>
        </p:nvSpPr>
        <p:spPr>
          <a:xfrm>
            <a:off x="10863072" y="3950208"/>
            <a:ext cx="640080" cy="493775"/>
          </a:xfrm>
          <a:prstGeom prst="rect">
            <a:avLst/>
          </a:prstGeom>
          <a:noFill/>
        </p:spPr>
        <p:txBody>
          <a:bodyPr wrap="square" lIns="0" rIns="0" tIns="0" bIns="0" anchor="ctr">
            <a:spAutoFit/>
          </a:bodyPr>
          <a:lstStyle/>
          <a:p>
            <a:pPr algn="l"/>
            <a:r>
              <a:rPr sz="1500" b="0" i="0">
                <a:solidFill>
                  <a:srgbClr val="5B6778"/>
                </a:solidFill>
                <a:latin typeface="Arial"/>
              </a:rPr>
              <a:t>9</a:t>
            </a:r>
          </a:p>
        </p:txBody>
      </p:sp>
      <p:sp>
        <p:nvSpPr>
          <p:cNvPr id="31" name="TextBox 30"/>
          <p:cNvSpPr txBox="1"/>
          <p:nvPr/>
        </p:nvSpPr>
        <p:spPr>
          <a:xfrm>
            <a:off x="685800" y="4480560"/>
            <a:ext cx="3291840" cy="493775"/>
          </a:xfrm>
          <a:prstGeom prst="rect">
            <a:avLst/>
          </a:prstGeom>
          <a:noFill/>
        </p:spPr>
        <p:txBody>
          <a:bodyPr wrap="square" lIns="0" rIns="0" tIns="0" bIns="0" anchor="ctr">
            <a:spAutoFit/>
          </a:bodyPr>
          <a:lstStyle/>
          <a:p>
            <a:pPr algn="l"/>
            <a:r>
              <a:rPr sz="1500" b="1" i="0">
                <a:solidFill>
                  <a:srgbClr val="1B2A41"/>
                </a:solidFill>
                <a:latin typeface="Arial"/>
              </a:rPr>
              <a:t>Số dòng &lt; số mốc</a:t>
            </a:r>
          </a:p>
        </p:txBody>
      </p:sp>
      <p:sp>
        <p:nvSpPr>
          <p:cNvPr id="32" name="TextBox 31"/>
          <p:cNvSpPr txBox="1"/>
          <p:nvPr/>
        </p:nvSpPr>
        <p:spPr>
          <a:xfrm>
            <a:off x="4251960" y="4480560"/>
            <a:ext cx="3017520" cy="493775"/>
          </a:xfrm>
          <a:prstGeom prst="rect">
            <a:avLst/>
          </a:prstGeom>
          <a:noFill/>
        </p:spPr>
        <p:txBody>
          <a:bodyPr wrap="square" lIns="0" rIns="0" tIns="0" bIns="0" anchor="ctr">
            <a:spAutoFit/>
          </a:bodyPr>
          <a:lstStyle/>
          <a:p>
            <a:pPr algn="l"/>
            <a:r>
              <a:rPr sz="1500" b="0" i="0">
                <a:solidFill>
                  <a:srgbClr val="1B2A41"/>
                </a:solidFill>
                <a:latin typeface="Arial"/>
              </a:rPr>
              <a:t>So với lưới đầy đủ</a:t>
            </a:r>
          </a:p>
        </p:txBody>
      </p:sp>
      <p:sp>
        <p:nvSpPr>
          <p:cNvPr id="33" name="TextBox 32"/>
          <p:cNvSpPr txBox="1"/>
          <p:nvPr/>
        </p:nvSpPr>
        <p:spPr>
          <a:xfrm>
            <a:off x="7543800" y="4480560"/>
            <a:ext cx="3044952" cy="493775"/>
          </a:xfrm>
          <a:prstGeom prst="rect">
            <a:avLst/>
          </a:prstGeom>
          <a:noFill/>
        </p:spPr>
        <p:txBody>
          <a:bodyPr wrap="square" lIns="0" rIns="0" tIns="0" bIns="0" anchor="ctr">
            <a:spAutoFit/>
          </a:bodyPr>
          <a:lstStyle/>
          <a:p>
            <a:pPr algn="l"/>
            <a:r>
              <a:rPr sz="1500" b="0" i="0">
                <a:solidFill>
                  <a:srgbClr val="1B2A41"/>
                </a:solidFill>
                <a:latin typeface="Arial"/>
              </a:rPr>
              <a:t>reindex</a:t>
            </a:r>
          </a:p>
        </p:txBody>
      </p:sp>
      <p:sp>
        <p:nvSpPr>
          <p:cNvPr id="34" name="TextBox 33"/>
          <p:cNvSpPr txBox="1"/>
          <p:nvPr/>
        </p:nvSpPr>
        <p:spPr>
          <a:xfrm>
            <a:off x="10863072" y="4480560"/>
            <a:ext cx="640080" cy="493775"/>
          </a:xfrm>
          <a:prstGeom prst="rect">
            <a:avLst/>
          </a:prstGeom>
          <a:noFill/>
        </p:spPr>
        <p:txBody>
          <a:bodyPr wrap="square" lIns="0" rIns="0" tIns="0" bIns="0" anchor="ctr">
            <a:spAutoFit/>
          </a:bodyPr>
          <a:lstStyle/>
          <a:p>
            <a:pPr algn="l"/>
            <a:r>
              <a:rPr sz="1500" b="0" i="0">
                <a:solidFill>
                  <a:srgbClr val="5B6778"/>
                </a:solidFill>
                <a:latin typeface="Arial"/>
              </a:rPr>
              <a:t>10</a:t>
            </a:r>
          </a:p>
        </p:txBody>
      </p:sp>
      <p:sp>
        <p:nvSpPr>
          <p:cNvPr id="35" name="Rounded Rectangle 34"/>
          <p:cNvSpPr/>
          <p:nvPr/>
        </p:nvSpPr>
        <p:spPr>
          <a:xfrm>
            <a:off x="548640" y="5010912"/>
            <a:ext cx="11091672" cy="493775"/>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800" y="5010912"/>
            <a:ext cx="3291840" cy="493775"/>
          </a:xfrm>
          <a:prstGeom prst="rect">
            <a:avLst/>
          </a:prstGeom>
          <a:noFill/>
        </p:spPr>
        <p:txBody>
          <a:bodyPr wrap="square" lIns="0" rIns="0" tIns="0" bIns="0" anchor="ctr">
            <a:spAutoFit/>
          </a:bodyPr>
          <a:lstStyle/>
          <a:p>
            <a:pPr algn="l"/>
            <a:r>
              <a:rPr sz="1500" b="1" i="0">
                <a:solidFill>
                  <a:srgbClr val="1B2A41"/>
                </a:solidFill>
                <a:latin typeface="Arial"/>
              </a:rPr>
              <a:t>min lớn hơn max</a:t>
            </a:r>
          </a:p>
        </p:txBody>
      </p:sp>
      <p:sp>
        <p:nvSpPr>
          <p:cNvPr id="37" name="TextBox 36"/>
          <p:cNvSpPr txBox="1"/>
          <p:nvPr/>
        </p:nvSpPr>
        <p:spPr>
          <a:xfrm>
            <a:off x="4251960" y="5010912"/>
            <a:ext cx="3017520" cy="493775"/>
          </a:xfrm>
          <a:prstGeom prst="rect">
            <a:avLst/>
          </a:prstGeom>
          <a:noFill/>
        </p:spPr>
        <p:txBody>
          <a:bodyPr wrap="square" lIns="0" rIns="0" tIns="0" bIns="0" anchor="ctr">
            <a:spAutoFit/>
          </a:bodyPr>
          <a:lstStyle/>
          <a:p>
            <a:pPr algn="l"/>
            <a:r>
              <a:rPr sz="1500" b="0" i="0">
                <a:solidFill>
                  <a:srgbClr val="1B2A41"/>
                </a:solidFill>
                <a:latin typeface="Arial"/>
              </a:rPr>
              <a:t>df.dtypes</a:t>
            </a:r>
          </a:p>
        </p:txBody>
      </p:sp>
      <p:sp>
        <p:nvSpPr>
          <p:cNvPr id="38" name="TextBox 37"/>
          <p:cNvSpPr txBox="1"/>
          <p:nvPr/>
        </p:nvSpPr>
        <p:spPr>
          <a:xfrm>
            <a:off x="7543800" y="5010912"/>
            <a:ext cx="3044952" cy="493775"/>
          </a:xfrm>
          <a:prstGeom prst="rect">
            <a:avLst/>
          </a:prstGeom>
          <a:noFill/>
        </p:spPr>
        <p:txBody>
          <a:bodyPr wrap="square" lIns="0" rIns="0" tIns="0" bIns="0" anchor="ctr">
            <a:spAutoFit/>
          </a:bodyPr>
          <a:lstStyle/>
          <a:p>
            <a:pPr algn="l"/>
            <a:r>
              <a:rPr sz="1500" b="0" i="0">
                <a:solidFill>
                  <a:srgbClr val="1B2A41"/>
                </a:solidFill>
                <a:latin typeface="Arial"/>
              </a:rPr>
              <a:t>to_numeric(errors="coerce")</a:t>
            </a:r>
          </a:p>
        </p:txBody>
      </p:sp>
      <p:sp>
        <p:nvSpPr>
          <p:cNvPr id="39" name="TextBox 38"/>
          <p:cNvSpPr txBox="1"/>
          <p:nvPr/>
        </p:nvSpPr>
        <p:spPr>
          <a:xfrm>
            <a:off x="10863072" y="5010912"/>
            <a:ext cx="640080" cy="493775"/>
          </a:xfrm>
          <a:prstGeom prst="rect">
            <a:avLst/>
          </a:prstGeom>
          <a:noFill/>
        </p:spPr>
        <p:txBody>
          <a:bodyPr wrap="square" lIns="0" rIns="0" tIns="0" bIns="0" anchor="ctr">
            <a:spAutoFit/>
          </a:bodyPr>
          <a:lstStyle/>
          <a:p>
            <a:pPr algn="l"/>
            <a:r>
              <a:rPr sz="1500" b="0" i="0">
                <a:solidFill>
                  <a:srgbClr val="5B6778"/>
                </a:solidFill>
                <a:latin typeface="Arial"/>
              </a:rPr>
              <a:t>10</a:t>
            </a:r>
          </a:p>
        </p:txBody>
      </p:sp>
      <p:sp>
        <p:nvSpPr>
          <p:cNvPr id="40" name="TextBox 39"/>
          <p:cNvSpPr txBox="1"/>
          <p:nvPr/>
        </p:nvSpPr>
        <p:spPr>
          <a:xfrm>
            <a:off x="685800" y="5541264"/>
            <a:ext cx="3291840" cy="493775"/>
          </a:xfrm>
          <a:prstGeom prst="rect">
            <a:avLst/>
          </a:prstGeom>
          <a:noFill/>
        </p:spPr>
        <p:txBody>
          <a:bodyPr wrap="square" lIns="0" rIns="0" tIns="0" bIns="0" anchor="ctr">
            <a:spAutoFit/>
          </a:bodyPr>
          <a:lstStyle/>
          <a:p>
            <a:pPr algn="l"/>
            <a:r>
              <a:rPr sz="1500" b="1" i="0">
                <a:solidFill>
                  <a:srgbClr val="1B2A41"/>
                </a:solidFill>
                <a:latin typeface="Arial"/>
              </a:rPr>
              <a:t>Một giá trị chiếm 35%</a:t>
            </a:r>
          </a:p>
        </p:txBody>
      </p:sp>
      <p:sp>
        <p:nvSpPr>
          <p:cNvPr id="41" name="TextBox 40"/>
          <p:cNvSpPr txBox="1"/>
          <p:nvPr/>
        </p:nvSpPr>
        <p:spPr>
          <a:xfrm>
            <a:off x="4251960" y="5541264"/>
            <a:ext cx="3017520" cy="493775"/>
          </a:xfrm>
          <a:prstGeom prst="rect">
            <a:avLst/>
          </a:prstGeom>
          <a:noFill/>
        </p:spPr>
        <p:txBody>
          <a:bodyPr wrap="square" lIns="0" rIns="0" tIns="0" bIns="0" anchor="ctr">
            <a:spAutoFit/>
          </a:bodyPr>
          <a:lstStyle/>
          <a:p>
            <a:pPr algn="l"/>
            <a:r>
              <a:rPr sz="1500" b="0" i="0">
                <a:solidFill>
                  <a:srgbClr val="1B2A41"/>
                </a:solidFill>
                <a:latin typeface="Arial"/>
              </a:rPr>
              <a:t>value_counts().head()</a:t>
            </a:r>
          </a:p>
        </p:txBody>
      </p:sp>
      <p:sp>
        <p:nvSpPr>
          <p:cNvPr id="42" name="TextBox 41"/>
          <p:cNvSpPr txBox="1"/>
          <p:nvPr/>
        </p:nvSpPr>
        <p:spPr>
          <a:xfrm>
            <a:off x="7543800" y="5541264"/>
            <a:ext cx="3044952" cy="493775"/>
          </a:xfrm>
          <a:prstGeom prst="rect">
            <a:avLst/>
          </a:prstGeom>
          <a:noFill/>
        </p:spPr>
        <p:txBody>
          <a:bodyPr wrap="square" lIns="0" rIns="0" tIns="0" bIns="0" anchor="ctr">
            <a:spAutoFit/>
          </a:bodyPr>
          <a:lstStyle/>
          <a:p>
            <a:pPr algn="l"/>
            <a:r>
              <a:rPr sz="1500" b="0" i="0">
                <a:solidFill>
                  <a:srgbClr val="1B2A41"/>
                </a:solidFill>
                <a:latin typeface="Arial"/>
              </a:rPr>
              <a:t>NaN + cột cờ</a:t>
            </a:r>
          </a:p>
        </p:txBody>
      </p:sp>
      <p:sp>
        <p:nvSpPr>
          <p:cNvPr id="43" name="TextBox 42"/>
          <p:cNvSpPr txBox="1"/>
          <p:nvPr/>
        </p:nvSpPr>
        <p:spPr>
          <a:xfrm>
            <a:off x="10863072" y="5541264"/>
            <a:ext cx="640080" cy="493775"/>
          </a:xfrm>
          <a:prstGeom prst="rect">
            <a:avLst/>
          </a:prstGeom>
          <a:noFill/>
        </p:spPr>
        <p:txBody>
          <a:bodyPr wrap="square" lIns="0" rIns="0" tIns="0" bIns="0" anchor="ctr">
            <a:spAutoFit/>
          </a:bodyPr>
          <a:lstStyle/>
          <a:p>
            <a:pPr algn="l"/>
            <a:r>
              <a:rPr sz="1500" b="0" i="0">
                <a:solidFill>
                  <a:srgbClr val="5B6778"/>
                </a:solidFill>
                <a:latin typeface="Arial"/>
              </a:rPr>
              <a:t>10</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A77B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C</a:t>
            </a:r>
          </a:p>
        </p:txBody>
      </p:sp>
      <p:sp>
        <p:nvSpPr>
          <p:cNvPr id="3" name="TextBox 2"/>
          <p:cNvSpPr txBox="1"/>
          <p:nvPr/>
        </p:nvSpPr>
        <p:spPr>
          <a:xfrm>
            <a:off x="1325880" y="384048"/>
            <a:ext cx="10332720" cy="731520"/>
          </a:xfrm>
          <a:prstGeom prst="rect">
            <a:avLst/>
          </a:prstGeom>
          <a:noFill/>
        </p:spPr>
        <p:txBody>
          <a:bodyPr wrap="square" lIns="0" rIns="0" tIns="0" bIns="0" anchor="ctr">
            <a:spAutoFit/>
          </a:bodyPr>
          <a:lstStyle/>
          <a:p>
            <a:pPr algn="l"/>
            <a:r>
              <a:rPr sz="3000" b="1" i="0">
                <a:solidFill>
                  <a:srgbClr val="1B2A41"/>
                </a:solidFill>
                <a:latin typeface="Arial"/>
              </a:rPr>
              <a:t>Bảng tra 3/3: ngoại lai, nhiễu, rò rỉ, đánh giá</a:t>
            </a:r>
          </a:p>
        </p:txBody>
      </p:sp>
      <p:sp>
        <p:nvSpPr>
          <p:cNvPr id="4" name="TextBox 3"/>
          <p:cNvSpPr txBox="1"/>
          <p:nvPr/>
        </p:nvSpPr>
        <p:spPr>
          <a:xfrm>
            <a:off x="685800" y="1417320"/>
            <a:ext cx="3291840" cy="365760"/>
          </a:xfrm>
          <a:prstGeom prst="rect">
            <a:avLst/>
          </a:prstGeom>
          <a:noFill/>
        </p:spPr>
        <p:txBody>
          <a:bodyPr wrap="square" lIns="0" rIns="0" tIns="0" bIns="0" anchor="t">
            <a:spAutoFit/>
          </a:bodyPr>
          <a:lstStyle/>
          <a:p>
            <a:pPr algn="l"/>
            <a:r>
              <a:rPr sz="1100" b="1" i="0">
                <a:solidFill>
                  <a:srgbClr val="C0392B"/>
                </a:solidFill>
                <a:latin typeface="Arial"/>
              </a:rPr>
              <a:t>DẤU HIỆU</a:t>
            </a:r>
          </a:p>
        </p:txBody>
      </p:sp>
      <p:sp>
        <p:nvSpPr>
          <p:cNvPr id="5" name="TextBox 4"/>
          <p:cNvSpPr txBox="1"/>
          <p:nvPr/>
        </p:nvSpPr>
        <p:spPr>
          <a:xfrm>
            <a:off x="4251960" y="1417320"/>
            <a:ext cx="3017520" cy="365760"/>
          </a:xfrm>
          <a:prstGeom prst="rect">
            <a:avLst/>
          </a:prstGeom>
          <a:noFill/>
        </p:spPr>
        <p:txBody>
          <a:bodyPr wrap="square" lIns="0" rIns="0" tIns="0" bIns="0" anchor="t">
            <a:spAutoFit/>
          </a:bodyPr>
          <a:lstStyle/>
          <a:p>
            <a:pPr algn="l"/>
            <a:r>
              <a:rPr sz="1100" b="1" i="0">
                <a:solidFill>
                  <a:srgbClr val="2E6FBF"/>
                </a:solidFill>
                <a:latin typeface="Arial"/>
              </a:rPr>
              <a:t>KIỂM BẰNG</a:t>
            </a:r>
          </a:p>
        </p:txBody>
      </p:sp>
      <p:sp>
        <p:nvSpPr>
          <p:cNvPr id="6" name="TextBox 5"/>
          <p:cNvSpPr txBox="1"/>
          <p:nvPr/>
        </p:nvSpPr>
        <p:spPr>
          <a:xfrm>
            <a:off x="7543800" y="1417320"/>
            <a:ext cx="3044952" cy="365760"/>
          </a:xfrm>
          <a:prstGeom prst="rect">
            <a:avLst/>
          </a:prstGeom>
          <a:noFill/>
        </p:spPr>
        <p:txBody>
          <a:bodyPr wrap="square" lIns="0" rIns="0" tIns="0" bIns="0" anchor="t">
            <a:spAutoFit/>
          </a:bodyPr>
          <a:lstStyle/>
          <a:p>
            <a:pPr algn="l"/>
            <a:r>
              <a:rPr sz="1100" b="1" i="0">
                <a:solidFill>
                  <a:srgbClr val="1E8449"/>
                </a:solidFill>
                <a:latin typeface="Arial"/>
              </a:rPr>
              <a:t>CÁCH SỬA</a:t>
            </a:r>
          </a:p>
        </p:txBody>
      </p:sp>
      <p:sp>
        <p:nvSpPr>
          <p:cNvPr id="7" name="TextBox 6"/>
          <p:cNvSpPr txBox="1"/>
          <p:nvPr/>
        </p:nvSpPr>
        <p:spPr>
          <a:xfrm>
            <a:off x="10863072" y="1417320"/>
            <a:ext cx="640080" cy="365760"/>
          </a:xfrm>
          <a:prstGeom prst="rect">
            <a:avLst/>
          </a:prstGeom>
          <a:noFill/>
        </p:spPr>
        <p:txBody>
          <a:bodyPr wrap="square" lIns="0" rIns="0" tIns="0" bIns="0" anchor="t">
            <a:spAutoFit/>
          </a:bodyPr>
          <a:lstStyle/>
          <a:p>
            <a:pPr algn="l"/>
            <a:r>
              <a:rPr sz="1100" b="1" i="0">
                <a:solidFill>
                  <a:srgbClr val="5B6778"/>
                </a:solidFill>
                <a:latin typeface="Arial"/>
              </a:rPr>
              <a:t>BUỔI</a:t>
            </a:r>
          </a:p>
        </p:txBody>
      </p:sp>
      <p:sp>
        <p:nvSpPr>
          <p:cNvPr id="8" name="Rounded Rectangle 7"/>
          <p:cNvSpPr/>
          <p:nvPr/>
        </p:nvSpPr>
        <p:spPr>
          <a:xfrm>
            <a:off x="548640" y="1828800"/>
            <a:ext cx="11091672" cy="493775"/>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1828800"/>
            <a:ext cx="3291840" cy="493775"/>
          </a:xfrm>
          <a:prstGeom prst="rect">
            <a:avLst/>
          </a:prstGeom>
          <a:noFill/>
        </p:spPr>
        <p:txBody>
          <a:bodyPr wrap="square" lIns="0" rIns="0" tIns="0" bIns="0" anchor="ctr">
            <a:spAutoFit/>
          </a:bodyPr>
          <a:lstStyle/>
          <a:p>
            <a:pPr algn="l"/>
            <a:r>
              <a:rPr sz="1500" b="1" i="0">
                <a:solidFill>
                  <a:srgbClr val="1B2A41"/>
                </a:solidFill>
                <a:latin typeface="Arial"/>
              </a:rPr>
              <a:t>Đoạn phẳng dài</a:t>
            </a:r>
          </a:p>
        </p:txBody>
      </p:sp>
      <p:sp>
        <p:nvSpPr>
          <p:cNvPr id="10" name="TextBox 9"/>
          <p:cNvSpPr txBox="1"/>
          <p:nvPr/>
        </p:nvSpPr>
        <p:spPr>
          <a:xfrm>
            <a:off x="4251960" y="1828800"/>
            <a:ext cx="3017520" cy="493775"/>
          </a:xfrm>
          <a:prstGeom prst="rect">
            <a:avLst/>
          </a:prstGeom>
          <a:noFill/>
        </p:spPr>
        <p:txBody>
          <a:bodyPr wrap="square" lIns="0" rIns="0" tIns="0" bIns="0" anchor="ctr">
            <a:spAutoFit/>
          </a:bodyPr>
          <a:lstStyle/>
          <a:p>
            <a:pPr algn="l"/>
            <a:r>
              <a:rPr sz="1500" b="0" i="0">
                <a:solidFill>
                  <a:srgbClr val="1B2A41"/>
                </a:solidFill>
                <a:latin typeface="Arial"/>
              </a:rPr>
              <a:t>Vẽ quanh lỗ</a:t>
            </a:r>
          </a:p>
        </p:txBody>
      </p:sp>
      <p:sp>
        <p:nvSpPr>
          <p:cNvPr id="11" name="TextBox 10"/>
          <p:cNvSpPr txBox="1"/>
          <p:nvPr/>
        </p:nvSpPr>
        <p:spPr>
          <a:xfrm>
            <a:off x="7543800" y="1828800"/>
            <a:ext cx="3044952" cy="493775"/>
          </a:xfrm>
          <a:prstGeom prst="rect">
            <a:avLst/>
          </a:prstGeom>
          <a:noFill/>
        </p:spPr>
        <p:txBody>
          <a:bodyPr wrap="square" lIns="0" rIns="0" tIns="0" bIns="0" anchor="ctr">
            <a:spAutoFit/>
          </a:bodyPr>
          <a:lstStyle/>
          <a:p>
            <a:pPr algn="l"/>
            <a:r>
              <a:rPr sz="1500" b="0" i="0">
                <a:solidFill>
                  <a:srgbClr val="1B2A41"/>
                </a:solidFill>
                <a:latin typeface="Arial"/>
              </a:rPr>
              <a:t>Giới hạn độ dài điền</a:t>
            </a:r>
          </a:p>
        </p:txBody>
      </p:sp>
      <p:sp>
        <p:nvSpPr>
          <p:cNvPr id="12" name="TextBox 11"/>
          <p:cNvSpPr txBox="1"/>
          <p:nvPr/>
        </p:nvSpPr>
        <p:spPr>
          <a:xfrm>
            <a:off x="10863072" y="1828800"/>
            <a:ext cx="640080" cy="493775"/>
          </a:xfrm>
          <a:prstGeom prst="rect">
            <a:avLst/>
          </a:prstGeom>
          <a:noFill/>
        </p:spPr>
        <p:txBody>
          <a:bodyPr wrap="square" lIns="0" rIns="0" tIns="0" bIns="0" anchor="ctr">
            <a:spAutoFit/>
          </a:bodyPr>
          <a:lstStyle/>
          <a:p>
            <a:pPr algn="l"/>
            <a:r>
              <a:rPr sz="1500" b="0" i="0">
                <a:solidFill>
                  <a:srgbClr val="5B6778"/>
                </a:solidFill>
                <a:latin typeface="Arial"/>
              </a:rPr>
              <a:t>10</a:t>
            </a:r>
          </a:p>
        </p:txBody>
      </p:sp>
      <p:sp>
        <p:nvSpPr>
          <p:cNvPr id="13" name="TextBox 12"/>
          <p:cNvSpPr txBox="1"/>
          <p:nvPr/>
        </p:nvSpPr>
        <p:spPr>
          <a:xfrm>
            <a:off x="685800" y="2359152"/>
            <a:ext cx="3291840" cy="493775"/>
          </a:xfrm>
          <a:prstGeom prst="rect">
            <a:avLst/>
          </a:prstGeom>
          <a:noFill/>
        </p:spPr>
        <p:txBody>
          <a:bodyPr wrap="square" lIns="0" rIns="0" tIns="0" bIns="0" anchor="ctr">
            <a:spAutoFit/>
          </a:bodyPr>
          <a:lstStyle/>
          <a:p>
            <a:pPr algn="l"/>
            <a:r>
              <a:rPr sz="1500" b="1" i="0">
                <a:solidFill>
                  <a:srgbClr val="1B2A41"/>
                </a:solidFill>
                <a:latin typeface="Arial"/>
              </a:rPr>
              <a:t>3σ không bắt được gì</a:t>
            </a:r>
          </a:p>
        </p:txBody>
      </p:sp>
      <p:sp>
        <p:nvSpPr>
          <p:cNvPr id="14" name="TextBox 13"/>
          <p:cNvSpPr txBox="1"/>
          <p:nvPr/>
        </p:nvSpPr>
        <p:spPr>
          <a:xfrm>
            <a:off x="4251960" y="2359152"/>
            <a:ext cx="3017520" cy="493775"/>
          </a:xfrm>
          <a:prstGeom prst="rect">
            <a:avLst/>
          </a:prstGeom>
          <a:noFill/>
        </p:spPr>
        <p:txBody>
          <a:bodyPr wrap="square" lIns="0" rIns="0" tIns="0" bIns="0" anchor="ctr">
            <a:spAutoFit/>
          </a:bodyPr>
          <a:lstStyle/>
          <a:p>
            <a:pPr algn="l"/>
            <a:r>
              <a:rPr sz="1500" b="0" i="0">
                <a:solidFill>
                  <a:srgbClr val="1B2A41"/>
                </a:solidFill>
                <a:latin typeface="Arial"/>
              </a:rPr>
              <a:t>Thêm một điểm cực lớn</a:t>
            </a:r>
          </a:p>
        </p:txBody>
      </p:sp>
      <p:sp>
        <p:nvSpPr>
          <p:cNvPr id="15" name="TextBox 14"/>
          <p:cNvSpPr txBox="1"/>
          <p:nvPr/>
        </p:nvSpPr>
        <p:spPr>
          <a:xfrm>
            <a:off x="7543800" y="2359152"/>
            <a:ext cx="3044952" cy="493775"/>
          </a:xfrm>
          <a:prstGeom prst="rect">
            <a:avLst/>
          </a:prstGeom>
          <a:noFill/>
        </p:spPr>
        <p:txBody>
          <a:bodyPr wrap="square" lIns="0" rIns="0" tIns="0" bIns="0" anchor="ctr">
            <a:spAutoFit/>
          </a:bodyPr>
          <a:lstStyle/>
          <a:p>
            <a:pPr algn="l"/>
            <a:r>
              <a:rPr sz="1500" b="0" i="0">
                <a:solidFill>
                  <a:srgbClr val="1B2A41"/>
                </a:solidFill>
                <a:latin typeface="Arial"/>
              </a:rPr>
              <a:t>MAD, Hampel</a:t>
            </a:r>
          </a:p>
        </p:txBody>
      </p:sp>
      <p:sp>
        <p:nvSpPr>
          <p:cNvPr id="16" name="TextBox 15"/>
          <p:cNvSpPr txBox="1"/>
          <p:nvPr/>
        </p:nvSpPr>
        <p:spPr>
          <a:xfrm>
            <a:off x="10863072" y="2359152"/>
            <a:ext cx="640080" cy="493775"/>
          </a:xfrm>
          <a:prstGeom prst="rect">
            <a:avLst/>
          </a:prstGeom>
          <a:noFill/>
        </p:spPr>
        <p:txBody>
          <a:bodyPr wrap="square" lIns="0" rIns="0" tIns="0" bIns="0" anchor="ctr">
            <a:spAutoFit/>
          </a:bodyPr>
          <a:lstStyle/>
          <a:p>
            <a:pPr algn="l"/>
            <a:r>
              <a:rPr sz="1500" b="0" i="0">
                <a:solidFill>
                  <a:srgbClr val="5B6778"/>
                </a:solidFill>
                <a:latin typeface="Arial"/>
              </a:rPr>
              <a:t>11</a:t>
            </a:r>
          </a:p>
        </p:txBody>
      </p:sp>
      <p:sp>
        <p:nvSpPr>
          <p:cNvPr id="17" name="Rounded Rectangle 16"/>
          <p:cNvSpPr/>
          <p:nvPr/>
        </p:nvSpPr>
        <p:spPr>
          <a:xfrm>
            <a:off x="548640" y="2889504"/>
            <a:ext cx="11091672" cy="493775"/>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889504"/>
            <a:ext cx="3291840" cy="493775"/>
          </a:xfrm>
          <a:prstGeom prst="rect">
            <a:avLst/>
          </a:prstGeom>
          <a:noFill/>
        </p:spPr>
        <p:txBody>
          <a:bodyPr wrap="square" lIns="0" rIns="0" tIns="0" bIns="0" anchor="ctr">
            <a:spAutoFit/>
          </a:bodyPr>
          <a:lstStyle/>
          <a:p>
            <a:pPr algn="l"/>
            <a:r>
              <a:rPr sz="1500" b="1" i="0">
                <a:solidFill>
                  <a:srgbClr val="1B2A41"/>
                </a:solidFill>
                <a:latin typeface="Arial"/>
              </a:rPr>
              <a:t>PELT ra hàng chục điểm gãy</a:t>
            </a:r>
          </a:p>
        </p:txBody>
      </p:sp>
      <p:sp>
        <p:nvSpPr>
          <p:cNvPr id="19" name="TextBox 18"/>
          <p:cNvSpPr txBox="1"/>
          <p:nvPr/>
        </p:nvSpPr>
        <p:spPr>
          <a:xfrm>
            <a:off x="4251960" y="2889504"/>
            <a:ext cx="3017520" cy="493775"/>
          </a:xfrm>
          <a:prstGeom prst="rect">
            <a:avLst/>
          </a:prstGeom>
          <a:noFill/>
        </p:spPr>
        <p:txBody>
          <a:bodyPr wrap="square" lIns="0" rIns="0" tIns="0" bIns="0" anchor="ctr">
            <a:spAutoFit/>
          </a:bodyPr>
          <a:lstStyle/>
          <a:p>
            <a:pPr algn="l"/>
            <a:r>
              <a:rPr sz="1500" b="0" i="0">
                <a:solidFill>
                  <a:srgbClr val="1B2A41"/>
                </a:solidFill>
                <a:latin typeface="Arial"/>
              </a:rPr>
              <a:t>So trên log và mức gốc</a:t>
            </a:r>
          </a:p>
        </p:txBody>
      </p:sp>
      <p:sp>
        <p:nvSpPr>
          <p:cNvPr id="20" name="TextBox 19"/>
          <p:cNvSpPr txBox="1"/>
          <p:nvPr/>
        </p:nvSpPr>
        <p:spPr>
          <a:xfrm>
            <a:off x="7543800" y="2889504"/>
            <a:ext cx="3044952" cy="493775"/>
          </a:xfrm>
          <a:prstGeom prst="rect">
            <a:avLst/>
          </a:prstGeom>
          <a:noFill/>
        </p:spPr>
        <p:txBody>
          <a:bodyPr wrap="square" lIns="0" rIns="0" tIns="0" bIns="0" anchor="ctr">
            <a:spAutoFit/>
          </a:bodyPr>
          <a:lstStyle/>
          <a:p>
            <a:pPr algn="l"/>
            <a:r>
              <a:rPr sz="1500" b="0" i="0">
                <a:solidFill>
                  <a:srgbClr val="1B2A41"/>
                </a:solidFill>
                <a:latin typeface="Arial"/>
              </a:rPr>
              <a:t>Lấy log trước</a:t>
            </a:r>
          </a:p>
        </p:txBody>
      </p:sp>
      <p:sp>
        <p:nvSpPr>
          <p:cNvPr id="21" name="TextBox 20"/>
          <p:cNvSpPr txBox="1"/>
          <p:nvPr/>
        </p:nvSpPr>
        <p:spPr>
          <a:xfrm>
            <a:off x="10863072" y="2889504"/>
            <a:ext cx="640080" cy="493775"/>
          </a:xfrm>
          <a:prstGeom prst="rect">
            <a:avLst/>
          </a:prstGeom>
          <a:noFill/>
        </p:spPr>
        <p:txBody>
          <a:bodyPr wrap="square" lIns="0" rIns="0" tIns="0" bIns="0" anchor="ctr">
            <a:spAutoFit/>
          </a:bodyPr>
          <a:lstStyle/>
          <a:p>
            <a:pPr algn="l"/>
            <a:r>
              <a:rPr sz="1500" b="0" i="0">
                <a:solidFill>
                  <a:srgbClr val="5B6778"/>
                </a:solidFill>
                <a:latin typeface="Arial"/>
              </a:rPr>
              <a:t>11</a:t>
            </a:r>
          </a:p>
        </p:txBody>
      </p:sp>
      <p:sp>
        <p:nvSpPr>
          <p:cNvPr id="22" name="TextBox 21"/>
          <p:cNvSpPr txBox="1"/>
          <p:nvPr/>
        </p:nvSpPr>
        <p:spPr>
          <a:xfrm>
            <a:off x="685800" y="3419856"/>
            <a:ext cx="3291840" cy="493775"/>
          </a:xfrm>
          <a:prstGeom prst="rect">
            <a:avLst/>
          </a:prstGeom>
          <a:noFill/>
        </p:spPr>
        <p:txBody>
          <a:bodyPr wrap="square" lIns="0" rIns="0" tIns="0" bIns="0" anchor="ctr">
            <a:spAutoFit/>
          </a:bodyPr>
          <a:lstStyle/>
          <a:p>
            <a:pPr algn="l"/>
            <a:r>
              <a:rPr sz="1500" b="1" i="0">
                <a:solidFill>
                  <a:srgbClr val="1B2A41"/>
                </a:solidFill>
                <a:latin typeface="Arial"/>
              </a:rPr>
              <a:t>Chu kỳ lạ sau resample</a:t>
            </a:r>
          </a:p>
        </p:txBody>
      </p:sp>
      <p:sp>
        <p:nvSpPr>
          <p:cNvPr id="23" name="TextBox 22"/>
          <p:cNvSpPr txBox="1"/>
          <p:nvPr/>
        </p:nvSpPr>
        <p:spPr>
          <a:xfrm>
            <a:off x="4251960" y="3419856"/>
            <a:ext cx="3017520" cy="493775"/>
          </a:xfrm>
          <a:prstGeom prst="rect">
            <a:avLst/>
          </a:prstGeom>
          <a:noFill/>
        </p:spPr>
        <p:txBody>
          <a:bodyPr wrap="square" lIns="0" rIns="0" tIns="0" bIns="0" anchor="ctr">
            <a:spAutoFit/>
          </a:bodyPr>
          <a:lstStyle/>
          <a:p>
            <a:pPr algn="l"/>
            <a:r>
              <a:rPr sz="1500" b="0" i="0">
                <a:solidFill>
                  <a:srgbClr val="1B2A41"/>
                </a:solidFill>
                <a:latin typeface="Arial"/>
              </a:rPr>
              <a:t>So phổ trước / sau</a:t>
            </a:r>
          </a:p>
        </p:txBody>
      </p:sp>
      <p:sp>
        <p:nvSpPr>
          <p:cNvPr id="24" name="TextBox 23"/>
          <p:cNvSpPr txBox="1"/>
          <p:nvPr/>
        </p:nvSpPr>
        <p:spPr>
          <a:xfrm>
            <a:off x="7543800" y="3419856"/>
            <a:ext cx="3044952" cy="493775"/>
          </a:xfrm>
          <a:prstGeom prst="rect">
            <a:avLst/>
          </a:prstGeom>
          <a:noFill/>
        </p:spPr>
        <p:txBody>
          <a:bodyPr wrap="square" lIns="0" rIns="0" tIns="0" bIns="0" anchor="ctr">
            <a:spAutoFit/>
          </a:bodyPr>
          <a:lstStyle/>
          <a:p>
            <a:pPr algn="l"/>
            <a:r>
              <a:rPr sz="1500" b="0" i="0">
                <a:solidFill>
                  <a:srgbClr val="1B2A41"/>
                </a:solidFill>
                <a:latin typeface="Arial"/>
              </a:rPr>
              <a:t>Lọc trước khi hạ mẫu</a:t>
            </a:r>
          </a:p>
        </p:txBody>
      </p:sp>
      <p:sp>
        <p:nvSpPr>
          <p:cNvPr id="25" name="TextBox 24"/>
          <p:cNvSpPr txBox="1"/>
          <p:nvPr/>
        </p:nvSpPr>
        <p:spPr>
          <a:xfrm>
            <a:off x="10863072" y="3419856"/>
            <a:ext cx="640080" cy="493775"/>
          </a:xfrm>
          <a:prstGeom prst="rect">
            <a:avLst/>
          </a:prstGeom>
          <a:noFill/>
        </p:spPr>
        <p:txBody>
          <a:bodyPr wrap="square" lIns="0" rIns="0" tIns="0" bIns="0" anchor="ctr">
            <a:spAutoFit/>
          </a:bodyPr>
          <a:lstStyle/>
          <a:p>
            <a:pPr algn="l"/>
            <a:r>
              <a:rPr sz="1500" b="0" i="0">
                <a:solidFill>
                  <a:srgbClr val="5B6778"/>
                </a:solidFill>
                <a:latin typeface="Arial"/>
              </a:rPr>
              <a:t>12</a:t>
            </a:r>
          </a:p>
        </p:txBody>
      </p:sp>
      <p:sp>
        <p:nvSpPr>
          <p:cNvPr id="26" name="Rounded Rectangle 25"/>
          <p:cNvSpPr/>
          <p:nvPr/>
        </p:nvSpPr>
        <p:spPr>
          <a:xfrm>
            <a:off x="548640" y="3950208"/>
            <a:ext cx="11091672" cy="493775"/>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3950208"/>
            <a:ext cx="3291840" cy="493775"/>
          </a:xfrm>
          <a:prstGeom prst="rect">
            <a:avLst/>
          </a:prstGeom>
          <a:noFill/>
        </p:spPr>
        <p:txBody>
          <a:bodyPr wrap="square" lIns="0" rIns="0" tIns="0" bIns="0" anchor="ctr">
            <a:spAutoFit/>
          </a:bodyPr>
          <a:lstStyle/>
          <a:p>
            <a:pPr algn="l"/>
            <a:r>
              <a:rPr sz="1500" b="1" i="0">
                <a:solidFill>
                  <a:srgbClr val="1B2A41"/>
                </a:solidFill>
                <a:latin typeface="Arial"/>
              </a:rPr>
              <a:t>Backtest đẹp, dùng thật tệ</a:t>
            </a:r>
          </a:p>
        </p:txBody>
      </p:sp>
      <p:sp>
        <p:nvSpPr>
          <p:cNvPr id="28" name="TextBox 27"/>
          <p:cNvSpPr txBox="1"/>
          <p:nvPr/>
        </p:nvSpPr>
        <p:spPr>
          <a:xfrm>
            <a:off x="4251960" y="3950208"/>
            <a:ext cx="3017520" cy="493775"/>
          </a:xfrm>
          <a:prstGeom prst="rect">
            <a:avLst/>
          </a:prstGeom>
          <a:noFill/>
        </p:spPr>
        <p:txBody>
          <a:bodyPr wrap="square" lIns="0" rIns="0" tIns="0" bIns="0" anchor="ctr">
            <a:spAutoFit/>
          </a:bodyPr>
          <a:lstStyle/>
          <a:p>
            <a:pPr algn="l"/>
            <a:r>
              <a:rPr sz="1500" b="0" i="0">
                <a:solidFill>
                  <a:srgbClr val="1B2A41"/>
                </a:solidFill>
                <a:latin typeface="Arial"/>
              </a:rPr>
              <a:t>kiem_ro_ri nhiều mốc cắt</a:t>
            </a:r>
          </a:p>
        </p:txBody>
      </p:sp>
      <p:sp>
        <p:nvSpPr>
          <p:cNvPr id="29" name="TextBox 28"/>
          <p:cNvSpPr txBox="1"/>
          <p:nvPr/>
        </p:nvSpPr>
        <p:spPr>
          <a:xfrm>
            <a:off x="7543800" y="3950208"/>
            <a:ext cx="3044952" cy="493775"/>
          </a:xfrm>
          <a:prstGeom prst="rect">
            <a:avLst/>
          </a:prstGeom>
          <a:noFill/>
        </p:spPr>
        <p:txBody>
          <a:bodyPr wrap="square" lIns="0" rIns="0" tIns="0" bIns="0" anchor="ctr">
            <a:spAutoFit/>
          </a:bodyPr>
          <a:lstStyle/>
          <a:p>
            <a:pPr algn="l"/>
            <a:r>
              <a:rPr sz="1500" b="0" i="0">
                <a:solidFill>
                  <a:srgbClr val="1B2A41"/>
                </a:solidFill>
                <a:latin typeface="Arial"/>
              </a:rPr>
              <a:t>Lag ≥ h, fit trên phần học</a:t>
            </a:r>
          </a:p>
        </p:txBody>
      </p:sp>
      <p:sp>
        <p:nvSpPr>
          <p:cNvPr id="30" name="TextBox 29"/>
          <p:cNvSpPr txBox="1"/>
          <p:nvPr/>
        </p:nvSpPr>
        <p:spPr>
          <a:xfrm>
            <a:off x="10863072" y="3950208"/>
            <a:ext cx="640080" cy="493775"/>
          </a:xfrm>
          <a:prstGeom prst="rect">
            <a:avLst/>
          </a:prstGeom>
          <a:noFill/>
        </p:spPr>
        <p:txBody>
          <a:bodyPr wrap="square" lIns="0" rIns="0" tIns="0" bIns="0" anchor="ctr">
            <a:spAutoFit/>
          </a:bodyPr>
          <a:lstStyle/>
          <a:p>
            <a:pPr algn="l"/>
            <a:r>
              <a:rPr sz="1500" b="0" i="0">
                <a:solidFill>
                  <a:srgbClr val="5B6778"/>
                </a:solidFill>
                <a:latin typeface="Arial"/>
              </a:rPr>
              <a:t>13</a:t>
            </a:r>
          </a:p>
        </p:txBody>
      </p:sp>
      <p:sp>
        <p:nvSpPr>
          <p:cNvPr id="31" name="TextBox 30"/>
          <p:cNvSpPr txBox="1"/>
          <p:nvPr/>
        </p:nvSpPr>
        <p:spPr>
          <a:xfrm>
            <a:off x="685800" y="4480560"/>
            <a:ext cx="3291840" cy="493775"/>
          </a:xfrm>
          <a:prstGeom prst="rect">
            <a:avLst/>
          </a:prstGeom>
          <a:noFill/>
        </p:spPr>
        <p:txBody>
          <a:bodyPr wrap="square" lIns="0" rIns="0" tIns="0" bIns="0" anchor="ctr">
            <a:spAutoFit/>
          </a:bodyPr>
          <a:lstStyle/>
          <a:p>
            <a:pPr algn="l"/>
            <a:r>
              <a:rPr sz="1500" b="1" i="0">
                <a:solidFill>
                  <a:srgbClr val="1B2A41"/>
                </a:solidFill>
                <a:latin typeface="Arial"/>
              </a:rPr>
              <a:t>MAPE ra inf</a:t>
            </a:r>
          </a:p>
        </p:txBody>
      </p:sp>
      <p:sp>
        <p:nvSpPr>
          <p:cNvPr id="32" name="TextBox 31"/>
          <p:cNvSpPr txBox="1"/>
          <p:nvPr/>
        </p:nvSpPr>
        <p:spPr>
          <a:xfrm>
            <a:off x="4251960" y="4480560"/>
            <a:ext cx="3017520" cy="493775"/>
          </a:xfrm>
          <a:prstGeom prst="rect">
            <a:avLst/>
          </a:prstGeom>
          <a:noFill/>
        </p:spPr>
        <p:txBody>
          <a:bodyPr wrap="square" lIns="0" rIns="0" tIns="0" bIns="0" anchor="ctr">
            <a:spAutoFit/>
          </a:bodyPr>
          <a:lstStyle/>
          <a:p>
            <a:pPr algn="l"/>
            <a:r>
              <a:rPr sz="1500" b="0" i="0">
                <a:solidFill>
                  <a:srgbClr val="1B2A41"/>
                </a:solidFill>
                <a:latin typeface="Arial"/>
              </a:rPr>
              <a:t>Đếm số 0 trong kỳ chấm</a:t>
            </a:r>
          </a:p>
        </p:txBody>
      </p:sp>
      <p:sp>
        <p:nvSpPr>
          <p:cNvPr id="33" name="TextBox 32"/>
          <p:cNvSpPr txBox="1"/>
          <p:nvPr/>
        </p:nvSpPr>
        <p:spPr>
          <a:xfrm>
            <a:off x="7543800" y="4480560"/>
            <a:ext cx="3044952" cy="493775"/>
          </a:xfrm>
          <a:prstGeom prst="rect">
            <a:avLst/>
          </a:prstGeom>
          <a:noFill/>
        </p:spPr>
        <p:txBody>
          <a:bodyPr wrap="square" lIns="0" rIns="0" tIns="0" bIns="0" anchor="ctr">
            <a:spAutoFit/>
          </a:bodyPr>
          <a:lstStyle/>
          <a:p>
            <a:pPr algn="l"/>
            <a:r>
              <a:rPr sz="1500" b="0" i="0">
                <a:solidFill>
                  <a:srgbClr val="1B2A41"/>
                </a:solidFill>
                <a:latin typeface="Arial"/>
              </a:rPr>
              <a:t>WAPE, MASE</a:t>
            </a:r>
          </a:p>
        </p:txBody>
      </p:sp>
      <p:sp>
        <p:nvSpPr>
          <p:cNvPr id="34" name="TextBox 33"/>
          <p:cNvSpPr txBox="1"/>
          <p:nvPr/>
        </p:nvSpPr>
        <p:spPr>
          <a:xfrm>
            <a:off x="10863072" y="4480560"/>
            <a:ext cx="640080" cy="493775"/>
          </a:xfrm>
          <a:prstGeom prst="rect">
            <a:avLst/>
          </a:prstGeom>
          <a:noFill/>
        </p:spPr>
        <p:txBody>
          <a:bodyPr wrap="square" lIns="0" rIns="0" tIns="0" bIns="0" anchor="ctr">
            <a:spAutoFit/>
          </a:bodyPr>
          <a:lstStyle/>
          <a:p>
            <a:pPr algn="l"/>
            <a:r>
              <a:rPr sz="1500" b="0" i="0">
                <a:solidFill>
                  <a:srgbClr val="5B6778"/>
                </a:solidFill>
                <a:latin typeface="Arial"/>
              </a:rPr>
              <a:t>14</a:t>
            </a:r>
          </a:p>
        </p:txBody>
      </p:sp>
      <p:sp>
        <p:nvSpPr>
          <p:cNvPr id="35" name="Rounded Rectangle 34"/>
          <p:cNvSpPr/>
          <p:nvPr/>
        </p:nvSpPr>
        <p:spPr>
          <a:xfrm>
            <a:off x="548640" y="5010912"/>
            <a:ext cx="11091672" cy="493775"/>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800" y="5010912"/>
            <a:ext cx="3291840" cy="493775"/>
          </a:xfrm>
          <a:prstGeom prst="rect">
            <a:avLst/>
          </a:prstGeom>
          <a:noFill/>
        </p:spPr>
        <p:txBody>
          <a:bodyPr wrap="square" lIns="0" rIns="0" tIns="0" bIns="0" anchor="ctr">
            <a:spAutoFit/>
          </a:bodyPr>
          <a:lstStyle/>
          <a:p>
            <a:pPr algn="l"/>
            <a:r>
              <a:rPr sz="1500" b="1" i="0">
                <a:solidFill>
                  <a:srgbClr val="1B2A41"/>
                </a:solidFill>
                <a:latin typeface="Arial"/>
              </a:rPr>
              <a:t>Sai số kiểm quá đẹp</a:t>
            </a:r>
          </a:p>
        </p:txBody>
      </p:sp>
      <p:sp>
        <p:nvSpPr>
          <p:cNvPr id="37" name="TextBox 36"/>
          <p:cNvSpPr txBox="1"/>
          <p:nvPr/>
        </p:nvSpPr>
        <p:spPr>
          <a:xfrm>
            <a:off x="4251960" y="5010912"/>
            <a:ext cx="3017520" cy="493775"/>
          </a:xfrm>
          <a:prstGeom prst="rect">
            <a:avLst/>
          </a:prstGeom>
          <a:noFill/>
        </p:spPr>
        <p:txBody>
          <a:bodyPr wrap="square" lIns="0" rIns="0" tIns="0" bIns="0" anchor="ctr">
            <a:spAutoFit/>
          </a:bodyPr>
          <a:lstStyle/>
          <a:p>
            <a:pPr algn="l"/>
            <a:r>
              <a:rPr sz="1500" b="0" i="0">
                <a:solidFill>
                  <a:srgbClr val="1B2A41"/>
                </a:solidFill>
                <a:latin typeface="Arial"/>
              </a:rPr>
              <a:t>Điểm kiểm nằm giữa điểm học?</a:t>
            </a:r>
          </a:p>
        </p:txBody>
      </p:sp>
      <p:sp>
        <p:nvSpPr>
          <p:cNvPr id="38" name="TextBox 37"/>
          <p:cNvSpPr txBox="1"/>
          <p:nvPr/>
        </p:nvSpPr>
        <p:spPr>
          <a:xfrm>
            <a:off x="7543800" y="5010912"/>
            <a:ext cx="3044952" cy="493775"/>
          </a:xfrm>
          <a:prstGeom prst="rect">
            <a:avLst/>
          </a:prstGeom>
          <a:noFill/>
        </p:spPr>
        <p:txBody>
          <a:bodyPr wrap="square" lIns="0" rIns="0" tIns="0" bIns="0" anchor="ctr">
            <a:spAutoFit/>
          </a:bodyPr>
          <a:lstStyle/>
          <a:p>
            <a:pPr algn="l"/>
            <a:r>
              <a:rPr sz="1500" b="0" i="0">
                <a:solidFill>
                  <a:srgbClr val="1B2A41"/>
                </a:solidFill>
                <a:latin typeface="Arial"/>
              </a:rPr>
              <a:t>Rolling origin</a:t>
            </a:r>
          </a:p>
        </p:txBody>
      </p:sp>
      <p:sp>
        <p:nvSpPr>
          <p:cNvPr id="39" name="TextBox 38"/>
          <p:cNvSpPr txBox="1"/>
          <p:nvPr/>
        </p:nvSpPr>
        <p:spPr>
          <a:xfrm>
            <a:off x="10863072" y="5010912"/>
            <a:ext cx="640080" cy="493775"/>
          </a:xfrm>
          <a:prstGeom prst="rect">
            <a:avLst/>
          </a:prstGeom>
          <a:noFill/>
        </p:spPr>
        <p:txBody>
          <a:bodyPr wrap="square" lIns="0" rIns="0" tIns="0" bIns="0" anchor="ctr">
            <a:spAutoFit/>
          </a:bodyPr>
          <a:lstStyle/>
          <a:p>
            <a:pPr algn="l"/>
            <a:r>
              <a:rPr sz="1500" b="0" i="0">
                <a:solidFill>
                  <a:srgbClr val="5B6778"/>
                </a:solidFill>
                <a:latin typeface="Arial"/>
              </a:rPr>
              <a:t>15</a:t>
            </a:r>
          </a:p>
        </p:txBody>
      </p:sp>
      <p:sp>
        <p:nvSpPr>
          <p:cNvPr id="40" name="TextBox 39"/>
          <p:cNvSpPr txBox="1"/>
          <p:nvPr/>
        </p:nvSpPr>
        <p:spPr>
          <a:xfrm>
            <a:off x="685800" y="5541264"/>
            <a:ext cx="3291840" cy="493775"/>
          </a:xfrm>
          <a:prstGeom prst="rect">
            <a:avLst/>
          </a:prstGeom>
          <a:noFill/>
        </p:spPr>
        <p:txBody>
          <a:bodyPr wrap="square" lIns="0" rIns="0" tIns="0" bIns="0" anchor="ctr">
            <a:spAutoFit/>
          </a:bodyPr>
          <a:lstStyle/>
          <a:p>
            <a:pPr algn="l"/>
            <a:r>
              <a:rPr sz="1500" b="1" i="0">
                <a:solidFill>
                  <a:srgbClr val="1B2A41"/>
                </a:solidFill>
                <a:latin typeface="Arial"/>
              </a:rPr>
              <a:t>Thấy số liệu chưa về</a:t>
            </a:r>
          </a:p>
        </p:txBody>
      </p:sp>
      <p:sp>
        <p:nvSpPr>
          <p:cNvPr id="41" name="TextBox 40"/>
          <p:cNvSpPr txBox="1"/>
          <p:nvPr/>
        </p:nvSpPr>
        <p:spPr>
          <a:xfrm>
            <a:off x="4251960" y="5541264"/>
            <a:ext cx="3017520" cy="493775"/>
          </a:xfrm>
          <a:prstGeom prst="rect">
            <a:avLst/>
          </a:prstGeom>
          <a:noFill/>
        </p:spPr>
        <p:txBody>
          <a:bodyPr wrap="square" lIns="0" rIns="0" tIns="0" bIns="0" anchor="ctr">
            <a:spAutoFit/>
          </a:bodyPr>
          <a:lstStyle/>
          <a:p>
            <a:pPr algn="l"/>
            <a:r>
              <a:rPr sz="1500" b="0" i="0">
                <a:solidFill>
                  <a:srgbClr val="1B2A41"/>
                </a:solidFill>
                <a:latin typeface="Arial"/>
              </a:rPr>
              <a:t>Độ trễ dữ liệu so với gap</a:t>
            </a:r>
          </a:p>
        </p:txBody>
      </p:sp>
      <p:sp>
        <p:nvSpPr>
          <p:cNvPr id="42" name="TextBox 41"/>
          <p:cNvSpPr txBox="1"/>
          <p:nvPr/>
        </p:nvSpPr>
        <p:spPr>
          <a:xfrm>
            <a:off x="7543800" y="5541264"/>
            <a:ext cx="3044952" cy="493775"/>
          </a:xfrm>
          <a:prstGeom prst="rect">
            <a:avLst/>
          </a:prstGeom>
          <a:noFill/>
        </p:spPr>
        <p:txBody>
          <a:bodyPr wrap="square" lIns="0" rIns="0" tIns="0" bIns="0" anchor="ctr">
            <a:spAutoFit/>
          </a:bodyPr>
          <a:lstStyle/>
          <a:p>
            <a:pPr algn="l"/>
            <a:r>
              <a:rPr sz="1500" b="0" i="0">
                <a:solidFill>
                  <a:srgbClr val="1B2A41"/>
                </a:solidFill>
                <a:latin typeface="Arial"/>
              </a:rPr>
              <a:t>gap = độ trễ</a:t>
            </a:r>
          </a:p>
        </p:txBody>
      </p:sp>
      <p:sp>
        <p:nvSpPr>
          <p:cNvPr id="43" name="TextBox 42"/>
          <p:cNvSpPr txBox="1"/>
          <p:nvPr/>
        </p:nvSpPr>
        <p:spPr>
          <a:xfrm>
            <a:off x="10863072" y="5541264"/>
            <a:ext cx="640080" cy="493775"/>
          </a:xfrm>
          <a:prstGeom prst="rect">
            <a:avLst/>
          </a:prstGeom>
          <a:noFill/>
        </p:spPr>
        <p:txBody>
          <a:bodyPr wrap="square" lIns="0" rIns="0" tIns="0" bIns="0" anchor="ctr">
            <a:spAutoFit/>
          </a:bodyPr>
          <a:lstStyle/>
          <a:p>
            <a:pPr algn="l"/>
            <a:r>
              <a:rPr sz="1500" b="0" i="0">
                <a:solidFill>
                  <a:srgbClr val="5B6778"/>
                </a:solidFill>
                <a:latin typeface="Arial"/>
              </a:rPr>
              <a:t>15</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A77B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C</a:t>
            </a:r>
          </a:p>
        </p:txBody>
      </p:sp>
      <p:sp>
        <p:nvSpPr>
          <p:cNvPr id="3" name="TextBox 2"/>
          <p:cNvSpPr txBox="1"/>
          <p:nvPr/>
        </p:nvSpPr>
        <p:spPr>
          <a:xfrm>
            <a:off x="1325880" y="384048"/>
            <a:ext cx="10332720" cy="731520"/>
          </a:xfrm>
          <a:prstGeom prst="rect">
            <a:avLst/>
          </a:prstGeom>
          <a:noFill/>
        </p:spPr>
        <p:txBody>
          <a:bodyPr wrap="square" lIns="0" rIns="0" tIns="0" bIns="0" anchor="ctr">
            <a:spAutoFit/>
          </a:bodyPr>
          <a:lstStyle/>
          <a:p>
            <a:pPr algn="l"/>
            <a:r>
              <a:rPr sz="3000" b="1" i="0">
                <a:solidFill>
                  <a:srgbClr val="1B2A41"/>
                </a:solidFill>
                <a:latin typeface="Arial"/>
              </a:rPr>
              <a:t>Mười chỗ hay hiểu nhầm</a:t>
            </a:r>
          </a:p>
        </p:txBody>
      </p:sp>
      <p:sp>
        <p:nvSpPr>
          <p:cNvPr id="4" name="TextBox 3"/>
          <p:cNvSpPr txBox="1"/>
          <p:nvPr/>
        </p:nvSpPr>
        <p:spPr>
          <a:xfrm>
            <a:off x="685800" y="1417320"/>
            <a:ext cx="3931920" cy="365760"/>
          </a:xfrm>
          <a:prstGeom prst="rect">
            <a:avLst/>
          </a:prstGeom>
          <a:noFill/>
        </p:spPr>
        <p:txBody>
          <a:bodyPr wrap="square" lIns="0" rIns="0" tIns="0" bIns="0" anchor="t">
            <a:spAutoFit/>
          </a:bodyPr>
          <a:lstStyle/>
          <a:p>
            <a:pPr algn="l"/>
            <a:r>
              <a:rPr sz="1100" b="1" i="0">
                <a:solidFill>
                  <a:srgbClr val="C0392B"/>
                </a:solidFill>
                <a:latin typeface="Arial"/>
              </a:rPr>
              <a:t>HAY NGHĨ</a:t>
            </a:r>
          </a:p>
        </p:txBody>
      </p:sp>
      <p:sp>
        <p:nvSpPr>
          <p:cNvPr id="5" name="TextBox 4"/>
          <p:cNvSpPr txBox="1"/>
          <p:nvPr/>
        </p:nvSpPr>
        <p:spPr>
          <a:xfrm>
            <a:off x="4892040" y="1417320"/>
            <a:ext cx="5696712" cy="365760"/>
          </a:xfrm>
          <a:prstGeom prst="rect">
            <a:avLst/>
          </a:prstGeom>
          <a:noFill/>
        </p:spPr>
        <p:txBody>
          <a:bodyPr wrap="square" lIns="0" rIns="0" tIns="0" bIns="0" anchor="t">
            <a:spAutoFit/>
          </a:bodyPr>
          <a:lstStyle/>
          <a:p>
            <a:pPr algn="l"/>
            <a:r>
              <a:rPr sz="1100" b="1" i="0">
                <a:solidFill>
                  <a:srgbClr val="1E8449"/>
                </a:solidFill>
                <a:latin typeface="Arial"/>
              </a:rPr>
              <a:t>THẬT RA</a:t>
            </a:r>
          </a:p>
        </p:txBody>
      </p:sp>
      <p:sp>
        <p:nvSpPr>
          <p:cNvPr id="6" name="TextBox 5"/>
          <p:cNvSpPr txBox="1"/>
          <p:nvPr/>
        </p:nvSpPr>
        <p:spPr>
          <a:xfrm>
            <a:off x="10863072" y="1417320"/>
            <a:ext cx="640080" cy="365760"/>
          </a:xfrm>
          <a:prstGeom prst="rect">
            <a:avLst/>
          </a:prstGeom>
          <a:noFill/>
        </p:spPr>
        <p:txBody>
          <a:bodyPr wrap="square" lIns="0" rIns="0" tIns="0" bIns="0" anchor="t">
            <a:spAutoFit/>
          </a:bodyPr>
          <a:lstStyle/>
          <a:p>
            <a:pPr algn="l"/>
            <a:r>
              <a:rPr sz="1100" b="1" i="0">
                <a:solidFill>
                  <a:srgbClr val="5B6778"/>
                </a:solidFill>
                <a:latin typeface="Arial"/>
              </a:rPr>
              <a:t>BUỔI</a:t>
            </a:r>
          </a:p>
        </p:txBody>
      </p:sp>
      <p:sp>
        <p:nvSpPr>
          <p:cNvPr id="7" name="Rounded Rectangle 6"/>
          <p:cNvSpPr/>
          <p:nvPr/>
        </p:nvSpPr>
        <p:spPr>
          <a:xfrm>
            <a:off x="548640" y="1828800"/>
            <a:ext cx="11091672"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828800"/>
            <a:ext cx="3931920" cy="438912"/>
          </a:xfrm>
          <a:prstGeom prst="rect">
            <a:avLst/>
          </a:prstGeom>
          <a:noFill/>
        </p:spPr>
        <p:txBody>
          <a:bodyPr wrap="square" lIns="0" rIns="0" tIns="0" bIns="0" anchor="ctr">
            <a:spAutoFit/>
          </a:bodyPr>
          <a:lstStyle/>
          <a:p>
            <a:pPr algn="l"/>
            <a:r>
              <a:rPr sz="1300" b="1" i="0">
                <a:solidFill>
                  <a:srgbClr val="1B2A41"/>
                </a:solidFill>
                <a:latin typeface="Arial"/>
              </a:rPr>
              <a:t>Outlier là lỗi, xoá đi</a:t>
            </a:r>
          </a:p>
        </p:txBody>
      </p:sp>
      <p:sp>
        <p:nvSpPr>
          <p:cNvPr id="9" name="TextBox 8"/>
          <p:cNvSpPr txBox="1"/>
          <p:nvPr/>
        </p:nvSpPr>
        <p:spPr>
          <a:xfrm>
            <a:off x="4892040" y="1828800"/>
            <a:ext cx="5696712" cy="438912"/>
          </a:xfrm>
          <a:prstGeom prst="rect">
            <a:avLst/>
          </a:prstGeom>
          <a:noFill/>
        </p:spPr>
        <p:txBody>
          <a:bodyPr wrap="square" lIns="0" rIns="0" tIns="0" bIns="0" anchor="ctr">
            <a:spAutoFit/>
          </a:bodyPr>
          <a:lstStyle/>
          <a:p>
            <a:pPr algn="l"/>
            <a:r>
              <a:rPr sz="1300" b="0" i="0">
                <a:solidFill>
                  <a:srgbClr val="1B2A41"/>
                </a:solidFill>
                <a:latin typeface="Arial"/>
              </a:rPr>
              <a:t>Tết là bất thường thật: giữ, ghi nhật ký sự kiện</a:t>
            </a:r>
          </a:p>
        </p:txBody>
      </p:sp>
      <p:sp>
        <p:nvSpPr>
          <p:cNvPr id="10" name="TextBox 9"/>
          <p:cNvSpPr txBox="1"/>
          <p:nvPr/>
        </p:nvSpPr>
        <p:spPr>
          <a:xfrm>
            <a:off x="10863072" y="1828800"/>
            <a:ext cx="640080" cy="438912"/>
          </a:xfrm>
          <a:prstGeom prst="rect">
            <a:avLst/>
          </a:prstGeom>
          <a:noFill/>
        </p:spPr>
        <p:txBody>
          <a:bodyPr wrap="square" lIns="0" rIns="0" tIns="0" bIns="0" anchor="ctr">
            <a:spAutoFit/>
          </a:bodyPr>
          <a:lstStyle/>
          <a:p>
            <a:pPr algn="l"/>
            <a:r>
              <a:rPr sz="1300" b="0" i="0">
                <a:solidFill>
                  <a:srgbClr val="5B6778"/>
                </a:solidFill>
                <a:latin typeface="Arial"/>
              </a:rPr>
              <a:t>11</a:t>
            </a:r>
          </a:p>
        </p:txBody>
      </p:sp>
      <p:sp>
        <p:nvSpPr>
          <p:cNvPr id="11" name="TextBox 10"/>
          <p:cNvSpPr txBox="1"/>
          <p:nvPr/>
        </p:nvSpPr>
        <p:spPr>
          <a:xfrm>
            <a:off x="685800" y="2304288"/>
            <a:ext cx="3931920" cy="438912"/>
          </a:xfrm>
          <a:prstGeom prst="rect">
            <a:avLst/>
          </a:prstGeom>
          <a:noFill/>
        </p:spPr>
        <p:txBody>
          <a:bodyPr wrap="square" lIns="0" rIns="0" tIns="0" bIns="0" anchor="ctr">
            <a:spAutoFit/>
          </a:bodyPr>
          <a:lstStyle/>
          <a:p>
            <a:pPr algn="l"/>
            <a:r>
              <a:rPr sz="1300" b="1" i="0">
                <a:solidFill>
                  <a:srgbClr val="1B2A41"/>
                </a:solidFill>
                <a:latin typeface="Arial"/>
              </a:rPr>
              <a:t>Cắt bỏ giai đoạn COVID là an toàn</a:t>
            </a:r>
          </a:p>
        </p:txBody>
      </p:sp>
      <p:sp>
        <p:nvSpPr>
          <p:cNvPr id="12" name="TextBox 11"/>
          <p:cNvSpPr txBox="1"/>
          <p:nvPr/>
        </p:nvSpPr>
        <p:spPr>
          <a:xfrm>
            <a:off x="4892040" y="2304288"/>
            <a:ext cx="5696712" cy="438912"/>
          </a:xfrm>
          <a:prstGeom prst="rect">
            <a:avLst/>
          </a:prstGeom>
          <a:noFill/>
        </p:spPr>
        <p:txBody>
          <a:bodyPr wrap="square" lIns="0" rIns="0" tIns="0" bIns="0" anchor="ctr">
            <a:spAutoFit/>
          </a:bodyPr>
          <a:lstStyle/>
          <a:p>
            <a:pPr algn="l"/>
            <a:r>
              <a:rPr sz="1300" b="0" i="0">
                <a:solidFill>
                  <a:srgbClr val="1B2A41"/>
                </a:solidFill>
                <a:latin typeface="Arial"/>
              </a:rPr>
              <a:t>Cắt còn 18 tháng: MAPE 18,11%, tệ hơn nội suy (8,71%)</a:t>
            </a:r>
          </a:p>
        </p:txBody>
      </p:sp>
      <p:sp>
        <p:nvSpPr>
          <p:cNvPr id="13" name="TextBox 12"/>
          <p:cNvSpPr txBox="1"/>
          <p:nvPr/>
        </p:nvSpPr>
        <p:spPr>
          <a:xfrm>
            <a:off x="10863072" y="2304288"/>
            <a:ext cx="640080" cy="438912"/>
          </a:xfrm>
          <a:prstGeom prst="rect">
            <a:avLst/>
          </a:prstGeom>
          <a:noFill/>
        </p:spPr>
        <p:txBody>
          <a:bodyPr wrap="square" lIns="0" rIns="0" tIns="0" bIns="0" anchor="ctr">
            <a:spAutoFit/>
          </a:bodyPr>
          <a:lstStyle/>
          <a:p>
            <a:pPr algn="l"/>
            <a:r>
              <a:rPr sz="1300" b="0" i="0">
                <a:solidFill>
                  <a:srgbClr val="5B6778"/>
                </a:solidFill>
                <a:latin typeface="Arial"/>
              </a:rPr>
              <a:t>11</a:t>
            </a:r>
          </a:p>
        </p:txBody>
      </p:sp>
      <p:sp>
        <p:nvSpPr>
          <p:cNvPr id="14" name="Rounded Rectangle 13"/>
          <p:cNvSpPr/>
          <p:nvPr/>
        </p:nvSpPr>
        <p:spPr>
          <a:xfrm>
            <a:off x="548640" y="2779776"/>
            <a:ext cx="11091672"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2779776"/>
            <a:ext cx="3931920" cy="438912"/>
          </a:xfrm>
          <a:prstGeom prst="rect">
            <a:avLst/>
          </a:prstGeom>
          <a:noFill/>
        </p:spPr>
        <p:txBody>
          <a:bodyPr wrap="square" lIns="0" rIns="0" tIns="0" bIns="0" anchor="ctr">
            <a:spAutoFit/>
          </a:bodyPr>
          <a:lstStyle/>
          <a:p>
            <a:pPr algn="l"/>
            <a:r>
              <a:rPr sz="1300" b="1" i="0">
                <a:solidFill>
                  <a:srgbClr val="1B2A41"/>
                </a:solidFill>
                <a:latin typeface="Arial"/>
              </a:rPr>
              <a:t>Khoảng bootstrap = trung bình ± 1,96</a:t>
            </a:r>
          </a:p>
        </p:txBody>
      </p:sp>
      <p:sp>
        <p:nvSpPr>
          <p:cNvPr id="16" name="TextBox 15"/>
          <p:cNvSpPr txBox="1"/>
          <p:nvPr/>
        </p:nvSpPr>
        <p:spPr>
          <a:xfrm>
            <a:off x="4892040" y="2779776"/>
            <a:ext cx="5696712" cy="438912"/>
          </a:xfrm>
          <a:prstGeom prst="rect">
            <a:avLst/>
          </a:prstGeom>
          <a:noFill/>
        </p:spPr>
        <p:txBody>
          <a:bodyPr wrap="square" lIns="0" rIns="0" tIns="0" bIns="0" anchor="ctr">
            <a:spAutoFit/>
          </a:bodyPr>
          <a:lstStyle/>
          <a:p>
            <a:pPr algn="l"/>
            <a:r>
              <a:rPr sz="1300" b="0" i="0">
                <a:solidFill>
                  <a:srgbClr val="1B2A41"/>
                </a:solidFill>
                <a:latin typeface="Arial"/>
              </a:rPr>
              <a:t>Lấy quantile 0,025 và 0,975 của vài nghìn trung bình</a:t>
            </a:r>
          </a:p>
        </p:txBody>
      </p:sp>
      <p:sp>
        <p:nvSpPr>
          <p:cNvPr id="17" name="TextBox 16"/>
          <p:cNvSpPr txBox="1"/>
          <p:nvPr/>
        </p:nvSpPr>
        <p:spPr>
          <a:xfrm>
            <a:off x="10863072" y="2779776"/>
            <a:ext cx="640080" cy="438912"/>
          </a:xfrm>
          <a:prstGeom prst="rect">
            <a:avLst/>
          </a:prstGeom>
          <a:noFill/>
        </p:spPr>
        <p:txBody>
          <a:bodyPr wrap="square" lIns="0" rIns="0" tIns="0" bIns="0" anchor="ctr">
            <a:spAutoFit/>
          </a:bodyPr>
          <a:lstStyle/>
          <a:p>
            <a:pPr algn="l"/>
            <a:r>
              <a:rPr sz="1300" b="0" i="0">
                <a:solidFill>
                  <a:srgbClr val="5B6778"/>
                </a:solidFill>
                <a:latin typeface="Arial"/>
              </a:rPr>
              <a:t>2</a:t>
            </a:r>
          </a:p>
        </p:txBody>
      </p:sp>
      <p:sp>
        <p:nvSpPr>
          <p:cNvPr id="18" name="TextBox 17"/>
          <p:cNvSpPr txBox="1"/>
          <p:nvPr/>
        </p:nvSpPr>
        <p:spPr>
          <a:xfrm>
            <a:off x="685800" y="3255264"/>
            <a:ext cx="3931920" cy="438912"/>
          </a:xfrm>
          <a:prstGeom prst="rect">
            <a:avLst/>
          </a:prstGeom>
          <a:noFill/>
        </p:spPr>
        <p:txBody>
          <a:bodyPr wrap="square" lIns="0" rIns="0" tIns="0" bIns="0" anchor="ctr">
            <a:spAutoFit/>
          </a:bodyPr>
          <a:lstStyle/>
          <a:p>
            <a:pPr algn="l"/>
            <a:r>
              <a:rPr sz="1300" b="1" i="0">
                <a:solidFill>
                  <a:srgbClr val="1B2A41"/>
                </a:solidFill>
                <a:latin typeface="Arial"/>
              </a:rPr>
              <a:t>closed, label là hai dấu ngoặc</a:t>
            </a:r>
          </a:p>
        </p:txBody>
      </p:sp>
      <p:sp>
        <p:nvSpPr>
          <p:cNvPr id="19" name="TextBox 18"/>
          <p:cNvSpPr txBox="1"/>
          <p:nvPr/>
        </p:nvSpPr>
        <p:spPr>
          <a:xfrm>
            <a:off x="4892040" y="3255264"/>
            <a:ext cx="5696712" cy="438912"/>
          </a:xfrm>
          <a:prstGeom prst="rect">
            <a:avLst/>
          </a:prstGeom>
          <a:noFill/>
        </p:spPr>
        <p:txBody>
          <a:bodyPr wrap="square" lIns="0" rIns="0" tIns="0" bIns="0" anchor="ctr">
            <a:spAutoFit/>
          </a:bodyPr>
          <a:lstStyle/>
          <a:p>
            <a:pPr algn="l"/>
            <a:r>
              <a:rPr sz="1300" b="0" i="0">
                <a:solidFill>
                  <a:srgbClr val="1B2A41"/>
                </a:solidFill>
                <a:latin typeface="Arial"/>
              </a:rPr>
              <a:t>closed: mốc biên thuộc khoảng nào; label: tên theo mốc đầu hay cuối</a:t>
            </a:r>
          </a:p>
        </p:txBody>
      </p:sp>
      <p:sp>
        <p:nvSpPr>
          <p:cNvPr id="20" name="TextBox 19"/>
          <p:cNvSpPr txBox="1"/>
          <p:nvPr/>
        </p:nvSpPr>
        <p:spPr>
          <a:xfrm>
            <a:off x="10863072" y="3255264"/>
            <a:ext cx="640080" cy="438912"/>
          </a:xfrm>
          <a:prstGeom prst="rect">
            <a:avLst/>
          </a:prstGeom>
          <a:noFill/>
        </p:spPr>
        <p:txBody>
          <a:bodyPr wrap="square" lIns="0" rIns="0" tIns="0" bIns="0" anchor="ctr">
            <a:spAutoFit/>
          </a:bodyPr>
          <a:lstStyle/>
          <a:p>
            <a:pPr algn="l"/>
            <a:r>
              <a:rPr sz="1300" b="0" i="0">
                <a:solidFill>
                  <a:srgbClr val="5B6778"/>
                </a:solidFill>
                <a:latin typeface="Arial"/>
              </a:rPr>
              <a:t>3</a:t>
            </a:r>
          </a:p>
        </p:txBody>
      </p:sp>
      <p:sp>
        <p:nvSpPr>
          <p:cNvPr id="21" name="Rounded Rectangle 20"/>
          <p:cNvSpPr/>
          <p:nvPr/>
        </p:nvSpPr>
        <p:spPr>
          <a:xfrm>
            <a:off x="548640" y="3730752"/>
            <a:ext cx="11091672"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730752"/>
            <a:ext cx="3931920" cy="438912"/>
          </a:xfrm>
          <a:prstGeom prst="rect">
            <a:avLst/>
          </a:prstGeom>
          <a:noFill/>
        </p:spPr>
        <p:txBody>
          <a:bodyPr wrap="square" lIns="0" rIns="0" tIns="0" bIns="0" anchor="ctr">
            <a:spAutoFit/>
          </a:bodyPr>
          <a:lstStyle/>
          <a:p>
            <a:pPr algn="l"/>
            <a:r>
              <a:rPr sz="1300" b="1" i="0">
                <a:solidFill>
                  <a:srgbClr val="1B2A41"/>
                </a:solidFill>
                <a:latin typeface="Arial"/>
              </a:rPr>
              <a:t>ADF dừng, KPSS không dừng → dừng quanh xu hướng</a:t>
            </a:r>
          </a:p>
        </p:txBody>
      </p:sp>
      <p:sp>
        <p:nvSpPr>
          <p:cNvPr id="23" name="TextBox 22"/>
          <p:cNvSpPr txBox="1"/>
          <p:nvPr/>
        </p:nvSpPr>
        <p:spPr>
          <a:xfrm>
            <a:off x="4892040" y="3730752"/>
            <a:ext cx="5696712" cy="438912"/>
          </a:xfrm>
          <a:prstGeom prst="rect">
            <a:avLst/>
          </a:prstGeom>
          <a:noFill/>
        </p:spPr>
        <p:txBody>
          <a:bodyPr wrap="square" lIns="0" rIns="0" tIns="0" bIns="0" anchor="ctr">
            <a:spAutoFit/>
          </a:bodyPr>
          <a:lstStyle/>
          <a:p>
            <a:pPr algn="l"/>
            <a:r>
              <a:rPr sz="1300" b="0" i="0">
                <a:solidFill>
                  <a:srgbClr val="1B2A41"/>
                </a:solidFill>
                <a:latin typeface="Arial"/>
              </a:rPr>
              <a:t>Mâu thuẫn: vẽ chuỗi, tìm cú sốc, đổi mức</a:t>
            </a:r>
          </a:p>
        </p:txBody>
      </p:sp>
      <p:sp>
        <p:nvSpPr>
          <p:cNvPr id="24" name="TextBox 23"/>
          <p:cNvSpPr txBox="1"/>
          <p:nvPr/>
        </p:nvSpPr>
        <p:spPr>
          <a:xfrm>
            <a:off x="10863072" y="3730752"/>
            <a:ext cx="640080" cy="438912"/>
          </a:xfrm>
          <a:prstGeom prst="rect">
            <a:avLst/>
          </a:prstGeom>
          <a:noFill/>
        </p:spPr>
        <p:txBody>
          <a:bodyPr wrap="square" lIns="0" rIns="0" tIns="0" bIns="0" anchor="ctr">
            <a:spAutoFit/>
          </a:bodyPr>
          <a:lstStyle/>
          <a:p>
            <a:pPr algn="l"/>
            <a:r>
              <a:rPr sz="1300" b="0" i="0">
                <a:solidFill>
                  <a:srgbClr val="5B6778"/>
                </a:solidFill>
                <a:latin typeface="Arial"/>
              </a:rPr>
              <a:t>7</a:t>
            </a:r>
          </a:p>
        </p:txBody>
      </p:sp>
      <p:sp>
        <p:nvSpPr>
          <p:cNvPr id="25" name="TextBox 24"/>
          <p:cNvSpPr txBox="1"/>
          <p:nvPr/>
        </p:nvSpPr>
        <p:spPr>
          <a:xfrm>
            <a:off x="685800" y="4206240"/>
            <a:ext cx="3931920" cy="438912"/>
          </a:xfrm>
          <a:prstGeom prst="rect">
            <a:avLst/>
          </a:prstGeom>
          <a:noFill/>
        </p:spPr>
        <p:txBody>
          <a:bodyPr wrap="square" lIns="0" rIns="0" tIns="0" bIns="0" anchor="ctr">
            <a:spAutoFit/>
          </a:bodyPr>
          <a:lstStyle/>
          <a:p>
            <a:pPr algn="l"/>
            <a:r>
              <a:rPr sz="1300" b="1" i="0">
                <a:solidFill>
                  <a:srgbClr val="1B2A41"/>
                </a:solidFill>
                <a:latin typeface="Arial"/>
              </a:rPr>
              <a:t>MASE so được độ khó giữa các chuỗi</a:t>
            </a:r>
          </a:p>
        </p:txBody>
      </p:sp>
      <p:sp>
        <p:nvSpPr>
          <p:cNvPr id="26" name="TextBox 25"/>
          <p:cNvSpPr txBox="1"/>
          <p:nvPr/>
        </p:nvSpPr>
        <p:spPr>
          <a:xfrm>
            <a:off x="4892040" y="4206240"/>
            <a:ext cx="5696712" cy="438912"/>
          </a:xfrm>
          <a:prstGeom prst="rect">
            <a:avLst/>
          </a:prstGeom>
          <a:noFill/>
        </p:spPr>
        <p:txBody>
          <a:bodyPr wrap="square" lIns="0" rIns="0" tIns="0" bIns="0" anchor="ctr">
            <a:spAutoFit/>
          </a:bodyPr>
          <a:lstStyle/>
          <a:p>
            <a:pPr algn="l"/>
            <a:r>
              <a:rPr sz="1300" b="0" i="0">
                <a:solidFill>
                  <a:srgbClr val="1B2A41"/>
                </a:solidFill>
                <a:latin typeface="Arial"/>
              </a:rPr>
              <a:t>MASE chia cho naive của chính chuỗi: độ khó bị triệt tiêu</a:t>
            </a:r>
          </a:p>
        </p:txBody>
      </p:sp>
      <p:sp>
        <p:nvSpPr>
          <p:cNvPr id="27" name="TextBox 26"/>
          <p:cNvSpPr txBox="1"/>
          <p:nvPr/>
        </p:nvSpPr>
        <p:spPr>
          <a:xfrm>
            <a:off x="10863072" y="4206240"/>
            <a:ext cx="640080" cy="438912"/>
          </a:xfrm>
          <a:prstGeom prst="rect">
            <a:avLst/>
          </a:prstGeom>
          <a:noFill/>
        </p:spPr>
        <p:txBody>
          <a:bodyPr wrap="square" lIns="0" rIns="0" tIns="0" bIns="0" anchor="ctr">
            <a:spAutoFit/>
          </a:bodyPr>
          <a:lstStyle/>
          <a:p>
            <a:pPr algn="l"/>
            <a:r>
              <a:rPr sz="1300" b="0" i="0">
                <a:solidFill>
                  <a:srgbClr val="5B6778"/>
                </a:solidFill>
                <a:latin typeface="Arial"/>
              </a:rPr>
              <a:t>9</a:t>
            </a:r>
          </a:p>
        </p:txBody>
      </p:sp>
      <p:sp>
        <p:nvSpPr>
          <p:cNvPr id="28" name="Rounded Rectangle 27"/>
          <p:cNvSpPr/>
          <p:nvPr/>
        </p:nvSpPr>
        <p:spPr>
          <a:xfrm>
            <a:off x="548640" y="4681728"/>
            <a:ext cx="11091672"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4681728"/>
            <a:ext cx="3931920" cy="438912"/>
          </a:xfrm>
          <a:prstGeom prst="rect">
            <a:avLst/>
          </a:prstGeom>
          <a:noFill/>
        </p:spPr>
        <p:txBody>
          <a:bodyPr wrap="square" lIns="0" rIns="0" tIns="0" bIns="0" anchor="ctr">
            <a:spAutoFit/>
          </a:bodyPr>
          <a:lstStyle/>
          <a:p>
            <a:pPr algn="l"/>
            <a:r>
              <a:rPr sz="1300" b="1" i="0">
                <a:solidFill>
                  <a:srgbClr val="1B2A41"/>
                </a:solidFill>
                <a:latin typeface="Arial"/>
              </a:rPr>
              <a:t>CV cao = khó dự báo</a:t>
            </a:r>
          </a:p>
        </p:txBody>
      </p:sp>
      <p:sp>
        <p:nvSpPr>
          <p:cNvPr id="30" name="TextBox 29"/>
          <p:cNvSpPr txBox="1"/>
          <p:nvPr/>
        </p:nvSpPr>
        <p:spPr>
          <a:xfrm>
            <a:off x="4892040" y="4681728"/>
            <a:ext cx="5696712" cy="438912"/>
          </a:xfrm>
          <a:prstGeom prst="rect">
            <a:avLst/>
          </a:prstGeom>
          <a:noFill/>
        </p:spPr>
        <p:txBody>
          <a:bodyPr wrap="square" lIns="0" rIns="0" tIns="0" bIns="0" anchor="ctr">
            <a:spAutoFit/>
          </a:bodyPr>
          <a:lstStyle/>
          <a:p>
            <a:pPr algn="l"/>
            <a:r>
              <a:rPr sz="1300" b="0" i="0">
                <a:solidFill>
                  <a:srgbClr val="1B2A41"/>
                </a:solidFill>
                <a:latin typeface="Arial"/>
              </a:rPr>
              <a:t>10, 30, 10, 30: CV 0,58 mà dễ đoán; đo bằng sai số baseline</a:t>
            </a:r>
          </a:p>
        </p:txBody>
      </p:sp>
      <p:sp>
        <p:nvSpPr>
          <p:cNvPr id="31" name="TextBox 30"/>
          <p:cNvSpPr txBox="1"/>
          <p:nvPr/>
        </p:nvSpPr>
        <p:spPr>
          <a:xfrm>
            <a:off x="10863072" y="4681728"/>
            <a:ext cx="640080" cy="438912"/>
          </a:xfrm>
          <a:prstGeom prst="rect">
            <a:avLst/>
          </a:prstGeom>
          <a:noFill/>
        </p:spPr>
        <p:txBody>
          <a:bodyPr wrap="square" lIns="0" rIns="0" tIns="0" bIns="0" anchor="ctr">
            <a:spAutoFit/>
          </a:bodyPr>
          <a:lstStyle/>
          <a:p>
            <a:pPr algn="l"/>
            <a:r>
              <a:rPr sz="1300" b="0" i="0">
                <a:solidFill>
                  <a:srgbClr val="5B6778"/>
                </a:solidFill>
                <a:latin typeface="Arial"/>
              </a:rPr>
              <a:t>9</a:t>
            </a:r>
          </a:p>
        </p:txBody>
      </p:sp>
      <p:sp>
        <p:nvSpPr>
          <p:cNvPr id="32" name="TextBox 31"/>
          <p:cNvSpPr txBox="1"/>
          <p:nvPr/>
        </p:nvSpPr>
        <p:spPr>
          <a:xfrm>
            <a:off x="685800" y="5157216"/>
            <a:ext cx="3931920" cy="438912"/>
          </a:xfrm>
          <a:prstGeom prst="rect">
            <a:avLst/>
          </a:prstGeom>
          <a:noFill/>
        </p:spPr>
        <p:txBody>
          <a:bodyPr wrap="square" lIns="0" rIns="0" tIns="0" bIns="0" anchor="ctr">
            <a:spAutoFit/>
          </a:bodyPr>
          <a:lstStyle/>
          <a:p>
            <a:pPr algn="l"/>
            <a:r>
              <a:rPr sz="1300" b="1" i="0">
                <a:solidFill>
                  <a:srgbClr val="1B2A41"/>
                </a:solidFill>
                <a:latin typeface="Arial"/>
              </a:rPr>
              <a:t>Kiểm bộ lọc = chia train / val</a:t>
            </a:r>
          </a:p>
        </p:txBody>
      </p:sp>
      <p:sp>
        <p:nvSpPr>
          <p:cNvPr id="33" name="TextBox 32"/>
          <p:cNvSpPr txBox="1"/>
          <p:nvPr/>
        </p:nvSpPr>
        <p:spPr>
          <a:xfrm>
            <a:off x="4892040" y="5157216"/>
            <a:ext cx="5696712" cy="438912"/>
          </a:xfrm>
          <a:prstGeom prst="rect">
            <a:avLst/>
          </a:prstGeom>
          <a:noFill/>
        </p:spPr>
        <p:txBody>
          <a:bodyPr wrap="square" lIns="0" rIns="0" tIns="0" bIns="0" anchor="ctr">
            <a:spAutoFit/>
          </a:bodyPr>
          <a:lstStyle/>
          <a:p>
            <a:pPr algn="l"/>
            <a:r>
              <a:rPr sz="1300" b="0" i="0">
                <a:solidFill>
                  <a:srgbClr val="1B2A41"/>
                </a:solidFill>
                <a:latin typeface="Arial"/>
              </a:rPr>
              <a:t>Đổi vài điểm cuối rồi chạy lại: quá khứ không được đổi</a:t>
            </a:r>
          </a:p>
        </p:txBody>
      </p:sp>
      <p:sp>
        <p:nvSpPr>
          <p:cNvPr id="34" name="TextBox 33"/>
          <p:cNvSpPr txBox="1"/>
          <p:nvPr/>
        </p:nvSpPr>
        <p:spPr>
          <a:xfrm>
            <a:off x="10863072" y="5157216"/>
            <a:ext cx="640080" cy="438912"/>
          </a:xfrm>
          <a:prstGeom prst="rect">
            <a:avLst/>
          </a:prstGeom>
          <a:noFill/>
        </p:spPr>
        <p:txBody>
          <a:bodyPr wrap="square" lIns="0" rIns="0" tIns="0" bIns="0" anchor="ctr">
            <a:spAutoFit/>
          </a:bodyPr>
          <a:lstStyle/>
          <a:p>
            <a:pPr algn="l"/>
            <a:r>
              <a:rPr sz="1300" b="0" i="0">
                <a:solidFill>
                  <a:srgbClr val="5B6778"/>
                </a:solidFill>
                <a:latin typeface="Arial"/>
              </a:rPr>
              <a:t>12</a:t>
            </a:r>
          </a:p>
        </p:txBody>
      </p:sp>
      <p:sp>
        <p:nvSpPr>
          <p:cNvPr id="35" name="Rounded Rectangle 34"/>
          <p:cNvSpPr/>
          <p:nvPr/>
        </p:nvSpPr>
        <p:spPr>
          <a:xfrm>
            <a:off x="548640" y="5632704"/>
            <a:ext cx="11091672"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800" y="5632704"/>
            <a:ext cx="3931920" cy="438912"/>
          </a:xfrm>
          <a:prstGeom prst="rect">
            <a:avLst/>
          </a:prstGeom>
          <a:noFill/>
        </p:spPr>
        <p:txBody>
          <a:bodyPr wrap="square" lIns="0" rIns="0" tIns="0" bIns="0" anchor="ctr">
            <a:spAutoFit/>
          </a:bodyPr>
          <a:lstStyle/>
          <a:p>
            <a:pPr algn="l"/>
            <a:r>
              <a:rPr sz="1300" b="1" i="0">
                <a:solidFill>
                  <a:srgbClr val="1B2A41"/>
                </a:solidFill>
                <a:latin typeface="Arial"/>
              </a:rPr>
              <a:t>MASE &lt; 1 là thắng seasonal naive</a:t>
            </a:r>
          </a:p>
        </p:txBody>
      </p:sp>
      <p:sp>
        <p:nvSpPr>
          <p:cNvPr id="37" name="TextBox 36"/>
          <p:cNvSpPr txBox="1"/>
          <p:nvPr/>
        </p:nvSpPr>
        <p:spPr>
          <a:xfrm>
            <a:off x="4892040" y="5632704"/>
            <a:ext cx="5696712" cy="438912"/>
          </a:xfrm>
          <a:prstGeom prst="rect">
            <a:avLst/>
          </a:prstGeom>
          <a:noFill/>
        </p:spPr>
        <p:txBody>
          <a:bodyPr wrap="square" lIns="0" rIns="0" tIns="0" bIns="0" anchor="ctr">
            <a:spAutoFit/>
          </a:bodyPr>
          <a:lstStyle/>
          <a:p>
            <a:pPr algn="l"/>
            <a:r>
              <a:rPr sz="1300" b="0" i="0">
                <a:solidFill>
                  <a:srgbClr val="1B2A41"/>
                </a:solidFill>
                <a:latin typeface="Arial"/>
              </a:rPr>
              <a:t>Mẫu số đo trên phần học; muốn biết thì chạy baseline trên cùng kỳ chấm</a:t>
            </a:r>
          </a:p>
        </p:txBody>
      </p:sp>
      <p:sp>
        <p:nvSpPr>
          <p:cNvPr id="38" name="TextBox 37"/>
          <p:cNvSpPr txBox="1"/>
          <p:nvPr/>
        </p:nvSpPr>
        <p:spPr>
          <a:xfrm>
            <a:off x="10863072" y="5632704"/>
            <a:ext cx="640080" cy="438912"/>
          </a:xfrm>
          <a:prstGeom prst="rect">
            <a:avLst/>
          </a:prstGeom>
          <a:noFill/>
        </p:spPr>
        <p:txBody>
          <a:bodyPr wrap="square" lIns="0" rIns="0" tIns="0" bIns="0" anchor="ctr">
            <a:spAutoFit/>
          </a:bodyPr>
          <a:lstStyle/>
          <a:p>
            <a:pPr algn="l"/>
            <a:r>
              <a:rPr sz="1300" b="0" i="0">
                <a:solidFill>
                  <a:srgbClr val="5B6778"/>
                </a:solidFill>
                <a:latin typeface="Arial"/>
              </a:rPr>
              <a:t>14</a:t>
            </a:r>
          </a:p>
        </p:txBody>
      </p:sp>
      <p:sp>
        <p:nvSpPr>
          <p:cNvPr id="39" name="TextBox 38"/>
          <p:cNvSpPr txBox="1"/>
          <p:nvPr/>
        </p:nvSpPr>
        <p:spPr>
          <a:xfrm>
            <a:off x="685800" y="6108192"/>
            <a:ext cx="3931920" cy="438912"/>
          </a:xfrm>
          <a:prstGeom prst="rect">
            <a:avLst/>
          </a:prstGeom>
          <a:noFill/>
        </p:spPr>
        <p:txBody>
          <a:bodyPr wrap="square" lIns="0" rIns="0" tIns="0" bIns="0" anchor="ctr">
            <a:spAutoFit/>
          </a:bodyPr>
          <a:lstStyle/>
          <a:p>
            <a:pPr algn="l"/>
            <a:r>
              <a:rPr sz="1300" b="1" i="0">
                <a:solidFill>
                  <a:srgbClr val="1B2A41"/>
                </a:solidFill>
                <a:latin typeface="Arial"/>
              </a:rPr>
              <a:t>Chỉ cần thắng seasonal naive</a:t>
            </a:r>
          </a:p>
        </p:txBody>
      </p:sp>
      <p:sp>
        <p:nvSpPr>
          <p:cNvPr id="40" name="TextBox 39"/>
          <p:cNvSpPr txBox="1"/>
          <p:nvPr/>
        </p:nvSpPr>
        <p:spPr>
          <a:xfrm>
            <a:off x="4892040" y="6108192"/>
            <a:ext cx="5696712" cy="438912"/>
          </a:xfrm>
          <a:prstGeom prst="rect">
            <a:avLst/>
          </a:prstGeom>
          <a:noFill/>
        </p:spPr>
        <p:txBody>
          <a:bodyPr wrap="square" lIns="0" rIns="0" tIns="0" bIns="0" anchor="ctr">
            <a:spAutoFit/>
          </a:bodyPr>
          <a:lstStyle/>
          <a:p>
            <a:pPr algn="l"/>
            <a:r>
              <a:rPr sz="1300" b="0" i="0">
                <a:solidFill>
                  <a:srgbClr val="1B2A41"/>
                </a:solidFill>
                <a:latin typeface="Arial"/>
              </a:rPr>
              <a:t>Phải thắng cả bốn baseline: trên M4 ngày, naive và drift thắng seasonal naive</a:t>
            </a:r>
          </a:p>
        </p:txBody>
      </p:sp>
      <p:sp>
        <p:nvSpPr>
          <p:cNvPr id="41" name="TextBox 40"/>
          <p:cNvSpPr txBox="1"/>
          <p:nvPr/>
        </p:nvSpPr>
        <p:spPr>
          <a:xfrm>
            <a:off x="10863072" y="6108192"/>
            <a:ext cx="640080" cy="438912"/>
          </a:xfrm>
          <a:prstGeom prst="rect">
            <a:avLst/>
          </a:prstGeom>
          <a:noFill/>
        </p:spPr>
        <p:txBody>
          <a:bodyPr wrap="square" lIns="0" rIns="0" tIns="0" bIns="0" anchor="ctr">
            <a:spAutoFit/>
          </a:bodyPr>
          <a:lstStyle/>
          <a:p>
            <a:pPr algn="l"/>
            <a:r>
              <a:rPr sz="1300" b="0" i="0">
                <a:solidFill>
                  <a:srgbClr val="5B6778"/>
                </a:solidFill>
                <a:latin typeface="Arial"/>
              </a:rPr>
              <a:t>14</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A77B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C</a:t>
            </a:r>
          </a:p>
        </p:txBody>
      </p:sp>
      <p:sp>
        <p:nvSpPr>
          <p:cNvPr id="3" name="TextBox 2"/>
          <p:cNvSpPr txBox="1"/>
          <p:nvPr/>
        </p:nvSpPr>
        <p:spPr>
          <a:xfrm>
            <a:off x="1325880" y="384048"/>
            <a:ext cx="10332720" cy="731520"/>
          </a:xfrm>
          <a:prstGeom prst="rect">
            <a:avLst/>
          </a:prstGeom>
          <a:noFill/>
        </p:spPr>
        <p:txBody>
          <a:bodyPr wrap="square" lIns="0" rIns="0" tIns="0" bIns="0" anchor="ctr">
            <a:spAutoFit/>
          </a:bodyPr>
          <a:lstStyle/>
          <a:p>
            <a:pPr algn="l"/>
            <a:r>
              <a:rPr sz="3000" b="1" i="0">
                <a:solidFill>
                  <a:srgbClr val="1B2A41"/>
                </a:solidFill>
                <a:latin typeface="Arial"/>
              </a:rPr>
              <a:t>Từ điển Việt – Anh 1/5: nền móng, hiểu dữ liệu</a:t>
            </a:r>
          </a:p>
        </p:txBody>
      </p:sp>
      <p:sp>
        <p:nvSpPr>
          <p:cNvPr id="4" name="TextBox 3"/>
          <p:cNvSpPr txBox="1"/>
          <p:nvPr/>
        </p:nvSpPr>
        <p:spPr>
          <a:xfrm>
            <a:off x="685800" y="1280160"/>
            <a:ext cx="1874520" cy="365760"/>
          </a:xfrm>
          <a:prstGeom prst="rect">
            <a:avLst/>
          </a:prstGeom>
          <a:noFill/>
        </p:spPr>
        <p:txBody>
          <a:bodyPr wrap="square" lIns="0" rIns="0" tIns="0" bIns="0" anchor="t">
            <a:spAutoFit/>
          </a:bodyPr>
          <a:lstStyle/>
          <a:p>
            <a:pPr algn="l"/>
            <a:r>
              <a:rPr sz="1100" b="1" i="0">
                <a:solidFill>
                  <a:srgbClr val="A77B06"/>
                </a:solidFill>
                <a:latin typeface="Arial"/>
              </a:rPr>
              <a:t>TIẾNG VIỆT</a:t>
            </a:r>
          </a:p>
        </p:txBody>
      </p:sp>
      <p:sp>
        <p:nvSpPr>
          <p:cNvPr id="5" name="TextBox 4"/>
          <p:cNvSpPr txBox="1"/>
          <p:nvPr/>
        </p:nvSpPr>
        <p:spPr>
          <a:xfrm>
            <a:off x="2834640" y="1280160"/>
            <a:ext cx="2286000" cy="365760"/>
          </a:xfrm>
          <a:prstGeom prst="rect">
            <a:avLst/>
          </a:prstGeom>
          <a:noFill/>
        </p:spPr>
        <p:txBody>
          <a:bodyPr wrap="square" lIns="0" rIns="0" tIns="0" bIns="0" anchor="t">
            <a:spAutoFit/>
          </a:bodyPr>
          <a:lstStyle/>
          <a:p>
            <a:pPr algn="l"/>
            <a:r>
              <a:rPr sz="1100" b="1" i="0">
                <a:solidFill>
                  <a:srgbClr val="5B6778"/>
                </a:solidFill>
                <a:latin typeface="Arial"/>
              </a:rPr>
              <a:t>ENGLISH</a:t>
            </a:r>
          </a:p>
        </p:txBody>
      </p:sp>
      <p:sp>
        <p:nvSpPr>
          <p:cNvPr id="6" name="TextBox 5"/>
          <p:cNvSpPr txBox="1"/>
          <p:nvPr/>
        </p:nvSpPr>
        <p:spPr>
          <a:xfrm>
            <a:off x="5394960" y="1280160"/>
            <a:ext cx="548640" cy="365760"/>
          </a:xfrm>
          <a:prstGeom prst="rect">
            <a:avLst/>
          </a:prstGeom>
          <a:noFill/>
        </p:spPr>
        <p:txBody>
          <a:bodyPr wrap="square" lIns="0" rIns="0" tIns="0" bIns="0" anchor="t">
            <a:spAutoFit/>
          </a:bodyPr>
          <a:lstStyle/>
          <a:p>
            <a:pPr algn="l"/>
            <a:r>
              <a:rPr sz="1100" b="1" i="0">
                <a:solidFill>
                  <a:srgbClr val="5B6778"/>
                </a:solidFill>
                <a:latin typeface="Arial"/>
              </a:rPr>
              <a:t>BUỔI</a:t>
            </a:r>
          </a:p>
        </p:txBody>
      </p:sp>
      <p:sp>
        <p:nvSpPr>
          <p:cNvPr id="7" name="Rounded Rectangle 6"/>
          <p:cNvSpPr/>
          <p:nvPr/>
        </p:nvSpPr>
        <p:spPr>
          <a:xfrm>
            <a:off x="548640" y="1691639"/>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691639"/>
            <a:ext cx="1874520" cy="438912"/>
          </a:xfrm>
          <a:prstGeom prst="rect">
            <a:avLst/>
          </a:prstGeom>
          <a:noFill/>
        </p:spPr>
        <p:txBody>
          <a:bodyPr wrap="square" lIns="0" rIns="0" tIns="0" bIns="0" anchor="ctr">
            <a:spAutoFit/>
          </a:bodyPr>
          <a:lstStyle/>
          <a:p>
            <a:pPr algn="l"/>
            <a:r>
              <a:rPr sz="1300" b="1" i="0">
                <a:solidFill>
                  <a:srgbClr val="1B2A41"/>
                </a:solidFill>
                <a:latin typeface="Arial"/>
              </a:rPr>
              <a:t>gốc dự báo, mốc cắt</a:t>
            </a:r>
          </a:p>
        </p:txBody>
      </p:sp>
      <p:sp>
        <p:nvSpPr>
          <p:cNvPr id="9" name="TextBox 8"/>
          <p:cNvSpPr txBox="1"/>
          <p:nvPr/>
        </p:nvSpPr>
        <p:spPr>
          <a:xfrm>
            <a:off x="2834640" y="1691639"/>
            <a:ext cx="2286000" cy="438912"/>
          </a:xfrm>
          <a:prstGeom prst="rect">
            <a:avLst/>
          </a:prstGeom>
          <a:noFill/>
        </p:spPr>
        <p:txBody>
          <a:bodyPr wrap="square" lIns="0" rIns="0" tIns="0" bIns="0" anchor="ctr">
            <a:spAutoFit/>
          </a:bodyPr>
          <a:lstStyle/>
          <a:p>
            <a:pPr algn="l"/>
            <a:r>
              <a:rPr sz="1300" b="0" i="0">
                <a:solidFill>
                  <a:srgbClr val="1B2A41"/>
                </a:solidFill>
                <a:latin typeface="Arial"/>
              </a:rPr>
              <a:t>forecast origin, cutoff</a:t>
            </a:r>
          </a:p>
        </p:txBody>
      </p:sp>
      <p:sp>
        <p:nvSpPr>
          <p:cNvPr id="10" name="TextBox 9"/>
          <p:cNvSpPr txBox="1"/>
          <p:nvPr/>
        </p:nvSpPr>
        <p:spPr>
          <a:xfrm>
            <a:off x="5394960" y="1691639"/>
            <a:ext cx="548640" cy="438912"/>
          </a:xfrm>
          <a:prstGeom prst="rect">
            <a:avLst/>
          </a:prstGeom>
          <a:noFill/>
        </p:spPr>
        <p:txBody>
          <a:bodyPr wrap="square" lIns="0" rIns="0" tIns="0" bIns="0" anchor="ctr">
            <a:spAutoFit/>
          </a:bodyPr>
          <a:lstStyle/>
          <a:p>
            <a:pPr algn="l"/>
            <a:r>
              <a:rPr sz="1300" b="0" i="0">
                <a:solidFill>
                  <a:srgbClr val="5B6778"/>
                </a:solidFill>
                <a:latin typeface="Arial"/>
              </a:rPr>
              <a:t>1</a:t>
            </a:r>
          </a:p>
        </p:txBody>
      </p:sp>
      <p:sp>
        <p:nvSpPr>
          <p:cNvPr id="11" name="TextBox 10"/>
          <p:cNvSpPr txBox="1"/>
          <p:nvPr/>
        </p:nvSpPr>
        <p:spPr>
          <a:xfrm>
            <a:off x="685800" y="2167128"/>
            <a:ext cx="1874520" cy="438912"/>
          </a:xfrm>
          <a:prstGeom prst="rect">
            <a:avLst/>
          </a:prstGeom>
          <a:noFill/>
        </p:spPr>
        <p:txBody>
          <a:bodyPr wrap="square" lIns="0" rIns="0" tIns="0" bIns="0" anchor="ctr">
            <a:spAutoFit/>
          </a:bodyPr>
          <a:lstStyle/>
          <a:p>
            <a:pPr algn="l"/>
            <a:r>
              <a:rPr sz="1300" b="1" i="0">
                <a:solidFill>
                  <a:srgbClr val="1B2A41"/>
                </a:solidFill>
                <a:latin typeface="Arial"/>
              </a:rPr>
              <a:t>tầm dự báo h</a:t>
            </a:r>
          </a:p>
        </p:txBody>
      </p:sp>
      <p:sp>
        <p:nvSpPr>
          <p:cNvPr id="12" name="TextBox 11"/>
          <p:cNvSpPr txBox="1"/>
          <p:nvPr/>
        </p:nvSpPr>
        <p:spPr>
          <a:xfrm>
            <a:off x="2834640" y="2167128"/>
            <a:ext cx="2286000" cy="438912"/>
          </a:xfrm>
          <a:prstGeom prst="rect">
            <a:avLst/>
          </a:prstGeom>
          <a:noFill/>
        </p:spPr>
        <p:txBody>
          <a:bodyPr wrap="square" lIns="0" rIns="0" tIns="0" bIns="0" anchor="ctr">
            <a:spAutoFit/>
          </a:bodyPr>
          <a:lstStyle/>
          <a:p>
            <a:pPr algn="l"/>
            <a:r>
              <a:rPr sz="1300" b="0" i="0">
                <a:solidFill>
                  <a:srgbClr val="1B2A41"/>
                </a:solidFill>
                <a:latin typeface="Arial"/>
              </a:rPr>
              <a:t>forecast horizon</a:t>
            </a:r>
          </a:p>
        </p:txBody>
      </p:sp>
      <p:sp>
        <p:nvSpPr>
          <p:cNvPr id="13" name="TextBox 12"/>
          <p:cNvSpPr txBox="1"/>
          <p:nvPr/>
        </p:nvSpPr>
        <p:spPr>
          <a:xfrm>
            <a:off x="5394960" y="2167128"/>
            <a:ext cx="548640" cy="438912"/>
          </a:xfrm>
          <a:prstGeom prst="rect">
            <a:avLst/>
          </a:prstGeom>
          <a:noFill/>
        </p:spPr>
        <p:txBody>
          <a:bodyPr wrap="square" lIns="0" rIns="0" tIns="0" bIns="0" anchor="ctr">
            <a:spAutoFit/>
          </a:bodyPr>
          <a:lstStyle/>
          <a:p>
            <a:pPr algn="l"/>
            <a:r>
              <a:rPr sz="1300" b="0" i="0">
                <a:solidFill>
                  <a:srgbClr val="5B6778"/>
                </a:solidFill>
                <a:latin typeface="Arial"/>
              </a:rPr>
              <a:t>1</a:t>
            </a:r>
          </a:p>
        </p:txBody>
      </p:sp>
      <p:sp>
        <p:nvSpPr>
          <p:cNvPr id="14" name="Rounded Rectangle 13"/>
          <p:cNvSpPr/>
          <p:nvPr/>
        </p:nvSpPr>
        <p:spPr>
          <a:xfrm>
            <a:off x="548640" y="2642615"/>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2642615"/>
            <a:ext cx="1874520" cy="438912"/>
          </a:xfrm>
          <a:prstGeom prst="rect">
            <a:avLst/>
          </a:prstGeom>
          <a:noFill/>
        </p:spPr>
        <p:txBody>
          <a:bodyPr wrap="square" lIns="0" rIns="0" tIns="0" bIns="0" anchor="ctr">
            <a:spAutoFit/>
          </a:bodyPr>
          <a:lstStyle/>
          <a:p>
            <a:pPr algn="l"/>
            <a:r>
              <a:rPr sz="1300" b="1" i="0">
                <a:solidFill>
                  <a:srgbClr val="1B2A41"/>
                </a:solidFill>
                <a:latin typeface="Arial"/>
              </a:rPr>
              <a:t>dự báo cuốn</a:t>
            </a:r>
          </a:p>
        </p:txBody>
      </p:sp>
      <p:sp>
        <p:nvSpPr>
          <p:cNvPr id="16" name="TextBox 15"/>
          <p:cNvSpPr txBox="1"/>
          <p:nvPr/>
        </p:nvSpPr>
        <p:spPr>
          <a:xfrm>
            <a:off x="2834640" y="2642615"/>
            <a:ext cx="2286000" cy="438912"/>
          </a:xfrm>
          <a:prstGeom prst="rect">
            <a:avLst/>
          </a:prstGeom>
          <a:noFill/>
        </p:spPr>
        <p:txBody>
          <a:bodyPr wrap="square" lIns="0" rIns="0" tIns="0" bIns="0" anchor="ctr">
            <a:spAutoFit/>
          </a:bodyPr>
          <a:lstStyle/>
          <a:p>
            <a:pPr algn="l"/>
            <a:r>
              <a:rPr sz="1300" b="0" i="0">
                <a:solidFill>
                  <a:srgbClr val="1B2A41"/>
                </a:solidFill>
                <a:latin typeface="Arial"/>
              </a:rPr>
              <a:t>rolling forecast</a:t>
            </a:r>
          </a:p>
        </p:txBody>
      </p:sp>
      <p:sp>
        <p:nvSpPr>
          <p:cNvPr id="17" name="TextBox 16"/>
          <p:cNvSpPr txBox="1"/>
          <p:nvPr/>
        </p:nvSpPr>
        <p:spPr>
          <a:xfrm>
            <a:off x="5394960" y="2642615"/>
            <a:ext cx="548640" cy="438912"/>
          </a:xfrm>
          <a:prstGeom prst="rect">
            <a:avLst/>
          </a:prstGeom>
          <a:noFill/>
        </p:spPr>
        <p:txBody>
          <a:bodyPr wrap="square" lIns="0" rIns="0" tIns="0" bIns="0" anchor="ctr">
            <a:spAutoFit/>
          </a:bodyPr>
          <a:lstStyle/>
          <a:p>
            <a:pPr algn="l"/>
            <a:r>
              <a:rPr sz="1300" b="0" i="0">
                <a:solidFill>
                  <a:srgbClr val="5B6778"/>
                </a:solidFill>
                <a:latin typeface="Arial"/>
              </a:rPr>
              <a:t>1</a:t>
            </a:r>
          </a:p>
        </p:txBody>
      </p:sp>
      <p:sp>
        <p:nvSpPr>
          <p:cNvPr id="18" name="TextBox 17"/>
          <p:cNvSpPr txBox="1"/>
          <p:nvPr/>
        </p:nvSpPr>
        <p:spPr>
          <a:xfrm>
            <a:off x="685800" y="3118104"/>
            <a:ext cx="1874520" cy="438912"/>
          </a:xfrm>
          <a:prstGeom prst="rect">
            <a:avLst/>
          </a:prstGeom>
          <a:noFill/>
        </p:spPr>
        <p:txBody>
          <a:bodyPr wrap="square" lIns="0" rIns="0" tIns="0" bIns="0" anchor="ctr">
            <a:spAutoFit/>
          </a:bodyPr>
          <a:lstStyle/>
          <a:p>
            <a:pPr algn="l"/>
            <a:r>
              <a:rPr sz="1300" b="1" i="0">
                <a:solidFill>
                  <a:srgbClr val="1B2A41"/>
                </a:solidFill>
                <a:latin typeface="Arial"/>
              </a:rPr>
              <a:t>sai số ảo</a:t>
            </a:r>
          </a:p>
        </p:txBody>
      </p:sp>
      <p:sp>
        <p:nvSpPr>
          <p:cNvPr id="19" name="TextBox 18"/>
          <p:cNvSpPr txBox="1"/>
          <p:nvPr/>
        </p:nvSpPr>
        <p:spPr>
          <a:xfrm>
            <a:off x="2834640" y="3118104"/>
            <a:ext cx="2286000" cy="438912"/>
          </a:xfrm>
          <a:prstGeom prst="rect">
            <a:avLst/>
          </a:prstGeom>
          <a:noFill/>
        </p:spPr>
        <p:txBody>
          <a:bodyPr wrap="square" lIns="0" rIns="0" tIns="0" bIns="0" anchor="ctr">
            <a:spAutoFit/>
          </a:bodyPr>
          <a:lstStyle/>
          <a:p>
            <a:pPr algn="l"/>
            <a:r>
              <a:rPr sz="1300" b="0" i="0">
                <a:solidFill>
                  <a:srgbClr val="1B2A41"/>
                </a:solidFill>
                <a:latin typeface="Arial"/>
              </a:rPr>
              <a:t>in-sample error</a:t>
            </a:r>
          </a:p>
        </p:txBody>
      </p:sp>
      <p:sp>
        <p:nvSpPr>
          <p:cNvPr id="20" name="TextBox 19"/>
          <p:cNvSpPr txBox="1"/>
          <p:nvPr/>
        </p:nvSpPr>
        <p:spPr>
          <a:xfrm>
            <a:off x="5394960" y="3118104"/>
            <a:ext cx="548640" cy="438912"/>
          </a:xfrm>
          <a:prstGeom prst="rect">
            <a:avLst/>
          </a:prstGeom>
          <a:noFill/>
        </p:spPr>
        <p:txBody>
          <a:bodyPr wrap="square" lIns="0" rIns="0" tIns="0" bIns="0" anchor="ctr">
            <a:spAutoFit/>
          </a:bodyPr>
          <a:lstStyle/>
          <a:p>
            <a:pPr algn="l"/>
            <a:r>
              <a:rPr sz="1300" b="0" i="0">
                <a:solidFill>
                  <a:srgbClr val="5B6778"/>
                </a:solidFill>
                <a:latin typeface="Arial"/>
              </a:rPr>
              <a:t>1</a:t>
            </a:r>
          </a:p>
        </p:txBody>
      </p:sp>
      <p:sp>
        <p:nvSpPr>
          <p:cNvPr id="21" name="Rounded Rectangle 20"/>
          <p:cNvSpPr/>
          <p:nvPr/>
        </p:nvSpPr>
        <p:spPr>
          <a:xfrm>
            <a:off x="548640" y="3593591"/>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593591"/>
            <a:ext cx="1874520" cy="438912"/>
          </a:xfrm>
          <a:prstGeom prst="rect">
            <a:avLst/>
          </a:prstGeom>
          <a:noFill/>
        </p:spPr>
        <p:txBody>
          <a:bodyPr wrap="square" lIns="0" rIns="0" tIns="0" bIns="0" anchor="ctr">
            <a:spAutoFit/>
          </a:bodyPr>
          <a:lstStyle/>
          <a:p>
            <a:pPr algn="l"/>
            <a:r>
              <a:rPr sz="1300" b="1" i="0">
                <a:solidFill>
                  <a:srgbClr val="1B2A41"/>
                </a:solidFill>
                <a:latin typeface="Arial"/>
              </a:rPr>
              <a:t>quantile, trung vị</a:t>
            </a:r>
          </a:p>
        </p:txBody>
      </p:sp>
      <p:sp>
        <p:nvSpPr>
          <p:cNvPr id="23" name="TextBox 22"/>
          <p:cNvSpPr txBox="1"/>
          <p:nvPr/>
        </p:nvSpPr>
        <p:spPr>
          <a:xfrm>
            <a:off x="2834640" y="3593591"/>
            <a:ext cx="2286000" cy="438912"/>
          </a:xfrm>
          <a:prstGeom prst="rect">
            <a:avLst/>
          </a:prstGeom>
          <a:noFill/>
        </p:spPr>
        <p:txBody>
          <a:bodyPr wrap="square" lIns="0" rIns="0" tIns="0" bIns="0" anchor="ctr">
            <a:spAutoFit/>
          </a:bodyPr>
          <a:lstStyle/>
          <a:p>
            <a:pPr algn="l"/>
            <a:r>
              <a:rPr sz="1300" b="0" i="0">
                <a:solidFill>
                  <a:srgbClr val="1B2A41"/>
                </a:solidFill>
                <a:latin typeface="Arial"/>
              </a:rPr>
              <a:t>quantile, median</a:t>
            </a:r>
          </a:p>
        </p:txBody>
      </p:sp>
      <p:sp>
        <p:nvSpPr>
          <p:cNvPr id="24" name="TextBox 23"/>
          <p:cNvSpPr txBox="1"/>
          <p:nvPr/>
        </p:nvSpPr>
        <p:spPr>
          <a:xfrm>
            <a:off x="5394960" y="3593591"/>
            <a:ext cx="548640" cy="438912"/>
          </a:xfrm>
          <a:prstGeom prst="rect">
            <a:avLst/>
          </a:prstGeom>
          <a:noFill/>
        </p:spPr>
        <p:txBody>
          <a:bodyPr wrap="square" lIns="0" rIns="0" tIns="0" bIns="0" anchor="ctr">
            <a:spAutoFit/>
          </a:bodyPr>
          <a:lstStyle/>
          <a:p>
            <a:pPr algn="l"/>
            <a:r>
              <a:rPr sz="1300" b="0" i="0">
                <a:solidFill>
                  <a:srgbClr val="5B6778"/>
                </a:solidFill>
                <a:latin typeface="Arial"/>
              </a:rPr>
              <a:t>2</a:t>
            </a:r>
          </a:p>
        </p:txBody>
      </p:sp>
      <p:sp>
        <p:nvSpPr>
          <p:cNvPr id="25" name="TextBox 24"/>
          <p:cNvSpPr txBox="1"/>
          <p:nvPr/>
        </p:nvSpPr>
        <p:spPr>
          <a:xfrm>
            <a:off x="685800" y="4069080"/>
            <a:ext cx="1874520" cy="438912"/>
          </a:xfrm>
          <a:prstGeom prst="rect">
            <a:avLst/>
          </a:prstGeom>
          <a:noFill/>
        </p:spPr>
        <p:txBody>
          <a:bodyPr wrap="square" lIns="0" rIns="0" tIns="0" bIns="0" anchor="ctr">
            <a:spAutoFit/>
          </a:bodyPr>
          <a:lstStyle/>
          <a:p>
            <a:pPr algn="l"/>
            <a:r>
              <a:rPr sz="1300" b="1" i="0">
                <a:solidFill>
                  <a:srgbClr val="1B2A41"/>
                </a:solidFill>
                <a:latin typeface="Arial"/>
              </a:rPr>
              <a:t>pinball loss</a:t>
            </a:r>
          </a:p>
        </p:txBody>
      </p:sp>
      <p:sp>
        <p:nvSpPr>
          <p:cNvPr id="26" name="TextBox 25"/>
          <p:cNvSpPr txBox="1"/>
          <p:nvPr/>
        </p:nvSpPr>
        <p:spPr>
          <a:xfrm>
            <a:off x="2834640" y="4069080"/>
            <a:ext cx="2286000" cy="438912"/>
          </a:xfrm>
          <a:prstGeom prst="rect">
            <a:avLst/>
          </a:prstGeom>
          <a:noFill/>
        </p:spPr>
        <p:txBody>
          <a:bodyPr wrap="square" lIns="0" rIns="0" tIns="0" bIns="0" anchor="ctr">
            <a:spAutoFit/>
          </a:bodyPr>
          <a:lstStyle/>
          <a:p>
            <a:pPr algn="l"/>
            <a:r>
              <a:rPr sz="1300" b="0" i="0">
                <a:solidFill>
                  <a:srgbClr val="1B2A41"/>
                </a:solidFill>
                <a:latin typeface="Arial"/>
              </a:rPr>
              <a:t>pinball / quantile loss</a:t>
            </a:r>
          </a:p>
        </p:txBody>
      </p:sp>
      <p:sp>
        <p:nvSpPr>
          <p:cNvPr id="27" name="TextBox 26"/>
          <p:cNvSpPr txBox="1"/>
          <p:nvPr/>
        </p:nvSpPr>
        <p:spPr>
          <a:xfrm>
            <a:off x="5394960" y="4069080"/>
            <a:ext cx="548640" cy="438912"/>
          </a:xfrm>
          <a:prstGeom prst="rect">
            <a:avLst/>
          </a:prstGeom>
          <a:noFill/>
        </p:spPr>
        <p:txBody>
          <a:bodyPr wrap="square" lIns="0" rIns="0" tIns="0" bIns="0" anchor="ctr">
            <a:spAutoFit/>
          </a:bodyPr>
          <a:lstStyle/>
          <a:p>
            <a:pPr algn="l"/>
            <a:r>
              <a:rPr sz="1300" b="0" i="0">
                <a:solidFill>
                  <a:srgbClr val="5B6778"/>
                </a:solidFill>
                <a:latin typeface="Arial"/>
              </a:rPr>
              <a:t>2</a:t>
            </a:r>
          </a:p>
        </p:txBody>
      </p:sp>
      <p:sp>
        <p:nvSpPr>
          <p:cNvPr id="28" name="Rounded Rectangle 27"/>
          <p:cNvSpPr/>
          <p:nvPr/>
        </p:nvSpPr>
        <p:spPr>
          <a:xfrm>
            <a:off x="548640" y="4544568"/>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4544568"/>
            <a:ext cx="1874520" cy="438912"/>
          </a:xfrm>
          <a:prstGeom prst="rect">
            <a:avLst/>
          </a:prstGeom>
          <a:noFill/>
        </p:spPr>
        <p:txBody>
          <a:bodyPr wrap="square" lIns="0" rIns="0" tIns="0" bIns="0" anchor="ctr">
            <a:spAutoFit/>
          </a:bodyPr>
          <a:lstStyle/>
          <a:p>
            <a:pPr algn="l"/>
            <a:r>
              <a:rPr sz="1300" b="1" i="0">
                <a:solidFill>
                  <a:srgbClr val="1B2A41"/>
                </a:solidFill>
                <a:latin typeface="Arial"/>
              </a:rPr>
              <a:t>tỷ lệ phủ</a:t>
            </a:r>
          </a:p>
        </p:txBody>
      </p:sp>
      <p:sp>
        <p:nvSpPr>
          <p:cNvPr id="30" name="TextBox 29"/>
          <p:cNvSpPr txBox="1"/>
          <p:nvPr/>
        </p:nvSpPr>
        <p:spPr>
          <a:xfrm>
            <a:off x="2834640" y="4544568"/>
            <a:ext cx="2286000" cy="438912"/>
          </a:xfrm>
          <a:prstGeom prst="rect">
            <a:avLst/>
          </a:prstGeom>
          <a:noFill/>
        </p:spPr>
        <p:txBody>
          <a:bodyPr wrap="square" lIns="0" rIns="0" tIns="0" bIns="0" anchor="ctr">
            <a:spAutoFit/>
          </a:bodyPr>
          <a:lstStyle/>
          <a:p>
            <a:pPr algn="l"/>
            <a:r>
              <a:rPr sz="1300" b="0" i="0">
                <a:solidFill>
                  <a:srgbClr val="1B2A41"/>
                </a:solidFill>
                <a:latin typeface="Arial"/>
              </a:rPr>
              <a:t>coverage</a:t>
            </a:r>
          </a:p>
        </p:txBody>
      </p:sp>
      <p:sp>
        <p:nvSpPr>
          <p:cNvPr id="31" name="TextBox 30"/>
          <p:cNvSpPr txBox="1"/>
          <p:nvPr/>
        </p:nvSpPr>
        <p:spPr>
          <a:xfrm>
            <a:off x="5394960" y="4544568"/>
            <a:ext cx="548640" cy="438912"/>
          </a:xfrm>
          <a:prstGeom prst="rect">
            <a:avLst/>
          </a:prstGeom>
          <a:noFill/>
        </p:spPr>
        <p:txBody>
          <a:bodyPr wrap="square" lIns="0" rIns="0" tIns="0" bIns="0" anchor="ctr">
            <a:spAutoFit/>
          </a:bodyPr>
          <a:lstStyle/>
          <a:p>
            <a:pPr algn="l"/>
            <a:r>
              <a:rPr sz="1300" b="0" i="0">
                <a:solidFill>
                  <a:srgbClr val="5B6778"/>
                </a:solidFill>
                <a:latin typeface="Arial"/>
              </a:rPr>
              <a:t>2</a:t>
            </a:r>
          </a:p>
        </p:txBody>
      </p:sp>
      <p:sp>
        <p:nvSpPr>
          <p:cNvPr id="32" name="TextBox 31"/>
          <p:cNvSpPr txBox="1"/>
          <p:nvPr/>
        </p:nvSpPr>
        <p:spPr>
          <a:xfrm>
            <a:off x="685800" y="5020056"/>
            <a:ext cx="1874520" cy="438912"/>
          </a:xfrm>
          <a:prstGeom prst="rect">
            <a:avLst/>
          </a:prstGeom>
          <a:noFill/>
        </p:spPr>
        <p:txBody>
          <a:bodyPr wrap="square" lIns="0" rIns="0" tIns="0" bIns="0" anchor="ctr">
            <a:spAutoFit/>
          </a:bodyPr>
          <a:lstStyle/>
          <a:p>
            <a:pPr algn="l"/>
            <a:r>
              <a:rPr sz="1300" b="1" i="0">
                <a:solidFill>
                  <a:srgbClr val="1B2A41"/>
                </a:solidFill>
                <a:latin typeface="Arial"/>
              </a:rPr>
              <a:t>block bootstrap</a:t>
            </a:r>
          </a:p>
        </p:txBody>
      </p:sp>
      <p:sp>
        <p:nvSpPr>
          <p:cNvPr id="33" name="TextBox 32"/>
          <p:cNvSpPr txBox="1"/>
          <p:nvPr/>
        </p:nvSpPr>
        <p:spPr>
          <a:xfrm>
            <a:off x="2834640" y="5020056"/>
            <a:ext cx="2286000" cy="438912"/>
          </a:xfrm>
          <a:prstGeom prst="rect">
            <a:avLst/>
          </a:prstGeom>
          <a:noFill/>
        </p:spPr>
        <p:txBody>
          <a:bodyPr wrap="square" lIns="0" rIns="0" tIns="0" bIns="0" anchor="ctr">
            <a:spAutoFit/>
          </a:bodyPr>
          <a:lstStyle/>
          <a:p>
            <a:pPr algn="l"/>
            <a:r>
              <a:rPr sz="1300" b="0" i="0">
                <a:solidFill>
                  <a:srgbClr val="1B2A41"/>
                </a:solidFill>
                <a:latin typeface="Arial"/>
              </a:rPr>
              <a:t>block bootstrap</a:t>
            </a:r>
          </a:p>
        </p:txBody>
      </p:sp>
      <p:sp>
        <p:nvSpPr>
          <p:cNvPr id="34" name="TextBox 33"/>
          <p:cNvSpPr txBox="1"/>
          <p:nvPr/>
        </p:nvSpPr>
        <p:spPr>
          <a:xfrm>
            <a:off x="5394960" y="5020056"/>
            <a:ext cx="548640" cy="438912"/>
          </a:xfrm>
          <a:prstGeom prst="rect">
            <a:avLst/>
          </a:prstGeom>
          <a:noFill/>
        </p:spPr>
        <p:txBody>
          <a:bodyPr wrap="square" lIns="0" rIns="0" tIns="0" bIns="0" anchor="ctr">
            <a:spAutoFit/>
          </a:bodyPr>
          <a:lstStyle/>
          <a:p>
            <a:pPr algn="l"/>
            <a:r>
              <a:rPr sz="1300" b="0" i="0">
                <a:solidFill>
                  <a:srgbClr val="5B6778"/>
                </a:solidFill>
                <a:latin typeface="Arial"/>
              </a:rPr>
              <a:t>2</a:t>
            </a:r>
          </a:p>
        </p:txBody>
      </p:sp>
      <p:sp>
        <p:nvSpPr>
          <p:cNvPr id="35" name="Rounded Rectangle 34"/>
          <p:cNvSpPr/>
          <p:nvPr/>
        </p:nvSpPr>
        <p:spPr>
          <a:xfrm>
            <a:off x="548640" y="5495544"/>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800" y="5495544"/>
            <a:ext cx="1874520" cy="438912"/>
          </a:xfrm>
          <a:prstGeom prst="rect">
            <a:avLst/>
          </a:prstGeom>
          <a:noFill/>
        </p:spPr>
        <p:txBody>
          <a:bodyPr wrap="square" lIns="0" rIns="0" tIns="0" bIns="0" anchor="ctr">
            <a:spAutoFit/>
          </a:bodyPr>
          <a:lstStyle/>
          <a:p>
            <a:pPr algn="l"/>
            <a:r>
              <a:rPr sz="1300" b="1" i="0">
                <a:solidFill>
                  <a:srgbClr val="1B2A41"/>
                </a:solidFill>
                <a:latin typeface="Arial"/>
              </a:rPr>
              <a:t>giờ mùa hè</a:t>
            </a:r>
          </a:p>
        </p:txBody>
      </p:sp>
      <p:sp>
        <p:nvSpPr>
          <p:cNvPr id="37" name="TextBox 36"/>
          <p:cNvSpPr txBox="1"/>
          <p:nvPr/>
        </p:nvSpPr>
        <p:spPr>
          <a:xfrm>
            <a:off x="2834640" y="5495544"/>
            <a:ext cx="2286000" cy="438912"/>
          </a:xfrm>
          <a:prstGeom prst="rect">
            <a:avLst/>
          </a:prstGeom>
          <a:noFill/>
        </p:spPr>
        <p:txBody>
          <a:bodyPr wrap="square" lIns="0" rIns="0" tIns="0" bIns="0" anchor="ctr">
            <a:spAutoFit/>
          </a:bodyPr>
          <a:lstStyle/>
          <a:p>
            <a:pPr algn="l"/>
            <a:r>
              <a:rPr sz="1300" b="0" i="0">
                <a:solidFill>
                  <a:srgbClr val="1B2A41"/>
                </a:solidFill>
                <a:latin typeface="Arial"/>
              </a:rPr>
              <a:t>daylight saving time (DST)</a:t>
            </a:r>
          </a:p>
        </p:txBody>
      </p:sp>
      <p:sp>
        <p:nvSpPr>
          <p:cNvPr id="38" name="TextBox 37"/>
          <p:cNvSpPr txBox="1"/>
          <p:nvPr/>
        </p:nvSpPr>
        <p:spPr>
          <a:xfrm>
            <a:off x="5394960" y="5495544"/>
            <a:ext cx="548640" cy="438912"/>
          </a:xfrm>
          <a:prstGeom prst="rect">
            <a:avLst/>
          </a:prstGeom>
          <a:noFill/>
        </p:spPr>
        <p:txBody>
          <a:bodyPr wrap="square" lIns="0" rIns="0" tIns="0" bIns="0" anchor="ctr">
            <a:spAutoFit/>
          </a:bodyPr>
          <a:lstStyle/>
          <a:p>
            <a:pPr algn="l"/>
            <a:r>
              <a:rPr sz="1300" b="0" i="0">
                <a:solidFill>
                  <a:srgbClr val="5B6778"/>
                </a:solidFill>
                <a:latin typeface="Arial"/>
              </a:rPr>
              <a:t>3</a:t>
            </a:r>
          </a:p>
        </p:txBody>
      </p:sp>
      <p:sp>
        <p:nvSpPr>
          <p:cNvPr id="39" name="TextBox 38"/>
          <p:cNvSpPr txBox="1"/>
          <p:nvPr/>
        </p:nvSpPr>
        <p:spPr>
          <a:xfrm>
            <a:off x="685800" y="5971031"/>
            <a:ext cx="1874520" cy="438912"/>
          </a:xfrm>
          <a:prstGeom prst="rect">
            <a:avLst/>
          </a:prstGeom>
          <a:noFill/>
        </p:spPr>
        <p:txBody>
          <a:bodyPr wrap="square" lIns="0" rIns="0" tIns="0" bIns="0" anchor="ctr">
            <a:spAutoFit/>
          </a:bodyPr>
          <a:lstStyle/>
          <a:p>
            <a:pPr algn="l"/>
            <a:r>
              <a:rPr sz="1300" b="1" i="0">
                <a:solidFill>
                  <a:srgbClr val="1B2A41"/>
                </a:solidFill>
                <a:latin typeface="Arial"/>
              </a:rPr>
              <a:t>timestamp naive / aware</a:t>
            </a:r>
          </a:p>
        </p:txBody>
      </p:sp>
      <p:sp>
        <p:nvSpPr>
          <p:cNvPr id="40" name="TextBox 39"/>
          <p:cNvSpPr txBox="1"/>
          <p:nvPr/>
        </p:nvSpPr>
        <p:spPr>
          <a:xfrm>
            <a:off x="2834640" y="5971031"/>
            <a:ext cx="2286000" cy="438912"/>
          </a:xfrm>
          <a:prstGeom prst="rect">
            <a:avLst/>
          </a:prstGeom>
          <a:noFill/>
        </p:spPr>
        <p:txBody>
          <a:bodyPr wrap="square" lIns="0" rIns="0" tIns="0" bIns="0" anchor="ctr">
            <a:spAutoFit/>
          </a:bodyPr>
          <a:lstStyle/>
          <a:p>
            <a:pPr algn="l"/>
            <a:r>
              <a:rPr sz="1300" b="0" i="0">
                <a:solidFill>
                  <a:srgbClr val="1B2A41"/>
                </a:solidFill>
                <a:latin typeface="Arial"/>
              </a:rPr>
              <a:t>naive / aware timestamp</a:t>
            </a:r>
          </a:p>
        </p:txBody>
      </p:sp>
      <p:sp>
        <p:nvSpPr>
          <p:cNvPr id="41" name="TextBox 40"/>
          <p:cNvSpPr txBox="1"/>
          <p:nvPr/>
        </p:nvSpPr>
        <p:spPr>
          <a:xfrm>
            <a:off x="5394960" y="5971031"/>
            <a:ext cx="548640" cy="438912"/>
          </a:xfrm>
          <a:prstGeom prst="rect">
            <a:avLst/>
          </a:prstGeom>
          <a:noFill/>
        </p:spPr>
        <p:txBody>
          <a:bodyPr wrap="square" lIns="0" rIns="0" tIns="0" bIns="0" anchor="ctr">
            <a:spAutoFit/>
          </a:bodyPr>
          <a:lstStyle/>
          <a:p>
            <a:pPr algn="l"/>
            <a:r>
              <a:rPr sz="1300" b="0" i="0">
                <a:solidFill>
                  <a:srgbClr val="5B6778"/>
                </a:solidFill>
                <a:latin typeface="Arial"/>
              </a:rPr>
              <a:t>3</a:t>
            </a:r>
          </a:p>
        </p:txBody>
      </p:sp>
      <p:sp>
        <p:nvSpPr>
          <p:cNvPr id="42" name="TextBox 41"/>
          <p:cNvSpPr txBox="1"/>
          <p:nvPr/>
        </p:nvSpPr>
        <p:spPr>
          <a:xfrm>
            <a:off x="6245352" y="1280160"/>
            <a:ext cx="1874520" cy="365760"/>
          </a:xfrm>
          <a:prstGeom prst="rect">
            <a:avLst/>
          </a:prstGeom>
          <a:noFill/>
        </p:spPr>
        <p:txBody>
          <a:bodyPr wrap="square" lIns="0" rIns="0" tIns="0" bIns="0" anchor="t">
            <a:spAutoFit/>
          </a:bodyPr>
          <a:lstStyle/>
          <a:p>
            <a:pPr algn="l"/>
            <a:r>
              <a:rPr sz="1100" b="1" i="0">
                <a:solidFill>
                  <a:srgbClr val="A77B06"/>
                </a:solidFill>
                <a:latin typeface="Arial"/>
              </a:rPr>
              <a:t>TIẾNG VIỆT</a:t>
            </a:r>
          </a:p>
        </p:txBody>
      </p:sp>
      <p:sp>
        <p:nvSpPr>
          <p:cNvPr id="43" name="TextBox 42"/>
          <p:cNvSpPr txBox="1"/>
          <p:nvPr/>
        </p:nvSpPr>
        <p:spPr>
          <a:xfrm>
            <a:off x="8394192" y="1280160"/>
            <a:ext cx="2286000" cy="365760"/>
          </a:xfrm>
          <a:prstGeom prst="rect">
            <a:avLst/>
          </a:prstGeom>
          <a:noFill/>
        </p:spPr>
        <p:txBody>
          <a:bodyPr wrap="square" lIns="0" rIns="0" tIns="0" bIns="0" anchor="t">
            <a:spAutoFit/>
          </a:bodyPr>
          <a:lstStyle/>
          <a:p>
            <a:pPr algn="l"/>
            <a:r>
              <a:rPr sz="1100" b="1" i="0">
                <a:solidFill>
                  <a:srgbClr val="5B6778"/>
                </a:solidFill>
                <a:latin typeface="Arial"/>
              </a:rPr>
              <a:t>ENGLISH</a:t>
            </a:r>
          </a:p>
        </p:txBody>
      </p:sp>
      <p:sp>
        <p:nvSpPr>
          <p:cNvPr id="44" name="TextBox 43"/>
          <p:cNvSpPr txBox="1"/>
          <p:nvPr/>
        </p:nvSpPr>
        <p:spPr>
          <a:xfrm>
            <a:off x="10954511" y="1280160"/>
            <a:ext cx="548640" cy="365760"/>
          </a:xfrm>
          <a:prstGeom prst="rect">
            <a:avLst/>
          </a:prstGeom>
          <a:noFill/>
        </p:spPr>
        <p:txBody>
          <a:bodyPr wrap="square" lIns="0" rIns="0" tIns="0" bIns="0" anchor="t">
            <a:spAutoFit/>
          </a:bodyPr>
          <a:lstStyle/>
          <a:p>
            <a:pPr algn="l"/>
            <a:r>
              <a:rPr sz="1100" b="1" i="0">
                <a:solidFill>
                  <a:srgbClr val="5B6778"/>
                </a:solidFill>
                <a:latin typeface="Arial"/>
              </a:rPr>
              <a:t>BUỔI</a:t>
            </a:r>
          </a:p>
        </p:txBody>
      </p:sp>
      <p:sp>
        <p:nvSpPr>
          <p:cNvPr id="45" name="Rounded Rectangle 44"/>
          <p:cNvSpPr/>
          <p:nvPr/>
        </p:nvSpPr>
        <p:spPr>
          <a:xfrm>
            <a:off x="6108191" y="1691639"/>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245351" y="1691639"/>
            <a:ext cx="1874520" cy="438912"/>
          </a:xfrm>
          <a:prstGeom prst="rect">
            <a:avLst/>
          </a:prstGeom>
          <a:noFill/>
        </p:spPr>
        <p:txBody>
          <a:bodyPr wrap="square" lIns="0" rIns="0" tIns="0" bIns="0" anchor="ctr">
            <a:spAutoFit/>
          </a:bodyPr>
          <a:lstStyle/>
          <a:p>
            <a:pPr algn="l"/>
            <a:r>
              <a:rPr sz="1300" b="1" i="0">
                <a:solidFill>
                  <a:srgbClr val="1B2A41"/>
                </a:solidFill>
                <a:latin typeface="Arial"/>
              </a:rPr>
              <a:t>định dạng dài / rộng</a:t>
            </a:r>
          </a:p>
        </p:txBody>
      </p:sp>
      <p:sp>
        <p:nvSpPr>
          <p:cNvPr id="47" name="TextBox 46"/>
          <p:cNvSpPr txBox="1"/>
          <p:nvPr/>
        </p:nvSpPr>
        <p:spPr>
          <a:xfrm>
            <a:off x="8394192" y="1691639"/>
            <a:ext cx="2286000" cy="438912"/>
          </a:xfrm>
          <a:prstGeom prst="rect">
            <a:avLst/>
          </a:prstGeom>
          <a:noFill/>
        </p:spPr>
        <p:txBody>
          <a:bodyPr wrap="square" lIns="0" rIns="0" tIns="0" bIns="0" anchor="ctr">
            <a:spAutoFit/>
          </a:bodyPr>
          <a:lstStyle/>
          <a:p>
            <a:pPr algn="l"/>
            <a:r>
              <a:rPr sz="1300" b="0" i="0">
                <a:solidFill>
                  <a:srgbClr val="1B2A41"/>
                </a:solidFill>
                <a:latin typeface="Arial"/>
              </a:rPr>
              <a:t>long / wide format</a:t>
            </a:r>
          </a:p>
        </p:txBody>
      </p:sp>
      <p:sp>
        <p:nvSpPr>
          <p:cNvPr id="48" name="TextBox 47"/>
          <p:cNvSpPr txBox="1"/>
          <p:nvPr/>
        </p:nvSpPr>
        <p:spPr>
          <a:xfrm>
            <a:off x="10954511" y="1691639"/>
            <a:ext cx="548640" cy="438912"/>
          </a:xfrm>
          <a:prstGeom prst="rect">
            <a:avLst/>
          </a:prstGeom>
          <a:noFill/>
        </p:spPr>
        <p:txBody>
          <a:bodyPr wrap="square" lIns="0" rIns="0" tIns="0" bIns="0" anchor="ctr">
            <a:spAutoFit/>
          </a:bodyPr>
          <a:lstStyle/>
          <a:p>
            <a:pPr algn="l"/>
            <a:r>
              <a:rPr sz="1300" b="0" i="0">
                <a:solidFill>
                  <a:srgbClr val="5B6778"/>
                </a:solidFill>
                <a:latin typeface="Arial"/>
              </a:rPr>
              <a:t>3</a:t>
            </a:r>
          </a:p>
        </p:txBody>
      </p:sp>
      <p:sp>
        <p:nvSpPr>
          <p:cNvPr id="49" name="TextBox 48"/>
          <p:cNvSpPr txBox="1"/>
          <p:nvPr/>
        </p:nvSpPr>
        <p:spPr>
          <a:xfrm>
            <a:off x="6245351" y="2167128"/>
            <a:ext cx="1874520" cy="438912"/>
          </a:xfrm>
          <a:prstGeom prst="rect">
            <a:avLst/>
          </a:prstGeom>
          <a:noFill/>
        </p:spPr>
        <p:txBody>
          <a:bodyPr wrap="square" lIns="0" rIns="0" tIns="0" bIns="0" anchor="ctr">
            <a:spAutoFit/>
          </a:bodyPr>
          <a:lstStyle/>
          <a:p>
            <a:pPr algn="l"/>
            <a:r>
              <a:rPr sz="1300" b="1" i="0">
                <a:solidFill>
                  <a:srgbClr val="1B2A41"/>
                </a:solidFill>
                <a:latin typeface="Arial"/>
              </a:rPr>
              <a:t>gộp tần suất</a:t>
            </a:r>
          </a:p>
        </p:txBody>
      </p:sp>
      <p:sp>
        <p:nvSpPr>
          <p:cNvPr id="50" name="TextBox 49"/>
          <p:cNvSpPr txBox="1"/>
          <p:nvPr/>
        </p:nvSpPr>
        <p:spPr>
          <a:xfrm>
            <a:off x="8394192" y="2167128"/>
            <a:ext cx="2286000" cy="438912"/>
          </a:xfrm>
          <a:prstGeom prst="rect">
            <a:avLst/>
          </a:prstGeom>
          <a:noFill/>
        </p:spPr>
        <p:txBody>
          <a:bodyPr wrap="square" lIns="0" rIns="0" tIns="0" bIns="0" anchor="ctr">
            <a:spAutoFit/>
          </a:bodyPr>
          <a:lstStyle/>
          <a:p>
            <a:pPr algn="l"/>
            <a:r>
              <a:rPr sz="1300" b="0" i="0">
                <a:solidFill>
                  <a:srgbClr val="1B2A41"/>
                </a:solidFill>
                <a:latin typeface="Arial"/>
              </a:rPr>
              <a:t>resample, aggregate</a:t>
            </a:r>
          </a:p>
        </p:txBody>
      </p:sp>
      <p:sp>
        <p:nvSpPr>
          <p:cNvPr id="51" name="TextBox 50"/>
          <p:cNvSpPr txBox="1"/>
          <p:nvPr/>
        </p:nvSpPr>
        <p:spPr>
          <a:xfrm>
            <a:off x="10954511" y="2167128"/>
            <a:ext cx="548640" cy="438912"/>
          </a:xfrm>
          <a:prstGeom prst="rect">
            <a:avLst/>
          </a:prstGeom>
          <a:noFill/>
        </p:spPr>
        <p:txBody>
          <a:bodyPr wrap="square" lIns="0" rIns="0" tIns="0" bIns="0" anchor="ctr">
            <a:spAutoFit/>
          </a:bodyPr>
          <a:lstStyle/>
          <a:p>
            <a:pPr algn="l"/>
            <a:r>
              <a:rPr sz="1300" b="0" i="0">
                <a:solidFill>
                  <a:srgbClr val="5B6778"/>
                </a:solidFill>
                <a:latin typeface="Arial"/>
              </a:rPr>
              <a:t>3</a:t>
            </a:r>
          </a:p>
        </p:txBody>
      </p:sp>
      <p:sp>
        <p:nvSpPr>
          <p:cNvPr id="52" name="Rounded Rectangle 51"/>
          <p:cNvSpPr/>
          <p:nvPr/>
        </p:nvSpPr>
        <p:spPr>
          <a:xfrm>
            <a:off x="6108191" y="2642615"/>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45351" y="2642615"/>
            <a:ext cx="1874520" cy="438912"/>
          </a:xfrm>
          <a:prstGeom prst="rect">
            <a:avLst/>
          </a:prstGeom>
          <a:noFill/>
        </p:spPr>
        <p:txBody>
          <a:bodyPr wrap="square" lIns="0" rIns="0" tIns="0" bIns="0" anchor="ctr">
            <a:spAutoFit/>
          </a:bodyPr>
          <a:lstStyle/>
          <a:p>
            <a:pPr algn="l"/>
            <a:r>
              <a:rPr sz="1300" b="1" i="0">
                <a:solidFill>
                  <a:srgbClr val="1B2A41"/>
                </a:solidFill>
                <a:latin typeface="Arial"/>
              </a:rPr>
              <a:t>xu hướng</a:t>
            </a:r>
          </a:p>
        </p:txBody>
      </p:sp>
      <p:sp>
        <p:nvSpPr>
          <p:cNvPr id="54" name="TextBox 53"/>
          <p:cNvSpPr txBox="1"/>
          <p:nvPr/>
        </p:nvSpPr>
        <p:spPr>
          <a:xfrm>
            <a:off x="8394192" y="2642615"/>
            <a:ext cx="2286000" cy="438912"/>
          </a:xfrm>
          <a:prstGeom prst="rect">
            <a:avLst/>
          </a:prstGeom>
          <a:noFill/>
        </p:spPr>
        <p:txBody>
          <a:bodyPr wrap="square" lIns="0" rIns="0" tIns="0" bIns="0" anchor="ctr">
            <a:spAutoFit/>
          </a:bodyPr>
          <a:lstStyle/>
          <a:p>
            <a:pPr algn="l"/>
            <a:r>
              <a:rPr sz="1300" b="0" i="0">
                <a:solidFill>
                  <a:srgbClr val="1B2A41"/>
                </a:solidFill>
                <a:latin typeface="Arial"/>
              </a:rPr>
              <a:t>trend</a:t>
            </a:r>
          </a:p>
        </p:txBody>
      </p:sp>
      <p:sp>
        <p:nvSpPr>
          <p:cNvPr id="55" name="TextBox 54"/>
          <p:cNvSpPr txBox="1"/>
          <p:nvPr/>
        </p:nvSpPr>
        <p:spPr>
          <a:xfrm>
            <a:off x="10954511" y="2642615"/>
            <a:ext cx="548640" cy="438912"/>
          </a:xfrm>
          <a:prstGeom prst="rect">
            <a:avLst/>
          </a:prstGeom>
          <a:noFill/>
        </p:spPr>
        <p:txBody>
          <a:bodyPr wrap="square" lIns="0" rIns="0" tIns="0" bIns="0" anchor="ctr">
            <a:spAutoFit/>
          </a:bodyPr>
          <a:lstStyle/>
          <a:p>
            <a:pPr algn="l"/>
            <a:r>
              <a:rPr sz="1300" b="0" i="0">
                <a:solidFill>
                  <a:srgbClr val="5B6778"/>
                </a:solidFill>
                <a:latin typeface="Arial"/>
              </a:rPr>
              <a:t>4</a:t>
            </a:r>
          </a:p>
        </p:txBody>
      </p:sp>
      <p:sp>
        <p:nvSpPr>
          <p:cNvPr id="56" name="TextBox 55"/>
          <p:cNvSpPr txBox="1"/>
          <p:nvPr/>
        </p:nvSpPr>
        <p:spPr>
          <a:xfrm>
            <a:off x="6245351" y="3118104"/>
            <a:ext cx="1874520" cy="438912"/>
          </a:xfrm>
          <a:prstGeom prst="rect">
            <a:avLst/>
          </a:prstGeom>
          <a:noFill/>
        </p:spPr>
        <p:txBody>
          <a:bodyPr wrap="square" lIns="0" rIns="0" tIns="0" bIns="0" anchor="ctr">
            <a:spAutoFit/>
          </a:bodyPr>
          <a:lstStyle/>
          <a:p>
            <a:pPr algn="l"/>
            <a:r>
              <a:rPr sz="1300" b="1" i="0">
                <a:solidFill>
                  <a:srgbClr val="1B2A41"/>
                </a:solidFill>
                <a:latin typeface="Arial"/>
              </a:rPr>
              <a:t>mùa vụ, mùa vụ kép</a:t>
            </a:r>
          </a:p>
        </p:txBody>
      </p:sp>
      <p:sp>
        <p:nvSpPr>
          <p:cNvPr id="57" name="TextBox 56"/>
          <p:cNvSpPr txBox="1"/>
          <p:nvPr/>
        </p:nvSpPr>
        <p:spPr>
          <a:xfrm>
            <a:off x="8394192" y="3118104"/>
            <a:ext cx="2286000" cy="438912"/>
          </a:xfrm>
          <a:prstGeom prst="rect">
            <a:avLst/>
          </a:prstGeom>
          <a:noFill/>
        </p:spPr>
        <p:txBody>
          <a:bodyPr wrap="square" lIns="0" rIns="0" tIns="0" bIns="0" anchor="ctr">
            <a:spAutoFit/>
          </a:bodyPr>
          <a:lstStyle/>
          <a:p>
            <a:pPr algn="l"/>
            <a:r>
              <a:rPr sz="1300" b="0" i="0">
                <a:solidFill>
                  <a:srgbClr val="1B2A41"/>
                </a:solidFill>
                <a:latin typeface="Arial"/>
              </a:rPr>
              <a:t>seasonality, multiple seasonality</a:t>
            </a:r>
          </a:p>
        </p:txBody>
      </p:sp>
      <p:sp>
        <p:nvSpPr>
          <p:cNvPr id="58" name="TextBox 57"/>
          <p:cNvSpPr txBox="1"/>
          <p:nvPr/>
        </p:nvSpPr>
        <p:spPr>
          <a:xfrm>
            <a:off x="10954511" y="3118104"/>
            <a:ext cx="548640" cy="438912"/>
          </a:xfrm>
          <a:prstGeom prst="rect">
            <a:avLst/>
          </a:prstGeom>
          <a:noFill/>
        </p:spPr>
        <p:txBody>
          <a:bodyPr wrap="square" lIns="0" rIns="0" tIns="0" bIns="0" anchor="ctr">
            <a:spAutoFit/>
          </a:bodyPr>
          <a:lstStyle/>
          <a:p>
            <a:pPr algn="l"/>
            <a:r>
              <a:rPr sz="1300" b="0" i="0">
                <a:solidFill>
                  <a:srgbClr val="5B6778"/>
                </a:solidFill>
                <a:latin typeface="Arial"/>
              </a:rPr>
              <a:t>4</a:t>
            </a:r>
          </a:p>
        </p:txBody>
      </p:sp>
      <p:sp>
        <p:nvSpPr>
          <p:cNvPr id="59" name="Rounded Rectangle 58"/>
          <p:cNvSpPr/>
          <p:nvPr/>
        </p:nvSpPr>
        <p:spPr>
          <a:xfrm>
            <a:off x="6108191" y="3593591"/>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45351" y="3593591"/>
            <a:ext cx="1874520" cy="438912"/>
          </a:xfrm>
          <a:prstGeom prst="rect">
            <a:avLst/>
          </a:prstGeom>
          <a:noFill/>
        </p:spPr>
        <p:txBody>
          <a:bodyPr wrap="square" lIns="0" rIns="0" tIns="0" bIns="0" anchor="ctr">
            <a:spAutoFit/>
          </a:bodyPr>
          <a:lstStyle/>
          <a:p>
            <a:pPr algn="l"/>
            <a:r>
              <a:rPr sz="1300" b="1" i="0">
                <a:solidFill>
                  <a:srgbClr val="1B2A41"/>
                </a:solidFill>
                <a:latin typeface="Arial"/>
              </a:rPr>
              <a:t>chu kỳ</a:t>
            </a:r>
          </a:p>
        </p:txBody>
      </p:sp>
      <p:sp>
        <p:nvSpPr>
          <p:cNvPr id="61" name="TextBox 60"/>
          <p:cNvSpPr txBox="1"/>
          <p:nvPr/>
        </p:nvSpPr>
        <p:spPr>
          <a:xfrm>
            <a:off x="8394192" y="3593591"/>
            <a:ext cx="2286000" cy="438912"/>
          </a:xfrm>
          <a:prstGeom prst="rect">
            <a:avLst/>
          </a:prstGeom>
          <a:noFill/>
        </p:spPr>
        <p:txBody>
          <a:bodyPr wrap="square" lIns="0" rIns="0" tIns="0" bIns="0" anchor="ctr">
            <a:spAutoFit/>
          </a:bodyPr>
          <a:lstStyle/>
          <a:p>
            <a:pPr algn="l"/>
            <a:r>
              <a:rPr sz="1300" b="0" i="0">
                <a:solidFill>
                  <a:srgbClr val="1B2A41"/>
                </a:solidFill>
                <a:latin typeface="Arial"/>
              </a:rPr>
              <a:t>cycle</a:t>
            </a:r>
          </a:p>
        </p:txBody>
      </p:sp>
      <p:sp>
        <p:nvSpPr>
          <p:cNvPr id="62" name="TextBox 61"/>
          <p:cNvSpPr txBox="1"/>
          <p:nvPr/>
        </p:nvSpPr>
        <p:spPr>
          <a:xfrm>
            <a:off x="10954511" y="3593591"/>
            <a:ext cx="548640" cy="438912"/>
          </a:xfrm>
          <a:prstGeom prst="rect">
            <a:avLst/>
          </a:prstGeom>
          <a:noFill/>
        </p:spPr>
        <p:txBody>
          <a:bodyPr wrap="square" lIns="0" rIns="0" tIns="0" bIns="0" anchor="ctr">
            <a:spAutoFit/>
          </a:bodyPr>
          <a:lstStyle/>
          <a:p>
            <a:pPr algn="l"/>
            <a:r>
              <a:rPr sz="1300" b="0" i="0">
                <a:solidFill>
                  <a:srgbClr val="5B6778"/>
                </a:solidFill>
                <a:latin typeface="Arial"/>
              </a:rPr>
              <a:t>4</a:t>
            </a:r>
          </a:p>
        </p:txBody>
      </p:sp>
      <p:sp>
        <p:nvSpPr>
          <p:cNvPr id="63" name="TextBox 62"/>
          <p:cNvSpPr txBox="1"/>
          <p:nvPr/>
        </p:nvSpPr>
        <p:spPr>
          <a:xfrm>
            <a:off x="6245351" y="4069080"/>
            <a:ext cx="1874520" cy="438912"/>
          </a:xfrm>
          <a:prstGeom prst="rect">
            <a:avLst/>
          </a:prstGeom>
          <a:noFill/>
        </p:spPr>
        <p:txBody>
          <a:bodyPr wrap="square" lIns="0" rIns="0" tIns="0" bIns="0" anchor="ctr">
            <a:spAutoFit/>
          </a:bodyPr>
          <a:lstStyle/>
          <a:p>
            <a:pPr algn="l"/>
            <a:r>
              <a:rPr sz="1300" b="1" i="0">
                <a:solidFill>
                  <a:srgbClr val="1B2A41"/>
                </a:solidFill>
                <a:latin typeface="Arial"/>
              </a:rPr>
              <a:t>tự tương quan</a:t>
            </a:r>
          </a:p>
        </p:txBody>
      </p:sp>
      <p:sp>
        <p:nvSpPr>
          <p:cNvPr id="64" name="TextBox 63"/>
          <p:cNvSpPr txBox="1"/>
          <p:nvPr/>
        </p:nvSpPr>
        <p:spPr>
          <a:xfrm>
            <a:off x="8394192" y="4069080"/>
            <a:ext cx="2286000" cy="438912"/>
          </a:xfrm>
          <a:prstGeom prst="rect">
            <a:avLst/>
          </a:prstGeom>
          <a:noFill/>
        </p:spPr>
        <p:txBody>
          <a:bodyPr wrap="square" lIns="0" rIns="0" tIns="0" bIns="0" anchor="ctr">
            <a:spAutoFit/>
          </a:bodyPr>
          <a:lstStyle/>
          <a:p>
            <a:pPr algn="l"/>
            <a:r>
              <a:rPr sz="1300" b="0" i="0">
                <a:solidFill>
                  <a:srgbClr val="1B2A41"/>
                </a:solidFill>
                <a:latin typeface="Arial"/>
              </a:rPr>
              <a:t>autocorrelation (ACF)</a:t>
            </a:r>
          </a:p>
        </p:txBody>
      </p:sp>
      <p:sp>
        <p:nvSpPr>
          <p:cNvPr id="65" name="TextBox 64"/>
          <p:cNvSpPr txBox="1"/>
          <p:nvPr/>
        </p:nvSpPr>
        <p:spPr>
          <a:xfrm>
            <a:off x="10954511" y="4069080"/>
            <a:ext cx="548640" cy="438912"/>
          </a:xfrm>
          <a:prstGeom prst="rect">
            <a:avLst/>
          </a:prstGeom>
          <a:noFill/>
        </p:spPr>
        <p:txBody>
          <a:bodyPr wrap="square" lIns="0" rIns="0" tIns="0" bIns="0" anchor="ctr">
            <a:spAutoFit/>
          </a:bodyPr>
          <a:lstStyle/>
          <a:p>
            <a:pPr algn="l"/>
            <a:r>
              <a:rPr sz="1300" b="0" i="0">
                <a:solidFill>
                  <a:srgbClr val="5B6778"/>
                </a:solidFill>
                <a:latin typeface="Arial"/>
              </a:rPr>
              <a:t>4</a:t>
            </a:r>
          </a:p>
        </p:txBody>
      </p:sp>
      <p:sp>
        <p:nvSpPr>
          <p:cNvPr id="66" name="Rounded Rectangle 65"/>
          <p:cNvSpPr/>
          <p:nvPr/>
        </p:nvSpPr>
        <p:spPr>
          <a:xfrm>
            <a:off x="6108191" y="4544568"/>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245351" y="4544568"/>
            <a:ext cx="1874520" cy="438912"/>
          </a:xfrm>
          <a:prstGeom prst="rect">
            <a:avLst/>
          </a:prstGeom>
          <a:noFill/>
        </p:spPr>
        <p:txBody>
          <a:bodyPr wrap="square" lIns="0" rIns="0" tIns="0" bIns="0" anchor="ctr">
            <a:spAutoFit/>
          </a:bodyPr>
          <a:lstStyle/>
          <a:p>
            <a:pPr algn="l"/>
            <a:r>
              <a:rPr sz="1300" b="1" i="0">
                <a:solidFill>
                  <a:srgbClr val="1B2A41"/>
                </a:solidFill>
                <a:latin typeface="Arial"/>
              </a:rPr>
              <a:t>điều chỉnh lịch</a:t>
            </a:r>
          </a:p>
        </p:txBody>
      </p:sp>
      <p:sp>
        <p:nvSpPr>
          <p:cNvPr id="68" name="TextBox 67"/>
          <p:cNvSpPr txBox="1"/>
          <p:nvPr/>
        </p:nvSpPr>
        <p:spPr>
          <a:xfrm>
            <a:off x="8394192" y="4544568"/>
            <a:ext cx="2286000" cy="438912"/>
          </a:xfrm>
          <a:prstGeom prst="rect">
            <a:avLst/>
          </a:prstGeom>
          <a:noFill/>
        </p:spPr>
        <p:txBody>
          <a:bodyPr wrap="square" lIns="0" rIns="0" tIns="0" bIns="0" anchor="ctr">
            <a:spAutoFit/>
          </a:bodyPr>
          <a:lstStyle/>
          <a:p>
            <a:pPr algn="l"/>
            <a:r>
              <a:rPr sz="1300" b="0" i="0">
                <a:solidFill>
                  <a:srgbClr val="1B2A41"/>
                </a:solidFill>
                <a:latin typeface="Arial"/>
              </a:rPr>
              <a:t>calendar adjustment</a:t>
            </a:r>
          </a:p>
        </p:txBody>
      </p:sp>
      <p:sp>
        <p:nvSpPr>
          <p:cNvPr id="69" name="TextBox 68"/>
          <p:cNvSpPr txBox="1"/>
          <p:nvPr/>
        </p:nvSpPr>
        <p:spPr>
          <a:xfrm>
            <a:off x="10954511" y="4544568"/>
            <a:ext cx="548640" cy="438912"/>
          </a:xfrm>
          <a:prstGeom prst="rect">
            <a:avLst/>
          </a:prstGeom>
          <a:noFill/>
        </p:spPr>
        <p:txBody>
          <a:bodyPr wrap="square" lIns="0" rIns="0" tIns="0" bIns="0" anchor="ctr">
            <a:spAutoFit/>
          </a:bodyPr>
          <a:lstStyle/>
          <a:p>
            <a:pPr algn="l"/>
            <a:r>
              <a:rPr sz="1300" b="0" i="0">
                <a:solidFill>
                  <a:srgbClr val="5B6778"/>
                </a:solidFill>
                <a:latin typeface="Arial"/>
              </a:rPr>
              <a:t>5</a:t>
            </a:r>
          </a:p>
        </p:txBody>
      </p:sp>
      <p:sp>
        <p:nvSpPr>
          <p:cNvPr id="70" name="TextBox 69"/>
          <p:cNvSpPr txBox="1"/>
          <p:nvPr/>
        </p:nvSpPr>
        <p:spPr>
          <a:xfrm>
            <a:off x="6245351" y="5020056"/>
            <a:ext cx="1874520" cy="438912"/>
          </a:xfrm>
          <a:prstGeom prst="rect">
            <a:avLst/>
          </a:prstGeom>
          <a:noFill/>
        </p:spPr>
        <p:txBody>
          <a:bodyPr wrap="square" lIns="0" rIns="0" tIns="0" bIns="0" anchor="ctr">
            <a:spAutoFit/>
          </a:bodyPr>
          <a:lstStyle/>
          <a:p>
            <a:pPr algn="l"/>
            <a:r>
              <a:rPr sz="1300" b="1" i="0">
                <a:solidFill>
                  <a:srgbClr val="1B2A41"/>
                </a:solidFill>
                <a:latin typeface="Arial"/>
              </a:rPr>
              <a:t>giá thực / danh nghĩa</a:t>
            </a:r>
          </a:p>
        </p:txBody>
      </p:sp>
      <p:sp>
        <p:nvSpPr>
          <p:cNvPr id="71" name="TextBox 70"/>
          <p:cNvSpPr txBox="1"/>
          <p:nvPr/>
        </p:nvSpPr>
        <p:spPr>
          <a:xfrm>
            <a:off x="8394192" y="5020056"/>
            <a:ext cx="2286000" cy="438912"/>
          </a:xfrm>
          <a:prstGeom prst="rect">
            <a:avLst/>
          </a:prstGeom>
          <a:noFill/>
        </p:spPr>
        <p:txBody>
          <a:bodyPr wrap="square" lIns="0" rIns="0" tIns="0" bIns="0" anchor="ctr">
            <a:spAutoFit/>
          </a:bodyPr>
          <a:lstStyle/>
          <a:p>
            <a:pPr algn="l"/>
            <a:r>
              <a:rPr sz="1300" b="0" i="0">
                <a:solidFill>
                  <a:srgbClr val="1B2A41"/>
                </a:solidFill>
                <a:latin typeface="Arial"/>
              </a:rPr>
              <a:t>real / nominal value</a:t>
            </a:r>
          </a:p>
        </p:txBody>
      </p:sp>
      <p:sp>
        <p:nvSpPr>
          <p:cNvPr id="72" name="TextBox 71"/>
          <p:cNvSpPr txBox="1"/>
          <p:nvPr/>
        </p:nvSpPr>
        <p:spPr>
          <a:xfrm>
            <a:off x="10954511" y="5020056"/>
            <a:ext cx="548640" cy="438912"/>
          </a:xfrm>
          <a:prstGeom prst="rect">
            <a:avLst/>
          </a:prstGeom>
          <a:noFill/>
        </p:spPr>
        <p:txBody>
          <a:bodyPr wrap="square" lIns="0" rIns="0" tIns="0" bIns="0" anchor="ctr">
            <a:spAutoFit/>
          </a:bodyPr>
          <a:lstStyle/>
          <a:p>
            <a:pPr algn="l"/>
            <a:r>
              <a:rPr sz="1300" b="0" i="0">
                <a:solidFill>
                  <a:srgbClr val="5B6778"/>
                </a:solidFill>
                <a:latin typeface="Arial"/>
              </a:rPr>
              <a:t>5</a:t>
            </a:r>
          </a:p>
        </p:txBody>
      </p:sp>
      <p:sp>
        <p:nvSpPr>
          <p:cNvPr id="73" name="Rounded Rectangle 72"/>
          <p:cNvSpPr/>
          <p:nvPr/>
        </p:nvSpPr>
        <p:spPr>
          <a:xfrm>
            <a:off x="6108191" y="5495544"/>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245351" y="5495544"/>
            <a:ext cx="1874520" cy="438912"/>
          </a:xfrm>
          <a:prstGeom prst="rect">
            <a:avLst/>
          </a:prstGeom>
          <a:noFill/>
        </p:spPr>
        <p:txBody>
          <a:bodyPr wrap="square" lIns="0" rIns="0" tIns="0" bIns="0" anchor="ctr">
            <a:spAutoFit/>
          </a:bodyPr>
          <a:lstStyle/>
          <a:p>
            <a:pPr algn="l"/>
            <a:r>
              <a:rPr sz="1300" b="1" i="0">
                <a:solidFill>
                  <a:srgbClr val="1B2A41"/>
                </a:solidFill>
                <a:latin typeface="Arial"/>
              </a:rPr>
              <a:t>hiệu chỉnh bias</a:t>
            </a:r>
          </a:p>
        </p:txBody>
      </p:sp>
      <p:sp>
        <p:nvSpPr>
          <p:cNvPr id="75" name="TextBox 74"/>
          <p:cNvSpPr txBox="1"/>
          <p:nvPr/>
        </p:nvSpPr>
        <p:spPr>
          <a:xfrm>
            <a:off x="8394192" y="5495544"/>
            <a:ext cx="2286000" cy="438912"/>
          </a:xfrm>
          <a:prstGeom prst="rect">
            <a:avLst/>
          </a:prstGeom>
          <a:noFill/>
        </p:spPr>
        <p:txBody>
          <a:bodyPr wrap="square" lIns="0" rIns="0" tIns="0" bIns="0" anchor="ctr">
            <a:spAutoFit/>
          </a:bodyPr>
          <a:lstStyle/>
          <a:p>
            <a:pPr algn="l"/>
            <a:r>
              <a:rPr sz="1300" b="0" i="0">
                <a:solidFill>
                  <a:srgbClr val="1B2A41"/>
                </a:solidFill>
                <a:latin typeface="Arial"/>
              </a:rPr>
              <a:t>bias adjustment (back-transform)</a:t>
            </a:r>
          </a:p>
        </p:txBody>
      </p:sp>
      <p:sp>
        <p:nvSpPr>
          <p:cNvPr id="76" name="TextBox 75"/>
          <p:cNvSpPr txBox="1"/>
          <p:nvPr/>
        </p:nvSpPr>
        <p:spPr>
          <a:xfrm>
            <a:off x="10954511" y="5495544"/>
            <a:ext cx="548640" cy="438912"/>
          </a:xfrm>
          <a:prstGeom prst="rect">
            <a:avLst/>
          </a:prstGeom>
          <a:noFill/>
        </p:spPr>
        <p:txBody>
          <a:bodyPr wrap="square" lIns="0" rIns="0" tIns="0" bIns="0" anchor="ctr">
            <a:spAutoFit/>
          </a:bodyPr>
          <a:lstStyle/>
          <a:p>
            <a:pPr algn="l"/>
            <a:r>
              <a:rPr sz="1300" b="0" i="0">
                <a:solidFill>
                  <a:srgbClr val="5B6778"/>
                </a:solidFill>
                <a:latin typeface="Arial"/>
              </a:rPr>
              <a:t>5</a:t>
            </a:r>
          </a:p>
        </p:txBody>
      </p:sp>
      <p:sp>
        <p:nvSpPr>
          <p:cNvPr id="77" name="TextBox 76"/>
          <p:cNvSpPr txBox="1"/>
          <p:nvPr/>
        </p:nvSpPr>
        <p:spPr>
          <a:xfrm>
            <a:off x="6245351" y="5971031"/>
            <a:ext cx="1874520" cy="438912"/>
          </a:xfrm>
          <a:prstGeom prst="rect">
            <a:avLst/>
          </a:prstGeom>
          <a:noFill/>
        </p:spPr>
        <p:txBody>
          <a:bodyPr wrap="square" lIns="0" rIns="0" tIns="0" bIns="0" anchor="ctr">
            <a:spAutoFit/>
          </a:bodyPr>
          <a:lstStyle/>
          <a:p>
            <a:pPr algn="l"/>
            <a:r>
              <a:rPr sz="1300" b="1" i="0">
                <a:solidFill>
                  <a:srgbClr val="1B2A41"/>
                </a:solidFill>
                <a:latin typeface="Arial"/>
              </a:rPr>
              <a:t>phân rã cộng / nhân</a:t>
            </a:r>
          </a:p>
        </p:txBody>
      </p:sp>
      <p:sp>
        <p:nvSpPr>
          <p:cNvPr id="78" name="TextBox 77"/>
          <p:cNvSpPr txBox="1"/>
          <p:nvPr/>
        </p:nvSpPr>
        <p:spPr>
          <a:xfrm>
            <a:off x="8394192" y="5971031"/>
            <a:ext cx="2286000" cy="438912"/>
          </a:xfrm>
          <a:prstGeom prst="rect">
            <a:avLst/>
          </a:prstGeom>
          <a:noFill/>
        </p:spPr>
        <p:txBody>
          <a:bodyPr wrap="square" lIns="0" rIns="0" tIns="0" bIns="0" anchor="ctr">
            <a:spAutoFit/>
          </a:bodyPr>
          <a:lstStyle/>
          <a:p>
            <a:pPr algn="l"/>
            <a:r>
              <a:rPr sz="1300" b="0" i="0">
                <a:solidFill>
                  <a:srgbClr val="1B2A41"/>
                </a:solidFill>
                <a:latin typeface="Arial"/>
              </a:rPr>
              <a:t>additive / multiplicative decomposition</a:t>
            </a:r>
          </a:p>
        </p:txBody>
      </p:sp>
      <p:sp>
        <p:nvSpPr>
          <p:cNvPr id="79" name="TextBox 78"/>
          <p:cNvSpPr txBox="1"/>
          <p:nvPr/>
        </p:nvSpPr>
        <p:spPr>
          <a:xfrm>
            <a:off x="10954511" y="5971031"/>
            <a:ext cx="548640" cy="438912"/>
          </a:xfrm>
          <a:prstGeom prst="rect">
            <a:avLst/>
          </a:prstGeom>
          <a:noFill/>
        </p:spPr>
        <p:txBody>
          <a:bodyPr wrap="square" lIns="0" rIns="0" tIns="0" bIns="0" anchor="ctr">
            <a:spAutoFit/>
          </a:bodyPr>
          <a:lstStyle/>
          <a:p>
            <a:pPr algn="l"/>
            <a:r>
              <a:rPr sz="1300" b="0" i="0">
                <a:solidFill>
                  <a:srgbClr val="5B6778"/>
                </a:solidFill>
                <a:latin typeface="Arial"/>
              </a:rPr>
              <a:t>6</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A77B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C</a:t>
            </a:r>
          </a:p>
        </p:txBody>
      </p:sp>
      <p:sp>
        <p:nvSpPr>
          <p:cNvPr id="3" name="TextBox 2"/>
          <p:cNvSpPr txBox="1"/>
          <p:nvPr/>
        </p:nvSpPr>
        <p:spPr>
          <a:xfrm>
            <a:off x="1325880" y="384048"/>
            <a:ext cx="10332720" cy="731520"/>
          </a:xfrm>
          <a:prstGeom prst="rect">
            <a:avLst/>
          </a:prstGeom>
          <a:noFill/>
        </p:spPr>
        <p:txBody>
          <a:bodyPr wrap="square" lIns="0" rIns="0" tIns="0" bIns="0" anchor="ctr">
            <a:spAutoFit/>
          </a:bodyPr>
          <a:lstStyle/>
          <a:p>
            <a:pPr algn="l"/>
            <a:r>
              <a:rPr sz="3000" b="1" i="0">
                <a:solidFill>
                  <a:srgbClr val="1B2A41"/>
                </a:solidFill>
                <a:latin typeface="Arial"/>
              </a:rPr>
              <a:t>Từ điển Việt – Anh 2/5: dừng, làm sạch</a:t>
            </a:r>
          </a:p>
        </p:txBody>
      </p:sp>
      <p:sp>
        <p:nvSpPr>
          <p:cNvPr id="4" name="TextBox 3"/>
          <p:cNvSpPr txBox="1"/>
          <p:nvPr/>
        </p:nvSpPr>
        <p:spPr>
          <a:xfrm>
            <a:off x="685800" y="1280160"/>
            <a:ext cx="1874520" cy="365760"/>
          </a:xfrm>
          <a:prstGeom prst="rect">
            <a:avLst/>
          </a:prstGeom>
          <a:noFill/>
        </p:spPr>
        <p:txBody>
          <a:bodyPr wrap="square" lIns="0" rIns="0" tIns="0" bIns="0" anchor="t">
            <a:spAutoFit/>
          </a:bodyPr>
          <a:lstStyle/>
          <a:p>
            <a:pPr algn="l"/>
            <a:r>
              <a:rPr sz="1100" b="1" i="0">
                <a:solidFill>
                  <a:srgbClr val="A77B06"/>
                </a:solidFill>
                <a:latin typeface="Arial"/>
              </a:rPr>
              <a:t>TIẾNG VIỆT</a:t>
            </a:r>
          </a:p>
        </p:txBody>
      </p:sp>
      <p:sp>
        <p:nvSpPr>
          <p:cNvPr id="5" name="TextBox 4"/>
          <p:cNvSpPr txBox="1"/>
          <p:nvPr/>
        </p:nvSpPr>
        <p:spPr>
          <a:xfrm>
            <a:off x="2834640" y="1280160"/>
            <a:ext cx="2286000" cy="365760"/>
          </a:xfrm>
          <a:prstGeom prst="rect">
            <a:avLst/>
          </a:prstGeom>
          <a:noFill/>
        </p:spPr>
        <p:txBody>
          <a:bodyPr wrap="square" lIns="0" rIns="0" tIns="0" bIns="0" anchor="t">
            <a:spAutoFit/>
          </a:bodyPr>
          <a:lstStyle/>
          <a:p>
            <a:pPr algn="l"/>
            <a:r>
              <a:rPr sz="1100" b="1" i="0">
                <a:solidFill>
                  <a:srgbClr val="5B6778"/>
                </a:solidFill>
                <a:latin typeface="Arial"/>
              </a:rPr>
              <a:t>ENGLISH</a:t>
            </a:r>
          </a:p>
        </p:txBody>
      </p:sp>
      <p:sp>
        <p:nvSpPr>
          <p:cNvPr id="6" name="TextBox 5"/>
          <p:cNvSpPr txBox="1"/>
          <p:nvPr/>
        </p:nvSpPr>
        <p:spPr>
          <a:xfrm>
            <a:off x="5394960" y="1280160"/>
            <a:ext cx="548640" cy="365760"/>
          </a:xfrm>
          <a:prstGeom prst="rect">
            <a:avLst/>
          </a:prstGeom>
          <a:noFill/>
        </p:spPr>
        <p:txBody>
          <a:bodyPr wrap="square" lIns="0" rIns="0" tIns="0" bIns="0" anchor="t">
            <a:spAutoFit/>
          </a:bodyPr>
          <a:lstStyle/>
          <a:p>
            <a:pPr algn="l"/>
            <a:r>
              <a:rPr sz="1100" b="1" i="0">
                <a:solidFill>
                  <a:srgbClr val="5B6778"/>
                </a:solidFill>
                <a:latin typeface="Arial"/>
              </a:rPr>
              <a:t>BUỔI</a:t>
            </a:r>
          </a:p>
        </p:txBody>
      </p:sp>
      <p:sp>
        <p:nvSpPr>
          <p:cNvPr id="7" name="Rounded Rectangle 6"/>
          <p:cNvSpPr/>
          <p:nvPr/>
        </p:nvSpPr>
        <p:spPr>
          <a:xfrm>
            <a:off x="548640" y="1691639"/>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691639"/>
            <a:ext cx="1874520" cy="438912"/>
          </a:xfrm>
          <a:prstGeom prst="rect">
            <a:avLst/>
          </a:prstGeom>
          <a:noFill/>
        </p:spPr>
        <p:txBody>
          <a:bodyPr wrap="square" lIns="0" rIns="0" tIns="0" bIns="0" anchor="ctr">
            <a:spAutoFit/>
          </a:bodyPr>
          <a:lstStyle/>
          <a:p>
            <a:pPr algn="l"/>
            <a:r>
              <a:rPr sz="1300" b="1" i="0">
                <a:solidFill>
                  <a:srgbClr val="1B2A41"/>
                </a:solidFill>
                <a:latin typeface="Arial"/>
              </a:rPr>
              <a:t>phần dư</a:t>
            </a:r>
          </a:p>
        </p:txBody>
      </p:sp>
      <p:sp>
        <p:nvSpPr>
          <p:cNvPr id="9" name="TextBox 8"/>
          <p:cNvSpPr txBox="1"/>
          <p:nvPr/>
        </p:nvSpPr>
        <p:spPr>
          <a:xfrm>
            <a:off x="2834640" y="1691639"/>
            <a:ext cx="2286000" cy="438912"/>
          </a:xfrm>
          <a:prstGeom prst="rect">
            <a:avLst/>
          </a:prstGeom>
          <a:noFill/>
        </p:spPr>
        <p:txBody>
          <a:bodyPr wrap="square" lIns="0" rIns="0" tIns="0" bIns="0" anchor="ctr">
            <a:spAutoFit/>
          </a:bodyPr>
          <a:lstStyle/>
          <a:p>
            <a:pPr algn="l"/>
            <a:r>
              <a:rPr sz="1300" b="0" i="0">
                <a:solidFill>
                  <a:srgbClr val="1B2A41"/>
                </a:solidFill>
                <a:latin typeface="Arial"/>
              </a:rPr>
              <a:t>residual, remainder</a:t>
            </a:r>
          </a:p>
        </p:txBody>
      </p:sp>
      <p:sp>
        <p:nvSpPr>
          <p:cNvPr id="10" name="TextBox 9"/>
          <p:cNvSpPr txBox="1"/>
          <p:nvPr/>
        </p:nvSpPr>
        <p:spPr>
          <a:xfrm>
            <a:off x="5394960" y="1691639"/>
            <a:ext cx="548640" cy="438912"/>
          </a:xfrm>
          <a:prstGeom prst="rect">
            <a:avLst/>
          </a:prstGeom>
          <a:noFill/>
        </p:spPr>
        <p:txBody>
          <a:bodyPr wrap="square" lIns="0" rIns="0" tIns="0" bIns="0" anchor="ctr">
            <a:spAutoFit/>
          </a:bodyPr>
          <a:lstStyle/>
          <a:p>
            <a:pPr algn="l"/>
            <a:r>
              <a:rPr sz="1300" b="0" i="0">
                <a:solidFill>
                  <a:srgbClr val="5B6778"/>
                </a:solidFill>
                <a:latin typeface="Arial"/>
              </a:rPr>
              <a:t>6</a:t>
            </a:r>
          </a:p>
        </p:txBody>
      </p:sp>
      <p:sp>
        <p:nvSpPr>
          <p:cNvPr id="11" name="TextBox 10"/>
          <p:cNvSpPr txBox="1"/>
          <p:nvPr/>
        </p:nvSpPr>
        <p:spPr>
          <a:xfrm>
            <a:off x="685800" y="2167128"/>
            <a:ext cx="1874520" cy="438912"/>
          </a:xfrm>
          <a:prstGeom prst="rect">
            <a:avLst/>
          </a:prstGeom>
          <a:noFill/>
        </p:spPr>
        <p:txBody>
          <a:bodyPr wrap="square" lIns="0" rIns="0" tIns="0" bIns="0" anchor="ctr">
            <a:spAutoFit/>
          </a:bodyPr>
          <a:lstStyle/>
          <a:p>
            <a:pPr algn="l"/>
            <a:r>
              <a:rPr sz="1300" b="1" i="0">
                <a:solidFill>
                  <a:srgbClr val="1B2A41"/>
                </a:solidFill>
                <a:latin typeface="Arial"/>
              </a:rPr>
              <a:t>tự tương quan riêng</a:t>
            </a:r>
          </a:p>
        </p:txBody>
      </p:sp>
      <p:sp>
        <p:nvSpPr>
          <p:cNvPr id="12" name="TextBox 11"/>
          <p:cNvSpPr txBox="1"/>
          <p:nvPr/>
        </p:nvSpPr>
        <p:spPr>
          <a:xfrm>
            <a:off x="2834640" y="2167128"/>
            <a:ext cx="2286000" cy="438912"/>
          </a:xfrm>
          <a:prstGeom prst="rect">
            <a:avLst/>
          </a:prstGeom>
          <a:noFill/>
        </p:spPr>
        <p:txBody>
          <a:bodyPr wrap="square" lIns="0" rIns="0" tIns="0" bIns="0" anchor="ctr">
            <a:spAutoFit/>
          </a:bodyPr>
          <a:lstStyle/>
          <a:p>
            <a:pPr algn="l"/>
            <a:r>
              <a:rPr sz="1300" b="0" i="0">
                <a:solidFill>
                  <a:srgbClr val="1B2A41"/>
                </a:solidFill>
                <a:latin typeface="Arial"/>
              </a:rPr>
              <a:t>partial autocorrelation (PACF)</a:t>
            </a:r>
          </a:p>
        </p:txBody>
      </p:sp>
      <p:sp>
        <p:nvSpPr>
          <p:cNvPr id="13" name="TextBox 12"/>
          <p:cNvSpPr txBox="1"/>
          <p:nvPr/>
        </p:nvSpPr>
        <p:spPr>
          <a:xfrm>
            <a:off x="5394960" y="2167128"/>
            <a:ext cx="548640" cy="438912"/>
          </a:xfrm>
          <a:prstGeom prst="rect">
            <a:avLst/>
          </a:prstGeom>
          <a:noFill/>
        </p:spPr>
        <p:txBody>
          <a:bodyPr wrap="square" lIns="0" rIns="0" tIns="0" bIns="0" anchor="ctr">
            <a:spAutoFit/>
          </a:bodyPr>
          <a:lstStyle/>
          <a:p>
            <a:pPr algn="l"/>
            <a:r>
              <a:rPr sz="1300" b="0" i="0">
                <a:solidFill>
                  <a:srgbClr val="5B6778"/>
                </a:solidFill>
                <a:latin typeface="Arial"/>
              </a:rPr>
              <a:t>7</a:t>
            </a:r>
          </a:p>
        </p:txBody>
      </p:sp>
      <p:sp>
        <p:nvSpPr>
          <p:cNvPr id="14" name="Rounded Rectangle 13"/>
          <p:cNvSpPr/>
          <p:nvPr/>
        </p:nvSpPr>
        <p:spPr>
          <a:xfrm>
            <a:off x="548640" y="2642615"/>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2642615"/>
            <a:ext cx="1874520" cy="438912"/>
          </a:xfrm>
          <a:prstGeom prst="rect">
            <a:avLst/>
          </a:prstGeom>
          <a:noFill/>
        </p:spPr>
        <p:txBody>
          <a:bodyPr wrap="square" lIns="0" rIns="0" tIns="0" bIns="0" anchor="ctr">
            <a:spAutoFit/>
          </a:bodyPr>
          <a:lstStyle/>
          <a:p>
            <a:pPr algn="l"/>
            <a:r>
              <a:rPr sz="1300" b="1" i="0">
                <a:solidFill>
                  <a:srgbClr val="1B2A41"/>
                </a:solidFill>
                <a:latin typeface="Arial"/>
              </a:rPr>
              <a:t>nhiễu trắng</a:t>
            </a:r>
          </a:p>
        </p:txBody>
      </p:sp>
      <p:sp>
        <p:nvSpPr>
          <p:cNvPr id="16" name="TextBox 15"/>
          <p:cNvSpPr txBox="1"/>
          <p:nvPr/>
        </p:nvSpPr>
        <p:spPr>
          <a:xfrm>
            <a:off x="2834640" y="2642615"/>
            <a:ext cx="2286000" cy="438912"/>
          </a:xfrm>
          <a:prstGeom prst="rect">
            <a:avLst/>
          </a:prstGeom>
          <a:noFill/>
        </p:spPr>
        <p:txBody>
          <a:bodyPr wrap="square" lIns="0" rIns="0" tIns="0" bIns="0" anchor="ctr">
            <a:spAutoFit/>
          </a:bodyPr>
          <a:lstStyle/>
          <a:p>
            <a:pPr algn="l"/>
            <a:r>
              <a:rPr sz="1300" b="0" i="0">
                <a:solidFill>
                  <a:srgbClr val="1B2A41"/>
                </a:solidFill>
                <a:latin typeface="Arial"/>
              </a:rPr>
              <a:t>white noise</a:t>
            </a:r>
          </a:p>
        </p:txBody>
      </p:sp>
      <p:sp>
        <p:nvSpPr>
          <p:cNvPr id="17" name="TextBox 16"/>
          <p:cNvSpPr txBox="1"/>
          <p:nvPr/>
        </p:nvSpPr>
        <p:spPr>
          <a:xfrm>
            <a:off x="5394960" y="2642615"/>
            <a:ext cx="548640" cy="438912"/>
          </a:xfrm>
          <a:prstGeom prst="rect">
            <a:avLst/>
          </a:prstGeom>
          <a:noFill/>
        </p:spPr>
        <p:txBody>
          <a:bodyPr wrap="square" lIns="0" rIns="0" tIns="0" bIns="0" anchor="ctr">
            <a:spAutoFit/>
          </a:bodyPr>
          <a:lstStyle/>
          <a:p>
            <a:pPr algn="l"/>
            <a:r>
              <a:rPr sz="1300" b="0" i="0">
                <a:solidFill>
                  <a:srgbClr val="5B6778"/>
                </a:solidFill>
                <a:latin typeface="Arial"/>
              </a:rPr>
              <a:t>7</a:t>
            </a:r>
          </a:p>
        </p:txBody>
      </p:sp>
      <p:sp>
        <p:nvSpPr>
          <p:cNvPr id="18" name="TextBox 17"/>
          <p:cNvSpPr txBox="1"/>
          <p:nvPr/>
        </p:nvSpPr>
        <p:spPr>
          <a:xfrm>
            <a:off x="685800" y="3118104"/>
            <a:ext cx="1874520" cy="438912"/>
          </a:xfrm>
          <a:prstGeom prst="rect">
            <a:avLst/>
          </a:prstGeom>
          <a:noFill/>
        </p:spPr>
        <p:txBody>
          <a:bodyPr wrap="square" lIns="0" rIns="0" tIns="0" bIns="0" anchor="ctr">
            <a:spAutoFit/>
          </a:bodyPr>
          <a:lstStyle/>
          <a:p>
            <a:pPr algn="l"/>
            <a:r>
              <a:rPr sz="1300" b="1" i="0">
                <a:solidFill>
                  <a:srgbClr val="1B2A41"/>
                </a:solidFill>
                <a:latin typeface="Arial"/>
              </a:rPr>
              <a:t>tính dừng</a:t>
            </a:r>
          </a:p>
        </p:txBody>
      </p:sp>
      <p:sp>
        <p:nvSpPr>
          <p:cNvPr id="19" name="TextBox 18"/>
          <p:cNvSpPr txBox="1"/>
          <p:nvPr/>
        </p:nvSpPr>
        <p:spPr>
          <a:xfrm>
            <a:off x="2834640" y="3118104"/>
            <a:ext cx="2286000" cy="438912"/>
          </a:xfrm>
          <a:prstGeom prst="rect">
            <a:avLst/>
          </a:prstGeom>
          <a:noFill/>
        </p:spPr>
        <p:txBody>
          <a:bodyPr wrap="square" lIns="0" rIns="0" tIns="0" bIns="0" anchor="ctr">
            <a:spAutoFit/>
          </a:bodyPr>
          <a:lstStyle/>
          <a:p>
            <a:pPr algn="l"/>
            <a:r>
              <a:rPr sz="1300" b="0" i="0">
                <a:solidFill>
                  <a:srgbClr val="1B2A41"/>
                </a:solidFill>
                <a:latin typeface="Arial"/>
              </a:rPr>
              <a:t>stationarity</a:t>
            </a:r>
          </a:p>
        </p:txBody>
      </p:sp>
      <p:sp>
        <p:nvSpPr>
          <p:cNvPr id="20" name="TextBox 19"/>
          <p:cNvSpPr txBox="1"/>
          <p:nvPr/>
        </p:nvSpPr>
        <p:spPr>
          <a:xfrm>
            <a:off x="5394960" y="3118104"/>
            <a:ext cx="548640" cy="438912"/>
          </a:xfrm>
          <a:prstGeom prst="rect">
            <a:avLst/>
          </a:prstGeom>
          <a:noFill/>
        </p:spPr>
        <p:txBody>
          <a:bodyPr wrap="square" lIns="0" rIns="0" tIns="0" bIns="0" anchor="ctr">
            <a:spAutoFit/>
          </a:bodyPr>
          <a:lstStyle/>
          <a:p>
            <a:pPr algn="l"/>
            <a:r>
              <a:rPr sz="1300" b="0" i="0">
                <a:solidFill>
                  <a:srgbClr val="5B6778"/>
                </a:solidFill>
                <a:latin typeface="Arial"/>
              </a:rPr>
              <a:t>7</a:t>
            </a:r>
          </a:p>
        </p:txBody>
      </p:sp>
      <p:sp>
        <p:nvSpPr>
          <p:cNvPr id="21" name="Rounded Rectangle 20"/>
          <p:cNvSpPr/>
          <p:nvPr/>
        </p:nvSpPr>
        <p:spPr>
          <a:xfrm>
            <a:off x="548640" y="3593591"/>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593591"/>
            <a:ext cx="1874520" cy="438912"/>
          </a:xfrm>
          <a:prstGeom prst="rect">
            <a:avLst/>
          </a:prstGeom>
          <a:noFill/>
        </p:spPr>
        <p:txBody>
          <a:bodyPr wrap="square" lIns="0" rIns="0" tIns="0" bIns="0" anchor="ctr">
            <a:spAutoFit/>
          </a:bodyPr>
          <a:lstStyle/>
          <a:p>
            <a:pPr algn="l"/>
            <a:r>
              <a:rPr sz="1300" b="1" i="0">
                <a:solidFill>
                  <a:srgbClr val="1B2A41"/>
                </a:solidFill>
                <a:latin typeface="Arial"/>
              </a:rPr>
              <a:t>bước ngẫu nhiên</a:t>
            </a:r>
          </a:p>
        </p:txBody>
      </p:sp>
      <p:sp>
        <p:nvSpPr>
          <p:cNvPr id="23" name="TextBox 22"/>
          <p:cNvSpPr txBox="1"/>
          <p:nvPr/>
        </p:nvSpPr>
        <p:spPr>
          <a:xfrm>
            <a:off x="2834640" y="3593591"/>
            <a:ext cx="2286000" cy="438912"/>
          </a:xfrm>
          <a:prstGeom prst="rect">
            <a:avLst/>
          </a:prstGeom>
          <a:noFill/>
        </p:spPr>
        <p:txBody>
          <a:bodyPr wrap="square" lIns="0" rIns="0" tIns="0" bIns="0" anchor="ctr">
            <a:spAutoFit/>
          </a:bodyPr>
          <a:lstStyle/>
          <a:p>
            <a:pPr algn="l"/>
            <a:r>
              <a:rPr sz="1300" b="0" i="0">
                <a:solidFill>
                  <a:srgbClr val="1B2A41"/>
                </a:solidFill>
                <a:latin typeface="Arial"/>
              </a:rPr>
              <a:t>random walk</a:t>
            </a:r>
          </a:p>
        </p:txBody>
      </p:sp>
      <p:sp>
        <p:nvSpPr>
          <p:cNvPr id="24" name="TextBox 23"/>
          <p:cNvSpPr txBox="1"/>
          <p:nvPr/>
        </p:nvSpPr>
        <p:spPr>
          <a:xfrm>
            <a:off x="5394960" y="3593591"/>
            <a:ext cx="548640" cy="438912"/>
          </a:xfrm>
          <a:prstGeom prst="rect">
            <a:avLst/>
          </a:prstGeom>
          <a:noFill/>
        </p:spPr>
        <p:txBody>
          <a:bodyPr wrap="square" lIns="0" rIns="0" tIns="0" bIns="0" anchor="ctr">
            <a:spAutoFit/>
          </a:bodyPr>
          <a:lstStyle/>
          <a:p>
            <a:pPr algn="l"/>
            <a:r>
              <a:rPr sz="1300" b="0" i="0">
                <a:solidFill>
                  <a:srgbClr val="5B6778"/>
                </a:solidFill>
                <a:latin typeface="Arial"/>
              </a:rPr>
              <a:t>7</a:t>
            </a:r>
          </a:p>
        </p:txBody>
      </p:sp>
      <p:sp>
        <p:nvSpPr>
          <p:cNvPr id="25" name="TextBox 24"/>
          <p:cNvSpPr txBox="1"/>
          <p:nvPr/>
        </p:nvSpPr>
        <p:spPr>
          <a:xfrm>
            <a:off x="685800" y="4069080"/>
            <a:ext cx="1874520" cy="438912"/>
          </a:xfrm>
          <a:prstGeom prst="rect">
            <a:avLst/>
          </a:prstGeom>
          <a:noFill/>
        </p:spPr>
        <p:txBody>
          <a:bodyPr wrap="square" lIns="0" rIns="0" tIns="0" bIns="0" anchor="ctr">
            <a:spAutoFit/>
          </a:bodyPr>
          <a:lstStyle/>
          <a:p>
            <a:pPr algn="l"/>
            <a:r>
              <a:rPr sz="1300" b="1" i="0">
                <a:solidFill>
                  <a:srgbClr val="1B2A41"/>
                </a:solidFill>
                <a:latin typeface="Arial"/>
              </a:rPr>
              <a:t>sai phân</a:t>
            </a:r>
          </a:p>
        </p:txBody>
      </p:sp>
      <p:sp>
        <p:nvSpPr>
          <p:cNvPr id="26" name="TextBox 25"/>
          <p:cNvSpPr txBox="1"/>
          <p:nvPr/>
        </p:nvSpPr>
        <p:spPr>
          <a:xfrm>
            <a:off x="2834640" y="4069080"/>
            <a:ext cx="2286000" cy="438912"/>
          </a:xfrm>
          <a:prstGeom prst="rect">
            <a:avLst/>
          </a:prstGeom>
          <a:noFill/>
        </p:spPr>
        <p:txBody>
          <a:bodyPr wrap="square" lIns="0" rIns="0" tIns="0" bIns="0" anchor="ctr">
            <a:spAutoFit/>
          </a:bodyPr>
          <a:lstStyle/>
          <a:p>
            <a:pPr algn="l"/>
            <a:r>
              <a:rPr sz="1300" b="0" i="0">
                <a:solidFill>
                  <a:srgbClr val="1B2A41"/>
                </a:solidFill>
                <a:latin typeface="Arial"/>
              </a:rPr>
              <a:t>differencing</a:t>
            </a:r>
          </a:p>
        </p:txBody>
      </p:sp>
      <p:sp>
        <p:nvSpPr>
          <p:cNvPr id="27" name="TextBox 26"/>
          <p:cNvSpPr txBox="1"/>
          <p:nvPr/>
        </p:nvSpPr>
        <p:spPr>
          <a:xfrm>
            <a:off x="5394960" y="4069080"/>
            <a:ext cx="548640" cy="438912"/>
          </a:xfrm>
          <a:prstGeom prst="rect">
            <a:avLst/>
          </a:prstGeom>
          <a:noFill/>
        </p:spPr>
        <p:txBody>
          <a:bodyPr wrap="square" lIns="0" rIns="0" tIns="0" bIns="0" anchor="ctr">
            <a:spAutoFit/>
          </a:bodyPr>
          <a:lstStyle/>
          <a:p>
            <a:pPr algn="l"/>
            <a:r>
              <a:rPr sz="1300" b="0" i="0">
                <a:solidFill>
                  <a:srgbClr val="5B6778"/>
                </a:solidFill>
                <a:latin typeface="Arial"/>
              </a:rPr>
              <a:t>7</a:t>
            </a:r>
          </a:p>
        </p:txBody>
      </p:sp>
      <p:sp>
        <p:nvSpPr>
          <p:cNvPr id="28" name="Rounded Rectangle 27"/>
          <p:cNvSpPr/>
          <p:nvPr/>
        </p:nvSpPr>
        <p:spPr>
          <a:xfrm>
            <a:off x="548640" y="4544568"/>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4544568"/>
            <a:ext cx="1874520" cy="438912"/>
          </a:xfrm>
          <a:prstGeom prst="rect">
            <a:avLst/>
          </a:prstGeom>
          <a:noFill/>
        </p:spPr>
        <p:txBody>
          <a:bodyPr wrap="square" lIns="0" rIns="0" tIns="0" bIns="0" anchor="ctr">
            <a:spAutoFit/>
          </a:bodyPr>
          <a:lstStyle/>
          <a:p>
            <a:pPr algn="l"/>
            <a:r>
              <a:rPr sz="1300" b="1" i="0">
                <a:solidFill>
                  <a:srgbClr val="1B2A41"/>
                </a:solidFill>
                <a:latin typeface="Arial"/>
              </a:rPr>
              <a:t>kiểm định nghiệm đơn vị</a:t>
            </a:r>
          </a:p>
        </p:txBody>
      </p:sp>
      <p:sp>
        <p:nvSpPr>
          <p:cNvPr id="30" name="TextBox 29"/>
          <p:cNvSpPr txBox="1"/>
          <p:nvPr/>
        </p:nvSpPr>
        <p:spPr>
          <a:xfrm>
            <a:off x="2834640" y="4544568"/>
            <a:ext cx="2286000" cy="438912"/>
          </a:xfrm>
          <a:prstGeom prst="rect">
            <a:avLst/>
          </a:prstGeom>
          <a:noFill/>
        </p:spPr>
        <p:txBody>
          <a:bodyPr wrap="square" lIns="0" rIns="0" tIns="0" bIns="0" anchor="ctr">
            <a:spAutoFit/>
          </a:bodyPr>
          <a:lstStyle/>
          <a:p>
            <a:pPr algn="l"/>
            <a:r>
              <a:rPr sz="1300" b="0" i="0">
                <a:solidFill>
                  <a:srgbClr val="1B2A41"/>
                </a:solidFill>
                <a:latin typeface="Arial"/>
              </a:rPr>
              <a:t>unit root test (ADF, KPSS)</a:t>
            </a:r>
          </a:p>
        </p:txBody>
      </p:sp>
      <p:sp>
        <p:nvSpPr>
          <p:cNvPr id="31" name="TextBox 30"/>
          <p:cNvSpPr txBox="1"/>
          <p:nvPr/>
        </p:nvSpPr>
        <p:spPr>
          <a:xfrm>
            <a:off x="5394960" y="4544568"/>
            <a:ext cx="548640" cy="438912"/>
          </a:xfrm>
          <a:prstGeom prst="rect">
            <a:avLst/>
          </a:prstGeom>
          <a:noFill/>
        </p:spPr>
        <p:txBody>
          <a:bodyPr wrap="square" lIns="0" rIns="0" tIns="0" bIns="0" anchor="ctr">
            <a:spAutoFit/>
          </a:bodyPr>
          <a:lstStyle/>
          <a:p>
            <a:pPr algn="l"/>
            <a:r>
              <a:rPr sz="1300" b="0" i="0">
                <a:solidFill>
                  <a:srgbClr val="5B6778"/>
                </a:solidFill>
                <a:latin typeface="Arial"/>
              </a:rPr>
              <a:t>7</a:t>
            </a:r>
          </a:p>
        </p:txBody>
      </p:sp>
      <p:sp>
        <p:nvSpPr>
          <p:cNvPr id="32" name="TextBox 31"/>
          <p:cNvSpPr txBox="1"/>
          <p:nvPr/>
        </p:nvSpPr>
        <p:spPr>
          <a:xfrm>
            <a:off x="685800" y="5020056"/>
            <a:ext cx="1874520" cy="438912"/>
          </a:xfrm>
          <a:prstGeom prst="rect">
            <a:avLst/>
          </a:prstGeom>
          <a:noFill/>
        </p:spPr>
        <p:txBody>
          <a:bodyPr wrap="square" lIns="0" rIns="0" tIns="0" bIns="0" anchor="ctr">
            <a:spAutoFit/>
          </a:bodyPr>
          <a:lstStyle/>
          <a:p>
            <a:pPr algn="l"/>
            <a:r>
              <a:rPr sz="1300" b="1" i="0">
                <a:solidFill>
                  <a:srgbClr val="1B2A41"/>
                </a:solidFill>
                <a:latin typeface="Arial"/>
              </a:rPr>
              <a:t>tương quan giả</a:t>
            </a:r>
          </a:p>
        </p:txBody>
      </p:sp>
      <p:sp>
        <p:nvSpPr>
          <p:cNvPr id="33" name="TextBox 32"/>
          <p:cNvSpPr txBox="1"/>
          <p:nvPr/>
        </p:nvSpPr>
        <p:spPr>
          <a:xfrm>
            <a:off x="2834640" y="5020056"/>
            <a:ext cx="2286000" cy="438912"/>
          </a:xfrm>
          <a:prstGeom prst="rect">
            <a:avLst/>
          </a:prstGeom>
          <a:noFill/>
        </p:spPr>
        <p:txBody>
          <a:bodyPr wrap="square" lIns="0" rIns="0" tIns="0" bIns="0" anchor="ctr">
            <a:spAutoFit/>
          </a:bodyPr>
          <a:lstStyle/>
          <a:p>
            <a:pPr algn="l"/>
            <a:r>
              <a:rPr sz="1300" b="0" i="0">
                <a:solidFill>
                  <a:srgbClr val="1B2A41"/>
                </a:solidFill>
                <a:latin typeface="Arial"/>
              </a:rPr>
              <a:t>spurious correlation</a:t>
            </a:r>
          </a:p>
        </p:txBody>
      </p:sp>
      <p:sp>
        <p:nvSpPr>
          <p:cNvPr id="34" name="TextBox 33"/>
          <p:cNvSpPr txBox="1"/>
          <p:nvPr/>
        </p:nvSpPr>
        <p:spPr>
          <a:xfrm>
            <a:off x="5394960" y="5020056"/>
            <a:ext cx="548640" cy="438912"/>
          </a:xfrm>
          <a:prstGeom prst="rect">
            <a:avLst/>
          </a:prstGeom>
          <a:noFill/>
        </p:spPr>
        <p:txBody>
          <a:bodyPr wrap="square" lIns="0" rIns="0" tIns="0" bIns="0" anchor="ctr">
            <a:spAutoFit/>
          </a:bodyPr>
          <a:lstStyle/>
          <a:p>
            <a:pPr algn="l"/>
            <a:r>
              <a:rPr sz="1300" b="0" i="0">
                <a:solidFill>
                  <a:srgbClr val="5B6778"/>
                </a:solidFill>
                <a:latin typeface="Arial"/>
              </a:rPr>
              <a:t>8</a:t>
            </a:r>
          </a:p>
        </p:txBody>
      </p:sp>
      <p:sp>
        <p:nvSpPr>
          <p:cNvPr id="35" name="Rounded Rectangle 34"/>
          <p:cNvSpPr/>
          <p:nvPr/>
        </p:nvSpPr>
        <p:spPr>
          <a:xfrm>
            <a:off x="548640" y="5495544"/>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800" y="5495544"/>
            <a:ext cx="1874520" cy="438912"/>
          </a:xfrm>
          <a:prstGeom prst="rect">
            <a:avLst/>
          </a:prstGeom>
          <a:noFill/>
        </p:spPr>
        <p:txBody>
          <a:bodyPr wrap="square" lIns="0" rIns="0" tIns="0" bIns="0" anchor="ctr">
            <a:spAutoFit/>
          </a:bodyPr>
          <a:lstStyle/>
          <a:p>
            <a:pPr algn="l"/>
            <a:r>
              <a:rPr sz="1300" b="1" i="0">
                <a:solidFill>
                  <a:srgbClr val="1B2A41"/>
                </a:solidFill>
                <a:latin typeface="Arial"/>
              </a:rPr>
              <a:t>tương quan chéo</a:t>
            </a:r>
          </a:p>
        </p:txBody>
      </p:sp>
      <p:sp>
        <p:nvSpPr>
          <p:cNvPr id="37" name="TextBox 36"/>
          <p:cNvSpPr txBox="1"/>
          <p:nvPr/>
        </p:nvSpPr>
        <p:spPr>
          <a:xfrm>
            <a:off x="2834640" y="5495544"/>
            <a:ext cx="2286000" cy="438912"/>
          </a:xfrm>
          <a:prstGeom prst="rect">
            <a:avLst/>
          </a:prstGeom>
          <a:noFill/>
        </p:spPr>
        <p:txBody>
          <a:bodyPr wrap="square" lIns="0" rIns="0" tIns="0" bIns="0" anchor="ctr">
            <a:spAutoFit/>
          </a:bodyPr>
          <a:lstStyle/>
          <a:p>
            <a:pPr algn="l"/>
            <a:r>
              <a:rPr sz="1300" b="0" i="0">
                <a:solidFill>
                  <a:srgbClr val="1B2A41"/>
                </a:solidFill>
                <a:latin typeface="Arial"/>
              </a:rPr>
              <a:t>cross-correlation (CCF)</a:t>
            </a:r>
          </a:p>
        </p:txBody>
      </p:sp>
      <p:sp>
        <p:nvSpPr>
          <p:cNvPr id="38" name="TextBox 37"/>
          <p:cNvSpPr txBox="1"/>
          <p:nvPr/>
        </p:nvSpPr>
        <p:spPr>
          <a:xfrm>
            <a:off x="5394960" y="5495544"/>
            <a:ext cx="548640" cy="438912"/>
          </a:xfrm>
          <a:prstGeom prst="rect">
            <a:avLst/>
          </a:prstGeom>
          <a:noFill/>
        </p:spPr>
        <p:txBody>
          <a:bodyPr wrap="square" lIns="0" rIns="0" tIns="0" bIns="0" anchor="ctr">
            <a:spAutoFit/>
          </a:bodyPr>
          <a:lstStyle/>
          <a:p>
            <a:pPr algn="l"/>
            <a:r>
              <a:rPr sz="1300" b="0" i="0">
                <a:solidFill>
                  <a:srgbClr val="5B6778"/>
                </a:solidFill>
                <a:latin typeface="Arial"/>
              </a:rPr>
              <a:t>8</a:t>
            </a:r>
          </a:p>
        </p:txBody>
      </p:sp>
      <p:sp>
        <p:nvSpPr>
          <p:cNvPr id="39" name="TextBox 38"/>
          <p:cNvSpPr txBox="1"/>
          <p:nvPr/>
        </p:nvSpPr>
        <p:spPr>
          <a:xfrm>
            <a:off x="685800" y="5971031"/>
            <a:ext cx="1874520" cy="438912"/>
          </a:xfrm>
          <a:prstGeom prst="rect">
            <a:avLst/>
          </a:prstGeom>
          <a:noFill/>
        </p:spPr>
        <p:txBody>
          <a:bodyPr wrap="square" lIns="0" rIns="0" tIns="0" bIns="0" anchor="ctr">
            <a:spAutoFit/>
          </a:bodyPr>
          <a:lstStyle/>
          <a:p>
            <a:pPr algn="l"/>
            <a:r>
              <a:rPr sz="1300" b="1" i="0">
                <a:solidFill>
                  <a:srgbClr val="1B2A41"/>
                </a:solidFill>
                <a:latin typeface="Arial"/>
              </a:rPr>
              <a:t>prewhitening</a:t>
            </a:r>
          </a:p>
        </p:txBody>
      </p:sp>
      <p:sp>
        <p:nvSpPr>
          <p:cNvPr id="40" name="TextBox 39"/>
          <p:cNvSpPr txBox="1"/>
          <p:nvPr/>
        </p:nvSpPr>
        <p:spPr>
          <a:xfrm>
            <a:off x="2834640" y="5971031"/>
            <a:ext cx="2286000" cy="438912"/>
          </a:xfrm>
          <a:prstGeom prst="rect">
            <a:avLst/>
          </a:prstGeom>
          <a:noFill/>
        </p:spPr>
        <p:txBody>
          <a:bodyPr wrap="square" lIns="0" rIns="0" tIns="0" bIns="0" anchor="ctr">
            <a:spAutoFit/>
          </a:bodyPr>
          <a:lstStyle/>
          <a:p>
            <a:pPr algn="l"/>
            <a:r>
              <a:rPr sz="1300" b="0" i="0">
                <a:solidFill>
                  <a:srgbClr val="1B2A41"/>
                </a:solidFill>
                <a:latin typeface="Arial"/>
              </a:rPr>
              <a:t>prewhitening</a:t>
            </a:r>
          </a:p>
        </p:txBody>
      </p:sp>
      <p:sp>
        <p:nvSpPr>
          <p:cNvPr id="41" name="TextBox 40"/>
          <p:cNvSpPr txBox="1"/>
          <p:nvPr/>
        </p:nvSpPr>
        <p:spPr>
          <a:xfrm>
            <a:off x="5394960" y="5971031"/>
            <a:ext cx="548640" cy="438912"/>
          </a:xfrm>
          <a:prstGeom prst="rect">
            <a:avLst/>
          </a:prstGeom>
          <a:noFill/>
        </p:spPr>
        <p:txBody>
          <a:bodyPr wrap="square" lIns="0" rIns="0" tIns="0" bIns="0" anchor="ctr">
            <a:spAutoFit/>
          </a:bodyPr>
          <a:lstStyle/>
          <a:p>
            <a:pPr algn="l"/>
            <a:r>
              <a:rPr sz="1300" b="0" i="0">
                <a:solidFill>
                  <a:srgbClr val="5B6778"/>
                </a:solidFill>
                <a:latin typeface="Arial"/>
              </a:rPr>
              <a:t>8</a:t>
            </a:r>
          </a:p>
        </p:txBody>
      </p:sp>
      <p:sp>
        <p:nvSpPr>
          <p:cNvPr id="42" name="TextBox 41"/>
          <p:cNvSpPr txBox="1"/>
          <p:nvPr/>
        </p:nvSpPr>
        <p:spPr>
          <a:xfrm>
            <a:off x="6245352" y="1280160"/>
            <a:ext cx="1874520" cy="365760"/>
          </a:xfrm>
          <a:prstGeom prst="rect">
            <a:avLst/>
          </a:prstGeom>
          <a:noFill/>
        </p:spPr>
        <p:txBody>
          <a:bodyPr wrap="square" lIns="0" rIns="0" tIns="0" bIns="0" anchor="t">
            <a:spAutoFit/>
          </a:bodyPr>
          <a:lstStyle/>
          <a:p>
            <a:pPr algn="l"/>
            <a:r>
              <a:rPr sz="1100" b="1" i="0">
                <a:solidFill>
                  <a:srgbClr val="A77B06"/>
                </a:solidFill>
                <a:latin typeface="Arial"/>
              </a:rPr>
              <a:t>TIẾNG VIỆT</a:t>
            </a:r>
          </a:p>
        </p:txBody>
      </p:sp>
      <p:sp>
        <p:nvSpPr>
          <p:cNvPr id="43" name="TextBox 42"/>
          <p:cNvSpPr txBox="1"/>
          <p:nvPr/>
        </p:nvSpPr>
        <p:spPr>
          <a:xfrm>
            <a:off x="8394192" y="1280160"/>
            <a:ext cx="2286000" cy="365760"/>
          </a:xfrm>
          <a:prstGeom prst="rect">
            <a:avLst/>
          </a:prstGeom>
          <a:noFill/>
        </p:spPr>
        <p:txBody>
          <a:bodyPr wrap="square" lIns="0" rIns="0" tIns="0" bIns="0" anchor="t">
            <a:spAutoFit/>
          </a:bodyPr>
          <a:lstStyle/>
          <a:p>
            <a:pPr algn="l"/>
            <a:r>
              <a:rPr sz="1100" b="1" i="0">
                <a:solidFill>
                  <a:srgbClr val="5B6778"/>
                </a:solidFill>
                <a:latin typeface="Arial"/>
              </a:rPr>
              <a:t>ENGLISH</a:t>
            </a:r>
          </a:p>
        </p:txBody>
      </p:sp>
      <p:sp>
        <p:nvSpPr>
          <p:cNvPr id="44" name="TextBox 43"/>
          <p:cNvSpPr txBox="1"/>
          <p:nvPr/>
        </p:nvSpPr>
        <p:spPr>
          <a:xfrm>
            <a:off x="10954511" y="1280160"/>
            <a:ext cx="548640" cy="365760"/>
          </a:xfrm>
          <a:prstGeom prst="rect">
            <a:avLst/>
          </a:prstGeom>
          <a:noFill/>
        </p:spPr>
        <p:txBody>
          <a:bodyPr wrap="square" lIns="0" rIns="0" tIns="0" bIns="0" anchor="t">
            <a:spAutoFit/>
          </a:bodyPr>
          <a:lstStyle/>
          <a:p>
            <a:pPr algn="l"/>
            <a:r>
              <a:rPr sz="1100" b="1" i="0">
                <a:solidFill>
                  <a:srgbClr val="5B6778"/>
                </a:solidFill>
                <a:latin typeface="Arial"/>
              </a:rPr>
              <a:t>BUỔI</a:t>
            </a:r>
          </a:p>
        </p:txBody>
      </p:sp>
      <p:sp>
        <p:nvSpPr>
          <p:cNvPr id="45" name="Rounded Rectangle 44"/>
          <p:cNvSpPr/>
          <p:nvPr/>
        </p:nvSpPr>
        <p:spPr>
          <a:xfrm>
            <a:off x="6108191" y="1691639"/>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245351" y="1691639"/>
            <a:ext cx="1874520" cy="438912"/>
          </a:xfrm>
          <a:prstGeom prst="rect">
            <a:avLst/>
          </a:prstGeom>
          <a:noFill/>
        </p:spPr>
        <p:txBody>
          <a:bodyPr wrap="square" lIns="0" rIns="0" tIns="0" bIns="0" anchor="ctr">
            <a:spAutoFit/>
          </a:bodyPr>
          <a:lstStyle/>
          <a:p>
            <a:pPr algn="l"/>
            <a:r>
              <a:rPr sz="1300" b="1" i="0">
                <a:solidFill>
                  <a:srgbClr val="1B2A41"/>
                </a:solidFill>
                <a:latin typeface="Arial"/>
              </a:rPr>
              <a:t>biến ngoại sinh</a:t>
            </a:r>
          </a:p>
        </p:txBody>
      </p:sp>
      <p:sp>
        <p:nvSpPr>
          <p:cNvPr id="47" name="TextBox 46"/>
          <p:cNvSpPr txBox="1"/>
          <p:nvPr/>
        </p:nvSpPr>
        <p:spPr>
          <a:xfrm>
            <a:off x="8394192" y="1691639"/>
            <a:ext cx="2286000" cy="438912"/>
          </a:xfrm>
          <a:prstGeom prst="rect">
            <a:avLst/>
          </a:prstGeom>
          <a:noFill/>
        </p:spPr>
        <p:txBody>
          <a:bodyPr wrap="square" lIns="0" rIns="0" tIns="0" bIns="0" anchor="ctr">
            <a:spAutoFit/>
          </a:bodyPr>
          <a:lstStyle/>
          <a:p>
            <a:pPr algn="l"/>
            <a:r>
              <a:rPr sz="1300" b="0" i="0">
                <a:solidFill>
                  <a:srgbClr val="1B2A41"/>
                </a:solidFill>
                <a:latin typeface="Arial"/>
              </a:rPr>
              <a:t>exogenous variable, covariate</a:t>
            </a:r>
          </a:p>
        </p:txBody>
      </p:sp>
      <p:sp>
        <p:nvSpPr>
          <p:cNvPr id="48" name="TextBox 47"/>
          <p:cNvSpPr txBox="1"/>
          <p:nvPr/>
        </p:nvSpPr>
        <p:spPr>
          <a:xfrm>
            <a:off x="10954511" y="1691639"/>
            <a:ext cx="548640" cy="438912"/>
          </a:xfrm>
          <a:prstGeom prst="rect">
            <a:avLst/>
          </a:prstGeom>
          <a:noFill/>
        </p:spPr>
        <p:txBody>
          <a:bodyPr wrap="square" lIns="0" rIns="0" tIns="0" bIns="0" anchor="ctr">
            <a:spAutoFit/>
          </a:bodyPr>
          <a:lstStyle/>
          <a:p>
            <a:pPr algn="l"/>
            <a:r>
              <a:rPr sz="1300" b="0" i="0">
                <a:solidFill>
                  <a:srgbClr val="5B6778"/>
                </a:solidFill>
                <a:latin typeface="Arial"/>
              </a:rPr>
              <a:t>8</a:t>
            </a:r>
          </a:p>
        </p:txBody>
      </p:sp>
      <p:sp>
        <p:nvSpPr>
          <p:cNvPr id="49" name="TextBox 48"/>
          <p:cNvSpPr txBox="1"/>
          <p:nvPr/>
        </p:nvSpPr>
        <p:spPr>
          <a:xfrm>
            <a:off x="6245351" y="2167128"/>
            <a:ext cx="1874520" cy="438912"/>
          </a:xfrm>
          <a:prstGeom prst="rect">
            <a:avLst/>
          </a:prstGeom>
          <a:noFill/>
        </p:spPr>
        <p:txBody>
          <a:bodyPr wrap="square" lIns="0" rIns="0" tIns="0" bIns="0" anchor="ctr">
            <a:spAutoFit/>
          </a:bodyPr>
          <a:lstStyle/>
          <a:p>
            <a:pPr algn="l"/>
            <a:r>
              <a:rPr sz="1300" b="1" i="0">
                <a:solidFill>
                  <a:srgbClr val="1B2A41"/>
                </a:solidFill>
                <a:latin typeface="Arial"/>
              </a:rPr>
              <a:t>đặc trưng chuỗi</a:t>
            </a:r>
          </a:p>
        </p:txBody>
      </p:sp>
      <p:sp>
        <p:nvSpPr>
          <p:cNvPr id="50" name="TextBox 49"/>
          <p:cNvSpPr txBox="1"/>
          <p:nvPr/>
        </p:nvSpPr>
        <p:spPr>
          <a:xfrm>
            <a:off x="8394192" y="2167128"/>
            <a:ext cx="2286000" cy="438912"/>
          </a:xfrm>
          <a:prstGeom prst="rect">
            <a:avLst/>
          </a:prstGeom>
          <a:noFill/>
        </p:spPr>
        <p:txBody>
          <a:bodyPr wrap="square" lIns="0" rIns="0" tIns="0" bIns="0" anchor="ctr">
            <a:spAutoFit/>
          </a:bodyPr>
          <a:lstStyle/>
          <a:p>
            <a:pPr algn="l"/>
            <a:r>
              <a:rPr sz="1300" b="0" i="0">
                <a:solidFill>
                  <a:srgbClr val="1B2A41"/>
                </a:solidFill>
                <a:latin typeface="Arial"/>
              </a:rPr>
              <a:t>time series feature</a:t>
            </a:r>
          </a:p>
        </p:txBody>
      </p:sp>
      <p:sp>
        <p:nvSpPr>
          <p:cNvPr id="51" name="TextBox 50"/>
          <p:cNvSpPr txBox="1"/>
          <p:nvPr/>
        </p:nvSpPr>
        <p:spPr>
          <a:xfrm>
            <a:off x="10954511" y="2167128"/>
            <a:ext cx="548640" cy="438912"/>
          </a:xfrm>
          <a:prstGeom prst="rect">
            <a:avLst/>
          </a:prstGeom>
          <a:noFill/>
        </p:spPr>
        <p:txBody>
          <a:bodyPr wrap="square" lIns="0" rIns="0" tIns="0" bIns="0" anchor="ctr">
            <a:spAutoFit/>
          </a:bodyPr>
          <a:lstStyle/>
          <a:p>
            <a:pPr algn="l"/>
            <a:r>
              <a:rPr sz="1300" b="0" i="0">
                <a:solidFill>
                  <a:srgbClr val="5B6778"/>
                </a:solidFill>
                <a:latin typeface="Arial"/>
              </a:rPr>
              <a:t>9</a:t>
            </a:r>
          </a:p>
        </p:txBody>
      </p:sp>
      <p:sp>
        <p:nvSpPr>
          <p:cNvPr id="52" name="Rounded Rectangle 51"/>
          <p:cNvSpPr/>
          <p:nvPr/>
        </p:nvSpPr>
        <p:spPr>
          <a:xfrm>
            <a:off x="6108191" y="2642615"/>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45351" y="2642615"/>
            <a:ext cx="1874520" cy="438912"/>
          </a:xfrm>
          <a:prstGeom prst="rect">
            <a:avLst/>
          </a:prstGeom>
          <a:noFill/>
        </p:spPr>
        <p:txBody>
          <a:bodyPr wrap="square" lIns="0" rIns="0" tIns="0" bIns="0" anchor="ctr">
            <a:spAutoFit/>
          </a:bodyPr>
          <a:lstStyle/>
          <a:p>
            <a:pPr algn="l"/>
            <a:r>
              <a:rPr sz="1300" b="1" i="0">
                <a:solidFill>
                  <a:srgbClr val="1B2A41"/>
                </a:solidFill>
                <a:latin typeface="Arial"/>
              </a:rPr>
              <a:t>hệ số biến thiên</a:t>
            </a:r>
          </a:p>
        </p:txBody>
      </p:sp>
      <p:sp>
        <p:nvSpPr>
          <p:cNvPr id="54" name="TextBox 53"/>
          <p:cNvSpPr txBox="1"/>
          <p:nvPr/>
        </p:nvSpPr>
        <p:spPr>
          <a:xfrm>
            <a:off x="8394192" y="2642615"/>
            <a:ext cx="2286000" cy="438912"/>
          </a:xfrm>
          <a:prstGeom prst="rect">
            <a:avLst/>
          </a:prstGeom>
          <a:noFill/>
        </p:spPr>
        <p:txBody>
          <a:bodyPr wrap="square" lIns="0" rIns="0" tIns="0" bIns="0" anchor="ctr">
            <a:spAutoFit/>
          </a:bodyPr>
          <a:lstStyle/>
          <a:p>
            <a:pPr algn="l"/>
            <a:r>
              <a:rPr sz="1300" b="0" i="0">
                <a:solidFill>
                  <a:srgbClr val="1B2A41"/>
                </a:solidFill>
                <a:latin typeface="Arial"/>
              </a:rPr>
              <a:t>coefficient of variation (CV)</a:t>
            </a:r>
          </a:p>
        </p:txBody>
      </p:sp>
      <p:sp>
        <p:nvSpPr>
          <p:cNvPr id="55" name="TextBox 54"/>
          <p:cNvSpPr txBox="1"/>
          <p:nvPr/>
        </p:nvSpPr>
        <p:spPr>
          <a:xfrm>
            <a:off x="10954511" y="2642615"/>
            <a:ext cx="548640" cy="438912"/>
          </a:xfrm>
          <a:prstGeom prst="rect">
            <a:avLst/>
          </a:prstGeom>
          <a:noFill/>
        </p:spPr>
        <p:txBody>
          <a:bodyPr wrap="square" lIns="0" rIns="0" tIns="0" bIns="0" anchor="ctr">
            <a:spAutoFit/>
          </a:bodyPr>
          <a:lstStyle/>
          <a:p>
            <a:pPr algn="l"/>
            <a:r>
              <a:rPr sz="1300" b="0" i="0">
                <a:solidFill>
                  <a:srgbClr val="5B6778"/>
                </a:solidFill>
                <a:latin typeface="Arial"/>
              </a:rPr>
              <a:t>9</a:t>
            </a:r>
          </a:p>
        </p:txBody>
      </p:sp>
      <p:sp>
        <p:nvSpPr>
          <p:cNvPr id="56" name="TextBox 55"/>
          <p:cNvSpPr txBox="1"/>
          <p:nvPr/>
        </p:nvSpPr>
        <p:spPr>
          <a:xfrm>
            <a:off x="6245351" y="3118104"/>
            <a:ext cx="1874520" cy="438912"/>
          </a:xfrm>
          <a:prstGeom prst="rect">
            <a:avLst/>
          </a:prstGeom>
          <a:noFill/>
        </p:spPr>
        <p:txBody>
          <a:bodyPr wrap="square" lIns="0" rIns="0" tIns="0" bIns="0" anchor="ctr">
            <a:spAutoFit/>
          </a:bodyPr>
          <a:lstStyle/>
          <a:p>
            <a:pPr algn="l"/>
            <a:r>
              <a:rPr sz="1300" b="1" i="0">
                <a:solidFill>
                  <a:srgbClr val="1B2A41"/>
                </a:solidFill>
                <a:latin typeface="Arial"/>
              </a:rPr>
              <a:t>thiếu mốc / thiếu giá trị</a:t>
            </a:r>
          </a:p>
        </p:txBody>
      </p:sp>
      <p:sp>
        <p:nvSpPr>
          <p:cNvPr id="57" name="TextBox 56"/>
          <p:cNvSpPr txBox="1"/>
          <p:nvPr/>
        </p:nvSpPr>
        <p:spPr>
          <a:xfrm>
            <a:off x="8394192" y="3118104"/>
            <a:ext cx="2286000" cy="438912"/>
          </a:xfrm>
          <a:prstGeom prst="rect">
            <a:avLst/>
          </a:prstGeom>
          <a:noFill/>
        </p:spPr>
        <p:txBody>
          <a:bodyPr wrap="square" lIns="0" rIns="0" tIns="0" bIns="0" anchor="ctr">
            <a:spAutoFit/>
          </a:bodyPr>
          <a:lstStyle/>
          <a:p>
            <a:pPr algn="l"/>
            <a:r>
              <a:rPr sz="1300" b="0" i="0">
                <a:solidFill>
                  <a:srgbClr val="1B2A41"/>
                </a:solidFill>
                <a:latin typeface="Arial"/>
              </a:rPr>
              <a:t>missing timestamp / value</a:t>
            </a:r>
          </a:p>
        </p:txBody>
      </p:sp>
      <p:sp>
        <p:nvSpPr>
          <p:cNvPr id="58" name="TextBox 57"/>
          <p:cNvSpPr txBox="1"/>
          <p:nvPr/>
        </p:nvSpPr>
        <p:spPr>
          <a:xfrm>
            <a:off x="10954511" y="3118104"/>
            <a:ext cx="548640" cy="438912"/>
          </a:xfrm>
          <a:prstGeom prst="rect">
            <a:avLst/>
          </a:prstGeom>
          <a:noFill/>
        </p:spPr>
        <p:txBody>
          <a:bodyPr wrap="square" lIns="0" rIns="0" tIns="0" bIns="0" anchor="ctr">
            <a:spAutoFit/>
          </a:bodyPr>
          <a:lstStyle/>
          <a:p>
            <a:pPr algn="l"/>
            <a:r>
              <a:rPr sz="1300" b="0" i="0">
                <a:solidFill>
                  <a:srgbClr val="5B6778"/>
                </a:solidFill>
                <a:latin typeface="Arial"/>
              </a:rPr>
              <a:t>10</a:t>
            </a:r>
          </a:p>
        </p:txBody>
      </p:sp>
      <p:sp>
        <p:nvSpPr>
          <p:cNvPr id="59" name="Rounded Rectangle 58"/>
          <p:cNvSpPr/>
          <p:nvPr/>
        </p:nvSpPr>
        <p:spPr>
          <a:xfrm>
            <a:off x="6108191" y="3593591"/>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45351" y="3593591"/>
            <a:ext cx="1874520" cy="438912"/>
          </a:xfrm>
          <a:prstGeom prst="rect">
            <a:avLst/>
          </a:prstGeom>
          <a:noFill/>
        </p:spPr>
        <p:txBody>
          <a:bodyPr wrap="square" lIns="0" rIns="0" tIns="0" bIns="0" anchor="ctr">
            <a:spAutoFit/>
          </a:bodyPr>
          <a:lstStyle/>
          <a:p>
            <a:pPr algn="l"/>
            <a:r>
              <a:rPr sz="1300" b="1" i="0">
                <a:solidFill>
                  <a:srgbClr val="1B2A41"/>
                </a:solidFill>
                <a:latin typeface="Arial"/>
              </a:rPr>
              <a:t>điền dữ liệu</a:t>
            </a:r>
          </a:p>
        </p:txBody>
      </p:sp>
      <p:sp>
        <p:nvSpPr>
          <p:cNvPr id="61" name="TextBox 60"/>
          <p:cNvSpPr txBox="1"/>
          <p:nvPr/>
        </p:nvSpPr>
        <p:spPr>
          <a:xfrm>
            <a:off x="8394192" y="3593591"/>
            <a:ext cx="2286000" cy="438912"/>
          </a:xfrm>
          <a:prstGeom prst="rect">
            <a:avLst/>
          </a:prstGeom>
          <a:noFill/>
        </p:spPr>
        <p:txBody>
          <a:bodyPr wrap="square" lIns="0" rIns="0" tIns="0" bIns="0" anchor="ctr">
            <a:spAutoFit/>
          </a:bodyPr>
          <a:lstStyle/>
          <a:p>
            <a:pPr algn="l"/>
            <a:r>
              <a:rPr sz="1300" b="0" i="0">
                <a:solidFill>
                  <a:srgbClr val="1B2A41"/>
                </a:solidFill>
                <a:latin typeface="Arial"/>
              </a:rPr>
              <a:t>imputation</a:t>
            </a:r>
          </a:p>
        </p:txBody>
      </p:sp>
      <p:sp>
        <p:nvSpPr>
          <p:cNvPr id="62" name="TextBox 61"/>
          <p:cNvSpPr txBox="1"/>
          <p:nvPr/>
        </p:nvSpPr>
        <p:spPr>
          <a:xfrm>
            <a:off x="10954511" y="3593591"/>
            <a:ext cx="548640" cy="438912"/>
          </a:xfrm>
          <a:prstGeom prst="rect">
            <a:avLst/>
          </a:prstGeom>
          <a:noFill/>
        </p:spPr>
        <p:txBody>
          <a:bodyPr wrap="square" lIns="0" rIns="0" tIns="0" bIns="0" anchor="ctr">
            <a:spAutoFit/>
          </a:bodyPr>
          <a:lstStyle/>
          <a:p>
            <a:pPr algn="l"/>
            <a:r>
              <a:rPr sz="1300" b="0" i="0">
                <a:solidFill>
                  <a:srgbClr val="5B6778"/>
                </a:solidFill>
                <a:latin typeface="Arial"/>
              </a:rPr>
              <a:t>10</a:t>
            </a:r>
          </a:p>
        </p:txBody>
      </p:sp>
      <p:sp>
        <p:nvSpPr>
          <p:cNvPr id="63" name="TextBox 62"/>
          <p:cNvSpPr txBox="1"/>
          <p:nvPr/>
        </p:nvSpPr>
        <p:spPr>
          <a:xfrm>
            <a:off x="6245351" y="4069080"/>
            <a:ext cx="1874520" cy="438912"/>
          </a:xfrm>
          <a:prstGeom prst="rect">
            <a:avLst/>
          </a:prstGeom>
          <a:noFill/>
        </p:spPr>
        <p:txBody>
          <a:bodyPr wrap="square" lIns="0" rIns="0" tIns="0" bIns="0" anchor="ctr">
            <a:spAutoFit/>
          </a:bodyPr>
          <a:lstStyle/>
          <a:p>
            <a:pPr algn="l"/>
            <a:r>
              <a:rPr sz="1300" b="1" i="0">
                <a:solidFill>
                  <a:srgbClr val="1B2A41"/>
                </a:solidFill>
                <a:latin typeface="Arial"/>
              </a:rPr>
              <a:t>mã trá hình</a:t>
            </a:r>
          </a:p>
        </p:txBody>
      </p:sp>
      <p:sp>
        <p:nvSpPr>
          <p:cNvPr id="64" name="TextBox 63"/>
          <p:cNvSpPr txBox="1"/>
          <p:nvPr/>
        </p:nvSpPr>
        <p:spPr>
          <a:xfrm>
            <a:off x="8394192" y="4069080"/>
            <a:ext cx="2286000" cy="438912"/>
          </a:xfrm>
          <a:prstGeom prst="rect">
            <a:avLst/>
          </a:prstGeom>
          <a:noFill/>
        </p:spPr>
        <p:txBody>
          <a:bodyPr wrap="square" lIns="0" rIns="0" tIns="0" bIns="0" anchor="ctr">
            <a:spAutoFit/>
          </a:bodyPr>
          <a:lstStyle/>
          <a:p>
            <a:pPr algn="l"/>
            <a:r>
              <a:rPr sz="1300" b="0" i="0">
                <a:solidFill>
                  <a:srgbClr val="1B2A41"/>
                </a:solidFill>
                <a:latin typeface="Arial"/>
              </a:rPr>
              <a:t>sentinel value</a:t>
            </a:r>
          </a:p>
        </p:txBody>
      </p:sp>
      <p:sp>
        <p:nvSpPr>
          <p:cNvPr id="65" name="TextBox 64"/>
          <p:cNvSpPr txBox="1"/>
          <p:nvPr/>
        </p:nvSpPr>
        <p:spPr>
          <a:xfrm>
            <a:off x="10954511" y="4069080"/>
            <a:ext cx="548640" cy="438912"/>
          </a:xfrm>
          <a:prstGeom prst="rect">
            <a:avLst/>
          </a:prstGeom>
          <a:noFill/>
        </p:spPr>
        <p:txBody>
          <a:bodyPr wrap="square" lIns="0" rIns="0" tIns="0" bIns="0" anchor="ctr">
            <a:spAutoFit/>
          </a:bodyPr>
          <a:lstStyle/>
          <a:p>
            <a:pPr algn="l"/>
            <a:r>
              <a:rPr sz="1300" b="0" i="0">
                <a:solidFill>
                  <a:srgbClr val="5B6778"/>
                </a:solidFill>
                <a:latin typeface="Arial"/>
              </a:rPr>
              <a:t>10</a:t>
            </a:r>
          </a:p>
        </p:txBody>
      </p:sp>
      <p:sp>
        <p:nvSpPr>
          <p:cNvPr id="66" name="Rounded Rectangle 65"/>
          <p:cNvSpPr/>
          <p:nvPr/>
        </p:nvSpPr>
        <p:spPr>
          <a:xfrm>
            <a:off x="6108191" y="4544568"/>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245351" y="4544568"/>
            <a:ext cx="1874520" cy="438912"/>
          </a:xfrm>
          <a:prstGeom prst="rect">
            <a:avLst/>
          </a:prstGeom>
          <a:noFill/>
        </p:spPr>
        <p:txBody>
          <a:bodyPr wrap="square" lIns="0" rIns="0" tIns="0" bIns="0" anchor="ctr">
            <a:spAutoFit/>
          </a:bodyPr>
          <a:lstStyle/>
          <a:p>
            <a:pPr algn="l"/>
            <a:r>
              <a:rPr sz="1300" b="1" i="0">
                <a:solidFill>
                  <a:srgbClr val="1B2A41"/>
                </a:solidFill>
                <a:latin typeface="Arial"/>
              </a:rPr>
              <a:t>cột cờ</a:t>
            </a:r>
          </a:p>
        </p:txBody>
      </p:sp>
      <p:sp>
        <p:nvSpPr>
          <p:cNvPr id="68" name="TextBox 67"/>
          <p:cNvSpPr txBox="1"/>
          <p:nvPr/>
        </p:nvSpPr>
        <p:spPr>
          <a:xfrm>
            <a:off x="8394192" y="4544568"/>
            <a:ext cx="2286000" cy="438912"/>
          </a:xfrm>
          <a:prstGeom prst="rect">
            <a:avLst/>
          </a:prstGeom>
          <a:noFill/>
        </p:spPr>
        <p:txBody>
          <a:bodyPr wrap="square" lIns="0" rIns="0" tIns="0" bIns="0" anchor="ctr">
            <a:spAutoFit/>
          </a:bodyPr>
          <a:lstStyle/>
          <a:p>
            <a:pPr algn="l"/>
            <a:r>
              <a:rPr sz="1300" b="0" i="0">
                <a:solidFill>
                  <a:srgbClr val="1B2A41"/>
                </a:solidFill>
                <a:latin typeface="Arial"/>
              </a:rPr>
              <a:t>flag column</a:t>
            </a:r>
          </a:p>
        </p:txBody>
      </p:sp>
      <p:sp>
        <p:nvSpPr>
          <p:cNvPr id="69" name="TextBox 68"/>
          <p:cNvSpPr txBox="1"/>
          <p:nvPr/>
        </p:nvSpPr>
        <p:spPr>
          <a:xfrm>
            <a:off x="10954511" y="4544568"/>
            <a:ext cx="548640" cy="438912"/>
          </a:xfrm>
          <a:prstGeom prst="rect">
            <a:avLst/>
          </a:prstGeom>
          <a:noFill/>
        </p:spPr>
        <p:txBody>
          <a:bodyPr wrap="square" lIns="0" rIns="0" tIns="0" bIns="0" anchor="ctr">
            <a:spAutoFit/>
          </a:bodyPr>
          <a:lstStyle/>
          <a:p>
            <a:pPr algn="l"/>
            <a:r>
              <a:rPr sz="1300" b="0" i="0">
                <a:solidFill>
                  <a:srgbClr val="5B6778"/>
                </a:solidFill>
                <a:latin typeface="Arial"/>
              </a:rPr>
              <a:t>10</a:t>
            </a:r>
          </a:p>
        </p:txBody>
      </p:sp>
      <p:sp>
        <p:nvSpPr>
          <p:cNvPr id="70" name="TextBox 69"/>
          <p:cNvSpPr txBox="1"/>
          <p:nvPr/>
        </p:nvSpPr>
        <p:spPr>
          <a:xfrm>
            <a:off x="6245351" y="5020056"/>
            <a:ext cx="1874520" cy="438912"/>
          </a:xfrm>
          <a:prstGeom prst="rect">
            <a:avLst/>
          </a:prstGeom>
          <a:noFill/>
        </p:spPr>
        <p:txBody>
          <a:bodyPr wrap="square" lIns="0" rIns="0" tIns="0" bIns="0" anchor="ctr">
            <a:spAutoFit/>
          </a:bodyPr>
          <a:lstStyle/>
          <a:p>
            <a:pPr algn="l"/>
            <a:r>
              <a:rPr sz="1300" b="1" i="0">
                <a:solidFill>
                  <a:srgbClr val="1B2A41"/>
                </a:solidFill>
                <a:latin typeface="Arial"/>
              </a:rPr>
              <a:t>cảm biến đứng yên</a:t>
            </a:r>
          </a:p>
        </p:txBody>
      </p:sp>
      <p:sp>
        <p:nvSpPr>
          <p:cNvPr id="71" name="TextBox 70"/>
          <p:cNvSpPr txBox="1"/>
          <p:nvPr/>
        </p:nvSpPr>
        <p:spPr>
          <a:xfrm>
            <a:off x="8394192" y="5020056"/>
            <a:ext cx="2286000" cy="438912"/>
          </a:xfrm>
          <a:prstGeom prst="rect">
            <a:avLst/>
          </a:prstGeom>
          <a:noFill/>
        </p:spPr>
        <p:txBody>
          <a:bodyPr wrap="square" lIns="0" rIns="0" tIns="0" bIns="0" anchor="ctr">
            <a:spAutoFit/>
          </a:bodyPr>
          <a:lstStyle/>
          <a:p>
            <a:pPr algn="l"/>
            <a:r>
              <a:rPr sz="1300" b="0" i="0">
                <a:solidFill>
                  <a:srgbClr val="1B2A41"/>
                </a:solidFill>
                <a:latin typeface="Arial"/>
              </a:rPr>
              <a:t>stuck sensor</a:t>
            </a:r>
          </a:p>
        </p:txBody>
      </p:sp>
      <p:sp>
        <p:nvSpPr>
          <p:cNvPr id="72" name="TextBox 71"/>
          <p:cNvSpPr txBox="1"/>
          <p:nvPr/>
        </p:nvSpPr>
        <p:spPr>
          <a:xfrm>
            <a:off x="10954511" y="5020056"/>
            <a:ext cx="548640" cy="438912"/>
          </a:xfrm>
          <a:prstGeom prst="rect">
            <a:avLst/>
          </a:prstGeom>
          <a:noFill/>
        </p:spPr>
        <p:txBody>
          <a:bodyPr wrap="square" lIns="0" rIns="0" tIns="0" bIns="0" anchor="ctr">
            <a:spAutoFit/>
          </a:bodyPr>
          <a:lstStyle/>
          <a:p>
            <a:pPr algn="l"/>
            <a:r>
              <a:rPr sz="1300" b="0" i="0">
                <a:solidFill>
                  <a:srgbClr val="5B6778"/>
                </a:solidFill>
                <a:latin typeface="Arial"/>
              </a:rPr>
              <a:t>10</a:t>
            </a:r>
          </a:p>
        </p:txBody>
      </p:sp>
      <p:sp>
        <p:nvSpPr>
          <p:cNvPr id="73" name="Rounded Rectangle 72"/>
          <p:cNvSpPr/>
          <p:nvPr/>
        </p:nvSpPr>
        <p:spPr>
          <a:xfrm>
            <a:off x="6108191" y="5495544"/>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245351" y="5495544"/>
            <a:ext cx="1874520" cy="438912"/>
          </a:xfrm>
          <a:prstGeom prst="rect">
            <a:avLst/>
          </a:prstGeom>
          <a:noFill/>
        </p:spPr>
        <p:txBody>
          <a:bodyPr wrap="square" lIns="0" rIns="0" tIns="0" bIns="0" anchor="ctr">
            <a:spAutoFit/>
          </a:bodyPr>
          <a:lstStyle/>
          <a:p>
            <a:pPr algn="l"/>
            <a:r>
              <a:rPr sz="1300" b="1" i="0">
                <a:solidFill>
                  <a:srgbClr val="1B2A41"/>
                </a:solidFill>
                <a:latin typeface="Arial"/>
              </a:rPr>
              <a:t>thiếu MCAR / MAR / MNAR</a:t>
            </a:r>
          </a:p>
        </p:txBody>
      </p:sp>
      <p:sp>
        <p:nvSpPr>
          <p:cNvPr id="75" name="TextBox 74"/>
          <p:cNvSpPr txBox="1"/>
          <p:nvPr/>
        </p:nvSpPr>
        <p:spPr>
          <a:xfrm>
            <a:off x="8394192" y="5495544"/>
            <a:ext cx="2286000" cy="438912"/>
          </a:xfrm>
          <a:prstGeom prst="rect">
            <a:avLst/>
          </a:prstGeom>
          <a:noFill/>
        </p:spPr>
        <p:txBody>
          <a:bodyPr wrap="square" lIns="0" rIns="0" tIns="0" bIns="0" anchor="ctr">
            <a:spAutoFit/>
          </a:bodyPr>
          <a:lstStyle/>
          <a:p>
            <a:pPr algn="l"/>
            <a:r>
              <a:rPr sz="1300" b="0" i="0">
                <a:solidFill>
                  <a:srgbClr val="1B2A41"/>
                </a:solidFill>
                <a:latin typeface="Arial"/>
              </a:rPr>
              <a:t>missing completely at random / at random / not at random</a:t>
            </a:r>
          </a:p>
        </p:txBody>
      </p:sp>
      <p:sp>
        <p:nvSpPr>
          <p:cNvPr id="76" name="TextBox 75"/>
          <p:cNvSpPr txBox="1"/>
          <p:nvPr/>
        </p:nvSpPr>
        <p:spPr>
          <a:xfrm>
            <a:off x="10954511" y="5495544"/>
            <a:ext cx="548640" cy="438912"/>
          </a:xfrm>
          <a:prstGeom prst="rect">
            <a:avLst/>
          </a:prstGeom>
          <a:noFill/>
        </p:spPr>
        <p:txBody>
          <a:bodyPr wrap="square" lIns="0" rIns="0" tIns="0" bIns="0" anchor="ctr">
            <a:spAutoFit/>
          </a:bodyPr>
          <a:lstStyle/>
          <a:p>
            <a:pPr algn="l"/>
            <a:r>
              <a:rPr sz="1300" b="0" i="0">
                <a:solidFill>
                  <a:srgbClr val="5B6778"/>
                </a:solidFill>
                <a:latin typeface="Arial"/>
              </a:rPr>
              <a:t>10</a:t>
            </a:r>
          </a:p>
        </p:txBody>
      </p:sp>
      <p:sp>
        <p:nvSpPr>
          <p:cNvPr id="77" name="TextBox 76"/>
          <p:cNvSpPr txBox="1"/>
          <p:nvPr/>
        </p:nvSpPr>
        <p:spPr>
          <a:xfrm>
            <a:off x="6245351" y="5971031"/>
            <a:ext cx="1874520" cy="438912"/>
          </a:xfrm>
          <a:prstGeom prst="rect">
            <a:avLst/>
          </a:prstGeom>
          <a:noFill/>
        </p:spPr>
        <p:txBody>
          <a:bodyPr wrap="square" lIns="0" rIns="0" tIns="0" bIns="0" anchor="ctr">
            <a:spAutoFit/>
          </a:bodyPr>
          <a:lstStyle/>
          <a:p>
            <a:pPr algn="l"/>
            <a:r>
              <a:rPr sz="1300" b="1" i="0">
                <a:solidFill>
                  <a:srgbClr val="1B2A41"/>
                </a:solidFill>
                <a:latin typeface="Arial"/>
              </a:rPr>
              <a:t>ngoại lai</a:t>
            </a:r>
          </a:p>
        </p:txBody>
      </p:sp>
      <p:sp>
        <p:nvSpPr>
          <p:cNvPr id="78" name="TextBox 77"/>
          <p:cNvSpPr txBox="1"/>
          <p:nvPr/>
        </p:nvSpPr>
        <p:spPr>
          <a:xfrm>
            <a:off x="8394192" y="5971031"/>
            <a:ext cx="2286000" cy="438912"/>
          </a:xfrm>
          <a:prstGeom prst="rect">
            <a:avLst/>
          </a:prstGeom>
          <a:noFill/>
        </p:spPr>
        <p:txBody>
          <a:bodyPr wrap="square" lIns="0" rIns="0" tIns="0" bIns="0" anchor="ctr">
            <a:spAutoFit/>
          </a:bodyPr>
          <a:lstStyle/>
          <a:p>
            <a:pPr algn="l"/>
            <a:r>
              <a:rPr sz="1300" b="0" i="0">
                <a:solidFill>
                  <a:srgbClr val="1B2A41"/>
                </a:solidFill>
                <a:latin typeface="Arial"/>
              </a:rPr>
              <a:t>outlier</a:t>
            </a:r>
          </a:p>
        </p:txBody>
      </p:sp>
      <p:sp>
        <p:nvSpPr>
          <p:cNvPr id="79" name="TextBox 78"/>
          <p:cNvSpPr txBox="1"/>
          <p:nvPr/>
        </p:nvSpPr>
        <p:spPr>
          <a:xfrm>
            <a:off x="10954511" y="5971031"/>
            <a:ext cx="548640" cy="438912"/>
          </a:xfrm>
          <a:prstGeom prst="rect">
            <a:avLst/>
          </a:prstGeom>
          <a:noFill/>
        </p:spPr>
        <p:txBody>
          <a:bodyPr wrap="square" lIns="0" rIns="0" tIns="0" bIns="0" anchor="ctr">
            <a:spAutoFit/>
          </a:bodyPr>
          <a:lstStyle/>
          <a:p>
            <a:pPr algn="l"/>
            <a:r>
              <a:rPr sz="1300" b="0" i="0">
                <a:solidFill>
                  <a:srgbClr val="5B6778"/>
                </a:solidFill>
                <a:latin typeface="Arial"/>
              </a:rPr>
              <a:t>11</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A77B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C</a:t>
            </a:r>
          </a:p>
        </p:txBody>
      </p:sp>
      <p:sp>
        <p:nvSpPr>
          <p:cNvPr id="3" name="TextBox 2"/>
          <p:cNvSpPr txBox="1"/>
          <p:nvPr/>
        </p:nvSpPr>
        <p:spPr>
          <a:xfrm>
            <a:off x="1325880" y="384048"/>
            <a:ext cx="10332720" cy="731520"/>
          </a:xfrm>
          <a:prstGeom prst="rect">
            <a:avLst/>
          </a:prstGeom>
          <a:noFill/>
        </p:spPr>
        <p:txBody>
          <a:bodyPr wrap="square" lIns="0" rIns="0" tIns="0" bIns="0" anchor="ctr">
            <a:spAutoFit/>
          </a:bodyPr>
          <a:lstStyle/>
          <a:p>
            <a:pPr algn="l"/>
            <a:r>
              <a:rPr sz="3000" b="1" i="0">
                <a:solidFill>
                  <a:srgbClr val="1B2A41"/>
                </a:solidFill>
                <a:latin typeface="Arial"/>
              </a:rPr>
              <a:t>Từ điển Việt – Anh 3/5: rò rỉ, đánh giá</a:t>
            </a:r>
          </a:p>
        </p:txBody>
      </p:sp>
      <p:sp>
        <p:nvSpPr>
          <p:cNvPr id="4" name="TextBox 3"/>
          <p:cNvSpPr txBox="1"/>
          <p:nvPr/>
        </p:nvSpPr>
        <p:spPr>
          <a:xfrm>
            <a:off x="685800" y="1280160"/>
            <a:ext cx="1874520" cy="365760"/>
          </a:xfrm>
          <a:prstGeom prst="rect">
            <a:avLst/>
          </a:prstGeom>
          <a:noFill/>
        </p:spPr>
        <p:txBody>
          <a:bodyPr wrap="square" lIns="0" rIns="0" tIns="0" bIns="0" anchor="t">
            <a:spAutoFit/>
          </a:bodyPr>
          <a:lstStyle/>
          <a:p>
            <a:pPr algn="l"/>
            <a:r>
              <a:rPr sz="1100" b="1" i="0">
                <a:solidFill>
                  <a:srgbClr val="A77B06"/>
                </a:solidFill>
                <a:latin typeface="Arial"/>
              </a:rPr>
              <a:t>TIẾNG VIỆT</a:t>
            </a:r>
          </a:p>
        </p:txBody>
      </p:sp>
      <p:sp>
        <p:nvSpPr>
          <p:cNvPr id="5" name="TextBox 4"/>
          <p:cNvSpPr txBox="1"/>
          <p:nvPr/>
        </p:nvSpPr>
        <p:spPr>
          <a:xfrm>
            <a:off x="2834640" y="1280160"/>
            <a:ext cx="2286000" cy="365760"/>
          </a:xfrm>
          <a:prstGeom prst="rect">
            <a:avLst/>
          </a:prstGeom>
          <a:noFill/>
        </p:spPr>
        <p:txBody>
          <a:bodyPr wrap="square" lIns="0" rIns="0" tIns="0" bIns="0" anchor="t">
            <a:spAutoFit/>
          </a:bodyPr>
          <a:lstStyle/>
          <a:p>
            <a:pPr algn="l"/>
            <a:r>
              <a:rPr sz="1100" b="1" i="0">
                <a:solidFill>
                  <a:srgbClr val="5B6778"/>
                </a:solidFill>
                <a:latin typeface="Arial"/>
              </a:rPr>
              <a:t>ENGLISH</a:t>
            </a:r>
          </a:p>
        </p:txBody>
      </p:sp>
      <p:sp>
        <p:nvSpPr>
          <p:cNvPr id="6" name="TextBox 5"/>
          <p:cNvSpPr txBox="1"/>
          <p:nvPr/>
        </p:nvSpPr>
        <p:spPr>
          <a:xfrm>
            <a:off x="5394960" y="1280160"/>
            <a:ext cx="548640" cy="365760"/>
          </a:xfrm>
          <a:prstGeom prst="rect">
            <a:avLst/>
          </a:prstGeom>
          <a:noFill/>
        </p:spPr>
        <p:txBody>
          <a:bodyPr wrap="square" lIns="0" rIns="0" tIns="0" bIns="0" anchor="t">
            <a:spAutoFit/>
          </a:bodyPr>
          <a:lstStyle/>
          <a:p>
            <a:pPr algn="l"/>
            <a:r>
              <a:rPr sz="1100" b="1" i="0">
                <a:solidFill>
                  <a:srgbClr val="5B6778"/>
                </a:solidFill>
                <a:latin typeface="Arial"/>
              </a:rPr>
              <a:t>BUỔI</a:t>
            </a:r>
          </a:p>
        </p:txBody>
      </p:sp>
      <p:sp>
        <p:nvSpPr>
          <p:cNvPr id="7" name="Rounded Rectangle 6"/>
          <p:cNvSpPr/>
          <p:nvPr/>
        </p:nvSpPr>
        <p:spPr>
          <a:xfrm>
            <a:off x="548640" y="1691639"/>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691639"/>
            <a:ext cx="1874520" cy="438912"/>
          </a:xfrm>
          <a:prstGeom prst="rect">
            <a:avLst/>
          </a:prstGeom>
          <a:noFill/>
        </p:spPr>
        <p:txBody>
          <a:bodyPr wrap="square" lIns="0" rIns="0" tIns="0" bIns="0" anchor="ctr">
            <a:spAutoFit/>
          </a:bodyPr>
          <a:lstStyle/>
          <a:p>
            <a:pPr algn="l"/>
            <a:r>
              <a:rPr sz="1300" b="1" i="0">
                <a:solidFill>
                  <a:srgbClr val="1B2A41"/>
                </a:solidFill>
                <a:latin typeface="Arial"/>
              </a:rPr>
              <a:t>che khuất / gắn cờ oan</a:t>
            </a:r>
          </a:p>
        </p:txBody>
      </p:sp>
      <p:sp>
        <p:nvSpPr>
          <p:cNvPr id="9" name="TextBox 8"/>
          <p:cNvSpPr txBox="1"/>
          <p:nvPr/>
        </p:nvSpPr>
        <p:spPr>
          <a:xfrm>
            <a:off x="2834640" y="1691639"/>
            <a:ext cx="2286000" cy="438912"/>
          </a:xfrm>
          <a:prstGeom prst="rect">
            <a:avLst/>
          </a:prstGeom>
          <a:noFill/>
        </p:spPr>
        <p:txBody>
          <a:bodyPr wrap="square" lIns="0" rIns="0" tIns="0" bIns="0" anchor="ctr">
            <a:spAutoFit/>
          </a:bodyPr>
          <a:lstStyle/>
          <a:p>
            <a:pPr algn="l"/>
            <a:r>
              <a:rPr sz="1300" b="0" i="0">
                <a:solidFill>
                  <a:srgbClr val="1B2A41"/>
                </a:solidFill>
                <a:latin typeface="Arial"/>
              </a:rPr>
              <a:t>masking / swamping</a:t>
            </a:r>
          </a:p>
        </p:txBody>
      </p:sp>
      <p:sp>
        <p:nvSpPr>
          <p:cNvPr id="10" name="TextBox 9"/>
          <p:cNvSpPr txBox="1"/>
          <p:nvPr/>
        </p:nvSpPr>
        <p:spPr>
          <a:xfrm>
            <a:off x="5394960" y="1691639"/>
            <a:ext cx="548640" cy="438912"/>
          </a:xfrm>
          <a:prstGeom prst="rect">
            <a:avLst/>
          </a:prstGeom>
          <a:noFill/>
        </p:spPr>
        <p:txBody>
          <a:bodyPr wrap="square" lIns="0" rIns="0" tIns="0" bIns="0" anchor="ctr">
            <a:spAutoFit/>
          </a:bodyPr>
          <a:lstStyle/>
          <a:p>
            <a:pPr algn="l"/>
            <a:r>
              <a:rPr sz="1300" b="0" i="0">
                <a:solidFill>
                  <a:srgbClr val="5B6778"/>
                </a:solidFill>
                <a:latin typeface="Arial"/>
              </a:rPr>
              <a:t>11</a:t>
            </a:r>
          </a:p>
        </p:txBody>
      </p:sp>
      <p:sp>
        <p:nvSpPr>
          <p:cNvPr id="11" name="TextBox 10"/>
          <p:cNvSpPr txBox="1"/>
          <p:nvPr/>
        </p:nvSpPr>
        <p:spPr>
          <a:xfrm>
            <a:off x="685800" y="2167128"/>
            <a:ext cx="1874520" cy="438912"/>
          </a:xfrm>
          <a:prstGeom prst="rect">
            <a:avLst/>
          </a:prstGeom>
          <a:noFill/>
        </p:spPr>
        <p:txBody>
          <a:bodyPr wrap="square" lIns="0" rIns="0" tIns="0" bIns="0" anchor="ctr">
            <a:spAutoFit/>
          </a:bodyPr>
          <a:lstStyle/>
          <a:p>
            <a:pPr algn="l"/>
            <a:r>
              <a:rPr sz="1300" b="1" i="0">
                <a:solidFill>
                  <a:srgbClr val="1B2A41"/>
                </a:solidFill>
                <a:latin typeface="Arial"/>
              </a:rPr>
              <a:t>độ lệch tuyệt đối trung vị</a:t>
            </a:r>
          </a:p>
        </p:txBody>
      </p:sp>
      <p:sp>
        <p:nvSpPr>
          <p:cNvPr id="12" name="TextBox 11"/>
          <p:cNvSpPr txBox="1"/>
          <p:nvPr/>
        </p:nvSpPr>
        <p:spPr>
          <a:xfrm>
            <a:off x="2834640" y="2167128"/>
            <a:ext cx="2286000" cy="438912"/>
          </a:xfrm>
          <a:prstGeom prst="rect">
            <a:avLst/>
          </a:prstGeom>
          <a:noFill/>
        </p:spPr>
        <p:txBody>
          <a:bodyPr wrap="square" lIns="0" rIns="0" tIns="0" bIns="0" anchor="ctr">
            <a:spAutoFit/>
          </a:bodyPr>
          <a:lstStyle/>
          <a:p>
            <a:pPr algn="l"/>
            <a:r>
              <a:rPr sz="1300" b="0" i="0">
                <a:solidFill>
                  <a:srgbClr val="1B2A41"/>
                </a:solidFill>
                <a:latin typeface="Arial"/>
              </a:rPr>
              <a:t>median absolute deviation (MAD)</a:t>
            </a:r>
          </a:p>
        </p:txBody>
      </p:sp>
      <p:sp>
        <p:nvSpPr>
          <p:cNvPr id="13" name="TextBox 12"/>
          <p:cNvSpPr txBox="1"/>
          <p:nvPr/>
        </p:nvSpPr>
        <p:spPr>
          <a:xfrm>
            <a:off x="5394960" y="2167128"/>
            <a:ext cx="548640" cy="438912"/>
          </a:xfrm>
          <a:prstGeom prst="rect">
            <a:avLst/>
          </a:prstGeom>
          <a:noFill/>
        </p:spPr>
        <p:txBody>
          <a:bodyPr wrap="square" lIns="0" rIns="0" tIns="0" bIns="0" anchor="ctr">
            <a:spAutoFit/>
          </a:bodyPr>
          <a:lstStyle/>
          <a:p>
            <a:pPr algn="l"/>
            <a:r>
              <a:rPr sz="1300" b="0" i="0">
                <a:solidFill>
                  <a:srgbClr val="5B6778"/>
                </a:solidFill>
                <a:latin typeface="Arial"/>
              </a:rPr>
              <a:t>11</a:t>
            </a:r>
          </a:p>
        </p:txBody>
      </p:sp>
      <p:sp>
        <p:nvSpPr>
          <p:cNvPr id="14" name="Rounded Rectangle 13"/>
          <p:cNvSpPr/>
          <p:nvPr/>
        </p:nvSpPr>
        <p:spPr>
          <a:xfrm>
            <a:off x="548640" y="2642615"/>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2642615"/>
            <a:ext cx="1874520" cy="438912"/>
          </a:xfrm>
          <a:prstGeom prst="rect">
            <a:avLst/>
          </a:prstGeom>
          <a:noFill/>
        </p:spPr>
        <p:txBody>
          <a:bodyPr wrap="square" lIns="0" rIns="0" tIns="0" bIns="0" anchor="ctr">
            <a:spAutoFit/>
          </a:bodyPr>
          <a:lstStyle/>
          <a:p>
            <a:pPr algn="l"/>
            <a:r>
              <a:rPr sz="1300" b="1" i="0">
                <a:solidFill>
                  <a:srgbClr val="1B2A41"/>
                </a:solidFill>
                <a:latin typeface="Arial"/>
              </a:rPr>
              <a:t>điểm gãy</a:t>
            </a:r>
          </a:p>
        </p:txBody>
      </p:sp>
      <p:sp>
        <p:nvSpPr>
          <p:cNvPr id="16" name="TextBox 15"/>
          <p:cNvSpPr txBox="1"/>
          <p:nvPr/>
        </p:nvSpPr>
        <p:spPr>
          <a:xfrm>
            <a:off x="2834640" y="2642615"/>
            <a:ext cx="2286000" cy="438912"/>
          </a:xfrm>
          <a:prstGeom prst="rect">
            <a:avLst/>
          </a:prstGeom>
          <a:noFill/>
        </p:spPr>
        <p:txBody>
          <a:bodyPr wrap="square" lIns="0" rIns="0" tIns="0" bIns="0" anchor="ctr">
            <a:spAutoFit/>
          </a:bodyPr>
          <a:lstStyle/>
          <a:p>
            <a:pPr algn="l"/>
            <a:r>
              <a:rPr sz="1300" b="0" i="0">
                <a:solidFill>
                  <a:srgbClr val="1B2A41"/>
                </a:solidFill>
                <a:latin typeface="Arial"/>
              </a:rPr>
              <a:t>structural break, changepoint</a:t>
            </a:r>
          </a:p>
        </p:txBody>
      </p:sp>
      <p:sp>
        <p:nvSpPr>
          <p:cNvPr id="17" name="TextBox 16"/>
          <p:cNvSpPr txBox="1"/>
          <p:nvPr/>
        </p:nvSpPr>
        <p:spPr>
          <a:xfrm>
            <a:off x="5394960" y="2642615"/>
            <a:ext cx="548640" cy="438912"/>
          </a:xfrm>
          <a:prstGeom prst="rect">
            <a:avLst/>
          </a:prstGeom>
          <a:noFill/>
        </p:spPr>
        <p:txBody>
          <a:bodyPr wrap="square" lIns="0" rIns="0" tIns="0" bIns="0" anchor="ctr">
            <a:spAutoFit/>
          </a:bodyPr>
          <a:lstStyle/>
          <a:p>
            <a:pPr algn="l"/>
            <a:r>
              <a:rPr sz="1300" b="0" i="0">
                <a:solidFill>
                  <a:srgbClr val="5B6778"/>
                </a:solidFill>
                <a:latin typeface="Arial"/>
              </a:rPr>
              <a:t>11</a:t>
            </a:r>
          </a:p>
        </p:txBody>
      </p:sp>
      <p:sp>
        <p:nvSpPr>
          <p:cNvPr id="18" name="TextBox 17"/>
          <p:cNvSpPr txBox="1"/>
          <p:nvPr/>
        </p:nvSpPr>
        <p:spPr>
          <a:xfrm>
            <a:off x="685800" y="3118104"/>
            <a:ext cx="1874520" cy="438912"/>
          </a:xfrm>
          <a:prstGeom prst="rect">
            <a:avLst/>
          </a:prstGeom>
          <a:noFill/>
        </p:spPr>
        <p:txBody>
          <a:bodyPr wrap="square" lIns="0" rIns="0" tIns="0" bIns="0" anchor="ctr">
            <a:spAutoFit/>
          </a:bodyPr>
          <a:lstStyle/>
          <a:p>
            <a:pPr algn="l"/>
            <a:r>
              <a:rPr sz="1300" b="1" i="0">
                <a:solidFill>
                  <a:srgbClr val="1B2A41"/>
                </a:solidFill>
                <a:latin typeface="Arial"/>
              </a:rPr>
              <a:t>nhật ký sự kiện, biến giả</a:t>
            </a:r>
          </a:p>
        </p:txBody>
      </p:sp>
      <p:sp>
        <p:nvSpPr>
          <p:cNvPr id="19" name="TextBox 18"/>
          <p:cNvSpPr txBox="1"/>
          <p:nvPr/>
        </p:nvSpPr>
        <p:spPr>
          <a:xfrm>
            <a:off x="2834640" y="3118104"/>
            <a:ext cx="2286000" cy="438912"/>
          </a:xfrm>
          <a:prstGeom prst="rect">
            <a:avLst/>
          </a:prstGeom>
          <a:noFill/>
        </p:spPr>
        <p:txBody>
          <a:bodyPr wrap="square" lIns="0" rIns="0" tIns="0" bIns="0" anchor="ctr">
            <a:spAutoFit/>
          </a:bodyPr>
          <a:lstStyle/>
          <a:p>
            <a:pPr algn="l"/>
            <a:r>
              <a:rPr sz="1300" b="0" i="0">
                <a:solidFill>
                  <a:srgbClr val="1B2A41"/>
                </a:solidFill>
                <a:latin typeface="Arial"/>
              </a:rPr>
              <a:t>event log, dummy variable</a:t>
            </a:r>
          </a:p>
        </p:txBody>
      </p:sp>
      <p:sp>
        <p:nvSpPr>
          <p:cNvPr id="20" name="TextBox 19"/>
          <p:cNvSpPr txBox="1"/>
          <p:nvPr/>
        </p:nvSpPr>
        <p:spPr>
          <a:xfrm>
            <a:off x="5394960" y="3118104"/>
            <a:ext cx="548640" cy="438912"/>
          </a:xfrm>
          <a:prstGeom prst="rect">
            <a:avLst/>
          </a:prstGeom>
          <a:noFill/>
        </p:spPr>
        <p:txBody>
          <a:bodyPr wrap="square" lIns="0" rIns="0" tIns="0" bIns="0" anchor="ctr">
            <a:spAutoFit/>
          </a:bodyPr>
          <a:lstStyle/>
          <a:p>
            <a:pPr algn="l"/>
            <a:r>
              <a:rPr sz="1300" b="0" i="0">
                <a:solidFill>
                  <a:srgbClr val="5B6778"/>
                </a:solidFill>
                <a:latin typeface="Arial"/>
              </a:rPr>
              <a:t>11</a:t>
            </a:r>
          </a:p>
        </p:txBody>
      </p:sp>
      <p:sp>
        <p:nvSpPr>
          <p:cNvPr id="21" name="Rounded Rectangle 20"/>
          <p:cNvSpPr/>
          <p:nvPr/>
        </p:nvSpPr>
        <p:spPr>
          <a:xfrm>
            <a:off x="548640" y="3593591"/>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593591"/>
            <a:ext cx="1874520" cy="438912"/>
          </a:xfrm>
          <a:prstGeom prst="rect">
            <a:avLst/>
          </a:prstGeom>
          <a:noFill/>
        </p:spPr>
        <p:txBody>
          <a:bodyPr wrap="square" lIns="0" rIns="0" tIns="0" bIns="0" anchor="ctr">
            <a:spAutoFit/>
          </a:bodyPr>
          <a:lstStyle/>
          <a:p>
            <a:pPr algn="l"/>
            <a:r>
              <a:rPr sz="1300" b="1" i="0">
                <a:solidFill>
                  <a:srgbClr val="1B2A41"/>
                </a:solidFill>
                <a:latin typeface="Arial"/>
              </a:rPr>
              <a:t>bộ lọc nhân quả</a:t>
            </a:r>
          </a:p>
        </p:txBody>
      </p:sp>
      <p:sp>
        <p:nvSpPr>
          <p:cNvPr id="23" name="TextBox 22"/>
          <p:cNvSpPr txBox="1"/>
          <p:nvPr/>
        </p:nvSpPr>
        <p:spPr>
          <a:xfrm>
            <a:off x="2834640" y="3593591"/>
            <a:ext cx="2286000" cy="438912"/>
          </a:xfrm>
          <a:prstGeom prst="rect">
            <a:avLst/>
          </a:prstGeom>
          <a:noFill/>
        </p:spPr>
        <p:txBody>
          <a:bodyPr wrap="square" lIns="0" rIns="0" tIns="0" bIns="0" anchor="ctr">
            <a:spAutoFit/>
          </a:bodyPr>
          <a:lstStyle/>
          <a:p>
            <a:pPr algn="l"/>
            <a:r>
              <a:rPr sz="1300" b="0" i="0">
                <a:solidFill>
                  <a:srgbClr val="1B2A41"/>
                </a:solidFill>
                <a:latin typeface="Arial"/>
              </a:rPr>
              <a:t>causal filter</a:t>
            </a:r>
          </a:p>
        </p:txBody>
      </p:sp>
      <p:sp>
        <p:nvSpPr>
          <p:cNvPr id="24" name="TextBox 23"/>
          <p:cNvSpPr txBox="1"/>
          <p:nvPr/>
        </p:nvSpPr>
        <p:spPr>
          <a:xfrm>
            <a:off x="5394960" y="3593591"/>
            <a:ext cx="548640" cy="438912"/>
          </a:xfrm>
          <a:prstGeom prst="rect">
            <a:avLst/>
          </a:prstGeom>
          <a:noFill/>
        </p:spPr>
        <p:txBody>
          <a:bodyPr wrap="square" lIns="0" rIns="0" tIns="0" bIns="0" anchor="ctr">
            <a:spAutoFit/>
          </a:bodyPr>
          <a:lstStyle/>
          <a:p>
            <a:pPr algn="l"/>
            <a:r>
              <a:rPr sz="1300" b="0" i="0">
                <a:solidFill>
                  <a:srgbClr val="5B6778"/>
                </a:solidFill>
                <a:latin typeface="Arial"/>
              </a:rPr>
              <a:t>12</a:t>
            </a:r>
          </a:p>
        </p:txBody>
      </p:sp>
      <p:sp>
        <p:nvSpPr>
          <p:cNvPr id="25" name="TextBox 24"/>
          <p:cNvSpPr txBox="1"/>
          <p:nvPr/>
        </p:nvSpPr>
        <p:spPr>
          <a:xfrm>
            <a:off x="685800" y="4069080"/>
            <a:ext cx="1874520" cy="438912"/>
          </a:xfrm>
          <a:prstGeom prst="rect">
            <a:avLst/>
          </a:prstGeom>
          <a:noFill/>
        </p:spPr>
        <p:txBody>
          <a:bodyPr wrap="square" lIns="0" rIns="0" tIns="0" bIns="0" anchor="ctr">
            <a:spAutoFit/>
          </a:bodyPr>
          <a:lstStyle/>
          <a:p>
            <a:pPr algn="l"/>
            <a:r>
              <a:rPr sz="1300" b="1" i="0">
                <a:solidFill>
                  <a:srgbClr val="1B2A41"/>
                </a:solidFill>
                <a:latin typeface="Arial"/>
              </a:rPr>
              <a:t>tần số Nyquist</a:t>
            </a:r>
          </a:p>
        </p:txBody>
      </p:sp>
      <p:sp>
        <p:nvSpPr>
          <p:cNvPr id="26" name="TextBox 25"/>
          <p:cNvSpPr txBox="1"/>
          <p:nvPr/>
        </p:nvSpPr>
        <p:spPr>
          <a:xfrm>
            <a:off x="2834640" y="4069080"/>
            <a:ext cx="2286000" cy="438912"/>
          </a:xfrm>
          <a:prstGeom prst="rect">
            <a:avLst/>
          </a:prstGeom>
          <a:noFill/>
        </p:spPr>
        <p:txBody>
          <a:bodyPr wrap="square" lIns="0" rIns="0" tIns="0" bIns="0" anchor="ctr">
            <a:spAutoFit/>
          </a:bodyPr>
          <a:lstStyle/>
          <a:p>
            <a:pPr algn="l"/>
            <a:r>
              <a:rPr sz="1300" b="0" i="0">
                <a:solidFill>
                  <a:srgbClr val="1B2A41"/>
                </a:solidFill>
                <a:latin typeface="Arial"/>
              </a:rPr>
              <a:t>Nyquist frequency</a:t>
            </a:r>
          </a:p>
        </p:txBody>
      </p:sp>
      <p:sp>
        <p:nvSpPr>
          <p:cNvPr id="27" name="TextBox 26"/>
          <p:cNvSpPr txBox="1"/>
          <p:nvPr/>
        </p:nvSpPr>
        <p:spPr>
          <a:xfrm>
            <a:off x="5394960" y="4069080"/>
            <a:ext cx="548640" cy="438912"/>
          </a:xfrm>
          <a:prstGeom prst="rect">
            <a:avLst/>
          </a:prstGeom>
          <a:noFill/>
        </p:spPr>
        <p:txBody>
          <a:bodyPr wrap="square" lIns="0" rIns="0" tIns="0" bIns="0" anchor="ctr">
            <a:spAutoFit/>
          </a:bodyPr>
          <a:lstStyle/>
          <a:p>
            <a:pPr algn="l"/>
            <a:r>
              <a:rPr sz="1300" b="0" i="0">
                <a:solidFill>
                  <a:srgbClr val="5B6778"/>
                </a:solidFill>
                <a:latin typeface="Arial"/>
              </a:rPr>
              <a:t>12</a:t>
            </a:r>
          </a:p>
        </p:txBody>
      </p:sp>
      <p:sp>
        <p:nvSpPr>
          <p:cNvPr id="28" name="Rounded Rectangle 27"/>
          <p:cNvSpPr/>
          <p:nvPr/>
        </p:nvSpPr>
        <p:spPr>
          <a:xfrm>
            <a:off x="548640" y="4544568"/>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4544568"/>
            <a:ext cx="1874520" cy="438912"/>
          </a:xfrm>
          <a:prstGeom prst="rect">
            <a:avLst/>
          </a:prstGeom>
          <a:noFill/>
        </p:spPr>
        <p:txBody>
          <a:bodyPr wrap="square" lIns="0" rIns="0" tIns="0" bIns="0" anchor="ctr">
            <a:spAutoFit/>
          </a:bodyPr>
          <a:lstStyle/>
          <a:p>
            <a:pPr algn="l"/>
            <a:r>
              <a:rPr sz="1300" b="1" i="0">
                <a:solidFill>
                  <a:srgbClr val="1B2A41"/>
                </a:solidFill>
                <a:latin typeface="Arial"/>
              </a:rPr>
              <a:t>rò rỉ tương lai</a:t>
            </a:r>
          </a:p>
        </p:txBody>
      </p:sp>
      <p:sp>
        <p:nvSpPr>
          <p:cNvPr id="30" name="TextBox 29"/>
          <p:cNvSpPr txBox="1"/>
          <p:nvPr/>
        </p:nvSpPr>
        <p:spPr>
          <a:xfrm>
            <a:off x="2834640" y="4544568"/>
            <a:ext cx="2286000" cy="438912"/>
          </a:xfrm>
          <a:prstGeom prst="rect">
            <a:avLst/>
          </a:prstGeom>
          <a:noFill/>
        </p:spPr>
        <p:txBody>
          <a:bodyPr wrap="square" lIns="0" rIns="0" tIns="0" bIns="0" anchor="ctr">
            <a:spAutoFit/>
          </a:bodyPr>
          <a:lstStyle/>
          <a:p>
            <a:pPr algn="l"/>
            <a:r>
              <a:rPr sz="1300" b="0" i="0">
                <a:solidFill>
                  <a:srgbClr val="1B2A41"/>
                </a:solidFill>
                <a:latin typeface="Arial"/>
              </a:rPr>
              <a:t>data leakage, look-ahead bias</a:t>
            </a:r>
          </a:p>
        </p:txBody>
      </p:sp>
      <p:sp>
        <p:nvSpPr>
          <p:cNvPr id="31" name="TextBox 30"/>
          <p:cNvSpPr txBox="1"/>
          <p:nvPr/>
        </p:nvSpPr>
        <p:spPr>
          <a:xfrm>
            <a:off x="5394960" y="4544568"/>
            <a:ext cx="548640" cy="438912"/>
          </a:xfrm>
          <a:prstGeom prst="rect">
            <a:avLst/>
          </a:prstGeom>
          <a:noFill/>
        </p:spPr>
        <p:txBody>
          <a:bodyPr wrap="square" lIns="0" rIns="0" tIns="0" bIns="0" anchor="ctr">
            <a:spAutoFit/>
          </a:bodyPr>
          <a:lstStyle/>
          <a:p>
            <a:pPr algn="l"/>
            <a:r>
              <a:rPr sz="1300" b="0" i="0">
                <a:solidFill>
                  <a:srgbClr val="5B6778"/>
                </a:solidFill>
                <a:latin typeface="Arial"/>
              </a:rPr>
              <a:t>13</a:t>
            </a:r>
          </a:p>
        </p:txBody>
      </p:sp>
      <p:sp>
        <p:nvSpPr>
          <p:cNvPr id="32" name="TextBox 31"/>
          <p:cNvSpPr txBox="1"/>
          <p:nvPr/>
        </p:nvSpPr>
        <p:spPr>
          <a:xfrm>
            <a:off x="685800" y="5020056"/>
            <a:ext cx="1874520" cy="438912"/>
          </a:xfrm>
          <a:prstGeom prst="rect">
            <a:avLst/>
          </a:prstGeom>
          <a:noFill/>
        </p:spPr>
        <p:txBody>
          <a:bodyPr wrap="square" lIns="0" rIns="0" tIns="0" bIns="0" anchor="ctr">
            <a:spAutoFit/>
          </a:bodyPr>
          <a:lstStyle/>
          <a:p>
            <a:pPr algn="l"/>
            <a:r>
              <a:rPr sz="1300" b="1" i="0">
                <a:solidFill>
                  <a:srgbClr val="1B2A41"/>
                </a:solidFill>
                <a:latin typeface="Arial"/>
              </a:rPr>
              <a:t>feature trễ / cửa sổ trượt</a:t>
            </a:r>
          </a:p>
        </p:txBody>
      </p:sp>
      <p:sp>
        <p:nvSpPr>
          <p:cNvPr id="33" name="TextBox 32"/>
          <p:cNvSpPr txBox="1"/>
          <p:nvPr/>
        </p:nvSpPr>
        <p:spPr>
          <a:xfrm>
            <a:off x="2834640" y="5020056"/>
            <a:ext cx="2286000" cy="438912"/>
          </a:xfrm>
          <a:prstGeom prst="rect">
            <a:avLst/>
          </a:prstGeom>
          <a:noFill/>
        </p:spPr>
        <p:txBody>
          <a:bodyPr wrap="square" lIns="0" rIns="0" tIns="0" bIns="0" anchor="ctr">
            <a:spAutoFit/>
          </a:bodyPr>
          <a:lstStyle/>
          <a:p>
            <a:pPr algn="l"/>
            <a:r>
              <a:rPr sz="1300" b="0" i="0">
                <a:solidFill>
                  <a:srgbClr val="1B2A41"/>
                </a:solidFill>
                <a:latin typeface="Arial"/>
              </a:rPr>
              <a:t>lag / rolling feature</a:t>
            </a:r>
          </a:p>
        </p:txBody>
      </p:sp>
      <p:sp>
        <p:nvSpPr>
          <p:cNvPr id="34" name="TextBox 33"/>
          <p:cNvSpPr txBox="1"/>
          <p:nvPr/>
        </p:nvSpPr>
        <p:spPr>
          <a:xfrm>
            <a:off x="5394960" y="5020056"/>
            <a:ext cx="548640" cy="438912"/>
          </a:xfrm>
          <a:prstGeom prst="rect">
            <a:avLst/>
          </a:prstGeom>
          <a:noFill/>
        </p:spPr>
        <p:txBody>
          <a:bodyPr wrap="square" lIns="0" rIns="0" tIns="0" bIns="0" anchor="ctr">
            <a:spAutoFit/>
          </a:bodyPr>
          <a:lstStyle/>
          <a:p>
            <a:pPr algn="l"/>
            <a:r>
              <a:rPr sz="1300" b="0" i="0">
                <a:solidFill>
                  <a:srgbClr val="5B6778"/>
                </a:solidFill>
                <a:latin typeface="Arial"/>
              </a:rPr>
              <a:t>13</a:t>
            </a:r>
          </a:p>
        </p:txBody>
      </p:sp>
      <p:sp>
        <p:nvSpPr>
          <p:cNvPr id="35" name="Rounded Rectangle 34"/>
          <p:cNvSpPr/>
          <p:nvPr/>
        </p:nvSpPr>
        <p:spPr>
          <a:xfrm>
            <a:off x="548640" y="5495544"/>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800" y="5495544"/>
            <a:ext cx="1874520" cy="438912"/>
          </a:xfrm>
          <a:prstGeom prst="rect">
            <a:avLst/>
          </a:prstGeom>
          <a:noFill/>
        </p:spPr>
        <p:txBody>
          <a:bodyPr wrap="square" lIns="0" rIns="0" tIns="0" bIns="0" anchor="ctr">
            <a:spAutoFit/>
          </a:bodyPr>
          <a:lstStyle/>
          <a:p>
            <a:pPr algn="l"/>
            <a:r>
              <a:rPr sz="1300" b="1" i="0">
                <a:solidFill>
                  <a:srgbClr val="1B2A41"/>
                </a:solidFill>
                <a:latin typeface="Arial"/>
              </a:rPr>
              <a:t>point-in-time</a:t>
            </a:r>
          </a:p>
        </p:txBody>
      </p:sp>
      <p:sp>
        <p:nvSpPr>
          <p:cNvPr id="37" name="TextBox 36"/>
          <p:cNvSpPr txBox="1"/>
          <p:nvPr/>
        </p:nvSpPr>
        <p:spPr>
          <a:xfrm>
            <a:off x="2834640" y="5495544"/>
            <a:ext cx="2286000" cy="438912"/>
          </a:xfrm>
          <a:prstGeom prst="rect">
            <a:avLst/>
          </a:prstGeom>
          <a:noFill/>
        </p:spPr>
        <p:txBody>
          <a:bodyPr wrap="square" lIns="0" rIns="0" tIns="0" bIns="0" anchor="ctr">
            <a:spAutoFit/>
          </a:bodyPr>
          <a:lstStyle/>
          <a:p>
            <a:pPr algn="l"/>
            <a:r>
              <a:rPr sz="1300" b="0" i="0">
                <a:solidFill>
                  <a:srgbClr val="1B2A41"/>
                </a:solidFill>
                <a:latin typeface="Arial"/>
              </a:rPr>
              <a:t>point-in-time</a:t>
            </a:r>
          </a:p>
        </p:txBody>
      </p:sp>
      <p:sp>
        <p:nvSpPr>
          <p:cNvPr id="38" name="TextBox 37"/>
          <p:cNvSpPr txBox="1"/>
          <p:nvPr/>
        </p:nvSpPr>
        <p:spPr>
          <a:xfrm>
            <a:off x="5394960" y="5495544"/>
            <a:ext cx="548640" cy="438912"/>
          </a:xfrm>
          <a:prstGeom prst="rect">
            <a:avLst/>
          </a:prstGeom>
          <a:noFill/>
        </p:spPr>
        <p:txBody>
          <a:bodyPr wrap="square" lIns="0" rIns="0" tIns="0" bIns="0" anchor="ctr">
            <a:spAutoFit/>
          </a:bodyPr>
          <a:lstStyle/>
          <a:p>
            <a:pPr algn="l"/>
            <a:r>
              <a:rPr sz="1300" b="0" i="0">
                <a:solidFill>
                  <a:srgbClr val="5B6778"/>
                </a:solidFill>
                <a:latin typeface="Arial"/>
              </a:rPr>
              <a:t>13</a:t>
            </a:r>
          </a:p>
        </p:txBody>
      </p:sp>
      <p:sp>
        <p:nvSpPr>
          <p:cNvPr id="39" name="TextBox 38"/>
          <p:cNvSpPr txBox="1"/>
          <p:nvPr/>
        </p:nvSpPr>
        <p:spPr>
          <a:xfrm>
            <a:off x="685800" y="5971031"/>
            <a:ext cx="1874520" cy="438912"/>
          </a:xfrm>
          <a:prstGeom prst="rect">
            <a:avLst/>
          </a:prstGeom>
          <a:noFill/>
        </p:spPr>
        <p:txBody>
          <a:bodyPr wrap="square" lIns="0" rIns="0" tIns="0" bIns="0" anchor="ctr">
            <a:spAutoFit/>
          </a:bodyPr>
          <a:lstStyle/>
          <a:p>
            <a:pPr algn="l"/>
            <a:r>
              <a:rPr sz="1300" b="1" i="0">
                <a:solidFill>
                  <a:srgbClr val="1B2A41"/>
                </a:solidFill>
                <a:latin typeface="Arial"/>
              </a:rPr>
              <a:t>trong mẫu / ngoài mẫu</a:t>
            </a:r>
          </a:p>
        </p:txBody>
      </p:sp>
      <p:sp>
        <p:nvSpPr>
          <p:cNvPr id="40" name="TextBox 39"/>
          <p:cNvSpPr txBox="1"/>
          <p:nvPr/>
        </p:nvSpPr>
        <p:spPr>
          <a:xfrm>
            <a:off x="2834640" y="5971031"/>
            <a:ext cx="2286000" cy="438912"/>
          </a:xfrm>
          <a:prstGeom prst="rect">
            <a:avLst/>
          </a:prstGeom>
          <a:noFill/>
        </p:spPr>
        <p:txBody>
          <a:bodyPr wrap="square" lIns="0" rIns="0" tIns="0" bIns="0" anchor="ctr">
            <a:spAutoFit/>
          </a:bodyPr>
          <a:lstStyle/>
          <a:p>
            <a:pPr algn="l"/>
            <a:r>
              <a:rPr sz="1300" b="0" i="0">
                <a:solidFill>
                  <a:srgbClr val="1B2A41"/>
                </a:solidFill>
                <a:latin typeface="Arial"/>
              </a:rPr>
              <a:t>in-sample / out-of-sample</a:t>
            </a:r>
          </a:p>
        </p:txBody>
      </p:sp>
      <p:sp>
        <p:nvSpPr>
          <p:cNvPr id="41" name="TextBox 40"/>
          <p:cNvSpPr txBox="1"/>
          <p:nvPr/>
        </p:nvSpPr>
        <p:spPr>
          <a:xfrm>
            <a:off x="5394960" y="5971031"/>
            <a:ext cx="548640" cy="438912"/>
          </a:xfrm>
          <a:prstGeom prst="rect">
            <a:avLst/>
          </a:prstGeom>
          <a:noFill/>
        </p:spPr>
        <p:txBody>
          <a:bodyPr wrap="square" lIns="0" rIns="0" tIns="0" bIns="0" anchor="ctr">
            <a:spAutoFit/>
          </a:bodyPr>
          <a:lstStyle/>
          <a:p>
            <a:pPr algn="l"/>
            <a:r>
              <a:rPr sz="1300" b="0" i="0">
                <a:solidFill>
                  <a:srgbClr val="5B6778"/>
                </a:solidFill>
                <a:latin typeface="Arial"/>
              </a:rPr>
              <a:t>14</a:t>
            </a:r>
          </a:p>
        </p:txBody>
      </p:sp>
      <p:sp>
        <p:nvSpPr>
          <p:cNvPr id="42" name="TextBox 41"/>
          <p:cNvSpPr txBox="1"/>
          <p:nvPr/>
        </p:nvSpPr>
        <p:spPr>
          <a:xfrm>
            <a:off x="6245352" y="1280160"/>
            <a:ext cx="1874520" cy="365760"/>
          </a:xfrm>
          <a:prstGeom prst="rect">
            <a:avLst/>
          </a:prstGeom>
          <a:noFill/>
        </p:spPr>
        <p:txBody>
          <a:bodyPr wrap="square" lIns="0" rIns="0" tIns="0" bIns="0" anchor="t">
            <a:spAutoFit/>
          </a:bodyPr>
          <a:lstStyle/>
          <a:p>
            <a:pPr algn="l"/>
            <a:r>
              <a:rPr sz="1100" b="1" i="0">
                <a:solidFill>
                  <a:srgbClr val="A77B06"/>
                </a:solidFill>
                <a:latin typeface="Arial"/>
              </a:rPr>
              <a:t>TIẾNG VIỆT</a:t>
            </a:r>
          </a:p>
        </p:txBody>
      </p:sp>
      <p:sp>
        <p:nvSpPr>
          <p:cNvPr id="43" name="TextBox 42"/>
          <p:cNvSpPr txBox="1"/>
          <p:nvPr/>
        </p:nvSpPr>
        <p:spPr>
          <a:xfrm>
            <a:off x="8394192" y="1280160"/>
            <a:ext cx="2286000" cy="365760"/>
          </a:xfrm>
          <a:prstGeom prst="rect">
            <a:avLst/>
          </a:prstGeom>
          <a:noFill/>
        </p:spPr>
        <p:txBody>
          <a:bodyPr wrap="square" lIns="0" rIns="0" tIns="0" bIns="0" anchor="t">
            <a:spAutoFit/>
          </a:bodyPr>
          <a:lstStyle/>
          <a:p>
            <a:pPr algn="l"/>
            <a:r>
              <a:rPr sz="1100" b="1" i="0">
                <a:solidFill>
                  <a:srgbClr val="5B6778"/>
                </a:solidFill>
                <a:latin typeface="Arial"/>
              </a:rPr>
              <a:t>ENGLISH</a:t>
            </a:r>
          </a:p>
        </p:txBody>
      </p:sp>
      <p:sp>
        <p:nvSpPr>
          <p:cNvPr id="44" name="TextBox 43"/>
          <p:cNvSpPr txBox="1"/>
          <p:nvPr/>
        </p:nvSpPr>
        <p:spPr>
          <a:xfrm>
            <a:off x="10954511" y="1280160"/>
            <a:ext cx="548640" cy="365760"/>
          </a:xfrm>
          <a:prstGeom prst="rect">
            <a:avLst/>
          </a:prstGeom>
          <a:noFill/>
        </p:spPr>
        <p:txBody>
          <a:bodyPr wrap="square" lIns="0" rIns="0" tIns="0" bIns="0" anchor="t">
            <a:spAutoFit/>
          </a:bodyPr>
          <a:lstStyle/>
          <a:p>
            <a:pPr algn="l"/>
            <a:r>
              <a:rPr sz="1100" b="1" i="0">
                <a:solidFill>
                  <a:srgbClr val="5B6778"/>
                </a:solidFill>
                <a:latin typeface="Arial"/>
              </a:rPr>
              <a:t>BUỔI</a:t>
            </a:r>
          </a:p>
        </p:txBody>
      </p:sp>
      <p:sp>
        <p:nvSpPr>
          <p:cNvPr id="45" name="Rounded Rectangle 44"/>
          <p:cNvSpPr/>
          <p:nvPr/>
        </p:nvSpPr>
        <p:spPr>
          <a:xfrm>
            <a:off x="6108191" y="1691639"/>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245351" y="1691639"/>
            <a:ext cx="1874520" cy="438912"/>
          </a:xfrm>
          <a:prstGeom prst="rect">
            <a:avLst/>
          </a:prstGeom>
          <a:noFill/>
        </p:spPr>
        <p:txBody>
          <a:bodyPr wrap="square" lIns="0" rIns="0" tIns="0" bIns="0" anchor="ctr">
            <a:spAutoFit/>
          </a:bodyPr>
          <a:lstStyle/>
          <a:p>
            <a:pPr algn="l"/>
            <a:r>
              <a:rPr sz="1300" b="1" i="0">
                <a:solidFill>
                  <a:srgbClr val="1B2A41"/>
                </a:solidFill>
                <a:latin typeface="Arial"/>
              </a:rPr>
              <a:t>sai số tuyệt đối trung bình</a:t>
            </a:r>
          </a:p>
        </p:txBody>
      </p:sp>
      <p:sp>
        <p:nvSpPr>
          <p:cNvPr id="47" name="TextBox 46"/>
          <p:cNvSpPr txBox="1"/>
          <p:nvPr/>
        </p:nvSpPr>
        <p:spPr>
          <a:xfrm>
            <a:off x="8394192" y="1691639"/>
            <a:ext cx="2286000" cy="438912"/>
          </a:xfrm>
          <a:prstGeom prst="rect">
            <a:avLst/>
          </a:prstGeom>
          <a:noFill/>
        </p:spPr>
        <p:txBody>
          <a:bodyPr wrap="square" lIns="0" rIns="0" tIns="0" bIns="0" anchor="ctr">
            <a:spAutoFit/>
          </a:bodyPr>
          <a:lstStyle/>
          <a:p>
            <a:pPr algn="l"/>
            <a:r>
              <a:rPr sz="1300" b="0" i="0">
                <a:solidFill>
                  <a:srgbClr val="1B2A41"/>
                </a:solidFill>
                <a:latin typeface="Arial"/>
              </a:rPr>
              <a:t>mean absolute error (MAE)</a:t>
            </a:r>
          </a:p>
        </p:txBody>
      </p:sp>
      <p:sp>
        <p:nvSpPr>
          <p:cNvPr id="48" name="TextBox 47"/>
          <p:cNvSpPr txBox="1"/>
          <p:nvPr/>
        </p:nvSpPr>
        <p:spPr>
          <a:xfrm>
            <a:off x="10954511" y="1691639"/>
            <a:ext cx="548640" cy="438912"/>
          </a:xfrm>
          <a:prstGeom prst="rect">
            <a:avLst/>
          </a:prstGeom>
          <a:noFill/>
        </p:spPr>
        <p:txBody>
          <a:bodyPr wrap="square" lIns="0" rIns="0" tIns="0" bIns="0" anchor="ctr">
            <a:spAutoFit/>
          </a:bodyPr>
          <a:lstStyle/>
          <a:p>
            <a:pPr algn="l"/>
            <a:r>
              <a:rPr sz="1300" b="0" i="0">
                <a:solidFill>
                  <a:srgbClr val="5B6778"/>
                </a:solidFill>
                <a:latin typeface="Arial"/>
              </a:rPr>
              <a:t>14</a:t>
            </a:r>
          </a:p>
        </p:txBody>
      </p:sp>
      <p:sp>
        <p:nvSpPr>
          <p:cNvPr id="49" name="TextBox 48"/>
          <p:cNvSpPr txBox="1"/>
          <p:nvPr/>
        </p:nvSpPr>
        <p:spPr>
          <a:xfrm>
            <a:off x="6245351" y="2167128"/>
            <a:ext cx="1874520" cy="438912"/>
          </a:xfrm>
          <a:prstGeom prst="rect">
            <a:avLst/>
          </a:prstGeom>
          <a:noFill/>
        </p:spPr>
        <p:txBody>
          <a:bodyPr wrap="square" lIns="0" rIns="0" tIns="0" bIns="0" anchor="ctr">
            <a:spAutoFit/>
          </a:bodyPr>
          <a:lstStyle/>
          <a:p>
            <a:pPr algn="l"/>
            <a:r>
              <a:rPr sz="1300" b="1" i="0">
                <a:solidFill>
                  <a:srgbClr val="1B2A41"/>
                </a:solidFill>
                <a:latin typeface="Arial"/>
              </a:rPr>
              <a:t>căn sai số bình phương TB</a:t>
            </a:r>
          </a:p>
        </p:txBody>
      </p:sp>
      <p:sp>
        <p:nvSpPr>
          <p:cNvPr id="50" name="TextBox 49"/>
          <p:cNvSpPr txBox="1"/>
          <p:nvPr/>
        </p:nvSpPr>
        <p:spPr>
          <a:xfrm>
            <a:off x="8394192" y="2167128"/>
            <a:ext cx="2286000" cy="438912"/>
          </a:xfrm>
          <a:prstGeom prst="rect">
            <a:avLst/>
          </a:prstGeom>
          <a:noFill/>
        </p:spPr>
        <p:txBody>
          <a:bodyPr wrap="square" lIns="0" rIns="0" tIns="0" bIns="0" anchor="ctr">
            <a:spAutoFit/>
          </a:bodyPr>
          <a:lstStyle/>
          <a:p>
            <a:pPr algn="l"/>
            <a:r>
              <a:rPr sz="1300" b="0" i="0">
                <a:solidFill>
                  <a:srgbClr val="1B2A41"/>
                </a:solidFill>
                <a:latin typeface="Arial"/>
              </a:rPr>
              <a:t>root mean squared error (RMSE)</a:t>
            </a:r>
          </a:p>
        </p:txBody>
      </p:sp>
      <p:sp>
        <p:nvSpPr>
          <p:cNvPr id="51" name="TextBox 50"/>
          <p:cNvSpPr txBox="1"/>
          <p:nvPr/>
        </p:nvSpPr>
        <p:spPr>
          <a:xfrm>
            <a:off x="10954511" y="2167128"/>
            <a:ext cx="548640" cy="438912"/>
          </a:xfrm>
          <a:prstGeom prst="rect">
            <a:avLst/>
          </a:prstGeom>
          <a:noFill/>
        </p:spPr>
        <p:txBody>
          <a:bodyPr wrap="square" lIns="0" rIns="0" tIns="0" bIns="0" anchor="ctr">
            <a:spAutoFit/>
          </a:bodyPr>
          <a:lstStyle/>
          <a:p>
            <a:pPr algn="l"/>
            <a:r>
              <a:rPr sz="1300" b="0" i="0">
                <a:solidFill>
                  <a:srgbClr val="5B6778"/>
                </a:solidFill>
                <a:latin typeface="Arial"/>
              </a:rPr>
              <a:t>14</a:t>
            </a:r>
          </a:p>
        </p:txBody>
      </p:sp>
      <p:sp>
        <p:nvSpPr>
          <p:cNvPr id="52" name="Rounded Rectangle 51"/>
          <p:cNvSpPr/>
          <p:nvPr/>
        </p:nvSpPr>
        <p:spPr>
          <a:xfrm>
            <a:off x="6108191" y="2642615"/>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45351" y="2642615"/>
            <a:ext cx="1874520" cy="438912"/>
          </a:xfrm>
          <a:prstGeom prst="rect">
            <a:avLst/>
          </a:prstGeom>
          <a:noFill/>
        </p:spPr>
        <p:txBody>
          <a:bodyPr wrap="square" lIns="0" rIns="0" tIns="0" bIns="0" anchor="ctr">
            <a:spAutoFit/>
          </a:bodyPr>
          <a:lstStyle/>
          <a:p>
            <a:pPr algn="l"/>
            <a:r>
              <a:rPr sz="1300" b="1" i="0">
                <a:solidFill>
                  <a:srgbClr val="1B2A41"/>
                </a:solidFill>
                <a:latin typeface="Arial"/>
              </a:rPr>
              <a:t>độ chệch</a:t>
            </a:r>
          </a:p>
        </p:txBody>
      </p:sp>
      <p:sp>
        <p:nvSpPr>
          <p:cNvPr id="54" name="TextBox 53"/>
          <p:cNvSpPr txBox="1"/>
          <p:nvPr/>
        </p:nvSpPr>
        <p:spPr>
          <a:xfrm>
            <a:off x="8394192" y="2642615"/>
            <a:ext cx="2286000" cy="438912"/>
          </a:xfrm>
          <a:prstGeom prst="rect">
            <a:avLst/>
          </a:prstGeom>
          <a:noFill/>
        </p:spPr>
        <p:txBody>
          <a:bodyPr wrap="square" lIns="0" rIns="0" tIns="0" bIns="0" anchor="ctr">
            <a:spAutoFit/>
          </a:bodyPr>
          <a:lstStyle/>
          <a:p>
            <a:pPr algn="l"/>
            <a:r>
              <a:rPr sz="1300" b="0" i="0">
                <a:solidFill>
                  <a:srgbClr val="1B2A41"/>
                </a:solidFill>
                <a:latin typeface="Arial"/>
              </a:rPr>
              <a:t>mean error (bias)</a:t>
            </a:r>
          </a:p>
        </p:txBody>
      </p:sp>
      <p:sp>
        <p:nvSpPr>
          <p:cNvPr id="55" name="TextBox 54"/>
          <p:cNvSpPr txBox="1"/>
          <p:nvPr/>
        </p:nvSpPr>
        <p:spPr>
          <a:xfrm>
            <a:off x="10954511" y="2642615"/>
            <a:ext cx="548640" cy="438912"/>
          </a:xfrm>
          <a:prstGeom prst="rect">
            <a:avLst/>
          </a:prstGeom>
          <a:noFill/>
        </p:spPr>
        <p:txBody>
          <a:bodyPr wrap="square" lIns="0" rIns="0" tIns="0" bIns="0" anchor="ctr">
            <a:spAutoFit/>
          </a:bodyPr>
          <a:lstStyle/>
          <a:p>
            <a:pPr algn="l"/>
            <a:r>
              <a:rPr sz="1300" b="0" i="0">
                <a:solidFill>
                  <a:srgbClr val="5B6778"/>
                </a:solidFill>
                <a:latin typeface="Arial"/>
              </a:rPr>
              <a:t>14</a:t>
            </a:r>
          </a:p>
        </p:txBody>
      </p:sp>
      <p:sp>
        <p:nvSpPr>
          <p:cNvPr id="56" name="TextBox 55"/>
          <p:cNvSpPr txBox="1"/>
          <p:nvPr/>
        </p:nvSpPr>
        <p:spPr>
          <a:xfrm>
            <a:off x="6245351" y="3118104"/>
            <a:ext cx="1874520" cy="438912"/>
          </a:xfrm>
          <a:prstGeom prst="rect">
            <a:avLst/>
          </a:prstGeom>
          <a:noFill/>
        </p:spPr>
        <p:txBody>
          <a:bodyPr wrap="square" lIns="0" rIns="0" tIns="0" bIns="0" anchor="ctr">
            <a:spAutoFit/>
          </a:bodyPr>
          <a:lstStyle/>
          <a:p>
            <a:pPr algn="l"/>
            <a:r>
              <a:rPr sz="1300" b="1" i="0">
                <a:solidFill>
                  <a:srgbClr val="1B2A41"/>
                </a:solidFill>
                <a:latin typeface="Arial"/>
              </a:rPr>
              <a:t>sai số có chia thang</a:t>
            </a:r>
          </a:p>
        </p:txBody>
      </p:sp>
      <p:sp>
        <p:nvSpPr>
          <p:cNvPr id="57" name="TextBox 56"/>
          <p:cNvSpPr txBox="1"/>
          <p:nvPr/>
        </p:nvSpPr>
        <p:spPr>
          <a:xfrm>
            <a:off x="8394192" y="3118104"/>
            <a:ext cx="2286000" cy="438912"/>
          </a:xfrm>
          <a:prstGeom prst="rect">
            <a:avLst/>
          </a:prstGeom>
          <a:noFill/>
        </p:spPr>
        <p:txBody>
          <a:bodyPr wrap="square" lIns="0" rIns="0" tIns="0" bIns="0" anchor="ctr">
            <a:spAutoFit/>
          </a:bodyPr>
          <a:lstStyle/>
          <a:p>
            <a:pPr algn="l"/>
            <a:r>
              <a:rPr sz="1300" b="0" i="0">
                <a:solidFill>
                  <a:srgbClr val="1B2A41"/>
                </a:solidFill>
                <a:latin typeface="Arial"/>
              </a:rPr>
              <a:t>scaled error (MASE, RMSSE)</a:t>
            </a:r>
          </a:p>
        </p:txBody>
      </p:sp>
      <p:sp>
        <p:nvSpPr>
          <p:cNvPr id="58" name="TextBox 57"/>
          <p:cNvSpPr txBox="1"/>
          <p:nvPr/>
        </p:nvSpPr>
        <p:spPr>
          <a:xfrm>
            <a:off x="10954511" y="3118104"/>
            <a:ext cx="548640" cy="438912"/>
          </a:xfrm>
          <a:prstGeom prst="rect">
            <a:avLst/>
          </a:prstGeom>
          <a:noFill/>
        </p:spPr>
        <p:txBody>
          <a:bodyPr wrap="square" lIns="0" rIns="0" tIns="0" bIns="0" anchor="ctr">
            <a:spAutoFit/>
          </a:bodyPr>
          <a:lstStyle/>
          <a:p>
            <a:pPr algn="l"/>
            <a:r>
              <a:rPr sz="1300" b="0" i="0">
                <a:solidFill>
                  <a:srgbClr val="5B6778"/>
                </a:solidFill>
                <a:latin typeface="Arial"/>
              </a:rPr>
              <a:t>14</a:t>
            </a:r>
          </a:p>
        </p:txBody>
      </p:sp>
      <p:sp>
        <p:nvSpPr>
          <p:cNvPr id="59" name="Rounded Rectangle 58"/>
          <p:cNvSpPr/>
          <p:nvPr/>
        </p:nvSpPr>
        <p:spPr>
          <a:xfrm>
            <a:off x="6108191" y="3593591"/>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45351" y="3593591"/>
            <a:ext cx="1874520" cy="438912"/>
          </a:xfrm>
          <a:prstGeom prst="rect">
            <a:avLst/>
          </a:prstGeom>
          <a:noFill/>
        </p:spPr>
        <p:txBody>
          <a:bodyPr wrap="square" lIns="0" rIns="0" tIns="0" bIns="0" anchor="ctr">
            <a:spAutoFit/>
          </a:bodyPr>
          <a:lstStyle/>
          <a:p>
            <a:pPr algn="l"/>
            <a:r>
              <a:rPr sz="1300" b="1" i="0">
                <a:solidFill>
                  <a:srgbClr val="1B2A41"/>
                </a:solidFill>
                <a:latin typeface="Arial"/>
              </a:rPr>
              <a:t>backtest</a:t>
            </a:r>
          </a:p>
        </p:txBody>
      </p:sp>
      <p:sp>
        <p:nvSpPr>
          <p:cNvPr id="61" name="TextBox 60"/>
          <p:cNvSpPr txBox="1"/>
          <p:nvPr/>
        </p:nvSpPr>
        <p:spPr>
          <a:xfrm>
            <a:off x="8394192" y="3593591"/>
            <a:ext cx="2286000" cy="438912"/>
          </a:xfrm>
          <a:prstGeom prst="rect">
            <a:avLst/>
          </a:prstGeom>
          <a:noFill/>
        </p:spPr>
        <p:txBody>
          <a:bodyPr wrap="square" lIns="0" rIns="0" tIns="0" bIns="0" anchor="ctr">
            <a:spAutoFit/>
          </a:bodyPr>
          <a:lstStyle/>
          <a:p>
            <a:pPr algn="l"/>
            <a:r>
              <a:rPr sz="1300" b="0" i="0">
                <a:solidFill>
                  <a:srgbClr val="1B2A41"/>
                </a:solidFill>
                <a:latin typeface="Arial"/>
              </a:rPr>
              <a:t>backtest</a:t>
            </a:r>
          </a:p>
        </p:txBody>
      </p:sp>
      <p:sp>
        <p:nvSpPr>
          <p:cNvPr id="62" name="TextBox 61"/>
          <p:cNvSpPr txBox="1"/>
          <p:nvPr/>
        </p:nvSpPr>
        <p:spPr>
          <a:xfrm>
            <a:off x="10954511" y="3593591"/>
            <a:ext cx="548640" cy="438912"/>
          </a:xfrm>
          <a:prstGeom prst="rect">
            <a:avLst/>
          </a:prstGeom>
          <a:noFill/>
        </p:spPr>
        <p:txBody>
          <a:bodyPr wrap="square" lIns="0" rIns="0" tIns="0" bIns="0" anchor="ctr">
            <a:spAutoFit/>
          </a:bodyPr>
          <a:lstStyle/>
          <a:p>
            <a:pPr algn="l"/>
            <a:r>
              <a:rPr sz="1300" b="0" i="0">
                <a:solidFill>
                  <a:srgbClr val="5B6778"/>
                </a:solidFill>
                <a:latin typeface="Arial"/>
              </a:rPr>
              <a:t>15</a:t>
            </a:r>
          </a:p>
        </p:txBody>
      </p:sp>
      <p:sp>
        <p:nvSpPr>
          <p:cNvPr id="63" name="TextBox 62"/>
          <p:cNvSpPr txBox="1"/>
          <p:nvPr/>
        </p:nvSpPr>
        <p:spPr>
          <a:xfrm>
            <a:off x="6245351" y="4069080"/>
            <a:ext cx="1874520" cy="438912"/>
          </a:xfrm>
          <a:prstGeom prst="rect">
            <a:avLst/>
          </a:prstGeom>
          <a:noFill/>
        </p:spPr>
        <p:txBody>
          <a:bodyPr wrap="square" lIns="0" rIns="0" tIns="0" bIns="0" anchor="ctr">
            <a:spAutoFit/>
          </a:bodyPr>
          <a:lstStyle/>
          <a:p>
            <a:pPr algn="l"/>
            <a:r>
              <a:rPr sz="1300" b="1" i="0">
                <a:solidFill>
                  <a:srgbClr val="1B2A41"/>
                </a:solidFill>
                <a:latin typeface="Arial"/>
              </a:rPr>
              <a:t>rolling origin</a:t>
            </a:r>
          </a:p>
        </p:txBody>
      </p:sp>
      <p:sp>
        <p:nvSpPr>
          <p:cNvPr id="64" name="TextBox 63"/>
          <p:cNvSpPr txBox="1"/>
          <p:nvPr/>
        </p:nvSpPr>
        <p:spPr>
          <a:xfrm>
            <a:off x="8394192" y="4069080"/>
            <a:ext cx="2286000" cy="438912"/>
          </a:xfrm>
          <a:prstGeom prst="rect">
            <a:avLst/>
          </a:prstGeom>
          <a:noFill/>
        </p:spPr>
        <p:txBody>
          <a:bodyPr wrap="square" lIns="0" rIns="0" tIns="0" bIns="0" anchor="ctr">
            <a:spAutoFit/>
          </a:bodyPr>
          <a:lstStyle/>
          <a:p>
            <a:pPr algn="l"/>
            <a:r>
              <a:rPr sz="1300" b="0" i="0">
                <a:solidFill>
                  <a:srgbClr val="1B2A41"/>
                </a:solidFill>
                <a:latin typeface="Arial"/>
              </a:rPr>
              <a:t>rolling origin, time series cross-validation</a:t>
            </a:r>
          </a:p>
        </p:txBody>
      </p:sp>
      <p:sp>
        <p:nvSpPr>
          <p:cNvPr id="65" name="TextBox 64"/>
          <p:cNvSpPr txBox="1"/>
          <p:nvPr/>
        </p:nvSpPr>
        <p:spPr>
          <a:xfrm>
            <a:off x="10954511" y="4069080"/>
            <a:ext cx="548640" cy="438912"/>
          </a:xfrm>
          <a:prstGeom prst="rect">
            <a:avLst/>
          </a:prstGeom>
          <a:noFill/>
        </p:spPr>
        <p:txBody>
          <a:bodyPr wrap="square" lIns="0" rIns="0" tIns="0" bIns="0" anchor="ctr">
            <a:spAutoFit/>
          </a:bodyPr>
          <a:lstStyle/>
          <a:p>
            <a:pPr algn="l"/>
            <a:r>
              <a:rPr sz="1300" b="0" i="0">
                <a:solidFill>
                  <a:srgbClr val="5B6778"/>
                </a:solidFill>
                <a:latin typeface="Arial"/>
              </a:rPr>
              <a:t>15</a:t>
            </a:r>
          </a:p>
        </p:txBody>
      </p:sp>
      <p:sp>
        <p:nvSpPr>
          <p:cNvPr id="66" name="Rounded Rectangle 65"/>
          <p:cNvSpPr/>
          <p:nvPr/>
        </p:nvSpPr>
        <p:spPr>
          <a:xfrm>
            <a:off x="6108191" y="4544568"/>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245351" y="4544568"/>
            <a:ext cx="1874520" cy="438912"/>
          </a:xfrm>
          <a:prstGeom prst="rect">
            <a:avLst/>
          </a:prstGeom>
          <a:noFill/>
        </p:spPr>
        <p:txBody>
          <a:bodyPr wrap="square" lIns="0" rIns="0" tIns="0" bIns="0" anchor="ctr">
            <a:spAutoFit/>
          </a:bodyPr>
          <a:lstStyle/>
          <a:p>
            <a:pPr algn="l"/>
            <a:r>
              <a:rPr sz="1300" b="1" i="0">
                <a:solidFill>
                  <a:srgbClr val="1B2A41"/>
                </a:solidFill>
                <a:latin typeface="Arial"/>
              </a:rPr>
              <a:t>cửa sổ mở rộng / trượt</a:t>
            </a:r>
          </a:p>
        </p:txBody>
      </p:sp>
      <p:sp>
        <p:nvSpPr>
          <p:cNvPr id="68" name="TextBox 67"/>
          <p:cNvSpPr txBox="1"/>
          <p:nvPr/>
        </p:nvSpPr>
        <p:spPr>
          <a:xfrm>
            <a:off x="8394192" y="4544568"/>
            <a:ext cx="2286000" cy="438912"/>
          </a:xfrm>
          <a:prstGeom prst="rect">
            <a:avLst/>
          </a:prstGeom>
          <a:noFill/>
        </p:spPr>
        <p:txBody>
          <a:bodyPr wrap="square" lIns="0" rIns="0" tIns="0" bIns="0" anchor="ctr">
            <a:spAutoFit/>
          </a:bodyPr>
          <a:lstStyle/>
          <a:p>
            <a:pPr algn="l"/>
            <a:r>
              <a:rPr sz="1300" b="0" i="0">
                <a:solidFill>
                  <a:srgbClr val="1B2A41"/>
                </a:solidFill>
                <a:latin typeface="Arial"/>
              </a:rPr>
              <a:t>expanding / sliding window</a:t>
            </a:r>
          </a:p>
        </p:txBody>
      </p:sp>
      <p:sp>
        <p:nvSpPr>
          <p:cNvPr id="69" name="TextBox 68"/>
          <p:cNvSpPr txBox="1"/>
          <p:nvPr/>
        </p:nvSpPr>
        <p:spPr>
          <a:xfrm>
            <a:off x="10954511" y="4544568"/>
            <a:ext cx="548640" cy="438912"/>
          </a:xfrm>
          <a:prstGeom prst="rect">
            <a:avLst/>
          </a:prstGeom>
          <a:noFill/>
        </p:spPr>
        <p:txBody>
          <a:bodyPr wrap="square" lIns="0" rIns="0" tIns="0" bIns="0" anchor="ctr">
            <a:spAutoFit/>
          </a:bodyPr>
          <a:lstStyle/>
          <a:p>
            <a:pPr algn="l"/>
            <a:r>
              <a:rPr sz="1300" b="0" i="0">
                <a:solidFill>
                  <a:srgbClr val="5B6778"/>
                </a:solidFill>
                <a:latin typeface="Arial"/>
              </a:rPr>
              <a:t>15</a:t>
            </a:r>
          </a:p>
        </p:txBody>
      </p:sp>
      <p:sp>
        <p:nvSpPr>
          <p:cNvPr id="70" name="TextBox 69"/>
          <p:cNvSpPr txBox="1"/>
          <p:nvPr/>
        </p:nvSpPr>
        <p:spPr>
          <a:xfrm>
            <a:off x="6245351" y="5020056"/>
            <a:ext cx="1874520" cy="438912"/>
          </a:xfrm>
          <a:prstGeom prst="rect">
            <a:avLst/>
          </a:prstGeom>
          <a:noFill/>
        </p:spPr>
        <p:txBody>
          <a:bodyPr wrap="square" lIns="0" rIns="0" tIns="0" bIns="0" anchor="ctr">
            <a:spAutoFit/>
          </a:bodyPr>
          <a:lstStyle/>
          <a:p>
            <a:pPr algn="l"/>
            <a:r>
              <a:rPr sz="1300" b="1" i="0">
                <a:solidFill>
                  <a:srgbClr val="1B2A41"/>
                </a:solidFill>
                <a:latin typeface="Arial"/>
              </a:rPr>
              <a:t>khoảng đệm</a:t>
            </a:r>
          </a:p>
        </p:txBody>
      </p:sp>
      <p:sp>
        <p:nvSpPr>
          <p:cNvPr id="71" name="TextBox 70"/>
          <p:cNvSpPr txBox="1"/>
          <p:nvPr/>
        </p:nvSpPr>
        <p:spPr>
          <a:xfrm>
            <a:off x="8394192" y="5020056"/>
            <a:ext cx="2286000" cy="438912"/>
          </a:xfrm>
          <a:prstGeom prst="rect">
            <a:avLst/>
          </a:prstGeom>
          <a:noFill/>
        </p:spPr>
        <p:txBody>
          <a:bodyPr wrap="square" lIns="0" rIns="0" tIns="0" bIns="0" anchor="ctr">
            <a:spAutoFit/>
          </a:bodyPr>
          <a:lstStyle/>
          <a:p>
            <a:pPr algn="l"/>
            <a:r>
              <a:rPr sz="1300" b="0" i="0">
                <a:solidFill>
                  <a:srgbClr val="1B2A41"/>
                </a:solidFill>
                <a:latin typeface="Arial"/>
              </a:rPr>
              <a:t>gap</a:t>
            </a:r>
          </a:p>
        </p:txBody>
      </p:sp>
      <p:sp>
        <p:nvSpPr>
          <p:cNvPr id="72" name="TextBox 71"/>
          <p:cNvSpPr txBox="1"/>
          <p:nvPr/>
        </p:nvSpPr>
        <p:spPr>
          <a:xfrm>
            <a:off x="10954511" y="5020056"/>
            <a:ext cx="548640" cy="438912"/>
          </a:xfrm>
          <a:prstGeom prst="rect">
            <a:avLst/>
          </a:prstGeom>
          <a:noFill/>
        </p:spPr>
        <p:txBody>
          <a:bodyPr wrap="square" lIns="0" rIns="0" tIns="0" bIns="0" anchor="ctr">
            <a:spAutoFit/>
          </a:bodyPr>
          <a:lstStyle/>
          <a:p>
            <a:pPr algn="l"/>
            <a:r>
              <a:rPr sz="1300" b="0" i="0">
                <a:solidFill>
                  <a:srgbClr val="5B6778"/>
                </a:solidFill>
                <a:latin typeface="Arial"/>
              </a:rPr>
              <a:t>15</a:t>
            </a:r>
          </a:p>
        </p:txBody>
      </p:sp>
      <p:sp>
        <p:nvSpPr>
          <p:cNvPr id="73" name="Rounded Rectangle 72"/>
          <p:cNvSpPr/>
          <p:nvPr/>
        </p:nvSpPr>
        <p:spPr>
          <a:xfrm>
            <a:off x="6108191" y="5495544"/>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245351" y="5495544"/>
            <a:ext cx="1874520" cy="438912"/>
          </a:xfrm>
          <a:prstGeom prst="rect">
            <a:avLst/>
          </a:prstGeom>
          <a:noFill/>
        </p:spPr>
        <p:txBody>
          <a:bodyPr wrap="square" lIns="0" rIns="0" tIns="0" bIns="0" anchor="ctr">
            <a:spAutoFit/>
          </a:bodyPr>
          <a:lstStyle/>
          <a:p>
            <a:pPr algn="l"/>
            <a:r>
              <a:rPr sz="1300" b="1" i="0">
                <a:solidFill>
                  <a:srgbClr val="1B2A41"/>
                </a:solidFill>
                <a:latin typeface="Arial"/>
              </a:rPr>
              <a:t>tập giữ lại</a:t>
            </a:r>
          </a:p>
        </p:txBody>
      </p:sp>
      <p:sp>
        <p:nvSpPr>
          <p:cNvPr id="75" name="TextBox 74"/>
          <p:cNvSpPr txBox="1"/>
          <p:nvPr/>
        </p:nvSpPr>
        <p:spPr>
          <a:xfrm>
            <a:off x="8394192" y="5495544"/>
            <a:ext cx="2286000" cy="438912"/>
          </a:xfrm>
          <a:prstGeom prst="rect">
            <a:avLst/>
          </a:prstGeom>
          <a:noFill/>
        </p:spPr>
        <p:txBody>
          <a:bodyPr wrap="square" lIns="0" rIns="0" tIns="0" bIns="0" anchor="ctr">
            <a:spAutoFit/>
          </a:bodyPr>
          <a:lstStyle/>
          <a:p>
            <a:pPr algn="l"/>
            <a:r>
              <a:rPr sz="1300" b="0" i="0">
                <a:solidFill>
                  <a:srgbClr val="1B2A41"/>
                </a:solidFill>
                <a:latin typeface="Arial"/>
              </a:rPr>
              <a:t>hold-out set</a:t>
            </a:r>
          </a:p>
        </p:txBody>
      </p:sp>
      <p:sp>
        <p:nvSpPr>
          <p:cNvPr id="76" name="TextBox 75"/>
          <p:cNvSpPr txBox="1"/>
          <p:nvPr/>
        </p:nvSpPr>
        <p:spPr>
          <a:xfrm>
            <a:off x="10954511" y="5495544"/>
            <a:ext cx="548640" cy="438912"/>
          </a:xfrm>
          <a:prstGeom prst="rect">
            <a:avLst/>
          </a:prstGeom>
          <a:noFill/>
        </p:spPr>
        <p:txBody>
          <a:bodyPr wrap="square" lIns="0" rIns="0" tIns="0" bIns="0" anchor="ctr">
            <a:spAutoFit/>
          </a:bodyPr>
          <a:lstStyle/>
          <a:p>
            <a:pPr algn="l"/>
            <a:r>
              <a:rPr sz="1300" b="0" i="0">
                <a:solidFill>
                  <a:srgbClr val="5B6778"/>
                </a:solidFill>
                <a:latin typeface="Arial"/>
              </a:rPr>
              <a:t>15</a:t>
            </a:r>
          </a:p>
        </p:txBody>
      </p:sp>
      <p:sp>
        <p:nvSpPr>
          <p:cNvPr id="77" name="TextBox 76"/>
          <p:cNvSpPr txBox="1"/>
          <p:nvPr/>
        </p:nvSpPr>
        <p:spPr>
          <a:xfrm>
            <a:off x="6245351" y="5971031"/>
            <a:ext cx="1874520" cy="438912"/>
          </a:xfrm>
          <a:prstGeom prst="rect">
            <a:avLst/>
          </a:prstGeom>
          <a:noFill/>
        </p:spPr>
        <p:txBody>
          <a:bodyPr wrap="square" lIns="0" rIns="0" tIns="0" bIns="0" anchor="ctr">
            <a:spAutoFit/>
          </a:bodyPr>
          <a:lstStyle/>
          <a:p>
            <a:pPr algn="l"/>
            <a:r>
              <a:rPr sz="1300" b="1" i="0">
                <a:solidFill>
                  <a:srgbClr val="1B2A41"/>
                </a:solidFill>
                <a:latin typeface="Arial"/>
              </a:rPr>
              <a:t>kiểm định Diebold–Mariano</a:t>
            </a:r>
          </a:p>
        </p:txBody>
      </p:sp>
      <p:sp>
        <p:nvSpPr>
          <p:cNvPr id="78" name="TextBox 77"/>
          <p:cNvSpPr txBox="1"/>
          <p:nvPr/>
        </p:nvSpPr>
        <p:spPr>
          <a:xfrm>
            <a:off x="8394192" y="5971031"/>
            <a:ext cx="2286000" cy="438912"/>
          </a:xfrm>
          <a:prstGeom prst="rect">
            <a:avLst/>
          </a:prstGeom>
          <a:noFill/>
        </p:spPr>
        <p:txBody>
          <a:bodyPr wrap="square" lIns="0" rIns="0" tIns="0" bIns="0" anchor="ctr">
            <a:spAutoFit/>
          </a:bodyPr>
          <a:lstStyle/>
          <a:p>
            <a:pPr algn="l"/>
            <a:r>
              <a:rPr sz="1300" b="0" i="0">
                <a:solidFill>
                  <a:srgbClr val="1B2A41"/>
                </a:solidFill>
                <a:latin typeface="Arial"/>
              </a:rPr>
              <a:t>Diebold–Mariano test</a:t>
            </a:r>
          </a:p>
        </p:txBody>
      </p:sp>
      <p:sp>
        <p:nvSpPr>
          <p:cNvPr id="79" name="TextBox 78"/>
          <p:cNvSpPr txBox="1"/>
          <p:nvPr/>
        </p:nvSpPr>
        <p:spPr>
          <a:xfrm>
            <a:off x="10954511" y="5971031"/>
            <a:ext cx="548640" cy="438912"/>
          </a:xfrm>
          <a:prstGeom prst="rect">
            <a:avLst/>
          </a:prstGeom>
          <a:noFill/>
        </p:spPr>
        <p:txBody>
          <a:bodyPr wrap="square" lIns="0" rIns="0" tIns="0" bIns="0" anchor="ctr">
            <a:spAutoFit/>
          </a:bodyPr>
          <a:lstStyle/>
          <a:p>
            <a:pPr algn="l"/>
            <a:r>
              <a:rPr sz="1300" b="0" i="0">
                <a:solidFill>
                  <a:srgbClr val="5B6778"/>
                </a:solidFill>
                <a:latin typeface="Arial"/>
              </a:rPr>
              <a:t>15</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A77B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C</a:t>
            </a:r>
          </a:p>
        </p:txBody>
      </p:sp>
      <p:sp>
        <p:nvSpPr>
          <p:cNvPr id="3" name="TextBox 2"/>
          <p:cNvSpPr txBox="1"/>
          <p:nvPr/>
        </p:nvSpPr>
        <p:spPr>
          <a:xfrm>
            <a:off x="1325880" y="384048"/>
            <a:ext cx="10332720" cy="731520"/>
          </a:xfrm>
          <a:prstGeom prst="rect">
            <a:avLst/>
          </a:prstGeom>
          <a:noFill/>
        </p:spPr>
        <p:txBody>
          <a:bodyPr wrap="square" lIns="0" rIns="0" tIns="0" bIns="0" anchor="ctr">
            <a:spAutoFit/>
          </a:bodyPr>
          <a:lstStyle/>
          <a:p>
            <a:pPr algn="l"/>
            <a:r>
              <a:rPr sz="3000" b="1" i="0">
                <a:solidFill>
                  <a:srgbClr val="1B2A41"/>
                </a:solidFill>
                <a:latin typeface="Arial"/>
              </a:rPr>
              <a:t>Từ điển Việt – Anh 4/5: xác suất, biểu đồ, biến đổi</a:t>
            </a:r>
          </a:p>
        </p:txBody>
      </p:sp>
      <p:sp>
        <p:nvSpPr>
          <p:cNvPr id="4" name="TextBox 3"/>
          <p:cNvSpPr txBox="1"/>
          <p:nvPr/>
        </p:nvSpPr>
        <p:spPr>
          <a:xfrm>
            <a:off x="685800" y="1280160"/>
            <a:ext cx="1874520" cy="365760"/>
          </a:xfrm>
          <a:prstGeom prst="rect">
            <a:avLst/>
          </a:prstGeom>
          <a:noFill/>
        </p:spPr>
        <p:txBody>
          <a:bodyPr wrap="square" lIns="0" rIns="0" tIns="0" bIns="0" anchor="t">
            <a:spAutoFit/>
          </a:bodyPr>
          <a:lstStyle/>
          <a:p>
            <a:pPr algn="l"/>
            <a:r>
              <a:rPr sz="1100" b="1" i="0">
                <a:solidFill>
                  <a:srgbClr val="A77B06"/>
                </a:solidFill>
                <a:latin typeface="Arial"/>
              </a:rPr>
              <a:t>TIẾNG VIỆT</a:t>
            </a:r>
          </a:p>
        </p:txBody>
      </p:sp>
      <p:sp>
        <p:nvSpPr>
          <p:cNvPr id="5" name="TextBox 4"/>
          <p:cNvSpPr txBox="1"/>
          <p:nvPr/>
        </p:nvSpPr>
        <p:spPr>
          <a:xfrm>
            <a:off x="2834640" y="1280160"/>
            <a:ext cx="2286000" cy="365760"/>
          </a:xfrm>
          <a:prstGeom prst="rect">
            <a:avLst/>
          </a:prstGeom>
          <a:noFill/>
        </p:spPr>
        <p:txBody>
          <a:bodyPr wrap="square" lIns="0" rIns="0" tIns="0" bIns="0" anchor="t">
            <a:spAutoFit/>
          </a:bodyPr>
          <a:lstStyle/>
          <a:p>
            <a:pPr algn="l"/>
            <a:r>
              <a:rPr sz="1100" b="1" i="0">
                <a:solidFill>
                  <a:srgbClr val="5B6778"/>
                </a:solidFill>
                <a:latin typeface="Arial"/>
              </a:rPr>
              <a:t>ENGLISH</a:t>
            </a:r>
          </a:p>
        </p:txBody>
      </p:sp>
      <p:sp>
        <p:nvSpPr>
          <p:cNvPr id="6" name="TextBox 5"/>
          <p:cNvSpPr txBox="1"/>
          <p:nvPr/>
        </p:nvSpPr>
        <p:spPr>
          <a:xfrm>
            <a:off x="5394960" y="1280160"/>
            <a:ext cx="548640" cy="365760"/>
          </a:xfrm>
          <a:prstGeom prst="rect">
            <a:avLst/>
          </a:prstGeom>
          <a:noFill/>
        </p:spPr>
        <p:txBody>
          <a:bodyPr wrap="square" lIns="0" rIns="0" tIns="0" bIns="0" anchor="t">
            <a:spAutoFit/>
          </a:bodyPr>
          <a:lstStyle/>
          <a:p>
            <a:pPr algn="l"/>
            <a:r>
              <a:rPr sz="1100" b="1" i="0">
                <a:solidFill>
                  <a:srgbClr val="5B6778"/>
                </a:solidFill>
                <a:latin typeface="Arial"/>
              </a:rPr>
              <a:t>BUỔI</a:t>
            </a:r>
          </a:p>
        </p:txBody>
      </p:sp>
      <p:sp>
        <p:nvSpPr>
          <p:cNvPr id="7" name="Rounded Rectangle 6"/>
          <p:cNvSpPr/>
          <p:nvPr/>
        </p:nvSpPr>
        <p:spPr>
          <a:xfrm>
            <a:off x="548640" y="1691639"/>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691639"/>
            <a:ext cx="1874520" cy="438912"/>
          </a:xfrm>
          <a:prstGeom prst="rect">
            <a:avLst/>
          </a:prstGeom>
          <a:noFill/>
        </p:spPr>
        <p:txBody>
          <a:bodyPr wrap="square" lIns="0" rIns="0" tIns="0" bIns="0" anchor="ctr">
            <a:spAutoFit/>
          </a:bodyPr>
          <a:lstStyle/>
          <a:p>
            <a:pPr algn="l"/>
            <a:r>
              <a:rPr sz="1300" b="1" i="0">
                <a:solidFill>
                  <a:srgbClr val="1B2A41"/>
                </a:solidFill>
                <a:latin typeface="Arial"/>
              </a:rPr>
              <a:t>dự báo điểm / phân phối</a:t>
            </a:r>
          </a:p>
        </p:txBody>
      </p:sp>
      <p:sp>
        <p:nvSpPr>
          <p:cNvPr id="9" name="TextBox 8"/>
          <p:cNvSpPr txBox="1"/>
          <p:nvPr/>
        </p:nvSpPr>
        <p:spPr>
          <a:xfrm>
            <a:off x="2834640" y="1691639"/>
            <a:ext cx="2286000" cy="438912"/>
          </a:xfrm>
          <a:prstGeom prst="rect">
            <a:avLst/>
          </a:prstGeom>
          <a:noFill/>
        </p:spPr>
        <p:txBody>
          <a:bodyPr wrap="square" lIns="0" rIns="0" tIns="0" bIns="0" anchor="ctr">
            <a:spAutoFit/>
          </a:bodyPr>
          <a:lstStyle/>
          <a:p>
            <a:pPr algn="l"/>
            <a:r>
              <a:rPr sz="1300" b="0" i="0">
                <a:solidFill>
                  <a:srgbClr val="1B2A41"/>
                </a:solidFill>
                <a:latin typeface="Arial"/>
              </a:rPr>
              <a:t>point / probabilistic forecast</a:t>
            </a:r>
          </a:p>
        </p:txBody>
      </p:sp>
      <p:sp>
        <p:nvSpPr>
          <p:cNvPr id="10" name="TextBox 9"/>
          <p:cNvSpPr txBox="1"/>
          <p:nvPr/>
        </p:nvSpPr>
        <p:spPr>
          <a:xfrm>
            <a:off x="5394960" y="1691639"/>
            <a:ext cx="548640" cy="438912"/>
          </a:xfrm>
          <a:prstGeom prst="rect">
            <a:avLst/>
          </a:prstGeom>
          <a:noFill/>
        </p:spPr>
        <p:txBody>
          <a:bodyPr wrap="square" lIns="0" rIns="0" tIns="0" bIns="0" anchor="ctr">
            <a:spAutoFit/>
          </a:bodyPr>
          <a:lstStyle/>
          <a:p>
            <a:pPr algn="l"/>
            <a:r>
              <a:rPr sz="1300" b="0" i="0">
                <a:solidFill>
                  <a:srgbClr val="5B6778"/>
                </a:solidFill>
                <a:latin typeface="Arial"/>
              </a:rPr>
              <a:t>1</a:t>
            </a:r>
          </a:p>
        </p:txBody>
      </p:sp>
      <p:sp>
        <p:nvSpPr>
          <p:cNvPr id="11" name="TextBox 10"/>
          <p:cNvSpPr txBox="1"/>
          <p:nvPr/>
        </p:nvSpPr>
        <p:spPr>
          <a:xfrm>
            <a:off x="685800" y="2167128"/>
            <a:ext cx="1874520" cy="438912"/>
          </a:xfrm>
          <a:prstGeom prst="rect">
            <a:avLst/>
          </a:prstGeom>
          <a:noFill/>
        </p:spPr>
        <p:txBody>
          <a:bodyPr wrap="square" lIns="0" rIns="0" tIns="0" bIns="0" anchor="ctr">
            <a:spAutoFit/>
          </a:bodyPr>
          <a:lstStyle/>
          <a:p>
            <a:pPr algn="l"/>
            <a:r>
              <a:rPr sz="1300" b="1" i="0">
                <a:solidFill>
                  <a:srgbClr val="1B2A41"/>
                </a:solidFill>
                <a:latin typeface="Arial"/>
              </a:rPr>
              <a:t>bài toán newsvendor</a:t>
            </a:r>
          </a:p>
        </p:txBody>
      </p:sp>
      <p:sp>
        <p:nvSpPr>
          <p:cNvPr id="12" name="TextBox 11"/>
          <p:cNvSpPr txBox="1"/>
          <p:nvPr/>
        </p:nvSpPr>
        <p:spPr>
          <a:xfrm>
            <a:off x="2834640" y="2167128"/>
            <a:ext cx="2286000" cy="438912"/>
          </a:xfrm>
          <a:prstGeom prst="rect">
            <a:avLst/>
          </a:prstGeom>
          <a:noFill/>
        </p:spPr>
        <p:txBody>
          <a:bodyPr wrap="square" lIns="0" rIns="0" tIns="0" bIns="0" anchor="ctr">
            <a:spAutoFit/>
          </a:bodyPr>
          <a:lstStyle/>
          <a:p>
            <a:pPr algn="l"/>
            <a:r>
              <a:rPr sz="1300" b="0" i="0">
                <a:solidFill>
                  <a:srgbClr val="1B2A41"/>
                </a:solidFill>
                <a:latin typeface="Arial"/>
              </a:rPr>
              <a:t>newsvendor problem</a:t>
            </a:r>
          </a:p>
        </p:txBody>
      </p:sp>
      <p:sp>
        <p:nvSpPr>
          <p:cNvPr id="13" name="TextBox 12"/>
          <p:cNvSpPr txBox="1"/>
          <p:nvPr/>
        </p:nvSpPr>
        <p:spPr>
          <a:xfrm>
            <a:off x="5394960" y="2167128"/>
            <a:ext cx="548640" cy="438912"/>
          </a:xfrm>
          <a:prstGeom prst="rect">
            <a:avLst/>
          </a:prstGeom>
          <a:noFill/>
        </p:spPr>
        <p:txBody>
          <a:bodyPr wrap="square" lIns="0" rIns="0" tIns="0" bIns="0" anchor="ctr">
            <a:spAutoFit/>
          </a:bodyPr>
          <a:lstStyle/>
          <a:p>
            <a:pPr algn="l"/>
            <a:r>
              <a:rPr sz="1300" b="0" i="0">
                <a:solidFill>
                  <a:srgbClr val="5B6778"/>
                </a:solidFill>
                <a:latin typeface="Arial"/>
              </a:rPr>
              <a:t>1</a:t>
            </a:r>
          </a:p>
        </p:txBody>
      </p:sp>
      <p:sp>
        <p:nvSpPr>
          <p:cNvPr id="14" name="Rounded Rectangle 13"/>
          <p:cNvSpPr/>
          <p:nvPr/>
        </p:nvSpPr>
        <p:spPr>
          <a:xfrm>
            <a:off x="548640" y="2642615"/>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2642615"/>
            <a:ext cx="1874520" cy="438912"/>
          </a:xfrm>
          <a:prstGeom prst="rect">
            <a:avLst/>
          </a:prstGeom>
          <a:noFill/>
        </p:spPr>
        <p:txBody>
          <a:bodyPr wrap="square" lIns="0" rIns="0" tIns="0" bIns="0" anchor="ctr">
            <a:spAutoFit/>
          </a:bodyPr>
          <a:lstStyle/>
          <a:p>
            <a:pPr algn="l"/>
            <a:r>
              <a:rPr sz="1300" b="1" i="0">
                <a:solidFill>
                  <a:srgbClr val="1B2A41"/>
                </a:solidFill>
                <a:latin typeface="Arial"/>
              </a:rPr>
              <a:t>hàm phân phối tích luỹ</a:t>
            </a:r>
          </a:p>
        </p:txBody>
      </p:sp>
      <p:sp>
        <p:nvSpPr>
          <p:cNvPr id="16" name="TextBox 15"/>
          <p:cNvSpPr txBox="1"/>
          <p:nvPr/>
        </p:nvSpPr>
        <p:spPr>
          <a:xfrm>
            <a:off x="2834640" y="2642615"/>
            <a:ext cx="2286000" cy="438912"/>
          </a:xfrm>
          <a:prstGeom prst="rect">
            <a:avLst/>
          </a:prstGeom>
          <a:noFill/>
        </p:spPr>
        <p:txBody>
          <a:bodyPr wrap="square" lIns="0" rIns="0" tIns="0" bIns="0" anchor="ctr">
            <a:spAutoFit/>
          </a:bodyPr>
          <a:lstStyle/>
          <a:p>
            <a:pPr algn="l"/>
            <a:r>
              <a:rPr sz="1300" b="0" i="0">
                <a:solidFill>
                  <a:srgbClr val="1B2A41"/>
                </a:solidFill>
                <a:latin typeface="Arial"/>
              </a:rPr>
              <a:t>cumulative distribution function (CDF)</a:t>
            </a:r>
          </a:p>
        </p:txBody>
      </p:sp>
      <p:sp>
        <p:nvSpPr>
          <p:cNvPr id="17" name="TextBox 16"/>
          <p:cNvSpPr txBox="1"/>
          <p:nvPr/>
        </p:nvSpPr>
        <p:spPr>
          <a:xfrm>
            <a:off x="5394960" y="2642615"/>
            <a:ext cx="548640" cy="438912"/>
          </a:xfrm>
          <a:prstGeom prst="rect">
            <a:avLst/>
          </a:prstGeom>
          <a:noFill/>
        </p:spPr>
        <p:txBody>
          <a:bodyPr wrap="square" lIns="0" rIns="0" tIns="0" bIns="0" anchor="ctr">
            <a:spAutoFit/>
          </a:bodyPr>
          <a:lstStyle/>
          <a:p>
            <a:pPr algn="l"/>
            <a:r>
              <a:rPr sz="1300" b="0" i="0">
                <a:solidFill>
                  <a:srgbClr val="5B6778"/>
                </a:solidFill>
                <a:latin typeface="Arial"/>
              </a:rPr>
              <a:t>1</a:t>
            </a:r>
          </a:p>
        </p:txBody>
      </p:sp>
      <p:sp>
        <p:nvSpPr>
          <p:cNvPr id="18" name="TextBox 17"/>
          <p:cNvSpPr txBox="1"/>
          <p:nvPr/>
        </p:nvSpPr>
        <p:spPr>
          <a:xfrm>
            <a:off x="685800" y="3118104"/>
            <a:ext cx="1874520" cy="438912"/>
          </a:xfrm>
          <a:prstGeom prst="rect">
            <a:avLst/>
          </a:prstGeom>
          <a:noFill/>
        </p:spPr>
        <p:txBody>
          <a:bodyPr wrap="square" lIns="0" rIns="0" tIns="0" bIns="0" anchor="ctr">
            <a:spAutoFit/>
          </a:bodyPr>
          <a:lstStyle/>
          <a:p>
            <a:pPr algn="l"/>
            <a:r>
              <a:rPr sz="1300" b="1" i="0">
                <a:solidFill>
                  <a:srgbClr val="1B2A41"/>
                </a:solidFill>
                <a:latin typeface="Arial"/>
              </a:rPr>
              <a:t>phân phối chuẩn</a:t>
            </a:r>
          </a:p>
        </p:txBody>
      </p:sp>
      <p:sp>
        <p:nvSpPr>
          <p:cNvPr id="19" name="TextBox 18"/>
          <p:cNvSpPr txBox="1"/>
          <p:nvPr/>
        </p:nvSpPr>
        <p:spPr>
          <a:xfrm>
            <a:off x="2834640" y="3118104"/>
            <a:ext cx="2286000" cy="438912"/>
          </a:xfrm>
          <a:prstGeom prst="rect">
            <a:avLst/>
          </a:prstGeom>
          <a:noFill/>
        </p:spPr>
        <p:txBody>
          <a:bodyPr wrap="square" lIns="0" rIns="0" tIns="0" bIns="0" anchor="ctr">
            <a:spAutoFit/>
          </a:bodyPr>
          <a:lstStyle/>
          <a:p>
            <a:pPr algn="l"/>
            <a:r>
              <a:rPr sz="1300" b="0" i="0">
                <a:solidFill>
                  <a:srgbClr val="1B2A41"/>
                </a:solidFill>
                <a:latin typeface="Arial"/>
              </a:rPr>
              <a:t>normal distribution</a:t>
            </a:r>
          </a:p>
        </p:txBody>
      </p:sp>
      <p:sp>
        <p:nvSpPr>
          <p:cNvPr id="20" name="TextBox 19"/>
          <p:cNvSpPr txBox="1"/>
          <p:nvPr/>
        </p:nvSpPr>
        <p:spPr>
          <a:xfrm>
            <a:off x="5394960" y="3118104"/>
            <a:ext cx="548640" cy="438912"/>
          </a:xfrm>
          <a:prstGeom prst="rect">
            <a:avLst/>
          </a:prstGeom>
          <a:noFill/>
        </p:spPr>
        <p:txBody>
          <a:bodyPr wrap="square" lIns="0" rIns="0" tIns="0" bIns="0" anchor="ctr">
            <a:spAutoFit/>
          </a:bodyPr>
          <a:lstStyle/>
          <a:p>
            <a:pPr algn="l"/>
            <a:r>
              <a:rPr sz="1300" b="0" i="0">
                <a:solidFill>
                  <a:srgbClr val="5B6778"/>
                </a:solidFill>
                <a:latin typeface="Arial"/>
              </a:rPr>
              <a:t>2</a:t>
            </a:r>
          </a:p>
        </p:txBody>
      </p:sp>
      <p:sp>
        <p:nvSpPr>
          <p:cNvPr id="21" name="Rounded Rectangle 20"/>
          <p:cNvSpPr/>
          <p:nvPr/>
        </p:nvSpPr>
        <p:spPr>
          <a:xfrm>
            <a:off x="548640" y="3593591"/>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593591"/>
            <a:ext cx="1874520" cy="438912"/>
          </a:xfrm>
          <a:prstGeom prst="rect">
            <a:avLst/>
          </a:prstGeom>
          <a:noFill/>
        </p:spPr>
        <p:txBody>
          <a:bodyPr wrap="square" lIns="0" rIns="0" tIns="0" bIns="0" anchor="ctr">
            <a:spAutoFit/>
          </a:bodyPr>
          <a:lstStyle/>
          <a:p>
            <a:pPr algn="l"/>
            <a:r>
              <a:rPr sz="1300" b="1" i="0">
                <a:solidFill>
                  <a:srgbClr val="1B2A41"/>
                </a:solidFill>
                <a:latin typeface="Arial"/>
              </a:rPr>
              <a:t>hệ số lệch / độ nhọn</a:t>
            </a:r>
          </a:p>
        </p:txBody>
      </p:sp>
      <p:sp>
        <p:nvSpPr>
          <p:cNvPr id="23" name="TextBox 22"/>
          <p:cNvSpPr txBox="1"/>
          <p:nvPr/>
        </p:nvSpPr>
        <p:spPr>
          <a:xfrm>
            <a:off x="2834640" y="3593591"/>
            <a:ext cx="2286000" cy="438912"/>
          </a:xfrm>
          <a:prstGeom prst="rect">
            <a:avLst/>
          </a:prstGeom>
          <a:noFill/>
        </p:spPr>
        <p:txBody>
          <a:bodyPr wrap="square" lIns="0" rIns="0" tIns="0" bIns="0" anchor="ctr">
            <a:spAutoFit/>
          </a:bodyPr>
          <a:lstStyle/>
          <a:p>
            <a:pPr algn="l"/>
            <a:r>
              <a:rPr sz="1300" b="0" i="0">
                <a:solidFill>
                  <a:srgbClr val="1B2A41"/>
                </a:solidFill>
                <a:latin typeface="Arial"/>
              </a:rPr>
              <a:t>skewness / kurtosis</a:t>
            </a:r>
          </a:p>
        </p:txBody>
      </p:sp>
      <p:sp>
        <p:nvSpPr>
          <p:cNvPr id="24" name="TextBox 23"/>
          <p:cNvSpPr txBox="1"/>
          <p:nvPr/>
        </p:nvSpPr>
        <p:spPr>
          <a:xfrm>
            <a:off x="5394960" y="3593591"/>
            <a:ext cx="548640" cy="438912"/>
          </a:xfrm>
          <a:prstGeom prst="rect">
            <a:avLst/>
          </a:prstGeom>
          <a:noFill/>
        </p:spPr>
        <p:txBody>
          <a:bodyPr wrap="square" lIns="0" rIns="0" tIns="0" bIns="0" anchor="ctr">
            <a:spAutoFit/>
          </a:bodyPr>
          <a:lstStyle/>
          <a:p>
            <a:pPr algn="l"/>
            <a:r>
              <a:rPr sz="1300" b="0" i="0">
                <a:solidFill>
                  <a:srgbClr val="5B6778"/>
                </a:solidFill>
                <a:latin typeface="Arial"/>
              </a:rPr>
              <a:t>2, 9</a:t>
            </a:r>
          </a:p>
        </p:txBody>
      </p:sp>
      <p:sp>
        <p:nvSpPr>
          <p:cNvPr id="25" name="TextBox 24"/>
          <p:cNvSpPr txBox="1"/>
          <p:nvPr/>
        </p:nvSpPr>
        <p:spPr>
          <a:xfrm>
            <a:off x="685800" y="4069080"/>
            <a:ext cx="1874520" cy="438912"/>
          </a:xfrm>
          <a:prstGeom prst="rect">
            <a:avLst/>
          </a:prstGeom>
          <a:noFill/>
        </p:spPr>
        <p:txBody>
          <a:bodyPr wrap="square" lIns="0" rIns="0" tIns="0" bIns="0" anchor="ctr">
            <a:spAutoFit/>
          </a:bodyPr>
          <a:lstStyle/>
          <a:p>
            <a:pPr algn="l"/>
            <a:r>
              <a:rPr sz="1300" b="1" i="0">
                <a:solidFill>
                  <a:srgbClr val="1B2A41"/>
                </a:solidFill>
                <a:latin typeface="Arial"/>
              </a:rPr>
              <a:t>khoảng tin cậy</a:t>
            </a:r>
          </a:p>
        </p:txBody>
      </p:sp>
      <p:sp>
        <p:nvSpPr>
          <p:cNvPr id="26" name="TextBox 25"/>
          <p:cNvSpPr txBox="1"/>
          <p:nvPr/>
        </p:nvSpPr>
        <p:spPr>
          <a:xfrm>
            <a:off x="2834640" y="4069080"/>
            <a:ext cx="2286000" cy="438912"/>
          </a:xfrm>
          <a:prstGeom prst="rect">
            <a:avLst/>
          </a:prstGeom>
          <a:noFill/>
        </p:spPr>
        <p:txBody>
          <a:bodyPr wrap="square" lIns="0" rIns="0" tIns="0" bIns="0" anchor="ctr">
            <a:spAutoFit/>
          </a:bodyPr>
          <a:lstStyle/>
          <a:p>
            <a:pPr algn="l"/>
            <a:r>
              <a:rPr sz="1300" b="0" i="0">
                <a:solidFill>
                  <a:srgbClr val="1B2A41"/>
                </a:solidFill>
                <a:latin typeface="Arial"/>
              </a:rPr>
              <a:t>confidence interval</a:t>
            </a:r>
          </a:p>
        </p:txBody>
      </p:sp>
      <p:sp>
        <p:nvSpPr>
          <p:cNvPr id="27" name="TextBox 26"/>
          <p:cNvSpPr txBox="1"/>
          <p:nvPr/>
        </p:nvSpPr>
        <p:spPr>
          <a:xfrm>
            <a:off x="5394960" y="4069080"/>
            <a:ext cx="548640" cy="438912"/>
          </a:xfrm>
          <a:prstGeom prst="rect">
            <a:avLst/>
          </a:prstGeom>
          <a:noFill/>
        </p:spPr>
        <p:txBody>
          <a:bodyPr wrap="square" lIns="0" rIns="0" tIns="0" bIns="0" anchor="ctr">
            <a:spAutoFit/>
          </a:bodyPr>
          <a:lstStyle/>
          <a:p>
            <a:pPr algn="l"/>
            <a:r>
              <a:rPr sz="1300" b="0" i="0">
                <a:solidFill>
                  <a:srgbClr val="5B6778"/>
                </a:solidFill>
                <a:latin typeface="Arial"/>
              </a:rPr>
              <a:t>2</a:t>
            </a:r>
          </a:p>
        </p:txBody>
      </p:sp>
      <p:sp>
        <p:nvSpPr>
          <p:cNvPr id="28" name="Rounded Rectangle 27"/>
          <p:cNvSpPr/>
          <p:nvPr/>
        </p:nvSpPr>
        <p:spPr>
          <a:xfrm>
            <a:off x="548640" y="4544568"/>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4544568"/>
            <a:ext cx="1874520" cy="438912"/>
          </a:xfrm>
          <a:prstGeom prst="rect">
            <a:avLst/>
          </a:prstGeom>
          <a:noFill/>
        </p:spPr>
        <p:txBody>
          <a:bodyPr wrap="square" lIns="0" rIns="0" tIns="0" bIns="0" anchor="ctr">
            <a:spAutoFit/>
          </a:bodyPr>
          <a:lstStyle/>
          <a:p>
            <a:pPr algn="l"/>
            <a:r>
              <a:rPr sz="1300" b="1" i="0">
                <a:solidFill>
                  <a:srgbClr val="1B2A41"/>
                </a:solidFill>
                <a:latin typeface="Arial"/>
              </a:rPr>
              <a:t>mức ý nghĩa α</a:t>
            </a:r>
          </a:p>
        </p:txBody>
      </p:sp>
      <p:sp>
        <p:nvSpPr>
          <p:cNvPr id="30" name="TextBox 29"/>
          <p:cNvSpPr txBox="1"/>
          <p:nvPr/>
        </p:nvSpPr>
        <p:spPr>
          <a:xfrm>
            <a:off x="2834640" y="4544568"/>
            <a:ext cx="2286000" cy="438912"/>
          </a:xfrm>
          <a:prstGeom prst="rect">
            <a:avLst/>
          </a:prstGeom>
          <a:noFill/>
        </p:spPr>
        <p:txBody>
          <a:bodyPr wrap="square" lIns="0" rIns="0" tIns="0" bIns="0" anchor="ctr">
            <a:spAutoFit/>
          </a:bodyPr>
          <a:lstStyle/>
          <a:p>
            <a:pPr algn="l"/>
            <a:r>
              <a:rPr sz="1300" b="0" i="0">
                <a:solidFill>
                  <a:srgbClr val="1B2A41"/>
                </a:solidFill>
                <a:latin typeface="Arial"/>
              </a:rPr>
              <a:t>significance level</a:t>
            </a:r>
          </a:p>
        </p:txBody>
      </p:sp>
      <p:sp>
        <p:nvSpPr>
          <p:cNvPr id="31" name="TextBox 30"/>
          <p:cNvSpPr txBox="1"/>
          <p:nvPr/>
        </p:nvSpPr>
        <p:spPr>
          <a:xfrm>
            <a:off x="5394960" y="4544568"/>
            <a:ext cx="548640" cy="438912"/>
          </a:xfrm>
          <a:prstGeom prst="rect">
            <a:avLst/>
          </a:prstGeom>
          <a:noFill/>
        </p:spPr>
        <p:txBody>
          <a:bodyPr wrap="square" lIns="0" rIns="0" tIns="0" bIns="0" anchor="ctr">
            <a:spAutoFit/>
          </a:bodyPr>
          <a:lstStyle/>
          <a:p>
            <a:pPr algn="l"/>
            <a:r>
              <a:rPr sz="1300" b="0" i="0">
                <a:solidFill>
                  <a:srgbClr val="5B6778"/>
                </a:solidFill>
                <a:latin typeface="Arial"/>
              </a:rPr>
              <a:t>2</a:t>
            </a:r>
          </a:p>
        </p:txBody>
      </p:sp>
      <p:sp>
        <p:nvSpPr>
          <p:cNvPr id="32" name="TextBox 31"/>
          <p:cNvSpPr txBox="1"/>
          <p:nvPr/>
        </p:nvSpPr>
        <p:spPr>
          <a:xfrm>
            <a:off x="685800" y="5020056"/>
            <a:ext cx="1874520" cy="438912"/>
          </a:xfrm>
          <a:prstGeom prst="rect">
            <a:avLst/>
          </a:prstGeom>
          <a:noFill/>
        </p:spPr>
        <p:txBody>
          <a:bodyPr wrap="square" lIns="0" rIns="0" tIns="0" bIns="0" anchor="ctr">
            <a:spAutoFit/>
          </a:bodyPr>
          <a:lstStyle/>
          <a:p>
            <a:pPr algn="l"/>
            <a:r>
              <a:rPr sz="1300" b="1" i="0">
                <a:solidFill>
                  <a:srgbClr val="1B2A41"/>
                </a:solidFill>
                <a:latin typeface="Arial"/>
              </a:rPr>
              <a:t>định lý giới hạn trung tâm</a:t>
            </a:r>
          </a:p>
        </p:txBody>
      </p:sp>
      <p:sp>
        <p:nvSpPr>
          <p:cNvPr id="33" name="TextBox 32"/>
          <p:cNvSpPr txBox="1"/>
          <p:nvPr/>
        </p:nvSpPr>
        <p:spPr>
          <a:xfrm>
            <a:off x="2834640" y="5020056"/>
            <a:ext cx="2286000" cy="438912"/>
          </a:xfrm>
          <a:prstGeom prst="rect">
            <a:avLst/>
          </a:prstGeom>
          <a:noFill/>
        </p:spPr>
        <p:txBody>
          <a:bodyPr wrap="square" lIns="0" rIns="0" tIns="0" bIns="0" anchor="ctr">
            <a:spAutoFit/>
          </a:bodyPr>
          <a:lstStyle/>
          <a:p>
            <a:pPr algn="l"/>
            <a:r>
              <a:rPr sz="1300" b="0" i="0">
                <a:solidFill>
                  <a:srgbClr val="1B2A41"/>
                </a:solidFill>
                <a:latin typeface="Arial"/>
              </a:rPr>
              <a:t>central limit theorem (CLT)</a:t>
            </a:r>
          </a:p>
        </p:txBody>
      </p:sp>
      <p:sp>
        <p:nvSpPr>
          <p:cNvPr id="34" name="TextBox 33"/>
          <p:cNvSpPr txBox="1"/>
          <p:nvPr/>
        </p:nvSpPr>
        <p:spPr>
          <a:xfrm>
            <a:off x="5394960" y="5020056"/>
            <a:ext cx="548640" cy="438912"/>
          </a:xfrm>
          <a:prstGeom prst="rect">
            <a:avLst/>
          </a:prstGeom>
          <a:noFill/>
        </p:spPr>
        <p:txBody>
          <a:bodyPr wrap="square" lIns="0" rIns="0" tIns="0" bIns="0" anchor="ctr">
            <a:spAutoFit/>
          </a:bodyPr>
          <a:lstStyle/>
          <a:p>
            <a:pPr algn="l"/>
            <a:r>
              <a:rPr sz="1300" b="0" i="0">
                <a:solidFill>
                  <a:srgbClr val="5B6778"/>
                </a:solidFill>
                <a:latin typeface="Arial"/>
              </a:rPr>
              <a:t>2</a:t>
            </a:r>
          </a:p>
        </p:txBody>
      </p:sp>
      <p:sp>
        <p:nvSpPr>
          <p:cNvPr id="35" name="Rounded Rectangle 34"/>
          <p:cNvSpPr/>
          <p:nvPr/>
        </p:nvSpPr>
        <p:spPr>
          <a:xfrm>
            <a:off x="548640" y="5495544"/>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800" y="5495544"/>
            <a:ext cx="1874520" cy="438912"/>
          </a:xfrm>
          <a:prstGeom prst="rect">
            <a:avLst/>
          </a:prstGeom>
          <a:noFill/>
        </p:spPr>
        <p:txBody>
          <a:bodyPr wrap="square" lIns="0" rIns="0" tIns="0" bIns="0" anchor="ctr">
            <a:spAutoFit/>
          </a:bodyPr>
          <a:lstStyle/>
          <a:p>
            <a:pPr algn="l"/>
            <a:r>
              <a:rPr sz="1300" b="1" i="0">
                <a:solidFill>
                  <a:srgbClr val="1B2A41"/>
                </a:solidFill>
                <a:latin typeface="Arial"/>
              </a:rPr>
              <a:t>tự hồi quy bậc một</a:t>
            </a:r>
          </a:p>
        </p:txBody>
      </p:sp>
      <p:sp>
        <p:nvSpPr>
          <p:cNvPr id="37" name="TextBox 36"/>
          <p:cNvSpPr txBox="1"/>
          <p:nvPr/>
        </p:nvSpPr>
        <p:spPr>
          <a:xfrm>
            <a:off x="2834640" y="5495544"/>
            <a:ext cx="2286000" cy="438912"/>
          </a:xfrm>
          <a:prstGeom prst="rect">
            <a:avLst/>
          </a:prstGeom>
          <a:noFill/>
        </p:spPr>
        <p:txBody>
          <a:bodyPr wrap="square" lIns="0" rIns="0" tIns="0" bIns="0" anchor="ctr">
            <a:spAutoFit/>
          </a:bodyPr>
          <a:lstStyle/>
          <a:p>
            <a:pPr algn="l"/>
            <a:r>
              <a:rPr sz="1300" b="0" i="0">
                <a:solidFill>
                  <a:srgbClr val="1B2A41"/>
                </a:solidFill>
                <a:latin typeface="Arial"/>
              </a:rPr>
              <a:t>autoregressive model AR(1)</a:t>
            </a:r>
          </a:p>
        </p:txBody>
      </p:sp>
      <p:sp>
        <p:nvSpPr>
          <p:cNvPr id="38" name="TextBox 37"/>
          <p:cNvSpPr txBox="1"/>
          <p:nvPr/>
        </p:nvSpPr>
        <p:spPr>
          <a:xfrm>
            <a:off x="5394960" y="5495544"/>
            <a:ext cx="548640" cy="438912"/>
          </a:xfrm>
          <a:prstGeom prst="rect">
            <a:avLst/>
          </a:prstGeom>
          <a:noFill/>
        </p:spPr>
        <p:txBody>
          <a:bodyPr wrap="square" lIns="0" rIns="0" tIns="0" bIns="0" anchor="ctr">
            <a:spAutoFit/>
          </a:bodyPr>
          <a:lstStyle/>
          <a:p>
            <a:pPr algn="l"/>
            <a:r>
              <a:rPr sz="1300" b="0" i="0">
                <a:solidFill>
                  <a:srgbClr val="5B6778"/>
                </a:solidFill>
                <a:latin typeface="Arial"/>
              </a:rPr>
              <a:t>2, 7</a:t>
            </a:r>
          </a:p>
        </p:txBody>
      </p:sp>
      <p:sp>
        <p:nvSpPr>
          <p:cNvPr id="39" name="TextBox 38"/>
          <p:cNvSpPr txBox="1"/>
          <p:nvPr/>
        </p:nvSpPr>
        <p:spPr>
          <a:xfrm>
            <a:off x="685800" y="5971031"/>
            <a:ext cx="1874520" cy="438912"/>
          </a:xfrm>
          <a:prstGeom prst="rect">
            <a:avLst/>
          </a:prstGeom>
          <a:noFill/>
        </p:spPr>
        <p:txBody>
          <a:bodyPr wrap="square" lIns="0" rIns="0" tIns="0" bIns="0" anchor="ctr">
            <a:spAutoFit/>
          </a:bodyPr>
          <a:lstStyle/>
          <a:p>
            <a:pPr algn="l"/>
            <a:r>
              <a:rPr sz="1300" b="1" i="0">
                <a:solidFill>
                  <a:srgbClr val="1B2A41"/>
                </a:solidFill>
                <a:latin typeface="Arial"/>
              </a:rPr>
              <a:t>cỡ mẫu hiệu dụng</a:t>
            </a:r>
          </a:p>
        </p:txBody>
      </p:sp>
      <p:sp>
        <p:nvSpPr>
          <p:cNvPr id="40" name="TextBox 39"/>
          <p:cNvSpPr txBox="1"/>
          <p:nvPr/>
        </p:nvSpPr>
        <p:spPr>
          <a:xfrm>
            <a:off x="2834640" y="5971031"/>
            <a:ext cx="2286000" cy="438912"/>
          </a:xfrm>
          <a:prstGeom prst="rect">
            <a:avLst/>
          </a:prstGeom>
          <a:noFill/>
        </p:spPr>
        <p:txBody>
          <a:bodyPr wrap="square" lIns="0" rIns="0" tIns="0" bIns="0" anchor="ctr">
            <a:spAutoFit/>
          </a:bodyPr>
          <a:lstStyle/>
          <a:p>
            <a:pPr algn="l"/>
            <a:r>
              <a:rPr sz="1300" b="0" i="0">
                <a:solidFill>
                  <a:srgbClr val="1B2A41"/>
                </a:solidFill>
                <a:latin typeface="Arial"/>
              </a:rPr>
              <a:t>effective sample size</a:t>
            </a:r>
          </a:p>
        </p:txBody>
      </p:sp>
      <p:sp>
        <p:nvSpPr>
          <p:cNvPr id="41" name="TextBox 40"/>
          <p:cNvSpPr txBox="1"/>
          <p:nvPr/>
        </p:nvSpPr>
        <p:spPr>
          <a:xfrm>
            <a:off x="5394960" y="5971031"/>
            <a:ext cx="548640" cy="438912"/>
          </a:xfrm>
          <a:prstGeom prst="rect">
            <a:avLst/>
          </a:prstGeom>
          <a:noFill/>
        </p:spPr>
        <p:txBody>
          <a:bodyPr wrap="square" lIns="0" rIns="0" tIns="0" bIns="0" anchor="ctr">
            <a:spAutoFit/>
          </a:bodyPr>
          <a:lstStyle/>
          <a:p>
            <a:pPr algn="l"/>
            <a:r>
              <a:rPr sz="1300" b="0" i="0">
                <a:solidFill>
                  <a:srgbClr val="5B6778"/>
                </a:solidFill>
                <a:latin typeface="Arial"/>
              </a:rPr>
              <a:t>2</a:t>
            </a:r>
          </a:p>
        </p:txBody>
      </p:sp>
      <p:sp>
        <p:nvSpPr>
          <p:cNvPr id="42" name="TextBox 41"/>
          <p:cNvSpPr txBox="1"/>
          <p:nvPr/>
        </p:nvSpPr>
        <p:spPr>
          <a:xfrm>
            <a:off x="6245352" y="1280160"/>
            <a:ext cx="1874520" cy="365760"/>
          </a:xfrm>
          <a:prstGeom prst="rect">
            <a:avLst/>
          </a:prstGeom>
          <a:noFill/>
        </p:spPr>
        <p:txBody>
          <a:bodyPr wrap="square" lIns="0" rIns="0" tIns="0" bIns="0" anchor="t">
            <a:spAutoFit/>
          </a:bodyPr>
          <a:lstStyle/>
          <a:p>
            <a:pPr algn="l"/>
            <a:r>
              <a:rPr sz="1100" b="1" i="0">
                <a:solidFill>
                  <a:srgbClr val="A77B06"/>
                </a:solidFill>
                <a:latin typeface="Arial"/>
              </a:rPr>
              <a:t>TIẾNG VIỆT</a:t>
            </a:r>
          </a:p>
        </p:txBody>
      </p:sp>
      <p:sp>
        <p:nvSpPr>
          <p:cNvPr id="43" name="TextBox 42"/>
          <p:cNvSpPr txBox="1"/>
          <p:nvPr/>
        </p:nvSpPr>
        <p:spPr>
          <a:xfrm>
            <a:off x="8394192" y="1280160"/>
            <a:ext cx="2286000" cy="365760"/>
          </a:xfrm>
          <a:prstGeom prst="rect">
            <a:avLst/>
          </a:prstGeom>
          <a:noFill/>
        </p:spPr>
        <p:txBody>
          <a:bodyPr wrap="square" lIns="0" rIns="0" tIns="0" bIns="0" anchor="t">
            <a:spAutoFit/>
          </a:bodyPr>
          <a:lstStyle/>
          <a:p>
            <a:pPr algn="l"/>
            <a:r>
              <a:rPr sz="1100" b="1" i="0">
                <a:solidFill>
                  <a:srgbClr val="5B6778"/>
                </a:solidFill>
                <a:latin typeface="Arial"/>
              </a:rPr>
              <a:t>ENGLISH</a:t>
            </a:r>
          </a:p>
        </p:txBody>
      </p:sp>
      <p:sp>
        <p:nvSpPr>
          <p:cNvPr id="44" name="TextBox 43"/>
          <p:cNvSpPr txBox="1"/>
          <p:nvPr/>
        </p:nvSpPr>
        <p:spPr>
          <a:xfrm>
            <a:off x="10954511" y="1280160"/>
            <a:ext cx="548640" cy="365760"/>
          </a:xfrm>
          <a:prstGeom prst="rect">
            <a:avLst/>
          </a:prstGeom>
          <a:noFill/>
        </p:spPr>
        <p:txBody>
          <a:bodyPr wrap="square" lIns="0" rIns="0" tIns="0" bIns="0" anchor="t">
            <a:spAutoFit/>
          </a:bodyPr>
          <a:lstStyle/>
          <a:p>
            <a:pPr algn="l"/>
            <a:r>
              <a:rPr sz="1100" b="1" i="0">
                <a:solidFill>
                  <a:srgbClr val="5B6778"/>
                </a:solidFill>
                <a:latin typeface="Arial"/>
              </a:rPr>
              <a:t>BUỔI</a:t>
            </a:r>
          </a:p>
        </p:txBody>
      </p:sp>
      <p:sp>
        <p:nvSpPr>
          <p:cNvPr id="45" name="Rounded Rectangle 44"/>
          <p:cNvSpPr/>
          <p:nvPr/>
        </p:nvSpPr>
        <p:spPr>
          <a:xfrm>
            <a:off x="6108191" y="1691639"/>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245351" y="1691639"/>
            <a:ext cx="1874520" cy="438912"/>
          </a:xfrm>
          <a:prstGeom prst="rect">
            <a:avLst/>
          </a:prstGeom>
          <a:noFill/>
        </p:spPr>
        <p:txBody>
          <a:bodyPr wrap="square" lIns="0" rIns="0" tIns="0" bIns="0" anchor="ctr">
            <a:spAutoFit/>
          </a:bodyPr>
          <a:lstStyle/>
          <a:p>
            <a:pPr algn="l"/>
            <a:r>
              <a:rPr sz="1300" b="1" i="0">
                <a:solidFill>
                  <a:srgbClr val="1B2A41"/>
                </a:solidFill>
                <a:latin typeface="Arial"/>
              </a:rPr>
              <a:t>hạt giống ngẫu nhiên</a:t>
            </a:r>
          </a:p>
        </p:txBody>
      </p:sp>
      <p:sp>
        <p:nvSpPr>
          <p:cNvPr id="47" name="TextBox 46"/>
          <p:cNvSpPr txBox="1"/>
          <p:nvPr/>
        </p:nvSpPr>
        <p:spPr>
          <a:xfrm>
            <a:off x="8394192" y="1691639"/>
            <a:ext cx="2286000" cy="438912"/>
          </a:xfrm>
          <a:prstGeom prst="rect">
            <a:avLst/>
          </a:prstGeom>
          <a:noFill/>
        </p:spPr>
        <p:txBody>
          <a:bodyPr wrap="square" lIns="0" rIns="0" tIns="0" bIns="0" anchor="ctr">
            <a:spAutoFit/>
          </a:bodyPr>
          <a:lstStyle/>
          <a:p>
            <a:pPr algn="l"/>
            <a:r>
              <a:rPr sz="1300" b="0" i="0">
                <a:solidFill>
                  <a:srgbClr val="1B2A41"/>
                </a:solidFill>
                <a:latin typeface="Arial"/>
              </a:rPr>
              <a:t>random seed</a:t>
            </a:r>
          </a:p>
        </p:txBody>
      </p:sp>
      <p:sp>
        <p:nvSpPr>
          <p:cNvPr id="48" name="TextBox 47"/>
          <p:cNvSpPr txBox="1"/>
          <p:nvPr/>
        </p:nvSpPr>
        <p:spPr>
          <a:xfrm>
            <a:off x="10954511" y="1691639"/>
            <a:ext cx="548640" cy="438912"/>
          </a:xfrm>
          <a:prstGeom prst="rect">
            <a:avLst/>
          </a:prstGeom>
          <a:noFill/>
        </p:spPr>
        <p:txBody>
          <a:bodyPr wrap="square" lIns="0" rIns="0" tIns="0" bIns="0" anchor="ctr">
            <a:spAutoFit/>
          </a:bodyPr>
          <a:lstStyle/>
          <a:p>
            <a:pPr algn="l"/>
            <a:r>
              <a:rPr sz="1300" b="0" i="0">
                <a:solidFill>
                  <a:srgbClr val="5B6778"/>
                </a:solidFill>
                <a:latin typeface="Arial"/>
              </a:rPr>
              <a:t>2</a:t>
            </a:r>
          </a:p>
        </p:txBody>
      </p:sp>
      <p:sp>
        <p:nvSpPr>
          <p:cNvPr id="49" name="TextBox 48"/>
          <p:cNvSpPr txBox="1"/>
          <p:nvPr/>
        </p:nvSpPr>
        <p:spPr>
          <a:xfrm>
            <a:off x="6245351" y="2167128"/>
            <a:ext cx="1874520" cy="438912"/>
          </a:xfrm>
          <a:prstGeom prst="rect">
            <a:avLst/>
          </a:prstGeom>
          <a:noFill/>
        </p:spPr>
        <p:txBody>
          <a:bodyPr wrap="square" lIns="0" rIns="0" tIns="0" bIns="0" anchor="ctr">
            <a:spAutoFit/>
          </a:bodyPr>
          <a:lstStyle/>
          <a:p>
            <a:pPr algn="l"/>
            <a:r>
              <a:rPr sz="1300" b="1" i="0">
                <a:solidFill>
                  <a:srgbClr val="1B2A41"/>
                </a:solidFill>
                <a:latin typeface="Arial"/>
              </a:rPr>
              <a:t>chuỗi đều / không đều</a:t>
            </a:r>
          </a:p>
        </p:txBody>
      </p:sp>
      <p:sp>
        <p:nvSpPr>
          <p:cNvPr id="50" name="TextBox 49"/>
          <p:cNvSpPr txBox="1"/>
          <p:nvPr/>
        </p:nvSpPr>
        <p:spPr>
          <a:xfrm>
            <a:off x="8394192" y="2167128"/>
            <a:ext cx="2286000" cy="438912"/>
          </a:xfrm>
          <a:prstGeom prst="rect">
            <a:avLst/>
          </a:prstGeom>
          <a:noFill/>
        </p:spPr>
        <p:txBody>
          <a:bodyPr wrap="square" lIns="0" rIns="0" tIns="0" bIns="0" anchor="ctr">
            <a:spAutoFit/>
          </a:bodyPr>
          <a:lstStyle/>
          <a:p>
            <a:pPr algn="l"/>
            <a:r>
              <a:rPr sz="1300" b="0" i="0">
                <a:solidFill>
                  <a:srgbClr val="1B2A41"/>
                </a:solidFill>
                <a:latin typeface="Arial"/>
              </a:rPr>
              <a:t>regular / irregular time series</a:t>
            </a:r>
          </a:p>
        </p:txBody>
      </p:sp>
      <p:sp>
        <p:nvSpPr>
          <p:cNvPr id="51" name="TextBox 50"/>
          <p:cNvSpPr txBox="1"/>
          <p:nvPr/>
        </p:nvSpPr>
        <p:spPr>
          <a:xfrm>
            <a:off x="10954511" y="2167128"/>
            <a:ext cx="548640" cy="438912"/>
          </a:xfrm>
          <a:prstGeom prst="rect">
            <a:avLst/>
          </a:prstGeom>
          <a:noFill/>
        </p:spPr>
        <p:txBody>
          <a:bodyPr wrap="square" lIns="0" rIns="0" tIns="0" bIns="0" anchor="ctr">
            <a:spAutoFit/>
          </a:bodyPr>
          <a:lstStyle/>
          <a:p>
            <a:pPr algn="l"/>
            <a:r>
              <a:rPr sz="1300" b="0" i="0">
                <a:solidFill>
                  <a:srgbClr val="5B6778"/>
                </a:solidFill>
                <a:latin typeface="Arial"/>
              </a:rPr>
              <a:t>3</a:t>
            </a:r>
          </a:p>
        </p:txBody>
      </p:sp>
      <p:sp>
        <p:nvSpPr>
          <p:cNvPr id="52" name="Rounded Rectangle 51"/>
          <p:cNvSpPr/>
          <p:nvPr/>
        </p:nvSpPr>
        <p:spPr>
          <a:xfrm>
            <a:off x="6108191" y="2642615"/>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45351" y="2642615"/>
            <a:ext cx="1874520" cy="438912"/>
          </a:xfrm>
          <a:prstGeom prst="rect">
            <a:avLst/>
          </a:prstGeom>
          <a:noFill/>
        </p:spPr>
        <p:txBody>
          <a:bodyPr wrap="square" lIns="0" rIns="0" tIns="0" bIns="0" anchor="ctr">
            <a:spAutoFit/>
          </a:bodyPr>
          <a:lstStyle/>
          <a:p>
            <a:pPr algn="l"/>
            <a:r>
              <a:rPr sz="1300" b="1" i="0">
                <a:solidFill>
                  <a:srgbClr val="1B2A41"/>
                </a:solidFill>
                <a:latin typeface="Arial"/>
              </a:rPr>
              <a:t>chu kỳ mùa vụ m</a:t>
            </a:r>
          </a:p>
        </p:txBody>
      </p:sp>
      <p:sp>
        <p:nvSpPr>
          <p:cNvPr id="54" name="TextBox 53"/>
          <p:cNvSpPr txBox="1"/>
          <p:nvPr/>
        </p:nvSpPr>
        <p:spPr>
          <a:xfrm>
            <a:off x="8394192" y="2642615"/>
            <a:ext cx="2286000" cy="438912"/>
          </a:xfrm>
          <a:prstGeom prst="rect">
            <a:avLst/>
          </a:prstGeom>
          <a:noFill/>
        </p:spPr>
        <p:txBody>
          <a:bodyPr wrap="square" lIns="0" rIns="0" tIns="0" bIns="0" anchor="ctr">
            <a:spAutoFit/>
          </a:bodyPr>
          <a:lstStyle/>
          <a:p>
            <a:pPr algn="l"/>
            <a:r>
              <a:rPr sz="1300" b="0" i="0">
                <a:solidFill>
                  <a:srgbClr val="1B2A41"/>
                </a:solidFill>
                <a:latin typeface="Arial"/>
              </a:rPr>
              <a:t>seasonal period</a:t>
            </a:r>
          </a:p>
        </p:txBody>
      </p:sp>
      <p:sp>
        <p:nvSpPr>
          <p:cNvPr id="55" name="TextBox 54"/>
          <p:cNvSpPr txBox="1"/>
          <p:nvPr/>
        </p:nvSpPr>
        <p:spPr>
          <a:xfrm>
            <a:off x="10954511" y="2642615"/>
            <a:ext cx="548640" cy="438912"/>
          </a:xfrm>
          <a:prstGeom prst="rect">
            <a:avLst/>
          </a:prstGeom>
          <a:noFill/>
        </p:spPr>
        <p:txBody>
          <a:bodyPr wrap="square" lIns="0" rIns="0" tIns="0" bIns="0" anchor="ctr">
            <a:spAutoFit/>
          </a:bodyPr>
          <a:lstStyle/>
          <a:p>
            <a:pPr algn="l"/>
            <a:r>
              <a:rPr sz="1300" b="0" i="0">
                <a:solidFill>
                  <a:srgbClr val="5B6778"/>
                </a:solidFill>
                <a:latin typeface="Arial"/>
              </a:rPr>
              <a:t>4</a:t>
            </a:r>
          </a:p>
        </p:txBody>
      </p:sp>
      <p:sp>
        <p:nvSpPr>
          <p:cNvPr id="56" name="TextBox 55"/>
          <p:cNvSpPr txBox="1"/>
          <p:nvPr/>
        </p:nvSpPr>
        <p:spPr>
          <a:xfrm>
            <a:off x="6245351" y="3118104"/>
            <a:ext cx="1874520" cy="438912"/>
          </a:xfrm>
          <a:prstGeom prst="rect">
            <a:avLst/>
          </a:prstGeom>
          <a:noFill/>
        </p:spPr>
        <p:txBody>
          <a:bodyPr wrap="square" lIns="0" rIns="0" tIns="0" bIns="0" anchor="ctr">
            <a:spAutoFit/>
          </a:bodyPr>
          <a:lstStyle/>
          <a:p>
            <a:pPr algn="l"/>
            <a:r>
              <a:rPr sz="1300" b="1" i="0">
                <a:solidFill>
                  <a:srgbClr val="1B2A41"/>
                </a:solidFill>
                <a:latin typeface="Arial"/>
              </a:rPr>
              <a:t>trục kép / trục y cắt</a:t>
            </a:r>
          </a:p>
        </p:txBody>
      </p:sp>
      <p:sp>
        <p:nvSpPr>
          <p:cNvPr id="57" name="TextBox 56"/>
          <p:cNvSpPr txBox="1"/>
          <p:nvPr/>
        </p:nvSpPr>
        <p:spPr>
          <a:xfrm>
            <a:off x="8394192" y="3118104"/>
            <a:ext cx="2286000" cy="438912"/>
          </a:xfrm>
          <a:prstGeom prst="rect">
            <a:avLst/>
          </a:prstGeom>
          <a:noFill/>
        </p:spPr>
        <p:txBody>
          <a:bodyPr wrap="square" lIns="0" rIns="0" tIns="0" bIns="0" anchor="ctr">
            <a:spAutoFit/>
          </a:bodyPr>
          <a:lstStyle/>
          <a:p>
            <a:pPr algn="l"/>
            <a:r>
              <a:rPr sz="1300" b="0" i="0">
                <a:solidFill>
                  <a:srgbClr val="1B2A41"/>
                </a:solidFill>
                <a:latin typeface="Arial"/>
              </a:rPr>
              <a:t>dual axis / truncated y-axis</a:t>
            </a:r>
          </a:p>
        </p:txBody>
      </p:sp>
      <p:sp>
        <p:nvSpPr>
          <p:cNvPr id="58" name="TextBox 57"/>
          <p:cNvSpPr txBox="1"/>
          <p:nvPr/>
        </p:nvSpPr>
        <p:spPr>
          <a:xfrm>
            <a:off x="10954511" y="3118104"/>
            <a:ext cx="548640" cy="438912"/>
          </a:xfrm>
          <a:prstGeom prst="rect">
            <a:avLst/>
          </a:prstGeom>
          <a:noFill/>
        </p:spPr>
        <p:txBody>
          <a:bodyPr wrap="square" lIns="0" rIns="0" tIns="0" bIns="0" anchor="ctr">
            <a:spAutoFit/>
          </a:bodyPr>
          <a:lstStyle/>
          <a:p>
            <a:pPr algn="l"/>
            <a:r>
              <a:rPr sz="1300" b="0" i="0">
                <a:solidFill>
                  <a:srgbClr val="5B6778"/>
                </a:solidFill>
                <a:latin typeface="Arial"/>
              </a:rPr>
              <a:t>4</a:t>
            </a:r>
          </a:p>
        </p:txBody>
      </p:sp>
      <p:sp>
        <p:nvSpPr>
          <p:cNvPr id="59" name="Rounded Rectangle 58"/>
          <p:cNvSpPr/>
          <p:nvPr/>
        </p:nvSpPr>
        <p:spPr>
          <a:xfrm>
            <a:off x="6108191" y="3593591"/>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45351" y="3593591"/>
            <a:ext cx="1874520" cy="438912"/>
          </a:xfrm>
          <a:prstGeom prst="rect">
            <a:avLst/>
          </a:prstGeom>
          <a:noFill/>
        </p:spPr>
        <p:txBody>
          <a:bodyPr wrap="square" lIns="0" rIns="0" tIns="0" bIns="0" anchor="ctr">
            <a:spAutoFit/>
          </a:bodyPr>
          <a:lstStyle/>
          <a:p>
            <a:pPr algn="l"/>
            <a:r>
              <a:rPr sz="1300" b="1" i="0">
                <a:solidFill>
                  <a:srgbClr val="1B2A41"/>
                </a:solidFill>
                <a:latin typeface="Arial"/>
              </a:rPr>
              <a:t>thang log</a:t>
            </a:r>
          </a:p>
        </p:txBody>
      </p:sp>
      <p:sp>
        <p:nvSpPr>
          <p:cNvPr id="61" name="TextBox 60"/>
          <p:cNvSpPr txBox="1"/>
          <p:nvPr/>
        </p:nvSpPr>
        <p:spPr>
          <a:xfrm>
            <a:off x="8394192" y="3593591"/>
            <a:ext cx="2286000" cy="438912"/>
          </a:xfrm>
          <a:prstGeom prst="rect">
            <a:avLst/>
          </a:prstGeom>
          <a:noFill/>
        </p:spPr>
        <p:txBody>
          <a:bodyPr wrap="square" lIns="0" rIns="0" tIns="0" bIns="0" anchor="ctr">
            <a:spAutoFit/>
          </a:bodyPr>
          <a:lstStyle/>
          <a:p>
            <a:pPr algn="l"/>
            <a:r>
              <a:rPr sz="1300" b="0" i="0">
                <a:solidFill>
                  <a:srgbClr val="1B2A41"/>
                </a:solidFill>
                <a:latin typeface="Arial"/>
              </a:rPr>
              <a:t>log scale</a:t>
            </a:r>
          </a:p>
        </p:txBody>
      </p:sp>
      <p:sp>
        <p:nvSpPr>
          <p:cNvPr id="62" name="TextBox 61"/>
          <p:cNvSpPr txBox="1"/>
          <p:nvPr/>
        </p:nvSpPr>
        <p:spPr>
          <a:xfrm>
            <a:off x="10954511" y="3593591"/>
            <a:ext cx="548640" cy="438912"/>
          </a:xfrm>
          <a:prstGeom prst="rect">
            <a:avLst/>
          </a:prstGeom>
          <a:noFill/>
        </p:spPr>
        <p:txBody>
          <a:bodyPr wrap="square" lIns="0" rIns="0" tIns="0" bIns="0" anchor="ctr">
            <a:spAutoFit/>
          </a:bodyPr>
          <a:lstStyle/>
          <a:p>
            <a:pPr algn="l"/>
            <a:r>
              <a:rPr sz="1300" b="0" i="0">
                <a:solidFill>
                  <a:srgbClr val="5B6778"/>
                </a:solidFill>
                <a:latin typeface="Arial"/>
              </a:rPr>
              <a:t>4</a:t>
            </a:r>
          </a:p>
        </p:txBody>
      </p:sp>
      <p:sp>
        <p:nvSpPr>
          <p:cNvPr id="63" name="TextBox 62"/>
          <p:cNvSpPr txBox="1"/>
          <p:nvPr/>
        </p:nvSpPr>
        <p:spPr>
          <a:xfrm>
            <a:off x="6245351" y="4069080"/>
            <a:ext cx="1874520" cy="438912"/>
          </a:xfrm>
          <a:prstGeom prst="rect">
            <a:avLst/>
          </a:prstGeom>
          <a:noFill/>
        </p:spPr>
        <p:txBody>
          <a:bodyPr wrap="square" lIns="0" rIns="0" tIns="0" bIns="0" anchor="ctr">
            <a:spAutoFit/>
          </a:bodyPr>
          <a:lstStyle/>
          <a:p>
            <a:pPr algn="l"/>
            <a:r>
              <a:rPr sz="1300" b="1" i="0">
                <a:solidFill>
                  <a:srgbClr val="1B2A41"/>
                </a:solidFill>
                <a:latin typeface="Arial"/>
              </a:rPr>
              <a:t>năm gốc</a:t>
            </a:r>
          </a:p>
        </p:txBody>
      </p:sp>
      <p:sp>
        <p:nvSpPr>
          <p:cNvPr id="64" name="TextBox 63"/>
          <p:cNvSpPr txBox="1"/>
          <p:nvPr/>
        </p:nvSpPr>
        <p:spPr>
          <a:xfrm>
            <a:off x="8394192" y="4069080"/>
            <a:ext cx="2286000" cy="438912"/>
          </a:xfrm>
          <a:prstGeom prst="rect">
            <a:avLst/>
          </a:prstGeom>
          <a:noFill/>
        </p:spPr>
        <p:txBody>
          <a:bodyPr wrap="square" lIns="0" rIns="0" tIns="0" bIns="0" anchor="ctr">
            <a:spAutoFit/>
          </a:bodyPr>
          <a:lstStyle/>
          <a:p>
            <a:pPr algn="l"/>
            <a:r>
              <a:rPr sz="1300" b="0" i="0">
                <a:solidFill>
                  <a:srgbClr val="1B2A41"/>
                </a:solidFill>
                <a:latin typeface="Arial"/>
              </a:rPr>
              <a:t>base year (CPI)</a:t>
            </a:r>
          </a:p>
        </p:txBody>
      </p:sp>
      <p:sp>
        <p:nvSpPr>
          <p:cNvPr id="65" name="TextBox 64"/>
          <p:cNvSpPr txBox="1"/>
          <p:nvPr/>
        </p:nvSpPr>
        <p:spPr>
          <a:xfrm>
            <a:off x="10954511" y="4069080"/>
            <a:ext cx="548640" cy="438912"/>
          </a:xfrm>
          <a:prstGeom prst="rect">
            <a:avLst/>
          </a:prstGeom>
          <a:noFill/>
        </p:spPr>
        <p:txBody>
          <a:bodyPr wrap="square" lIns="0" rIns="0" tIns="0" bIns="0" anchor="ctr">
            <a:spAutoFit/>
          </a:bodyPr>
          <a:lstStyle/>
          <a:p>
            <a:pPr algn="l"/>
            <a:r>
              <a:rPr sz="1300" b="0" i="0">
                <a:solidFill>
                  <a:srgbClr val="5B6778"/>
                </a:solidFill>
                <a:latin typeface="Arial"/>
              </a:rPr>
              <a:t>5</a:t>
            </a:r>
          </a:p>
        </p:txBody>
      </p:sp>
      <p:sp>
        <p:nvSpPr>
          <p:cNvPr id="66" name="Rounded Rectangle 65"/>
          <p:cNvSpPr/>
          <p:nvPr/>
        </p:nvSpPr>
        <p:spPr>
          <a:xfrm>
            <a:off x="6108191" y="4544568"/>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245351" y="4544568"/>
            <a:ext cx="1874520" cy="438912"/>
          </a:xfrm>
          <a:prstGeom prst="rect">
            <a:avLst/>
          </a:prstGeom>
          <a:noFill/>
        </p:spPr>
        <p:txBody>
          <a:bodyPr wrap="square" lIns="0" rIns="0" tIns="0" bIns="0" anchor="ctr">
            <a:spAutoFit/>
          </a:bodyPr>
          <a:lstStyle/>
          <a:p>
            <a:pPr algn="l"/>
            <a:r>
              <a:rPr sz="1300" b="1" i="0">
                <a:solidFill>
                  <a:srgbClr val="1B2A41"/>
                </a:solidFill>
                <a:latin typeface="Arial"/>
              </a:rPr>
              <a:t>trên đầu người</a:t>
            </a:r>
          </a:p>
        </p:txBody>
      </p:sp>
      <p:sp>
        <p:nvSpPr>
          <p:cNvPr id="68" name="TextBox 67"/>
          <p:cNvSpPr txBox="1"/>
          <p:nvPr/>
        </p:nvSpPr>
        <p:spPr>
          <a:xfrm>
            <a:off x="8394192" y="4544568"/>
            <a:ext cx="2286000" cy="438912"/>
          </a:xfrm>
          <a:prstGeom prst="rect">
            <a:avLst/>
          </a:prstGeom>
          <a:noFill/>
        </p:spPr>
        <p:txBody>
          <a:bodyPr wrap="square" lIns="0" rIns="0" tIns="0" bIns="0" anchor="ctr">
            <a:spAutoFit/>
          </a:bodyPr>
          <a:lstStyle/>
          <a:p>
            <a:pPr algn="l"/>
            <a:r>
              <a:rPr sz="1300" b="0" i="0">
                <a:solidFill>
                  <a:srgbClr val="1B2A41"/>
                </a:solidFill>
                <a:latin typeface="Arial"/>
              </a:rPr>
              <a:t>per capita</a:t>
            </a:r>
          </a:p>
        </p:txBody>
      </p:sp>
      <p:sp>
        <p:nvSpPr>
          <p:cNvPr id="69" name="TextBox 68"/>
          <p:cNvSpPr txBox="1"/>
          <p:nvPr/>
        </p:nvSpPr>
        <p:spPr>
          <a:xfrm>
            <a:off x="10954511" y="4544568"/>
            <a:ext cx="548640" cy="438912"/>
          </a:xfrm>
          <a:prstGeom prst="rect">
            <a:avLst/>
          </a:prstGeom>
          <a:noFill/>
        </p:spPr>
        <p:txBody>
          <a:bodyPr wrap="square" lIns="0" rIns="0" tIns="0" bIns="0" anchor="ctr">
            <a:spAutoFit/>
          </a:bodyPr>
          <a:lstStyle/>
          <a:p>
            <a:pPr algn="l"/>
            <a:r>
              <a:rPr sz="1300" b="0" i="0">
                <a:solidFill>
                  <a:srgbClr val="5B6778"/>
                </a:solidFill>
                <a:latin typeface="Arial"/>
              </a:rPr>
              <a:t>5</a:t>
            </a:r>
          </a:p>
        </p:txBody>
      </p:sp>
      <p:sp>
        <p:nvSpPr>
          <p:cNvPr id="70" name="TextBox 69"/>
          <p:cNvSpPr txBox="1"/>
          <p:nvPr/>
        </p:nvSpPr>
        <p:spPr>
          <a:xfrm>
            <a:off x="6245351" y="5020056"/>
            <a:ext cx="1874520" cy="438912"/>
          </a:xfrm>
          <a:prstGeom prst="rect">
            <a:avLst/>
          </a:prstGeom>
          <a:noFill/>
        </p:spPr>
        <p:txBody>
          <a:bodyPr wrap="square" lIns="0" rIns="0" tIns="0" bIns="0" anchor="ctr">
            <a:spAutoFit/>
          </a:bodyPr>
          <a:lstStyle/>
          <a:p>
            <a:pPr algn="l"/>
            <a:r>
              <a:rPr sz="1300" b="1" i="0">
                <a:solidFill>
                  <a:srgbClr val="1B2A41"/>
                </a:solidFill>
                <a:latin typeface="Arial"/>
              </a:rPr>
              <a:t>phân phối log-normal</a:t>
            </a:r>
          </a:p>
        </p:txBody>
      </p:sp>
      <p:sp>
        <p:nvSpPr>
          <p:cNvPr id="71" name="TextBox 70"/>
          <p:cNvSpPr txBox="1"/>
          <p:nvPr/>
        </p:nvSpPr>
        <p:spPr>
          <a:xfrm>
            <a:off x="8394192" y="5020056"/>
            <a:ext cx="2286000" cy="438912"/>
          </a:xfrm>
          <a:prstGeom prst="rect">
            <a:avLst/>
          </a:prstGeom>
          <a:noFill/>
        </p:spPr>
        <p:txBody>
          <a:bodyPr wrap="square" lIns="0" rIns="0" tIns="0" bIns="0" anchor="ctr">
            <a:spAutoFit/>
          </a:bodyPr>
          <a:lstStyle/>
          <a:p>
            <a:pPr algn="l"/>
            <a:r>
              <a:rPr sz="1300" b="0" i="0">
                <a:solidFill>
                  <a:srgbClr val="1B2A41"/>
                </a:solidFill>
                <a:latin typeface="Arial"/>
              </a:rPr>
              <a:t>log-normal distribution</a:t>
            </a:r>
          </a:p>
        </p:txBody>
      </p:sp>
      <p:sp>
        <p:nvSpPr>
          <p:cNvPr id="72" name="TextBox 71"/>
          <p:cNvSpPr txBox="1"/>
          <p:nvPr/>
        </p:nvSpPr>
        <p:spPr>
          <a:xfrm>
            <a:off x="10954511" y="5020056"/>
            <a:ext cx="548640" cy="438912"/>
          </a:xfrm>
          <a:prstGeom prst="rect">
            <a:avLst/>
          </a:prstGeom>
          <a:noFill/>
        </p:spPr>
        <p:txBody>
          <a:bodyPr wrap="square" lIns="0" rIns="0" tIns="0" bIns="0" anchor="ctr">
            <a:spAutoFit/>
          </a:bodyPr>
          <a:lstStyle/>
          <a:p>
            <a:pPr algn="l"/>
            <a:r>
              <a:rPr sz="1300" b="0" i="0">
                <a:solidFill>
                  <a:srgbClr val="5B6778"/>
                </a:solidFill>
                <a:latin typeface="Arial"/>
              </a:rPr>
              <a:t>5</a:t>
            </a:r>
          </a:p>
        </p:txBody>
      </p:sp>
      <p:sp>
        <p:nvSpPr>
          <p:cNvPr id="73" name="Rounded Rectangle 72"/>
          <p:cNvSpPr/>
          <p:nvPr/>
        </p:nvSpPr>
        <p:spPr>
          <a:xfrm>
            <a:off x="6108191" y="5495544"/>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245351" y="5495544"/>
            <a:ext cx="1874520" cy="438912"/>
          </a:xfrm>
          <a:prstGeom prst="rect">
            <a:avLst/>
          </a:prstGeom>
          <a:noFill/>
        </p:spPr>
        <p:txBody>
          <a:bodyPr wrap="square" lIns="0" rIns="0" tIns="0" bIns="0" anchor="ctr">
            <a:spAutoFit/>
          </a:bodyPr>
          <a:lstStyle/>
          <a:p>
            <a:pPr algn="l"/>
            <a:r>
              <a:rPr sz="1300" b="1" i="0">
                <a:solidFill>
                  <a:srgbClr val="1B2A41"/>
                </a:solidFill>
                <a:latin typeface="Arial"/>
              </a:rPr>
              <a:t>trung bình trượt 2×m</a:t>
            </a:r>
          </a:p>
        </p:txBody>
      </p:sp>
      <p:sp>
        <p:nvSpPr>
          <p:cNvPr id="75" name="TextBox 74"/>
          <p:cNvSpPr txBox="1"/>
          <p:nvPr/>
        </p:nvSpPr>
        <p:spPr>
          <a:xfrm>
            <a:off x="8394192" y="5495544"/>
            <a:ext cx="2286000" cy="438912"/>
          </a:xfrm>
          <a:prstGeom prst="rect">
            <a:avLst/>
          </a:prstGeom>
          <a:noFill/>
        </p:spPr>
        <p:txBody>
          <a:bodyPr wrap="square" lIns="0" rIns="0" tIns="0" bIns="0" anchor="ctr">
            <a:spAutoFit/>
          </a:bodyPr>
          <a:lstStyle/>
          <a:p>
            <a:pPr algn="l"/>
            <a:r>
              <a:rPr sz="1300" b="0" i="0">
                <a:solidFill>
                  <a:srgbClr val="1B2A41"/>
                </a:solidFill>
                <a:latin typeface="Arial"/>
              </a:rPr>
              <a:t>2×m moving average (2×m-MA)</a:t>
            </a:r>
          </a:p>
        </p:txBody>
      </p:sp>
      <p:sp>
        <p:nvSpPr>
          <p:cNvPr id="76" name="TextBox 75"/>
          <p:cNvSpPr txBox="1"/>
          <p:nvPr/>
        </p:nvSpPr>
        <p:spPr>
          <a:xfrm>
            <a:off x="10954511" y="5495544"/>
            <a:ext cx="548640" cy="438912"/>
          </a:xfrm>
          <a:prstGeom prst="rect">
            <a:avLst/>
          </a:prstGeom>
          <a:noFill/>
        </p:spPr>
        <p:txBody>
          <a:bodyPr wrap="square" lIns="0" rIns="0" tIns="0" bIns="0" anchor="ctr">
            <a:spAutoFit/>
          </a:bodyPr>
          <a:lstStyle/>
          <a:p>
            <a:pPr algn="l"/>
            <a:r>
              <a:rPr sz="1300" b="0" i="0">
                <a:solidFill>
                  <a:srgbClr val="5B6778"/>
                </a:solidFill>
                <a:latin typeface="Arial"/>
              </a:rPr>
              <a:t>6</a:t>
            </a:r>
          </a:p>
        </p:txBody>
      </p:sp>
      <p:sp>
        <p:nvSpPr>
          <p:cNvPr id="77" name="TextBox 76"/>
          <p:cNvSpPr txBox="1"/>
          <p:nvPr/>
        </p:nvSpPr>
        <p:spPr>
          <a:xfrm>
            <a:off x="6245351" y="5971031"/>
            <a:ext cx="1874520" cy="438912"/>
          </a:xfrm>
          <a:prstGeom prst="rect">
            <a:avLst/>
          </a:prstGeom>
          <a:noFill/>
        </p:spPr>
        <p:txBody>
          <a:bodyPr wrap="square" lIns="0" rIns="0" tIns="0" bIns="0" anchor="ctr">
            <a:spAutoFit/>
          </a:bodyPr>
          <a:lstStyle/>
          <a:p>
            <a:pPr algn="l"/>
            <a:r>
              <a:rPr sz="1300" b="1" i="0">
                <a:solidFill>
                  <a:srgbClr val="1B2A41"/>
                </a:solidFill>
                <a:latin typeface="Arial"/>
              </a:rPr>
              <a:t>độ mạnh mùa vụ</a:t>
            </a:r>
          </a:p>
        </p:txBody>
      </p:sp>
      <p:sp>
        <p:nvSpPr>
          <p:cNvPr id="78" name="TextBox 77"/>
          <p:cNvSpPr txBox="1"/>
          <p:nvPr/>
        </p:nvSpPr>
        <p:spPr>
          <a:xfrm>
            <a:off x="8394192" y="5971031"/>
            <a:ext cx="2286000" cy="438912"/>
          </a:xfrm>
          <a:prstGeom prst="rect">
            <a:avLst/>
          </a:prstGeom>
          <a:noFill/>
        </p:spPr>
        <p:txBody>
          <a:bodyPr wrap="square" lIns="0" rIns="0" tIns="0" bIns="0" anchor="ctr">
            <a:spAutoFit/>
          </a:bodyPr>
          <a:lstStyle/>
          <a:p>
            <a:pPr algn="l"/>
            <a:r>
              <a:rPr sz="1300" b="0" i="0">
                <a:solidFill>
                  <a:srgbClr val="1B2A41"/>
                </a:solidFill>
                <a:latin typeface="Arial"/>
              </a:rPr>
              <a:t>strength of seasonality F_S</a:t>
            </a:r>
          </a:p>
        </p:txBody>
      </p:sp>
      <p:sp>
        <p:nvSpPr>
          <p:cNvPr id="79" name="TextBox 78"/>
          <p:cNvSpPr txBox="1"/>
          <p:nvPr/>
        </p:nvSpPr>
        <p:spPr>
          <a:xfrm>
            <a:off x="10954511" y="5971031"/>
            <a:ext cx="548640" cy="438912"/>
          </a:xfrm>
          <a:prstGeom prst="rect">
            <a:avLst/>
          </a:prstGeom>
          <a:noFill/>
        </p:spPr>
        <p:txBody>
          <a:bodyPr wrap="square" lIns="0" rIns="0" tIns="0" bIns="0" anchor="ctr">
            <a:spAutoFit/>
          </a:bodyPr>
          <a:lstStyle/>
          <a:p>
            <a:pPr algn="l"/>
            <a:r>
              <a:rPr sz="1300" b="0" i="0">
                <a:solidFill>
                  <a:srgbClr val="5B6778"/>
                </a:solidFill>
                <a:latin typeface="Arial"/>
              </a:rPr>
              <a:t>6</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A77B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C</a:t>
            </a:r>
          </a:p>
        </p:txBody>
      </p:sp>
      <p:sp>
        <p:nvSpPr>
          <p:cNvPr id="3" name="TextBox 2"/>
          <p:cNvSpPr txBox="1"/>
          <p:nvPr/>
        </p:nvSpPr>
        <p:spPr>
          <a:xfrm>
            <a:off x="1325880" y="384048"/>
            <a:ext cx="10332720" cy="731520"/>
          </a:xfrm>
          <a:prstGeom prst="rect">
            <a:avLst/>
          </a:prstGeom>
          <a:noFill/>
        </p:spPr>
        <p:txBody>
          <a:bodyPr wrap="square" lIns="0" rIns="0" tIns="0" bIns="0" anchor="ctr">
            <a:spAutoFit/>
          </a:bodyPr>
          <a:lstStyle/>
          <a:p>
            <a:pPr algn="l"/>
            <a:r>
              <a:rPr sz="3000" b="1" i="0">
                <a:solidFill>
                  <a:srgbClr val="1B2A41"/>
                </a:solidFill>
                <a:latin typeface="Arial"/>
              </a:rPr>
              <a:t>Từ điển Việt – Anh 5/5: tương quan, làm sạch, bộ lọc</a:t>
            </a:r>
          </a:p>
        </p:txBody>
      </p:sp>
      <p:sp>
        <p:nvSpPr>
          <p:cNvPr id="4" name="TextBox 3"/>
          <p:cNvSpPr txBox="1"/>
          <p:nvPr/>
        </p:nvSpPr>
        <p:spPr>
          <a:xfrm>
            <a:off x="685800" y="1280160"/>
            <a:ext cx="1874520" cy="365760"/>
          </a:xfrm>
          <a:prstGeom prst="rect">
            <a:avLst/>
          </a:prstGeom>
          <a:noFill/>
        </p:spPr>
        <p:txBody>
          <a:bodyPr wrap="square" lIns="0" rIns="0" tIns="0" bIns="0" anchor="t">
            <a:spAutoFit/>
          </a:bodyPr>
          <a:lstStyle/>
          <a:p>
            <a:pPr algn="l"/>
            <a:r>
              <a:rPr sz="1100" b="1" i="0">
                <a:solidFill>
                  <a:srgbClr val="A77B06"/>
                </a:solidFill>
                <a:latin typeface="Arial"/>
              </a:rPr>
              <a:t>TIẾNG VIỆT</a:t>
            </a:r>
          </a:p>
        </p:txBody>
      </p:sp>
      <p:sp>
        <p:nvSpPr>
          <p:cNvPr id="5" name="TextBox 4"/>
          <p:cNvSpPr txBox="1"/>
          <p:nvPr/>
        </p:nvSpPr>
        <p:spPr>
          <a:xfrm>
            <a:off x="2834640" y="1280160"/>
            <a:ext cx="2286000" cy="365760"/>
          </a:xfrm>
          <a:prstGeom prst="rect">
            <a:avLst/>
          </a:prstGeom>
          <a:noFill/>
        </p:spPr>
        <p:txBody>
          <a:bodyPr wrap="square" lIns="0" rIns="0" tIns="0" bIns="0" anchor="t">
            <a:spAutoFit/>
          </a:bodyPr>
          <a:lstStyle/>
          <a:p>
            <a:pPr algn="l"/>
            <a:r>
              <a:rPr sz="1100" b="1" i="0">
                <a:solidFill>
                  <a:srgbClr val="5B6778"/>
                </a:solidFill>
                <a:latin typeface="Arial"/>
              </a:rPr>
              <a:t>ENGLISH</a:t>
            </a:r>
          </a:p>
        </p:txBody>
      </p:sp>
      <p:sp>
        <p:nvSpPr>
          <p:cNvPr id="6" name="TextBox 5"/>
          <p:cNvSpPr txBox="1"/>
          <p:nvPr/>
        </p:nvSpPr>
        <p:spPr>
          <a:xfrm>
            <a:off x="5394960" y="1280160"/>
            <a:ext cx="548640" cy="365760"/>
          </a:xfrm>
          <a:prstGeom prst="rect">
            <a:avLst/>
          </a:prstGeom>
          <a:noFill/>
        </p:spPr>
        <p:txBody>
          <a:bodyPr wrap="square" lIns="0" rIns="0" tIns="0" bIns="0" anchor="t">
            <a:spAutoFit/>
          </a:bodyPr>
          <a:lstStyle/>
          <a:p>
            <a:pPr algn="l"/>
            <a:r>
              <a:rPr sz="1100" b="1" i="0">
                <a:solidFill>
                  <a:srgbClr val="5B6778"/>
                </a:solidFill>
                <a:latin typeface="Arial"/>
              </a:rPr>
              <a:t>BUỔI</a:t>
            </a:r>
          </a:p>
        </p:txBody>
      </p:sp>
      <p:sp>
        <p:nvSpPr>
          <p:cNvPr id="7" name="Rounded Rectangle 6"/>
          <p:cNvSpPr/>
          <p:nvPr/>
        </p:nvSpPr>
        <p:spPr>
          <a:xfrm>
            <a:off x="548640" y="1691639"/>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691639"/>
            <a:ext cx="1874520" cy="438912"/>
          </a:xfrm>
          <a:prstGeom prst="rect">
            <a:avLst/>
          </a:prstGeom>
          <a:noFill/>
        </p:spPr>
        <p:txBody>
          <a:bodyPr wrap="square" lIns="0" rIns="0" tIns="0" bIns="0" anchor="ctr">
            <a:spAutoFit/>
          </a:bodyPr>
          <a:lstStyle/>
          <a:p>
            <a:pPr algn="l"/>
            <a:r>
              <a:rPr sz="1300" b="1" i="0">
                <a:solidFill>
                  <a:srgbClr val="1B2A41"/>
                </a:solidFill>
                <a:latin typeface="Arial"/>
              </a:rPr>
              <a:t>hồi quy đơn, R²</a:t>
            </a:r>
          </a:p>
        </p:txBody>
      </p:sp>
      <p:sp>
        <p:nvSpPr>
          <p:cNvPr id="9" name="TextBox 8"/>
          <p:cNvSpPr txBox="1"/>
          <p:nvPr/>
        </p:nvSpPr>
        <p:spPr>
          <a:xfrm>
            <a:off x="2834640" y="1691639"/>
            <a:ext cx="2286000" cy="438912"/>
          </a:xfrm>
          <a:prstGeom prst="rect">
            <a:avLst/>
          </a:prstGeom>
          <a:noFill/>
        </p:spPr>
        <p:txBody>
          <a:bodyPr wrap="square" lIns="0" rIns="0" tIns="0" bIns="0" anchor="ctr">
            <a:spAutoFit/>
          </a:bodyPr>
          <a:lstStyle/>
          <a:p>
            <a:pPr algn="l"/>
            <a:r>
              <a:rPr sz="1300" b="0" i="0">
                <a:solidFill>
                  <a:srgbClr val="1B2A41"/>
                </a:solidFill>
                <a:latin typeface="Arial"/>
              </a:rPr>
              <a:t>simple regression, R-squared</a:t>
            </a:r>
          </a:p>
        </p:txBody>
      </p:sp>
      <p:sp>
        <p:nvSpPr>
          <p:cNvPr id="10" name="TextBox 9"/>
          <p:cNvSpPr txBox="1"/>
          <p:nvPr/>
        </p:nvSpPr>
        <p:spPr>
          <a:xfrm>
            <a:off x="5394960" y="1691639"/>
            <a:ext cx="548640" cy="438912"/>
          </a:xfrm>
          <a:prstGeom prst="rect">
            <a:avLst/>
          </a:prstGeom>
          <a:noFill/>
        </p:spPr>
        <p:txBody>
          <a:bodyPr wrap="square" lIns="0" rIns="0" tIns="0" bIns="0" anchor="ctr">
            <a:spAutoFit/>
          </a:bodyPr>
          <a:lstStyle/>
          <a:p>
            <a:pPr algn="l"/>
            <a:r>
              <a:rPr sz="1300" b="0" i="0">
                <a:solidFill>
                  <a:srgbClr val="5B6778"/>
                </a:solidFill>
                <a:latin typeface="Arial"/>
              </a:rPr>
              <a:t>8</a:t>
            </a:r>
          </a:p>
        </p:txBody>
      </p:sp>
      <p:sp>
        <p:nvSpPr>
          <p:cNvPr id="11" name="TextBox 10"/>
          <p:cNvSpPr txBox="1"/>
          <p:nvPr/>
        </p:nvSpPr>
        <p:spPr>
          <a:xfrm>
            <a:off x="685800" y="2167128"/>
            <a:ext cx="1874520" cy="438912"/>
          </a:xfrm>
          <a:prstGeom prst="rect">
            <a:avLst/>
          </a:prstGeom>
          <a:noFill/>
        </p:spPr>
        <p:txBody>
          <a:bodyPr wrap="square" lIns="0" rIns="0" tIns="0" bIns="0" anchor="ctr">
            <a:spAutoFit/>
          </a:bodyPr>
          <a:lstStyle/>
          <a:p>
            <a:pPr algn="l"/>
            <a:r>
              <a:rPr sz="1300" b="1" i="0">
                <a:solidFill>
                  <a:srgbClr val="1B2A41"/>
                </a:solidFill>
                <a:latin typeface="Arial"/>
              </a:rPr>
              <a:t>hoán vị theo khối</a:t>
            </a:r>
          </a:p>
        </p:txBody>
      </p:sp>
      <p:sp>
        <p:nvSpPr>
          <p:cNvPr id="12" name="TextBox 11"/>
          <p:cNvSpPr txBox="1"/>
          <p:nvPr/>
        </p:nvSpPr>
        <p:spPr>
          <a:xfrm>
            <a:off x="2834640" y="2167128"/>
            <a:ext cx="2286000" cy="438912"/>
          </a:xfrm>
          <a:prstGeom prst="rect">
            <a:avLst/>
          </a:prstGeom>
          <a:noFill/>
        </p:spPr>
        <p:txBody>
          <a:bodyPr wrap="square" lIns="0" rIns="0" tIns="0" bIns="0" anchor="ctr">
            <a:spAutoFit/>
          </a:bodyPr>
          <a:lstStyle/>
          <a:p>
            <a:pPr algn="l"/>
            <a:r>
              <a:rPr sz="1300" b="0" i="0">
                <a:solidFill>
                  <a:srgbClr val="1B2A41"/>
                </a:solidFill>
                <a:latin typeface="Arial"/>
              </a:rPr>
              <a:t>block permutation</a:t>
            </a:r>
          </a:p>
        </p:txBody>
      </p:sp>
      <p:sp>
        <p:nvSpPr>
          <p:cNvPr id="13" name="TextBox 12"/>
          <p:cNvSpPr txBox="1"/>
          <p:nvPr/>
        </p:nvSpPr>
        <p:spPr>
          <a:xfrm>
            <a:off x="5394960" y="2167128"/>
            <a:ext cx="548640" cy="438912"/>
          </a:xfrm>
          <a:prstGeom prst="rect">
            <a:avLst/>
          </a:prstGeom>
          <a:noFill/>
        </p:spPr>
        <p:txBody>
          <a:bodyPr wrap="square" lIns="0" rIns="0" tIns="0" bIns="0" anchor="ctr">
            <a:spAutoFit/>
          </a:bodyPr>
          <a:lstStyle/>
          <a:p>
            <a:pPr algn="l"/>
            <a:r>
              <a:rPr sz="1300" b="0" i="0">
                <a:solidFill>
                  <a:srgbClr val="5B6778"/>
                </a:solidFill>
                <a:latin typeface="Arial"/>
              </a:rPr>
              <a:t>8</a:t>
            </a:r>
          </a:p>
        </p:txBody>
      </p:sp>
      <p:sp>
        <p:nvSpPr>
          <p:cNvPr id="14" name="Rounded Rectangle 13"/>
          <p:cNvSpPr/>
          <p:nvPr/>
        </p:nvSpPr>
        <p:spPr>
          <a:xfrm>
            <a:off x="548640" y="2642615"/>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2642615"/>
            <a:ext cx="1874520" cy="438912"/>
          </a:xfrm>
          <a:prstGeom prst="rect">
            <a:avLst/>
          </a:prstGeom>
          <a:noFill/>
        </p:spPr>
        <p:txBody>
          <a:bodyPr wrap="square" lIns="0" rIns="0" tIns="0" bIns="0" anchor="ctr">
            <a:spAutoFit/>
          </a:bodyPr>
          <a:lstStyle/>
          <a:p>
            <a:pPr algn="l"/>
            <a:r>
              <a:rPr sz="1300" b="1" i="0">
                <a:solidFill>
                  <a:srgbClr val="1B2A41"/>
                </a:solidFill>
                <a:latin typeface="Arial"/>
              </a:rPr>
              <a:t>biến gây nhiễu</a:t>
            </a:r>
          </a:p>
        </p:txBody>
      </p:sp>
      <p:sp>
        <p:nvSpPr>
          <p:cNvPr id="16" name="TextBox 15"/>
          <p:cNvSpPr txBox="1"/>
          <p:nvPr/>
        </p:nvSpPr>
        <p:spPr>
          <a:xfrm>
            <a:off x="2834640" y="2642615"/>
            <a:ext cx="2286000" cy="438912"/>
          </a:xfrm>
          <a:prstGeom prst="rect">
            <a:avLst/>
          </a:prstGeom>
          <a:noFill/>
        </p:spPr>
        <p:txBody>
          <a:bodyPr wrap="square" lIns="0" rIns="0" tIns="0" bIns="0" anchor="ctr">
            <a:spAutoFit/>
          </a:bodyPr>
          <a:lstStyle/>
          <a:p>
            <a:pPr algn="l"/>
            <a:r>
              <a:rPr sz="1300" b="0" i="0">
                <a:solidFill>
                  <a:srgbClr val="1B2A41"/>
                </a:solidFill>
                <a:latin typeface="Arial"/>
              </a:rPr>
              <a:t>confounder</a:t>
            </a:r>
          </a:p>
        </p:txBody>
      </p:sp>
      <p:sp>
        <p:nvSpPr>
          <p:cNvPr id="17" name="TextBox 16"/>
          <p:cNvSpPr txBox="1"/>
          <p:nvPr/>
        </p:nvSpPr>
        <p:spPr>
          <a:xfrm>
            <a:off x="5394960" y="2642615"/>
            <a:ext cx="548640" cy="438912"/>
          </a:xfrm>
          <a:prstGeom prst="rect">
            <a:avLst/>
          </a:prstGeom>
          <a:noFill/>
        </p:spPr>
        <p:txBody>
          <a:bodyPr wrap="square" lIns="0" rIns="0" tIns="0" bIns="0" anchor="ctr">
            <a:spAutoFit/>
          </a:bodyPr>
          <a:lstStyle/>
          <a:p>
            <a:pPr algn="l"/>
            <a:r>
              <a:rPr sz="1300" b="0" i="0">
                <a:solidFill>
                  <a:srgbClr val="5B6778"/>
                </a:solidFill>
                <a:latin typeface="Arial"/>
              </a:rPr>
              <a:t>2, 8</a:t>
            </a:r>
          </a:p>
        </p:txBody>
      </p:sp>
      <p:sp>
        <p:nvSpPr>
          <p:cNvPr id="18" name="TextBox 17"/>
          <p:cNvSpPr txBox="1"/>
          <p:nvPr/>
        </p:nvSpPr>
        <p:spPr>
          <a:xfrm>
            <a:off x="685800" y="3118104"/>
            <a:ext cx="1874520" cy="438912"/>
          </a:xfrm>
          <a:prstGeom prst="rect">
            <a:avLst/>
          </a:prstGeom>
          <a:noFill/>
        </p:spPr>
        <p:txBody>
          <a:bodyPr wrap="square" lIns="0" rIns="0" tIns="0" bIns="0" anchor="ctr">
            <a:spAutoFit/>
          </a:bodyPr>
          <a:lstStyle/>
          <a:p>
            <a:pPr algn="l"/>
            <a:r>
              <a:rPr sz="1300" b="1" i="0">
                <a:solidFill>
                  <a:srgbClr val="1B2A41"/>
                </a:solidFill>
                <a:latin typeface="Arial"/>
              </a:rPr>
              <a:t>phân cụm Ward</a:t>
            </a:r>
          </a:p>
        </p:txBody>
      </p:sp>
      <p:sp>
        <p:nvSpPr>
          <p:cNvPr id="19" name="TextBox 18"/>
          <p:cNvSpPr txBox="1"/>
          <p:nvPr/>
        </p:nvSpPr>
        <p:spPr>
          <a:xfrm>
            <a:off x="2834640" y="3118104"/>
            <a:ext cx="2286000" cy="438912"/>
          </a:xfrm>
          <a:prstGeom prst="rect">
            <a:avLst/>
          </a:prstGeom>
          <a:noFill/>
        </p:spPr>
        <p:txBody>
          <a:bodyPr wrap="square" lIns="0" rIns="0" tIns="0" bIns="0" anchor="ctr">
            <a:spAutoFit/>
          </a:bodyPr>
          <a:lstStyle/>
          <a:p>
            <a:pPr algn="l"/>
            <a:r>
              <a:rPr sz="1300" b="0" i="0">
                <a:solidFill>
                  <a:srgbClr val="1B2A41"/>
                </a:solidFill>
                <a:latin typeface="Arial"/>
              </a:rPr>
              <a:t>Ward hierarchical clustering</a:t>
            </a:r>
          </a:p>
        </p:txBody>
      </p:sp>
      <p:sp>
        <p:nvSpPr>
          <p:cNvPr id="20" name="TextBox 19"/>
          <p:cNvSpPr txBox="1"/>
          <p:nvPr/>
        </p:nvSpPr>
        <p:spPr>
          <a:xfrm>
            <a:off x="5394960" y="3118104"/>
            <a:ext cx="548640" cy="438912"/>
          </a:xfrm>
          <a:prstGeom prst="rect">
            <a:avLst/>
          </a:prstGeom>
          <a:noFill/>
        </p:spPr>
        <p:txBody>
          <a:bodyPr wrap="square" lIns="0" rIns="0" tIns="0" bIns="0" anchor="ctr">
            <a:spAutoFit/>
          </a:bodyPr>
          <a:lstStyle/>
          <a:p>
            <a:pPr algn="l"/>
            <a:r>
              <a:rPr sz="1300" b="0" i="0">
                <a:solidFill>
                  <a:srgbClr val="5B6778"/>
                </a:solidFill>
                <a:latin typeface="Arial"/>
              </a:rPr>
              <a:t>9</a:t>
            </a:r>
          </a:p>
        </p:txBody>
      </p:sp>
      <p:sp>
        <p:nvSpPr>
          <p:cNvPr id="21" name="Rounded Rectangle 20"/>
          <p:cNvSpPr/>
          <p:nvPr/>
        </p:nvSpPr>
        <p:spPr>
          <a:xfrm>
            <a:off x="548640" y="3593591"/>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593591"/>
            <a:ext cx="1874520" cy="438912"/>
          </a:xfrm>
          <a:prstGeom prst="rect">
            <a:avLst/>
          </a:prstGeom>
          <a:noFill/>
        </p:spPr>
        <p:txBody>
          <a:bodyPr wrap="square" lIns="0" rIns="0" tIns="0" bIns="0" anchor="ctr">
            <a:spAutoFit/>
          </a:bodyPr>
          <a:lstStyle/>
          <a:p>
            <a:pPr algn="l"/>
            <a:r>
              <a:rPr sz="1300" b="1" i="0">
                <a:solidFill>
                  <a:srgbClr val="1B2A41"/>
                </a:solidFill>
                <a:latin typeface="Arial"/>
              </a:rPr>
              <a:t>nhu cầu gián đoạn</a:t>
            </a:r>
          </a:p>
        </p:txBody>
      </p:sp>
      <p:sp>
        <p:nvSpPr>
          <p:cNvPr id="23" name="TextBox 22"/>
          <p:cNvSpPr txBox="1"/>
          <p:nvPr/>
        </p:nvSpPr>
        <p:spPr>
          <a:xfrm>
            <a:off x="2834640" y="3593591"/>
            <a:ext cx="2286000" cy="438912"/>
          </a:xfrm>
          <a:prstGeom prst="rect">
            <a:avLst/>
          </a:prstGeom>
          <a:noFill/>
        </p:spPr>
        <p:txBody>
          <a:bodyPr wrap="square" lIns="0" rIns="0" tIns="0" bIns="0" anchor="ctr">
            <a:spAutoFit/>
          </a:bodyPr>
          <a:lstStyle/>
          <a:p>
            <a:pPr algn="l"/>
            <a:r>
              <a:rPr sz="1300" b="0" i="0">
                <a:solidFill>
                  <a:srgbClr val="1B2A41"/>
                </a:solidFill>
                <a:latin typeface="Arial"/>
              </a:rPr>
              <a:t>intermittent demand</a:t>
            </a:r>
          </a:p>
        </p:txBody>
      </p:sp>
      <p:sp>
        <p:nvSpPr>
          <p:cNvPr id="24" name="TextBox 23"/>
          <p:cNvSpPr txBox="1"/>
          <p:nvPr/>
        </p:nvSpPr>
        <p:spPr>
          <a:xfrm>
            <a:off x="5394960" y="3593591"/>
            <a:ext cx="548640" cy="438912"/>
          </a:xfrm>
          <a:prstGeom prst="rect">
            <a:avLst/>
          </a:prstGeom>
          <a:noFill/>
        </p:spPr>
        <p:txBody>
          <a:bodyPr wrap="square" lIns="0" rIns="0" tIns="0" bIns="0" anchor="ctr">
            <a:spAutoFit/>
          </a:bodyPr>
          <a:lstStyle/>
          <a:p>
            <a:pPr algn="l"/>
            <a:r>
              <a:rPr sz="1300" b="0" i="0">
                <a:solidFill>
                  <a:srgbClr val="5B6778"/>
                </a:solidFill>
                <a:latin typeface="Arial"/>
              </a:rPr>
              <a:t>9, 19</a:t>
            </a:r>
          </a:p>
        </p:txBody>
      </p:sp>
      <p:sp>
        <p:nvSpPr>
          <p:cNvPr id="25" name="TextBox 24"/>
          <p:cNvSpPr txBox="1"/>
          <p:nvPr/>
        </p:nvSpPr>
        <p:spPr>
          <a:xfrm>
            <a:off x="685800" y="4069080"/>
            <a:ext cx="1874520" cy="438912"/>
          </a:xfrm>
          <a:prstGeom prst="rect">
            <a:avLst/>
          </a:prstGeom>
          <a:noFill/>
        </p:spPr>
        <p:txBody>
          <a:bodyPr wrap="square" lIns="0" rIns="0" tIns="0" bIns="0" anchor="ctr">
            <a:spAutoFit/>
          </a:bodyPr>
          <a:lstStyle/>
          <a:p>
            <a:pPr algn="l"/>
            <a:r>
              <a:rPr sz="1300" b="1" i="0">
                <a:solidFill>
                  <a:srgbClr val="1B2A41"/>
                </a:solidFill>
                <a:latin typeface="Arial"/>
              </a:rPr>
              <a:t>trần cảm biến</a:t>
            </a:r>
          </a:p>
        </p:txBody>
      </p:sp>
      <p:sp>
        <p:nvSpPr>
          <p:cNvPr id="26" name="TextBox 25"/>
          <p:cNvSpPr txBox="1"/>
          <p:nvPr/>
        </p:nvSpPr>
        <p:spPr>
          <a:xfrm>
            <a:off x="2834640" y="4069080"/>
            <a:ext cx="2286000" cy="438912"/>
          </a:xfrm>
          <a:prstGeom prst="rect">
            <a:avLst/>
          </a:prstGeom>
          <a:noFill/>
        </p:spPr>
        <p:txBody>
          <a:bodyPr wrap="square" lIns="0" rIns="0" tIns="0" bIns="0" anchor="ctr">
            <a:spAutoFit/>
          </a:bodyPr>
          <a:lstStyle/>
          <a:p>
            <a:pPr algn="l"/>
            <a:r>
              <a:rPr sz="1300" b="0" i="0">
                <a:solidFill>
                  <a:srgbClr val="1B2A41"/>
                </a:solidFill>
                <a:latin typeface="Arial"/>
              </a:rPr>
              <a:t>sensor ceiling / saturation</a:t>
            </a:r>
          </a:p>
        </p:txBody>
      </p:sp>
      <p:sp>
        <p:nvSpPr>
          <p:cNvPr id="27" name="TextBox 26"/>
          <p:cNvSpPr txBox="1"/>
          <p:nvPr/>
        </p:nvSpPr>
        <p:spPr>
          <a:xfrm>
            <a:off x="5394960" y="4069080"/>
            <a:ext cx="548640" cy="438912"/>
          </a:xfrm>
          <a:prstGeom prst="rect">
            <a:avLst/>
          </a:prstGeom>
          <a:noFill/>
        </p:spPr>
        <p:txBody>
          <a:bodyPr wrap="square" lIns="0" rIns="0" tIns="0" bIns="0" anchor="ctr">
            <a:spAutoFit/>
          </a:bodyPr>
          <a:lstStyle/>
          <a:p>
            <a:pPr algn="l"/>
            <a:r>
              <a:rPr sz="1300" b="0" i="0">
                <a:solidFill>
                  <a:srgbClr val="5B6778"/>
                </a:solidFill>
                <a:latin typeface="Arial"/>
              </a:rPr>
              <a:t>10</a:t>
            </a:r>
          </a:p>
        </p:txBody>
      </p:sp>
      <p:sp>
        <p:nvSpPr>
          <p:cNvPr id="28" name="Rounded Rectangle 27"/>
          <p:cNvSpPr/>
          <p:nvPr/>
        </p:nvSpPr>
        <p:spPr>
          <a:xfrm>
            <a:off x="548640" y="4544568"/>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4544568"/>
            <a:ext cx="1874520" cy="438912"/>
          </a:xfrm>
          <a:prstGeom prst="rect">
            <a:avLst/>
          </a:prstGeom>
          <a:noFill/>
        </p:spPr>
        <p:txBody>
          <a:bodyPr wrap="square" lIns="0" rIns="0" tIns="0" bIns="0" anchor="ctr">
            <a:spAutoFit/>
          </a:bodyPr>
          <a:lstStyle/>
          <a:p>
            <a:pPr algn="l"/>
            <a:r>
              <a:rPr sz="1300" b="1" i="0">
                <a:solidFill>
                  <a:srgbClr val="1B2A41"/>
                </a:solidFill>
                <a:latin typeface="Arial"/>
              </a:rPr>
              <a:t>độ phân giải</a:t>
            </a:r>
          </a:p>
        </p:txBody>
      </p:sp>
      <p:sp>
        <p:nvSpPr>
          <p:cNvPr id="30" name="TextBox 29"/>
          <p:cNvSpPr txBox="1"/>
          <p:nvPr/>
        </p:nvSpPr>
        <p:spPr>
          <a:xfrm>
            <a:off x="2834640" y="4544568"/>
            <a:ext cx="2286000" cy="438912"/>
          </a:xfrm>
          <a:prstGeom prst="rect">
            <a:avLst/>
          </a:prstGeom>
          <a:noFill/>
        </p:spPr>
        <p:txBody>
          <a:bodyPr wrap="square" lIns="0" rIns="0" tIns="0" bIns="0" anchor="ctr">
            <a:spAutoFit/>
          </a:bodyPr>
          <a:lstStyle/>
          <a:p>
            <a:pPr algn="l"/>
            <a:r>
              <a:rPr sz="1300" b="0" i="0">
                <a:solidFill>
                  <a:srgbClr val="1B2A41"/>
                </a:solidFill>
                <a:latin typeface="Arial"/>
              </a:rPr>
              <a:t>measurement resolution</a:t>
            </a:r>
          </a:p>
        </p:txBody>
      </p:sp>
      <p:sp>
        <p:nvSpPr>
          <p:cNvPr id="31" name="TextBox 30"/>
          <p:cNvSpPr txBox="1"/>
          <p:nvPr/>
        </p:nvSpPr>
        <p:spPr>
          <a:xfrm>
            <a:off x="5394960" y="4544568"/>
            <a:ext cx="548640" cy="438912"/>
          </a:xfrm>
          <a:prstGeom prst="rect">
            <a:avLst/>
          </a:prstGeom>
          <a:noFill/>
        </p:spPr>
        <p:txBody>
          <a:bodyPr wrap="square" lIns="0" rIns="0" tIns="0" bIns="0" anchor="ctr">
            <a:spAutoFit/>
          </a:bodyPr>
          <a:lstStyle/>
          <a:p>
            <a:pPr algn="l"/>
            <a:r>
              <a:rPr sz="1300" b="0" i="0">
                <a:solidFill>
                  <a:srgbClr val="5B6778"/>
                </a:solidFill>
                <a:latin typeface="Arial"/>
              </a:rPr>
              <a:t>10</a:t>
            </a:r>
          </a:p>
        </p:txBody>
      </p:sp>
      <p:sp>
        <p:nvSpPr>
          <p:cNvPr id="32" name="TextBox 31"/>
          <p:cNvSpPr txBox="1"/>
          <p:nvPr/>
        </p:nvSpPr>
        <p:spPr>
          <a:xfrm>
            <a:off x="685800" y="5020056"/>
            <a:ext cx="1874520" cy="438912"/>
          </a:xfrm>
          <a:prstGeom prst="rect">
            <a:avLst/>
          </a:prstGeom>
          <a:noFill/>
        </p:spPr>
        <p:txBody>
          <a:bodyPr wrap="square" lIns="0" rIns="0" tIns="0" bIns="0" anchor="ctr">
            <a:spAutoFit/>
          </a:bodyPr>
          <a:lstStyle/>
          <a:p>
            <a:pPr algn="l"/>
            <a:r>
              <a:rPr sz="1300" b="1" i="0">
                <a:solidFill>
                  <a:srgbClr val="1B2A41"/>
                </a:solidFill>
                <a:latin typeface="Arial"/>
              </a:rPr>
              <a:t>nội suy spline</a:t>
            </a:r>
          </a:p>
        </p:txBody>
      </p:sp>
      <p:sp>
        <p:nvSpPr>
          <p:cNvPr id="33" name="TextBox 32"/>
          <p:cNvSpPr txBox="1"/>
          <p:nvPr/>
        </p:nvSpPr>
        <p:spPr>
          <a:xfrm>
            <a:off x="2834640" y="5020056"/>
            <a:ext cx="2286000" cy="438912"/>
          </a:xfrm>
          <a:prstGeom prst="rect">
            <a:avLst/>
          </a:prstGeom>
          <a:noFill/>
        </p:spPr>
        <p:txBody>
          <a:bodyPr wrap="square" lIns="0" rIns="0" tIns="0" bIns="0" anchor="ctr">
            <a:spAutoFit/>
          </a:bodyPr>
          <a:lstStyle/>
          <a:p>
            <a:pPr algn="l"/>
            <a:r>
              <a:rPr sz="1300" b="0" i="0">
                <a:solidFill>
                  <a:srgbClr val="1B2A41"/>
                </a:solidFill>
                <a:latin typeface="Arial"/>
              </a:rPr>
              <a:t>spline interpolation</a:t>
            </a:r>
          </a:p>
        </p:txBody>
      </p:sp>
      <p:sp>
        <p:nvSpPr>
          <p:cNvPr id="34" name="TextBox 33"/>
          <p:cNvSpPr txBox="1"/>
          <p:nvPr/>
        </p:nvSpPr>
        <p:spPr>
          <a:xfrm>
            <a:off x="5394960" y="5020056"/>
            <a:ext cx="548640" cy="438912"/>
          </a:xfrm>
          <a:prstGeom prst="rect">
            <a:avLst/>
          </a:prstGeom>
          <a:noFill/>
        </p:spPr>
        <p:txBody>
          <a:bodyPr wrap="square" lIns="0" rIns="0" tIns="0" bIns="0" anchor="ctr">
            <a:spAutoFit/>
          </a:bodyPr>
          <a:lstStyle/>
          <a:p>
            <a:pPr algn="l"/>
            <a:r>
              <a:rPr sz="1300" b="0" i="0">
                <a:solidFill>
                  <a:srgbClr val="5B6778"/>
                </a:solidFill>
                <a:latin typeface="Arial"/>
              </a:rPr>
              <a:t>10</a:t>
            </a:r>
          </a:p>
        </p:txBody>
      </p:sp>
      <p:sp>
        <p:nvSpPr>
          <p:cNvPr id="35" name="Rounded Rectangle 34"/>
          <p:cNvSpPr/>
          <p:nvPr/>
        </p:nvSpPr>
        <p:spPr>
          <a:xfrm>
            <a:off x="548640" y="5495544"/>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800" y="5495544"/>
            <a:ext cx="1874520" cy="438912"/>
          </a:xfrm>
          <a:prstGeom prst="rect">
            <a:avLst/>
          </a:prstGeom>
          <a:noFill/>
        </p:spPr>
        <p:txBody>
          <a:bodyPr wrap="square" lIns="0" rIns="0" tIns="0" bIns="0" anchor="ctr">
            <a:spAutoFit/>
          </a:bodyPr>
          <a:lstStyle/>
          <a:p>
            <a:pPr algn="l"/>
            <a:r>
              <a:rPr sz="1300" b="1" i="0">
                <a:solidFill>
                  <a:srgbClr val="1B2A41"/>
                </a:solidFill>
                <a:latin typeface="Arial"/>
              </a:rPr>
              <a:t>che nhân tạo</a:t>
            </a:r>
          </a:p>
        </p:txBody>
      </p:sp>
      <p:sp>
        <p:nvSpPr>
          <p:cNvPr id="37" name="TextBox 36"/>
          <p:cNvSpPr txBox="1"/>
          <p:nvPr/>
        </p:nvSpPr>
        <p:spPr>
          <a:xfrm>
            <a:off x="2834640" y="5495544"/>
            <a:ext cx="2286000" cy="438912"/>
          </a:xfrm>
          <a:prstGeom prst="rect">
            <a:avLst/>
          </a:prstGeom>
          <a:noFill/>
        </p:spPr>
        <p:txBody>
          <a:bodyPr wrap="square" lIns="0" rIns="0" tIns="0" bIns="0" anchor="ctr">
            <a:spAutoFit/>
          </a:bodyPr>
          <a:lstStyle/>
          <a:p>
            <a:pPr algn="l"/>
            <a:r>
              <a:rPr sz="1300" b="0" i="0">
                <a:solidFill>
                  <a:srgbClr val="1B2A41"/>
                </a:solidFill>
                <a:latin typeface="Arial"/>
              </a:rPr>
              <a:t>artificial masking</a:t>
            </a:r>
          </a:p>
        </p:txBody>
      </p:sp>
      <p:sp>
        <p:nvSpPr>
          <p:cNvPr id="38" name="TextBox 37"/>
          <p:cNvSpPr txBox="1"/>
          <p:nvPr/>
        </p:nvSpPr>
        <p:spPr>
          <a:xfrm>
            <a:off x="5394960" y="5495544"/>
            <a:ext cx="548640" cy="438912"/>
          </a:xfrm>
          <a:prstGeom prst="rect">
            <a:avLst/>
          </a:prstGeom>
          <a:noFill/>
        </p:spPr>
        <p:txBody>
          <a:bodyPr wrap="square" lIns="0" rIns="0" tIns="0" bIns="0" anchor="ctr">
            <a:spAutoFit/>
          </a:bodyPr>
          <a:lstStyle/>
          <a:p>
            <a:pPr algn="l"/>
            <a:r>
              <a:rPr sz="1300" b="0" i="0">
                <a:solidFill>
                  <a:srgbClr val="5B6778"/>
                </a:solidFill>
                <a:latin typeface="Arial"/>
              </a:rPr>
              <a:t>10</a:t>
            </a:r>
          </a:p>
        </p:txBody>
      </p:sp>
      <p:sp>
        <p:nvSpPr>
          <p:cNvPr id="39" name="TextBox 38"/>
          <p:cNvSpPr txBox="1"/>
          <p:nvPr/>
        </p:nvSpPr>
        <p:spPr>
          <a:xfrm>
            <a:off x="685800" y="5971031"/>
            <a:ext cx="1874520" cy="438912"/>
          </a:xfrm>
          <a:prstGeom prst="rect">
            <a:avLst/>
          </a:prstGeom>
          <a:noFill/>
        </p:spPr>
        <p:txBody>
          <a:bodyPr wrap="square" lIns="0" rIns="0" tIns="0" bIns="0" anchor="ctr">
            <a:spAutoFit/>
          </a:bodyPr>
          <a:lstStyle/>
          <a:p>
            <a:pPr algn="l"/>
            <a:r>
              <a:rPr sz="1300" b="1" i="0">
                <a:solidFill>
                  <a:srgbClr val="1B2A41"/>
                </a:solidFill>
                <a:latin typeface="Arial"/>
              </a:rPr>
              <a:t>Kalman filter / smoother</a:t>
            </a:r>
          </a:p>
        </p:txBody>
      </p:sp>
      <p:sp>
        <p:nvSpPr>
          <p:cNvPr id="40" name="TextBox 39"/>
          <p:cNvSpPr txBox="1"/>
          <p:nvPr/>
        </p:nvSpPr>
        <p:spPr>
          <a:xfrm>
            <a:off x="2834640" y="5971031"/>
            <a:ext cx="2286000" cy="438912"/>
          </a:xfrm>
          <a:prstGeom prst="rect">
            <a:avLst/>
          </a:prstGeom>
          <a:noFill/>
        </p:spPr>
        <p:txBody>
          <a:bodyPr wrap="square" lIns="0" rIns="0" tIns="0" bIns="0" anchor="ctr">
            <a:spAutoFit/>
          </a:bodyPr>
          <a:lstStyle/>
          <a:p>
            <a:pPr algn="l"/>
            <a:r>
              <a:rPr sz="1300" b="0" i="0">
                <a:solidFill>
                  <a:srgbClr val="1B2A41"/>
                </a:solidFill>
                <a:latin typeface="Arial"/>
              </a:rPr>
              <a:t>Kalman filter / smoother</a:t>
            </a:r>
          </a:p>
        </p:txBody>
      </p:sp>
      <p:sp>
        <p:nvSpPr>
          <p:cNvPr id="41" name="TextBox 40"/>
          <p:cNvSpPr txBox="1"/>
          <p:nvPr/>
        </p:nvSpPr>
        <p:spPr>
          <a:xfrm>
            <a:off x="5394960" y="5971031"/>
            <a:ext cx="548640" cy="438912"/>
          </a:xfrm>
          <a:prstGeom prst="rect">
            <a:avLst/>
          </a:prstGeom>
          <a:noFill/>
        </p:spPr>
        <p:txBody>
          <a:bodyPr wrap="square" lIns="0" rIns="0" tIns="0" bIns="0" anchor="ctr">
            <a:spAutoFit/>
          </a:bodyPr>
          <a:lstStyle/>
          <a:p>
            <a:pPr algn="l"/>
            <a:r>
              <a:rPr sz="1300" b="0" i="0">
                <a:solidFill>
                  <a:srgbClr val="5B6778"/>
                </a:solidFill>
                <a:latin typeface="Arial"/>
              </a:rPr>
              <a:t>10, 12</a:t>
            </a:r>
          </a:p>
        </p:txBody>
      </p:sp>
      <p:sp>
        <p:nvSpPr>
          <p:cNvPr id="42" name="TextBox 41"/>
          <p:cNvSpPr txBox="1"/>
          <p:nvPr/>
        </p:nvSpPr>
        <p:spPr>
          <a:xfrm>
            <a:off x="6245352" y="1280160"/>
            <a:ext cx="1874520" cy="365760"/>
          </a:xfrm>
          <a:prstGeom prst="rect">
            <a:avLst/>
          </a:prstGeom>
          <a:noFill/>
        </p:spPr>
        <p:txBody>
          <a:bodyPr wrap="square" lIns="0" rIns="0" tIns="0" bIns="0" anchor="t">
            <a:spAutoFit/>
          </a:bodyPr>
          <a:lstStyle/>
          <a:p>
            <a:pPr algn="l"/>
            <a:r>
              <a:rPr sz="1100" b="1" i="0">
                <a:solidFill>
                  <a:srgbClr val="A77B06"/>
                </a:solidFill>
                <a:latin typeface="Arial"/>
              </a:rPr>
              <a:t>TIẾNG VIỆT</a:t>
            </a:r>
          </a:p>
        </p:txBody>
      </p:sp>
      <p:sp>
        <p:nvSpPr>
          <p:cNvPr id="43" name="TextBox 42"/>
          <p:cNvSpPr txBox="1"/>
          <p:nvPr/>
        </p:nvSpPr>
        <p:spPr>
          <a:xfrm>
            <a:off x="8394192" y="1280160"/>
            <a:ext cx="2286000" cy="365760"/>
          </a:xfrm>
          <a:prstGeom prst="rect">
            <a:avLst/>
          </a:prstGeom>
          <a:noFill/>
        </p:spPr>
        <p:txBody>
          <a:bodyPr wrap="square" lIns="0" rIns="0" tIns="0" bIns="0" anchor="t">
            <a:spAutoFit/>
          </a:bodyPr>
          <a:lstStyle/>
          <a:p>
            <a:pPr algn="l"/>
            <a:r>
              <a:rPr sz="1100" b="1" i="0">
                <a:solidFill>
                  <a:srgbClr val="5B6778"/>
                </a:solidFill>
                <a:latin typeface="Arial"/>
              </a:rPr>
              <a:t>ENGLISH</a:t>
            </a:r>
          </a:p>
        </p:txBody>
      </p:sp>
      <p:sp>
        <p:nvSpPr>
          <p:cNvPr id="44" name="TextBox 43"/>
          <p:cNvSpPr txBox="1"/>
          <p:nvPr/>
        </p:nvSpPr>
        <p:spPr>
          <a:xfrm>
            <a:off x="10954511" y="1280160"/>
            <a:ext cx="548640" cy="365760"/>
          </a:xfrm>
          <a:prstGeom prst="rect">
            <a:avLst/>
          </a:prstGeom>
          <a:noFill/>
        </p:spPr>
        <p:txBody>
          <a:bodyPr wrap="square" lIns="0" rIns="0" tIns="0" bIns="0" anchor="t">
            <a:spAutoFit/>
          </a:bodyPr>
          <a:lstStyle/>
          <a:p>
            <a:pPr algn="l"/>
            <a:r>
              <a:rPr sz="1100" b="1" i="0">
                <a:solidFill>
                  <a:srgbClr val="5B6778"/>
                </a:solidFill>
                <a:latin typeface="Arial"/>
              </a:rPr>
              <a:t>BUỔI</a:t>
            </a:r>
          </a:p>
        </p:txBody>
      </p:sp>
      <p:sp>
        <p:nvSpPr>
          <p:cNvPr id="45" name="Rounded Rectangle 44"/>
          <p:cNvSpPr/>
          <p:nvPr/>
        </p:nvSpPr>
        <p:spPr>
          <a:xfrm>
            <a:off x="6108191" y="1691639"/>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245351" y="1691639"/>
            <a:ext cx="1874520" cy="438912"/>
          </a:xfrm>
          <a:prstGeom prst="rect">
            <a:avLst/>
          </a:prstGeom>
          <a:noFill/>
        </p:spPr>
        <p:txBody>
          <a:bodyPr wrap="square" lIns="0" rIns="0" tIns="0" bIns="0" anchor="ctr">
            <a:spAutoFit/>
          </a:bodyPr>
          <a:lstStyle/>
          <a:p>
            <a:pPr algn="l"/>
            <a:r>
              <a:rPr sz="1300" b="1" i="0">
                <a:solidFill>
                  <a:srgbClr val="1B2A41"/>
                </a:solidFill>
                <a:latin typeface="Arial"/>
              </a:rPr>
              <a:t>winsorize</a:t>
            </a:r>
          </a:p>
        </p:txBody>
      </p:sp>
      <p:sp>
        <p:nvSpPr>
          <p:cNvPr id="47" name="TextBox 46"/>
          <p:cNvSpPr txBox="1"/>
          <p:nvPr/>
        </p:nvSpPr>
        <p:spPr>
          <a:xfrm>
            <a:off x="8394192" y="1691639"/>
            <a:ext cx="2286000" cy="438912"/>
          </a:xfrm>
          <a:prstGeom prst="rect">
            <a:avLst/>
          </a:prstGeom>
          <a:noFill/>
        </p:spPr>
        <p:txBody>
          <a:bodyPr wrap="square" lIns="0" rIns="0" tIns="0" bIns="0" anchor="ctr">
            <a:spAutoFit/>
          </a:bodyPr>
          <a:lstStyle/>
          <a:p>
            <a:pPr algn="l"/>
            <a:r>
              <a:rPr sz="1300" b="0" i="0">
                <a:solidFill>
                  <a:srgbClr val="1B2A41"/>
                </a:solidFill>
                <a:latin typeface="Arial"/>
              </a:rPr>
              <a:t>winsorizing</a:t>
            </a:r>
          </a:p>
        </p:txBody>
      </p:sp>
      <p:sp>
        <p:nvSpPr>
          <p:cNvPr id="48" name="TextBox 47"/>
          <p:cNvSpPr txBox="1"/>
          <p:nvPr/>
        </p:nvSpPr>
        <p:spPr>
          <a:xfrm>
            <a:off x="10954511" y="1691639"/>
            <a:ext cx="548640" cy="438912"/>
          </a:xfrm>
          <a:prstGeom prst="rect">
            <a:avLst/>
          </a:prstGeom>
          <a:noFill/>
        </p:spPr>
        <p:txBody>
          <a:bodyPr wrap="square" lIns="0" rIns="0" tIns="0" bIns="0" anchor="ctr">
            <a:spAutoFit/>
          </a:bodyPr>
          <a:lstStyle/>
          <a:p>
            <a:pPr algn="l"/>
            <a:r>
              <a:rPr sz="1300" b="0" i="0">
                <a:solidFill>
                  <a:srgbClr val="5B6778"/>
                </a:solidFill>
                <a:latin typeface="Arial"/>
              </a:rPr>
              <a:t>11</a:t>
            </a:r>
          </a:p>
        </p:txBody>
      </p:sp>
      <p:sp>
        <p:nvSpPr>
          <p:cNvPr id="49" name="TextBox 48"/>
          <p:cNvSpPr txBox="1"/>
          <p:nvPr/>
        </p:nvSpPr>
        <p:spPr>
          <a:xfrm>
            <a:off x="6245351" y="2167128"/>
            <a:ext cx="1874520" cy="438912"/>
          </a:xfrm>
          <a:prstGeom prst="rect">
            <a:avLst/>
          </a:prstGeom>
          <a:noFill/>
        </p:spPr>
        <p:txBody>
          <a:bodyPr wrap="square" lIns="0" rIns="0" tIns="0" bIns="0" anchor="ctr">
            <a:spAutoFit/>
          </a:bodyPr>
          <a:lstStyle/>
          <a:p>
            <a:pPr algn="l"/>
            <a:r>
              <a:rPr sz="1300" b="1" i="0">
                <a:solidFill>
                  <a:srgbClr val="1B2A41"/>
                </a:solidFill>
                <a:latin typeface="Arial"/>
              </a:rPr>
              <a:t>CUSUM, CROPS</a:t>
            </a:r>
          </a:p>
        </p:txBody>
      </p:sp>
      <p:sp>
        <p:nvSpPr>
          <p:cNvPr id="50" name="TextBox 49"/>
          <p:cNvSpPr txBox="1"/>
          <p:nvPr/>
        </p:nvSpPr>
        <p:spPr>
          <a:xfrm>
            <a:off x="8394192" y="2167128"/>
            <a:ext cx="2286000" cy="438912"/>
          </a:xfrm>
          <a:prstGeom prst="rect">
            <a:avLst/>
          </a:prstGeom>
          <a:noFill/>
        </p:spPr>
        <p:txBody>
          <a:bodyPr wrap="square" lIns="0" rIns="0" tIns="0" bIns="0" anchor="ctr">
            <a:spAutoFit/>
          </a:bodyPr>
          <a:lstStyle/>
          <a:p>
            <a:pPr algn="l"/>
            <a:r>
              <a:rPr sz="1300" b="0" i="0">
                <a:solidFill>
                  <a:srgbClr val="1B2A41"/>
                </a:solidFill>
                <a:latin typeface="Arial"/>
              </a:rPr>
              <a:t>CUSUM, CROPS (penalty scan)</a:t>
            </a:r>
          </a:p>
        </p:txBody>
      </p:sp>
      <p:sp>
        <p:nvSpPr>
          <p:cNvPr id="51" name="TextBox 50"/>
          <p:cNvSpPr txBox="1"/>
          <p:nvPr/>
        </p:nvSpPr>
        <p:spPr>
          <a:xfrm>
            <a:off x="10954511" y="2167128"/>
            <a:ext cx="548640" cy="438912"/>
          </a:xfrm>
          <a:prstGeom prst="rect">
            <a:avLst/>
          </a:prstGeom>
          <a:noFill/>
        </p:spPr>
        <p:txBody>
          <a:bodyPr wrap="square" lIns="0" rIns="0" tIns="0" bIns="0" anchor="ctr">
            <a:spAutoFit/>
          </a:bodyPr>
          <a:lstStyle/>
          <a:p>
            <a:pPr algn="l"/>
            <a:r>
              <a:rPr sz="1300" b="0" i="0">
                <a:solidFill>
                  <a:srgbClr val="5B6778"/>
                </a:solidFill>
                <a:latin typeface="Arial"/>
              </a:rPr>
              <a:t>11</a:t>
            </a:r>
          </a:p>
        </p:txBody>
      </p:sp>
      <p:sp>
        <p:nvSpPr>
          <p:cNvPr id="52" name="Rounded Rectangle 51"/>
          <p:cNvSpPr/>
          <p:nvPr/>
        </p:nvSpPr>
        <p:spPr>
          <a:xfrm>
            <a:off x="6108191" y="2642615"/>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45351" y="2642615"/>
            <a:ext cx="1874520" cy="438912"/>
          </a:xfrm>
          <a:prstGeom prst="rect">
            <a:avLst/>
          </a:prstGeom>
          <a:noFill/>
        </p:spPr>
        <p:txBody>
          <a:bodyPr wrap="square" lIns="0" rIns="0" tIns="0" bIns="0" anchor="ctr">
            <a:spAutoFit/>
          </a:bodyPr>
          <a:lstStyle/>
          <a:p>
            <a:pPr algn="l"/>
            <a:r>
              <a:rPr sz="1300" b="1" i="0">
                <a:solidFill>
                  <a:srgbClr val="1B2A41"/>
                </a:solidFill>
                <a:latin typeface="Arial"/>
              </a:rPr>
              <a:t>hàm chi phí</a:t>
            </a:r>
          </a:p>
        </p:txBody>
      </p:sp>
      <p:sp>
        <p:nvSpPr>
          <p:cNvPr id="54" name="TextBox 53"/>
          <p:cNvSpPr txBox="1"/>
          <p:nvPr/>
        </p:nvSpPr>
        <p:spPr>
          <a:xfrm>
            <a:off x="8394192" y="2642615"/>
            <a:ext cx="2286000" cy="438912"/>
          </a:xfrm>
          <a:prstGeom prst="rect">
            <a:avLst/>
          </a:prstGeom>
          <a:noFill/>
        </p:spPr>
        <p:txBody>
          <a:bodyPr wrap="square" lIns="0" rIns="0" tIns="0" bIns="0" anchor="ctr">
            <a:spAutoFit/>
          </a:bodyPr>
          <a:lstStyle/>
          <a:p>
            <a:pPr algn="l"/>
            <a:r>
              <a:rPr sz="1300" b="0" i="0">
                <a:solidFill>
                  <a:srgbClr val="1B2A41"/>
                </a:solidFill>
                <a:latin typeface="Arial"/>
              </a:rPr>
              <a:t>cost function</a:t>
            </a:r>
          </a:p>
        </p:txBody>
      </p:sp>
      <p:sp>
        <p:nvSpPr>
          <p:cNvPr id="55" name="TextBox 54"/>
          <p:cNvSpPr txBox="1"/>
          <p:nvPr/>
        </p:nvSpPr>
        <p:spPr>
          <a:xfrm>
            <a:off x="10954511" y="2642615"/>
            <a:ext cx="548640" cy="438912"/>
          </a:xfrm>
          <a:prstGeom prst="rect">
            <a:avLst/>
          </a:prstGeom>
          <a:noFill/>
        </p:spPr>
        <p:txBody>
          <a:bodyPr wrap="square" lIns="0" rIns="0" tIns="0" bIns="0" anchor="ctr">
            <a:spAutoFit/>
          </a:bodyPr>
          <a:lstStyle/>
          <a:p>
            <a:pPr algn="l"/>
            <a:r>
              <a:rPr sz="1300" b="0" i="0">
                <a:solidFill>
                  <a:srgbClr val="5B6778"/>
                </a:solidFill>
                <a:latin typeface="Arial"/>
              </a:rPr>
              <a:t>11</a:t>
            </a:r>
          </a:p>
        </p:txBody>
      </p:sp>
      <p:sp>
        <p:nvSpPr>
          <p:cNvPr id="56" name="TextBox 55"/>
          <p:cNvSpPr txBox="1"/>
          <p:nvPr/>
        </p:nvSpPr>
        <p:spPr>
          <a:xfrm>
            <a:off x="6245351" y="3118104"/>
            <a:ext cx="1874520" cy="438912"/>
          </a:xfrm>
          <a:prstGeom prst="rect">
            <a:avLst/>
          </a:prstGeom>
          <a:noFill/>
        </p:spPr>
        <p:txBody>
          <a:bodyPr wrap="square" lIns="0" rIns="0" tIns="0" bIns="0" anchor="ctr">
            <a:spAutoFit/>
          </a:bodyPr>
          <a:lstStyle/>
          <a:p>
            <a:pPr algn="l"/>
            <a:r>
              <a:rPr sz="1300" b="1" i="0">
                <a:solidFill>
                  <a:srgbClr val="1B2A41"/>
                </a:solidFill>
                <a:latin typeface="Arial"/>
              </a:rPr>
              <a:t>tần số lấy mẫu</a:t>
            </a:r>
          </a:p>
        </p:txBody>
      </p:sp>
      <p:sp>
        <p:nvSpPr>
          <p:cNvPr id="57" name="TextBox 56"/>
          <p:cNvSpPr txBox="1"/>
          <p:nvPr/>
        </p:nvSpPr>
        <p:spPr>
          <a:xfrm>
            <a:off x="8394192" y="3118104"/>
            <a:ext cx="2286000" cy="438912"/>
          </a:xfrm>
          <a:prstGeom prst="rect">
            <a:avLst/>
          </a:prstGeom>
          <a:noFill/>
        </p:spPr>
        <p:txBody>
          <a:bodyPr wrap="square" lIns="0" rIns="0" tIns="0" bIns="0" anchor="ctr">
            <a:spAutoFit/>
          </a:bodyPr>
          <a:lstStyle/>
          <a:p>
            <a:pPr algn="l"/>
            <a:r>
              <a:rPr sz="1300" b="0" i="0">
                <a:solidFill>
                  <a:srgbClr val="1B2A41"/>
                </a:solidFill>
                <a:latin typeface="Arial"/>
              </a:rPr>
              <a:t>sampling frequency f_s</a:t>
            </a:r>
          </a:p>
        </p:txBody>
      </p:sp>
      <p:sp>
        <p:nvSpPr>
          <p:cNvPr id="58" name="TextBox 57"/>
          <p:cNvSpPr txBox="1"/>
          <p:nvPr/>
        </p:nvSpPr>
        <p:spPr>
          <a:xfrm>
            <a:off x="10954511" y="3118104"/>
            <a:ext cx="548640" cy="438912"/>
          </a:xfrm>
          <a:prstGeom prst="rect">
            <a:avLst/>
          </a:prstGeom>
          <a:noFill/>
        </p:spPr>
        <p:txBody>
          <a:bodyPr wrap="square" lIns="0" rIns="0" tIns="0" bIns="0" anchor="ctr">
            <a:spAutoFit/>
          </a:bodyPr>
          <a:lstStyle/>
          <a:p>
            <a:pPr algn="l"/>
            <a:r>
              <a:rPr sz="1300" b="0" i="0">
                <a:solidFill>
                  <a:srgbClr val="5B6778"/>
                </a:solidFill>
                <a:latin typeface="Arial"/>
              </a:rPr>
              <a:t>12</a:t>
            </a:r>
          </a:p>
        </p:txBody>
      </p:sp>
      <p:sp>
        <p:nvSpPr>
          <p:cNvPr id="59" name="Rounded Rectangle 58"/>
          <p:cNvSpPr/>
          <p:nvPr/>
        </p:nvSpPr>
        <p:spPr>
          <a:xfrm>
            <a:off x="6108191" y="3593591"/>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45351" y="3593591"/>
            <a:ext cx="1874520" cy="438912"/>
          </a:xfrm>
          <a:prstGeom prst="rect">
            <a:avLst/>
          </a:prstGeom>
          <a:noFill/>
        </p:spPr>
        <p:txBody>
          <a:bodyPr wrap="square" lIns="0" rIns="0" tIns="0" bIns="0" anchor="ctr">
            <a:spAutoFit/>
          </a:bodyPr>
          <a:lstStyle/>
          <a:p>
            <a:pPr algn="l"/>
            <a:r>
              <a:rPr sz="1300" b="1" i="0">
                <a:solidFill>
                  <a:srgbClr val="1B2A41"/>
                </a:solidFill>
                <a:latin typeface="Arial"/>
              </a:rPr>
              <a:t>periodogram, Welch</a:t>
            </a:r>
          </a:p>
        </p:txBody>
      </p:sp>
      <p:sp>
        <p:nvSpPr>
          <p:cNvPr id="61" name="TextBox 60"/>
          <p:cNvSpPr txBox="1"/>
          <p:nvPr/>
        </p:nvSpPr>
        <p:spPr>
          <a:xfrm>
            <a:off x="8394192" y="3593591"/>
            <a:ext cx="2286000" cy="438912"/>
          </a:xfrm>
          <a:prstGeom prst="rect">
            <a:avLst/>
          </a:prstGeom>
          <a:noFill/>
        </p:spPr>
        <p:txBody>
          <a:bodyPr wrap="square" lIns="0" rIns="0" tIns="0" bIns="0" anchor="ctr">
            <a:spAutoFit/>
          </a:bodyPr>
          <a:lstStyle/>
          <a:p>
            <a:pPr algn="l"/>
            <a:r>
              <a:rPr sz="1300" b="0" i="0">
                <a:solidFill>
                  <a:srgbClr val="1B2A41"/>
                </a:solidFill>
                <a:latin typeface="Arial"/>
              </a:rPr>
              <a:t>periodogram, Welch method</a:t>
            </a:r>
          </a:p>
        </p:txBody>
      </p:sp>
      <p:sp>
        <p:nvSpPr>
          <p:cNvPr id="62" name="TextBox 61"/>
          <p:cNvSpPr txBox="1"/>
          <p:nvPr/>
        </p:nvSpPr>
        <p:spPr>
          <a:xfrm>
            <a:off x="10954511" y="3593591"/>
            <a:ext cx="548640" cy="438912"/>
          </a:xfrm>
          <a:prstGeom prst="rect">
            <a:avLst/>
          </a:prstGeom>
          <a:noFill/>
        </p:spPr>
        <p:txBody>
          <a:bodyPr wrap="square" lIns="0" rIns="0" tIns="0" bIns="0" anchor="ctr">
            <a:spAutoFit/>
          </a:bodyPr>
          <a:lstStyle/>
          <a:p>
            <a:pPr algn="l"/>
            <a:r>
              <a:rPr sz="1300" b="0" i="0">
                <a:solidFill>
                  <a:srgbClr val="5B6778"/>
                </a:solidFill>
                <a:latin typeface="Arial"/>
              </a:rPr>
              <a:t>12</a:t>
            </a:r>
          </a:p>
        </p:txBody>
      </p:sp>
      <p:sp>
        <p:nvSpPr>
          <p:cNvPr id="63" name="TextBox 62"/>
          <p:cNvSpPr txBox="1"/>
          <p:nvPr/>
        </p:nvSpPr>
        <p:spPr>
          <a:xfrm>
            <a:off x="6245351" y="4069080"/>
            <a:ext cx="1874520" cy="438912"/>
          </a:xfrm>
          <a:prstGeom prst="rect">
            <a:avLst/>
          </a:prstGeom>
          <a:noFill/>
        </p:spPr>
        <p:txBody>
          <a:bodyPr wrap="square" lIns="0" rIns="0" tIns="0" bIns="0" anchor="ctr">
            <a:spAutoFit/>
          </a:bodyPr>
          <a:lstStyle/>
          <a:p>
            <a:pPr algn="l"/>
            <a:r>
              <a:rPr sz="1300" b="1" i="0">
                <a:solidFill>
                  <a:srgbClr val="1B2A41"/>
                </a:solidFill>
                <a:latin typeface="Arial"/>
              </a:rPr>
              <a:t>wavelet</a:t>
            </a:r>
          </a:p>
        </p:txBody>
      </p:sp>
      <p:sp>
        <p:nvSpPr>
          <p:cNvPr id="64" name="TextBox 63"/>
          <p:cNvSpPr txBox="1"/>
          <p:nvPr/>
        </p:nvSpPr>
        <p:spPr>
          <a:xfrm>
            <a:off x="8394192" y="4069080"/>
            <a:ext cx="2286000" cy="438912"/>
          </a:xfrm>
          <a:prstGeom prst="rect">
            <a:avLst/>
          </a:prstGeom>
          <a:noFill/>
        </p:spPr>
        <p:txBody>
          <a:bodyPr wrap="square" lIns="0" rIns="0" tIns="0" bIns="0" anchor="ctr">
            <a:spAutoFit/>
          </a:bodyPr>
          <a:lstStyle/>
          <a:p>
            <a:pPr algn="l"/>
            <a:r>
              <a:rPr sz="1300" b="0" i="0">
                <a:solidFill>
                  <a:srgbClr val="1B2A41"/>
                </a:solidFill>
                <a:latin typeface="Arial"/>
              </a:rPr>
              <a:t>wavelet denoising</a:t>
            </a:r>
          </a:p>
        </p:txBody>
      </p:sp>
      <p:sp>
        <p:nvSpPr>
          <p:cNvPr id="65" name="TextBox 64"/>
          <p:cNvSpPr txBox="1"/>
          <p:nvPr/>
        </p:nvSpPr>
        <p:spPr>
          <a:xfrm>
            <a:off x="10954511" y="4069080"/>
            <a:ext cx="548640" cy="438912"/>
          </a:xfrm>
          <a:prstGeom prst="rect">
            <a:avLst/>
          </a:prstGeom>
          <a:noFill/>
        </p:spPr>
        <p:txBody>
          <a:bodyPr wrap="square" lIns="0" rIns="0" tIns="0" bIns="0" anchor="ctr">
            <a:spAutoFit/>
          </a:bodyPr>
          <a:lstStyle/>
          <a:p>
            <a:pPr algn="l"/>
            <a:r>
              <a:rPr sz="1300" b="0" i="0">
                <a:solidFill>
                  <a:srgbClr val="5B6778"/>
                </a:solidFill>
                <a:latin typeface="Arial"/>
              </a:rPr>
              <a:t>12</a:t>
            </a:r>
          </a:p>
        </p:txBody>
      </p:sp>
      <p:sp>
        <p:nvSpPr>
          <p:cNvPr id="66" name="Rounded Rectangle 65"/>
          <p:cNvSpPr/>
          <p:nvPr/>
        </p:nvSpPr>
        <p:spPr>
          <a:xfrm>
            <a:off x="6108191" y="4544568"/>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245351" y="4544568"/>
            <a:ext cx="1874520" cy="438912"/>
          </a:xfrm>
          <a:prstGeom prst="rect">
            <a:avLst/>
          </a:prstGeom>
          <a:noFill/>
        </p:spPr>
        <p:txBody>
          <a:bodyPr wrap="square" lIns="0" rIns="0" tIns="0" bIns="0" anchor="ctr">
            <a:spAutoFit/>
          </a:bodyPr>
          <a:lstStyle/>
          <a:p>
            <a:pPr algn="l"/>
            <a:r>
              <a:rPr sz="1300" b="1" i="0">
                <a:solidFill>
                  <a:srgbClr val="1B2A41"/>
                </a:solidFill>
                <a:latin typeface="Arial"/>
              </a:rPr>
              <a:t>kiểm nhiễu mục tiêu</a:t>
            </a:r>
          </a:p>
        </p:txBody>
      </p:sp>
      <p:sp>
        <p:nvSpPr>
          <p:cNvPr id="68" name="TextBox 67"/>
          <p:cNvSpPr txBox="1"/>
          <p:nvPr/>
        </p:nvSpPr>
        <p:spPr>
          <a:xfrm>
            <a:off x="8394192" y="4544568"/>
            <a:ext cx="2286000" cy="438912"/>
          </a:xfrm>
          <a:prstGeom prst="rect">
            <a:avLst/>
          </a:prstGeom>
          <a:noFill/>
        </p:spPr>
        <p:txBody>
          <a:bodyPr wrap="square" lIns="0" rIns="0" tIns="0" bIns="0" anchor="ctr">
            <a:spAutoFit/>
          </a:bodyPr>
          <a:lstStyle/>
          <a:p>
            <a:pPr algn="l"/>
            <a:r>
              <a:rPr sz="1300" b="0" i="0">
                <a:solidFill>
                  <a:srgbClr val="1B2A41"/>
                </a:solidFill>
                <a:latin typeface="Arial"/>
              </a:rPr>
              <a:t>target-noise test</a:t>
            </a:r>
          </a:p>
        </p:txBody>
      </p:sp>
      <p:sp>
        <p:nvSpPr>
          <p:cNvPr id="69" name="TextBox 68"/>
          <p:cNvSpPr txBox="1"/>
          <p:nvPr/>
        </p:nvSpPr>
        <p:spPr>
          <a:xfrm>
            <a:off x="10954511" y="4544568"/>
            <a:ext cx="548640" cy="438912"/>
          </a:xfrm>
          <a:prstGeom prst="rect">
            <a:avLst/>
          </a:prstGeom>
          <a:noFill/>
        </p:spPr>
        <p:txBody>
          <a:bodyPr wrap="square" lIns="0" rIns="0" tIns="0" bIns="0" anchor="ctr">
            <a:spAutoFit/>
          </a:bodyPr>
          <a:lstStyle/>
          <a:p>
            <a:pPr algn="l"/>
            <a:r>
              <a:rPr sz="1300" b="0" i="0">
                <a:solidFill>
                  <a:srgbClr val="5B6778"/>
                </a:solidFill>
                <a:latin typeface="Arial"/>
              </a:rPr>
              <a:t>13</a:t>
            </a:r>
          </a:p>
        </p:txBody>
      </p:sp>
      <p:sp>
        <p:nvSpPr>
          <p:cNvPr id="70" name="TextBox 69"/>
          <p:cNvSpPr txBox="1"/>
          <p:nvPr/>
        </p:nvSpPr>
        <p:spPr>
          <a:xfrm>
            <a:off x="6245351" y="5020056"/>
            <a:ext cx="1874520" cy="438912"/>
          </a:xfrm>
          <a:prstGeom prst="rect">
            <a:avLst/>
          </a:prstGeom>
          <a:noFill/>
        </p:spPr>
        <p:txBody>
          <a:bodyPr wrap="square" lIns="0" rIns="0" tIns="0" bIns="0" anchor="ctr">
            <a:spAutoFit/>
          </a:bodyPr>
          <a:lstStyle/>
          <a:p>
            <a:pPr algn="l"/>
            <a:r>
              <a:rPr sz="1300" b="1" i="0">
                <a:solidFill>
                  <a:srgbClr val="1B2A41"/>
                </a:solidFill>
                <a:latin typeface="Arial"/>
              </a:rPr>
              <a:t>mã hoá target</a:t>
            </a:r>
          </a:p>
        </p:txBody>
      </p:sp>
      <p:sp>
        <p:nvSpPr>
          <p:cNvPr id="71" name="TextBox 70"/>
          <p:cNvSpPr txBox="1"/>
          <p:nvPr/>
        </p:nvSpPr>
        <p:spPr>
          <a:xfrm>
            <a:off x="8394192" y="5020056"/>
            <a:ext cx="2286000" cy="438912"/>
          </a:xfrm>
          <a:prstGeom prst="rect">
            <a:avLst/>
          </a:prstGeom>
          <a:noFill/>
        </p:spPr>
        <p:txBody>
          <a:bodyPr wrap="square" lIns="0" rIns="0" tIns="0" bIns="0" anchor="ctr">
            <a:spAutoFit/>
          </a:bodyPr>
          <a:lstStyle/>
          <a:p>
            <a:pPr algn="l"/>
            <a:r>
              <a:rPr sz="1300" b="0" i="0">
                <a:solidFill>
                  <a:srgbClr val="1B2A41"/>
                </a:solidFill>
                <a:latin typeface="Arial"/>
              </a:rPr>
              <a:t>target encoding</a:t>
            </a:r>
          </a:p>
        </p:txBody>
      </p:sp>
      <p:sp>
        <p:nvSpPr>
          <p:cNvPr id="72" name="TextBox 71"/>
          <p:cNvSpPr txBox="1"/>
          <p:nvPr/>
        </p:nvSpPr>
        <p:spPr>
          <a:xfrm>
            <a:off x="10954511" y="5020056"/>
            <a:ext cx="548640" cy="438912"/>
          </a:xfrm>
          <a:prstGeom prst="rect">
            <a:avLst/>
          </a:prstGeom>
          <a:noFill/>
        </p:spPr>
        <p:txBody>
          <a:bodyPr wrap="square" lIns="0" rIns="0" tIns="0" bIns="0" anchor="ctr">
            <a:spAutoFit/>
          </a:bodyPr>
          <a:lstStyle/>
          <a:p>
            <a:pPr algn="l"/>
            <a:r>
              <a:rPr sz="1300" b="0" i="0">
                <a:solidFill>
                  <a:srgbClr val="5B6778"/>
                </a:solidFill>
                <a:latin typeface="Arial"/>
              </a:rPr>
              <a:t>13</a:t>
            </a:r>
          </a:p>
        </p:txBody>
      </p:sp>
      <p:sp>
        <p:nvSpPr>
          <p:cNvPr id="73" name="Rounded Rectangle 72"/>
          <p:cNvSpPr/>
          <p:nvPr/>
        </p:nvSpPr>
        <p:spPr>
          <a:xfrm>
            <a:off x="6108191" y="5495544"/>
            <a:ext cx="5532120" cy="43891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6245351" y="5495544"/>
            <a:ext cx="1874520" cy="438912"/>
          </a:xfrm>
          <a:prstGeom prst="rect">
            <a:avLst/>
          </a:prstGeom>
          <a:noFill/>
        </p:spPr>
        <p:txBody>
          <a:bodyPr wrap="square" lIns="0" rIns="0" tIns="0" bIns="0" anchor="ctr">
            <a:spAutoFit/>
          </a:bodyPr>
          <a:lstStyle/>
          <a:p>
            <a:pPr algn="l"/>
            <a:r>
              <a:rPr sz="1300" b="1" i="0">
                <a:solidFill>
                  <a:srgbClr val="1B2A41"/>
                </a:solidFill>
                <a:latin typeface="Arial"/>
              </a:rPr>
              <a:t>tự hiệp phương sai</a:t>
            </a:r>
          </a:p>
        </p:txBody>
      </p:sp>
      <p:sp>
        <p:nvSpPr>
          <p:cNvPr id="75" name="TextBox 74"/>
          <p:cNvSpPr txBox="1"/>
          <p:nvPr/>
        </p:nvSpPr>
        <p:spPr>
          <a:xfrm>
            <a:off x="8394192" y="5495544"/>
            <a:ext cx="2286000" cy="438912"/>
          </a:xfrm>
          <a:prstGeom prst="rect">
            <a:avLst/>
          </a:prstGeom>
          <a:noFill/>
        </p:spPr>
        <p:txBody>
          <a:bodyPr wrap="square" lIns="0" rIns="0" tIns="0" bIns="0" anchor="ctr">
            <a:spAutoFit/>
          </a:bodyPr>
          <a:lstStyle/>
          <a:p>
            <a:pPr algn="l"/>
            <a:r>
              <a:rPr sz="1300" b="0" i="0">
                <a:solidFill>
                  <a:srgbClr val="1B2A41"/>
                </a:solidFill>
                <a:latin typeface="Arial"/>
              </a:rPr>
              <a:t>autocovariance</a:t>
            </a:r>
          </a:p>
        </p:txBody>
      </p:sp>
      <p:sp>
        <p:nvSpPr>
          <p:cNvPr id="76" name="TextBox 75"/>
          <p:cNvSpPr txBox="1"/>
          <p:nvPr/>
        </p:nvSpPr>
        <p:spPr>
          <a:xfrm>
            <a:off x="10954511" y="5495544"/>
            <a:ext cx="548640" cy="438912"/>
          </a:xfrm>
          <a:prstGeom prst="rect">
            <a:avLst/>
          </a:prstGeom>
          <a:noFill/>
        </p:spPr>
        <p:txBody>
          <a:bodyPr wrap="square" lIns="0" rIns="0" tIns="0" bIns="0" anchor="ctr">
            <a:spAutoFit/>
          </a:bodyPr>
          <a:lstStyle/>
          <a:p>
            <a:pPr algn="l"/>
            <a:r>
              <a:rPr sz="1300" b="0" i="0">
                <a:solidFill>
                  <a:srgbClr val="5B6778"/>
                </a:solidFill>
                <a:latin typeface="Arial"/>
              </a:rPr>
              <a:t>15</a:t>
            </a:r>
          </a:p>
        </p:txBody>
      </p:sp>
      <p:sp>
        <p:nvSpPr>
          <p:cNvPr id="77" name="TextBox 76"/>
          <p:cNvSpPr txBox="1"/>
          <p:nvPr/>
        </p:nvSpPr>
        <p:spPr>
          <a:xfrm>
            <a:off x="6245351" y="5971031"/>
            <a:ext cx="1874520" cy="438912"/>
          </a:xfrm>
          <a:prstGeom prst="rect">
            <a:avLst/>
          </a:prstGeom>
          <a:noFill/>
        </p:spPr>
        <p:txBody>
          <a:bodyPr wrap="square" lIns="0" rIns="0" tIns="0" bIns="0" anchor="ctr">
            <a:spAutoFit/>
          </a:bodyPr>
          <a:lstStyle/>
          <a:p>
            <a:pPr algn="l"/>
            <a:r>
              <a:rPr sz="1300" b="1" i="0">
                <a:solidFill>
                  <a:srgbClr val="1B2A41"/>
                </a:solidFill>
                <a:latin typeface="Arial"/>
              </a:rPr>
              <a:t>phân phối t</a:t>
            </a:r>
          </a:p>
        </p:txBody>
      </p:sp>
      <p:sp>
        <p:nvSpPr>
          <p:cNvPr id="78" name="TextBox 77"/>
          <p:cNvSpPr txBox="1"/>
          <p:nvPr/>
        </p:nvSpPr>
        <p:spPr>
          <a:xfrm>
            <a:off x="8394192" y="5971031"/>
            <a:ext cx="2286000" cy="438912"/>
          </a:xfrm>
          <a:prstGeom prst="rect">
            <a:avLst/>
          </a:prstGeom>
          <a:noFill/>
        </p:spPr>
        <p:txBody>
          <a:bodyPr wrap="square" lIns="0" rIns="0" tIns="0" bIns="0" anchor="ctr">
            <a:spAutoFit/>
          </a:bodyPr>
          <a:lstStyle/>
          <a:p>
            <a:pPr algn="l"/>
            <a:r>
              <a:rPr sz="1300" b="0" i="0">
                <a:solidFill>
                  <a:srgbClr val="1B2A41"/>
                </a:solidFill>
                <a:latin typeface="Arial"/>
              </a:rPr>
              <a:t>Student's t-distribution</a:t>
            </a:r>
          </a:p>
        </p:txBody>
      </p:sp>
      <p:sp>
        <p:nvSpPr>
          <p:cNvPr id="79" name="TextBox 78"/>
          <p:cNvSpPr txBox="1"/>
          <p:nvPr/>
        </p:nvSpPr>
        <p:spPr>
          <a:xfrm>
            <a:off x="10954511" y="5971031"/>
            <a:ext cx="548640" cy="438912"/>
          </a:xfrm>
          <a:prstGeom prst="rect">
            <a:avLst/>
          </a:prstGeom>
          <a:noFill/>
        </p:spPr>
        <p:txBody>
          <a:bodyPr wrap="square" lIns="0" rIns="0" tIns="0" bIns="0" anchor="ctr">
            <a:spAutoFit/>
          </a:bodyPr>
          <a:lstStyle/>
          <a:p>
            <a:pPr algn="l"/>
            <a:r>
              <a:rPr sz="1300" b="0" i="0">
                <a:solidFill>
                  <a:srgbClr val="5B6778"/>
                </a:solidFill>
                <a:latin typeface="Arial"/>
              </a:rPr>
              <a:t>15</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A77B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C</a:t>
            </a:r>
          </a:p>
        </p:txBody>
      </p:sp>
      <p:sp>
        <p:nvSpPr>
          <p:cNvPr id="3" name="TextBox 2"/>
          <p:cNvSpPr txBox="1"/>
          <p:nvPr/>
        </p:nvSpPr>
        <p:spPr>
          <a:xfrm>
            <a:off x="1325880" y="384048"/>
            <a:ext cx="10332720" cy="731520"/>
          </a:xfrm>
          <a:prstGeom prst="rect">
            <a:avLst/>
          </a:prstGeom>
          <a:noFill/>
        </p:spPr>
        <p:txBody>
          <a:bodyPr wrap="square" lIns="0" rIns="0" tIns="0" bIns="0" anchor="ctr">
            <a:spAutoFit/>
          </a:bodyPr>
          <a:lstStyle/>
          <a:p>
            <a:pPr algn="l"/>
            <a:r>
              <a:rPr sz="3000" b="1" i="0">
                <a:solidFill>
                  <a:srgbClr val="1B2A41"/>
                </a:solidFill>
                <a:latin typeface="Arial"/>
              </a:rPr>
              <a:t>Thư viện dùng trong 15 buổi</a:t>
            </a:r>
          </a:p>
        </p:txBody>
      </p:sp>
      <p:sp>
        <p:nvSpPr>
          <p:cNvPr id="4" name="TextBox 3"/>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Biết mỗi thư viện là gì và lo phần nào, trước khi đọc code của từng buổi.</a:t>
            </a:r>
          </a:p>
        </p:txBody>
      </p:sp>
      <p:sp>
        <p:nvSpPr>
          <p:cNvPr id="5" name="TextBox 4"/>
          <p:cNvSpPr txBox="1"/>
          <p:nvPr/>
        </p:nvSpPr>
        <p:spPr>
          <a:xfrm>
            <a:off x="685800" y="1188720"/>
            <a:ext cx="1737360" cy="365760"/>
          </a:xfrm>
          <a:prstGeom prst="rect">
            <a:avLst/>
          </a:prstGeom>
          <a:noFill/>
        </p:spPr>
        <p:txBody>
          <a:bodyPr wrap="square" lIns="0" rIns="0" tIns="0" bIns="0" anchor="t">
            <a:spAutoFit/>
          </a:bodyPr>
          <a:lstStyle/>
          <a:p>
            <a:pPr algn="l"/>
            <a:r>
              <a:rPr sz="1100" b="1" i="0">
                <a:solidFill>
                  <a:srgbClr val="A77B06"/>
                </a:solidFill>
                <a:latin typeface="Arial"/>
              </a:rPr>
              <a:t>THƯ VIỆN</a:t>
            </a:r>
          </a:p>
        </p:txBody>
      </p:sp>
      <p:sp>
        <p:nvSpPr>
          <p:cNvPr id="6" name="TextBox 5"/>
          <p:cNvSpPr txBox="1"/>
          <p:nvPr/>
        </p:nvSpPr>
        <p:spPr>
          <a:xfrm>
            <a:off x="2697480" y="1188720"/>
            <a:ext cx="3291840" cy="365760"/>
          </a:xfrm>
          <a:prstGeom prst="rect">
            <a:avLst/>
          </a:prstGeom>
          <a:noFill/>
        </p:spPr>
        <p:txBody>
          <a:bodyPr wrap="square" lIns="0" rIns="0" tIns="0" bIns="0" anchor="t">
            <a:spAutoFit/>
          </a:bodyPr>
          <a:lstStyle/>
          <a:p>
            <a:pPr algn="l"/>
            <a:r>
              <a:rPr sz="1100" b="1" i="0">
                <a:solidFill>
                  <a:srgbClr val="5B6778"/>
                </a:solidFill>
                <a:latin typeface="Arial"/>
              </a:rPr>
              <a:t>LÀ GÌ</a:t>
            </a:r>
          </a:p>
        </p:txBody>
      </p:sp>
      <p:sp>
        <p:nvSpPr>
          <p:cNvPr id="7" name="TextBox 6"/>
          <p:cNvSpPr txBox="1"/>
          <p:nvPr/>
        </p:nvSpPr>
        <p:spPr>
          <a:xfrm>
            <a:off x="6263640" y="1188720"/>
            <a:ext cx="4297680" cy="365760"/>
          </a:xfrm>
          <a:prstGeom prst="rect">
            <a:avLst/>
          </a:prstGeom>
          <a:noFill/>
        </p:spPr>
        <p:txBody>
          <a:bodyPr wrap="square" lIns="0" rIns="0" tIns="0" bIns="0" anchor="t">
            <a:spAutoFit/>
          </a:bodyPr>
          <a:lstStyle/>
          <a:p>
            <a:pPr algn="l"/>
            <a:r>
              <a:rPr sz="1100" b="1" i="0">
                <a:solidFill>
                  <a:srgbClr val="5B6778"/>
                </a:solidFill>
                <a:latin typeface="Arial"/>
              </a:rPr>
              <a:t>HÀM HAY GẶP</a:t>
            </a:r>
          </a:p>
        </p:txBody>
      </p:sp>
      <p:sp>
        <p:nvSpPr>
          <p:cNvPr id="8" name="TextBox 7"/>
          <p:cNvSpPr txBox="1"/>
          <p:nvPr/>
        </p:nvSpPr>
        <p:spPr>
          <a:xfrm>
            <a:off x="10835640" y="1188720"/>
            <a:ext cx="667512" cy="365760"/>
          </a:xfrm>
          <a:prstGeom prst="rect">
            <a:avLst/>
          </a:prstGeom>
          <a:noFill/>
        </p:spPr>
        <p:txBody>
          <a:bodyPr wrap="square" lIns="0" rIns="0" tIns="0" bIns="0" anchor="t">
            <a:spAutoFit/>
          </a:bodyPr>
          <a:lstStyle/>
          <a:p>
            <a:pPr algn="l"/>
            <a:r>
              <a:rPr sz="1100" b="1" i="0">
                <a:solidFill>
                  <a:srgbClr val="5B6778"/>
                </a:solidFill>
                <a:latin typeface="Arial"/>
              </a:rPr>
              <a:t>BUỔI</a:t>
            </a:r>
          </a:p>
        </p:txBody>
      </p:sp>
      <p:sp>
        <p:nvSpPr>
          <p:cNvPr id="9" name="Rounded Rectangle 8"/>
          <p:cNvSpPr/>
          <p:nvPr/>
        </p:nvSpPr>
        <p:spPr>
          <a:xfrm>
            <a:off x="548639" y="1600200"/>
            <a:ext cx="11091672" cy="53035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799" y="1600200"/>
            <a:ext cx="1737360" cy="530352"/>
          </a:xfrm>
          <a:prstGeom prst="rect">
            <a:avLst/>
          </a:prstGeom>
          <a:noFill/>
        </p:spPr>
        <p:txBody>
          <a:bodyPr wrap="square" lIns="0" rIns="0" tIns="0" bIns="0" anchor="ctr">
            <a:spAutoFit/>
          </a:bodyPr>
          <a:lstStyle/>
          <a:p>
            <a:pPr algn="l"/>
            <a:r>
              <a:rPr sz="1200" b="1" i="0">
                <a:solidFill>
                  <a:srgbClr val="1B2A41"/>
                </a:solidFill>
                <a:latin typeface="Arial"/>
              </a:rPr>
              <a:t>pandas</a:t>
            </a:r>
          </a:p>
        </p:txBody>
      </p:sp>
      <p:sp>
        <p:nvSpPr>
          <p:cNvPr id="11" name="TextBox 10"/>
          <p:cNvSpPr txBox="1"/>
          <p:nvPr/>
        </p:nvSpPr>
        <p:spPr>
          <a:xfrm>
            <a:off x="2697479" y="1600200"/>
            <a:ext cx="3291840" cy="530352"/>
          </a:xfrm>
          <a:prstGeom prst="rect">
            <a:avLst/>
          </a:prstGeom>
          <a:noFill/>
        </p:spPr>
        <p:txBody>
          <a:bodyPr wrap="square" lIns="0" rIns="0" tIns="0" bIns="0" anchor="ctr">
            <a:spAutoFit/>
          </a:bodyPr>
          <a:lstStyle/>
          <a:p>
            <a:pPr algn="l"/>
            <a:r>
              <a:rPr sz="1200" b="0" i="0">
                <a:solidFill>
                  <a:srgbClr val="1B2A41"/>
                </a:solidFill>
                <a:latin typeface="Arial"/>
              </a:rPr>
              <a:t>Bảng dữ liệu theo thời gian: đọc, lọc, gộp, dời</a:t>
            </a:r>
          </a:p>
        </p:txBody>
      </p:sp>
      <p:sp>
        <p:nvSpPr>
          <p:cNvPr id="12" name="TextBox 11"/>
          <p:cNvSpPr txBox="1"/>
          <p:nvPr/>
        </p:nvSpPr>
        <p:spPr>
          <a:xfrm>
            <a:off x="6263639" y="1600200"/>
            <a:ext cx="4297680" cy="530352"/>
          </a:xfrm>
          <a:prstGeom prst="rect">
            <a:avLst/>
          </a:prstGeom>
          <a:noFill/>
        </p:spPr>
        <p:txBody>
          <a:bodyPr wrap="square" lIns="0" rIns="0" tIns="0" bIns="0" anchor="ctr">
            <a:spAutoFit/>
          </a:bodyPr>
          <a:lstStyle/>
          <a:p>
            <a:pPr algn="l"/>
            <a:r>
              <a:rPr sz="1200" b="0" i="0">
                <a:solidFill>
                  <a:srgbClr val="1B2A41"/>
                </a:solidFill>
                <a:latin typeface="Arial"/>
              </a:rPr>
              <a:t>date_range, reindex, resample, shift, rolling, merge_asof</a:t>
            </a:r>
          </a:p>
        </p:txBody>
      </p:sp>
      <p:sp>
        <p:nvSpPr>
          <p:cNvPr id="13" name="TextBox 12"/>
          <p:cNvSpPr txBox="1"/>
          <p:nvPr/>
        </p:nvSpPr>
        <p:spPr>
          <a:xfrm>
            <a:off x="10835639" y="1600200"/>
            <a:ext cx="667512" cy="530352"/>
          </a:xfrm>
          <a:prstGeom prst="rect">
            <a:avLst/>
          </a:prstGeom>
          <a:noFill/>
        </p:spPr>
        <p:txBody>
          <a:bodyPr wrap="square" lIns="0" rIns="0" tIns="0" bIns="0" anchor="ctr">
            <a:spAutoFit/>
          </a:bodyPr>
          <a:lstStyle/>
          <a:p>
            <a:pPr algn="l"/>
            <a:r>
              <a:rPr sz="1200" b="0" i="0">
                <a:solidFill>
                  <a:srgbClr val="5B6778"/>
                </a:solidFill>
                <a:latin typeface="Arial"/>
              </a:rPr>
              <a:t>1–15</a:t>
            </a:r>
          </a:p>
        </p:txBody>
      </p:sp>
      <p:sp>
        <p:nvSpPr>
          <p:cNvPr id="14" name="TextBox 13"/>
          <p:cNvSpPr txBox="1"/>
          <p:nvPr/>
        </p:nvSpPr>
        <p:spPr>
          <a:xfrm>
            <a:off x="685799" y="2167128"/>
            <a:ext cx="1737360" cy="530352"/>
          </a:xfrm>
          <a:prstGeom prst="rect">
            <a:avLst/>
          </a:prstGeom>
          <a:noFill/>
        </p:spPr>
        <p:txBody>
          <a:bodyPr wrap="square" lIns="0" rIns="0" tIns="0" bIns="0" anchor="ctr">
            <a:spAutoFit/>
          </a:bodyPr>
          <a:lstStyle/>
          <a:p>
            <a:pPr algn="l"/>
            <a:r>
              <a:rPr sz="1200" b="1" i="0">
                <a:solidFill>
                  <a:srgbClr val="1B2A41"/>
                </a:solidFill>
                <a:latin typeface="Arial"/>
              </a:rPr>
              <a:t>NumPy</a:t>
            </a:r>
          </a:p>
        </p:txBody>
      </p:sp>
      <p:sp>
        <p:nvSpPr>
          <p:cNvPr id="15" name="TextBox 14"/>
          <p:cNvSpPr txBox="1"/>
          <p:nvPr/>
        </p:nvSpPr>
        <p:spPr>
          <a:xfrm>
            <a:off x="2697479" y="2167128"/>
            <a:ext cx="3291840" cy="530352"/>
          </a:xfrm>
          <a:prstGeom prst="rect">
            <a:avLst/>
          </a:prstGeom>
          <a:noFill/>
        </p:spPr>
        <p:txBody>
          <a:bodyPr wrap="square" lIns="0" rIns="0" tIns="0" bIns="0" anchor="ctr">
            <a:spAutoFit/>
          </a:bodyPr>
          <a:lstStyle/>
          <a:p>
            <a:pPr algn="l"/>
            <a:r>
              <a:rPr sz="1200" b="0" i="0">
                <a:solidFill>
                  <a:srgbClr val="1B2A41"/>
                </a:solidFill>
                <a:latin typeface="Arial"/>
              </a:rPr>
              <a:t>Tính toán trên mảng số</a:t>
            </a:r>
          </a:p>
        </p:txBody>
      </p:sp>
      <p:sp>
        <p:nvSpPr>
          <p:cNvPr id="16" name="TextBox 15"/>
          <p:cNvSpPr txBox="1"/>
          <p:nvPr/>
        </p:nvSpPr>
        <p:spPr>
          <a:xfrm>
            <a:off x="6263639" y="2167128"/>
            <a:ext cx="4297680" cy="530352"/>
          </a:xfrm>
          <a:prstGeom prst="rect">
            <a:avLst/>
          </a:prstGeom>
          <a:noFill/>
        </p:spPr>
        <p:txBody>
          <a:bodyPr wrap="square" lIns="0" rIns="0" tIns="0" bIns="0" anchor="ctr">
            <a:spAutoFit/>
          </a:bodyPr>
          <a:lstStyle/>
          <a:p>
            <a:pPr algn="l"/>
            <a:r>
              <a:rPr sz="1200" b="0" i="0">
                <a:solidFill>
                  <a:srgbClr val="1B2A41"/>
                </a:solidFill>
                <a:latin typeface="Arial"/>
              </a:rPr>
              <a:t>quantile, log, sqrt, abs, mean</a:t>
            </a:r>
          </a:p>
        </p:txBody>
      </p:sp>
      <p:sp>
        <p:nvSpPr>
          <p:cNvPr id="17" name="TextBox 16"/>
          <p:cNvSpPr txBox="1"/>
          <p:nvPr/>
        </p:nvSpPr>
        <p:spPr>
          <a:xfrm>
            <a:off x="10835639" y="2167128"/>
            <a:ext cx="667512" cy="530352"/>
          </a:xfrm>
          <a:prstGeom prst="rect">
            <a:avLst/>
          </a:prstGeom>
          <a:noFill/>
        </p:spPr>
        <p:txBody>
          <a:bodyPr wrap="square" lIns="0" rIns="0" tIns="0" bIns="0" anchor="ctr">
            <a:spAutoFit/>
          </a:bodyPr>
          <a:lstStyle/>
          <a:p>
            <a:pPr algn="l"/>
            <a:r>
              <a:rPr sz="1200" b="0" i="0">
                <a:solidFill>
                  <a:srgbClr val="5B6778"/>
                </a:solidFill>
                <a:latin typeface="Arial"/>
              </a:rPr>
              <a:t>1–15</a:t>
            </a:r>
          </a:p>
        </p:txBody>
      </p:sp>
      <p:sp>
        <p:nvSpPr>
          <p:cNvPr id="18" name="Rounded Rectangle 17"/>
          <p:cNvSpPr/>
          <p:nvPr/>
        </p:nvSpPr>
        <p:spPr>
          <a:xfrm>
            <a:off x="548639" y="2734056"/>
            <a:ext cx="11091672" cy="53035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799" y="2734056"/>
            <a:ext cx="1737360" cy="530352"/>
          </a:xfrm>
          <a:prstGeom prst="rect">
            <a:avLst/>
          </a:prstGeom>
          <a:noFill/>
        </p:spPr>
        <p:txBody>
          <a:bodyPr wrap="square" lIns="0" rIns="0" tIns="0" bIns="0" anchor="ctr">
            <a:spAutoFit/>
          </a:bodyPr>
          <a:lstStyle/>
          <a:p>
            <a:pPr algn="l"/>
            <a:r>
              <a:rPr sz="1200" b="1" i="0">
                <a:solidFill>
                  <a:srgbClr val="1B2A41"/>
                </a:solidFill>
                <a:latin typeface="Arial"/>
              </a:rPr>
              <a:t>statsmodels</a:t>
            </a:r>
          </a:p>
        </p:txBody>
      </p:sp>
      <p:sp>
        <p:nvSpPr>
          <p:cNvPr id="20" name="TextBox 19"/>
          <p:cNvSpPr txBox="1"/>
          <p:nvPr/>
        </p:nvSpPr>
        <p:spPr>
          <a:xfrm>
            <a:off x="2697479" y="2734056"/>
            <a:ext cx="3291840" cy="530352"/>
          </a:xfrm>
          <a:prstGeom prst="rect">
            <a:avLst/>
          </a:prstGeom>
          <a:noFill/>
        </p:spPr>
        <p:txBody>
          <a:bodyPr wrap="square" lIns="0" rIns="0" tIns="0" bIns="0" anchor="ctr">
            <a:spAutoFit/>
          </a:bodyPr>
          <a:lstStyle/>
          <a:p>
            <a:pPr algn="l"/>
            <a:r>
              <a:rPr sz="1200" b="0" i="0">
                <a:solidFill>
                  <a:srgbClr val="1B2A41"/>
                </a:solidFill>
                <a:latin typeface="Arial"/>
              </a:rPr>
              <a:t>Thống kê và chuỗi thời gian</a:t>
            </a:r>
          </a:p>
        </p:txBody>
      </p:sp>
      <p:sp>
        <p:nvSpPr>
          <p:cNvPr id="21" name="TextBox 20"/>
          <p:cNvSpPr txBox="1"/>
          <p:nvPr/>
        </p:nvSpPr>
        <p:spPr>
          <a:xfrm>
            <a:off x="6263639" y="2734056"/>
            <a:ext cx="4297680" cy="530352"/>
          </a:xfrm>
          <a:prstGeom prst="rect">
            <a:avLst/>
          </a:prstGeom>
          <a:noFill/>
        </p:spPr>
        <p:txBody>
          <a:bodyPr wrap="square" lIns="0" rIns="0" tIns="0" bIns="0" anchor="ctr">
            <a:spAutoFit/>
          </a:bodyPr>
          <a:lstStyle/>
          <a:p>
            <a:pPr algn="l"/>
            <a:r>
              <a:rPr sz="1200" b="0" i="0">
                <a:solidFill>
                  <a:srgbClr val="1B2A41"/>
                </a:solidFill>
                <a:latin typeface="Arial"/>
              </a:rPr>
              <a:t>acf, pacf, adfuller, kpss, STL, MSTL</a:t>
            </a:r>
          </a:p>
        </p:txBody>
      </p:sp>
      <p:sp>
        <p:nvSpPr>
          <p:cNvPr id="22" name="TextBox 21"/>
          <p:cNvSpPr txBox="1"/>
          <p:nvPr/>
        </p:nvSpPr>
        <p:spPr>
          <a:xfrm>
            <a:off x="10835639" y="2734056"/>
            <a:ext cx="667512" cy="530352"/>
          </a:xfrm>
          <a:prstGeom prst="rect">
            <a:avLst/>
          </a:prstGeom>
          <a:noFill/>
        </p:spPr>
        <p:txBody>
          <a:bodyPr wrap="square" lIns="0" rIns="0" tIns="0" bIns="0" anchor="ctr">
            <a:spAutoFit/>
          </a:bodyPr>
          <a:lstStyle/>
          <a:p>
            <a:pPr algn="l"/>
            <a:r>
              <a:rPr sz="1200" b="0" i="0">
                <a:solidFill>
                  <a:srgbClr val="5B6778"/>
                </a:solidFill>
                <a:latin typeface="Arial"/>
              </a:rPr>
              <a:t>6–10, 12</a:t>
            </a:r>
          </a:p>
        </p:txBody>
      </p:sp>
      <p:sp>
        <p:nvSpPr>
          <p:cNvPr id="23" name="TextBox 22"/>
          <p:cNvSpPr txBox="1"/>
          <p:nvPr/>
        </p:nvSpPr>
        <p:spPr>
          <a:xfrm>
            <a:off x="685799" y="3300984"/>
            <a:ext cx="1737360" cy="530352"/>
          </a:xfrm>
          <a:prstGeom prst="rect">
            <a:avLst/>
          </a:prstGeom>
          <a:noFill/>
        </p:spPr>
        <p:txBody>
          <a:bodyPr wrap="square" lIns="0" rIns="0" tIns="0" bIns="0" anchor="ctr">
            <a:spAutoFit/>
          </a:bodyPr>
          <a:lstStyle/>
          <a:p>
            <a:pPr algn="l"/>
            <a:r>
              <a:rPr sz="1200" b="1" i="0">
                <a:solidFill>
                  <a:srgbClr val="1B2A41"/>
                </a:solidFill>
                <a:latin typeface="Arial"/>
              </a:rPr>
              <a:t>SciPy</a:t>
            </a:r>
          </a:p>
        </p:txBody>
      </p:sp>
      <p:sp>
        <p:nvSpPr>
          <p:cNvPr id="24" name="TextBox 23"/>
          <p:cNvSpPr txBox="1"/>
          <p:nvPr/>
        </p:nvSpPr>
        <p:spPr>
          <a:xfrm>
            <a:off x="2697479" y="3300984"/>
            <a:ext cx="3291840" cy="530352"/>
          </a:xfrm>
          <a:prstGeom prst="rect">
            <a:avLst/>
          </a:prstGeom>
          <a:noFill/>
        </p:spPr>
        <p:txBody>
          <a:bodyPr wrap="square" lIns="0" rIns="0" tIns="0" bIns="0" anchor="ctr">
            <a:spAutoFit/>
          </a:bodyPr>
          <a:lstStyle/>
          <a:p>
            <a:pPr algn="l"/>
            <a:r>
              <a:rPr sz="1200" b="0" i="0">
                <a:solidFill>
                  <a:srgbClr val="1B2A41"/>
                </a:solidFill>
                <a:latin typeface="Arial"/>
              </a:rPr>
              <a:t>Tính toán khoa học: phân phối, bộ lọc</a:t>
            </a:r>
          </a:p>
        </p:txBody>
      </p:sp>
      <p:sp>
        <p:nvSpPr>
          <p:cNvPr id="25" name="TextBox 24"/>
          <p:cNvSpPr txBox="1"/>
          <p:nvPr/>
        </p:nvSpPr>
        <p:spPr>
          <a:xfrm>
            <a:off x="6263639" y="3300984"/>
            <a:ext cx="4297680" cy="530352"/>
          </a:xfrm>
          <a:prstGeom prst="rect">
            <a:avLst/>
          </a:prstGeom>
          <a:noFill/>
        </p:spPr>
        <p:txBody>
          <a:bodyPr wrap="square" lIns="0" rIns="0" tIns="0" bIns="0" anchor="ctr">
            <a:spAutoFit/>
          </a:bodyPr>
          <a:lstStyle/>
          <a:p>
            <a:pPr algn="l"/>
            <a:r>
              <a:rPr sz="1200" b="0" i="0">
                <a:solidFill>
                  <a:srgbClr val="1B2A41"/>
                </a:solidFill>
                <a:latin typeface="Arial"/>
              </a:rPr>
              <a:t>stats.boxcox, pearsonr, spearmanr, signal.welch, sosfilt</a:t>
            </a:r>
          </a:p>
        </p:txBody>
      </p:sp>
      <p:sp>
        <p:nvSpPr>
          <p:cNvPr id="26" name="TextBox 25"/>
          <p:cNvSpPr txBox="1"/>
          <p:nvPr/>
        </p:nvSpPr>
        <p:spPr>
          <a:xfrm>
            <a:off x="10835639" y="3300984"/>
            <a:ext cx="667512" cy="530352"/>
          </a:xfrm>
          <a:prstGeom prst="rect">
            <a:avLst/>
          </a:prstGeom>
          <a:noFill/>
        </p:spPr>
        <p:txBody>
          <a:bodyPr wrap="square" lIns="0" rIns="0" tIns="0" bIns="0" anchor="ctr">
            <a:spAutoFit/>
          </a:bodyPr>
          <a:lstStyle/>
          <a:p>
            <a:pPr algn="l"/>
            <a:r>
              <a:rPr sz="1200" b="0" i="0">
                <a:solidFill>
                  <a:srgbClr val="5B6778"/>
                </a:solidFill>
                <a:latin typeface="Arial"/>
              </a:rPr>
              <a:t>5, 7–9, 12</a:t>
            </a:r>
          </a:p>
        </p:txBody>
      </p:sp>
      <p:sp>
        <p:nvSpPr>
          <p:cNvPr id="27" name="Rounded Rectangle 26"/>
          <p:cNvSpPr/>
          <p:nvPr/>
        </p:nvSpPr>
        <p:spPr>
          <a:xfrm>
            <a:off x="548639" y="3867912"/>
            <a:ext cx="11091672" cy="53035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799" y="3867912"/>
            <a:ext cx="1737360" cy="530352"/>
          </a:xfrm>
          <a:prstGeom prst="rect">
            <a:avLst/>
          </a:prstGeom>
          <a:noFill/>
        </p:spPr>
        <p:txBody>
          <a:bodyPr wrap="square" lIns="0" rIns="0" tIns="0" bIns="0" anchor="ctr">
            <a:spAutoFit/>
          </a:bodyPr>
          <a:lstStyle/>
          <a:p>
            <a:pPr algn="l"/>
            <a:r>
              <a:rPr sz="1200" b="1" i="0">
                <a:solidFill>
                  <a:srgbClr val="1B2A41"/>
                </a:solidFill>
                <a:latin typeface="Arial"/>
              </a:rPr>
              <a:t>scikit-learn</a:t>
            </a:r>
          </a:p>
        </p:txBody>
      </p:sp>
      <p:sp>
        <p:nvSpPr>
          <p:cNvPr id="29" name="TextBox 28"/>
          <p:cNvSpPr txBox="1"/>
          <p:nvPr/>
        </p:nvSpPr>
        <p:spPr>
          <a:xfrm>
            <a:off x="2697479" y="3867912"/>
            <a:ext cx="3291840" cy="530352"/>
          </a:xfrm>
          <a:prstGeom prst="rect">
            <a:avLst/>
          </a:prstGeom>
          <a:noFill/>
        </p:spPr>
        <p:txBody>
          <a:bodyPr wrap="square" lIns="0" rIns="0" tIns="0" bIns="0" anchor="ctr">
            <a:spAutoFit/>
          </a:bodyPr>
          <a:lstStyle/>
          <a:p>
            <a:pPr algn="l"/>
            <a:r>
              <a:rPr sz="1200" b="0" i="0">
                <a:solidFill>
                  <a:srgbClr val="1B2A41"/>
                </a:solidFill>
                <a:latin typeface="Arial"/>
              </a:rPr>
              <a:t>Học máy: chuẩn hoá, nén chiều, chia tập</a:t>
            </a:r>
          </a:p>
        </p:txBody>
      </p:sp>
      <p:sp>
        <p:nvSpPr>
          <p:cNvPr id="30" name="TextBox 29"/>
          <p:cNvSpPr txBox="1"/>
          <p:nvPr/>
        </p:nvSpPr>
        <p:spPr>
          <a:xfrm>
            <a:off x="6263639" y="3867912"/>
            <a:ext cx="4297680" cy="530352"/>
          </a:xfrm>
          <a:prstGeom prst="rect">
            <a:avLst/>
          </a:prstGeom>
          <a:noFill/>
        </p:spPr>
        <p:txBody>
          <a:bodyPr wrap="square" lIns="0" rIns="0" tIns="0" bIns="0" anchor="ctr">
            <a:spAutoFit/>
          </a:bodyPr>
          <a:lstStyle/>
          <a:p>
            <a:pPr algn="l"/>
            <a:r>
              <a:rPr sz="1200" b="0" i="0">
                <a:solidFill>
                  <a:srgbClr val="1B2A41"/>
                </a:solidFill>
                <a:latin typeface="Arial"/>
              </a:rPr>
              <a:t>StandardScaler, PCA, KFold, mutual_info_regression</a:t>
            </a:r>
          </a:p>
        </p:txBody>
      </p:sp>
      <p:sp>
        <p:nvSpPr>
          <p:cNvPr id="31" name="TextBox 30"/>
          <p:cNvSpPr txBox="1"/>
          <p:nvPr/>
        </p:nvSpPr>
        <p:spPr>
          <a:xfrm>
            <a:off x="10835639" y="3867912"/>
            <a:ext cx="667512" cy="530352"/>
          </a:xfrm>
          <a:prstGeom prst="rect">
            <a:avLst/>
          </a:prstGeom>
          <a:noFill/>
        </p:spPr>
        <p:txBody>
          <a:bodyPr wrap="square" lIns="0" rIns="0" tIns="0" bIns="0" anchor="ctr">
            <a:spAutoFit/>
          </a:bodyPr>
          <a:lstStyle/>
          <a:p>
            <a:pPr algn="l"/>
            <a:r>
              <a:rPr sz="1200" b="0" i="0">
                <a:solidFill>
                  <a:srgbClr val="5B6778"/>
                </a:solidFill>
                <a:latin typeface="Arial"/>
              </a:rPr>
              <a:t>8, 9, 15</a:t>
            </a:r>
          </a:p>
        </p:txBody>
      </p:sp>
      <p:sp>
        <p:nvSpPr>
          <p:cNvPr id="32" name="TextBox 31"/>
          <p:cNvSpPr txBox="1"/>
          <p:nvPr/>
        </p:nvSpPr>
        <p:spPr>
          <a:xfrm>
            <a:off x="685799" y="4434840"/>
            <a:ext cx="1737360" cy="530352"/>
          </a:xfrm>
          <a:prstGeom prst="rect">
            <a:avLst/>
          </a:prstGeom>
          <a:noFill/>
        </p:spPr>
        <p:txBody>
          <a:bodyPr wrap="square" lIns="0" rIns="0" tIns="0" bIns="0" anchor="ctr">
            <a:spAutoFit/>
          </a:bodyPr>
          <a:lstStyle/>
          <a:p>
            <a:pPr algn="l"/>
            <a:r>
              <a:rPr sz="1200" b="1" i="0">
                <a:solidFill>
                  <a:srgbClr val="1B2A41"/>
                </a:solidFill>
                <a:latin typeface="Arial"/>
              </a:rPr>
              <a:t>ruptures</a:t>
            </a:r>
          </a:p>
        </p:txBody>
      </p:sp>
      <p:sp>
        <p:nvSpPr>
          <p:cNvPr id="33" name="TextBox 32"/>
          <p:cNvSpPr txBox="1"/>
          <p:nvPr/>
        </p:nvSpPr>
        <p:spPr>
          <a:xfrm>
            <a:off x="2697479" y="4434840"/>
            <a:ext cx="3291840" cy="530352"/>
          </a:xfrm>
          <a:prstGeom prst="rect">
            <a:avLst/>
          </a:prstGeom>
          <a:noFill/>
        </p:spPr>
        <p:txBody>
          <a:bodyPr wrap="square" lIns="0" rIns="0" tIns="0" bIns="0" anchor="ctr">
            <a:spAutoFit/>
          </a:bodyPr>
          <a:lstStyle/>
          <a:p>
            <a:pPr algn="l"/>
            <a:r>
              <a:rPr sz="1200" b="0" i="0">
                <a:solidFill>
                  <a:srgbClr val="1B2A41"/>
                </a:solidFill>
                <a:latin typeface="Arial"/>
              </a:rPr>
              <a:t>Tìm điểm gãy trong chuỗi</a:t>
            </a:r>
          </a:p>
        </p:txBody>
      </p:sp>
      <p:sp>
        <p:nvSpPr>
          <p:cNvPr id="34" name="TextBox 33"/>
          <p:cNvSpPr txBox="1"/>
          <p:nvPr/>
        </p:nvSpPr>
        <p:spPr>
          <a:xfrm>
            <a:off x="6263639" y="4434840"/>
            <a:ext cx="4297680" cy="530352"/>
          </a:xfrm>
          <a:prstGeom prst="rect">
            <a:avLst/>
          </a:prstGeom>
          <a:noFill/>
        </p:spPr>
        <p:txBody>
          <a:bodyPr wrap="square" lIns="0" rIns="0" tIns="0" bIns="0" anchor="ctr">
            <a:spAutoFit/>
          </a:bodyPr>
          <a:lstStyle/>
          <a:p>
            <a:pPr algn="l"/>
            <a:r>
              <a:rPr sz="1200" b="0" i="0">
                <a:solidFill>
                  <a:srgbClr val="1B2A41"/>
                </a:solidFill>
                <a:latin typeface="Arial"/>
              </a:rPr>
              <a:t>Pelt, predict(pen=…)</a:t>
            </a:r>
          </a:p>
        </p:txBody>
      </p:sp>
      <p:sp>
        <p:nvSpPr>
          <p:cNvPr id="35" name="TextBox 34"/>
          <p:cNvSpPr txBox="1"/>
          <p:nvPr/>
        </p:nvSpPr>
        <p:spPr>
          <a:xfrm>
            <a:off x="10835639" y="4434840"/>
            <a:ext cx="667512" cy="530352"/>
          </a:xfrm>
          <a:prstGeom prst="rect">
            <a:avLst/>
          </a:prstGeom>
          <a:noFill/>
        </p:spPr>
        <p:txBody>
          <a:bodyPr wrap="square" lIns="0" rIns="0" tIns="0" bIns="0" anchor="ctr">
            <a:spAutoFit/>
          </a:bodyPr>
          <a:lstStyle/>
          <a:p>
            <a:pPr algn="l"/>
            <a:r>
              <a:rPr sz="1200" b="0" i="0">
                <a:solidFill>
                  <a:srgbClr val="5B6778"/>
                </a:solidFill>
                <a:latin typeface="Arial"/>
              </a:rPr>
              <a:t>11</a:t>
            </a:r>
          </a:p>
        </p:txBody>
      </p:sp>
      <p:sp>
        <p:nvSpPr>
          <p:cNvPr id="36" name="Rounded Rectangle 35"/>
          <p:cNvSpPr/>
          <p:nvPr/>
        </p:nvSpPr>
        <p:spPr>
          <a:xfrm>
            <a:off x="548639" y="5001768"/>
            <a:ext cx="11091672" cy="53035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5799" y="5001768"/>
            <a:ext cx="1737360" cy="530352"/>
          </a:xfrm>
          <a:prstGeom prst="rect">
            <a:avLst/>
          </a:prstGeom>
          <a:noFill/>
        </p:spPr>
        <p:txBody>
          <a:bodyPr wrap="square" lIns="0" rIns="0" tIns="0" bIns="0" anchor="ctr">
            <a:spAutoFit/>
          </a:bodyPr>
          <a:lstStyle/>
          <a:p>
            <a:pPr algn="l"/>
            <a:r>
              <a:rPr sz="1200" b="1" i="0">
                <a:solidFill>
                  <a:srgbClr val="1B2A41"/>
                </a:solidFill>
                <a:latin typeface="Arial"/>
              </a:rPr>
              <a:t>Nixtla</a:t>
            </a:r>
          </a:p>
        </p:txBody>
      </p:sp>
      <p:sp>
        <p:nvSpPr>
          <p:cNvPr id="38" name="TextBox 37"/>
          <p:cNvSpPr txBox="1"/>
          <p:nvPr/>
        </p:nvSpPr>
        <p:spPr>
          <a:xfrm>
            <a:off x="2697479" y="5001768"/>
            <a:ext cx="3291840" cy="530352"/>
          </a:xfrm>
          <a:prstGeom prst="rect">
            <a:avLst/>
          </a:prstGeom>
          <a:noFill/>
        </p:spPr>
        <p:txBody>
          <a:bodyPr wrap="square" lIns="0" rIns="0" tIns="0" bIns="0" anchor="ctr">
            <a:spAutoFit/>
          </a:bodyPr>
          <a:lstStyle/>
          <a:p>
            <a:pPr algn="l"/>
            <a:r>
              <a:rPr sz="1200" b="0" i="0">
                <a:solidFill>
                  <a:srgbClr val="1B2A41"/>
                </a:solidFill>
                <a:latin typeface="Arial"/>
              </a:rPr>
              <a:t>statsforecast (dự báo nhanh), utilsforecast (chỉ số)</a:t>
            </a:r>
          </a:p>
        </p:txBody>
      </p:sp>
      <p:sp>
        <p:nvSpPr>
          <p:cNvPr id="39" name="TextBox 38"/>
          <p:cNvSpPr txBox="1"/>
          <p:nvPr/>
        </p:nvSpPr>
        <p:spPr>
          <a:xfrm>
            <a:off x="6263639" y="5001768"/>
            <a:ext cx="4297680" cy="530352"/>
          </a:xfrm>
          <a:prstGeom prst="rect">
            <a:avLst/>
          </a:prstGeom>
          <a:noFill/>
        </p:spPr>
        <p:txBody>
          <a:bodyPr wrap="square" lIns="0" rIns="0" tIns="0" bIns="0" anchor="ctr">
            <a:spAutoFit/>
          </a:bodyPr>
          <a:lstStyle/>
          <a:p>
            <a:pPr algn="l"/>
            <a:r>
              <a:rPr sz="1200" b="0" i="0">
                <a:solidFill>
                  <a:srgbClr val="1B2A41"/>
                </a:solidFill>
                <a:latin typeface="Arial"/>
              </a:rPr>
              <a:t>cross_validation, mase, smape</a:t>
            </a:r>
          </a:p>
        </p:txBody>
      </p:sp>
      <p:sp>
        <p:nvSpPr>
          <p:cNvPr id="40" name="TextBox 39"/>
          <p:cNvSpPr txBox="1"/>
          <p:nvPr/>
        </p:nvSpPr>
        <p:spPr>
          <a:xfrm>
            <a:off x="10835639" y="5001768"/>
            <a:ext cx="667512" cy="530352"/>
          </a:xfrm>
          <a:prstGeom prst="rect">
            <a:avLst/>
          </a:prstGeom>
          <a:noFill/>
        </p:spPr>
        <p:txBody>
          <a:bodyPr wrap="square" lIns="0" rIns="0" tIns="0" bIns="0" anchor="ctr">
            <a:spAutoFit/>
          </a:bodyPr>
          <a:lstStyle/>
          <a:p>
            <a:pPr algn="l"/>
            <a:r>
              <a:rPr sz="1200" b="0" i="0">
                <a:solidFill>
                  <a:srgbClr val="5B6778"/>
                </a:solidFill>
                <a:latin typeface="Arial"/>
              </a:rPr>
              <a:t>14, 15</a:t>
            </a:r>
          </a:p>
        </p:txBody>
      </p:sp>
      <p:sp>
        <p:nvSpPr>
          <p:cNvPr id="41" name="TextBox 40"/>
          <p:cNvSpPr txBox="1"/>
          <p:nvPr/>
        </p:nvSpPr>
        <p:spPr>
          <a:xfrm>
            <a:off x="685799" y="5568696"/>
            <a:ext cx="1737360" cy="530352"/>
          </a:xfrm>
          <a:prstGeom prst="rect">
            <a:avLst/>
          </a:prstGeom>
          <a:noFill/>
        </p:spPr>
        <p:txBody>
          <a:bodyPr wrap="square" lIns="0" rIns="0" tIns="0" bIns="0" anchor="ctr">
            <a:spAutoFit/>
          </a:bodyPr>
          <a:lstStyle/>
          <a:p>
            <a:pPr algn="l"/>
            <a:r>
              <a:rPr sz="1200" b="1" i="0">
                <a:solidFill>
                  <a:srgbClr val="1B2A41"/>
                </a:solidFill>
                <a:latin typeface="Arial"/>
              </a:rPr>
              <a:t>tự viết</a:t>
            </a:r>
          </a:p>
        </p:txBody>
      </p:sp>
      <p:sp>
        <p:nvSpPr>
          <p:cNvPr id="42" name="TextBox 41"/>
          <p:cNvSpPr txBox="1"/>
          <p:nvPr/>
        </p:nvSpPr>
        <p:spPr>
          <a:xfrm>
            <a:off x="2697479" y="5568696"/>
            <a:ext cx="3291840" cy="530352"/>
          </a:xfrm>
          <a:prstGeom prst="rect">
            <a:avLst/>
          </a:prstGeom>
          <a:noFill/>
        </p:spPr>
        <p:txBody>
          <a:bodyPr wrap="square" lIns="0" rIns="0" tIns="0" bIns="0" anchor="ctr">
            <a:spAutoFit/>
          </a:bodyPr>
          <a:lstStyle/>
          <a:p>
            <a:pPr algn="l"/>
            <a:r>
              <a:rPr sz="1200" b="0" i="0">
                <a:solidFill>
                  <a:srgbClr val="1B2A41"/>
                </a:solidFill>
                <a:latin typeface="Arial"/>
              </a:rPr>
              <a:t>Hàm viết trong buổi học để hiểu từng bước</a:t>
            </a:r>
          </a:p>
        </p:txBody>
      </p:sp>
      <p:sp>
        <p:nvSpPr>
          <p:cNvPr id="43" name="TextBox 42"/>
          <p:cNvSpPr txBox="1"/>
          <p:nvPr/>
        </p:nvSpPr>
        <p:spPr>
          <a:xfrm>
            <a:off x="6263639" y="5568696"/>
            <a:ext cx="4297680" cy="530352"/>
          </a:xfrm>
          <a:prstGeom prst="rect">
            <a:avLst/>
          </a:prstGeom>
          <a:noFill/>
        </p:spPr>
        <p:txBody>
          <a:bodyPr wrap="square" lIns="0" rIns="0" tIns="0" bIns="0" anchor="ctr">
            <a:spAutoFit/>
          </a:bodyPr>
          <a:lstStyle/>
          <a:p>
            <a:pPr algn="l"/>
            <a:r>
              <a:rPr sz="1200" b="0" i="0">
                <a:solidFill>
                  <a:srgbClr val="1B2A41"/>
                </a:solidFill>
                <a:latin typeface="Arial"/>
              </a:rPr>
              <a:t>du_bao_cuon, guerrero, o_bang, kiem_ro_ri</a:t>
            </a:r>
          </a:p>
        </p:txBody>
      </p:sp>
      <p:sp>
        <p:nvSpPr>
          <p:cNvPr id="44" name="TextBox 43"/>
          <p:cNvSpPr txBox="1"/>
          <p:nvPr/>
        </p:nvSpPr>
        <p:spPr>
          <a:xfrm>
            <a:off x="10835639" y="5568696"/>
            <a:ext cx="667512" cy="530352"/>
          </a:xfrm>
          <a:prstGeom prst="rect">
            <a:avLst/>
          </a:prstGeom>
          <a:noFill/>
        </p:spPr>
        <p:txBody>
          <a:bodyPr wrap="square" lIns="0" rIns="0" tIns="0" bIns="0" anchor="ctr">
            <a:spAutoFit/>
          </a:bodyPr>
          <a:lstStyle/>
          <a:p>
            <a:pPr algn="l"/>
            <a:r>
              <a:rPr sz="1200" b="0" i="0">
                <a:solidFill>
                  <a:srgbClr val="5B6778"/>
                </a:solidFill>
                <a:latin typeface="Arial"/>
              </a:rPr>
              <a:t>1–15</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A77B0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C</a:t>
            </a:r>
          </a:p>
        </p:txBody>
      </p:sp>
      <p:sp>
        <p:nvSpPr>
          <p:cNvPr id="3" name="TextBox 2"/>
          <p:cNvSpPr txBox="1"/>
          <p:nvPr/>
        </p:nvSpPr>
        <p:spPr>
          <a:xfrm>
            <a:off x="1325880" y="384048"/>
            <a:ext cx="10332720" cy="731520"/>
          </a:xfrm>
          <a:prstGeom prst="rect">
            <a:avLst/>
          </a:prstGeom>
          <a:noFill/>
        </p:spPr>
        <p:txBody>
          <a:bodyPr wrap="square" lIns="0" rIns="0" tIns="0" bIns="0" anchor="ctr">
            <a:spAutoFit/>
          </a:bodyPr>
          <a:lstStyle/>
          <a:p>
            <a:pPr algn="l"/>
            <a:r>
              <a:rPr sz="3000" b="1" i="0">
                <a:solidFill>
                  <a:srgbClr val="1B2A41"/>
                </a:solidFill>
                <a:latin typeface="Arial"/>
              </a:rPr>
              <a:t>Lý thuyết nào, hàm nào</a:t>
            </a:r>
          </a:p>
        </p:txBody>
      </p:sp>
      <p:sp>
        <p:nvSpPr>
          <p:cNvPr id="4" name="TextBox 3"/>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Tra nhanh: lý thuyết này làm bằng hàm nào, của thư viện nào.</a:t>
            </a:r>
          </a:p>
        </p:txBody>
      </p:sp>
      <p:sp>
        <p:nvSpPr>
          <p:cNvPr id="5" name="TextBox 4"/>
          <p:cNvSpPr txBox="1"/>
          <p:nvPr/>
        </p:nvSpPr>
        <p:spPr>
          <a:xfrm>
            <a:off x="685800" y="1188720"/>
            <a:ext cx="2468880" cy="365760"/>
          </a:xfrm>
          <a:prstGeom prst="rect">
            <a:avLst/>
          </a:prstGeom>
          <a:noFill/>
        </p:spPr>
        <p:txBody>
          <a:bodyPr wrap="square" lIns="0" rIns="0" tIns="0" bIns="0" anchor="t">
            <a:spAutoFit/>
          </a:bodyPr>
          <a:lstStyle/>
          <a:p>
            <a:pPr algn="l"/>
            <a:r>
              <a:rPr sz="1100" b="1" i="0">
                <a:solidFill>
                  <a:srgbClr val="A77B06"/>
                </a:solidFill>
                <a:latin typeface="Arial"/>
              </a:rPr>
              <a:t>LÝ THUYẾT</a:t>
            </a:r>
          </a:p>
        </p:txBody>
      </p:sp>
      <p:sp>
        <p:nvSpPr>
          <p:cNvPr id="6" name="TextBox 5"/>
          <p:cNvSpPr txBox="1"/>
          <p:nvPr/>
        </p:nvSpPr>
        <p:spPr>
          <a:xfrm>
            <a:off x="3429000" y="1188720"/>
            <a:ext cx="4206240" cy="365760"/>
          </a:xfrm>
          <a:prstGeom prst="rect">
            <a:avLst/>
          </a:prstGeom>
          <a:noFill/>
        </p:spPr>
        <p:txBody>
          <a:bodyPr wrap="square" lIns="0" rIns="0" tIns="0" bIns="0" anchor="t">
            <a:spAutoFit/>
          </a:bodyPr>
          <a:lstStyle/>
          <a:p>
            <a:pPr algn="l"/>
            <a:r>
              <a:rPr sz="1100" b="1" i="0">
                <a:solidFill>
                  <a:srgbClr val="5B6778"/>
                </a:solidFill>
                <a:latin typeface="Arial"/>
              </a:rPr>
              <a:t>HÀM</a:t>
            </a:r>
          </a:p>
        </p:txBody>
      </p:sp>
      <p:sp>
        <p:nvSpPr>
          <p:cNvPr id="7" name="TextBox 6"/>
          <p:cNvSpPr txBox="1"/>
          <p:nvPr/>
        </p:nvSpPr>
        <p:spPr>
          <a:xfrm>
            <a:off x="7909560" y="1188720"/>
            <a:ext cx="2651760" cy="365760"/>
          </a:xfrm>
          <a:prstGeom prst="rect">
            <a:avLst/>
          </a:prstGeom>
          <a:noFill/>
        </p:spPr>
        <p:txBody>
          <a:bodyPr wrap="square" lIns="0" rIns="0" tIns="0" bIns="0" anchor="t">
            <a:spAutoFit/>
          </a:bodyPr>
          <a:lstStyle/>
          <a:p>
            <a:pPr algn="l"/>
            <a:r>
              <a:rPr sz="1100" b="1" i="0">
                <a:solidFill>
                  <a:srgbClr val="5B6778"/>
                </a:solidFill>
                <a:latin typeface="Arial"/>
              </a:rPr>
              <a:t>THƯ VIỆN</a:t>
            </a:r>
          </a:p>
        </p:txBody>
      </p:sp>
      <p:sp>
        <p:nvSpPr>
          <p:cNvPr id="8" name="TextBox 7"/>
          <p:cNvSpPr txBox="1"/>
          <p:nvPr/>
        </p:nvSpPr>
        <p:spPr>
          <a:xfrm>
            <a:off x="10835640" y="1188720"/>
            <a:ext cx="667512" cy="365760"/>
          </a:xfrm>
          <a:prstGeom prst="rect">
            <a:avLst/>
          </a:prstGeom>
          <a:noFill/>
        </p:spPr>
        <p:txBody>
          <a:bodyPr wrap="square" lIns="0" rIns="0" tIns="0" bIns="0" anchor="t">
            <a:spAutoFit/>
          </a:bodyPr>
          <a:lstStyle/>
          <a:p>
            <a:pPr algn="l"/>
            <a:r>
              <a:rPr sz="1100" b="1" i="0">
                <a:solidFill>
                  <a:srgbClr val="5B6778"/>
                </a:solidFill>
                <a:latin typeface="Arial"/>
              </a:rPr>
              <a:t>BUỔI</a:t>
            </a:r>
          </a:p>
        </p:txBody>
      </p:sp>
      <p:sp>
        <p:nvSpPr>
          <p:cNvPr id="9" name="Rounded Rectangle 8"/>
          <p:cNvSpPr/>
          <p:nvPr/>
        </p:nvSpPr>
        <p:spPr>
          <a:xfrm>
            <a:off x="548639" y="1600200"/>
            <a:ext cx="11091672" cy="310896"/>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799" y="1600200"/>
            <a:ext cx="2468880" cy="310896"/>
          </a:xfrm>
          <a:prstGeom prst="rect">
            <a:avLst/>
          </a:prstGeom>
          <a:noFill/>
        </p:spPr>
        <p:txBody>
          <a:bodyPr wrap="square" lIns="0" rIns="0" tIns="0" bIns="0" anchor="ctr">
            <a:spAutoFit/>
          </a:bodyPr>
          <a:lstStyle/>
          <a:p>
            <a:pPr algn="l"/>
            <a:r>
              <a:rPr sz="1100" b="1" i="0">
                <a:solidFill>
                  <a:srgbClr val="1B2A41"/>
                </a:solidFill>
                <a:latin typeface="Arial"/>
              </a:rPr>
              <a:t>Dự báo cuốn, backtest</a:t>
            </a:r>
          </a:p>
        </p:txBody>
      </p:sp>
      <p:sp>
        <p:nvSpPr>
          <p:cNvPr id="11" name="TextBox 10"/>
          <p:cNvSpPr txBox="1"/>
          <p:nvPr/>
        </p:nvSpPr>
        <p:spPr>
          <a:xfrm>
            <a:off x="3428999" y="1600200"/>
            <a:ext cx="4206240" cy="310896"/>
          </a:xfrm>
          <a:prstGeom prst="rect">
            <a:avLst/>
          </a:prstGeom>
          <a:noFill/>
        </p:spPr>
        <p:txBody>
          <a:bodyPr wrap="square" lIns="0" rIns="0" tIns="0" bIns="0" anchor="ctr">
            <a:spAutoFit/>
          </a:bodyPr>
          <a:lstStyle/>
          <a:p>
            <a:pPr algn="l"/>
            <a:r>
              <a:rPr sz="1100" b="0" i="0">
                <a:solidFill>
                  <a:srgbClr val="1B2A41"/>
                </a:solidFill>
                <a:latin typeface="Arial"/>
              </a:rPr>
              <a:t>lọc index &lt; gốc; cross_validation</a:t>
            </a:r>
          </a:p>
        </p:txBody>
      </p:sp>
      <p:sp>
        <p:nvSpPr>
          <p:cNvPr id="12" name="TextBox 11"/>
          <p:cNvSpPr txBox="1"/>
          <p:nvPr/>
        </p:nvSpPr>
        <p:spPr>
          <a:xfrm>
            <a:off x="7909559" y="1600200"/>
            <a:ext cx="2651760" cy="310896"/>
          </a:xfrm>
          <a:prstGeom prst="rect">
            <a:avLst/>
          </a:prstGeom>
          <a:noFill/>
        </p:spPr>
        <p:txBody>
          <a:bodyPr wrap="square" lIns="0" rIns="0" tIns="0" bIns="0" anchor="ctr">
            <a:spAutoFit/>
          </a:bodyPr>
          <a:lstStyle/>
          <a:p>
            <a:pPr algn="l"/>
            <a:r>
              <a:rPr sz="1100" b="0" i="0">
                <a:solidFill>
                  <a:srgbClr val="1B2A41"/>
                </a:solidFill>
                <a:latin typeface="Arial"/>
              </a:rPr>
              <a:t>pandas; statsforecast</a:t>
            </a:r>
          </a:p>
        </p:txBody>
      </p:sp>
      <p:sp>
        <p:nvSpPr>
          <p:cNvPr id="13" name="TextBox 12"/>
          <p:cNvSpPr txBox="1"/>
          <p:nvPr/>
        </p:nvSpPr>
        <p:spPr>
          <a:xfrm>
            <a:off x="10835640" y="1600200"/>
            <a:ext cx="667512" cy="310896"/>
          </a:xfrm>
          <a:prstGeom prst="rect">
            <a:avLst/>
          </a:prstGeom>
          <a:noFill/>
        </p:spPr>
        <p:txBody>
          <a:bodyPr wrap="square" lIns="0" rIns="0" tIns="0" bIns="0" anchor="ctr">
            <a:spAutoFit/>
          </a:bodyPr>
          <a:lstStyle/>
          <a:p>
            <a:pPr algn="l"/>
            <a:r>
              <a:rPr sz="1100" b="0" i="0">
                <a:solidFill>
                  <a:srgbClr val="5B6778"/>
                </a:solidFill>
                <a:latin typeface="Arial"/>
              </a:rPr>
              <a:t>1, 15</a:t>
            </a:r>
          </a:p>
        </p:txBody>
      </p:sp>
      <p:sp>
        <p:nvSpPr>
          <p:cNvPr id="14" name="TextBox 13"/>
          <p:cNvSpPr txBox="1"/>
          <p:nvPr/>
        </p:nvSpPr>
        <p:spPr>
          <a:xfrm>
            <a:off x="685799" y="1947672"/>
            <a:ext cx="2468880" cy="310896"/>
          </a:xfrm>
          <a:prstGeom prst="rect">
            <a:avLst/>
          </a:prstGeom>
          <a:noFill/>
        </p:spPr>
        <p:txBody>
          <a:bodyPr wrap="square" lIns="0" rIns="0" tIns="0" bIns="0" anchor="ctr">
            <a:spAutoFit/>
          </a:bodyPr>
          <a:lstStyle/>
          <a:p>
            <a:pPr algn="l"/>
            <a:r>
              <a:rPr sz="1100" b="1" i="0">
                <a:solidFill>
                  <a:srgbClr val="1B2A41"/>
                </a:solidFill>
                <a:latin typeface="Arial"/>
              </a:rPr>
              <a:t>Quantile</a:t>
            </a:r>
          </a:p>
        </p:txBody>
      </p:sp>
      <p:sp>
        <p:nvSpPr>
          <p:cNvPr id="15" name="TextBox 14"/>
          <p:cNvSpPr txBox="1"/>
          <p:nvPr/>
        </p:nvSpPr>
        <p:spPr>
          <a:xfrm>
            <a:off x="3428999" y="1947672"/>
            <a:ext cx="4206240" cy="310896"/>
          </a:xfrm>
          <a:prstGeom prst="rect">
            <a:avLst/>
          </a:prstGeom>
          <a:noFill/>
        </p:spPr>
        <p:txBody>
          <a:bodyPr wrap="square" lIns="0" rIns="0" tIns="0" bIns="0" anchor="ctr">
            <a:spAutoFit/>
          </a:bodyPr>
          <a:lstStyle/>
          <a:p>
            <a:pPr algn="l"/>
            <a:r>
              <a:rPr sz="1100" b="0" i="0">
                <a:solidFill>
                  <a:srgbClr val="1B2A41"/>
                </a:solidFill>
                <a:latin typeface="Arial"/>
              </a:rPr>
              <a:t>np.quantile</a:t>
            </a:r>
          </a:p>
        </p:txBody>
      </p:sp>
      <p:sp>
        <p:nvSpPr>
          <p:cNvPr id="16" name="TextBox 15"/>
          <p:cNvSpPr txBox="1"/>
          <p:nvPr/>
        </p:nvSpPr>
        <p:spPr>
          <a:xfrm>
            <a:off x="7909559" y="1947672"/>
            <a:ext cx="2651760" cy="310896"/>
          </a:xfrm>
          <a:prstGeom prst="rect">
            <a:avLst/>
          </a:prstGeom>
          <a:noFill/>
        </p:spPr>
        <p:txBody>
          <a:bodyPr wrap="square" lIns="0" rIns="0" tIns="0" bIns="0" anchor="ctr">
            <a:spAutoFit/>
          </a:bodyPr>
          <a:lstStyle/>
          <a:p>
            <a:pPr algn="l"/>
            <a:r>
              <a:rPr sz="1100" b="0" i="0">
                <a:solidFill>
                  <a:srgbClr val="1B2A41"/>
                </a:solidFill>
                <a:latin typeface="Arial"/>
              </a:rPr>
              <a:t>NumPy</a:t>
            </a:r>
          </a:p>
        </p:txBody>
      </p:sp>
      <p:sp>
        <p:nvSpPr>
          <p:cNvPr id="17" name="TextBox 16"/>
          <p:cNvSpPr txBox="1"/>
          <p:nvPr/>
        </p:nvSpPr>
        <p:spPr>
          <a:xfrm>
            <a:off x="10835640" y="1947672"/>
            <a:ext cx="667512" cy="310896"/>
          </a:xfrm>
          <a:prstGeom prst="rect">
            <a:avLst/>
          </a:prstGeom>
          <a:noFill/>
        </p:spPr>
        <p:txBody>
          <a:bodyPr wrap="square" lIns="0" rIns="0" tIns="0" bIns="0" anchor="ctr">
            <a:spAutoFit/>
          </a:bodyPr>
          <a:lstStyle/>
          <a:p>
            <a:pPr algn="l"/>
            <a:r>
              <a:rPr sz="1100" b="0" i="0">
                <a:solidFill>
                  <a:srgbClr val="5B6778"/>
                </a:solidFill>
                <a:latin typeface="Arial"/>
              </a:rPr>
              <a:t>1–2</a:t>
            </a:r>
          </a:p>
        </p:txBody>
      </p:sp>
      <p:sp>
        <p:nvSpPr>
          <p:cNvPr id="18" name="Rounded Rectangle 17"/>
          <p:cNvSpPr/>
          <p:nvPr/>
        </p:nvSpPr>
        <p:spPr>
          <a:xfrm>
            <a:off x="548639" y="2295144"/>
            <a:ext cx="11091672" cy="310896"/>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799" y="2295144"/>
            <a:ext cx="2468880" cy="310896"/>
          </a:xfrm>
          <a:prstGeom prst="rect">
            <a:avLst/>
          </a:prstGeom>
          <a:noFill/>
        </p:spPr>
        <p:txBody>
          <a:bodyPr wrap="square" lIns="0" rIns="0" tIns="0" bIns="0" anchor="ctr">
            <a:spAutoFit/>
          </a:bodyPr>
          <a:lstStyle/>
          <a:p>
            <a:pPr algn="l"/>
            <a:r>
              <a:rPr sz="1100" b="1" i="0">
                <a:solidFill>
                  <a:srgbClr val="1B2A41"/>
                </a:solidFill>
                <a:latin typeface="Arial"/>
              </a:rPr>
              <a:t>Múi giờ</a:t>
            </a:r>
          </a:p>
        </p:txBody>
      </p:sp>
      <p:sp>
        <p:nvSpPr>
          <p:cNvPr id="20" name="TextBox 19"/>
          <p:cNvSpPr txBox="1"/>
          <p:nvPr/>
        </p:nvSpPr>
        <p:spPr>
          <a:xfrm>
            <a:off x="3428999" y="2295144"/>
            <a:ext cx="4206240" cy="310896"/>
          </a:xfrm>
          <a:prstGeom prst="rect">
            <a:avLst/>
          </a:prstGeom>
          <a:noFill/>
        </p:spPr>
        <p:txBody>
          <a:bodyPr wrap="square" lIns="0" rIns="0" tIns="0" bIns="0" anchor="ctr">
            <a:spAutoFit/>
          </a:bodyPr>
          <a:lstStyle/>
          <a:p>
            <a:pPr algn="l"/>
            <a:r>
              <a:rPr sz="1100" b="0" i="0">
                <a:solidFill>
                  <a:srgbClr val="1B2A41"/>
                </a:solidFill>
                <a:latin typeface="Arial"/>
              </a:rPr>
              <a:t>tz_localize, tz_convert</a:t>
            </a:r>
          </a:p>
        </p:txBody>
      </p:sp>
      <p:sp>
        <p:nvSpPr>
          <p:cNvPr id="21" name="TextBox 20"/>
          <p:cNvSpPr txBox="1"/>
          <p:nvPr/>
        </p:nvSpPr>
        <p:spPr>
          <a:xfrm>
            <a:off x="7909559" y="2295144"/>
            <a:ext cx="2651760" cy="310896"/>
          </a:xfrm>
          <a:prstGeom prst="rect">
            <a:avLst/>
          </a:prstGeom>
          <a:noFill/>
        </p:spPr>
        <p:txBody>
          <a:bodyPr wrap="square" lIns="0" rIns="0" tIns="0" bIns="0" anchor="ctr">
            <a:spAutoFit/>
          </a:bodyPr>
          <a:lstStyle/>
          <a:p>
            <a:pPr algn="l"/>
            <a:r>
              <a:rPr sz="1100" b="0" i="0">
                <a:solidFill>
                  <a:srgbClr val="1B2A41"/>
                </a:solidFill>
                <a:latin typeface="Arial"/>
              </a:rPr>
              <a:t>pandas</a:t>
            </a:r>
          </a:p>
        </p:txBody>
      </p:sp>
      <p:sp>
        <p:nvSpPr>
          <p:cNvPr id="22" name="TextBox 21"/>
          <p:cNvSpPr txBox="1"/>
          <p:nvPr/>
        </p:nvSpPr>
        <p:spPr>
          <a:xfrm>
            <a:off x="10835640" y="2295144"/>
            <a:ext cx="667512" cy="310896"/>
          </a:xfrm>
          <a:prstGeom prst="rect">
            <a:avLst/>
          </a:prstGeom>
          <a:noFill/>
        </p:spPr>
        <p:txBody>
          <a:bodyPr wrap="square" lIns="0" rIns="0" tIns="0" bIns="0" anchor="ctr">
            <a:spAutoFit/>
          </a:bodyPr>
          <a:lstStyle/>
          <a:p>
            <a:pPr algn="l"/>
            <a:r>
              <a:rPr sz="1100" b="0" i="0">
                <a:solidFill>
                  <a:srgbClr val="5B6778"/>
                </a:solidFill>
                <a:latin typeface="Arial"/>
              </a:rPr>
              <a:t>3</a:t>
            </a:r>
          </a:p>
        </p:txBody>
      </p:sp>
      <p:sp>
        <p:nvSpPr>
          <p:cNvPr id="23" name="TextBox 22"/>
          <p:cNvSpPr txBox="1"/>
          <p:nvPr/>
        </p:nvSpPr>
        <p:spPr>
          <a:xfrm>
            <a:off x="685799" y="2642616"/>
            <a:ext cx="2468880" cy="310896"/>
          </a:xfrm>
          <a:prstGeom prst="rect">
            <a:avLst/>
          </a:prstGeom>
          <a:noFill/>
        </p:spPr>
        <p:txBody>
          <a:bodyPr wrap="square" lIns="0" rIns="0" tIns="0" bIns="0" anchor="ctr">
            <a:spAutoFit/>
          </a:bodyPr>
          <a:lstStyle/>
          <a:p>
            <a:pPr algn="l"/>
            <a:r>
              <a:rPr sz="1100" b="1" i="0">
                <a:solidFill>
                  <a:srgbClr val="1B2A41"/>
                </a:solidFill>
                <a:latin typeface="Arial"/>
              </a:rPr>
              <a:t>Gộp tần suất</a:t>
            </a:r>
          </a:p>
        </p:txBody>
      </p:sp>
      <p:sp>
        <p:nvSpPr>
          <p:cNvPr id="24" name="TextBox 23"/>
          <p:cNvSpPr txBox="1"/>
          <p:nvPr/>
        </p:nvSpPr>
        <p:spPr>
          <a:xfrm>
            <a:off x="3428999" y="2642616"/>
            <a:ext cx="4206240" cy="310896"/>
          </a:xfrm>
          <a:prstGeom prst="rect">
            <a:avLst/>
          </a:prstGeom>
          <a:noFill/>
        </p:spPr>
        <p:txBody>
          <a:bodyPr wrap="square" lIns="0" rIns="0" tIns="0" bIns="0" anchor="ctr">
            <a:spAutoFit/>
          </a:bodyPr>
          <a:lstStyle/>
          <a:p>
            <a:pPr algn="l"/>
            <a:r>
              <a:rPr sz="1100" b="0" i="0">
                <a:solidFill>
                  <a:srgbClr val="1B2A41"/>
                </a:solidFill>
                <a:latin typeface="Arial"/>
              </a:rPr>
              <a:t>resample(...).sum(min_count=1)</a:t>
            </a:r>
          </a:p>
        </p:txBody>
      </p:sp>
      <p:sp>
        <p:nvSpPr>
          <p:cNvPr id="25" name="TextBox 24"/>
          <p:cNvSpPr txBox="1"/>
          <p:nvPr/>
        </p:nvSpPr>
        <p:spPr>
          <a:xfrm>
            <a:off x="7909559" y="2642616"/>
            <a:ext cx="2651760" cy="310896"/>
          </a:xfrm>
          <a:prstGeom prst="rect">
            <a:avLst/>
          </a:prstGeom>
          <a:noFill/>
        </p:spPr>
        <p:txBody>
          <a:bodyPr wrap="square" lIns="0" rIns="0" tIns="0" bIns="0" anchor="ctr">
            <a:spAutoFit/>
          </a:bodyPr>
          <a:lstStyle/>
          <a:p>
            <a:pPr algn="l"/>
            <a:r>
              <a:rPr sz="1100" b="0" i="0">
                <a:solidFill>
                  <a:srgbClr val="1B2A41"/>
                </a:solidFill>
                <a:latin typeface="Arial"/>
              </a:rPr>
              <a:t>pandas</a:t>
            </a:r>
          </a:p>
        </p:txBody>
      </p:sp>
      <p:sp>
        <p:nvSpPr>
          <p:cNvPr id="26" name="TextBox 25"/>
          <p:cNvSpPr txBox="1"/>
          <p:nvPr/>
        </p:nvSpPr>
        <p:spPr>
          <a:xfrm>
            <a:off x="10835640" y="2642616"/>
            <a:ext cx="667512" cy="310896"/>
          </a:xfrm>
          <a:prstGeom prst="rect">
            <a:avLst/>
          </a:prstGeom>
          <a:noFill/>
        </p:spPr>
        <p:txBody>
          <a:bodyPr wrap="square" lIns="0" rIns="0" tIns="0" bIns="0" anchor="ctr">
            <a:spAutoFit/>
          </a:bodyPr>
          <a:lstStyle/>
          <a:p>
            <a:pPr algn="l"/>
            <a:r>
              <a:rPr sz="1100" b="0" i="0">
                <a:solidFill>
                  <a:srgbClr val="5B6778"/>
                </a:solidFill>
                <a:latin typeface="Arial"/>
              </a:rPr>
              <a:t>3–4</a:t>
            </a:r>
          </a:p>
        </p:txBody>
      </p:sp>
      <p:sp>
        <p:nvSpPr>
          <p:cNvPr id="27" name="Rounded Rectangle 26"/>
          <p:cNvSpPr/>
          <p:nvPr/>
        </p:nvSpPr>
        <p:spPr>
          <a:xfrm>
            <a:off x="548639" y="2990088"/>
            <a:ext cx="11091672" cy="310896"/>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799" y="2990088"/>
            <a:ext cx="2468880" cy="310896"/>
          </a:xfrm>
          <a:prstGeom prst="rect">
            <a:avLst/>
          </a:prstGeom>
          <a:noFill/>
        </p:spPr>
        <p:txBody>
          <a:bodyPr wrap="square" lIns="0" rIns="0" tIns="0" bIns="0" anchor="ctr">
            <a:spAutoFit/>
          </a:bodyPr>
          <a:lstStyle/>
          <a:p>
            <a:pPr algn="l"/>
            <a:r>
              <a:rPr sz="1100" b="1" i="0">
                <a:solidFill>
                  <a:srgbClr val="1B2A41"/>
                </a:solidFill>
                <a:latin typeface="Arial"/>
              </a:rPr>
              <a:t>Ghép theo thời gian</a:t>
            </a:r>
          </a:p>
        </p:txBody>
      </p:sp>
      <p:sp>
        <p:nvSpPr>
          <p:cNvPr id="29" name="TextBox 28"/>
          <p:cNvSpPr txBox="1"/>
          <p:nvPr/>
        </p:nvSpPr>
        <p:spPr>
          <a:xfrm>
            <a:off x="3428999" y="2990088"/>
            <a:ext cx="4206240" cy="310896"/>
          </a:xfrm>
          <a:prstGeom prst="rect">
            <a:avLst/>
          </a:prstGeom>
          <a:noFill/>
        </p:spPr>
        <p:txBody>
          <a:bodyPr wrap="square" lIns="0" rIns="0" tIns="0" bIns="0" anchor="ctr">
            <a:spAutoFit/>
          </a:bodyPr>
          <a:lstStyle/>
          <a:p>
            <a:pPr algn="l"/>
            <a:r>
              <a:rPr sz="1100" b="0" i="0">
                <a:solidFill>
                  <a:srgbClr val="1B2A41"/>
                </a:solidFill>
                <a:latin typeface="Arial"/>
              </a:rPr>
              <a:t>merge_asof(direction="backward")</a:t>
            </a:r>
          </a:p>
        </p:txBody>
      </p:sp>
      <p:sp>
        <p:nvSpPr>
          <p:cNvPr id="30" name="TextBox 29"/>
          <p:cNvSpPr txBox="1"/>
          <p:nvPr/>
        </p:nvSpPr>
        <p:spPr>
          <a:xfrm>
            <a:off x="7909559" y="2990088"/>
            <a:ext cx="2651760" cy="310896"/>
          </a:xfrm>
          <a:prstGeom prst="rect">
            <a:avLst/>
          </a:prstGeom>
          <a:noFill/>
        </p:spPr>
        <p:txBody>
          <a:bodyPr wrap="square" lIns="0" rIns="0" tIns="0" bIns="0" anchor="ctr">
            <a:spAutoFit/>
          </a:bodyPr>
          <a:lstStyle/>
          <a:p>
            <a:pPr algn="l"/>
            <a:r>
              <a:rPr sz="1100" b="0" i="0">
                <a:solidFill>
                  <a:srgbClr val="1B2A41"/>
                </a:solidFill>
                <a:latin typeface="Arial"/>
              </a:rPr>
              <a:t>pandas</a:t>
            </a:r>
          </a:p>
        </p:txBody>
      </p:sp>
      <p:sp>
        <p:nvSpPr>
          <p:cNvPr id="31" name="TextBox 30"/>
          <p:cNvSpPr txBox="1"/>
          <p:nvPr/>
        </p:nvSpPr>
        <p:spPr>
          <a:xfrm>
            <a:off x="10835640" y="2990088"/>
            <a:ext cx="667512" cy="310896"/>
          </a:xfrm>
          <a:prstGeom prst="rect">
            <a:avLst/>
          </a:prstGeom>
          <a:noFill/>
        </p:spPr>
        <p:txBody>
          <a:bodyPr wrap="square" lIns="0" rIns="0" tIns="0" bIns="0" anchor="ctr">
            <a:spAutoFit/>
          </a:bodyPr>
          <a:lstStyle/>
          <a:p>
            <a:pPr algn="l"/>
            <a:r>
              <a:rPr sz="1100" b="0" i="0">
                <a:solidFill>
                  <a:srgbClr val="5B6778"/>
                </a:solidFill>
                <a:latin typeface="Arial"/>
              </a:rPr>
              <a:t>3, 13</a:t>
            </a:r>
          </a:p>
        </p:txBody>
      </p:sp>
      <p:sp>
        <p:nvSpPr>
          <p:cNvPr id="32" name="TextBox 31"/>
          <p:cNvSpPr txBox="1"/>
          <p:nvPr/>
        </p:nvSpPr>
        <p:spPr>
          <a:xfrm>
            <a:off x="685799" y="3337560"/>
            <a:ext cx="2468880" cy="310896"/>
          </a:xfrm>
          <a:prstGeom prst="rect">
            <a:avLst/>
          </a:prstGeom>
          <a:noFill/>
        </p:spPr>
        <p:txBody>
          <a:bodyPr wrap="square" lIns="0" rIns="0" tIns="0" bIns="0" anchor="ctr">
            <a:spAutoFit/>
          </a:bodyPr>
          <a:lstStyle/>
          <a:p>
            <a:pPr algn="l"/>
            <a:r>
              <a:rPr sz="1100" b="1" i="0">
                <a:solidFill>
                  <a:srgbClr val="1B2A41"/>
                </a:solidFill>
                <a:latin typeface="Arial"/>
              </a:rPr>
              <a:t>Box-Cox</a:t>
            </a:r>
          </a:p>
        </p:txBody>
      </p:sp>
      <p:sp>
        <p:nvSpPr>
          <p:cNvPr id="33" name="TextBox 32"/>
          <p:cNvSpPr txBox="1"/>
          <p:nvPr/>
        </p:nvSpPr>
        <p:spPr>
          <a:xfrm>
            <a:off x="3428999" y="3337560"/>
            <a:ext cx="4206240" cy="310896"/>
          </a:xfrm>
          <a:prstGeom prst="rect">
            <a:avLst/>
          </a:prstGeom>
          <a:noFill/>
        </p:spPr>
        <p:txBody>
          <a:bodyPr wrap="square" lIns="0" rIns="0" tIns="0" bIns="0" anchor="ctr">
            <a:spAutoFit/>
          </a:bodyPr>
          <a:lstStyle/>
          <a:p>
            <a:pPr algn="l"/>
            <a:r>
              <a:rPr sz="1100" b="0" i="0">
                <a:solidFill>
                  <a:srgbClr val="1B2A41"/>
                </a:solidFill>
                <a:latin typeface="Arial"/>
              </a:rPr>
              <a:t>stats.boxcox, stats.yeojohnson</a:t>
            </a:r>
          </a:p>
        </p:txBody>
      </p:sp>
      <p:sp>
        <p:nvSpPr>
          <p:cNvPr id="34" name="TextBox 33"/>
          <p:cNvSpPr txBox="1"/>
          <p:nvPr/>
        </p:nvSpPr>
        <p:spPr>
          <a:xfrm>
            <a:off x="7909559" y="3337560"/>
            <a:ext cx="2651760" cy="310896"/>
          </a:xfrm>
          <a:prstGeom prst="rect">
            <a:avLst/>
          </a:prstGeom>
          <a:noFill/>
        </p:spPr>
        <p:txBody>
          <a:bodyPr wrap="square" lIns="0" rIns="0" tIns="0" bIns="0" anchor="ctr">
            <a:spAutoFit/>
          </a:bodyPr>
          <a:lstStyle/>
          <a:p>
            <a:pPr algn="l"/>
            <a:r>
              <a:rPr sz="1100" b="0" i="0">
                <a:solidFill>
                  <a:srgbClr val="1B2A41"/>
                </a:solidFill>
                <a:latin typeface="Arial"/>
              </a:rPr>
              <a:t>SciPy</a:t>
            </a:r>
          </a:p>
        </p:txBody>
      </p:sp>
      <p:sp>
        <p:nvSpPr>
          <p:cNvPr id="35" name="TextBox 34"/>
          <p:cNvSpPr txBox="1"/>
          <p:nvPr/>
        </p:nvSpPr>
        <p:spPr>
          <a:xfrm>
            <a:off x="10835640" y="3337560"/>
            <a:ext cx="667512" cy="310896"/>
          </a:xfrm>
          <a:prstGeom prst="rect">
            <a:avLst/>
          </a:prstGeom>
          <a:noFill/>
        </p:spPr>
        <p:txBody>
          <a:bodyPr wrap="square" lIns="0" rIns="0" tIns="0" bIns="0" anchor="ctr">
            <a:spAutoFit/>
          </a:bodyPr>
          <a:lstStyle/>
          <a:p>
            <a:pPr algn="l"/>
            <a:r>
              <a:rPr sz="1100" b="0" i="0">
                <a:solidFill>
                  <a:srgbClr val="5B6778"/>
                </a:solidFill>
                <a:latin typeface="Arial"/>
              </a:rPr>
              <a:t>5</a:t>
            </a:r>
          </a:p>
        </p:txBody>
      </p:sp>
      <p:sp>
        <p:nvSpPr>
          <p:cNvPr id="36" name="Rounded Rectangle 35"/>
          <p:cNvSpPr/>
          <p:nvPr/>
        </p:nvSpPr>
        <p:spPr>
          <a:xfrm>
            <a:off x="548639" y="3685032"/>
            <a:ext cx="11091672" cy="310896"/>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5799" y="3685032"/>
            <a:ext cx="2468880" cy="310896"/>
          </a:xfrm>
          <a:prstGeom prst="rect">
            <a:avLst/>
          </a:prstGeom>
          <a:noFill/>
        </p:spPr>
        <p:txBody>
          <a:bodyPr wrap="square" lIns="0" rIns="0" tIns="0" bIns="0" anchor="ctr">
            <a:spAutoFit/>
          </a:bodyPr>
          <a:lstStyle/>
          <a:p>
            <a:pPr algn="l"/>
            <a:r>
              <a:rPr sz="1100" b="1" i="0">
                <a:solidFill>
                  <a:srgbClr val="1B2A41"/>
                </a:solidFill>
                <a:latin typeface="Arial"/>
              </a:rPr>
              <a:t>Phân rã</a:t>
            </a:r>
          </a:p>
        </p:txBody>
      </p:sp>
      <p:sp>
        <p:nvSpPr>
          <p:cNvPr id="38" name="TextBox 37"/>
          <p:cNvSpPr txBox="1"/>
          <p:nvPr/>
        </p:nvSpPr>
        <p:spPr>
          <a:xfrm>
            <a:off x="3428999" y="3685032"/>
            <a:ext cx="4206240" cy="310896"/>
          </a:xfrm>
          <a:prstGeom prst="rect">
            <a:avLst/>
          </a:prstGeom>
          <a:noFill/>
        </p:spPr>
        <p:txBody>
          <a:bodyPr wrap="square" lIns="0" rIns="0" tIns="0" bIns="0" anchor="ctr">
            <a:spAutoFit/>
          </a:bodyPr>
          <a:lstStyle/>
          <a:p>
            <a:pPr algn="l"/>
            <a:r>
              <a:rPr sz="1100" b="0" i="0">
                <a:solidFill>
                  <a:srgbClr val="1B2A41"/>
                </a:solidFill>
                <a:latin typeface="Arial"/>
              </a:rPr>
              <a:t>seasonal_decompose, STL, MSTL</a:t>
            </a:r>
          </a:p>
        </p:txBody>
      </p:sp>
      <p:sp>
        <p:nvSpPr>
          <p:cNvPr id="39" name="TextBox 38"/>
          <p:cNvSpPr txBox="1"/>
          <p:nvPr/>
        </p:nvSpPr>
        <p:spPr>
          <a:xfrm>
            <a:off x="7909559" y="3685032"/>
            <a:ext cx="2651760" cy="310896"/>
          </a:xfrm>
          <a:prstGeom prst="rect">
            <a:avLst/>
          </a:prstGeom>
          <a:noFill/>
        </p:spPr>
        <p:txBody>
          <a:bodyPr wrap="square" lIns="0" rIns="0" tIns="0" bIns="0" anchor="ctr">
            <a:spAutoFit/>
          </a:bodyPr>
          <a:lstStyle/>
          <a:p>
            <a:pPr algn="l"/>
            <a:r>
              <a:rPr sz="1100" b="0" i="0">
                <a:solidFill>
                  <a:srgbClr val="1B2A41"/>
                </a:solidFill>
                <a:latin typeface="Arial"/>
              </a:rPr>
              <a:t>statsmodels</a:t>
            </a:r>
          </a:p>
        </p:txBody>
      </p:sp>
      <p:sp>
        <p:nvSpPr>
          <p:cNvPr id="40" name="TextBox 39"/>
          <p:cNvSpPr txBox="1"/>
          <p:nvPr/>
        </p:nvSpPr>
        <p:spPr>
          <a:xfrm>
            <a:off x="10835640" y="3685032"/>
            <a:ext cx="667512" cy="310896"/>
          </a:xfrm>
          <a:prstGeom prst="rect">
            <a:avLst/>
          </a:prstGeom>
          <a:noFill/>
        </p:spPr>
        <p:txBody>
          <a:bodyPr wrap="square" lIns="0" rIns="0" tIns="0" bIns="0" anchor="ctr">
            <a:spAutoFit/>
          </a:bodyPr>
          <a:lstStyle/>
          <a:p>
            <a:pPr algn="l"/>
            <a:r>
              <a:rPr sz="1100" b="0" i="0">
                <a:solidFill>
                  <a:srgbClr val="5B6778"/>
                </a:solidFill>
                <a:latin typeface="Arial"/>
              </a:rPr>
              <a:t>6</a:t>
            </a:r>
          </a:p>
        </p:txBody>
      </p:sp>
      <p:sp>
        <p:nvSpPr>
          <p:cNvPr id="41" name="TextBox 40"/>
          <p:cNvSpPr txBox="1"/>
          <p:nvPr/>
        </p:nvSpPr>
        <p:spPr>
          <a:xfrm>
            <a:off x="685799" y="4032504"/>
            <a:ext cx="2468880" cy="310896"/>
          </a:xfrm>
          <a:prstGeom prst="rect">
            <a:avLst/>
          </a:prstGeom>
          <a:noFill/>
        </p:spPr>
        <p:txBody>
          <a:bodyPr wrap="square" lIns="0" rIns="0" tIns="0" bIns="0" anchor="ctr">
            <a:spAutoFit/>
          </a:bodyPr>
          <a:lstStyle/>
          <a:p>
            <a:pPr algn="l"/>
            <a:r>
              <a:rPr sz="1100" b="1" i="0">
                <a:solidFill>
                  <a:srgbClr val="1B2A41"/>
                </a:solidFill>
                <a:latin typeface="Arial"/>
              </a:rPr>
              <a:t>Tự tương quan, dừng</a:t>
            </a:r>
          </a:p>
        </p:txBody>
      </p:sp>
      <p:sp>
        <p:nvSpPr>
          <p:cNvPr id="42" name="TextBox 41"/>
          <p:cNvSpPr txBox="1"/>
          <p:nvPr/>
        </p:nvSpPr>
        <p:spPr>
          <a:xfrm>
            <a:off x="3428999" y="4032504"/>
            <a:ext cx="4206240" cy="310896"/>
          </a:xfrm>
          <a:prstGeom prst="rect">
            <a:avLst/>
          </a:prstGeom>
          <a:noFill/>
        </p:spPr>
        <p:txBody>
          <a:bodyPr wrap="square" lIns="0" rIns="0" tIns="0" bIns="0" anchor="ctr">
            <a:spAutoFit/>
          </a:bodyPr>
          <a:lstStyle/>
          <a:p>
            <a:pPr algn="l"/>
            <a:r>
              <a:rPr sz="1100" b="0" i="0">
                <a:solidFill>
                  <a:srgbClr val="1B2A41"/>
                </a:solidFill>
                <a:latin typeface="Arial"/>
              </a:rPr>
              <a:t>acf, pacf, adfuller, kpss</a:t>
            </a:r>
          </a:p>
        </p:txBody>
      </p:sp>
      <p:sp>
        <p:nvSpPr>
          <p:cNvPr id="43" name="TextBox 42"/>
          <p:cNvSpPr txBox="1"/>
          <p:nvPr/>
        </p:nvSpPr>
        <p:spPr>
          <a:xfrm>
            <a:off x="7909559" y="4032504"/>
            <a:ext cx="2651760" cy="310896"/>
          </a:xfrm>
          <a:prstGeom prst="rect">
            <a:avLst/>
          </a:prstGeom>
          <a:noFill/>
        </p:spPr>
        <p:txBody>
          <a:bodyPr wrap="square" lIns="0" rIns="0" tIns="0" bIns="0" anchor="ctr">
            <a:spAutoFit/>
          </a:bodyPr>
          <a:lstStyle/>
          <a:p>
            <a:pPr algn="l"/>
            <a:r>
              <a:rPr sz="1100" b="0" i="0">
                <a:solidFill>
                  <a:srgbClr val="1B2A41"/>
                </a:solidFill>
                <a:latin typeface="Arial"/>
              </a:rPr>
              <a:t>statsmodels</a:t>
            </a:r>
          </a:p>
        </p:txBody>
      </p:sp>
      <p:sp>
        <p:nvSpPr>
          <p:cNvPr id="44" name="TextBox 43"/>
          <p:cNvSpPr txBox="1"/>
          <p:nvPr/>
        </p:nvSpPr>
        <p:spPr>
          <a:xfrm>
            <a:off x="10835640" y="4032504"/>
            <a:ext cx="667512" cy="310896"/>
          </a:xfrm>
          <a:prstGeom prst="rect">
            <a:avLst/>
          </a:prstGeom>
          <a:noFill/>
        </p:spPr>
        <p:txBody>
          <a:bodyPr wrap="square" lIns="0" rIns="0" tIns="0" bIns="0" anchor="ctr">
            <a:spAutoFit/>
          </a:bodyPr>
          <a:lstStyle/>
          <a:p>
            <a:pPr algn="l"/>
            <a:r>
              <a:rPr sz="1100" b="0" i="0">
                <a:solidFill>
                  <a:srgbClr val="5B6778"/>
                </a:solidFill>
                <a:latin typeface="Arial"/>
              </a:rPr>
              <a:t>4, 7</a:t>
            </a:r>
          </a:p>
        </p:txBody>
      </p:sp>
      <p:sp>
        <p:nvSpPr>
          <p:cNvPr id="45" name="Rounded Rectangle 44"/>
          <p:cNvSpPr/>
          <p:nvPr/>
        </p:nvSpPr>
        <p:spPr>
          <a:xfrm>
            <a:off x="548639" y="4379976"/>
            <a:ext cx="11091672" cy="310896"/>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85799" y="4379976"/>
            <a:ext cx="2468880" cy="310896"/>
          </a:xfrm>
          <a:prstGeom prst="rect">
            <a:avLst/>
          </a:prstGeom>
          <a:noFill/>
        </p:spPr>
        <p:txBody>
          <a:bodyPr wrap="square" lIns="0" rIns="0" tIns="0" bIns="0" anchor="ctr">
            <a:spAutoFit/>
          </a:bodyPr>
          <a:lstStyle/>
          <a:p>
            <a:pPr algn="l"/>
            <a:r>
              <a:rPr sz="1100" b="1" i="0">
                <a:solidFill>
                  <a:srgbClr val="1B2A41"/>
                </a:solidFill>
                <a:latin typeface="Arial"/>
              </a:rPr>
              <a:t>Tương quan</a:t>
            </a:r>
          </a:p>
        </p:txBody>
      </p:sp>
      <p:sp>
        <p:nvSpPr>
          <p:cNvPr id="47" name="TextBox 46"/>
          <p:cNvSpPr txBox="1"/>
          <p:nvPr/>
        </p:nvSpPr>
        <p:spPr>
          <a:xfrm>
            <a:off x="3428999" y="4379976"/>
            <a:ext cx="4206240" cy="310896"/>
          </a:xfrm>
          <a:prstGeom prst="rect">
            <a:avLst/>
          </a:prstGeom>
          <a:noFill/>
        </p:spPr>
        <p:txBody>
          <a:bodyPr wrap="square" lIns="0" rIns="0" tIns="0" bIns="0" anchor="ctr">
            <a:spAutoFit/>
          </a:bodyPr>
          <a:lstStyle/>
          <a:p>
            <a:pPr algn="l"/>
            <a:r>
              <a:rPr sz="1100" b="0" i="0">
                <a:solidFill>
                  <a:srgbClr val="1B2A41"/>
                </a:solidFill>
                <a:latin typeface="Arial"/>
              </a:rPr>
              <a:t>pearsonr, spearmanr; mutual_info_regression</a:t>
            </a:r>
          </a:p>
        </p:txBody>
      </p:sp>
      <p:sp>
        <p:nvSpPr>
          <p:cNvPr id="48" name="TextBox 47"/>
          <p:cNvSpPr txBox="1"/>
          <p:nvPr/>
        </p:nvSpPr>
        <p:spPr>
          <a:xfrm>
            <a:off x="7909559" y="4379976"/>
            <a:ext cx="2651760" cy="310896"/>
          </a:xfrm>
          <a:prstGeom prst="rect">
            <a:avLst/>
          </a:prstGeom>
          <a:noFill/>
        </p:spPr>
        <p:txBody>
          <a:bodyPr wrap="square" lIns="0" rIns="0" tIns="0" bIns="0" anchor="ctr">
            <a:spAutoFit/>
          </a:bodyPr>
          <a:lstStyle/>
          <a:p>
            <a:pPr algn="l"/>
            <a:r>
              <a:rPr sz="1100" b="0" i="0">
                <a:solidFill>
                  <a:srgbClr val="1B2A41"/>
                </a:solidFill>
                <a:latin typeface="Arial"/>
              </a:rPr>
              <a:t>SciPy; scikit-learn</a:t>
            </a:r>
          </a:p>
        </p:txBody>
      </p:sp>
      <p:sp>
        <p:nvSpPr>
          <p:cNvPr id="49" name="TextBox 48"/>
          <p:cNvSpPr txBox="1"/>
          <p:nvPr/>
        </p:nvSpPr>
        <p:spPr>
          <a:xfrm>
            <a:off x="10835640" y="4379976"/>
            <a:ext cx="667512" cy="310896"/>
          </a:xfrm>
          <a:prstGeom prst="rect">
            <a:avLst/>
          </a:prstGeom>
          <a:noFill/>
        </p:spPr>
        <p:txBody>
          <a:bodyPr wrap="square" lIns="0" rIns="0" tIns="0" bIns="0" anchor="ctr">
            <a:spAutoFit/>
          </a:bodyPr>
          <a:lstStyle/>
          <a:p>
            <a:pPr algn="l"/>
            <a:r>
              <a:rPr sz="1100" b="0" i="0">
                <a:solidFill>
                  <a:srgbClr val="5B6778"/>
                </a:solidFill>
                <a:latin typeface="Arial"/>
              </a:rPr>
              <a:t>8</a:t>
            </a:r>
          </a:p>
        </p:txBody>
      </p:sp>
      <p:sp>
        <p:nvSpPr>
          <p:cNvPr id="50" name="TextBox 49"/>
          <p:cNvSpPr txBox="1"/>
          <p:nvPr/>
        </p:nvSpPr>
        <p:spPr>
          <a:xfrm>
            <a:off x="685799" y="4727448"/>
            <a:ext cx="2468880" cy="310896"/>
          </a:xfrm>
          <a:prstGeom prst="rect">
            <a:avLst/>
          </a:prstGeom>
          <a:noFill/>
        </p:spPr>
        <p:txBody>
          <a:bodyPr wrap="square" lIns="0" rIns="0" tIns="0" bIns="0" anchor="ctr">
            <a:spAutoFit/>
          </a:bodyPr>
          <a:lstStyle/>
          <a:p>
            <a:pPr algn="l"/>
            <a:r>
              <a:rPr sz="1100" b="1" i="0">
                <a:solidFill>
                  <a:srgbClr val="1B2A41"/>
                </a:solidFill>
                <a:latin typeface="Arial"/>
              </a:rPr>
              <a:t>Bản đồ chuỗi</a:t>
            </a:r>
          </a:p>
        </p:txBody>
      </p:sp>
      <p:sp>
        <p:nvSpPr>
          <p:cNvPr id="51" name="TextBox 50"/>
          <p:cNvSpPr txBox="1"/>
          <p:nvPr/>
        </p:nvSpPr>
        <p:spPr>
          <a:xfrm>
            <a:off x="3428999" y="4727448"/>
            <a:ext cx="4206240" cy="310896"/>
          </a:xfrm>
          <a:prstGeom prst="rect">
            <a:avLst/>
          </a:prstGeom>
          <a:noFill/>
        </p:spPr>
        <p:txBody>
          <a:bodyPr wrap="square" lIns="0" rIns="0" tIns="0" bIns="0" anchor="ctr">
            <a:spAutoFit/>
          </a:bodyPr>
          <a:lstStyle/>
          <a:p>
            <a:pPr algn="l"/>
            <a:r>
              <a:rPr sz="1100" b="0" i="0">
                <a:solidFill>
                  <a:srgbClr val="1B2A41"/>
                </a:solidFill>
                <a:latin typeface="Arial"/>
              </a:rPr>
              <a:t>StandardScaler, PCA</a:t>
            </a:r>
          </a:p>
        </p:txBody>
      </p:sp>
      <p:sp>
        <p:nvSpPr>
          <p:cNvPr id="52" name="TextBox 51"/>
          <p:cNvSpPr txBox="1"/>
          <p:nvPr/>
        </p:nvSpPr>
        <p:spPr>
          <a:xfrm>
            <a:off x="7909559" y="4727448"/>
            <a:ext cx="2651760" cy="310896"/>
          </a:xfrm>
          <a:prstGeom prst="rect">
            <a:avLst/>
          </a:prstGeom>
          <a:noFill/>
        </p:spPr>
        <p:txBody>
          <a:bodyPr wrap="square" lIns="0" rIns="0" tIns="0" bIns="0" anchor="ctr">
            <a:spAutoFit/>
          </a:bodyPr>
          <a:lstStyle/>
          <a:p>
            <a:pPr algn="l"/>
            <a:r>
              <a:rPr sz="1100" b="0" i="0">
                <a:solidFill>
                  <a:srgbClr val="1B2A41"/>
                </a:solidFill>
                <a:latin typeface="Arial"/>
              </a:rPr>
              <a:t>scikit-learn</a:t>
            </a:r>
          </a:p>
        </p:txBody>
      </p:sp>
      <p:sp>
        <p:nvSpPr>
          <p:cNvPr id="53" name="TextBox 52"/>
          <p:cNvSpPr txBox="1"/>
          <p:nvPr/>
        </p:nvSpPr>
        <p:spPr>
          <a:xfrm>
            <a:off x="10835640" y="4727448"/>
            <a:ext cx="667512" cy="310896"/>
          </a:xfrm>
          <a:prstGeom prst="rect">
            <a:avLst/>
          </a:prstGeom>
          <a:noFill/>
        </p:spPr>
        <p:txBody>
          <a:bodyPr wrap="square" lIns="0" rIns="0" tIns="0" bIns="0" anchor="ctr">
            <a:spAutoFit/>
          </a:bodyPr>
          <a:lstStyle/>
          <a:p>
            <a:pPr algn="l"/>
            <a:r>
              <a:rPr sz="1100" b="0" i="0">
                <a:solidFill>
                  <a:srgbClr val="5B6778"/>
                </a:solidFill>
                <a:latin typeface="Arial"/>
              </a:rPr>
              <a:t>9</a:t>
            </a:r>
          </a:p>
        </p:txBody>
      </p:sp>
      <p:sp>
        <p:nvSpPr>
          <p:cNvPr id="54" name="Rounded Rectangle 53"/>
          <p:cNvSpPr/>
          <p:nvPr/>
        </p:nvSpPr>
        <p:spPr>
          <a:xfrm>
            <a:off x="548639" y="5074920"/>
            <a:ext cx="11091672" cy="310896"/>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85799" y="5074920"/>
            <a:ext cx="2468880" cy="310896"/>
          </a:xfrm>
          <a:prstGeom prst="rect">
            <a:avLst/>
          </a:prstGeom>
          <a:noFill/>
        </p:spPr>
        <p:txBody>
          <a:bodyPr wrap="square" lIns="0" rIns="0" tIns="0" bIns="0" anchor="ctr">
            <a:spAutoFit/>
          </a:bodyPr>
          <a:lstStyle/>
          <a:p>
            <a:pPr algn="l"/>
            <a:r>
              <a:rPr sz="1100" b="1" i="0">
                <a:solidFill>
                  <a:srgbClr val="1B2A41"/>
                </a:solidFill>
                <a:latin typeface="Arial"/>
              </a:rPr>
              <a:t>Điền thiếu</a:t>
            </a:r>
          </a:p>
        </p:txBody>
      </p:sp>
      <p:sp>
        <p:nvSpPr>
          <p:cNvPr id="56" name="TextBox 55"/>
          <p:cNvSpPr txBox="1"/>
          <p:nvPr/>
        </p:nvSpPr>
        <p:spPr>
          <a:xfrm>
            <a:off x="3428999" y="5074920"/>
            <a:ext cx="4206240" cy="310896"/>
          </a:xfrm>
          <a:prstGeom prst="rect">
            <a:avLst/>
          </a:prstGeom>
          <a:noFill/>
        </p:spPr>
        <p:txBody>
          <a:bodyPr wrap="square" lIns="0" rIns="0" tIns="0" bIns="0" anchor="ctr">
            <a:spAutoFit/>
          </a:bodyPr>
          <a:lstStyle/>
          <a:p>
            <a:pPr algn="l"/>
            <a:r>
              <a:rPr sz="1100" b="0" i="0">
                <a:solidFill>
                  <a:srgbClr val="1B2A41"/>
                </a:solidFill>
                <a:latin typeface="Arial"/>
              </a:rPr>
              <a:t>interpolate, ffill(limit=…)</a:t>
            </a:r>
          </a:p>
        </p:txBody>
      </p:sp>
      <p:sp>
        <p:nvSpPr>
          <p:cNvPr id="57" name="TextBox 56"/>
          <p:cNvSpPr txBox="1"/>
          <p:nvPr/>
        </p:nvSpPr>
        <p:spPr>
          <a:xfrm>
            <a:off x="7909559" y="5074920"/>
            <a:ext cx="2651760" cy="310896"/>
          </a:xfrm>
          <a:prstGeom prst="rect">
            <a:avLst/>
          </a:prstGeom>
          <a:noFill/>
        </p:spPr>
        <p:txBody>
          <a:bodyPr wrap="square" lIns="0" rIns="0" tIns="0" bIns="0" anchor="ctr">
            <a:spAutoFit/>
          </a:bodyPr>
          <a:lstStyle/>
          <a:p>
            <a:pPr algn="l"/>
            <a:r>
              <a:rPr sz="1100" b="0" i="0">
                <a:solidFill>
                  <a:srgbClr val="1B2A41"/>
                </a:solidFill>
                <a:latin typeface="Arial"/>
              </a:rPr>
              <a:t>pandas</a:t>
            </a:r>
          </a:p>
        </p:txBody>
      </p:sp>
      <p:sp>
        <p:nvSpPr>
          <p:cNvPr id="58" name="TextBox 57"/>
          <p:cNvSpPr txBox="1"/>
          <p:nvPr/>
        </p:nvSpPr>
        <p:spPr>
          <a:xfrm>
            <a:off x="10835640" y="5074920"/>
            <a:ext cx="667512" cy="310896"/>
          </a:xfrm>
          <a:prstGeom prst="rect">
            <a:avLst/>
          </a:prstGeom>
          <a:noFill/>
        </p:spPr>
        <p:txBody>
          <a:bodyPr wrap="square" lIns="0" rIns="0" tIns="0" bIns="0" anchor="ctr">
            <a:spAutoFit/>
          </a:bodyPr>
          <a:lstStyle/>
          <a:p>
            <a:pPr algn="l"/>
            <a:r>
              <a:rPr sz="1100" b="0" i="0">
                <a:solidFill>
                  <a:srgbClr val="5B6778"/>
                </a:solidFill>
                <a:latin typeface="Arial"/>
              </a:rPr>
              <a:t>10</a:t>
            </a:r>
          </a:p>
        </p:txBody>
      </p:sp>
      <p:sp>
        <p:nvSpPr>
          <p:cNvPr id="59" name="TextBox 58"/>
          <p:cNvSpPr txBox="1"/>
          <p:nvPr/>
        </p:nvSpPr>
        <p:spPr>
          <a:xfrm>
            <a:off x="685799" y="5422392"/>
            <a:ext cx="2468880" cy="310896"/>
          </a:xfrm>
          <a:prstGeom prst="rect">
            <a:avLst/>
          </a:prstGeom>
          <a:noFill/>
        </p:spPr>
        <p:txBody>
          <a:bodyPr wrap="square" lIns="0" rIns="0" tIns="0" bIns="0" anchor="ctr">
            <a:spAutoFit/>
          </a:bodyPr>
          <a:lstStyle/>
          <a:p>
            <a:pPr algn="l"/>
            <a:r>
              <a:rPr sz="1100" b="1" i="0">
                <a:solidFill>
                  <a:srgbClr val="1B2A41"/>
                </a:solidFill>
                <a:latin typeface="Arial"/>
              </a:rPr>
              <a:t>Điểm gãy</a:t>
            </a:r>
          </a:p>
        </p:txBody>
      </p:sp>
      <p:sp>
        <p:nvSpPr>
          <p:cNvPr id="60" name="TextBox 59"/>
          <p:cNvSpPr txBox="1"/>
          <p:nvPr/>
        </p:nvSpPr>
        <p:spPr>
          <a:xfrm>
            <a:off x="3428999" y="5422392"/>
            <a:ext cx="4206240" cy="310896"/>
          </a:xfrm>
          <a:prstGeom prst="rect">
            <a:avLst/>
          </a:prstGeom>
          <a:noFill/>
        </p:spPr>
        <p:txBody>
          <a:bodyPr wrap="square" lIns="0" rIns="0" tIns="0" bIns="0" anchor="ctr">
            <a:spAutoFit/>
          </a:bodyPr>
          <a:lstStyle/>
          <a:p>
            <a:pPr algn="l"/>
            <a:r>
              <a:rPr sz="1100" b="0" i="0">
                <a:solidFill>
                  <a:srgbClr val="1B2A41"/>
                </a:solidFill>
                <a:latin typeface="Arial"/>
              </a:rPr>
              <a:t>rpt.Pelt</a:t>
            </a:r>
          </a:p>
        </p:txBody>
      </p:sp>
      <p:sp>
        <p:nvSpPr>
          <p:cNvPr id="61" name="TextBox 60"/>
          <p:cNvSpPr txBox="1"/>
          <p:nvPr/>
        </p:nvSpPr>
        <p:spPr>
          <a:xfrm>
            <a:off x="7909559" y="5422392"/>
            <a:ext cx="2651760" cy="310896"/>
          </a:xfrm>
          <a:prstGeom prst="rect">
            <a:avLst/>
          </a:prstGeom>
          <a:noFill/>
        </p:spPr>
        <p:txBody>
          <a:bodyPr wrap="square" lIns="0" rIns="0" tIns="0" bIns="0" anchor="ctr">
            <a:spAutoFit/>
          </a:bodyPr>
          <a:lstStyle/>
          <a:p>
            <a:pPr algn="l"/>
            <a:r>
              <a:rPr sz="1100" b="0" i="0">
                <a:solidFill>
                  <a:srgbClr val="1B2A41"/>
                </a:solidFill>
                <a:latin typeface="Arial"/>
              </a:rPr>
              <a:t>ruptures</a:t>
            </a:r>
          </a:p>
        </p:txBody>
      </p:sp>
      <p:sp>
        <p:nvSpPr>
          <p:cNvPr id="62" name="TextBox 61"/>
          <p:cNvSpPr txBox="1"/>
          <p:nvPr/>
        </p:nvSpPr>
        <p:spPr>
          <a:xfrm>
            <a:off x="10835640" y="5422392"/>
            <a:ext cx="667512" cy="310896"/>
          </a:xfrm>
          <a:prstGeom prst="rect">
            <a:avLst/>
          </a:prstGeom>
          <a:noFill/>
        </p:spPr>
        <p:txBody>
          <a:bodyPr wrap="square" lIns="0" rIns="0" tIns="0" bIns="0" anchor="ctr">
            <a:spAutoFit/>
          </a:bodyPr>
          <a:lstStyle/>
          <a:p>
            <a:pPr algn="l"/>
            <a:r>
              <a:rPr sz="1100" b="0" i="0">
                <a:solidFill>
                  <a:srgbClr val="5B6778"/>
                </a:solidFill>
                <a:latin typeface="Arial"/>
              </a:rPr>
              <a:t>11</a:t>
            </a:r>
          </a:p>
        </p:txBody>
      </p:sp>
      <p:sp>
        <p:nvSpPr>
          <p:cNvPr id="63" name="Rounded Rectangle 62"/>
          <p:cNvSpPr/>
          <p:nvPr/>
        </p:nvSpPr>
        <p:spPr>
          <a:xfrm>
            <a:off x="548639" y="5769864"/>
            <a:ext cx="11091672" cy="310896"/>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85799" y="5769864"/>
            <a:ext cx="2468880" cy="310896"/>
          </a:xfrm>
          <a:prstGeom prst="rect">
            <a:avLst/>
          </a:prstGeom>
          <a:noFill/>
        </p:spPr>
        <p:txBody>
          <a:bodyPr wrap="square" lIns="0" rIns="0" tIns="0" bIns="0" anchor="ctr">
            <a:spAutoFit/>
          </a:bodyPr>
          <a:lstStyle/>
          <a:p>
            <a:pPr algn="l"/>
            <a:r>
              <a:rPr sz="1100" b="1" i="0">
                <a:solidFill>
                  <a:srgbClr val="1B2A41"/>
                </a:solidFill>
                <a:latin typeface="Arial"/>
              </a:rPr>
              <a:t>Phổ, bộ lọc</a:t>
            </a:r>
          </a:p>
        </p:txBody>
      </p:sp>
      <p:sp>
        <p:nvSpPr>
          <p:cNvPr id="65" name="TextBox 64"/>
          <p:cNvSpPr txBox="1"/>
          <p:nvPr/>
        </p:nvSpPr>
        <p:spPr>
          <a:xfrm>
            <a:off x="3428999" y="5769864"/>
            <a:ext cx="4206240" cy="310896"/>
          </a:xfrm>
          <a:prstGeom prst="rect">
            <a:avLst/>
          </a:prstGeom>
          <a:noFill/>
        </p:spPr>
        <p:txBody>
          <a:bodyPr wrap="square" lIns="0" rIns="0" tIns="0" bIns="0" anchor="ctr">
            <a:spAutoFit/>
          </a:bodyPr>
          <a:lstStyle/>
          <a:p>
            <a:pPr algn="l"/>
            <a:r>
              <a:rPr sz="1100" b="0" i="0">
                <a:solidFill>
                  <a:srgbClr val="1B2A41"/>
                </a:solidFill>
                <a:latin typeface="Arial"/>
              </a:rPr>
              <a:t>signal.welch, sosfilt, ewm</a:t>
            </a:r>
          </a:p>
        </p:txBody>
      </p:sp>
      <p:sp>
        <p:nvSpPr>
          <p:cNvPr id="66" name="TextBox 65"/>
          <p:cNvSpPr txBox="1"/>
          <p:nvPr/>
        </p:nvSpPr>
        <p:spPr>
          <a:xfrm>
            <a:off x="7909559" y="5769864"/>
            <a:ext cx="2651760" cy="310896"/>
          </a:xfrm>
          <a:prstGeom prst="rect">
            <a:avLst/>
          </a:prstGeom>
          <a:noFill/>
        </p:spPr>
        <p:txBody>
          <a:bodyPr wrap="square" lIns="0" rIns="0" tIns="0" bIns="0" anchor="ctr">
            <a:spAutoFit/>
          </a:bodyPr>
          <a:lstStyle/>
          <a:p>
            <a:pPr algn="l"/>
            <a:r>
              <a:rPr sz="1100" b="0" i="0">
                <a:solidFill>
                  <a:srgbClr val="1B2A41"/>
                </a:solidFill>
                <a:latin typeface="Arial"/>
              </a:rPr>
              <a:t>SciPy, pandas</a:t>
            </a:r>
          </a:p>
        </p:txBody>
      </p:sp>
      <p:sp>
        <p:nvSpPr>
          <p:cNvPr id="67" name="TextBox 66"/>
          <p:cNvSpPr txBox="1"/>
          <p:nvPr/>
        </p:nvSpPr>
        <p:spPr>
          <a:xfrm>
            <a:off x="10835640" y="5769864"/>
            <a:ext cx="667512" cy="310896"/>
          </a:xfrm>
          <a:prstGeom prst="rect">
            <a:avLst/>
          </a:prstGeom>
          <a:noFill/>
        </p:spPr>
        <p:txBody>
          <a:bodyPr wrap="square" lIns="0" rIns="0" tIns="0" bIns="0" anchor="ctr">
            <a:spAutoFit/>
          </a:bodyPr>
          <a:lstStyle/>
          <a:p>
            <a:pPr algn="l"/>
            <a:r>
              <a:rPr sz="1100" b="0" i="0">
                <a:solidFill>
                  <a:srgbClr val="5B6778"/>
                </a:solidFill>
                <a:latin typeface="Arial"/>
              </a:rPr>
              <a:t>12</a:t>
            </a:r>
          </a:p>
        </p:txBody>
      </p:sp>
      <p:sp>
        <p:nvSpPr>
          <p:cNvPr id="68" name="TextBox 67"/>
          <p:cNvSpPr txBox="1"/>
          <p:nvPr/>
        </p:nvSpPr>
        <p:spPr>
          <a:xfrm>
            <a:off x="685799" y="6117336"/>
            <a:ext cx="2468880" cy="310896"/>
          </a:xfrm>
          <a:prstGeom prst="rect">
            <a:avLst/>
          </a:prstGeom>
          <a:noFill/>
        </p:spPr>
        <p:txBody>
          <a:bodyPr wrap="square" lIns="0" rIns="0" tIns="0" bIns="0" anchor="ctr">
            <a:spAutoFit/>
          </a:bodyPr>
          <a:lstStyle/>
          <a:p>
            <a:pPr algn="l"/>
            <a:r>
              <a:rPr sz="1100" b="1" i="0">
                <a:solidFill>
                  <a:srgbClr val="1B2A41"/>
                </a:solidFill>
                <a:latin typeface="Arial"/>
              </a:rPr>
              <a:t>Lag, rolling</a:t>
            </a:r>
          </a:p>
        </p:txBody>
      </p:sp>
      <p:sp>
        <p:nvSpPr>
          <p:cNvPr id="69" name="TextBox 68"/>
          <p:cNvSpPr txBox="1"/>
          <p:nvPr/>
        </p:nvSpPr>
        <p:spPr>
          <a:xfrm>
            <a:off x="3428999" y="6117336"/>
            <a:ext cx="4206240" cy="310896"/>
          </a:xfrm>
          <a:prstGeom prst="rect">
            <a:avLst/>
          </a:prstGeom>
          <a:noFill/>
        </p:spPr>
        <p:txBody>
          <a:bodyPr wrap="square" lIns="0" rIns="0" tIns="0" bIns="0" anchor="ctr">
            <a:spAutoFit/>
          </a:bodyPr>
          <a:lstStyle/>
          <a:p>
            <a:pPr algn="l"/>
            <a:r>
              <a:rPr sz="1100" b="0" i="0">
                <a:solidFill>
                  <a:srgbClr val="1B2A41"/>
                </a:solidFill>
                <a:latin typeface="Arial"/>
              </a:rPr>
              <a:t>shift, rolling</a:t>
            </a:r>
          </a:p>
        </p:txBody>
      </p:sp>
      <p:sp>
        <p:nvSpPr>
          <p:cNvPr id="70" name="TextBox 69"/>
          <p:cNvSpPr txBox="1"/>
          <p:nvPr/>
        </p:nvSpPr>
        <p:spPr>
          <a:xfrm>
            <a:off x="7909559" y="6117336"/>
            <a:ext cx="2651760" cy="310896"/>
          </a:xfrm>
          <a:prstGeom prst="rect">
            <a:avLst/>
          </a:prstGeom>
          <a:noFill/>
        </p:spPr>
        <p:txBody>
          <a:bodyPr wrap="square" lIns="0" rIns="0" tIns="0" bIns="0" anchor="ctr">
            <a:spAutoFit/>
          </a:bodyPr>
          <a:lstStyle/>
          <a:p>
            <a:pPr algn="l"/>
            <a:r>
              <a:rPr sz="1100" b="0" i="0">
                <a:solidFill>
                  <a:srgbClr val="1B2A41"/>
                </a:solidFill>
                <a:latin typeface="Arial"/>
              </a:rPr>
              <a:t>pandas</a:t>
            </a:r>
          </a:p>
        </p:txBody>
      </p:sp>
      <p:sp>
        <p:nvSpPr>
          <p:cNvPr id="71" name="TextBox 70"/>
          <p:cNvSpPr txBox="1"/>
          <p:nvPr/>
        </p:nvSpPr>
        <p:spPr>
          <a:xfrm>
            <a:off x="10835640" y="6117336"/>
            <a:ext cx="667512" cy="310896"/>
          </a:xfrm>
          <a:prstGeom prst="rect">
            <a:avLst/>
          </a:prstGeom>
          <a:noFill/>
        </p:spPr>
        <p:txBody>
          <a:bodyPr wrap="square" lIns="0" rIns="0" tIns="0" bIns="0" anchor="ctr">
            <a:spAutoFit/>
          </a:bodyPr>
          <a:lstStyle/>
          <a:p>
            <a:pPr algn="l"/>
            <a:r>
              <a:rPr sz="1100" b="0" i="0">
                <a:solidFill>
                  <a:srgbClr val="5B6778"/>
                </a:solidFill>
                <a:latin typeface="Arial"/>
              </a:rPr>
              <a:t>13</a:t>
            </a:r>
          </a:p>
        </p:txBody>
      </p:sp>
      <p:sp>
        <p:nvSpPr>
          <p:cNvPr id="72" name="Rounded Rectangle 71"/>
          <p:cNvSpPr/>
          <p:nvPr/>
        </p:nvSpPr>
        <p:spPr>
          <a:xfrm>
            <a:off x="548639" y="6464808"/>
            <a:ext cx="11091672" cy="310896"/>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685799" y="6464808"/>
            <a:ext cx="2468880" cy="310896"/>
          </a:xfrm>
          <a:prstGeom prst="rect">
            <a:avLst/>
          </a:prstGeom>
          <a:noFill/>
        </p:spPr>
        <p:txBody>
          <a:bodyPr wrap="square" lIns="0" rIns="0" tIns="0" bIns="0" anchor="ctr">
            <a:spAutoFit/>
          </a:bodyPr>
          <a:lstStyle/>
          <a:p>
            <a:pPr algn="l"/>
            <a:r>
              <a:rPr sz="1100" b="1" i="0">
                <a:solidFill>
                  <a:srgbClr val="1B2A41"/>
                </a:solidFill>
                <a:latin typeface="Arial"/>
              </a:rPr>
              <a:t>Chỉ số sai số</a:t>
            </a:r>
          </a:p>
        </p:txBody>
      </p:sp>
      <p:sp>
        <p:nvSpPr>
          <p:cNvPr id="74" name="TextBox 73"/>
          <p:cNvSpPr txBox="1"/>
          <p:nvPr/>
        </p:nvSpPr>
        <p:spPr>
          <a:xfrm>
            <a:off x="3428999" y="6464808"/>
            <a:ext cx="4206240" cy="310896"/>
          </a:xfrm>
          <a:prstGeom prst="rect">
            <a:avLst/>
          </a:prstGeom>
          <a:noFill/>
        </p:spPr>
        <p:txBody>
          <a:bodyPr wrap="square" lIns="0" rIns="0" tIns="0" bIns="0" anchor="ctr">
            <a:spAutoFit/>
          </a:bodyPr>
          <a:lstStyle/>
          <a:p>
            <a:pPr algn="l"/>
            <a:r>
              <a:rPr sz="1100" b="0" i="0">
                <a:solidFill>
                  <a:srgbClr val="1B2A41"/>
                </a:solidFill>
                <a:latin typeface="Arial"/>
              </a:rPr>
              <a:t>mase, smape</a:t>
            </a:r>
          </a:p>
        </p:txBody>
      </p:sp>
      <p:sp>
        <p:nvSpPr>
          <p:cNvPr id="75" name="TextBox 74"/>
          <p:cNvSpPr txBox="1"/>
          <p:nvPr/>
        </p:nvSpPr>
        <p:spPr>
          <a:xfrm>
            <a:off x="7909559" y="6464808"/>
            <a:ext cx="2651760" cy="310896"/>
          </a:xfrm>
          <a:prstGeom prst="rect">
            <a:avLst/>
          </a:prstGeom>
          <a:noFill/>
        </p:spPr>
        <p:txBody>
          <a:bodyPr wrap="square" lIns="0" rIns="0" tIns="0" bIns="0" anchor="ctr">
            <a:spAutoFit/>
          </a:bodyPr>
          <a:lstStyle/>
          <a:p>
            <a:pPr algn="l"/>
            <a:r>
              <a:rPr sz="1100" b="0" i="0">
                <a:solidFill>
                  <a:srgbClr val="1B2A41"/>
                </a:solidFill>
                <a:latin typeface="Arial"/>
              </a:rPr>
              <a:t>tự viết, utilsforecast</a:t>
            </a:r>
          </a:p>
        </p:txBody>
      </p:sp>
      <p:sp>
        <p:nvSpPr>
          <p:cNvPr id="76" name="TextBox 75"/>
          <p:cNvSpPr txBox="1"/>
          <p:nvPr/>
        </p:nvSpPr>
        <p:spPr>
          <a:xfrm>
            <a:off x="10835640" y="6464808"/>
            <a:ext cx="667512" cy="310896"/>
          </a:xfrm>
          <a:prstGeom prst="rect">
            <a:avLst/>
          </a:prstGeom>
          <a:noFill/>
        </p:spPr>
        <p:txBody>
          <a:bodyPr wrap="square" lIns="0" rIns="0" tIns="0" bIns="0" anchor="ctr">
            <a:spAutoFit/>
          </a:bodyPr>
          <a:lstStyle/>
          <a:p>
            <a:pPr algn="l"/>
            <a:r>
              <a:rPr sz="1100" b="0" i="0">
                <a:solidFill>
                  <a:srgbClr val="5B6778"/>
                </a:solidFill>
                <a:latin typeface="Arial"/>
              </a:rPr>
              <a:t>14</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bg>
      <p:bgPr>
        <a:solidFill>
          <a:srgbClr val="1B2A41"/>
        </a:solidFill>
        <a:effectLst/>
      </p:bgPr>
    </p:bg>
    <p:spTree>
      <p:nvGrpSpPr>
        <p:cNvPr id="1" name=""/>
        <p:cNvGrpSpPr/>
        <p:nvPr/>
      </p:nvGrpSpPr>
      <p:grpSpPr/>
      <p:sp>
        <p:nvSpPr>
          <p:cNvPr id="2" name="Oval 1"/>
          <p:cNvSpPr/>
          <p:nvPr/>
        </p:nvSpPr>
        <p:spPr>
          <a:xfrm>
            <a:off x="822960" y="1828800"/>
            <a:ext cx="1463040" cy="1463040"/>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6000" b="1" i="0">
                <a:solidFill>
                  <a:srgbClr val="FFFFFF"/>
                </a:solidFill>
                <a:latin typeface="Arial"/>
              </a:rPr>
              <a:t>D</a:t>
            </a:r>
          </a:p>
        </p:txBody>
      </p:sp>
      <p:sp>
        <p:nvSpPr>
          <p:cNvPr id="3" name="TextBox 2"/>
          <p:cNvSpPr txBox="1"/>
          <p:nvPr/>
        </p:nvSpPr>
        <p:spPr>
          <a:xfrm>
            <a:off x="822960" y="3611880"/>
            <a:ext cx="6035040" cy="822960"/>
          </a:xfrm>
          <a:prstGeom prst="rect">
            <a:avLst/>
          </a:prstGeom>
          <a:noFill/>
        </p:spPr>
        <p:txBody>
          <a:bodyPr wrap="square" lIns="0" rIns="0" tIns="0" bIns="0" anchor="t">
            <a:spAutoFit/>
          </a:bodyPr>
          <a:lstStyle/>
          <a:p>
            <a:pPr algn="l"/>
            <a:r>
              <a:rPr sz="3800" b="1" i="0">
                <a:solidFill>
                  <a:srgbClr val="FFFFFF"/>
                </a:solidFill>
                <a:latin typeface="Arial"/>
              </a:rPr>
              <a:t>Đánh giá trung thực</a:t>
            </a:r>
          </a:p>
        </p:txBody>
      </p:sp>
      <p:sp>
        <p:nvSpPr>
          <p:cNvPr id="4" name="TextBox 3"/>
          <p:cNvSpPr txBox="1"/>
          <p:nvPr/>
        </p:nvSpPr>
        <p:spPr>
          <a:xfrm>
            <a:off x="822960" y="4434840"/>
            <a:ext cx="5120640" cy="457200"/>
          </a:xfrm>
          <a:prstGeom prst="rect">
            <a:avLst/>
          </a:prstGeom>
          <a:noFill/>
        </p:spPr>
        <p:txBody>
          <a:bodyPr wrap="square" lIns="0" rIns="0" tIns="0" bIns="0" anchor="t">
            <a:spAutoFit/>
          </a:bodyPr>
          <a:lstStyle/>
          <a:p>
            <a:pPr algn="l"/>
            <a:r>
              <a:rPr sz="1800" b="1" i="0">
                <a:solidFill>
                  <a:srgbClr val="6C4AB6"/>
                </a:solidFill>
                <a:latin typeface="Arial"/>
              </a:rPr>
              <a:t>Buổi 14–15</a:t>
            </a:r>
          </a:p>
        </p:txBody>
      </p:sp>
      <p:sp>
        <p:nvSpPr>
          <p:cNvPr id="5" name="TextBox 4"/>
          <p:cNvSpPr txBox="1"/>
          <p:nvPr/>
        </p:nvSpPr>
        <p:spPr>
          <a:xfrm>
            <a:off x="822960" y="4937760"/>
            <a:ext cx="4937760" cy="914400"/>
          </a:xfrm>
          <a:prstGeom prst="rect">
            <a:avLst/>
          </a:prstGeom>
          <a:noFill/>
        </p:spPr>
        <p:txBody>
          <a:bodyPr wrap="square" lIns="0" rIns="0" tIns="0" bIns="0" anchor="t">
            <a:spAutoFit/>
          </a:bodyPr>
          <a:lstStyle/>
          <a:p>
            <a:pPr algn="l"/>
            <a:r>
              <a:rPr sz="1600" b="0" i="0">
                <a:solidFill>
                  <a:srgbClr val="C9D3E0"/>
                </a:solidFill>
                <a:latin typeface="Arial"/>
              </a:rPr>
              <a:t>Tiền xử lý có giúp thật không? Chỉ đo trung thực mới biết.</a:t>
            </a:r>
          </a:p>
        </p:txBody>
      </p:sp>
      <p:cxnSp>
        <p:nvCxnSpPr>
          <p:cNvPr id="6" name="Connector 5"/>
          <p:cNvCxnSpPr/>
          <p:nvPr/>
        </p:nvCxnSpPr>
        <p:spPr>
          <a:xfrm flipH="1" flipV="1">
            <a:off x="7155180" y="2125980"/>
            <a:ext cx="1943100" cy="937259"/>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7155180" y="3063239"/>
            <a:ext cx="1943100" cy="0"/>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7155180" y="3063239"/>
            <a:ext cx="1943100" cy="937261"/>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9098280" y="2125980"/>
            <a:ext cx="1943100" cy="937259"/>
          </a:xfrm>
          <a:prstGeom prst="line">
            <a:avLst/>
          </a:prstGeom>
          <a:ln w="19050">
            <a:solidFill>
              <a:srgbClr val="6C4AB6"/>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098280" y="3063239"/>
            <a:ext cx="1943100" cy="0"/>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098280" y="3063239"/>
            <a:ext cx="1943100" cy="937261"/>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8298179" y="2697479"/>
            <a:ext cx="1600200" cy="731520"/>
          </a:xfrm>
          <a:prstGeom prst="ellipse">
            <a:avLst/>
          </a:prstGeom>
          <a:solidFill>
            <a:srgbClr val="1B2A41"/>
          </a:solidFill>
          <a:ln w="15875">
            <a:solidFill>
              <a:srgbClr val="8FA3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55080" y="1817369"/>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A. Khái niệm nền</a:t>
            </a:r>
          </a:p>
        </p:txBody>
      </p:sp>
      <p:sp>
        <p:nvSpPr>
          <p:cNvPr id="14" name="Rounded Rectangle 13"/>
          <p:cNvSpPr/>
          <p:nvPr/>
        </p:nvSpPr>
        <p:spPr>
          <a:xfrm>
            <a:off x="6355080" y="2754630"/>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B. Vấn đề dữ liệu</a:t>
            </a:r>
          </a:p>
        </p:txBody>
      </p:sp>
      <p:sp>
        <p:nvSpPr>
          <p:cNvPr id="15" name="Rounded Rectangle 14"/>
          <p:cNvSpPr/>
          <p:nvPr/>
        </p:nvSpPr>
        <p:spPr>
          <a:xfrm>
            <a:off x="6355080" y="3691889"/>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C. Bảng tra &amp; từ điển</a:t>
            </a:r>
          </a:p>
        </p:txBody>
      </p:sp>
      <p:sp>
        <p:nvSpPr>
          <p:cNvPr id="16" name="Rounded Rectangle 15"/>
          <p:cNvSpPr/>
          <p:nvPr/>
        </p:nvSpPr>
        <p:spPr>
          <a:xfrm>
            <a:off x="10241280" y="1817369"/>
            <a:ext cx="1600200" cy="617220"/>
          </a:xfrm>
          <a:prstGeom prst="roundRect">
            <a:avLst>
              <a:gd name="adj" fmla="val 18000"/>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FFFFFF"/>
                </a:solidFill>
                <a:latin typeface="Arial"/>
              </a:rPr>
              <a:t>D. Đánh giá trung thực</a:t>
            </a:r>
          </a:p>
        </p:txBody>
      </p:sp>
      <p:sp>
        <p:nvSpPr>
          <p:cNvPr id="17" name="Rounded Rectangle 16"/>
          <p:cNvSpPr/>
          <p:nvPr/>
        </p:nvSpPr>
        <p:spPr>
          <a:xfrm>
            <a:off x="10241280" y="2754630"/>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E. Quy trình tiền xử lý</a:t>
            </a:r>
          </a:p>
        </p:txBody>
      </p:sp>
      <p:sp>
        <p:nvSpPr>
          <p:cNvPr id="18" name="Rounded Rectangle 17"/>
          <p:cNvSpPr/>
          <p:nvPr/>
        </p:nvSpPr>
        <p:spPr>
          <a:xfrm>
            <a:off x="10241280" y="3691889"/>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F. Dữ liệu &amp; phía trước</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D</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Phần dư sạch: không còn gì để khai thác</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6C4AB6"/>
                </a:solidFill>
                <a:latin typeface="Arial"/>
              </a:rPr>
              <a:t>Buổi 14</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residual diagnostics · fitted values · Ljung–Box · Jarque–Bera</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Kiểm mô hình đã khai thác hết quy luật trong dữ liệu chưa.</a:t>
            </a:r>
          </a:p>
        </p:txBody>
      </p:sp>
      <p:sp>
        <p:nvSpPr>
          <p:cNvPr id="7" name="Rounded Rectangle 6"/>
          <p:cNvSpPr/>
          <p:nvPr/>
        </p:nvSpPr>
        <p:spPr>
          <a:xfrm>
            <a:off x="548640" y="2066543"/>
            <a:ext cx="11091672"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066543"/>
            <a:ext cx="1097280" cy="658368"/>
          </a:xfrm>
          <a:prstGeom prst="rect">
            <a:avLst/>
          </a:prstGeom>
          <a:noFill/>
        </p:spPr>
        <p:txBody>
          <a:bodyPr wrap="square" lIns="0" rIns="0" tIns="0" bIns="0" anchor="ctr">
            <a:spAutoFit/>
          </a:bodyPr>
          <a:lstStyle/>
          <a:p>
            <a:pPr algn="l"/>
            <a:r>
              <a:rPr sz="1200" b="1" i="0">
                <a:solidFill>
                  <a:srgbClr val="6C4AB6"/>
                </a:solidFill>
                <a:latin typeface="Arial"/>
              </a:rPr>
              <a:t>Công thức</a:t>
            </a:r>
          </a:p>
        </p:txBody>
      </p:sp>
      <p:pic>
        <p:nvPicPr>
          <p:cNvPr id="9" name="Picture 8" descr="3b5157be2d7e.png"/>
          <p:cNvPicPr>
            <a:picLocks noChangeAspect="1"/>
          </p:cNvPicPr>
          <p:nvPr/>
        </p:nvPicPr>
        <p:blipFill>
          <a:blip r:embed="rId2"/>
          <a:stretch>
            <a:fillRect/>
          </a:stretch>
        </p:blipFill>
        <p:spPr>
          <a:xfrm>
            <a:off x="1783080" y="2243328"/>
            <a:ext cx="7391400" cy="304800"/>
          </a:xfrm>
          <a:prstGeom prst="rect">
            <a:avLst/>
          </a:prstGeom>
        </p:spPr>
      </p:pic>
      <p:pic>
        <p:nvPicPr>
          <p:cNvPr id="10" name="Picture 9" descr="chan-doan-phan-du.png"/>
          <p:cNvPicPr>
            <a:picLocks noChangeAspect="1"/>
          </p:cNvPicPr>
          <p:nvPr/>
        </p:nvPicPr>
        <p:blipFill>
          <a:blip r:embed="rId3"/>
          <a:stretch>
            <a:fillRect/>
          </a:stretch>
        </p:blipFill>
        <p:spPr>
          <a:xfrm>
            <a:off x="2465052" y="2816351"/>
            <a:ext cx="7258846" cy="2121408"/>
          </a:xfrm>
          <a:prstGeom prst="rect">
            <a:avLst/>
          </a:prstGeom>
        </p:spPr>
      </p:pic>
      <p:sp>
        <p:nvSpPr>
          <p:cNvPr id="11" name="Rounded Rectangle 10"/>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6C4AB6"/>
                </a:solidFill>
                <a:latin typeface="Arial"/>
              </a:rPr>
              <a:t>Là gì</a:t>
            </a:r>
          </a:p>
        </p:txBody>
      </p:sp>
      <p:sp>
        <p:nvSpPr>
          <p:cNvPr id="13" name="TextBox 12"/>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Phần dư là thực tế trừ giá trị khớp (fitted) trên phần học. Sai số dự báo thì đo trên kỳ chấm, phần mô hình chưa thấy.</a:t>
            </a:r>
          </a:p>
        </p:txBody>
      </p:sp>
      <p:sp>
        <p:nvSpPr>
          <p:cNvPr id="14" name="Rounded Rectangle 13"/>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6C4AB6"/>
                </a:solidFill>
                <a:latin typeface="Arial"/>
              </a:rPr>
              <a:t>Phần dư sạch trông thế nào</a:t>
            </a:r>
          </a:p>
        </p:txBody>
      </p:sp>
      <p:sp>
        <p:nvSpPr>
          <p:cNvPr id="16" name="TextBox 15"/>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Trung bình gần 0, không còn tự tương quan, độ dao động ổn định, và gần hình chuông (kiểm bằng Jarque–Bera).</a:t>
            </a:r>
          </a:p>
        </p:txBody>
      </p:sp>
      <p:sp>
        <p:nvSpPr>
          <p:cNvPr id="17" name="Rounded Rectangle 16"/>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6C4AB6"/>
                </a:solidFill>
                <a:latin typeface="Arial"/>
              </a:rPr>
              <a:t>Ví dụ</a:t>
            </a:r>
          </a:p>
        </p:txBody>
      </p:sp>
      <p:sp>
        <p:nvSpPr>
          <p:cNvPr id="19" name="TextBox 18"/>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Phần dư của seasonal naive trên một chuỗi M4 có Ljung-Box p = 0,000: vẫn còn quy luật bị bỏ sót.</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D</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Mỗi chỉ số thưởng một kiểu dự báo</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6C4AB6"/>
                </a:solidFill>
                <a:latin typeface="Arial"/>
              </a:rPr>
              <a:t>Buổi 14</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MAE · RMSE · mean error (bias)</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Chọn thước đo sai số khớp với cái giá thật của sai lệch.</a:t>
            </a:r>
          </a:p>
        </p:txBody>
      </p:sp>
      <p:sp>
        <p:nvSpPr>
          <p:cNvPr id="7" name="Rounded Rectangle 6"/>
          <p:cNvSpPr/>
          <p:nvPr/>
        </p:nvSpPr>
        <p:spPr>
          <a:xfrm>
            <a:off x="548640" y="2066543"/>
            <a:ext cx="11091672" cy="737616"/>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066543"/>
            <a:ext cx="1097280" cy="737616"/>
          </a:xfrm>
          <a:prstGeom prst="rect">
            <a:avLst/>
          </a:prstGeom>
          <a:noFill/>
        </p:spPr>
        <p:txBody>
          <a:bodyPr wrap="square" lIns="0" rIns="0" tIns="0" bIns="0" anchor="ctr">
            <a:spAutoFit/>
          </a:bodyPr>
          <a:lstStyle/>
          <a:p>
            <a:pPr algn="l"/>
            <a:r>
              <a:rPr sz="1200" b="1" i="0">
                <a:solidFill>
                  <a:srgbClr val="6C4AB6"/>
                </a:solidFill>
                <a:latin typeface="Arial"/>
              </a:rPr>
              <a:t>Công thức</a:t>
            </a:r>
          </a:p>
        </p:txBody>
      </p:sp>
      <p:pic>
        <p:nvPicPr>
          <p:cNvPr id="9" name="Picture 8" descr="c47b0e1dc8a5.png"/>
          <p:cNvPicPr>
            <a:picLocks noChangeAspect="1"/>
          </p:cNvPicPr>
          <p:nvPr/>
        </p:nvPicPr>
        <p:blipFill>
          <a:blip r:embed="rId2"/>
          <a:stretch>
            <a:fillRect/>
          </a:stretch>
        </p:blipFill>
        <p:spPr>
          <a:xfrm>
            <a:off x="1783080" y="2130552"/>
            <a:ext cx="7427976" cy="609600"/>
          </a:xfrm>
          <a:prstGeom prst="rect">
            <a:avLst/>
          </a:prstGeom>
        </p:spPr>
      </p:pic>
      <p:pic>
        <p:nvPicPr>
          <p:cNvPr id="10" name="Picture 9" descr="chi-so-quyet-dinh.png"/>
          <p:cNvPicPr>
            <a:picLocks noChangeAspect="1"/>
          </p:cNvPicPr>
          <p:nvPr/>
        </p:nvPicPr>
        <p:blipFill>
          <a:blip r:embed="rId3"/>
          <a:stretch>
            <a:fillRect/>
          </a:stretch>
        </p:blipFill>
        <p:spPr>
          <a:xfrm>
            <a:off x="3046854" y="2895600"/>
            <a:ext cx="6095242" cy="2042160"/>
          </a:xfrm>
          <a:prstGeom prst="rect">
            <a:avLst/>
          </a:prstGeom>
        </p:spPr>
      </p:pic>
      <p:sp>
        <p:nvSpPr>
          <p:cNvPr id="11" name="Rounded Rectangle 10"/>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6C4AB6"/>
                </a:solidFill>
                <a:latin typeface="Arial"/>
              </a:rPr>
              <a:t>Là gì</a:t>
            </a:r>
          </a:p>
        </p:txBody>
      </p:sp>
      <p:sp>
        <p:nvSpPr>
          <p:cNvPr id="13" name="TextBox 12"/>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MAE là trung bình độ lớn sai số. RMSE là căn của trung bình sai số bình phương. ME là trung bình sai số có dấu.</a:t>
            </a:r>
          </a:p>
        </p:txBody>
      </p:sp>
      <p:sp>
        <p:nvSpPr>
          <p:cNvPr id="14" name="Rounded Rectangle 13"/>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6C4AB6"/>
                </a:solidFill>
                <a:latin typeface="Arial"/>
              </a:rPr>
              <a:t>ME dương hay âm nghĩa là gì</a:t>
            </a:r>
          </a:p>
        </p:txBody>
      </p:sp>
      <p:sp>
        <p:nvSpPr>
          <p:cNvPr id="16" name="TextBox 15"/>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600" b="0" i="0">
                <a:solidFill>
                  <a:srgbClr val="1B2A41"/>
                </a:solidFill>
                <a:latin typeface="Arial"/>
              </a:rPr>
              <a:t/>
            </a:r>
          </a:p>
        </p:txBody>
      </p:sp>
      <p:cxnSp>
        <p:nvCxnSpPr>
          <p:cNvPr id="17" name="Connector 16"/>
          <p:cNvCxnSpPr/>
          <p:nvPr/>
        </p:nvCxnSpPr>
        <p:spPr>
          <a:xfrm>
            <a:off x="4963667" y="5532120"/>
            <a:ext cx="2261617"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18" name="Oval 17"/>
          <p:cNvSpPr/>
          <p:nvPr/>
        </p:nvSpPr>
        <p:spPr>
          <a:xfrm>
            <a:off x="4881372" y="5449824"/>
            <a:ext cx="164592" cy="164592"/>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434840" y="5669280"/>
            <a:ext cx="1057655" cy="274320"/>
          </a:xfrm>
          <a:prstGeom prst="rect">
            <a:avLst/>
          </a:prstGeom>
          <a:noFill/>
        </p:spPr>
        <p:txBody>
          <a:bodyPr wrap="square" lIns="0" rIns="0" tIns="0" bIns="0" anchor="t">
            <a:spAutoFit/>
          </a:bodyPr>
          <a:lstStyle/>
          <a:p>
            <a:pPr algn="ctr"/>
            <a:r>
              <a:rPr sz="1400" b="1" i="0">
                <a:solidFill>
                  <a:srgbClr val="6C4AB6"/>
                </a:solidFill>
                <a:latin typeface="Arial"/>
              </a:rPr>
              <a:t>ME &lt; 0</a:t>
            </a:r>
          </a:p>
        </p:txBody>
      </p:sp>
      <p:sp>
        <p:nvSpPr>
          <p:cNvPr id="20" name="TextBox 19"/>
          <p:cNvSpPr txBox="1"/>
          <p:nvPr/>
        </p:nvSpPr>
        <p:spPr>
          <a:xfrm>
            <a:off x="4434840"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dự báo cao hơn thực tế</a:t>
            </a:r>
          </a:p>
        </p:txBody>
      </p:sp>
      <p:sp>
        <p:nvSpPr>
          <p:cNvPr id="21" name="Oval 20"/>
          <p:cNvSpPr/>
          <p:nvPr/>
        </p:nvSpPr>
        <p:spPr>
          <a:xfrm>
            <a:off x="6012179" y="5449824"/>
            <a:ext cx="164592" cy="164592"/>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565647" y="5669280"/>
            <a:ext cx="1057655" cy="274320"/>
          </a:xfrm>
          <a:prstGeom prst="rect">
            <a:avLst/>
          </a:prstGeom>
          <a:noFill/>
        </p:spPr>
        <p:txBody>
          <a:bodyPr wrap="square" lIns="0" rIns="0" tIns="0" bIns="0" anchor="t">
            <a:spAutoFit/>
          </a:bodyPr>
          <a:lstStyle/>
          <a:p>
            <a:pPr algn="ctr"/>
            <a:r>
              <a:rPr sz="1400" b="1" i="0">
                <a:solidFill>
                  <a:srgbClr val="6C4AB6"/>
                </a:solidFill>
                <a:latin typeface="Arial"/>
              </a:rPr>
              <a:t>ME ≈ 0</a:t>
            </a:r>
          </a:p>
        </p:txBody>
      </p:sp>
      <p:sp>
        <p:nvSpPr>
          <p:cNvPr id="23" name="TextBox 22"/>
          <p:cNvSpPr txBox="1"/>
          <p:nvPr/>
        </p:nvSpPr>
        <p:spPr>
          <a:xfrm>
            <a:off x="5565647"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không lệch một phía</a:t>
            </a:r>
          </a:p>
        </p:txBody>
      </p:sp>
      <p:sp>
        <p:nvSpPr>
          <p:cNvPr id="24" name="Oval 23"/>
          <p:cNvSpPr/>
          <p:nvPr/>
        </p:nvSpPr>
        <p:spPr>
          <a:xfrm>
            <a:off x="7142987" y="5449824"/>
            <a:ext cx="164592" cy="164592"/>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96456" y="5669280"/>
            <a:ext cx="1057655" cy="274320"/>
          </a:xfrm>
          <a:prstGeom prst="rect">
            <a:avLst/>
          </a:prstGeom>
          <a:noFill/>
        </p:spPr>
        <p:txBody>
          <a:bodyPr wrap="square" lIns="0" rIns="0" tIns="0" bIns="0" anchor="t">
            <a:spAutoFit/>
          </a:bodyPr>
          <a:lstStyle/>
          <a:p>
            <a:pPr algn="ctr"/>
            <a:r>
              <a:rPr sz="1400" b="1" i="0">
                <a:solidFill>
                  <a:srgbClr val="6C4AB6"/>
                </a:solidFill>
                <a:latin typeface="Arial"/>
              </a:rPr>
              <a:t>ME &gt; 0</a:t>
            </a:r>
          </a:p>
        </p:txBody>
      </p:sp>
      <p:sp>
        <p:nvSpPr>
          <p:cNvPr id="26" name="TextBox 25"/>
          <p:cNvSpPr txBox="1"/>
          <p:nvPr/>
        </p:nvSpPr>
        <p:spPr>
          <a:xfrm>
            <a:off x="6696456"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dự báo thấp hơn thực tế</a:t>
            </a:r>
          </a:p>
        </p:txBody>
      </p:sp>
      <p:sp>
        <p:nvSpPr>
          <p:cNvPr id="27" name="Rounded Rectangle 26"/>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6C4AB6"/>
                </a:solidFill>
                <a:latin typeface="Arial"/>
              </a:rPr>
              <a:t>Ví dụ</a:t>
            </a:r>
          </a:p>
        </p:txBody>
      </p:sp>
      <p:sp>
        <p:nvSpPr>
          <p:cNvPr id="29" name="TextBox 28"/>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Thực tế 10, 12, 8, 14, 16 và dự báo 11, 10, 9, 14, 12 cho MAE 1,6, RMSE 2,10 và ME 0,8.</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D</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Có số 0 thì MAPE hỏng</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6C4AB6"/>
                </a:solidFill>
                <a:latin typeface="Arial"/>
              </a:rPr>
              <a:t>Buổi 14</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MAPE · sMAPE · WAPE (weighted absolute percentage error)</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So sai số giữa các chuỗi khác đơn vị, khác cỡ, kể cả chuỗi có số 0.</a:t>
            </a:r>
          </a:p>
        </p:txBody>
      </p:sp>
      <p:sp>
        <p:nvSpPr>
          <p:cNvPr id="7" name="Rounded Rectangle 6"/>
          <p:cNvSpPr/>
          <p:nvPr/>
        </p:nvSpPr>
        <p:spPr>
          <a:xfrm>
            <a:off x="548640" y="2066543"/>
            <a:ext cx="11091672" cy="890016"/>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2066543"/>
            <a:ext cx="1097280" cy="890016"/>
          </a:xfrm>
          <a:prstGeom prst="rect">
            <a:avLst/>
          </a:prstGeom>
          <a:noFill/>
        </p:spPr>
        <p:txBody>
          <a:bodyPr wrap="square" lIns="0" rIns="0" tIns="0" bIns="0" anchor="ctr">
            <a:spAutoFit/>
          </a:bodyPr>
          <a:lstStyle/>
          <a:p>
            <a:pPr algn="l"/>
            <a:r>
              <a:rPr sz="1200" b="1" i="0">
                <a:solidFill>
                  <a:srgbClr val="6C4AB6"/>
                </a:solidFill>
                <a:latin typeface="Arial"/>
              </a:rPr>
              <a:t>Công thức</a:t>
            </a:r>
          </a:p>
        </p:txBody>
      </p:sp>
      <p:pic>
        <p:nvPicPr>
          <p:cNvPr id="9" name="Picture 8" descr="2062fbfc3406.png"/>
          <p:cNvPicPr>
            <a:picLocks noChangeAspect="1"/>
          </p:cNvPicPr>
          <p:nvPr/>
        </p:nvPicPr>
        <p:blipFill>
          <a:blip r:embed="rId2"/>
          <a:stretch>
            <a:fillRect/>
          </a:stretch>
        </p:blipFill>
        <p:spPr>
          <a:xfrm>
            <a:off x="1783080" y="2130552"/>
            <a:ext cx="7403591" cy="762000"/>
          </a:xfrm>
          <a:prstGeom prst="rect">
            <a:avLst/>
          </a:prstGeom>
        </p:spPr>
      </p:pic>
      <p:pic>
        <p:nvPicPr>
          <p:cNvPr id="10" name="Picture 9" descr="doi-chi-so-doi-hang.png"/>
          <p:cNvPicPr>
            <a:picLocks noChangeAspect="1"/>
          </p:cNvPicPr>
          <p:nvPr/>
        </p:nvPicPr>
        <p:blipFill>
          <a:blip r:embed="rId3"/>
          <a:stretch>
            <a:fillRect/>
          </a:stretch>
        </p:blipFill>
        <p:spPr>
          <a:xfrm>
            <a:off x="3170527" y="3048000"/>
            <a:ext cx="5847896" cy="1889760"/>
          </a:xfrm>
          <a:prstGeom prst="rect">
            <a:avLst/>
          </a:prstGeom>
        </p:spPr>
      </p:pic>
      <p:sp>
        <p:nvSpPr>
          <p:cNvPr id="11" name="Rounded Rectangle 10"/>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6C4AB6"/>
                </a:solidFill>
                <a:latin typeface="Arial"/>
              </a:rPr>
              <a:t>Là gì</a:t>
            </a:r>
          </a:p>
        </p:txBody>
      </p:sp>
      <p:sp>
        <p:nvSpPr>
          <p:cNvPr id="13" name="TextBox 12"/>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MAPE chia sai số cho thực tế. sMAPE chia cho trung bình của |thực tế| và |dự báo|. WAPE chia tổng sai số cho tổng thực tế.</a:t>
            </a:r>
          </a:p>
        </p:txBody>
      </p:sp>
      <p:sp>
        <p:nvSpPr>
          <p:cNvPr id="14" name="Rounded Rectangle 13"/>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6C4AB6"/>
                </a:solidFill>
                <a:latin typeface="Arial"/>
              </a:rPr>
              <a:t>Nhận ra thế nào</a:t>
            </a:r>
          </a:p>
        </p:txBody>
      </p:sp>
      <p:sp>
        <p:nvSpPr>
          <p:cNvPr id="16" name="TextBox 15"/>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Có ngày thực tế bằng 0 thì MAPE ra vô hạn. Đổi chỉ số là đổi hạng: trên bán lẻ, mỗi chỉ số chọn một baseline hạng nhất khác.</a:t>
            </a:r>
          </a:p>
        </p:txBody>
      </p:sp>
      <p:sp>
        <p:nvSpPr>
          <p:cNvPr id="17" name="Rounded Rectangle 16"/>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6C4AB6"/>
                </a:solidFill>
                <a:latin typeface="Arial"/>
              </a:rPr>
              <a:t>Ví dụ</a:t>
            </a:r>
          </a:p>
        </p:txBody>
      </p:sp>
      <p:sp>
        <p:nvSpPr>
          <p:cNvPr id="19" name="TextBox 18"/>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Bán lẻ, 300 mã hàng: MAPE không tính được ở cả 300. utilsforecast trả MAPE, sMAPE ở thang 0–1: lệch 100 và 200 lần so với số phần trăm.</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D</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MAPE phạt dự báo cao nặng hơn dự báo thấp</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6C4AB6"/>
                </a:solidFill>
                <a:latin typeface="Arial"/>
              </a:rPr>
              <a:t>Buổi 14</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MAPE asymmetry · under-forecast bias · sMAPE</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6C4AB6"/>
                </a:solidFill>
                <a:latin typeface="Arial"/>
              </a:rPr>
              <a:t>Vấn đề:  </a:t>
            </a:r>
            <a:r>
              <a:rPr sz="1600" b="0" i="0">
                <a:solidFill>
                  <a:srgbClr val="1B2A41"/>
                </a:solidFill>
                <a:latin typeface="Arial"/>
              </a:rPr>
              <a:t>Cùng lệch 50 đơn vị, vì sao dự báo cao bị MAPE phạt nặng hơn dự báo thấp?</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Biết MAPE đẩy dự báo về phía thấp, trước khi dùng nó để chọn mô hình hay đặt hàng.</a:t>
            </a:r>
          </a:p>
        </p:txBody>
      </p:sp>
      <p:pic>
        <p:nvPicPr>
          <p:cNvPr id="8" name="Picture 7" descr="chi-so-quyet-dinh.png"/>
          <p:cNvPicPr>
            <a:picLocks noChangeAspect="1"/>
          </p:cNvPicPr>
          <p:nvPr/>
        </p:nvPicPr>
        <p:blipFill>
          <a:blip r:embed="rId2"/>
          <a:stretch>
            <a:fillRect/>
          </a:stretch>
        </p:blipFill>
        <p:spPr>
          <a:xfrm>
            <a:off x="2355454" y="2432303"/>
            <a:ext cx="7478043" cy="2505456"/>
          </a:xfrm>
          <a:prstGeom prst="rect">
            <a:avLst/>
          </a:prstGeom>
        </p:spPr>
      </p:pic>
      <p:sp>
        <p:nvSpPr>
          <p:cNvPr id="9" name="Rounded Rectangle 8"/>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6C4AB6"/>
                </a:solidFill>
                <a:latin typeface="Arial"/>
              </a:rPr>
              <a:t>Là gì</a:t>
            </a:r>
          </a:p>
        </p:txBody>
      </p:sp>
      <p:sp>
        <p:nvSpPr>
          <p:cNvPr id="11" name="TextBox 10"/>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MAPE chia sai số cho thực tế. Dự báo thấp sai nhiều nhất 100% (dự báo 0); dự báo cao thì sai bao nhiêu phần trăm cũng được.</a:t>
            </a:r>
          </a:p>
        </p:txBody>
      </p:sp>
      <p:sp>
        <p:nvSpPr>
          <p:cNvPr id="12" name="Rounded Rectangle 11"/>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6C4AB6"/>
                </a:solidFill>
                <a:latin typeface="Arial"/>
              </a:rPr>
              <a:t>Nhận ra thế nào</a:t>
            </a:r>
          </a:p>
        </p:txBody>
      </p:sp>
      <p:sp>
        <p:nvSpPr>
          <p:cNvPr id="14" name="TextBox 13"/>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Tối ưu MAPE thì dự báo thấp hơn cả trung vị. sMAPE mang tên “đối xứng” nhưng cũng không đối xứng.</a:t>
            </a:r>
          </a:p>
        </p:txBody>
      </p:sp>
      <p:sp>
        <p:nvSpPr>
          <p:cNvPr id="15" name="Rounded Rectangle 14"/>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6C4AB6"/>
                </a:solidFill>
                <a:latin typeface="Arial"/>
              </a:rPr>
              <a:t>Ví dụ</a:t>
            </a:r>
          </a:p>
        </p:txBody>
      </p:sp>
      <p:sp>
        <p:nvSpPr>
          <p:cNvPr id="17" name="TextBox 16"/>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Cùng lệch 50: thực tế 100, dự báo 150 cho MAPE 50%; thực tế 150, dự báo 100 chỉ 33,3%. Doanh số mô phỏng: MAE tối ưu ở 20,0, MAPE ở 9,1.</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D</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MASE: chia cho sai số baseline phần học</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6C4AB6"/>
                </a:solidFill>
                <a:latin typeface="Arial"/>
              </a:rPr>
              <a:t>Buổi 9, 14</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MASE (mean absolute scaled error) · RMSSE · in-sample scaling</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6C4AB6"/>
                </a:solidFill>
                <a:latin typeface="Arial"/>
              </a:rPr>
              <a:t>Vấn đề:  </a:t>
            </a:r>
            <a:r>
              <a:rPr sz="1600" b="0" i="0">
                <a:solidFill>
                  <a:srgbClr val="1B2A41"/>
                </a:solidFill>
                <a:latin typeface="Arial"/>
              </a:rPr>
              <a:t>Chuỗi này MAE 98, chuỗi kia MAE 3: không so được. Đổi ra phần trăm thì gặp số 0 là hỏng.</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So sai số giữa các chuỗi khác đơn vị, kể cả có số 0, không dùng thông tin kỳ chấm.</a:t>
            </a:r>
          </a:p>
        </p:txBody>
      </p:sp>
      <p:sp>
        <p:nvSpPr>
          <p:cNvPr id="8" name="TextBox 7"/>
          <p:cNvSpPr txBox="1"/>
          <p:nvPr/>
        </p:nvSpPr>
        <p:spPr>
          <a:xfrm>
            <a:off x="1325880" y="2084831"/>
            <a:ext cx="10332720" cy="411480"/>
          </a:xfrm>
          <a:prstGeom prst="rect">
            <a:avLst/>
          </a:prstGeom>
          <a:noFill/>
        </p:spPr>
        <p:txBody>
          <a:bodyPr wrap="square" lIns="0" rIns="0" tIns="0" bIns="0" anchor="t">
            <a:spAutoFit/>
          </a:bodyPr>
          <a:lstStyle/>
          <a:p>
            <a:pPr algn="l"/>
            <a:r>
              <a:rPr sz="1700" b="0" i="1">
                <a:solidFill>
                  <a:srgbClr val="6C4AB6"/>
                </a:solidFill>
                <a:latin typeface="Arial"/>
              </a:rPr>
              <a:t>“MASE &lt; 1 chưa chắc thắng seasonal naive trên kỳ chấm: chạy baseline trên cùng kỳ.”</a:t>
            </a:r>
          </a:p>
        </p:txBody>
      </p:sp>
      <p:sp>
        <p:nvSpPr>
          <p:cNvPr id="9" name="Rounded Rectangle 8"/>
          <p:cNvSpPr/>
          <p:nvPr/>
        </p:nvSpPr>
        <p:spPr>
          <a:xfrm>
            <a:off x="548640" y="2816351"/>
            <a:ext cx="11091672" cy="93268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816351"/>
            <a:ext cx="1097280" cy="932688"/>
          </a:xfrm>
          <a:prstGeom prst="rect">
            <a:avLst/>
          </a:prstGeom>
          <a:noFill/>
        </p:spPr>
        <p:txBody>
          <a:bodyPr wrap="square" lIns="0" rIns="0" tIns="0" bIns="0" anchor="ctr">
            <a:spAutoFit/>
          </a:bodyPr>
          <a:lstStyle/>
          <a:p>
            <a:pPr algn="l"/>
            <a:r>
              <a:rPr sz="1200" b="1" i="0">
                <a:solidFill>
                  <a:srgbClr val="6C4AB6"/>
                </a:solidFill>
                <a:latin typeface="Arial"/>
              </a:rPr>
              <a:t>Công thức</a:t>
            </a:r>
          </a:p>
        </p:txBody>
      </p:sp>
      <p:pic>
        <p:nvPicPr>
          <p:cNvPr id="11" name="Picture 10" descr="d86423b448ea.png"/>
          <p:cNvPicPr>
            <a:picLocks noChangeAspect="1"/>
          </p:cNvPicPr>
          <p:nvPr/>
        </p:nvPicPr>
        <p:blipFill>
          <a:blip r:embed="rId2"/>
          <a:stretch>
            <a:fillRect/>
          </a:stretch>
        </p:blipFill>
        <p:spPr>
          <a:xfrm>
            <a:off x="1783080" y="2871215"/>
            <a:ext cx="6010179" cy="822960"/>
          </a:xfrm>
          <a:prstGeom prst="rect">
            <a:avLst/>
          </a:prstGeom>
        </p:spPr>
      </p:pic>
      <p:sp>
        <p:nvSpPr>
          <p:cNvPr id="12" name="TextBox 11"/>
          <p:cNvSpPr txBox="1"/>
          <p:nvPr/>
        </p:nvSpPr>
        <p:spPr>
          <a:xfrm>
            <a:off x="7976139" y="2816351"/>
            <a:ext cx="3527012" cy="932688"/>
          </a:xfrm>
          <a:prstGeom prst="rect">
            <a:avLst/>
          </a:prstGeom>
          <a:noFill/>
        </p:spPr>
        <p:txBody>
          <a:bodyPr wrap="square" lIns="0" rIns="0" tIns="0" bIns="0" anchor="ctr">
            <a:spAutoFit/>
          </a:bodyPr>
          <a:lstStyle/>
          <a:p>
            <a:pPr algn="l"/>
            <a:r>
              <a:rPr sz="1150" b="0" i="0">
                <a:solidFill>
                  <a:srgbClr val="1B2A41"/>
                </a:solidFill>
                <a:latin typeface="Arial"/>
              </a:rPr>
              <a:t>T điểm phần học, m là chu kỳ mùa vụ. Mẫu số chỉ lấy từ phần học.</a:t>
            </a:r>
          </a:p>
        </p:txBody>
      </p:sp>
      <p:pic>
        <p:nvPicPr>
          <p:cNvPr id="13" name="Picture 12" descr="entropy-sai-so.png"/>
          <p:cNvPicPr>
            <a:picLocks noChangeAspect="1"/>
          </p:cNvPicPr>
          <p:nvPr/>
        </p:nvPicPr>
        <p:blipFill>
          <a:blip r:embed="rId3"/>
          <a:stretch>
            <a:fillRect/>
          </a:stretch>
        </p:blipFill>
        <p:spPr>
          <a:xfrm>
            <a:off x="4499639" y="3840479"/>
            <a:ext cx="3189672" cy="1097280"/>
          </a:xfrm>
          <a:prstGeom prst="rect">
            <a:avLst/>
          </a:prstGeom>
        </p:spPr>
      </p:pic>
      <p:sp>
        <p:nvSpPr>
          <p:cNvPr id="14" name="Rounded Rectangle 13"/>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6C4AB6"/>
                </a:solidFill>
                <a:latin typeface="Arial"/>
              </a:rPr>
              <a:t>Là gì</a:t>
            </a:r>
          </a:p>
        </p:txBody>
      </p:sp>
      <p:sp>
        <p:nvSpPr>
          <p:cNvPr id="16" name="TextBox 15"/>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MASE chia MAE trên kỳ chấm cho MAE của seasonal naive trên phần học. RMSSE làm tương tự với bình phương (cuộc thi M5).</a:t>
            </a:r>
          </a:p>
        </p:txBody>
      </p:sp>
      <p:sp>
        <p:nvSpPr>
          <p:cNvPr id="17" name="Rounded Rectangle 16"/>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6C4AB6"/>
                </a:solidFill>
                <a:latin typeface="Arial"/>
              </a:rPr>
              <a:t>Cao hay thấp nghĩa là gì</a:t>
            </a:r>
          </a:p>
        </p:txBody>
      </p:sp>
      <p:sp>
        <p:nvSpPr>
          <p:cNvPr id="19" name="TextBox 18"/>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600" b="0" i="0">
                <a:solidFill>
                  <a:srgbClr val="1B2A41"/>
                </a:solidFill>
                <a:latin typeface="Arial"/>
              </a:rPr>
              <a:t/>
            </a:r>
          </a:p>
        </p:txBody>
      </p:sp>
      <p:cxnSp>
        <p:nvCxnSpPr>
          <p:cNvPr id="20" name="Connector 19"/>
          <p:cNvCxnSpPr/>
          <p:nvPr/>
        </p:nvCxnSpPr>
        <p:spPr>
          <a:xfrm>
            <a:off x="4963667" y="5532120"/>
            <a:ext cx="2261617"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21" name="Oval 20"/>
          <p:cNvSpPr/>
          <p:nvPr/>
        </p:nvSpPr>
        <p:spPr>
          <a:xfrm>
            <a:off x="4881372" y="5449824"/>
            <a:ext cx="164592" cy="164592"/>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434840" y="5669280"/>
            <a:ext cx="1057655" cy="274320"/>
          </a:xfrm>
          <a:prstGeom prst="rect">
            <a:avLst/>
          </a:prstGeom>
          <a:noFill/>
        </p:spPr>
        <p:txBody>
          <a:bodyPr wrap="square" lIns="0" rIns="0" tIns="0" bIns="0" anchor="t">
            <a:spAutoFit/>
          </a:bodyPr>
          <a:lstStyle/>
          <a:p>
            <a:pPr algn="ctr"/>
            <a:r>
              <a:rPr sz="1400" b="1" i="0">
                <a:solidFill>
                  <a:srgbClr val="6C4AB6"/>
                </a:solidFill>
                <a:latin typeface="Arial"/>
              </a:rPr>
              <a:t>dưới 1</a:t>
            </a:r>
          </a:p>
        </p:txBody>
      </p:sp>
      <p:sp>
        <p:nvSpPr>
          <p:cNvPr id="23" name="TextBox 22"/>
          <p:cNvSpPr txBox="1"/>
          <p:nvPr/>
        </p:nvSpPr>
        <p:spPr>
          <a:xfrm>
            <a:off x="4434840"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sai ít hơn baseline trên phần học</a:t>
            </a:r>
          </a:p>
        </p:txBody>
      </p:sp>
      <p:sp>
        <p:nvSpPr>
          <p:cNvPr id="24" name="Oval 23"/>
          <p:cNvSpPr/>
          <p:nvPr/>
        </p:nvSpPr>
        <p:spPr>
          <a:xfrm>
            <a:off x="6012179" y="5449824"/>
            <a:ext cx="164592" cy="164592"/>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565647" y="5669280"/>
            <a:ext cx="1057655" cy="274320"/>
          </a:xfrm>
          <a:prstGeom prst="rect">
            <a:avLst/>
          </a:prstGeom>
          <a:noFill/>
        </p:spPr>
        <p:txBody>
          <a:bodyPr wrap="square" lIns="0" rIns="0" tIns="0" bIns="0" anchor="t">
            <a:spAutoFit/>
          </a:bodyPr>
          <a:lstStyle/>
          <a:p>
            <a:pPr algn="ctr"/>
            <a:r>
              <a:rPr sz="1400" b="1" i="0">
                <a:solidFill>
                  <a:srgbClr val="6C4AB6"/>
                </a:solidFill>
                <a:latin typeface="Arial"/>
              </a:rPr>
              <a:t>1</a:t>
            </a:r>
          </a:p>
        </p:txBody>
      </p:sp>
      <p:sp>
        <p:nvSpPr>
          <p:cNvPr id="26" name="TextBox 25"/>
          <p:cNvSpPr txBox="1"/>
          <p:nvPr/>
        </p:nvSpPr>
        <p:spPr>
          <a:xfrm>
            <a:off x="5565647"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ngang</a:t>
            </a:r>
          </a:p>
        </p:txBody>
      </p:sp>
      <p:sp>
        <p:nvSpPr>
          <p:cNvPr id="27" name="Oval 26"/>
          <p:cNvSpPr/>
          <p:nvPr/>
        </p:nvSpPr>
        <p:spPr>
          <a:xfrm>
            <a:off x="7142987" y="5449824"/>
            <a:ext cx="164592" cy="164592"/>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696456" y="5669280"/>
            <a:ext cx="1057655" cy="274320"/>
          </a:xfrm>
          <a:prstGeom prst="rect">
            <a:avLst/>
          </a:prstGeom>
          <a:noFill/>
        </p:spPr>
        <p:txBody>
          <a:bodyPr wrap="square" lIns="0" rIns="0" tIns="0" bIns="0" anchor="t">
            <a:spAutoFit/>
          </a:bodyPr>
          <a:lstStyle/>
          <a:p>
            <a:pPr algn="ctr"/>
            <a:r>
              <a:rPr sz="1400" b="1" i="0">
                <a:solidFill>
                  <a:srgbClr val="6C4AB6"/>
                </a:solidFill>
                <a:latin typeface="Arial"/>
              </a:rPr>
              <a:t>trên 1</a:t>
            </a:r>
          </a:p>
        </p:txBody>
      </p:sp>
      <p:sp>
        <p:nvSpPr>
          <p:cNvPr id="29" name="TextBox 28"/>
          <p:cNvSpPr txBox="1"/>
          <p:nvPr/>
        </p:nvSpPr>
        <p:spPr>
          <a:xfrm>
            <a:off x="6696456" y="5943600"/>
            <a:ext cx="1057655" cy="548640"/>
          </a:xfrm>
          <a:prstGeom prst="rect">
            <a:avLst/>
          </a:prstGeom>
          <a:noFill/>
        </p:spPr>
        <p:txBody>
          <a:bodyPr wrap="square" lIns="0" rIns="0" tIns="0" bIns="0" anchor="t">
            <a:spAutoFit/>
          </a:bodyPr>
          <a:lstStyle/>
          <a:p>
            <a:pPr algn="ctr"/>
            <a:r>
              <a:rPr sz="1100" b="0" i="0">
                <a:solidFill>
                  <a:srgbClr val="1B2A41"/>
                </a:solidFill>
                <a:latin typeface="Arial"/>
              </a:rPr>
              <a:t>sai nhiều hơn</a:t>
            </a:r>
          </a:p>
        </p:txBody>
      </p:sp>
      <p:sp>
        <p:nvSpPr>
          <p:cNvPr id="30" name="Rounded Rectangle 29"/>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6C4AB6"/>
                </a:solidFill>
                <a:latin typeface="Arial"/>
              </a:rPr>
              <a:t>Ví dụ</a:t>
            </a:r>
          </a:p>
        </p:txBody>
      </p:sp>
      <p:sp>
        <p:nvSpPr>
          <p:cNvPr id="32" name="TextBox 31"/>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Phần học 9, 11, 10, 12, 13: bước nhảy trung bình 1,5; MAE 1,6 → MASE 1,07. Mẫu số lấy nhầm trên kỳ chấm: naive trên M4 ra 0,972 thay vì 0,835.</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D</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Chia ngẫu nhiên là nhìn trộm tương lai</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6C4AB6"/>
                </a:solidFill>
                <a:latin typeface="Arial"/>
              </a:rPr>
              <a:t>Buổi 15</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random split · K-fold · hold-out · rolling origin</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Nếu bỏ qua:  </a:t>
            </a:r>
            <a:r>
              <a:rPr sz="1600" b="0" i="0">
                <a:solidFill>
                  <a:srgbClr val="1B2A41"/>
                </a:solidFill>
                <a:latin typeface="Arial"/>
              </a:rPr>
              <a:t>sai số kiểm hứa thấp hơn thật, chọn nhầm mô hình giỏi “học thuộc”.</a:t>
            </a:r>
          </a:p>
        </p:txBody>
      </p:sp>
      <p:sp>
        <p:nvSpPr>
          <p:cNvPr id="7" name="TextBox 6"/>
          <p:cNvSpPr txBox="1"/>
          <p:nvPr/>
        </p:nvSpPr>
        <p:spPr>
          <a:xfrm>
            <a:off x="1325880" y="1719072"/>
            <a:ext cx="10332720" cy="411480"/>
          </a:xfrm>
          <a:prstGeom prst="rect">
            <a:avLst/>
          </a:prstGeom>
          <a:noFill/>
        </p:spPr>
        <p:txBody>
          <a:bodyPr wrap="square" lIns="0" rIns="0" tIns="0" bIns="0" anchor="t">
            <a:spAutoFit/>
          </a:bodyPr>
          <a:lstStyle/>
          <a:p>
            <a:pPr algn="l"/>
            <a:r>
              <a:rPr sz="1700" b="0" i="1">
                <a:solidFill>
                  <a:srgbClr val="6C4AB6"/>
                </a:solidFill>
                <a:latin typeface="Arial"/>
              </a:rPr>
              <a:t>“Luôn học trên quá khứ, kiểm trên tương lai.”</a:t>
            </a:r>
          </a:p>
        </p:txBody>
      </p:sp>
      <p:pic>
        <p:nvPicPr>
          <p:cNvPr id="8" name="Picture 7" descr="ba-cach-chia.png"/>
          <p:cNvPicPr>
            <a:picLocks noChangeAspect="1"/>
          </p:cNvPicPr>
          <p:nvPr/>
        </p:nvPicPr>
        <p:blipFill>
          <a:blip r:embed="rId2"/>
          <a:stretch>
            <a:fillRect/>
          </a:stretch>
        </p:blipFill>
        <p:spPr>
          <a:xfrm>
            <a:off x="3486845" y="2450591"/>
            <a:ext cx="5215261" cy="2395728"/>
          </a:xfrm>
          <a:prstGeom prst="rect">
            <a:avLst/>
          </a:prstGeom>
        </p:spPr>
      </p:pic>
      <p:sp>
        <p:nvSpPr>
          <p:cNvPr id="9" name="Rounded Rectangle 8"/>
          <p:cNvSpPr/>
          <p:nvPr/>
        </p:nvSpPr>
        <p:spPr>
          <a:xfrm>
            <a:off x="548640" y="4983480"/>
            <a:ext cx="3575304" cy="1463040"/>
          </a:xfrm>
          <a:prstGeom prst="roundRect">
            <a:avLst>
              <a:gd name="adj" fmla="val 10000"/>
            </a:avLst>
          </a:prstGeom>
          <a:solidFill>
            <a:srgbClr val="FB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120640"/>
            <a:ext cx="3118104" cy="274320"/>
          </a:xfrm>
          <a:prstGeom prst="rect">
            <a:avLst/>
          </a:prstGeom>
          <a:noFill/>
        </p:spPr>
        <p:txBody>
          <a:bodyPr wrap="square" lIns="0" rIns="0" tIns="0" bIns="0" anchor="t">
            <a:spAutoFit/>
          </a:bodyPr>
          <a:lstStyle/>
          <a:p>
            <a:pPr algn="l"/>
            <a:r>
              <a:rPr sz="1300" b="1" i="0">
                <a:solidFill>
                  <a:srgbClr val="C0392B"/>
                </a:solidFill>
                <a:latin typeface="Arial"/>
              </a:rPr>
              <a:t>Dấu hiệu</a:t>
            </a:r>
          </a:p>
        </p:txBody>
      </p:sp>
      <p:sp>
        <p:nvSpPr>
          <p:cNvPr id="11" name="TextBox 10"/>
          <p:cNvSpPr txBox="1"/>
          <p:nvPr/>
        </p:nvSpPr>
        <p:spPr>
          <a:xfrm>
            <a:off x="777240"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Sai số lúc kiểm rất đẹp, chạy thật thì tệ.</a:t>
            </a:r>
          </a:p>
        </p:txBody>
      </p:sp>
      <p:sp>
        <p:nvSpPr>
          <p:cNvPr id="12" name="Rounded Rectangle 11"/>
          <p:cNvSpPr/>
          <p:nvPr/>
        </p:nvSpPr>
        <p:spPr>
          <a:xfrm>
            <a:off x="4306824" y="4983480"/>
            <a:ext cx="3575304" cy="1463040"/>
          </a:xfrm>
          <a:prstGeom prst="roundRect">
            <a:avLst>
              <a:gd name="adj" fmla="val 10000"/>
            </a:avLst>
          </a:prstGeom>
          <a:solidFill>
            <a:srgbClr val="E8F0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5120640"/>
            <a:ext cx="3118104" cy="274320"/>
          </a:xfrm>
          <a:prstGeom prst="rect">
            <a:avLst/>
          </a:prstGeom>
          <a:noFill/>
        </p:spPr>
        <p:txBody>
          <a:bodyPr wrap="square" lIns="0" rIns="0" tIns="0" bIns="0" anchor="t">
            <a:spAutoFit/>
          </a:bodyPr>
          <a:lstStyle/>
          <a:p>
            <a:pPr algn="l"/>
            <a:r>
              <a:rPr sz="1300" b="1" i="0">
                <a:solidFill>
                  <a:srgbClr val="2E6FBF"/>
                </a:solidFill>
                <a:latin typeface="Arial"/>
              </a:rPr>
              <a:t>Kiểm bằng</a:t>
            </a:r>
          </a:p>
        </p:txBody>
      </p:sp>
      <p:sp>
        <p:nvSpPr>
          <p:cNvPr id="14" name="TextBox 13"/>
          <p:cNvSpPr txBox="1"/>
          <p:nvPr/>
        </p:nvSpPr>
        <p:spPr>
          <a:xfrm>
            <a:off x="4535424"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Xem các điểm kiểm có nằm xen giữa các điểm học không.</a:t>
            </a:r>
          </a:p>
        </p:txBody>
      </p:sp>
      <p:sp>
        <p:nvSpPr>
          <p:cNvPr id="15" name="Rounded Rectangle 14"/>
          <p:cNvSpPr/>
          <p:nvPr/>
        </p:nvSpPr>
        <p:spPr>
          <a:xfrm>
            <a:off x="8065008" y="4983480"/>
            <a:ext cx="3575304" cy="1463040"/>
          </a:xfrm>
          <a:prstGeom prst="roundRect">
            <a:avLst>
              <a:gd name="adj" fmla="val 10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5120640"/>
            <a:ext cx="3118104" cy="274320"/>
          </a:xfrm>
          <a:prstGeom prst="rect">
            <a:avLst/>
          </a:prstGeom>
          <a:noFill/>
        </p:spPr>
        <p:txBody>
          <a:bodyPr wrap="square" lIns="0" rIns="0" tIns="0" bIns="0" anchor="t">
            <a:spAutoFit/>
          </a:bodyPr>
          <a:lstStyle/>
          <a:p>
            <a:pPr algn="l"/>
            <a:r>
              <a:rPr sz="1300" b="1" i="0">
                <a:solidFill>
                  <a:srgbClr val="1E8449"/>
                </a:solidFill>
                <a:latin typeface="Arial"/>
              </a:rPr>
              <a:t>Cách sửa</a:t>
            </a:r>
          </a:p>
        </p:txBody>
      </p:sp>
      <p:sp>
        <p:nvSpPr>
          <p:cNvPr id="17" name="TextBox 16"/>
          <p:cNvSpPr txBox="1"/>
          <p:nvPr/>
        </p:nvSpPr>
        <p:spPr>
          <a:xfrm>
            <a:off x="8293608" y="539496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Chia theo thời gian: một đoạn hold-out, hoặc tốt hơn là rolling origin.</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D</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K-fold xáo trộn hứa thấp hơn thật 23%</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6C4AB6"/>
                </a:solidFill>
                <a:latin typeface="Arial"/>
              </a:rPr>
              <a:t>Buổi 15</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K-fold cross-validation · hold-out set</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Chọn cách ước lượng sai số khớp với sai số lúc chạy thật.</a:t>
            </a:r>
          </a:p>
        </p:txBody>
      </p:sp>
      <p:pic>
        <p:nvPicPr>
          <p:cNvPr id="7" name="Picture 6" descr="uoc-luong-sai-so.png"/>
          <p:cNvPicPr>
            <a:picLocks noChangeAspect="1"/>
          </p:cNvPicPr>
          <p:nvPr/>
        </p:nvPicPr>
        <p:blipFill>
          <a:blip r:embed="rId2"/>
          <a:stretch>
            <a:fillRect/>
          </a:stretch>
        </p:blipFill>
        <p:spPr>
          <a:xfrm>
            <a:off x="2240243" y="2066543"/>
            <a:ext cx="7708465" cy="2871216"/>
          </a:xfrm>
          <a:prstGeom prst="rect">
            <a:avLst/>
          </a:prstGeom>
        </p:spPr>
      </p:pic>
      <p:sp>
        <p:nvSpPr>
          <p:cNvPr id="8" name="Rounded Rectangle 7"/>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6C4AB6"/>
                </a:solidFill>
                <a:latin typeface="Arial"/>
              </a:rPr>
              <a:t>Là gì</a:t>
            </a:r>
          </a:p>
        </p:txBody>
      </p:sp>
      <p:sp>
        <p:nvSpPr>
          <p:cNvPr id="10" name="TextBox 9"/>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Hold-out là một đoạn tương lai giữ riêng, chỉ chấm một lần. K-fold xáo trộn chia dữ liệu ngẫu nhiên thành K phần.</a:t>
            </a:r>
          </a:p>
        </p:txBody>
      </p:sp>
      <p:sp>
        <p:nvSpPr>
          <p:cNvPr id="11" name="Rounded Rectangle 10"/>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6C4AB6"/>
                </a:solidFill>
                <a:latin typeface="Arial"/>
              </a:rPr>
              <a:t>Nhận ra thế nào</a:t>
            </a:r>
          </a:p>
        </p:txBody>
      </p:sp>
      <p:sp>
        <p:nvSpPr>
          <p:cNvPr id="13" name="TextBox 12"/>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Càng sát hold-out càng đáng tin. K-fold chỉ tạm dùng được khi mô hình chỉ dùng lag và phần dư không còn tự tương quan.</a:t>
            </a:r>
          </a:p>
        </p:txBody>
      </p:sp>
      <p:sp>
        <p:nvSpPr>
          <p:cNvPr id="14" name="Rounded Rectangle 13"/>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6C4AB6"/>
                </a:solidFill>
                <a:latin typeface="Arial"/>
              </a:rPr>
              <a:t>Ví dụ</a:t>
            </a:r>
          </a:p>
        </p:txBody>
      </p:sp>
      <p:sp>
        <p:nvSpPr>
          <p:cNvPr id="16" name="TextBox 15"/>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Rừng ngẫu nhiên trên tải điện: K-fold lệch 23% so với hold-out, rolling origin chỉ lệch 9%.</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D</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Rolling origin: backtest như chạy thật</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6C4AB6"/>
                </a:solidFill>
                <a:latin typeface="Arial"/>
              </a:rPr>
              <a:t>Buổi 15</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rolling origin · cutoff · expanding / sliding window · gap</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6C4AB6"/>
                </a:solidFill>
                <a:latin typeface="Arial"/>
              </a:rPr>
              <a:t>Vấn đề:  </a:t>
            </a:r>
            <a:r>
              <a:rPr sz="1600" b="0" i="0">
                <a:solidFill>
                  <a:srgbClr val="1B2A41"/>
                </a:solidFill>
                <a:latin typeface="Arial"/>
              </a:rPr>
              <a:t>Cắt một lần thì có thể chỉ là may. Làm sao kiểm nhiều lần mà lần nào cũng chỉ học quá khứ?</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Đo sai số ở nhiều thời điểm như lúc chạy thật, thay vì tin vào một lần may rủi.</a:t>
            </a:r>
          </a:p>
        </p:txBody>
      </p:sp>
      <p:sp>
        <p:nvSpPr>
          <p:cNvPr id="8" name="Rounded Rectangle 7"/>
          <p:cNvSpPr/>
          <p:nvPr/>
        </p:nvSpPr>
        <p:spPr>
          <a:xfrm>
            <a:off x="548640" y="2432303"/>
            <a:ext cx="11091672"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432303"/>
            <a:ext cx="1097280" cy="658368"/>
          </a:xfrm>
          <a:prstGeom prst="rect">
            <a:avLst/>
          </a:prstGeom>
          <a:noFill/>
        </p:spPr>
        <p:txBody>
          <a:bodyPr wrap="square" lIns="0" rIns="0" tIns="0" bIns="0" anchor="ctr">
            <a:spAutoFit/>
          </a:bodyPr>
          <a:lstStyle/>
          <a:p>
            <a:pPr algn="l"/>
            <a:r>
              <a:rPr sz="1200" b="1" i="0">
                <a:solidFill>
                  <a:srgbClr val="6C4AB6"/>
                </a:solidFill>
                <a:latin typeface="Arial"/>
              </a:rPr>
              <a:t>Công thức</a:t>
            </a:r>
          </a:p>
        </p:txBody>
      </p:sp>
      <p:pic>
        <p:nvPicPr>
          <p:cNvPr id="10" name="Picture 9" descr="4760a8f03a3e.png"/>
          <p:cNvPicPr>
            <a:picLocks noChangeAspect="1"/>
          </p:cNvPicPr>
          <p:nvPr/>
        </p:nvPicPr>
        <p:blipFill>
          <a:blip r:embed="rId2"/>
          <a:stretch>
            <a:fillRect/>
          </a:stretch>
        </p:blipFill>
        <p:spPr>
          <a:xfrm>
            <a:off x="1783080" y="2628899"/>
            <a:ext cx="6501384" cy="265176"/>
          </a:xfrm>
          <a:prstGeom prst="rect">
            <a:avLst/>
          </a:prstGeom>
        </p:spPr>
      </p:pic>
      <p:sp>
        <p:nvSpPr>
          <p:cNvPr id="11" name="TextBox 10"/>
          <p:cNvSpPr txBox="1"/>
          <p:nvPr/>
        </p:nvSpPr>
        <p:spPr>
          <a:xfrm>
            <a:off x="8467344" y="2432303"/>
            <a:ext cx="3035808" cy="658368"/>
          </a:xfrm>
          <a:prstGeom prst="rect">
            <a:avLst/>
          </a:prstGeom>
          <a:noFill/>
        </p:spPr>
        <p:txBody>
          <a:bodyPr wrap="square" lIns="0" rIns="0" tIns="0" bIns="0" anchor="ctr">
            <a:spAutoFit/>
          </a:bodyPr>
          <a:lstStyle/>
          <a:p>
            <a:pPr algn="l"/>
            <a:r>
              <a:rPr sz="1150" b="0" i="0">
                <a:solidFill>
                  <a:srgbClr val="1B2A41"/>
                </a:solidFill>
                <a:latin typeface="Arial"/>
              </a:rPr>
              <a:t>30 mốc, h = 4, gap = 2: 30 − 1 − 2 − 4 = 23.</a:t>
            </a:r>
          </a:p>
        </p:txBody>
      </p:sp>
      <p:pic>
        <p:nvPicPr>
          <p:cNvPr id="12" name="Picture 11" descr="sai-so-cua-so-va-h.png"/>
          <p:cNvPicPr>
            <a:picLocks noChangeAspect="1"/>
          </p:cNvPicPr>
          <p:nvPr/>
        </p:nvPicPr>
        <p:blipFill>
          <a:blip r:embed="rId3"/>
          <a:stretch>
            <a:fillRect/>
          </a:stretch>
        </p:blipFill>
        <p:spPr>
          <a:xfrm>
            <a:off x="3357337" y="3182112"/>
            <a:ext cx="5474277" cy="1755648"/>
          </a:xfrm>
          <a:prstGeom prst="rect">
            <a:avLst/>
          </a:prstGeom>
        </p:spPr>
      </p:pic>
      <p:sp>
        <p:nvSpPr>
          <p:cNvPr id="13" name="Rounded Rectangle 12"/>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6C4AB6"/>
                </a:solidFill>
                <a:latin typeface="Arial"/>
              </a:rPr>
              <a:t>Là gì</a:t>
            </a:r>
          </a:p>
        </p:txBody>
      </p:sp>
      <p:sp>
        <p:nvSpPr>
          <p:cNvPr id="15" name="TextBox 14"/>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Đặt nhiều cutoff; ở mỗi cutoff học trên quá khứ rồi dự báo đoạn ngay sau. Refit là học lại mỗi cửa sổ; gap là độ trễ dữ liệu.</a:t>
            </a:r>
          </a:p>
        </p:txBody>
      </p:sp>
      <p:sp>
        <p:nvSpPr>
          <p:cNvPr id="16" name="Rounded Rectangle 15"/>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6C4AB6"/>
                </a:solidFill>
                <a:latin typeface="Arial"/>
              </a:rPr>
              <a:t>Nhận ra thế nào</a:t>
            </a:r>
          </a:p>
        </p:txBody>
      </p:sp>
      <p:sp>
        <p:nvSpPr>
          <p:cNvPr id="18" name="TextBox 17"/>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Sai số từng cửa sổ dao động mạnh thì phải báo cả phân bố, không chỉ trung bình. Sai số tăng theo h thì nhìn đúng tầm cần dùng.</a:t>
            </a:r>
          </a:p>
        </p:txBody>
      </p:sp>
      <p:sp>
        <p:nvSpPr>
          <p:cNvPr id="19" name="Rounded Rectangle 18"/>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6C4AB6"/>
                </a:solidFill>
                <a:latin typeface="Arial"/>
              </a:rPr>
              <a:t>Ví dụ</a:t>
            </a:r>
          </a:p>
        </p:txBody>
      </p:sp>
      <p:sp>
        <p:nvSpPr>
          <p:cNvPr id="21" name="TextBox 20"/>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30 mốc, h = 4, gap = 2: cutoff cuối = 30 − 1 − 2 − 4 = 23, lùi đều 4 bước được 19 và 15.</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D</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Cửa sổ học: expanding, sliding, gap</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6C4AB6"/>
                </a:solidFill>
                <a:latin typeface="Arial"/>
              </a:rPr>
              <a:t>Buổi 15</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expanding window · sliding window · gap · refit</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Dựng backtest giống hệt lúc chạy thật: học đoạn nào, dữ liệu về trễ bao lâu, học lại khi nào.</a:t>
            </a:r>
          </a:p>
        </p:txBody>
      </p:sp>
      <p:pic>
        <p:nvPicPr>
          <p:cNvPr id="7" name="Picture 6" descr="kn-backtest.png"/>
          <p:cNvPicPr>
            <a:picLocks noChangeAspect="1"/>
          </p:cNvPicPr>
          <p:nvPr/>
        </p:nvPicPr>
        <p:blipFill>
          <a:blip r:embed="rId2"/>
          <a:stretch>
            <a:fillRect/>
          </a:stretch>
        </p:blipFill>
        <p:spPr>
          <a:xfrm>
            <a:off x="548640" y="2825250"/>
            <a:ext cx="6309360" cy="2908283"/>
          </a:xfrm>
          <a:prstGeom prst="rect">
            <a:avLst/>
          </a:prstGeom>
        </p:spPr>
      </p:pic>
      <p:sp>
        <p:nvSpPr>
          <p:cNvPr id="8" name="TextBox 7"/>
          <p:cNvSpPr txBox="1"/>
          <p:nvPr/>
        </p:nvSpPr>
        <p:spPr>
          <a:xfrm>
            <a:off x="7223760" y="2066543"/>
            <a:ext cx="4416552" cy="274320"/>
          </a:xfrm>
          <a:prstGeom prst="rect">
            <a:avLst/>
          </a:prstGeom>
          <a:noFill/>
        </p:spPr>
        <p:txBody>
          <a:bodyPr wrap="square" lIns="0" rIns="0" tIns="0" bIns="0" anchor="t">
            <a:spAutoFit/>
          </a:bodyPr>
          <a:lstStyle/>
          <a:p>
            <a:pPr algn="l"/>
            <a:r>
              <a:rPr sz="1400" b="1" i="0">
                <a:solidFill>
                  <a:srgbClr val="6C4AB6"/>
                </a:solidFill>
                <a:latin typeface="Arial"/>
              </a:rPr>
              <a:t>Là gì</a:t>
            </a:r>
          </a:p>
        </p:txBody>
      </p:sp>
      <p:sp>
        <p:nvSpPr>
          <p:cNvPr id="9" name="TextBox 8"/>
          <p:cNvSpPr txBox="1"/>
          <p:nvPr/>
        </p:nvSpPr>
        <p:spPr>
          <a:xfrm>
            <a:off x="7223760" y="2386584"/>
            <a:ext cx="4416552" cy="1127760"/>
          </a:xfrm>
          <a:prstGeom prst="rect">
            <a:avLst/>
          </a:prstGeom>
          <a:noFill/>
        </p:spPr>
        <p:txBody>
          <a:bodyPr wrap="square" lIns="0" rIns="0" tIns="0" bIns="0" anchor="t">
            <a:spAutoFit/>
          </a:bodyPr>
          <a:lstStyle/>
          <a:p>
            <a:pPr algn="l"/>
            <a:r>
              <a:rPr sz="1500" b="0" i="0">
                <a:solidFill>
                  <a:srgbClr val="1B2A41"/>
                </a:solidFill>
                <a:latin typeface="Arial"/>
              </a:rPr>
              <a:t>Expanding: mỗi cutoff học trên toàn bộ quá khứ. Sliding: chỉ học L bước gần nhất. Gap: số bước bỏ trống giữa cutoff và đoạn dự báo. Refit: học lại mô hình ở mỗi cửa sổ.</a:t>
            </a:r>
          </a:p>
        </p:txBody>
      </p:sp>
      <p:sp>
        <p:nvSpPr>
          <p:cNvPr id="10" name="TextBox 9"/>
          <p:cNvSpPr txBox="1"/>
          <p:nvPr/>
        </p:nvSpPr>
        <p:spPr>
          <a:xfrm>
            <a:off x="7223760" y="3541775"/>
            <a:ext cx="4416552" cy="274320"/>
          </a:xfrm>
          <a:prstGeom prst="rect">
            <a:avLst/>
          </a:prstGeom>
          <a:noFill/>
        </p:spPr>
        <p:txBody>
          <a:bodyPr wrap="square" lIns="0" rIns="0" tIns="0" bIns="0" anchor="t">
            <a:spAutoFit/>
          </a:bodyPr>
          <a:lstStyle/>
          <a:p>
            <a:pPr algn="l"/>
            <a:r>
              <a:rPr sz="1400" b="1" i="0">
                <a:solidFill>
                  <a:srgbClr val="6C4AB6"/>
                </a:solidFill>
                <a:latin typeface="Arial"/>
              </a:rPr>
              <a:t>Chọn thế nào</a:t>
            </a:r>
          </a:p>
        </p:txBody>
      </p:sp>
      <p:sp>
        <p:nvSpPr>
          <p:cNvPr id="11" name="TextBox 10"/>
          <p:cNvSpPr txBox="1"/>
          <p:nvPr/>
        </p:nvSpPr>
        <p:spPr>
          <a:xfrm>
            <a:off x="7223760" y="3861815"/>
            <a:ext cx="4416552" cy="1127760"/>
          </a:xfrm>
          <a:prstGeom prst="rect">
            <a:avLst/>
          </a:prstGeom>
          <a:noFill/>
        </p:spPr>
        <p:txBody>
          <a:bodyPr wrap="square" lIns="0" rIns="0" tIns="0" bIns="0" anchor="t">
            <a:spAutoFit/>
          </a:bodyPr>
          <a:lstStyle/>
          <a:p>
            <a:pPr algn="l"/>
            <a:r>
              <a:rPr sz="1500" b="0" i="0">
                <a:solidFill>
                  <a:srgbClr val="1B2A41"/>
                </a:solidFill>
                <a:latin typeface="Arial"/>
              </a:rPr>
              <a:t>Quá khứ xa vẫn giống hiện tại thì expanding; quá khứ xa đã khác thì sliding. Gap bằng đúng độ trễ công bố dữ liệu. Mô hình nặng thì refit mỗi vài cửa sổ.</a:t>
            </a:r>
          </a:p>
        </p:txBody>
      </p:sp>
      <p:sp>
        <p:nvSpPr>
          <p:cNvPr id="12" name="TextBox 11"/>
          <p:cNvSpPr txBox="1"/>
          <p:nvPr/>
        </p:nvSpPr>
        <p:spPr>
          <a:xfrm>
            <a:off x="7223760" y="5017008"/>
            <a:ext cx="4416552" cy="274320"/>
          </a:xfrm>
          <a:prstGeom prst="rect">
            <a:avLst/>
          </a:prstGeom>
          <a:noFill/>
        </p:spPr>
        <p:txBody>
          <a:bodyPr wrap="square" lIns="0" rIns="0" tIns="0" bIns="0" anchor="t">
            <a:spAutoFit/>
          </a:bodyPr>
          <a:lstStyle/>
          <a:p>
            <a:pPr algn="l"/>
            <a:r>
              <a:rPr sz="1400" b="1" i="0">
                <a:solidFill>
                  <a:srgbClr val="6C4AB6"/>
                </a:solidFill>
                <a:latin typeface="Arial"/>
              </a:rPr>
              <a:t>Ví dụ</a:t>
            </a:r>
          </a:p>
        </p:txBody>
      </p:sp>
      <p:sp>
        <p:nvSpPr>
          <p:cNvPr id="13" name="TextBox 12"/>
          <p:cNvSpPr txBox="1"/>
          <p:nvPr/>
        </p:nvSpPr>
        <p:spPr>
          <a:xfrm>
            <a:off x="7223760" y="5337047"/>
            <a:ext cx="4416552" cy="1127760"/>
          </a:xfrm>
          <a:prstGeom prst="rect">
            <a:avLst/>
          </a:prstGeom>
          <a:noFill/>
        </p:spPr>
        <p:txBody>
          <a:bodyPr wrap="square" lIns="0" rIns="0" tIns="0" bIns="0" anchor="t">
            <a:spAutoFit/>
          </a:bodyPr>
          <a:lstStyle/>
          <a:p>
            <a:pPr algn="l"/>
            <a:r>
              <a:rPr sz="1500" b="0" i="0">
                <a:solidFill>
                  <a:srgbClr val="1B2A41"/>
                </a:solidFill>
                <a:latin typeface="Arial"/>
              </a:rPr>
              <a:t>Số liệu điện về trễ 1 ngày thì gap = 24 giờ. Sliding L = 90 ngày: mỗi cutoff chỉ học 90 ngày gần nhất.</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D</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Luyện, thi thử, thi thật: ba đoạn riêng</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6C4AB6"/>
                </a:solidFill>
                <a:latin typeface="Arial"/>
              </a:rPr>
              <a:t>Buổi 15</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train / validation / test · hold-out</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6C4AB6"/>
                </a:solidFill>
                <a:latin typeface="Arial"/>
              </a:rPr>
              <a:t>Vấn đề:  </a:t>
            </a:r>
            <a:r>
              <a:rPr sz="1600" b="0" i="0">
                <a:solidFill>
                  <a:srgbClr val="1B2A41"/>
                </a:solidFill>
                <a:latin typeface="Arial"/>
              </a:rPr>
              <a:t>Chọn cấu hình tốt nhất trên một đoạn, rồi báo sai số cũng trên đoạn đó. Tin được không?</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Con số báo cáo phản ánh đúng sai số tương lai, không bị làm đẹp vì đã dùng nó để chọn.</a:t>
            </a:r>
          </a:p>
        </p:txBody>
      </p:sp>
      <p:pic>
        <p:nvPicPr>
          <p:cNvPr id="8" name="Picture 7" descr="chon-bao-cao.png"/>
          <p:cNvPicPr>
            <a:picLocks noChangeAspect="1"/>
          </p:cNvPicPr>
          <p:nvPr/>
        </p:nvPicPr>
        <p:blipFill>
          <a:blip r:embed="rId2"/>
          <a:stretch>
            <a:fillRect/>
          </a:stretch>
        </p:blipFill>
        <p:spPr>
          <a:xfrm>
            <a:off x="2728102" y="2432303"/>
            <a:ext cx="6732746" cy="2505456"/>
          </a:xfrm>
          <a:prstGeom prst="rect">
            <a:avLst/>
          </a:prstGeom>
        </p:spPr>
      </p:pic>
      <p:sp>
        <p:nvSpPr>
          <p:cNvPr id="9" name="Rounded Rectangle 8"/>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6C4AB6"/>
                </a:solidFill>
                <a:latin typeface="Arial"/>
              </a:rPr>
              <a:t>Là gì</a:t>
            </a:r>
          </a:p>
        </p:txBody>
      </p:sp>
      <p:sp>
        <p:nvSpPr>
          <p:cNvPr id="11" name="TextBox 10"/>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Đoạn luyện để tune tham số, đoạn thi thử để chọn mô hình, đoạn thi thật để báo cáo và chỉ mở một lần.</a:t>
            </a:r>
          </a:p>
        </p:txBody>
      </p:sp>
      <p:sp>
        <p:nvSpPr>
          <p:cNvPr id="12" name="Rounded Rectangle 11"/>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6C4AB6"/>
                </a:solidFill>
                <a:latin typeface="Arial"/>
              </a:rPr>
              <a:t>Nhận ra thế nào</a:t>
            </a:r>
          </a:p>
        </p:txBody>
      </p:sp>
      <p:sp>
        <p:nvSpPr>
          <p:cNvPr id="14" name="TextBox 13"/>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Chọn và báo cáo trên cùng một đoạn thì con số báo cáo luôn lạc quan hơn thật.</a:t>
            </a:r>
          </a:p>
        </p:txBody>
      </p:sp>
      <p:sp>
        <p:nvSpPr>
          <p:cNvPr id="15" name="Rounded Rectangle 14"/>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6C4AB6"/>
                </a:solidFill>
                <a:latin typeface="Arial"/>
              </a:rPr>
              <a:t>Ví dụ</a:t>
            </a:r>
          </a:p>
        </p:txBody>
      </p:sp>
      <p:sp>
        <p:nvSpPr>
          <p:cNvPr id="17" name="TextBox 16"/>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Chọn và báo cáo trên cùng một đoạn làm MASE trông tốt hơn thật 25%.</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D</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Diebold–Mariano: chênh lệch có thật hay may rủi</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6C4AB6"/>
                </a:solidFill>
                <a:latin typeface="Arial"/>
              </a:rPr>
              <a:t>Buổi 15</a:t>
            </a:r>
          </a:p>
        </p:txBody>
      </p:sp>
      <p:sp>
        <p:nvSpPr>
          <p:cNvPr id="5" name="TextBox 4"/>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Diebold–Mariano test · loss differential · HLN correction</a:t>
            </a:r>
          </a:p>
        </p:txBody>
      </p:sp>
      <p:sp>
        <p:nvSpPr>
          <p:cNvPr id="6" name="TextBox 5"/>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6C4AB6"/>
                </a:solidFill>
                <a:latin typeface="Arial"/>
              </a:rPr>
              <a:t>Vấn đề:  </a:t>
            </a:r>
            <a:r>
              <a:rPr sz="1600" b="0" i="0">
                <a:solidFill>
                  <a:srgbClr val="1B2A41"/>
                </a:solidFill>
                <a:latin typeface="Arial"/>
              </a:rPr>
              <a:t>Mô hình “trộn” có MAE thấp hơn seasonal naive 4,3% trên 92 ngày. Chênh thật, hay may?</a:t>
            </a:r>
          </a:p>
        </p:txBody>
      </p:sp>
      <p:sp>
        <p:nvSpPr>
          <p:cNvPr id="7" name="TextBox 6"/>
          <p:cNvSpPr txBox="1"/>
          <p:nvPr/>
        </p:nvSpPr>
        <p:spPr>
          <a:xfrm>
            <a:off x="1325880" y="171907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Biết hai mô hình chênh nhau thật, hay chỉ do may rủi.</a:t>
            </a:r>
          </a:p>
        </p:txBody>
      </p:sp>
      <p:sp>
        <p:nvSpPr>
          <p:cNvPr id="8" name="Rounded Rectangle 7"/>
          <p:cNvSpPr/>
          <p:nvPr/>
        </p:nvSpPr>
        <p:spPr>
          <a:xfrm>
            <a:off x="548640" y="2432303"/>
            <a:ext cx="11091672" cy="65836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2432303"/>
            <a:ext cx="1097280" cy="658368"/>
          </a:xfrm>
          <a:prstGeom prst="rect">
            <a:avLst/>
          </a:prstGeom>
          <a:noFill/>
        </p:spPr>
        <p:txBody>
          <a:bodyPr wrap="square" lIns="0" rIns="0" tIns="0" bIns="0" anchor="ctr">
            <a:spAutoFit/>
          </a:bodyPr>
          <a:lstStyle/>
          <a:p>
            <a:pPr algn="l"/>
            <a:r>
              <a:rPr sz="1200" b="1" i="0">
                <a:solidFill>
                  <a:srgbClr val="6C4AB6"/>
                </a:solidFill>
                <a:latin typeface="Arial"/>
              </a:rPr>
              <a:t>Công thức</a:t>
            </a:r>
          </a:p>
        </p:txBody>
      </p:sp>
      <p:pic>
        <p:nvPicPr>
          <p:cNvPr id="10" name="Picture 9" descr="0684ff36c9ca.png"/>
          <p:cNvPicPr>
            <a:picLocks noChangeAspect="1"/>
          </p:cNvPicPr>
          <p:nvPr/>
        </p:nvPicPr>
        <p:blipFill>
          <a:blip r:embed="rId2"/>
          <a:stretch>
            <a:fillRect/>
          </a:stretch>
        </p:blipFill>
        <p:spPr>
          <a:xfrm>
            <a:off x="1783080" y="2502407"/>
            <a:ext cx="4379976" cy="518160"/>
          </a:xfrm>
          <a:prstGeom prst="rect">
            <a:avLst/>
          </a:prstGeom>
        </p:spPr>
      </p:pic>
      <p:sp>
        <p:nvSpPr>
          <p:cNvPr id="11" name="TextBox 10"/>
          <p:cNvSpPr txBox="1"/>
          <p:nvPr/>
        </p:nvSpPr>
        <p:spPr>
          <a:xfrm>
            <a:off x="6345936" y="2432303"/>
            <a:ext cx="5157216" cy="658368"/>
          </a:xfrm>
          <a:prstGeom prst="rect">
            <a:avLst/>
          </a:prstGeom>
          <a:noFill/>
        </p:spPr>
        <p:txBody>
          <a:bodyPr wrap="square" lIns="0" rIns="0" tIns="0" bIns="0" anchor="ctr">
            <a:spAutoFit/>
          </a:bodyPr>
          <a:lstStyle/>
          <a:p>
            <a:pPr algn="l"/>
            <a:r>
              <a:rPr sz="1150" b="0" i="0">
                <a:solidFill>
                  <a:srgbClr val="1B2A41"/>
                </a:solidFill>
                <a:latin typeface="Arial"/>
              </a:rPr>
              <a:t>V̂ tính cả tự tương quan của d. Dự báo h bước: nhân hệ số hiệu chỉnh HLN.</a:t>
            </a:r>
          </a:p>
        </p:txBody>
      </p:sp>
      <p:pic>
        <p:nvPicPr>
          <p:cNvPr id="12" name="Picture 11" descr="dm-tu-tuong-quan.png"/>
          <p:cNvPicPr>
            <a:picLocks noChangeAspect="1"/>
          </p:cNvPicPr>
          <p:nvPr/>
        </p:nvPicPr>
        <p:blipFill>
          <a:blip r:embed="rId3"/>
          <a:stretch>
            <a:fillRect/>
          </a:stretch>
        </p:blipFill>
        <p:spPr>
          <a:xfrm>
            <a:off x="3181453" y="3182112"/>
            <a:ext cx="5826044" cy="1755648"/>
          </a:xfrm>
          <a:prstGeom prst="rect">
            <a:avLst/>
          </a:prstGeom>
        </p:spPr>
      </p:pic>
      <p:sp>
        <p:nvSpPr>
          <p:cNvPr id="13" name="Rounded Rectangle 12"/>
          <p:cNvSpPr/>
          <p:nvPr/>
        </p:nvSpPr>
        <p:spPr>
          <a:xfrm>
            <a:off x="548640"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5166360"/>
            <a:ext cx="3118104" cy="274320"/>
          </a:xfrm>
          <a:prstGeom prst="rect">
            <a:avLst/>
          </a:prstGeom>
          <a:noFill/>
        </p:spPr>
        <p:txBody>
          <a:bodyPr wrap="square" lIns="0" rIns="0" tIns="0" bIns="0" anchor="t">
            <a:spAutoFit/>
          </a:bodyPr>
          <a:lstStyle/>
          <a:p>
            <a:pPr algn="l"/>
            <a:r>
              <a:rPr sz="1300" b="1" i="0">
                <a:solidFill>
                  <a:srgbClr val="6C4AB6"/>
                </a:solidFill>
                <a:latin typeface="Arial"/>
              </a:rPr>
              <a:t>Là gì</a:t>
            </a:r>
          </a:p>
        </p:txBody>
      </p:sp>
      <p:sp>
        <p:nvSpPr>
          <p:cNvPr id="15" name="TextBox 14"/>
          <p:cNvSpPr txBox="1"/>
          <p:nvPr/>
        </p:nvSpPr>
        <p:spPr>
          <a:xfrm>
            <a:off x="777240"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Diebold–Mariano lấy chênh lệch sai số trung bình của hai mô hình, chia cho sai số chuẩn của chính chênh lệch đó.</a:t>
            </a:r>
          </a:p>
        </p:txBody>
      </p:sp>
      <p:sp>
        <p:nvSpPr>
          <p:cNvPr id="16" name="Rounded Rectangle 15"/>
          <p:cNvSpPr/>
          <p:nvPr/>
        </p:nvSpPr>
        <p:spPr>
          <a:xfrm>
            <a:off x="4306824"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5424" y="5166360"/>
            <a:ext cx="3118104" cy="274320"/>
          </a:xfrm>
          <a:prstGeom prst="rect">
            <a:avLst/>
          </a:prstGeom>
          <a:noFill/>
        </p:spPr>
        <p:txBody>
          <a:bodyPr wrap="square" lIns="0" rIns="0" tIns="0" bIns="0" anchor="t">
            <a:spAutoFit/>
          </a:bodyPr>
          <a:lstStyle/>
          <a:p>
            <a:pPr algn="l"/>
            <a:r>
              <a:rPr sz="1300" b="1" i="0">
                <a:solidFill>
                  <a:srgbClr val="6C4AB6"/>
                </a:solidFill>
                <a:latin typeface="Arial"/>
              </a:rPr>
              <a:t>p lớn hay nhỏ nghĩa là gì</a:t>
            </a:r>
          </a:p>
        </p:txBody>
      </p:sp>
      <p:sp>
        <p:nvSpPr>
          <p:cNvPr id="18" name="TextBox 17"/>
          <p:cNvSpPr txBox="1"/>
          <p:nvPr/>
        </p:nvSpPr>
        <p:spPr>
          <a:xfrm>
            <a:off x="4535424" y="5440680"/>
            <a:ext cx="3118104" cy="1005840"/>
          </a:xfrm>
          <a:prstGeom prst="rect">
            <a:avLst/>
          </a:prstGeom>
          <a:noFill/>
        </p:spPr>
        <p:txBody>
          <a:bodyPr wrap="square" lIns="0" rIns="0" tIns="0" bIns="0" anchor="t">
            <a:spAutoFit/>
          </a:bodyPr>
          <a:lstStyle/>
          <a:p>
            <a:pPr algn="l">
              <a:spcAft>
                <a:spcPts val="300"/>
              </a:spcAft>
            </a:pPr>
            <a:r>
              <a:rPr sz="1600" b="0" i="0">
                <a:solidFill>
                  <a:srgbClr val="1B2A41"/>
                </a:solidFill>
                <a:latin typeface="Arial"/>
              </a:rPr>
              <a:t/>
            </a:r>
          </a:p>
        </p:txBody>
      </p:sp>
      <p:cxnSp>
        <p:nvCxnSpPr>
          <p:cNvPr id="19" name="Connector 18"/>
          <p:cNvCxnSpPr/>
          <p:nvPr/>
        </p:nvCxnSpPr>
        <p:spPr>
          <a:xfrm>
            <a:off x="5246370" y="5532120"/>
            <a:ext cx="1696211"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20" name="Oval 19"/>
          <p:cNvSpPr/>
          <p:nvPr/>
        </p:nvSpPr>
        <p:spPr>
          <a:xfrm>
            <a:off x="5164074" y="5449824"/>
            <a:ext cx="164592" cy="164592"/>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434840" y="5669280"/>
            <a:ext cx="1623060" cy="274320"/>
          </a:xfrm>
          <a:prstGeom prst="rect">
            <a:avLst/>
          </a:prstGeom>
          <a:noFill/>
        </p:spPr>
        <p:txBody>
          <a:bodyPr wrap="square" lIns="0" rIns="0" tIns="0" bIns="0" anchor="t">
            <a:spAutoFit/>
          </a:bodyPr>
          <a:lstStyle/>
          <a:p>
            <a:pPr algn="ctr"/>
            <a:r>
              <a:rPr sz="1400" b="1" i="0">
                <a:solidFill>
                  <a:srgbClr val="6C4AB6"/>
                </a:solidFill>
                <a:latin typeface="Arial"/>
              </a:rPr>
              <a:t>p &lt; 0,05</a:t>
            </a:r>
          </a:p>
        </p:txBody>
      </p:sp>
      <p:sp>
        <p:nvSpPr>
          <p:cNvPr id="22" name="TextBox 21"/>
          <p:cNvSpPr txBox="1"/>
          <p:nvPr/>
        </p:nvSpPr>
        <p:spPr>
          <a:xfrm>
            <a:off x="4434840" y="5943600"/>
            <a:ext cx="1623060" cy="548640"/>
          </a:xfrm>
          <a:prstGeom prst="rect">
            <a:avLst/>
          </a:prstGeom>
          <a:noFill/>
        </p:spPr>
        <p:txBody>
          <a:bodyPr wrap="square" lIns="0" rIns="0" tIns="0" bIns="0" anchor="t">
            <a:spAutoFit/>
          </a:bodyPr>
          <a:lstStyle/>
          <a:p>
            <a:pPr algn="ctr"/>
            <a:r>
              <a:rPr sz="1100" b="0" i="0">
                <a:solidFill>
                  <a:srgbClr val="1B2A41"/>
                </a:solidFill>
                <a:latin typeface="Arial"/>
              </a:rPr>
              <a:t>chênh lệch có thật</a:t>
            </a:r>
          </a:p>
        </p:txBody>
      </p:sp>
      <p:sp>
        <p:nvSpPr>
          <p:cNvPr id="23" name="Oval 22"/>
          <p:cNvSpPr/>
          <p:nvPr/>
        </p:nvSpPr>
        <p:spPr>
          <a:xfrm>
            <a:off x="6860286" y="5449824"/>
            <a:ext cx="164592" cy="164592"/>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131051" y="5669280"/>
            <a:ext cx="1623060" cy="274320"/>
          </a:xfrm>
          <a:prstGeom prst="rect">
            <a:avLst/>
          </a:prstGeom>
          <a:noFill/>
        </p:spPr>
        <p:txBody>
          <a:bodyPr wrap="square" lIns="0" rIns="0" tIns="0" bIns="0" anchor="t">
            <a:spAutoFit/>
          </a:bodyPr>
          <a:lstStyle/>
          <a:p>
            <a:pPr algn="ctr"/>
            <a:r>
              <a:rPr sz="1400" b="1" i="0">
                <a:solidFill>
                  <a:srgbClr val="6C4AB6"/>
                </a:solidFill>
                <a:latin typeface="Arial"/>
              </a:rPr>
              <a:t>p ≥ 0,05</a:t>
            </a:r>
          </a:p>
        </p:txBody>
      </p:sp>
      <p:sp>
        <p:nvSpPr>
          <p:cNvPr id="25" name="TextBox 24"/>
          <p:cNvSpPr txBox="1"/>
          <p:nvPr/>
        </p:nvSpPr>
        <p:spPr>
          <a:xfrm>
            <a:off x="6131051" y="5943600"/>
            <a:ext cx="1623060" cy="548640"/>
          </a:xfrm>
          <a:prstGeom prst="rect">
            <a:avLst/>
          </a:prstGeom>
          <a:noFill/>
        </p:spPr>
        <p:txBody>
          <a:bodyPr wrap="square" lIns="0" rIns="0" tIns="0" bIns="0" anchor="t">
            <a:spAutoFit/>
          </a:bodyPr>
          <a:lstStyle/>
          <a:p>
            <a:pPr algn="ctr"/>
            <a:r>
              <a:rPr sz="1100" b="0" i="0">
                <a:solidFill>
                  <a:srgbClr val="1B2A41"/>
                </a:solidFill>
                <a:latin typeface="Arial"/>
              </a:rPr>
              <a:t>chưa có bằng chứng mô hình nào hơn</a:t>
            </a:r>
          </a:p>
        </p:txBody>
      </p:sp>
      <p:sp>
        <p:nvSpPr>
          <p:cNvPr id="26" name="Rounded Rectangle 25"/>
          <p:cNvSpPr/>
          <p:nvPr/>
        </p:nvSpPr>
        <p:spPr>
          <a:xfrm>
            <a:off x="8065008" y="5029200"/>
            <a:ext cx="3575304" cy="146304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93608" y="5166360"/>
            <a:ext cx="3118104" cy="274320"/>
          </a:xfrm>
          <a:prstGeom prst="rect">
            <a:avLst/>
          </a:prstGeom>
          <a:noFill/>
        </p:spPr>
        <p:txBody>
          <a:bodyPr wrap="square" lIns="0" rIns="0" tIns="0" bIns="0" anchor="t">
            <a:spAutoFit/>
          </a:bodyPr>
          <a:lstStyle/>
          <a:p>
            <a:pPr algn="l"/>
            <a:r>
              <a:rPr sz="1300" b="1" i="0">
                <a:solidFill>
                  <a:srgbClr val="6C4AB6"/>
                </a:solidFill>
                <a:latin typeface="Arial"/>
              </a:rPr>
              <a:t>Ví dụ</a:t>
            </a:r>
          </a:p>
        </p:txBody>
      </p:sp>
      <p:sp>
        <p:nvSpPr>
          <p:cNvPr id="28" name="TextBox 27"/>
          <p:cNvSpPr txBox="1"/>
          <p:nvPr/>
        </p:nvSpPr>
        <p:spPr>
          <a:xfrm>
            <a:off x="8293608" y="5440680"/>
            <a:ext cx="3118104" cy="1005840"/>
          </a:xfrm>
          <a:prstGeom prst="rect">
            <a:avLst/>
          </a:prstGeom>
          <a:noFill/>
        </p:spPr>
        <p:txBody>
          <a:bodyPr wrap="square" lIns="0" rIns="0" tIns="0" bIns="0" anchor="t">
            <a:spAutoFit/>
          </a:bodyPr>
          <a:lstStyle/>
          <a:p>
            <a:pPr algn="l">
              <a:spcAft>
                <a:spcPts val="300"/>
              </a:spcAft>
            </a:pPr>
            <a:r>
              <a:rPr sz="1400" b="0" i="0">
                <a:solidFill>
                  <a:srgbClr val="1B2A41"/>
                </a:solidFill>
                <a:latin typeface="Arial"/>
              </a:rPr>
              <a:t>Ví dụ trong buổi: p = 0,45, chưa có bằng chứng. Với dự báo nhiều bước, dùng bản hiệu chỉnh HLN kẻo p nhỏ giả tạo.</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bg>
      <p:bgPr>
        <a:solidFill>
          <a:srgbClr val="1B2A41"/>
        </a:solidFill>
        <a:effectLst/>
      </p:bgPr>
    </p:bg>
    <p:spTree>
      <p:nvGrpSpPr>
        <p:cNvPr id="1" name=""/>
        <p:cNvGrpSpPr/>
        <p:nvPr/>
      </p:nvGrpSpPr>
      <p:grpSpPr/>
      <p:sp>
        <p:nvSpPr>
          <p:cNvPr id="2" name="Oval 1"/>
          <p:cNvSpPr/>
          <p:nvPr/>
        </p:nvSpPr>
        <p:spPr>
          <a:xfrm>
            <a:off x="822960" y="1828800"/>
            <a:ext cx="1463040" cy="1463040"/>
          </a:xfrm>
          <a:prstGeom prst="ellipse">
            <a:avLst/>
          </a:prstGeom>
          <a:solidFill>
            <a:srgbClr val="2E6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6000" b="1" i="0">
                <a:solidFill>
                  <a:srgbClr val="FFFFFF"/>
                </a:solidFill>
                <a:latin typeface="Arial"/>
              </a:rPr>
              <a:t>E</a:t>
            </a:r>
          </a:p>
        </p:txBody>
      </p:sp>
      <p:sp>
        <p:nvSpPr>
          <p:cNvPr id="3" name="TextBox 2"/>
          <p:cNvSpPr txBox="1"/>
          <p:nvPr/>
        </p:nvSpPr>
        <p:spPr>
          <a:xfrm>
            <a:off x="822960" y="3611880"/>
            <a:ext cx="6035040" cy="822960"/>
          </a:xfrm>
          <a:prstGeom prst="rect">
            <a:avLst/>
          </a:prstGeom>
          <a:noFill/>
        </p:spPr>
        <p:txBody>
          <a:bodyPr wrap="square" lIns="0" rIns="0" tIns="0" bIns="0" anchor="t">
            <a:spAutoFit/>
          </a:bodyPr>
          <a:lstStyle/>
          <a:p>
            <a:pPr algn="l"/>
            <a:r>
              <a:rPr sz="3800" b="1" i="0">
                <a:solidFill>
                  <a:srgbClr val="FFFFFF"/>
                </a:solidFill>
                <a:latin typeface="Arial"/>
              </a:rPr>
              <a:t>Quy trình tiền xử lý</a:t>
            </a:r>
          </a:p>
        </p:txBody>
      </p:sp>
      <p:sp>
        <p:nvSpPr>
          <p:cNvPr id="4" name="TextBox 3"/>
          <p:cNvSpPr txBox="1"/>
          <p:nvPr/>
        </p:nvSpPr>
        <p:spPr>
          <a:xfrm>
            <a:off x="822960" y="4434840"/>
            <a:ext cx="5120640" cy="457200"/>
          </a:xfrm>
          <a:prstGeom prst="rect">
            <a:avLst/>
          </a:prstGeom>
          <a:noFill/>
        </p:spPr>
        <p:txBody>
          <a:bodyPr wrap="square" lIns="0" rIns="0" tIns="0" bIns="0" anchor="t">
            <a:spAutoFit/>
          </a:bodyPr>
          <a:lstStyle/>
          <a:p>
            <a:pPr algn="l"/>
            <a:r>
              <a:rPr sz="1800" b="1" i="0">
                <a:solidFill>
                  <a:srgbClr val="2E6FBF"/>
                </a:solidFill>
                <a:latin typeface="Arial"/>
              </a:rPr>
              <a:t>Buổi 1–15</a:t>
            </a:r>
          </a:p>
        </p:txBody>
      </p:sp>
      <p:sp>
        <p:nvSpPr>
          <p:cNvPr id="5" name="TextBox 4"/>
          <p:cNvSpPr txBox="1"/>
          <p:nvPr/>
        </p:nvSpPr>
        <p:spPr>
          <a:xfrm>
            <a:off x="822960" y="4937760"/>
            <a:ext cx="4937760" cy="914400"/>
          </a:xfrm>
          <a:prstGeom prst="rect">
            <a:avLst/>
          </a:prstGeom>
          <a:noFill/>
        </p:spPr>
        <p:txBody>
          <a:bodyPr wrap="square" lIns="0" rIns="0" tIns="0" bIns="0" anchor="t">
            <a:spAutoFit/>
          </a:bodyPr>
          <a:lstStyle/>
          <a:p>
            <a:pPr algn="l"/>
            <a:r>
              <a:rPr sz="1600" b="0" i="0">
                <a:solidFill>
                  <a:srgbClr val="C9D3E0"/>
                </a:solidFill>
                <a:latin typeface="Arial"/>
              </a:rPr>
              <a:t>Bước nào học từ dữ liệu thì phải làm lại ở mỗi cutoff.</a:t>
            </a:r>
          </a:p>
        </p:txBody>
      </p:sp>
      <p:cxnSp>
        <p:nvCxnSpPr>
          <p:cNvPr id="6" name="Connector 5"/>
          <p:cNvCxnSpPr/>
          <p:nvPr/>
        </p:nvCxnSpPr>
        <p:spPr>
          <a:xfrm flipH="1" flipV="1">
            <a:off x="7155180" y="2125980"/>
            <a:ext cx="1943100" cy="937259"/>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7155180" y="3063239"/>
            <a:ext cx="1943100" cy="0"/>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7155180" y="3063239"/>
            <a:ext cx="1943100" cy="937261"/>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9098280" y="2125980"/>
            <a:ext cx="1943100" cy="937259"/>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098280" y="3063239"/>
            <a:ext cx="1943100" cy="0"/>
          </a:xfrm>
          <a:prstGeom prst="line">
            <a:avLst/>
          </a:prstGeom>
          <a:ln w="19050">
            <a:solidFill>
              <a:srgbClr val="2E6FBF"/>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098280" y="3063239"/>
            <a:ext cx="1943100" cy="937261"/>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8298179" y="2697479"/>
            <a:ext cx="1600200" cy="731520"/>
          </a:xfrm>
          <a:prstGeom prst="ellipse">
            <a:avLst/>
          </a:prstGeom>
          <a:solidFill>
            <a:srgbClr val="1B2A41"/>
          </a:solidFill>
          <a:ln w="15875">
            <a:solidFill>
              <a:srgbClr val="8FA3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55080" y="1817369"/>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A. Khái niệm nền</a:t>
            </a:r>
          </a:p>
        </p:txBody>
      </p:sp>
      <p:sp>
        <p:nvSpPr>
          <p:cNvPr id="14" name="Rounded Rectangle 13"/>
          <p:cNvSpPr/>
          <p:nvPr/>
        </p:nvSpPr>
        <p:spPr>
          <a:xfrm>
            <a:off x="6355080" y="2754630"/>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B. Vấn đề dữ liệu</a:t>
            </a:r>
          </a:p>
        </p:txBody>
      </p:sp>
      <p:sp>
        <p:nvSpPr>
          <p:cNvPr id="15" name="Rounded Rectangle 14"/>
          <p:cNvSpPr/>
          <p:nvPr/>
        </p:nvSpPr>
        <p:spPr>
          <a:xfrm>
            <a:off x="6355080" y="3691889"/>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C. Bảng tra &amp; từ điển</a:t>
            </a:r>
          </a:p>
        </p:txBody>
      </p:sp>
      <p:sp>
        <p:nvSpPr>
          <p:cNvPr id="16" name="Rounded Rectangle 15"/>
          <p:cNvSpPr/>
          <p:nvPr/>
        </p:nvSpPr>
        <p:spPr>
          <a:xfrm>
            <a:off x="10241280" y="1817369"/>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D. Đánh giá trung thực</a:t>
            </a:r>
          </a:p>
        </p:txBody>
      </p:sp>
      <p:sp>
        <p:nvSpPr>
          <p:cNvPr id="17" name="Rounded Rectangle 16"/>
          <p:cNvSpPr/>
          <p:nvPr/>
        </p:nvSpPr>
        <p:spPr>
          <a:xfrm>
            <a:off x="10241280" y="2754630"/>
            <a:ext cx="1600200" cy="617220"/>
          </a:xfrm>
          <a:prstGeom prst="roundRect">
            <a:avLst>
              <a:gd name="adj" fmla="val 18000"/>
            </a:avLst>
          </a:prstGeom>
          <a:solidFill>
            <a:srgbClr val="2E6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FFFFFF"/>
                </a:solidFill>
                <a:latin typeface="Arial"/>
              </a:rPr>
              <a:t>E. Quy trình tiền xử lý</a:t>
            </a:r>
          </a:p>
        </p:txBody>
      </p:sp>
      <p:sp>
        <p:nvSpPr>
          <p:cNvPr id="18" name="Rounded Rectangle 17"/>
          <p:cNvSpPr/>
          <p:nvPr/>
        </p:nvSpPr>
        <p:spPr>
          <a:xfrm>
            <a:off x="10241280" y="3691889"/>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F. Dữ liệu &amp; phía trước</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2E6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E</a:t>
            </a:r>
          </a:p>
        </p:txBody>
      </p:sp>
      <p:sp>
        <p:nvSpPr>
          <p:cNvPr id="3" name="TextBox 2"/>
          <p:cNvSpPr txBox="1"/>
          <p:nvPr/>
        </p:nvSpPr>
        <p:spPr>
          <a:xfrm>
            <a:off x="1325880" y="384048"/>
            <a:ext cx="10332720" cy="731520"/>
          </a:xfrm>
          <a:prstGeom prst="rect">
            <a:avLst/>
          </a:prstGeom>
          <a:noFill/>
        </p:spPr>
        <p:txBody>
          <a:bodyPr wrap="square" lIns="0" rIns="0" tIns="0" bIns="0" anchor="ctr">
            <a:spAutoFit/>
          </a:bodyPr>
          <a:lstStyle/>
          <a:p>
            <a:pPr algn="l"/>
            <a:r>
              <a:rPr sz="3000" b="1" i="0">
                <a:solidFill>
                  <a:srgbClr val="1B2A41"/>
                </a:solidFill>
                <a:latin typeface="Arial"/>
              </a:rPr>
              <a:t>Quy trình tiền xử lý: ba tầng</a:t>
            </a:r>
          </a:p>
        </p:txBody>
      </p:sp>
      <p:sp>
        <p:nvSpPr>
          <p:cNvPr id="4" name="TextBox 3"/>
          <p:cNvSpPr txBox="1"/>
          <p:nvPr/>
        </p:nvSpPr>
        <p:spPr>
          <a:xfrm>
            <a:off x="1325880" y="1024128"/>
            <a:ext cx="10332720" cy="274320"/>
          </a:xfrm>
          <a:prstGeom prst="rect">
            <a:avLst/>
          </a:prstGeom>
          <a:noFill/>
        </p:spPr>
        <p:txBody>
          <a:bodyPr wrap="square" lIns="0" rIns="0" tIns="0" bIns="0" anchor="t">
            <a:spAutoFit/>
          </a:bodyPr>
          <a:lstStyle/>
          <a:p>
            <a:pPr algn="l"/>
            <a:r>
              <a:rPr sz="1300" b="0" i="1">
                <a:solidFill>
                  <a:srgbClr val="5B6778"/>
                </a:solidFill>
                <a:latin typeface="Arial"/>
              </a:rPr>
              <a:t>preprocessing pipeline · point-in-time</a:t>
            </a:r>
          </a:p>
        </p:txBody>
      </p:sp>
      <p:sp>
        <p:nvSpPr>
          <p:cNvPr id="5" name="TextBox 4"/>
          <p:cNvSpPr txBox="1"/>
          <p:nvPr/>
        </p:nvSpPr>
        <p:spPr>
          <a:xfrm>
            <a:off x="1325880" y="1353312"/>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Biết bước nào làm một lần, bước nào phải làm lại ở mỗi cutoff để khỏi rò rỉ.</a:t>
            </a:r>
          </a:p>
        </p:txBody>
      </p:sp>
      <p:sp>
        <p:nvSpPr>
          <p:cNvPr id="6" name="TextBox 5"/>
          <p:cNvSpPr txBox="1"/>
          <p:nvPr/>
        </p:nvSpPr>
        <p:spPr>
          <a:xfrm>
            <a:off x="548640" y="1783080"/>
            <a:ext cx="10972800" cy="365760"/>
          </a:xfrm>
          <a:prstGeom prst="rect">
            <a:avLst/>
          </a:prstGeom>
          <a:noFill/>
        </p:spPr>
        <p:txBody>
          <a:bodyPr wrap="square" lIns="0" rIns="0" tIns="0" bIns="0" anchor="t">
            <a:spAutoFit/>
          </a:bodyPr>
          <a:lstStyle/>
          <a:p>
            <a:pPr algn="l"/>
            <a:r>
              <a:rPr sz="1600" b="1" i="0">
                <a:solidFill>
                  <a:srgbClr val="1B2A41"/>
                </a:solidFill>
                <a:latin typeface="Arial"/>
              </a:rPr>
              <a:t>1  Làm một lần trên toàn bộ dữ liệu</a:t>
            </a:r>
            <a:r>
              <a:rPr sz="1400" b="0" i="0">
                <a:solidFill>
                  <a:srgbClr val="5B6778"/>
                </a:solidFill>
                <a:latin typeface="Arial"/>
              </a:rPr>
              <a:t>   — bước không học gì từ dữ liệu</a:t>
            </a:r>
          </a:p>
        </p:txBody>
      </p:sp>
      <p:sp>
        <p:nvSpPr>
          <p:cNvPr id="7" name="Rounded Rectangle 6"/>
          <p:cNvSpPr/>
          <p:nvPr/>
        </p:nvSpPr>
        <p:spPr>
          <a:xfrm>
            <a:off x="548640" y="2148840"/>
            <a:ext cx="1443445" cy="91440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1B2A41"/>
                </a:solidFill>
                <a:latin typeface="Arial"/>
              </a:rPr>
              <a:t>Nạp, ép kiểu số</a:t>
            </a:r>
          </a:p>
          <a:p>
            <a:pPr algn="ctr"/>
            <a:r>
              <a:rPr sz="1000" b="0" i="0">
                <a:solidFill>
                  <a:srgbClr val="1B2A41"/>
                </a:solidFill>
                <a:latin typeface="Arial"/>
              </a:rPr>
              <a:t>buổi 3, 10</a:t>
            </a:r>
          </a:p>
        </p:txBody>
      </p:sp>
      <p:cxnSp>
        <p:nvCxnSpPr>
          <p:cNvPr id="8" name="Connector 7"/>
          <p:cNvCxnSpPr/>
          <p:nvPr/>
        </p:nvCxnSpPr>
        <p:spPr>
          <a:xfrm>
            <a:off x="2001229" y="2606040"/>
            <a:ext cx="146304" cy="0"/>
          </a:xfrm>
          <a:prstGeom prst="line">
            <a:avLst/>
          </a:prstGeom>
          <a:ln w="19050">
            <a:solidFill>
              <a:srgbClr val="9AA5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156677" y="2148840"/>
            <a:ext cx="1443445" cy="91440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1B2A41"/>
                </a:solidFill>
                <a:latin typeface="Arial"/>
              </a:rPr>
              <a:t>Về UTC</a:t>
            </a:r>
          </a:p>
          <a:p>
            <a:pPr algn="ctr"/>
            <a:r>
              <a:rPr sz="1000" b="0" i="0">
                <a:solidFill>
                  <a:srgbClr val="1B2A41"/>
                </a:solidFill>
                <a:latin typeface="Arial"/>
              </a:rPr>
              <a:t>buổi 3</a:t>
            </a:r>
          </a:p>
        </p:txBody>
      </p:sp>
      <p:cxnSp>
        <p:nvCxnSpPr>
          <p:cNvPr id="10" name="Connector 9"/>
          <p:cNvCxnSpPr/>
          <p:nvPr/>
        </p:nvCxnSpPr>
        <p:spPr>
          <a:xfrm>
            <a:off x="3609267" y="2606040"/>
            <a:ext cx="146304" cy="0"/>
          </a:xfrm>
          <a:prstGeom prst="line">
            <a:avLst/>
          </a:prstGeom>
          <a:ln w="19050">
            <a:solidFill>
              <a:srgbClr val="9AA5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764715" y="2148840"/>
            <a:ext cx="1443445" cy="91440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1B2A41"/>
                </a:solidFill>
                <a:latin typeface="Arial"/>
              </a:rPr>
              <a:t>Lưới đủ, bỏ trùng</a:t>
            </a:r>
          </a:p>
          <a:p>
            <a:pPr algn="ctr"/>
            <a:r>
              <a:rPr sz="1000" b="0" i="0">
                <a:solidFill>
                  <a:srgbClr val="1B2A41"/>
                </a:solidFill>
                <a:latin typeface="Arial"/>
              </a:rPr>
              <a:t>buổi 10</a:t>
            </a:r>
          </a:p>
        </p:txBody>
      </p:sp>
      <p:cxnSp>
        <p:nvCxnSpPr>
          <p:cNvPr id="12" name="Connector 11"/>
          <p:cNvCxnSpPr/>
          <p:nvPr/>
        </p:nvCxnSpPr>
        <p:spPr>
          <a:xfrm>
            <a:off x="5217305" y="2606040"/>
            <a:ext cx="146304" cy="0"/>
          </a:xfrm>
          <a:prstGeom prst="line">
            <a:avLst/>
          </a:prstGeom>
          <a:ln w="19050">
            <a:solidFill>
              <a:srgbClr val="9AA5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372753" y="2148840"/>
            <a:ext cx="1443445" cy="91440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1B2A41"/>
                </a:solidFill>
                <a:latin typeface="Arial"/>
              </a:rPr>
              <a:t>Mã trá hình ra NaN</a:t>
            </a:r>
          </a:p>
          <a:p>
            <a:pPr algn="ctr"/>
            <a:r>
              <a:rPr sz="1000" b="0" i="0">
                <a:solidFill>
                  <a:srgbClr val="1B2A41"/>
                </a:solidFill>
                <a:latin typeface="Arial"/>
              </a:rPr>
              <a:t>buổi 10</a:t>
            </a:r>
          </a:p>
        </p:txBody>
      </p:sp>
      <p:cxnSp>
        <p:nvCxnSpPr>
          <p:cNvPr id="14" name="Connector 13"/>
          <p:cNvCxnSpPr/>
          <p:nvPr/>
        </p:nvCxnSpPr>
        <p:spPr>
          <a:xfrm>
            <a:off x="6825342" y="2606040"/>
            <a:ext cx="146304" cy="0"/>
          </a:xfrm>
          <a:prstGeom prst="line">
            <a:avLst/>
          </a:prstGeom>
          <a:ln w="19050">
            <a:solidFill>
              <a:srgbClr val="9AA5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980790" y="2148840"/>
            <a:ext cx="1443445" cy="91440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1B2A41"/>
                </a:solidFill>
                <a:latin typeface="Arial"/>
              </a:rPr>
              <a:t>Nhìn: bộ biểu đồ</a:t>
            </a:r>
          </a:p>
          <a:p>
            <a:pPr algn="ctr"/>
            <a:r>
              <a:rPr sz="1000" b="0" i="0">
                <a:solidFill>
                  <a:srgbClr val="1B2A41"/>
                </a:solidFill>
                <a:latin typeface="Arial"/>
              </a:rPr>
              <a:t>buổi 4, 6–9</a:t>
            </a:r>
          </a:p>
        </p:txBody>
      </p:sp>
      <p:cxnSp>
        <p:nvCxnSpPr>
          <p:cNvPr id="16" name="Connector 15"/>
          <p:cNvCxnSpPr/>
          <p:nvPr/>
        </p:nvCxnSpPr>
        <p:spPr>
          <a:xfrm>
            <a:off x="8433380" y="2606040"/>
            <a:ext cx="146304" cy="0"/>
          </a:xfrm>
          <a:prstGeom prst="line">
            <a:avLst/>
          </a:prstGeom>
          <a:ln w="19050">
            <a:solidFill>
              <a:srgbClr val="9AA5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588828" y="2148840"/>
            <a:ext cx="1443445" cy="91440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1B2A41"/>
                </a:solidFill>
                <a:latin typeface="Arial"/>
              </a:rPr>
              <a:t>Nhật ký sự kiện</a:t>
            </a:r>
          </a:p>
          <a:p>
            <a:pPr algn="ctr"/>
            <a:r>
              <a:rPr sz="1000" b="0" i="0">
                <a:solidFill>
                  <a:srgbClr val="1B2A41"/>
                </a:solidFill>
                <a:latin typeface="Arial"/>
              </a:rPr>
              <a:t>buổi 11</a:t>
            </a:r>
          </a:p>
        </p:txBody>
      </p:sp>
      <p:cxnSp>
        <p:nvCxnSpPr>
          <p:cNvPr id="18" name="Connector 17"/>
          <p:cNvCxnSpPr/>
          <p:nvPr/>
        </p:nvCxnSpPr>
        <p:spPr>
          <a:xfrm>
            <a:off x="10041418" y="2606040"/>
            <a:ext cx="146304" cy="0"/>
          </a:xfrm>
          <a:prstGeom prst="line">
            <a:avLst/>
          </a:prstGeom>
          <a:ln w="19050">
            <a:solidFill>
              <a:srgbClr val="9AA5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10196866" y="2148840"/>
            <a:ext cx="1443445" cy="91440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1B2A41"/>
                </a:solidFill>
                <a:latin typeface="Arial"/>
              </a:rPr>
              <a:t>Điều chỉnh lịch, lạm phát</a:t>
            </a:r>
          </a:p>
          <a:p>
            <a:pPr algn="ctr"/>
            <a:r>
              <a:rPr sz="1000" b="0" i="0">
                <a:solidFill>
                  <a:srgbClr val="1B2A41"/>
                </a:solidFill>
                <a:latin typeface="Arial"/>
              </a:rPr>
              <a:t>buổi 5</a:t>
            </a:r>
          </a:p>
        </p:txBody>
      </p:sp>
      <p:sp>
        <p:nvSpPr>
          <p:cNvPr id="20" name="Rounded Rectangle 19"/>
          <p:cNvSpPr/>
          <p:nvPr/>
        </p:nvSpPr>
        <p:spPr>
          <a:xfrm>
            <a:off x="411480" y="3246120"/>
            <a:ext cx="11365992" cy="1737360"/>
          </a:xfrm>
          <a:prstGeom prst="roundRect">
            <a:avLst>
              <a:gd name="adj" fmla="val 8000"/>
            </a:avLst>
          </a:prstGeom>
          <a:noFill/>
          <a:ln w="15875">
            <a:solidFill>
              <a:srgbClr val="2E6FBF"/>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3319272"/>
            <a:ext cx="10972800" cy="365760"/>
          </a:xfrm>
          <a:prstGeom prst="rect">
            <a:avLst/>
          </a:prstGeom>
          <a:noFill/>
        </p:spPr>
        <p:txBody>
          <a:bodyPr wrap="square" lIns="0" rIns="0" tIns="0" bIns="0" anchor="t">
            <a:spAutoFit/>
          </a:bodyPr>
          <a:lstStyle/>
          <a:p>
            <a:pPr algn="l"/>
            <a:r>
              <a:rPr sz="1600" b="1" i="0">
                <a:solidFill>
                  <a:srgbClr val="2E6FBF"/>
                </a:solidFill>
                <a:latin typeface="Arial"/>
              </a:rPr>
              <a:t>2  Làm lại ở mỗi cutoff, chỉ trên lich_su</a:t>
            </a:r>
            <a:r>
              <a:rPr sz="1400" b="0" i="0">
                <a:solidFill>
                  <a:srgbClr val="5B6778"/>
                </a:solidFill>
                <a:latin typeface="Arial"/>
              </a:rPr>
              <a:t>   — bước có học từ dữ liệu (buổi 15)</a:t>
            </a:r>
          </a:p>
        </p:txBody>
      </p:sp>
      <p:sp>
        <p:nvSpPr>
          <p:cNvPr id="22" name="Rounded Rectangle 21"/>
          <p:cNvSpPr/>
          <p:nvPr/>
        </p:nvSpPr>
        <p:spPr>
          <a:xfrm>
            <a:off x="548640" y="3840480"/>
            <a:ext cx="1711452" cy="914400"/>
          </a:xfrm>
          <a:prstGeom prst="roundRect">
            <a:avLst>
              <a:gd name="adj" fmla="val 15000"/>
            </a:avLst>
          </a:prstGeom>
          <a:solidFill>
            <a:srgbClr val="2E6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Điền nhân quả</a:t>
            </a:r>
          </a:p>
          <a:p>
            <a:pPr algn="ctr"/>
            <a:r>
              <a:rPr sz="1000" b="0" i="0">
                <a:solidFill>
                  <a:srgbClr val="FFFFFF"/>
                </a:solidFill>
                <a:latin typeface="Arial"/>
              </a:rPr>
              <a:t>buổi 10</a:t>
            </a:r>
          </a:p>
        </p:txBody>
      </p:sp>
      <p:cxnSp>
        <p:nvCxnSpPr>
          <p:cNvPr id="23" name="Connector 22"/>
          <p:cNvCxnSpPr/>
          <p:nvPr/>
        </p:nvCxnSpPr>
        <p:spPr>
          <a:xfrm>
            <a:off x="2269236" y="4297680"/>
            <a:ext cx="146304" cy="0"/>
          </a:xfrm>
          <a:prstGeom prst="line">
            <a:avLst/>
          </a:prstGeom>
          <a:ln w="19050">
            <a:solidFill>
              <a:srgbClr val="9AA5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2424684" y="3840480"/>
            <a:ext cx="1711452" cy="914400"/>
          </a:xfrm>
          <a:prstGeom prst="roundRect">
            <a:avLst>
              <a:gd name="adj" fmla="val 15000"/>
            </a:avLst>
          </a:prstGeom>
          <a:solidFill>
            <a:srgbClr val="2E6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Ngoại lai: Hampel</a:t>
            </a:r>
          </a:p>
          <a:p>
            <a:pPr algn="ctr"/>
            <a:r>
              <a:rPr sz="1000" b="0" i="0">
                <a:solidFill>
                  <a:srgbClr val="FFFFFF"/>
                </a:solidFill>
                <a:latin typeface="Arial"/>
              </a:rPr>
              <a:t>buổi 11</a:t>
            </a:r>
          </a:p>
        </p:txBody>
      </p:sp>
      <p:cxnSp>
        <p:nvCxnSpPr>
          <p:cNvPr id="25" name="Connector 24"/>
          <p:cNvCxnSpPr/>
          <p:nvPr/>
        </p:nvCxnSpPr>
        <p:spPr>
          <a:xfrm>
            <a:off x="4145280" y="4297680"/>
            <a:ext cx="146304" cy="0"/>
          </a:xfrm>
          <a:prstGeom prst="line">
            <a:avLst/>
          </a:prstGeom>
          <a:ln w="19050">
            <a:solidFill>
              <a:srgbClr val="9AA5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4300728" y="3840480"/>
            <a:ext cx="1711452" cy="914400"/>
          </a:xfrm>
          <a:prstGeom prst="roundRect">
            <a:avLst>
              <a:gd name="adj" fmla="val 15000"/>
            </a:avLst>
          </a:prstGeom>
          <a:solidFill>
            <a:srgbClr val="2E6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Log / Box-Cox, λ tại gốc</a:t>
            </a:r>
          </a:p>
          <a:p>
            <a:pPr algn="ctr"/>
            <a:r>
              <a:rPr sz="1000" b="0" i="0">
                <a:solidFill>
                  <a:srgbClr val="FFFFFF"/>
                </a:solidFill>
                <a:latin typeface="Arial"/>
              </a:rPr>
              <a:t>buổi 5</a:t>
            </a:r>
          </a:p>
        </p:txBody>
      </p:sp>
      <p:cxnSp>
        <p:nvCxnSpPr>
          <p:cNvPr id="27" name="Connector 26"/>
          <p:cNvCxnSpPr/>
          <p:nvPr/>
        </p:nvCxnSpPr>
        <p:spPr>
          <a:xfrm>
            <a:off x="6021324" y="4297680"/>
            <a:ext cx="146304" cy="0"/>
          </a:xfrm>
          <a:prstGeom prst="line">
            <a:avLst/>
          </a:prstGeom>
          <a:ln w="19050">
            <a:solidFill>
              <a:srgbClr val="9AA5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6176772" y="3840480"/>
            <a:ext cx="1711452" cy="914400"/>
          </a:xfrm>
          <a:prstGeom prst="roundRect">
            <a:avLst>
              <a:gd name="adj" fmla="val 15000"/>
            </a:avLst>
          </a:prstGeom>
          <a:solidFill>
            <a:srgbClr val="2E6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Lọc nhân quả</a:t>
            </a:r>
          </a:p>
          <a:p>
            <a:pPr algn="ctr"/>
            <a:r>
              <a:rPr sz="1000" b="0" i="0">
                <a:solidFill>
                  <a:srgbClr val="FFFFFF"/>
                </a:solidFill>
                <a:latin typeface="Arial"/>
              </a:rPr>
              <a:t>buổi 12</a:t>
            </a:r>
          </a:p>
        </p:txBody>
      </p:sp>
      <p:cxnSp>
        <p:nvCxnSpPr>
          <p:cNvPr id="29" name="Connector 28"/>
          <p:cNvCxnSpPr/>
          <p:nvPr/>
        </p:nvCxnSpPr>
        <p:spPr>
          <a:xfrm>
            <a:off x="7897368" y="4297680"/>
            <a:ext cx="146304" cy="0"/>
          </a:xfrm>
          <a:prstGeom prst="line">
            <a:avLst/>
          </a:prstGeom>
          <a:ln w="19050">
            <a:solidFill>
              <a:srgbClr val="9AA5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8052816" y="3840480"/>
            <a:ext cx="1711452" cy="914400"/>
          </a:xfrm>
          <a:prstGeom prst="roundRect">
            <a:avLst>
              <a:gd name="adj" fmla="val 15000"/>
            </a:avLst>
          </a:prstGeom>
          <a:solidFill>
            <a:srgbClr val="2E6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Feature, lag ≥ h</a:t>
            </a:r>
          </a:p>
          <a:p>
            <a:pPr algn="ctr"/>
            <a:r>
              <a:rPr sz="1000" b="0" i="0">
                <a:solidFill>
                  <a:srgbClr val="FFFFFF"/>
                </a:solidFill>
                <a:latin typeface="Arial"/>
              </a:rPr>
              <a:t>buổi 13</a:t>
            </a:r>
          </a:p>
        </p:txBody>
      </p:sp>
      <p:cxnSp>
        <p:nvCxnSpPr>
          <p:cNvPr id="31" name="Connector 30"/>
          <p:cNvCxnSpPr/>
          <p:nvPr/>
        </p:nvCxnSpPr>
        <p:spPr>
          <a:xfrm>
            <a:off x="9773412" y="4297680"/>
            <a:ext cx="146304" cy="0"/>
          </a:xfrm>
          <a:prstGeom prst="line">
            <a:avLst/>
          </a:prstGeom>
          <a:ln w="19050">
            <a:solidFill>
              <a:srgbClr val="9AA5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9928860" y="3840480"/>
            <a:ext cx="1711452" cy="914400"/>
          </a:xfrm>
          <a:prstGeom prst="roundRect">
            <a:avLst>
              <a:gd name="adj" fmla="val 15000"/>
            </a:avLst>
          </a:prstGeom>
          <a:solidFill>
            <a:srgbClr val="2E6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lstStyle/>
          <a:p>
            <a:pPr algn="ctr"/>
            <a:r>
              <a:rPr sz="1300" b="1" i="0">
                <a:solidFill>
                  <a:srgbClr val="FFFFFF"/>
                </a:solidFill>
                <a:latin typeface="Arial"/>
              </a:rPr>
              <a:t>Scaler</a:t>
            </a:r>
          </a:p>
          <a:p>
            <a:pPr algn="ctr"/>
            <a:r>
              <a:rPr sz="1000" b="0" i="0">
                <a:solidFill>
                  <a:srgbClr val="FFFFFF"/>
                </a:solidFill>
                <a:latin typeface="Arial"/>
              </a:rPr>
              <a:t>buổi 13, 15</a:t>
            </a:r>
          </a:p>
        </p:txBody>
      </p:sp>
      <p:cxnSp>
        <p:nvCxnSpPr>
          <p:cNvPr id="33" name="Connector 32"/>
          <p:cNvCxnSpPr/>
          <p:nvPr/>
        </p:nvCxnSpPr>
        <p:spPr>
          <a:xfrm>
            <a:off x="6099048" y="3081528"/>
            <a:ext cx="0" cy="164592"/>
          </a:xfrm>
          <a:prstGeom prst="line">
            <a:avLst/>
          </a:prstGeom>
          <a:ln w="22225">
            <a:solidFill>
              <a:srgbClr val="9AA5B4"/>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6099048" y="4983480"/>
            <a:ext cx="0" cy="320040"/>
          </a:xfrm>
          <a:prstGeom prst="line">
            <a:avLst/>
          </a:prstGeom>
          <a:ln w="22225">
            <a:solidFill>
              <a:srgbClr val="9AA5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548640" y="5349240"/>
            <a:ext cx="11091672" cy="868680"/>
          </a:xfrm>
          <a:prstGeom prst="roundRect">
            <a:avLst>
              <a:gd name="adj" fmla="val 20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500" b="1" i="0">
                <a:solidFill>
                  <a:srgbClr val="FFFFFF"/>
                </a:solidFill>
                <a:latin typeface="Arial"/>
              </a:rPr>
              <a:t>3  Kiểm:  </a:t>
            </a:r>
            <a:r>
              <a:rPr sz="1500" b="1" i="0">
                <a:solidFill>
                  <a:srgbClr val="FFFFFF"/>
                </a:solidFill>
                <a:latin typeface="Arial"/>
              </a:rPr>
              <a:t>rolling origin + gap</a:t>
            </a:r>
            <a:r>
              <a:rPr sz="1200" b="0" i="0">
                <a:solidFill>
                  <a:srgbClr val="A9B4C4"/>
                </a:solidFill>
                <a:latin typeface="Arial"/>
              </a:rPr>
              <a:t> (15) · </a:t>
            </a:r>
            <a:r>
              <a:rPr sz="1500" b="1" i="0">
                <a:solidFill>
                  <a:srgbClr val="FFFFFF"/>
                </a:solidFill>
                <a:latin typeface="Arial"/>
              </a:rPr>
              <a:t>MASE / WAPE trên chuỗi gốc so với seasonal naive</a:t>
            </a:r>
            <a:r>
              <a:rPr sz="1200" b="0" i="0">
                <a:solidFill>
                  <a:srgbClr val="A9B4C4"/>
                </a:solidFill>
                <a:latin typeface="Arial"/>
              </a:rPr>
              <a:t> (12, 14) · </a:t>
            </a:r>
            <a:r>
              <a:rPr sz="1500" b="1" i="0">
                <a:solidFill>
                  <a:srgbClr val="FFFFFF"/>
                </a:solidFill>
                <a:latin typeface="Arial"/>
              </a:rPr>
              <a:t>kiem_ro_ri</a:t>
            </a:r>
            <a:r>
              <a:rPr sz="1200" b="0" i="0">
                <a:solidFill>
                  <a:srgbClr val="A9B4C4"/>
                </a:solidFill>
                <a:latin typeface="Arial"/>
              </a:rPr>
              <a:t> (13)</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2E6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E</a:t>
            </a:r>
          </a:p>
        </p:txBody>
      </p:sp>
      <p:sp>
        <p:nvSpPr>
          <p:cNvPr id="3" name="TextBox 2"/>
          <p:cNvSpPr txBox="1"/>
          <p:nvPr/>
        </p:nvSpPr>
        <p:spPr>
          <a:xfrm>
            <a:off x="1325880" y="384048"/>
            <a:ext cx="10332720" cy="731520"/>
          </a:xfrm>
          <a:prstGeom prst="rect">
            <a:avLst/>
          </a:prstGeom>
          <a:noFill/>
        </p:spPr>
        <p:txBody>
          <a:bodyPr wrap="square" lIns="0" rIns="0" tIns="0" bIns="0" anchor="ctr">
            <a:spAutoFit/>
          </a:bodyPr>
          <a:lstStyle/>
          <a:p>
            <a:pPr algn="l"/>
            <a:r>
              <a:rPr sz="3000" b="1" i="0">
                <a:solidFill>
                  <a:srgbClr val="1B2A41"/>
                </a:solidFill>
                <a:latin typeface="Arial"/>
              </a:rPr>
              <a:t>Ba nguyên tắc cho mọi bước</a:t>
            </a:r>
          </a:p>
        </p:txBody>
      </p:sp>
      <p:sp>
        <p:nvSpPr>
          <p:cNvPr id="4" name="Rounded Rectangle 3"/>
          <p:cNvSpPr/>
          <p:nvPr/>
        </p:nvSpPr>
        <p:spPr>
          <a:xfrm>
            <a:off x="548640" y="1737360"/>
            <a:ext cx="3566160" cy="384048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914400" y="2103120"/>
            <a:ext cx="914400" cy="914400"/>
          </a:xfrm>
          <a:prstGeom prst="ellipse">
            <a:avLst/>
          </a:prstGeom>
          <a:solidFill>
            <a:srgbClr val="2E6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3200" b="1" i="0">
                <a:solidFill>
                  <a:srgbClr val="FFFFFF"/>
                </a:solidFill>
                <a:latin typeface="Arial"/>
              </a:rPr>
              <a:t>1</a:t>
            </a:r>
          </a:p>
        </p:txBody>
      </p:sp>
      <p:sp>
        <p:nvSpPr>
          <p:cNvPr id="6" name="TextBox 5"/>
          <p:cNvSpPr txBox="1"/>
          <p:nvPr/>
        </p:nvSpPr>
        <p:spPr>
          <a:xfrm>
            <a:off x="914400" y="3337560"/>
            <a:ext cx="2834640" cy="1280160"/>
          </a:xfrm>
          <a:prstGeom prst="rect">
            <a:avLst/>
          </a:prstGeom>
          <a:noFill/>
        </p:spPr>
        <p:txBody>
          <a:bodyPr wrap="square" lIns="0" rIns="0" tIns="0" bIns="0" anchor="t">
            <a:spAutoFit/>
          </a:bodyPr>
          <a:lstStyle/>
          <a:p>
            <a:pPr algn="l"/>
            <a:r>
              <a:rPr sz="2200" b="1" i="0">
                <a:solidFill>
                  <a:srgbClr val="1B2A41"/>
                </a:solidFill>
                <a:latin typeface="Arial"/>
              </a:rPr>
              <a:t>Chỉ dùng thông tin có trước cutoff</a:t>
            </a:r>
          </a:p>
        </p:txBody>
      </p:sp>
      <p:sp>
        <p:nvSpPr>
          <p:cNvPr id="7" name="TextBox 6"/>
          <p:cNvSpPr txBox="1"/>
          <p:nvPr/>
        </p:nvSpPr>
        <p:spPr>
          <a:xfrm>
            <a:off x="914400" y="4663440"/>
            <a:ext cx="2834640" cy="731520"/>
          </a:xfrm>
          <a:prstGeom prst="rect">
            <a:avLst/>
          </a:prstGeom>
          <a:noFill/>
        </p:spPr>
        <p:txBody>
          <a:bodyPr wrap="square" lIns="0" rIns="0" tIns="0" bIns="0" anchor="t">
            <a:spAutoFit/>
          </a:bodyPr>
          <a:lstStyle/>
          <a:p>
            <a:pPr algn="l"/>
            <a:r>
              <a:rPr sz="1500" b="0" i="0">
                <a:solidFill>
                  <a:srgbClr val="5B6778"/>
                </a:solidFill>
                <a:latin typeface="Arial"/>
              </a:rPr>
              <a:t>rò rỉ là lỗi gặp ở nhiều buổi nhất</a:t>
            </a:r>
          </a:p>
        </p:txBody>
      </p:sp>
      <p:sp>
        <p:nvSpPr>
          <p:cNvPr id="8" name="Rounded Rectangle 7"/>
          <p:cNvSpPr/>
          <p:nvPr/>
        </p:nvSpPr>
        <p:spPr>
          <a:xfrm>
            <a:off x="4343400" y="1737360"/>
            <a:ext cx="3566160" cy="384048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4709160" y="2103120"/>
            <a:ext cx="914400" cy="914400"/>
          </a:xfrm>
          <a:prstGeom prst="ellipse">
            <a:avLst/>
          </a:prstGeom>
          <a:solidFill>
            <a:srgbClr val="2E6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3200" b="1" i="0">
                <a:solidFill>
                  <a:srgbClr val="FFFFFF"/>
                </a:solidFill>
                <a:latin typeface="Arial"/>
              </a:rPr>
              <a:t>2</a:t>
            </a:r>
          </a:p>
        </p:txBody>
      </p:sp>
      <p:sp>
        <p:nvSpPr>
          <p:cNvPr id="10" name="TextBox 9"/>
          <p:cNvSpPr txBox="1"/>
          <p:nvPr/>
        </p:nvSpPr>
        <p:spPr>
          <a:xfrm>
            <a:off x="4709160" y="3337560"/>
            <a:ext cx="2834640" cy="1280160"/>
          </a:xfrm>
          <a:prstGeom prst="rect">
            <a:avLst/>
          </a:prstGeom>
          <a:noFill/>
        </p:spPr>
        <p:txBody>
          <a:bodyPr wrap="square" lIns="0" rIns="0" tIns="0" bIns="0" anchor="t">
            <a:spAutoFit/>
          </a:bodyPr>
          <a:lstStyle/>
          <a:p>
            <a:pPr algn="l"/>
            <a:r>
              <a:rPr sz="2200" b="1" i="0">
                <a:solidFill>
                  <a:srgbClr val="1B2A41"/>
                </a:solidFill>
                <a:latin typeface="Arial"/>
              </a:rPr>
              <a:t>Giữ dữ liệu gốc, gắn cờ thay vì xoá</a:t>
            </a:r>
          </a:p>
        </p:txBody>
      </p:sp>
      <p:sp>
        <p:nvSpPr>
          <p:cNvPr id="11" name="TextBox 10"/>
          <p:cNvSpPr txBox="1"/>
          <p:nvPr/>
        </p:nvSpPr>
        <p:spPr>
          <a:xfrm>
            <a:off x="4709160" y="4663440"/>
            <a:ext cx="2834640" cy="731520"/>
          </a:xfrm>
          <a:prstGeom prst="rect">
            <a:avLst/>
          </a:prstGeom>
          <a:noFill/>
        </p:spPr>
        <p:txBody>
          <a:bodyPr wrap="square" lIns="0" rIns="0" tIns="0" bIns="0" anchor="t">
            <a:spAutoFit/>
          </a:bodyPr>
          <a:lstStyle/>
          <a:p>
            <a:pPr algn="l"/>
            <a:r>
              <a:rPr sz="1500" b="0" i="0">
                <a:solidFill>
                  <a:srgbClr val="5B6778"/>
                </a:solidFill>
                <a:latin typeface="Arial"/>
              </a:rPr>
              <a:t>mọi sửa đổi phải lần lại được</a:t>
            </a:r>
          </a:p>
        </p:txBody>
      </p:sp>
      <p:sp>
        <p:nvSpPr>
          <p:cNvPr id="12" name="Rounded Rectangle 11"/>
          <p:cNvSpPr/>
          <p:nvPr/>
        </p:nvSpPr>
        <p:spPr>
          <a:xfrm>
            <a:off x="8138160" y="1737360"/>
            <a:ext cx="3566160" cy="384048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503920" y="2103120"/>
            <a:ext cx="914400" cy="914400"/>
          </a:xfrm>
          <a:prstGeom prst="ellipse">
            <a:avLst/>
          </a:prstGeom>
          <a:solidFill>
            <a:srgbClr val="2E6FB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3200" b="1" i="0">
                <a:solidFill>
                  <a:srgbClr val="FFFFFF"/>
                </a:solidFill>
                <a:latin typeface="Arial"/>
              </a:rPr>
              <a:t>3</a:t>
            </a:r>
          </a:p>
        </p:txBody>
      </p:sp>
      <p:sp>
        <p:nvSpPr>
          <p:cNvPr id="14" name="TextBox 13"/>
          <p:cNvSpPr txBox="1"/>
          <p:nvPr/>
        </p:nvSpPr>
        <p:spPr>
          <a:xfrm>
            <a:off x="8503920" y="3337560"/>
            <a:ext cx="2834640" cy="1280160"/>
          </a:xfrm>
          <a:prstGeom prst="rect">
            <a:avLst/>
          </a:prstGeom>
          <a:noFill/>
        </p:spPr>
        <p:txBody>
          <a:bodyPr wrap="square" lIns="0" rIns="0" tIns="0" bIns="0" anchor="t">
            <a:spAutoFit/>
          </a:bodyPr>
          <a:lstStyle/>
          <a:p>
            <a:pPr algn="l"/>
            <a:r>
              <a:rPr sz="2200" b="1" i="0">
                <a:solidFill>
                  <a:srgbClr val="1B2A41"/>
                </a:solidFill>
                <a:latin typeface="Arial"/>
              </a:rPr>
              <a:t>Phải thắng các baseline trên backtest</a:t>
            </a:r>
          </a:p>
        </p:txBody>
      </p:sp>
      <p:sp>
        <p:nvSpPr>
          <p:cNvPr id="15" name="TextBox 14"/>
          <p:cNvSpPr txBox="1"/>
          <p:nvPr/>
        </p:nvSpPr>
        <p:spPr>
          <a:xfrm>
            <a:off x="8503920" y="4663440"/>
            <a:ext cx="2834640" cy="731520"/>
          </a:xfrm>
          <a:prstGeom prst="rect">
            <a:avLst/>
          </a:prstGeom>
          <a:noFill/>
        </p:spPr>
        <p:txBody>
          <a:bodyPr wrap="square" lIns="0" rIns="0" tIns="0" bIns="0" anchor="t">
            <a:spAutoFit/>
          </a:bodyPr>
          <a:lstStyle/>
          <a:p>
            <a:pPr algn="l"/>
            <a:r>
              <a:rPr sz="1500" b="0" i="0">
                <a:solidFill>
                  <a:srgbClr val="5B6778"/>
                </a:solidFill>
                <a:latin typeface="Arial"/>
              </a:rPr>
              <a:t>luôn có seasonal naive; không thắng thì bỏ bước đó</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bg>
      <p:bgPr>
        <a:solidFill>
          <a:srgbClr val="1B2A41"/>
        </a:solidFill>
        <a:effectLst/>
      </p:bgPr>
    </p:bg>
    <p:spTree>
      <p:nvGrpSpPr>
        <p:cNvPr id="1" name=""/>
        <p:cNvGrpSpPr/>
        <p:nvPr/>
      </p:nvGrpSpPr>
      <p:grpSpPr/>
      <p:sp>
        <p:nvSpPr>
          <p:cNvPr id="2" name="Oval 1"/>
          <p:cNvSpPr/>
          <p:nvPr/>
        </p:nvSpPr>
        <p:spPr>
          <a:xfrm>
            <a:off x="822960" y="1828800"/>
            <a:ext cx="1463040" cy="1463040"/>
          </a:xfrm>
          <a:prstGeom prst="ellipse">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6000" b="1" i="0">
                <a:solidFill>
                  <a:srgbClr val="FFFFFF"/>
                </a:solidFill>
                <a:latin typeface="Arial"/>
              </a:rPr>
              <a:t>F</a:t>
            </a:r>
          </a:p>
        </p:txBody>
      </p:sp>
      <p:sp>
        <p:nvSpPr>
          <p:cNvPr id="3" name="TextBox 2"/>
          <p:cNvSpPr txBox="1"/>
          <p:nvPr/>
        </p:nvSpPr>
        <p:spPr>
          <a:xfrm>
            <a:off x="822960" y="3611880"/>
            <a:ext cx="6035040" cy="822960"/>
          </a:xfrm>
          <a:prstGeom prst="rect">
            <a:avLst/>
          </a:prstGeom>
          <a:noFill/>
        </p:spPr>
        <p:txBody>
          <a:bodyPr wrap="square" lIns="0" rIns="0" tIns="0" bIns="0" anchor="t">
            <a:spAutoFit/>
          </a:bodyPr>
          <a:lstStyle/>
          <a:p>
            <a:pPr algn="l"/>
            <a:r>
              <a:rPr sz="3800" b="1" i="0">
                <a:solidFill>
                  <a:srgbClr val="FFFFFF"/>
                </a:solidFill>
                <a:latin typeface="Arial"/>
              </a:rPr>
              <a:t>Dữ liệu &amp; phía trước</a:t>
            </a:r>
          </a:p>
        </p:txBody>
      </p:sp>
      <p:sp>
        <p:nvSpPr>
          <p:cNvPr id="4" name="TextBox 3"/>
          <p:cNvSpPr txBox="1"/>
          <p:nvPr/>
        </p:nvSpPr>
        <p:spPr>
          <a:xfrm>
            <a:off x="822960" y="4434840"/>
            <a:ext cx="5120640" cy="457200"/>
          </a:xfrm>
          <a:prstGeom prst="rect">
            <a:avLst/>
          </a:prstGeom>
          <a:noFill/>
        </p:spPr>
        <p:txBody>
          <a:bodyPr wrap="square" lIns="0" rIns="0" tIns="0" bIns="0" anchor="t">
            <a:spAutoFit/>
          </a:bodyPr>
          <a:lstStyle/>
          <a:p>
            <a:pPr algn="l"/>
            <a:r>
              <a:rPr sz="1800" b="1" i="0">
                <a:solidFill>
                  <a:srgbClr val="A9B4C4"/>
                </a:solidFill>
                <a:latin typeface="Arial"/>
              </a:rPr>
              <a:t>14 bộ dữ liệu</a:t>
            </a:r>
          </a:p>
        </p:txBody>
      </p:sp>
      <p:sp>
        <p:nvSpPr>
          <p:cNvPr id="5" name="TextBox 4"/>
          <p:cNvSpPr txBox="1"/>
          <p:nvPr/>
        </p:nvSpPr>
        <p:spPr>
          <a:xfrm>
            <a:off x="822960" y="4937760"/>
            <a:ext cx="4937760" cy="914400"/>
          </a:xfrm>
          <a:prstGeom prst="rect">
            <a:avLst/>
          </a:prstGeom>
          <a:noFill/>
        </p:spPr>
        <p:txBody>
          <a:bodyPr wrap="square" lIns="0" rIns="0" tIns="0" bIns="0" anchor="t">
            <a:spAutoFit/>
          </a:bodyPr>
          <a:lstStyle/>
          <a:p>
            <a:pPr algn="l"/>
            <a:r>
              <a:rPr sz="1600" b="0" i="0">
                <a:solidFill>
                  <a:srgbClr val="C9D3E0"/>
                </a:solidFill>
                <a:latin typeface="Arial"/>
              </a:rPr>
              <a:t>Dữ liệu thật, bẩn thật, giấy phép mở.</a:t>
            </a:r>
          </a:p>
        </p:txBody>
      </p:sp>
      <p:cxnSp>
        <p:nvCxnSpPr>
          <p:cNvPr id="6" name="Connector 5"/>
          <p:cNvCxnSpPr/>
          <p:nvPr/>
        </p:nvCxnSpPr>
        <p:spPr>
          <a:xfrm flipH="1" flipV="1">
            <a:off x="7155180" y="2125980"/>
            <a:ext cx="1943100" cy="937259"/>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flipH="1">
            <a:off x="7155180" y="3063239"/>
            <a:ext cx="1943100" cy="0"/>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flipH="1">
            <a:off x="7155180" y="3063239"/>
            <a:ext cx="1943100" cy="937261"/>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V="1">
            <a:off x="9098280" y="2125980"/>
            <a:ext cx="1943100" cy="937259"/>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9098280" y="3063239"/>
            <a:ext cx="1943100" cy="0"/>
          </a:xfrm>
          <a:prstGeom prst="line">
            <a:avLst/>
          </a:prstGeom>
          <a:ln w="19050">
            <a:solidFill>
              <a:srgbClr val="3A4A63"/>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9098280" y="3063239"/>
            <a:ext cx="1943100" cy="937261"/>
          </a:xfrm>
          <a:prstGeom prst="line">
            <a:avLst/>
          </a:prstGeom>
          <a:ln w="19050">
            <a:solidFill>
              <a:srgbClr val="4A5568"/>
            </a:solidFill>
          </a:ln>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8298179" y="2697479"/>
            <a:ext cx="1600200" cy="731520"/>
          </a:xfrm>
          <a:prstGeom prst="ellipse">
            <a:avLst/>
          </a:prstGeom>
          <a:solidFill>
            <a:srgbClr val="1B2A41"/>
          </a:solidFill>
          <a:ln w="15875">
            <a:solidFill>
              <a:srgbClr val="8FA3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355080" y="1817369"/>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A. Khái niệm nền</a:t>
            </a:r>
          </a:p>
        </p:txBody>
      </p:sp>
      <p:sp>
        <p:nvSpPr>
          <p:cNvPr id="14" name="Rounded Rectangle 13"/>
          <p:cNvSpPr/>
          <p:nvPr/>
        </p:nvSpPr>
        <p:spPr>
          <a:xfrm>
            <a:off x="6355080" y="2754630"/>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B. Vấn đề dữ liệu</a:t>
            </a:r>
          </a:p>
        </p:txBody>
      </p:sp>
      <p:sp>
        <p:nvSpPr>
          <p:cNvPr id="15" name="Rounded Rectangle 14"/>
          <p:cNvSpPr/>
          <p:nvPr/>
        </p:nvSpPr>
        <p:spPr>
          <a:xfrm>
            <a:off x="6355080" y="3691889"/>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C. Bảng tra &amp; từ điển</a:t>
            </a:r>
          </a:p>
        </p:txBody>
      </p:sp>
      <p:sp>
        <p:nvSpPr>
          <p:cNvPr id="16" name="Rounded Rectangle 15"/>
          <p:cNvSpPr/>
          <p:nvPr/>
        </p:nvSpPr>
        <p:spPr>
          <a:xfrm>
            <a:off x="10241280" y="1817369"/>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D. Đánh giá trung thực</a:t>
            </a:r>
          </a:p>
        </p:txBody>
      </p:sp>
      <p:sp>
        <p:nvSpPr>
          <p:cNvPr id="17" name="Rounded Rectangle 16"/>
          <p:cNvSpPr/>
          <p:nvPr/>
        </p:nvSpPr>
        <p:spPr>
          <a:xfrm>
            <a:off x="10241280" y="2754630"/>
            <a:ext cx="1600200" cy="617220"/>
          </a:xfrm>
          <a:prstGeom prst="roundRect">
            <a:avLst>
              <a:gd name="adj" fmla="val 18000"/>
            </a:avLst>
          </a:prstGeom>
          <a:solidFill>
            <a:srgbClr val="3A4A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7C8BA1"/>
                </a:solidFill>
                <a:latin typeface="Arial"/>
              </a:rPr>
              <a:t>E. Quy trình tiền xử lý</a:t>
            </a:r>
          </a:p>
        </p:txBody>
      </p:sp>
      <p:sp>
        <p:nvSpPr>
          <p:cNvPr id="18" name="Rounded Rectangle 17"/>
          <p:cNvSpPr/>
          <p:nvPr/>
        </p:nvSpPr>
        <p:spPr>
          <a:xfrm>
            <a:off x="10241280" y="3691889"/>
            <a:ext cx="1600200" cy="617220"/>
          </a:xfrm>
          <a:prstGeom prst="roundRect">
            <a:avLst>
              <a:gd name="adj" fmla="val 18000"/>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lstStyle/>
          <a:p>
            <a:pPr algn="ctr"/>
            <a:r>
              <a:rPr sz="1000" b="1" i="0">
                <a:solidFill>
                  <a:srgbClr val="FFFFFF"/>
                </a:solidFill>
                <a:latin typeface="Arial"/>
              </a:rPr>
              <a:t>F. Dữ liệu &amp; phía trước</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F</a:t>
            </a:r>
          </a:p>
        </p:txBody>
      </p:sp>
      <p:sp>
        <p:nvSpPr>
          <p:cNvPr id="3" name="TextBox 2"/>
          <p:cNvSpPr txBox="1"/>
          <p:nvPr/>
        </p:nvSpPr>
        <p:spPr>
          <a:xfrm>
            <a:off x="1325880" y="384048"/>
            <a:ext cx="10332720" cy="731520"/>
          </a:xfrm>
          <a:prstGeom prst="rect">
            <a:avLst/>
          </a:prstGeom>
          <a:noFill/>
        </p:spPr>
        <p:txBody>
          <a:bodyPr wrap="square" lIns="0" rIns="0" tIns="0" bIns="0" anchor="ctr">
            <a:spAutoFit/>
          </a:bodyPr>
          <a:lstStyle/>
          <a:p>
            <a:pPr algn="l"/>
            <a:r>
              <a:rPr sz="3000" b="1" i="0">
                <a:solidFill>
                  <a:srgbClr val="1B2A41"/>
                </a:solidFill>
                <a:latin typeface="Arial"/>
              </a:rPr>
              <a:t>14 bộ dữ liệu thật, mỗi bộ bẩn một kiểu</a:t>
            </a:r>
          </a:p>
        </p:txBody>
      </p:sp>
      <p:sp>
        <p:nvSpPr>
          <p:cNvPr id="4" name="Rounded Rectangle 3"/>
          <p:cNvSpPr/>
          <p:nvPr/>
        </p:nvSpPr>
        <p:spPr>
          <a:xfrm>
            <a:off x="548640" y="1325880"/>
            <a:ext cx="2651760" cy="109728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417320"/>
            <a:ext cx="2286000" cy="274320"/>
          </a:xfrm>
          <a:prstGeom prst="rect">
            <a:avLst/>
          </a:prstGeom>
          <a:noFill/>
        </p:spPr>
        <p:txBody>
          <a:bodyPr wrap="square" lIns="0" rIns="0" tIns="0" bIns="0" anchor="t">
            <a:spAutoFit/>
          </a:bodyPr>
          <a:lstStyle/>
          <a:p>
            <a:pPr algn="l"/>
            <a:r>
              <a:rPr sz="1400" b="1" i="0">
                <a:solidFill>
                  <a:srgbClr val="1B2A41"/>
                </a:solidFill>
                <a:latin typeface="Arial"/>
              </a:rPr>
              <a:t>UCI Household Power</a:t>
            </a:r>
          </a:p>
        </p:txBody>
      </p:sp>
      <p:sp>
        <p:nvSpPr>
          <p:cNvPr id="6" name="TextBox 5"/>
          <p:cNvSpPr txBox="1"/>
          <p:nvPr/>
        </p:nvSpPr>
        <p:spPr>
          <a:xfrm>
            <a:off x="731520" y="1691640"/>
            <a:ext cx="2286000" cy="274320"/>
          </a:xfrm>
          <a:prstGeom prst="rect">
            <a:avLst/>
          </a:prstGeom>
          <a:noFill/>
        </p:spPr>
        <p:txBody>
          <a:bodyPr wrap="square" lIns="0" rIns="0" tIns="0" bIns="0" anchor="t">
            <a:spAutoFit/>
          </a:bodyPr>
          <a:lstStyle/>
          <a:p>
            <a:pPr algn="l"/>
            <a:r>
              <a:rPr sz="1100" b="0" i="0">
                <a:solidFill>
                  <a:srgbClr val="1B2A41"/>
                </a:solidFill>
                <a:latin typeface="Arial"/>
              </a:rPr>
              <a:t>Điện một hộ, Pháp</a:t>
            </a:r>
          </a:p>
        </p:txBody>
      </p:sp>
      <p:sp>
        <p:nvSpPr>
          <p:cNvPr id="7" name="TextBox 6"/>
          <p:cNvSpPr txBox="1"/>
          <p:nvPr/>
        </p:nvSpPr>
        <p:spPr>
          <a:xfrm>
            <a:off x="731520" y="1911095"/>
            <a:ext cx="2286000" cy="274320"/>
          </a:xfrm>
          <a:prstGeom prst="rect">
            <a:avLst/>
          </a:prstGeom>
          <a:noFill/>
        </p:spPr>
        <p:txBody>
          <a:bodyPr wrap="square" lIns="0" rIns="0" tIns="0" bIns="0" anchor="t">
            <a:spAutoFit/>
          </a:bodyPr>
          <a:lstStyle/>
          <a:p>
            <a:pPr algn="l"/>
            <a:r>
              <a:rPr sz="1100" b="1" i="0">
                <a:solidFill>
                  <a:srgbClr val="D9642B"/>
                </a:solidFill>
                <a:latin typeface="Arial"/>
              </a:rPr>
              <a:t>bẩn: thiếu ghi là '?'</a:t>
            </a:r>
          </a:p>
        </p:txBody>
      </p:sp>
      <p:sp>
        <p:nvSpPr>
          <p:cNvPr id="8" name="TextBox 7"/>
          <p:cNvSpPr txBox="1"/>
          <p:nvPr/>
        </p:nvSpPr>
        <p:spPr>
          <a:xfrm>
            <a:off x="731520" y="2148840"/>
            <a:ext cx="2286000" cy="228600"/>
          </a:xfrm>
          <a:prstGeom prst="rect">
            <a:avLst/>
          </a:prstGeom>
          <a:noFill/>
        </p:spPr>
        <p:txBody>
          <a:bodyPr wrap="square" lIns="0" rIns="0" tIns="0" bIns="0" anchor="t">
            <a:spAutoFit/>
          </a:bodyPr>
          <a:lstStyle/>
          <a:p>
            <a:pPr algn="l"/>
            <a:r>
              <a:rPr sz="900" b="0" i="0">
                <a:solidFill>
                  <a:srgbClr val="5B6778"/>
                </a:solidFill>
                <a:latin typeface="Arial"/>
              </a:rPr>
              <a:t>phút · CC BY 4.0</a:t>
            </a:r>
            <a:r>
              <a:rPr sz="900" b="1" i="0">
                <a:solidFill>
                  <a:srgbClr val="5B6778"/>
                </a:solidFill>
                <a:latin typeface="Arial"/>
              </a:rPr>
              <a:t>   buổi 1</a:t>
            </a:r>
          </a:p>
        </p:txBody>
      </p:sp>
      <p:sp>
        <p:nvSpPr>
          <p:cNvPr id="9" name="Rounded Rectangle 8"/>
          <p:cNvSpPr/>
          <p:nvPr/>
        </p:nvSpPr>
        <p:spPr>
          <a:xfrm>
            <a:off x="3362248" y="1325880"/>
            <a:ext cx="2651760" cy="109728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45128" y="1417320"/>
            <a:ext cx="2286000" cy="274320"/>
          </a:xfrm>
          <a:prstGeom prst="rect">
            <a:avLst/>
          </a:prstGeom>
          <a:noFill/>
        </p:spPr>
        <p:txBody>
          <a:bodyPr wrap="square" lIns="0" rIns="0" tIns="0" bIns="0" anchor="t">
            <a:spAutoFit/>
          </a:bodyPr>
          <a:lstStyle/>
          <a:p>
            <a:pPr algn="l"/>
            <a:r>
              <a:rPr sz="1400" b="1" i="0">
                <a:solidFill>
                  <a:srgbClr val="1B2A41"/>
                </a:solidFill>
                <a:latin typeface="Arial"/>
              </a:rPr>
              <a:t>UCI Bike Sharing</a:t>
            </a:r>
          </a:p>
        </p:txBody>
      </p:sp>
      <p:sp>
        <p:nvSpPr>
          <p:cNvPr id="11" name="TextBox 10"/>
          <p:cNvSpPr txBox="1"/>
          <p:nvPr/>
        </p:nvSpPr>
        <p:spPr>
          <a:xfrm>
            <a:off x="3545128" y="1691640"/>
            <a:ext cx="2286000" cy="274320"/>
          </a:xfrm>
          <a:prstGeom prst="rect">
            <a:avLst/>
          </a:prstGeom>
          <a:noFill/>
        </p:spPr>
        <p:txBody>
          <a:bodyPr wrap="square" lIns="0" rIns="0" tIns="0" bIns="0" anchor="t">
            <a:spAutoFit/>
          </a:bodyPr>
          <a:lstStyle/>
          <a:p>
            <a:pPr algn="l"/>
            <a:r>
              <a:rPr sz="1100" b="0" i="0">
                <a:solidFill>
                  <a:srgbClr val="1B2A41"/>
                </a:solidFill>
                <a:latin typeface="Arial"/>
              </a:rPr>
              <a:t>Thuê xe, Washington</a:t>
            </a:r>
          </a:p>
        </p:txBody>
      </p:sp>
      <p:sp>
        <p:nvSpPr>
          <p:cNvPr id="12" name="TextBox 11"/>
          <p:cNvSpPr txBox="1"/>
          <p:nvPr/>
        </p:nvSpPr>
        <p:spPr>
          <a:xfrm>
            <a:off x="3545128" y="1911095"/>
            <a:ext cx="2286000" cy="274320"/>
          </a:xfrm>
          <a:prstGeom prst="rect">
            <a:avLst/>
          </a:prstGeom>
          <a:noFill/>
        </p:spPr>
        <p:txBody>
          <a:bodyPr wrap="square" lIns="0" rIns="0" tIns="0" bIns="0" anchor="t">
            <a:spAutoFit/>
          </a:bodyPr>
          <a:lstStyle/>
          <a:p>
            <a:pPr algn="l"/>
            <a:r>
              <a:rPr sz="1100" b="1" i="0">
                <a:solidFill>
                  <a:srgbClr val="D9642B"/>
                </a:solidFill>
                <a:latin typeface="Arial"/>
              </a:rPr>
              <a:t>bẩn: thiếu 165 giờ</a:t>
            </a:r>
          </a:p>
        </p:txBody>
      </p:sp>
      <p:sp>
        <p:nvSpPr>
          <p:cNvPr id="13" name="TextBox 12"/>
          <p:cNvSpPr txBox="1"/>
          <p:nvPr/>
        </p:nvSpPr>
        <p:spPr>
          <a:xfrm>
            <a:off x="3545128" y="2148840"/>
            <a:ext cx="2286000" cy="228600"/>
          </a:xfrm>
          <a:prstGeom prst="rect">
            <a:avLst/>
          </a:prstGeom>
          <a:noFill/>
        </p:spPr>
        <p:txBody>
          <a:bodyPr wrap="square" lIns="0" rIns="0" tIns="0" bIns="0" anchor="t">
            <a:spAutoFit/>
          </a:bodyPr>
          <a:lstStyle/>
          <a:p>
            <a:pPr algn="l"/>
            <a:r>
              <a:rPr sz="900" b="0" i="0">
                <a:solidFill>
                  <a:srgbClr val="5B6778"/>
                </a:solidFill>
                <a:latin typeface="Arial"/>
              </a:rPr>
              <a:t>giờ · CC BY 4.0</a:t>
            </a:r>
            <a:r>
              <a:rPr sz="900" b="1" i="0">
                <a:solidFill>
                  <a:srgbClr val="5B6778"/>
                </a:solidFill>
                <a:latin typeface="Arial"/>
              </a:rPr>
              <a:t>   buổi 2, 4, 7</a:t>
            </a:r>
          </a:p>
        </p:txBody>
      </p:sp>
      <p:sp>
        <p:nvSpPr>
          <p:cNvPr id="14" name="Rounded Rectangle 13"/>
          <p:cNvSpPr/>
          <p:nvPr/>
        </p:nvSpPr>
        <p:spPr>
          <a:xfrm>
            <a:off x="6175857" y="1325880"/>
            <a:ext cx="2651760" cy="109728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8737" y="1417320"/>
            <a:ext cx="2286000" cy="274320"/>
          </a:xfrm>
          <a:prstGeom prst="rect">
            <a:avLst/>
          </a:prstGeom>
          <a:noFill/>
        </p:spPr>
        <p:txBody>
          <a:bodyPr wrap="square" lIns="0" rIns="0" tIns="0" bIns="0" anchor="t">
            <a:spAutoFit/>
          </a:bodyPr>
          <a:lstStyle/>
          <a:p>
            <a:pPr algn="l"/>
            <a:r>
              <a:rPr sz="1400" b="1" i="0">
                <a:solidFill>
                  <a:srgbClr val="1B2A41"/>
                </a:solidFill>
                <a:latin typeface="Arial"/>
              </a:rPr>
              <a:t>NYC Taxi (TLC)</a:t>
            </a:r>
          </a:p>
        </p:txBody>
      </p:sp>
      <p:sp>
        <p:nvSpPr>
          <p:cNvPr id="16" name="TextBox 15"/>
          <p:cNvSpPr txBox="1"/>
          <p:nvPr/>
        </p:nvSpPr>
        <p:spPr>
          <a:xfrm>
            <a:off x="6358737" y="1691640"/>
            <a:ext cx="2286000" cy="274320"/>
          </a:xfrm>
          <a:prstGeom prst="rect">
            <a:avLst/>
          </a:prstGeom>
          <a:noFill/>
        </p:spPr>
        <p:txBody>
          <a:bodyPr wrap="square" lIns="0" rIns="0" tIns="0" bIns="0" anchor="t">
            <a:spAutoFit/>
          </a:bodyPr>
          <a:lstStyle/>
          <a:p>
            <a:pPr algn="l"/>
            <a:r>
              <a:rPr sz="1100" b="0" i="0">
                <a:solidFill>
                  <a:srgbClr val="1B2A41"/>
                </a:solidFill>
                <a:latin typeface="Arial"/>
              </a:rPr>
              <a:t>Chuyến taxi New York</a:t>
            </a:r>
          </a:p>
        </p:txBody>
      </p:sp>
      <p:sp>
        <p:nvSpPr>
          <p:cNvPr id="17" name="TextBox 16"/>
          <p:cNvSpPr txBox="1"/>
          <p:nvPr/>
        </p:nvSpPr>
        <p:spPr>
          <a:xfrm>
            <a:off x="6358737" y="1911095"/>
            <a:ext cx="2286000" cy="274320"/>
          </a:xfrm>
          <a:prstGeom prst="rect">
            <a:avLst/>
          </a:prstGeom>
          <a:noFill/>
        </p:spPr>
        <p:txBody>
          <a:bodyPr wrap="square" lIns="0" rIns="0" tIns="0" bIns="0" anchor="t">
            <a:spAutoFit/>
          </a:bodyPr>
          <a:lstStyle/>
          <a:p>
            <a:pPr algn="l"/>
            <a:r>
              <a:rPr sz="1100" b="1" i="0">
                <a:solidFill>
                  <a:srgbClr val="D9642B"/>
                </a:solidFill>
                <a:latin typeface="Arial"/>
              </a:rPr>
              <a:t>bẩn: giờ naive quanh đổi giờ</a:t>
            </a:r>
          </a:p>
        </p:txBody>
      </p:sp>
      <p:sp>
        <p:nvSpPr>
          <p:cNvPr id="18" name="TextBox 17"/>
          <p:cNvSpPr txBox="1"/>
          <p:nvPr/>
        </p:nvSpPr>
        <p:spPr>
          <a:xfrm>
            <a:off x="6358737" y="2148840"/>
            <a:ext cx="2286000" cy="228600"/>
          </a:xfrm>
          <a:prstGeom prst="rect">
            <a:avLst/>
          </a:prstGeom>
          <a:noFill/>
        </p:spPr>
        <p:txBody>
          <a:bodyPr wrap="square" lIns="0" rIns="0" tIns="0" bIns="0" anchor="t">
            <a:spAutoFit/>
          </a:bodyPr>
          <a:lstStyle/>
          <a:p>
            <a:pPr algn="l"/>
            <a:r>
              <a:rPr sz="900" b="0" i="0">
                <a:solidFill>
                  <a:srgbClr val="5B6778"/>
                </a:solidFill>
                <a:latin typeface="Arial"/>
              </a:rPr>
              <a:t>chuyến · NYC Open Data</a:t>
            </a:r>
            <a:r>
              <a:rPr sz="900" b="1" i="0">
                <a:solidFill>
                  <a:srgbClr val="5B6778"/>
                </a:solidFill>
                <a:latin typeface="Arial"/>
              </a:rPr>
              <a:t>   buổi 3</a:t>
            </a:r>
          </a:p>
        </p:txBody>
      </p:sp>
      <p:sp>
        <p:nvSpPr>
          <p:cNvPr id="19" name="Rounded Rectangle 18"/>
          <p:cNvSpPr/>
          <p:nvPr/>
        </p:nvSpPr>
        <p:spPr>
          <a:xfrm>
            <a:off x="8989466" y="1325880"/>
            <a:ext cx="2651760" cy="109728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72346" y="1417320"/>
            <a:ext cx="2286000" cy="274320"/>
          </a:xfrm>
          <a:prstGeom prst="rect">
            <a:avLst/>
          </a:prstGeom>
          <a:noFill/>
        </p:spPr>
        <p:txBody>
          <a:bodyPr wrap="square" lIns="0" rIns="0" tIns="0" bIns="0" anchor="t">
            <a:spAutoFit/>
          </a:bodyPr>
          <a:lstStyle/>
          <a:p>
            <a:pPr algn="l"/>
            <a:r>
              <a:rPr sz="1400" b="1" i="0">
                <a:solidFill>
                  <a:srgbClr val="1B2A41"/>
                </a:solidFill>
                <a:latin typeface="Arial"/>
              </a:rPr>
              <a:t>Census · BLS · BEA</a:t>
            </a:r>
          </a:p>
        </p:txBody>
      </p:sp>
      <p:sp>
        <p:nvSpPr>
          <p:cNvPr id="21" name="TextBox 20"/>
          <p:cNvSpPr txBox="1"/>
          <p:nvPr/>
        </p:nvSpPr>
        <p:spPr>
          <a:xfrm>
            <a:off x="9172346" y="1691640"/>
            <a:ext cx="2286000" cy="274320"/>
          </a:xfrm>
          <a:prstGeom prst="rect">
            <a:avLst/>
          </a:prstGeom>
          <a:noFill/>
        </p:spPr>
        <p:txBody>
          <a:bodyPr wrap="square" lIns="0" rIns="0" tIns="0" bIns="0" anchor="t">
            <a:spAutoFit/>
          </a:bodyPr>
          <a:lstStyle/>
          <a:p>
            <a:pPr algn="l"/>
            <a:r>
              <a:rPr sz="1100" b="0" i="0">
                <a:solidFill>
                  <a:srgbClr val="1B2A41"/>
                </a:solidFill>
                <a:latin typeface="Arial"/>
              </a:rPr>
              <a:t>Bán lẻ, CPI, dân số, GDP</a:t>
            </a:r>
          </a:p>
        </p:txBody>
      </p:sp>
      <p:sp>
        <p:nvSpPr>
          <p:cNvPr id="22" name="TextBox 21"/>
          <p:cNvSpPr txBox="1"/>
          <p:nvPr/>
        </p:nvSpPr>
        <p:spPr>
          <a:xfrm>
            <a:off x="9172346" y="1911095"/>
            <a:ext cx="2286000" cy="274320"/>
          </a:xfrm>
          <a:prstGeom prst="rect">
            <a:avLst/>
          </a:prstGeom>
          <a:noFill/>
        </p:spPr>
        <p:txBody>
          <a:bodyPr wrap="square" lIns="0" rIns="0" tIns="0" bIns="0" anchor="t">
            <a:spAutoFit/>
          </a:bodyPr>
          <a:lstStyle/>
          <a:p>
            <a:pPr algn="l"/>
            <a:r>
              <a:rPr sz="1100" b="1" i="0">
                <a:solidFill>
                  <a:srgbClr val="D9642B"/>
                </a:solidFill>
                <a:latin typeface="Arial"/>
              </a:rPr>
              <a:t>bẩn: ô '(S)', đổi định nghĩa</a:t>
            </a:r>
          </a:p>
        </p:txBody>
      </p:sp>
      <p:sp>
        <p:nvSpPr>
          <p:cNvPr id="23" name="TextBox 22"/>
          <p:cNvSpPr txBox="1"/>
          <p:nvPr/>
        </p:nvSpPr>
        <p:spPr>
          <a:xfrm>
            <a:off x="9172346" y="2148840"/>
            <a:ext cx="2286000" cy="228600"/>
          </a:xfrm>
          <a:prstGeom prst="rect">
            <a:avLst/>
          </a:prstGeom>
          <a:noFill/>
        </p:spPr>
        <p:txBody>
          <a:bodyPr wrap="square" lIns="0" rIns="0" tIns="0" bIns="0" anchor="t">
            <a:spAutoFit/>
          </a:bodyPr>
          <a:lstStyle/>
          <a:p>
            <a:pPr algn="l"/>
            <a:r>
              <a:rPr sz="900" b="0" i="0">
                <a:solidFill>
                  <a:srgbClr val="5B6778"/>
                </a:solidFill>
                <a:latin typeface="Arial"/>
              </a:rPr>
              <a:t>tháng · public domain</a:t>
            </a:r>
            <a:r>
              <a:rPr sz="900" b="1" i="0">
                <a:solidFill>
                  <a:srgbClr val="5B6778"/>
                </a:solidFill>
                <a:latin typeface="Arial"/>
              </a:rPr>
              <a:t>   buổi 5, 7, 8</a:t>
            </a:r>
          </a:p>
        </p:txBody>
      </p:sp>
      <p:sp>
        <p:nvSpPr>
          <p:cNvPr id="24" name="Rounded Rectangle 23"/>
          <p:cNvSpPr/>
          <p:nvPr/>
        </p:nvSpPr>
        <p:spPr>
          <a:xfrm>
            <a:off x="548640" y="2542032"/>
            <a:ext cx="2651760" cy="109728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31520" y="2633472"/>
            <a:ext cx="2286000" cy="274320"/>
          </a:xfrm>
          <a:prstGeom prst="rect">
            <a:avLst/>
          </a:prstGeom>
          <a:noFill/>
        </p:spPr>
        <p:txBody>
          <a:bodyPr wrap="square" lIns="0" rIns="0" tIns="0" bIns="0" anchor="t">
            <a:spAutoFit/>
          </a:bodyPr>
          <a:lstStyle/>
          <a:p>
            <a:pPr algn="l"/>
            <a:r>
              <a:rPr sz="1400" b="1" i="0">
                <a:solidFill>
                  <a:srgbClr val="1B2A41"/>
                </a:solidFill>
                <a:latin typeface="Arial"/>
              </a:rPr>
              <a:t>EIA-930</a:t>
            </a:r>
          </a:p>
        </p:txBody>
      </p:sp>
      <p:sp>
        <p:nvSpPr>
          <p:cNvPr id="26" name="TextBox 25"/>
          <p:cNvSpPr txBox="1"/>
          <p:nvPr/>
        </p:nvSpPr>
        <p:spPr>
          <a:xfrm>
            <a:off x="731520" y="2907792"/>
            <a:ext cx="2286000" cy="274320"/>
          </a:xfrm>
          <a:prstGeom prst="rect">
            <a:avLst/>
          </a:prstGeom>
          <a:noFill/>
        </p:spPr>
        <p:txBody>
          <a:bodyPr wrap="square" lIns="0" rIns="0" tIns="0" bIns="0" anchor="t">
            <a:spAutoFit/>
          </a:bodyPr>
          <a:lstStyle/>
          <a:p>
            <a:pPr algn="l"/>
            <a:r>
              <a:rPr sz="1100" b="0" i="0">
                <a:solidFill>
                  <a:srgbClr val="1B2A41"/>
                </a:solidFill>
                <a:latin typeface="Arial"/>
              </a:rPr>
              <a:t>Tải điện các vùng Mỹ</a:t>
            </a:r>
          </a:p>
        </p:txBody>
      </p:sp>
      <p:sp>
        <p:nvSpPr>
          <p:cNvPr id="27" name="TextBox 26"/>
          <p:cNvSpPr txBox="1"/>
          <p:nvPr/>
        </p:nvSpPr>
        <p:spPr>
          <a:xfrm>
            <a:off x="731520" y="3127248"/>
            <a:ext cx="2286000" cy="274320"/>
          </a:xfrm>
          <a:prstGeom prst="rect">
            <a:avLst/>
          </a:prstGeom>
          <a:noFill/>
        </p:spPr>
        <p:txBody>
          <a:bodyPr wrap="square" lIns="0" rIns="0" tIns="0" bIns="0" anchor="t">
            <a:spAutoFit/>
          </a:bodyPr>
          <a:lstStyle/>
          <a:p>
            <a:pPr algn="l"/>
            <a:r>
              <a:rPr sz="1100" b="1" i="0">
                <a:solidFill>
                  <a:srgbClr val="D9642B"/>
                </a:solidFill>
                <a:latin typeface="Arial"/>
              </a:rPr>
              <a:t>bẩn: cột đổi giữa năm</a:t>
            </a:r>
          </a:p>
        </p:txBody>
      </p:sp>
      <p:sp>
        <p:nvSpPr>
          <p:cNvPr id="28" name="TextBox 27"/>
          <p:cNvSpPr txBox="1"/>
          <p:nvPr/>
        </p:nvSpPr>
        <p:spPr>
          <a:xfrm>
            <a:off x="731520" y="3364992"/>
            <a:ext cx="2286000" cy="228600"/>
          </a:xfrm>
          <a:prstGeom prst="rect">
            <a:avLst/>
          </a:prstGeom>
          <a:noFill/>
        </p:spPr>
        <p:txBody>
          <a:bodyPr wrap="square" lIns="0" rIns="0" tIns="0" bIns="0" anchor="t">
            <a:spAutoFit/>
          </a:bodyPr>
          <a:lstStyle/>
          <a:p>
            <a:pPr algn="l"/>
            <a:r>
              <a:rPr sz="900" b="0" i="0">
                <a:solidFill>
                  <a:srgbClr val="5B6778"/>
                </a:solidFill>
                <a:latin typeface="Arial"/>
              </a:rPr>
              <a:t>giờ · public domain</a:t>
            </a:r>
            <a:r>
              <a:rPr sz="900" b="1" i="0">
                <a:solidFill>
                  <a:srgbClr val="5B6778"/>
                </a:solidFill>
                <a:latin typeface="Arial"/>
              </a:rPr>
              <a:t>   buổi 6, 8, 13, 15</a:t>
            </a:r>
          </a:p>
        </p:txBody>
      </p:sp>
      <p:sp>
        <p:nvSpPr>
          <p:cNvPr id="29" name="Rounded Rectangle 28"/>
          <p:cNvSpPr/>
          <p:nvPr/>
        </p:nvSpPr>
        <p:spPr>
          <a:xfrm>
            <a:off x="3362248" y="2542032"/>
            <a:ext cx="2651760" cy="109728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545128" y="2633472"/>
            <a:ext cx="2286000" cy="274320"/>
          </a:xfrm>
          <a:prstGeom prst="rect">
            <a:avLst/>
          </a:prstGeom>
          <a:noFill/>
        </p:spPr>
        <p:txBody>
          <a:bodyPr wrap="square" lIns="0" rIns="0" tIns="0" bIns="0" anchor="t">
            <a:spAutoFit/>
          </a:bodyPr>
          <a:lstStyle/>
          <a:p>
            <a:pPr algn="l"/>
            <a:r>
              <a:rPr sz="1400" b="1" i="0">
                <a:solidFill>
                  <a:srgbClr val="1B2A41"/>
                </a:solidFill>
                <a:latin typeface="Arial"/>
              </a:rPr>
              <a:t>FRB G.17</a:t>
            </a:r>
          </a:p>
        </p:txBody>
      </p:sp>
      <p:sp>
        <p:nvSpPr>
          <p:cNvPr id="31" name="TextBox 30"/>
          <p:cNvSpPr txBox="1"/>
          <p:nvPr/>
        </p:nvSpPr>
        <p:spPr>
          <a:xfrm>
            <a:off x="3545128" y="2907792"/>
            <a:ext cx="2286000" cy="274320"/>
          </a:xfrm>
          <a:prstGeom prst="rect">
            <a:avLst/>
          </a:prstGeom>
          <a:noFill/>
        </p:spPr>
        <p:txBody>
          <a:bodyPr wrap="square" lIns="0" rIns="0" tIns="0" bIns="0" anchor="t">
            <a:spAutoFit/>
          </a:bodyPr>
          <a:lstStyle/>
          <a:p>
            <a:pPr algn="l"/>
            <a:r>
              <a:rPr sz="1100" b="0" i="0">
                <a:solidFill>
                  <a:srgbClr val="1B2A41"/>
                </a:solidFill>
                <a:latin typeface="Arial"/>
              </a:rPr>
              <a:t>Sản lượng công nghiệp</a:t>
            </a:r>
          </a:p>
        </p:txBody>
      </p:sp>
      <p:sp>
        <p:nvSpPr>
          <p:cNvPr id="32" name="TextBox 31"/>
          <p:cNvSpPr txBox="1"/>
          <p:nvPr/>
        </p:nvSpPr>
        <p:spPr>
          <a:xfrm>
            <a:off x="3545128" y="3127248"/>
            <a:ext cx="2286000" cy="274320"/>
          </a:xfrm>
          <a:prstGeom prst="rect">
            <a:avLst/>
          </a:prstGeom>
          <a:noFill/>
        </p:spPr>
        <p:txBody>
          <a:bodyPr wrap="square" lIns="0" rIns="0" tIns="0" bIns="0" anchor="t">
            <a:spAutoFit/>
          </a:bodyPr>
          <a:lstStyle/>
          <a:p>
            <a:pPr algn="l"/>
            <a:r>
              <a:rPr sz="1100" b="1" i="0">
                <a:solidFill>
                  <a:srgbClr val="D9642B"/>
                </a:solidFill>
                <a:latin typeface="Arial"/>
              </a:rPr>
              <a:t>bẩn: xu hướng, không dừng</a:t>
            </a:r>
          </a:p>
        </p:txBody>
      </p:sp>
      <p:sp>
        <p:nvSpPr>
          <p:cNvPr id="33" name="TextBox 32"/>
          <p:cNvSpPr txBox="1"/>
          <p:nvPr/>
        </p:nvSpPr>
        <p:spPr>
          <a:xfrm>
            <a:off x="3545128" y="3364992"/>
            <a:ext cx="2286000" cy="228600"/>
          </a:xfrm>
          <a:prstGeom prst="rect">
            <a:avLst/>
          </a:prstGeom>
          <a:noFill/>
        </p:spPr>
        <p:txBody>
          <a:bodyPr wrap="square" lIns="0" rIns="0" tIns="0" bIns="0" anchor="t">
            <a:spAutoFit/>
          </a:bodyPr>
          <a:lstStyle/>
          <a:p>
            <a:pPr algn="l"/>
            <a:r>
              <a:rPr sz="900" b="0" i="0">
                <a:solidFill>
                  <a:srgbClr val="5B6778"/>
                </a:solidFill>
                <a:latin typeface="Arial"/>
              </a:rPr>
              <a:t>tháng · public domain</a:t>
            </a:r>
            <a:r>
              <a:rPr sz="900" b="1" i="0">
                <a:solidFill>
                  <a:srgbClr val="5B6778"/>
                </a:solidFill>
                <a:latin typeface="Arial"/>
              </a:rPr>
              <a:t>   buổi 7</a:t>
            </a:r>
          </a:p>
        </p:txBody>
      </p:sp>
      <p:sp>
        <p:nvSpPr>
          <p:cNvPr id="34" name="Rounded Rectangle 33"/>
          <p:cNvSpPr/>
          <p:nvPr/>
        </p:nvSpPr>
        <p:spPr>
          <a:xfrm>
            <a:off x="6175857" y="2542032"/>
            <a:ext cx="2651760" cy="109728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58737" y="2633472"/>
            <a:ext cx="2286000" cy="274320"/>
          </a:xfrm>
          <a:prstGeom prst="rect">
            <a:avLst/>
          </a:prstGeom>
          <a:noFill/>
        </p:spPr>
        <p:txBody>
          <a:bodyPr wrap="square" lIns="0" rIns="0" tIns="0" bIns="0" anchor="t">
            <a:spAutoFit/>
          </a:bodyPr>
          <a:lstStyle/>
          <a:p>
            <a:pPr algn="l"/>
            <a:r>
              <a:rPr sz="1400" b="1" i="0">
                <a:solidFill>
                  <a:srgbClr val="1B2A41"/>
                </a:solidFill>
                <a:latin typeface="Arial"/>
              </a:rPr>
              <a:t>Open-Meteo (ERA5)</a:t>
            </a:r>
          </a:p>
        </p:txBody>
      </p:sp>
      <p:sp>
        <p:nvSpPr>
          <p:cNvPr id="36" name="TextBox 35"/>
          <p:cNvSpPr txBox="1"/>
          <p:nvPr/>
        </p:nvSpPr>
        <p:spPr>
          <a:xfrm>
            <a:off x="6358737" y="2907792"/>
            <a:ext cx="2286000" cy="274320"/>
          </a:xfrm>
          <a:prstGeom prst="rect">
            <a:avLst/>
          </a:prstGeom>
          <a:noFill/>
        </p:spPr>
        <p:txBody>
          <a:bodyPr wrap="square" lIns="0" rIns="0" tIns="0" bIns="0" anchor="t">
            <a:spAutoFit/>
          </a:bodyPr>
          <a:lstStyle/>
          <a:p>
            <a:pPr algn="l"/>
            <a:r>
              <a:rPr sz="1100" b="0" i="0">
                <a:solidFill>
                  <a:srgbClr val="1B2A41"/>
                </a:solidFill>
                <a:latin typeface="Arial"/>
              </a:rPr>
              <a:t>Nhiệt độ, bản dự báo lưu</a:t>
            </a:r>
          </a:p>
        </p:txBody>
      </p:sp>
      <p:sp>
        <p:nvSpPr>
          <p:cNvPr id="37" name="TextBox 36"/>
          <p:cNvSpPr txBox="1"/>
          <p:nvPr/>
        </p:nvSpPr>
        <p:spPr>
          <a:xfrm>
            <a:off x="6358737" y="3127248"/>
            <a:ext cx="2286000" cy="274320"/>
          </a:xfrm>
          <a:prstGeom prst="rect">
            <a:avLst/>
          </a:prstGeom>
          <a:noFill/>
        </p:spPr>
        <p:txBody>
          <a:bodyPr wrap="square" lIns="0" rIns="0" tIns="0" bIns="0" anchor="t">
            <a:spAutoFit/>
          </a:bodyPr>
          <a:lstStyle/>
          <a:p>
            <a:pPr algn="l"/>
            <a:r>
              <a:rPr sz="1100" b="1" i="0">
                <a:solidFill>
                  <a:srgbClr val="D9642B"/>
                </a:solidFill>
                <a:latin typeface="Arial"/>
              </a:rPr>
              <a:t>bẩn: lệch giờ nếu không tải UTC</a:t>
            </a:r>
          </a:p>
        </p:txBody>
      </p:sp>
      <p:sp>
        <p:nvSpPr>
          <p:cNvPr id="38" name="TextBox 37"/>
          <p:cNvSpPr txBox="1"/>
          <p:nvPr/>
        </p:nvSpPr>
        <p:spPr>
          <a:xfrm>
            <a:off x="6358737" y="3364992"/>
            <a:ext cx="2286000" cy="228600"/>
          </a:xfrm>
          <a:prstGeom prst="rect">
            <a:avLst/>
          </a:prstGeom>
          <a:noFill/>
        </p:spPr>
        <p:txBody>
          <a:bodyPr wrap="square" lIns="0" rIns="0" tIns="0" bIns="0" anchor="t">
            <a:spAutoFit/>
          </a:bodyPr>
          <a:lstStyle/>
          <a:p>
            <a:pPr algn="l"/>
            <a:r>
              <a:rPr sz="900" b="0" i="0">
                <a:solidFill>
                  <a:srgbClr val="5B6778"/>
                </a:solidFill>
                <a:latin typeface="Arial"/>
              </a:rPr>
              <a:t>giờ · CC BY 4.0</a:t>
            </a:r>
            <a:r>
              <a:rPr sz="900" b="1" i="0">
                <a:solidFill>
                  <a:srgbClr val="5B6778"/>
                </a:solidFill>
                <a:latin typeface="Arial"/>
              </a:rPr>
              <a:t>   buổi 3, 8, 10, 13</a:t>
            </a:r>
          </a:p>
        </p:txBody>
      </p:sp>
      <p:sp>
        <p:nvSpPr>
          <p:cNvPr id="39" name="Rounded Rectangle 38"/>
          <p:cNvSpPr/>
          <p:nvPr/>
        </p:nvSpPr>
        <p:spPr>
          <a:xfrm>
            <a:off x="8989466" y="2542032"/>
            <a:ext cx="2651760" cy="109728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72346" y="2633472"/>
            <a:ext cx="2286000" cy="274320"/>
          </a:xfrm>
          <a:prstGeom prst="rect">
            <a:avLst/>
          </a:prstGeom>
          <a:noFill/>
        </p:spPr>
        <p:txBody>
          <a:bodyPr wrap="square" lIns="0" rIns="0" tIns="0" bIns="0" anchor="t">
            <a:spAutoFit/>
          </a:bodyPr>
          <a:lstStyle/>
          <a:p>
            <a:pPr algn="l"/>
            <a:r>
              <a:rPr sz="1400" b="1" i="0">
                <a:solidFill>
                  <a:srgbClr val="1B2A41"/>
                </a:solidFill>
                <a:latin typeface="Arial"/>
              </a:rPr>
              <a:t>M4 (Monash)</a:t>
            </a:r>
          </a:p>
        </p:txBody>
      </p:sp>
      <p:sp>
        <p:nvSpPr>
          <p:cNvPr id="41" name="TextBox 40"/>
          <p:cNvSpPr txBox="1"/>
          <p:nvPr/>
        </p:nvSpPr>
        <p:spPr>
          <a:xfrm>
            <a:off x="9172346" y="2907792"/>
            <a:ext cx="2286000" cy="274320"/>
          </a:xfrm>
          <a:prstGeom prst="rect">
            <a:avLst/>
          </a:prstGeom>
          <a:noFill/>
        </p:spPr>
        <p:txBody>
          <a:bodyPr wrap="square" lIns="0" rIns="0" tIns="0" bIns="0" anchor="t">
            <a:spAutoFit/>
          </a:bodyPr>
          <a:lstStyle/>
          <a:p>
            <a:pPr algn="l"/>
            <a:r>
              <a:rPr sz="1100" b="0" i="0">
                <a:solidFill>
                  <a:srgbClr val="1B2A41"/>
                </a:solidFill>
                <a:latin typeface="Arial"/>
              </a:rPr>
              <a:t>Chuỗi cuộc thi M4</a:t>
            </a:r>
          </a:p>
        </p:txBody>
      </p:sp>
      <p:sp>
        <p:nvSpPr>
          <p:cNvPr id="42" name="TextBox 41"/>
          <p:cNvSpPr txBox="1"/>
          <p:nvPr/>
        </p:nvSpPr>
        <p:spPr>
          <a:xfrm>
            <a:off x="9172346" y="3127248"/>
            <a:ext cx="2286000" cy="274320"/>
          </a:xfrm>
          <a:prstGeom prst="rect">
            <a:avLst/>
          </a:prstGeom>
          <a:noFill/>
        </p:spPr>
        <p:txBody>
          <a:bodyPr wrap="square" lIns="0" rIns="0" tIns="0" bIns="0" anchor="t">
            <a:spAutoFit/>
          </a:bodyPr>
          <a:lstStyle/>
          <a:p>
            <a:pPr algn="l"/>
            <a:r>
              <a:rPr sz="1100" b="1" i="0">
                <a:solidFill>
                  <a:srgbClr val="D9642B"/>
                </a:solidFill>
                <a:latin typeface="Arial"/>
              </a:rPr>
              <a:t>bẩn: dài ngắn khác nhau</a:t>
            </a:r>
          </a:p>
        </p:txBody>
      </p:sp>
      <p:sp>
        <p:nvSpPr>
          <p:cNvPr id="43" name="TextBox 42"/>
          <p:cNvSpPr txBox="1"/>
          <p:nvPr/>
        </p:nvSpPr>
        <p:spPr>
          <a:xfrm>
            <a:off x="9172346" y="3364992"/>
            <a:ext cx="2286000" cy="228600"/>
          </a:xfrm>
          <a:prstGeom prst="rect">
            <a:avLst/>
          </a:prstGeom>
          <a:noFill/>
        </p:spPr>
        <p:txBody>
          <a:bodyPr wrap="square" lIns="0" rIns="0" tIns="0" bIns="0" anchor="t">
            <a:spAutoFit/>
          </a:bodyPr>
          <a:lstStyle/>
          <a:p>
            <a:pPr algn="l"/>
            <a:r>
              <a:rPr sz="900" b="0" i="0">
                <a:solidFill>
                  <a:srgbClr val="5B6778"/>
                </a:solidFill>
                <a:latin typeface="Arial"/>
              </a:rPr>
              <a:t>3 tần suất · CC BY 4.0</a:t>
            </a:r>
            <a:r>
              <a:rPr sz="900" b="1" i="0">
                <a:solidFill>
                  <a:srgbClr val="5B6778"/>
                </a:solidFill>
                <a:latin typeface="Arial"/>
              </a:rPr>
              <a:t>   buổi 9, 14, 15</a:t>
            </a:r>
          </a:p>
        </p:txBody>
      </p:sp>
      <p:sp>
        <p:nvSpPr>
          <p:cNvPr id="44" name="Rounded Rectangle 43"/>
          <p:cNvSpPr/>
          <p:nvPr/>
        </p:nvSpPr>
        <p:spPr>
          <a:xfrm>
            <a:off x="548640" y="3758184"/>
            <a:ext cx="2651760" cy="109728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31520" y="3849624"/>
            <a:ext cx="2286000" cy="274320"/>
          </a:xfrm>
          <a:prstGeom prst="rect">
            <a:avLst/>
          </a:prstGeom>
          <a:noFill/>
        </p:spPr>
        <p:txBody>
          <a:bodyPr wrap="square" lIns="0" rIns="0" tIns="0" bIns="0" anchor="t">
            <a:spAutoFit/>
          </a:bodyPr>
          <a:lstStyle/>
          <a:p>
            <a:pPr algn="l"/>
            <a:r>
              <a:rPr sz="1400" b="1" i="0">
                <a:solidFill>
                  <a:srgbClr val="1B2A41"/>
                </a:solidFill>
                <a:latin typeface="Arial"/>
              </a:rPr>
              <a:t>Online Retail II</a:t>
            </a:r>
          </a:p>
        </p:txBody>
      </p:sp>
      <p:sp>
        <p:nvSpPr>
          <p:cNvPr id="46" name="TextBox 45"/>
          <p:cNvSpPr txBox="1"/>
          <p:nvPr/>
        </p:nvSpPr>
        <p:spPr>
          <a:xfrm>
            <a:off x="731520" y="4123944"/>
            <a:ext cx="2286000" cy="274320"/>
          </a:xfrm>
          <a:prstGeom prst="rect">
            <a:avLst/>
          </a:prstGeom>
          <a:noFill/>
        </p:spPr>
        <p:txBody>
          <a:bodyPr wrap="square" lIns="0" rIns="0" tIns="0" bIns="0" anchor="t">
            <a:spAutoFit/>
          </a:bodyPr>
          <a:lstStyle/>
          <a:p>
            <a:pPr algn="l"/>
            <a:r>
              <a:rPr sz="1100" b="0" i="0">
                <a:solidFill>
                  <a:srgbClr val="1B2A41"/>
                </a:solidFill>
                <a:latin typeface="Arial"/>
              </a:rPr>
              <a:t>Bán lẻ trực tuyến, Anh</a:t>
            </a:r>
          </a:p>
        </p:txBody>
      </p:sp>
      <p:sp>
        <p:nvSpPr>
          <p:cNvPr id="47" name="TextBox 46"/>
          <p:cNvSpPr txBox="1"/>
          <p:nvPr/>
        </p:nvSpPr>
        <p:spPr>
          <a:xfrm>
            <a:off x="731520" y="4343400"/>
            <a:ext cx="2286000" cy="274320"/>
          </a:xfrm>
          <a:prstGeom prst="rect">
            <a:avLst/>
          </a:prstGeom>
          <a:noFill/>
        </p:spPr>
        <p:txBody>
          <a:bodyPr wrap="square" lIns="0" rIns="0" tIns="0" bIns="0" anchor="t">
            <a:spAutoFit/>
          </a:bodyPr>
          <a:lstStyle/>
          <a:p>
            <a:pPr algn="l"/>
            <a:r>
              <a:rPr sz="1100" b="1" i="0">
                <a:solidFill>
                  <a:srgbClr val="D9642B"/>
                </a:solidFill>
                <a:latin typeface="Arial"/>
              </a:rPr>
              <a:t>bẩn: nhiều số 0</a:t>
            </a:r>
          </a:p>
        </p:txBody>
      </p:sp>
      <p:sp>
        <p:nvSpPr>
          <p:cNvPr id="48" name="TextBox 47"/>
          <p:cNvSpPr txBox="1"/>
          <p:nvPr/>
        </p:nvSpPr>
        <p:spPr>
          <a:xfrm>
            <a:off x="731520" y="4581144"/>
            <a:ext cx="2286000" cy="228600"/>
          </a:xfrm>
          <a:prstGeom prst="rect">
            <a:avLst/>
          </a:prstGeom>
          <a:noFill/>
        </p:spPr>
        <p:txBody>
          <a:bodyPr wrap="square" lIns="0" rIns="0" tIns="0" bIns="0" anchor="t">
            <a:spAutoFit/>
          </a:bodyPr>
          <a:lstStyle/>
          <a:p>
            <a:pPr algn="l"/>
            <a:r>
              <a:rPr sz="900" b="0" i="0">
                <a:solidFill>
                  <a:srgbClr val="5B6778"/>
                </a:solidFill>
                <a:latin typeface="Arial"/>
              </a:rPr>
              <a:t>hoá đơn · CC BY 4.0</a:t>
            </a:r>
            <a:r>
              <a:rPr sz="900" b="1" i="0">
                <a:solidFill>
                  <a:srgbClr val="5B6778"/>
                </a:solidFill>
                <a:latin typeface="Arial"/>
              </a:rPr>
              <a:t>   buổi 9, 13, 14</a:t>
            </a:r>
          </a:p>
        </p:txBody>
      </p:sp>
      <p:sp>
        <p:nvSpPr>
          <p:cNvPr id="49" name="Rounded Rectangle 48"/>
          <p:cNvSpPr/>
          <p:nvPr/>
        </p:nvSpPr>
        <p:spPr>
          <a:xfrm>
            <a:off x="3362248" y="3758184"/>
            <a:ext cx="2651760" cy="109728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545128" y="3849624"/>
            <a:ext cx="2286000" cy="274320"/>
          </a:xfrm>
          <a:prstGeom prst="rect">
            <a:avLst/>
          </a:prstGeom>
          <a:noFill/>
        </p:spPr>
        <p:txBody>
          <a:bodyPr wrap="square" lIns="0" rIns="0" tIns="0" bIns="0" anchor="t">
            <a:spAutoFit/>
          </a:bodyPr>
          <a:lstStyle/>
          <a:p>
            <a:pPr algn="l"/>
            <a:r>
              <a:rPr sz="1400" b="1" i="0">
                <a:solidFill>
                  <a:srgbClr val="1B2A41"/>
                </a:solidFill>
                <a:latin typeface="Arial"/>
              </a:rPr>
              <a:t>UCI Beijing Air</a:t>
            </a:r>
          </a:p>
        </p:txBody>
      </p:sp>
      <p:sp>
        <p:nvSpPr>
          <p:cNvPr id="51" name="TextBox 50"/>
          <p:cNvSpPr txBox="1"/>
          <p:nvPr/>
        </p:nvSpPr>
        <p:spPr>
          <a:xfrm>
            <a:off x="3545128" y="4123944"/>
            <a:ext cx="2286000" cy="274320"/>
          </a:xfrm>
          <a:prstGeom prst="rect">
            <a:avLst/>
          </a:prstGeom>
          <a:noFill/>
        </p:spPr>
        <p:txBody>
          <a:bodyPr wrap="square" lIns="0" rIns="0" tIns="0" bIns="0" anchor="t">
            <a:spAutoFit/>
          </a:bodyPr>
          <a:lstStyle/>
          <a:p>
            <a:pPr algn="l"/>
            <a:r>
              <a:rPr sz="1100" b="0" i="0">
                <a:solidFill>
                  <a:srgbClr val="1B2A41"/>
                </a:solidFill>
                <a:latin typeface="Arial"/>
              </a:rPr>
              <a:t>Bụi mịn 12 trạm</a:t>
            </a:r>
          </a:p>
        </p:txBody>
      </p:sp>
      <p:sp>
        <p:nvSpPr>
          <p:cNvPr id="52" name="TextBox 51"/>
          <p:cNvSpPr txBox="1"/>
          <p:nvPr/>
        </p:nvSpPr>
        <p:spPr>
          <a:xfrm>
            <a:off x="3545128" y="4343400"/>
            <a:ext cx="2286000" cy="274320"/>
          </a:xfrm>
          <a:prstGeom prst="rect">
            <a:avLst/>
          </a:prstGeom>
          <a:noFill/>
        </p:spPr>
        <p:txBody>
          <a:bodyPr wrap="square" lIns="0" rIns="0" tIns="0" bIns="0" anchor="t">
            <a:spAutoFit/>
          </a:bodyPr>
          <a:lstStyle/>
          <a:p>
            <a:pPr algn="l"/>
            <a:r>
              <a:rPr sz="1100" b="1" i="0">
                <a:solidFill>
                  <a:srgbClr val="D9642B"/>
                </a:solidFill>
                <a:latin typeface="Arial"/>
              </a:rPr>
              <a:t>bẩn: thiếu khi ô nhiễm (MNAR)</a:t>
            </a:r>
          </a:p>
        </p:txBody>
      </p:sp>
      <p:sp>
        <p:nvSpPr>
          <p:cNvPr id="53" name="TextBox 52"/>
          <p:cNvSpPr txBox="1"/>
          <p:nvPr/>
        </p:nvSpPr>
        <p:spPr>
          <a:xfrm>
            <a:off x="3545128" y="4581144"/>
            <a:ext cx="2286000" cy="228600"/>
          </a:xfrm>
          <a:prstGeom prst="rect">
            <a:avLst/>
          </a:prstGeom>
          <a:noFill/>
        </p:spPr>
        <p:txBody>
          <a:bodyPr wrap="square" lIns="0" rIns="0" tIns="0" bIns="0" anchor="t">
            <a:spAutoFit/>
          </a:bodyPr>
          <a:lstStyle/>
          <a:p>
            <a:pPr algn="l"/>
            <a:r>
              <a:rPr sz="900" b="0" i="0">
                <a:solidFill>
                  <a:srgbClr val="5B6778"/>
                </a:solidFill>
                <a:latin typeface="Arial"/>
              </a:rPr>
              <a:t>giờ · CC BY 4.0</a:t>
            </a:r>
            <a:r>
              <a:rPr sz="900" b="1" i="0">
                <a:solidFill>
                  <a:srgbClr val="5B6778"/>
                </a:solidFill>
                <a:latin typeface="Arial"/>
              </a:rPr>
              <a:t>   buổi 10</a:t>
            </a:r>
          </a:p>
        </p:txBody>
      </p:sp>
      <p:sp>
        <p:nvSpPr>
          <p:cNvPr id="54" name="Rounded Rectangle 53"/>
          <p:cNvSpPr/>
          <p:nvPr/>
        </p:nvSpPr>
        <p:spPr>
          <a:xfrm>
            <a:off x="6175857" y="3758184"/>
            <a:ext cx="2651760" cy="109728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358737" y="3849624"/>
            <a:ext cx="2286000" cy="274320"/>
          </a:xfrm>
          <a:prstGeom prst="rect">
            <a:avLst/>
          </a:prstGeom>
          <a:noFill/>
        </p:spPr>
        <p:txBody>
          <a:bodyPr wrap="square" lIns="0" rIns="0" tIns="0" bIns="0" anchor="t">
            <a:spAutoFit/>
          </a:bodyPr>
          <a:lstStyle/>
          <a:p>
            <a:pPr algn="l"/>
            <a:r>
              <a:rPr sz="1400" b="1" i="0">
                <a:solidFill>
                  <a:srgbClr val="1B2A41"/>
                </a:solidFill>
                <a:latin typeface="Arial"/>
              </a:rPr>
              <a:t>GHCNh Nội Bài</a:t>
            </a:r>
          </a:p>
        </p:txBody>
      </p:sp>
      <p:sp>
        <p:nvSpPr>
          <p:cNvPr id="56" name="TextBox 55"/>
          <p:cNvSpPr txBox="1"/>
          <p:nvPr/>
        </p:nvSpPr>
        <p:spPr>
          <a:xfrm>
            <a:off x="6358737" y="4123944"/>
            <a:ext cx="2286000" cy="274320"/>
          </a:xfrm>
          <a:prstGeom prst="rect">
            <a:avLst/>
          </a:prstGeom>
          <a:noFill/>
        </p:spPr>
        <p:txBody>
          <a:bodyPr wrap="square" lIns="0" rIns="0" tIns="0" bIns="0" anchor="t">
            <a:spAutoFit/>
          </a:bodyPr>
          <a:lstStyle/>
          <a:p>
            <a:pPr algn="l"/>
            <a:r>
              <a:rPr sz="1100" b="0" i="0">
                <a:solidFill>
                  <a:srgbClr val="1B2A41"/>
                </a:solidFill>
                <a:latin typeface="Arial"/>
              </a:rPr>
              <a:t>Trạm khí tượng Nội Bài</a:t>
            </a:r>
          </a:p>
        </p:txBody>
      </p:sp>
      <p:sp>
        <p:nvSpPr>
          <p:cNvPr id="57" name="TextBox 56"/>
          <p:cNvSpPr txBox="1"/>
          <p:nvPr/>
        </p:nvSpPr>
        <p:spPr>
          <a:xfrm>
            <a:off x="6358737" y="4343400"/>
            <a:ext cx="2286000" cy="274320"/>
          </a:xfrm>
          <a:prstGeom prst="rect">
            <a:avLst/>
          </a:prstGeom>
          <a:noFill/>
        </p:spPr>
        <p:txBody>
          <a:bodyPr wrap="square" lIns="0" rIns="0" tIns="0" bIns="0" anchor="t">
            <a:spAutoFit/>
          </a:bodyPr>
          <a:lstStyle/>
          <a:p>
            <a:pPr algn="l"/>
            <a:r>
              <a:rPr sz="1100" b="1" i="0">
                <a:solidFill>
                  <a:srgbClr val="D9642B"/>
                </a:solidFill>
                <a:latin typeface="Arial"/>
              </a:rPr>
              <a:t>bẩn: 9,999 km, cờ chất lượng</a:t>
            </a:r>
          </a:p>
        </p:txBody>
      </p:sp>
      <p:sp>
        <p:nvSpPr>
          <p:cNvPr id="58" name="TextBox 57"/>
          <p:cNvSpPr txBox="1"/>
          <p:nvPr/>
        </p:nvSpPr>
        <p:spPr>
          <a:xfrm>
            <a:off x="6358737" y="4581144"/>
            <a:ext cx="2286000" cy="228600"/>
          </a:xfrm>
          <a:prstGeom prst="rect">
            <a:avLst/>
          </a:prstGeom>
          <a:noFill/>
        </p:spPr>
        <p:txBody>
          <a:bodyPr wrap="square" lIns="0" rIns="0" tIns="0" bIns="0" anchor="t">
            <a:spAutoFit/>
          </a:bodyPr>
          <a:lstStyle/>
          <a:p>
            <a:pPr algn="l"/>
            <a:r>
              <a:rPr sz="900" b="0" i="0">
                <a:solidFill>
                  <a:srgbClr val="5B6778"/>
                </a:solidFill>
                <a:latin typeface="Arial"/>
              </a:rPr>
              <a:t>giờ · CC0</a:t>
            </a:r>
            <a:r>
              <a:rPr sz="900" b="1" i="0">
                <a:solidFill>
                  <a:srgbClr val="5B6778"/>
                </a:solidFill>
                <a:latin typeface="Arial"/>
              </a:rPr>
              <a:t>   buổi 10</a:t>
            </a:r>
          </a:p>
        </p:txBody>
      </p:sp>
      <p:sp>
        <p:nvSpPr>
          <p:cNvPr id="59" name="Rounded Rectangle 58"/>
          <p:cNvSpPr/>
          <p:nvPr/>
        </p:nvSpPr>
        <p:spPr>
          <a:xfrm>
            <a:off x="8989466" y="3758184"/>
            <a:ext cx="2651760" cy="109728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172346" y="3849624"/>
            <a:ext cx="2286000" cy="274320"/>
          </a:xfrm>
          <a:prstGeom prst="rect">
            <a:avLst/>
          </a:prstGeom>
          <a:noFill/>
        </p:spPr>
        <p:txBody>
          <a:bodyPr wrap="square" lIns="0" rIns="0" tIns="0" bIns="0" anchor="t">
            <a:spAutoFit/>
          </a:bodyPr>
          <a:lstStyle/>
          <a:p>
            <a:pPr algn="l"/>
            <a:r>
              <a:rPr sz="1400" b="1" i="0">
                <a:solidFill>
                  <a:srgbClr val="1B2A41"/>
                </a:solidFill>
                <a:latin typeface="Arial"/>
              </a:rPr>
              <a:t>Wikipedia tiếng Việt</a:t>
            </a:r>
          </a:p>
        </p:txBody>
      </p:sp>
      <p:sp>
        <p:nvSpPr>
          <p:cNvPr id="61" name="TextBox 60"/>
          <p:cNvSpPr txBox="1"/>
          <p:nvPr/>
        </p:nvSpPr>
        <p:spPr>
          <a:xfrm>
            <a:off x="9172346" y="4123944"/>
            <a:ext cx="2286000" cy="274320"/>
          </a:xfrm>
          <a:prstGeom prst="rect">
            <a:avLst/>
          </a:prstGeom>
          <a:noFill/>
        </p:spPr>
        <p:txBody>
          <a:bodyPr wrap="square" lIns="0" rIns="0" tIns="0" bIns="0" anchor="t">
            <a:spAutoFit/>
          </a:bodyPr>
          <a:lstStyle/>
          <a:p>
            <a:pPr algn="l"/>
            <a:r>
              <a:rPr sz="1100" b="0" i="0">
                <a:solidFill>
                  <a:srgbClr val="1B2A41"/>
                </a:solidFill>
                <a:latin typeface="Arial"/>
              </a:rPr>
              <a:t>Lượt xem: Tết, tổng</a:t>
            </a:r>
          </a:p>
        </p:txBody>
      </p:sp>
      <p:sp>
        <p:nvSpPr>
          <p:cNvPr id="62" name="TextBox 61"/>
          <p:cNvSpPr txBox="1"/>
          <p:nvPr/>
        </p:nvSpPr>
        <p:spPr>
          <a:xfrm>
            <a:off x="9172346" y="4343400"/>
            <a:ext cx="2286000" cy="274320"/>
          </a:xfrm>
          <a:prstGeom prst="rect">
            <a:avLst/>
          </a:prstGeom>
          <a:noFill/>
        </p:spPr>
        <p:txBody>
          <a:bodyPr wrap="square" lIns="0" rIns="0" tIns="0" bIns="0" anchor="t">
            <a:spAutoFit/>
          </a:bodyPr>
          <a:lstStyle/>
          <a:p>
            <a:pPr algn="l"/>
            <a:r>
              <a:rPr sz="1100" b="1" i="0">
                <a:solidFill>
                  <a:srgbClr val="D9642B"/>
                </a:solidFill>
                <a:latin typeface="Arial"/>
              </a:rPr>
              <a:t>bẩn: đỉnh Tết theo lịch âm</a:t>
            </a:r>
          </a:p>
        </p:txBody>
      </p:sp>
      <p:sp>
        <p:nvSpPr>
          <p:cNvPr id="63" name="TextBox 62"/>
          <p:cNvSpPr txBox="1"/>
          <p:nvPr/>
        </p:nvSpPr>
        <p:spPr>
          <a:xfrm>
            <a:off x="9172346" y="4581144"/>
            <a:ext cx="2286000" cy="228600"/>
          </a:xfrm>
          <a:prstGeom prst="rect">
            <a:avLst/>
          </a:prstGeom>
          <a:noFill/>
        </p:spPr>
        <p:txBody>
          <a:bodyPr wrap="square" lIns="0" rIns="0" tIns="0" bIns="0" anchor="t">
            <a:spAutoFit/>
          </a:bodyPr>
          <a:lstStyle/>
          <a:p>
            <a:pPr algn="l"/>
            <a:r>
              <a:rPr sz="900" b="0" i="0">
                <a:solidFill>
                  <a:srgbClr val="5B6778"/>
                </a:solidFill>
                <a:latin typeface="Arial"/>
              </a:rPr>
              <a:t>ngày · CC0</a:t>
            </a:r>
            <a:r>
              <a:rPr sz="900" b="1" i="0">
                <a:solidFill>
                  <a:srgbClr val="5B6778"/>
                </a:solidFill>
                <a:latin typeface="Arial"/>
              </a:rPr>
              <a:t>   buổi 11, 13</a:t>
            </a:r>
          </a:p>
        </p:txBody>
      </p:sp>
      <p:sp>
        <p:nvSpPr>
          <p:cNvPr id="64" name="Rounded Rectangle 63"/>
          <p:cNvSpPr/>
          <p:nvPr/>
        </p:nvSpPr>
        <p:spPr>
          <a:xfrm>
            <a:off x="548640" y="4974336"/>
            <a:ext cx="2651760" cy="109728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31520" y="5065776"/>
            <a:ext cx="2286000" cy="274320"/>
          </a:xfrm>
          <a:prstGeom prst="rect">
            <a:avLst/>
          </a:prstGeom>
          <a:noFill/>
        </p:spPr>
        <p:txBody>
          <a:bodyPr wrap="square" lIns="0" rIns="0" tIns="0" bIns="0" anchor="t">
            <a:spAutoFit/>
          </a:bodyPr>
          <a:lstStyle/>
          <a:p>
            <a:pPr algn="l"/>
            <a:r>
              <a:rPr sz="1400" b="1" i="0">
                <a:solidFill>
                  <a:srgbClr val="1B2A41"/>
                </a:solidFill>
                <a:latin typeface="Arial"/>
              </a:rPr>
              <a:t>Eurostat</a:t>
            </a:r>
          </a:p>
        </p:txBody>
      </p:sp>
      <p:sp>
        <p:nvSpPr>
          <p:cNvPr id="66" name="TextBox 65"/>
          <p:cNvSpPr txBox="1"/>
          <p:nvPr/>
        </p:nvSpPr>
        <p:spPr>
          <a:xfrm>
            <a:off x="731520" y="5340096"/>
            <a:ext cx="2286000" cy="274320"/>
          </a:xfrm>
          <a:prstGeom prst="rect">
            <a:avLst/>
          </a:prstGeom>
          <a:noFill/>
        </p:spPr>
        <p:txBody>
          <a:bodyPr wrap="square" lIns="0" rIns="0" tIns="0" bIns="0" anchor="t">
            <a:spAutoFit/>
          </a:bodyPr>
          <a:lstStyle/>
          <a:p>
            <a:pPr algn="l"/>
            <a:r>
              <a:rPr sz="1100" b="0" i="0">
                <a:solidFill>
                  <a:srgbClr val="1B2A41"/>
                </a:solidFill>
                <a:latin typeface="Arial"/>
              </a:rPr>
              <a:t>Hành khách bay EU27</a:t>
            </a:r>
          </a:p>
        </p:txBody>
      </p:sp>
      <p:sp>
        <p:nvSpPr>
          <p:cNvPr id="67" name="TextBox 66"/>
          <p:cNvSpPr txBox="1"/>
          <p:nvPr/>
        </p:nvSpPr>
        <p:spPr>
          <a:xfrm>
            <a:off x="731520" y="5559552"/>
            <a:ext cx="2286000" cy="274320"/>
          </a:xfrm>
          <a:prstGeom prst="rect">
            <a:avLst/>
          </a:prstGeom>
          <a:noFill/>
        </p:spPr>
        <p:txBody>
          <a:bodyPr wrap="square" lIns="0" rIns="0" tIns="0" bIns="0" anchor="t">
            <a:spAutoFit/>
          </a:bodyPr>
          <a:lstStyle/>
          <a:p>
            <a:pPr algn="l"/>
            <a:r>
              <a:rPr sz="1100" b="1" i="0">
                <a:solidFill>
                  <a:srgbClr val="D9642B"/>
                </a:solidFill>
                <a:latin typeface="Arial"/>
              </a:rPr>
              <a:t>bẩn: gãy do COVID</a:t>
            </a:r>
          </a:p>
        </p:txBody>
      </p:sp>
      <p:sp>
        <p:nvSpPr>
          <p:cNvPr id="68" name="TextBox 67"/>
          <p:cNvSpPr txBox="1"/>
          <p:nvPr/>
        </p:nvSpPr>
        <p:spPr>
          <a:xfrm>
            <a:off x="731520" y="5797296"/>
            <a:ext cx="2286000" cy="228600"/>
          </a:xfrm>
          <a:prstGeom prst="rect">
            <a:avLst/>
          </a:prstGeom>
          <a:noFill/>
        </p:spPr>
        <p:txBody>
          <a:bodyPr wrap="square" lIns="0" rIns="0" tIns="0" bIns="0" anchor="t">
            <a:spAutoFit/>
          </a:bodyPr>
          <a:lstStyle/>
          <a:p>
            <a:pPr algn="l"/>
            <a:r>
              <a:rPr sz="900" b="0" i="0">
                <a:solidFill>
                  <a:srgbClr val="5B6778"/>
                </a:solidFill>
                <a:latin typeface="Arial"/>
              </a:rPr>
              <a:t>tháng · CC BY 4.0</a:t>
            </a:r>
            <a:r>
              <a:rPr sz="900" b="1" i="0">
                <a:solidFill>
                  <a:srgbClr val="5B6778"/>
                </a:solidFill>
                <a:latin typeface="Arial"/>
              </a:rPr>
              <a:t>   buổi 11</a:t>
            </a:r>
          </a:p>
        </p:txBody>
      </p:sp>
      <p:sp>
        <p:nvSpPr>
          <p:cNvPr id="69" name="Rounded Rectangle 68"/>
          <p:cNvSpPr/>
          <p:nvPr/>
        </p:nvSpPr>
        <p:spPr>
          <a:xfrm>
            <a:off x="3362248" y="4974336"/>
            <a:ext cx="2651760" cy="109728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3545128" y="5065776"/>
            <a:ext cx="2286000" cy="274320"/>
          </a:xfrm>
          <a:prstGeom prst="rect">
            <a:avLst/>
          </a:prstGeom>
          <a:noFill/>
        </p:spPr>
        <p:txBody>
          <a:bodyPr wrap="square" lIns="0" rIns="0" tIns="0" bIns="0" anchor="t">
            <a:spAutoFit/>
          </a:bodyPr>
          <a:lstStyle/>
          <a:p>
            <a:pPr algn="l"/>
            <a:r>
              <a:rPr sz="1400" b="1" i="0">
                <a:solidFill>
                  <a:srgbClr val="1B2A41"/>
                </a:solidFill>
                <a:latin typeface="Arial"/>
              </a:rPr>
              <a:t>UCI Appliances</a:t>
            </a:r>
          </a:p>
        </p:txBody>
      </p:sp>
      <p:sp>
        <p:nvSpPr>
          <p:cNvPr id="71" name="TextBox 70"/>
          <p:cNvSpPr txBox="1"/>
          <p:nvPr/>
        </p:nvSpPr>
        <p:spPr>
          <a:xfrm>
            <a:off x="3545128" y="5340096"/>
            <a:ext cx="2286000" cy="274320"/>
          </a:xfrm>
          <a:prstGeom prst="rect">
            <a:avLst/>
          </a:prstGeom>
          <a:noFill/>
        </p:spPr>
        <p:txBody>
          <a:bodyPr wrap="square" lIns="0" rIns="0" tIns="0" bIns="0" anchor="t">
            <a:spAutoFit/>
          </a:bodyPr>
          <a:lstStyle/>
          <a:p>
            <a:pPr algn="l"/>
            <a:r>
              <a:rPr sz="1100" b="0" i="0">
                <a:solidFill>
                  <a:srgbClr val="1B2A41"/>
                </a:solidFill>
                <a:latin typeface="Arial"/>
              </a:rPr>
              <a:t>Cảm biến trong nhà</a:t>
            </a:r>
          </a:p>
        </p:txBody>
      </p:sp>
      <p:sp>
        <p:nvSpPr>
          <p:cNvPr id="72" name="TextBox 71"/>
          <p:cNvSpPr txBox="1"/>
          <p:nvPr/>
        </p:nvSpPr>
        <p:spPr>
          <a:xfrm>
            <a:off x="3545128" y="5559552"/>
            <a:ext cx="2286000" cy="274320"/>
          </a:xfrm>
          <a:prstGeom prst="rect">
            <a:avLst/>
          </a:prstGeom>
          <a:noFill/>
        </p:spPr>
        <p:txBody>
          <a:bodyPr wrap="square" lIns="0" rIns="0" tIns="0" bIns="0" anchor="t">
            <a:spAutoFit/>
          </a:bodyPr>
          <a:lstStyle/>
          <a:p>
            <a:pPr algn="l"/>
            <a:r>
              <a:rPr sz="1100" b="1" i="0">
                <a:solidFill>
                  <a:srgbClr val="D9642B"/>
                </a:solidFill>
                <a:latin typeface="Arial"/>
              </a:rPr>
              <a:t>bẩn: nhiễu cảm biến</a:t>
            </a:r>
          </a:p>
        </p:txBody>
      </p:sp>
      <p:sp>
        <p:nvSpPr>
          <p:cNvPr id="73" name="TextBox 72"/>
          <p:cNvSpPr txBox="1"/>
          <p:nvPr/>
        </p:nvSpPr>
        <p:spPr>
          <a:xfrm>
            <a:off x="3545128" y="5797296"/>
            <a:ext cx="2286000" cy="228600"/>
          </a:xfrm>
          <a:prstGeom prst="rect">
            <a:avLst/>
          </a:prstGeom>
          <a:noFill/>
        </p:spPr>
        <p:txBody>
          <a:bodyPr wrap="square" lIns="0" rIns="0" tIns="0" bIns="0" anchor="t">
            <a:spAutoFit/>
          </a:bodyPr>
          <a:lstStyle/>
          <a:p>
            <a:pPr algn="l"/>
            <a:r>
              <a:rPr sz="900" b="0" i="0">
                <a:solidFill>
                  <a:srgbClr val="5B6778"/>
                </a:solidFill>
                <a:latin typeface="Arial"/>
              </a:rPr>
              <a:t>10 phút · CC BY 4.0</a:t>
            </a:r>
            <a:r>
              <a:rPr sz="900" b="1" i="0">
                <a:solidFill>
                  <a:srgbClr val="5B6778"/>
                </a:solidFill>
                <a:latin typeface="Arial"/>
              </a:rPr>
              <a:t>   buổi 12</a:t>
            </a:r>
          </a:p>
        </p:txBody>
      </p:sp>
      <p:sp>
        <p:nvSpPr>
          <p:cNvPr id="74" name="TextBox 73"/>
          <p:cNvSpPr txBox="1"/>
          <p:nvPr/>
        </p:nvSpPr>
        <p:spPr>
          <a:xfrm>
            <a:off x="6175857" y="5065776"/>
            <a:ext cx="5465368" cy="1005839"/>
          </a:xfrm>
          <a:prstGeom prst="rect">
            <a:avLst/>
          </a:prstGeom>
          <a:noFill/>
        </p:spPr>
        <p:txBody>
          <a:bodyPr wrap="square" lIns="0" rIns="0" tIns="0" bIns="0" anchor="t">
            <a:spAutoFit/>
          </a:bodyPr>
          <a:lstStyle/>
          <a:p>
            <a:pPr algn="l"/>
            <a:r>
              <a:rPr sz="1200" b="0" i="0">
                <a:solidFill>
                  <a:srgbClr val="5B6778"/>
                </a:solidFill>
                <a:latin typeface="Arial"/>
              </a:rPr>
              <a:t>Mọi bộ đã xác minh giấy phép, tải kèm kiểm sha256. Không dùng FRED (cấm dùng cho ML).</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F</a:t>
            </a:r>
          </a:p>
        </p:txBody>
      </p:sp>
      <p:sp>
        <p:nvSpPr>
          <p:cNvPr id="3" name="TextBox 2"/>
          <p:cNvSpPr txBox="1"/>
          <p:nvPr/>
        </p:nvSpPr>
        <p:spPr>
          <a:xfrm>
            <a:off x="1325880" y="384048"/>
            <a:ext cx="10332720" cy="731520"/>
          </a:xfrm>
          <a:prstGeom prst="rect">
            <a:avLst/>
          </a:prstGeom>
          <a:noFill/>
        </p:spPr>
        <p:txBody>
          <a:bodyPr wrap="square" lIns="0" rIns="0" tIns="0" bIns="0" anchor="ctr">
            <a:spAutoFit/>
          </a:bodyPr>
          <a:lstStyle/>
          <a:p>
            <a:pPr algn="l"/>
            <a:r>
              <a:rPr sz="3000" b="1" i="0">
                <a:solidFill>
                  <a:srgbClr val="1B2A41"/>
                </a:solidFill>
                <a:latin typeface="Arial"/>
              </a:rPr>
              <a:t>Tra theo buổi: mỗi buổi ở slide nào</a:t>
            </a:r>
          </a:p>
        </p:txBody>
      </p:sp>
      <p:sp>
        <p:nvSpPr>
          <p:cNvPr id="4" name="TextBox 3"/>
          <p:cNvSpPr txBox="1"/>
          <p:nvPr/>
        </p:nvSpPr>
        <p:spPr>
          <a:xfrm>
            <a:off x="685800" y="1280160"/>
            <a:ext cx="411480" cy="365760"/>
          </a:xfrm>
          <a:prstGeom prst="rect">
            <a:avLst/>
          </a:prstGeom>
          <a:noFill/>
        </p:spPr>
        <p:txBody>
          <a:bodyPr wrap="square" lIns="0" rIns="0" tIns="0" bIns="0" anchor="t">
            <a:spAutoFit/>
          </a:bodyPr>
          <a:lstStyle/>
          <a:p>
            <a:pPr algn="l"/>
            <a:r>
              <a:rPr sz="1100" b="1" i="0">
                <a:solidFill>
                  <a:srgbClr val="4A5568"/>
                </a:solidFill>
                <a:latin typeface="Arial"/>
              </a:rPr>
              <a:t>BUỔI</a:t>
            </a:r>
          </a:p>
        </p:txBody>
      </p:sp>
      <p:sp>
        <p:nvSpPr>
          <p:cNvPr id="5" name="TextBox 4"/>
          <p:cNvSpPr txBox="1"/>
          <p:nvPr/>
        </p:nvSpPr>
        <p:spPr>
          <a:xfrm>
            <a:off x="1371600" y="1280160"/>
            <a:ext cx="1965960" cy="365760"/>
          </a:xfrm>
          <a:prstGeom prst="rect">
            <a:avLst/>
          </a:prstGeom>
          <a:noFill/>
        </p:spPr>
        <p:txBody>
          <a:bodyPr wrap="square" lIns="0" rIns="0" tIns="0" bIns="0" anchor="t">
            <a:spAutoFit/>
          </a:bodyPr>
          <a:lstStyle/>
          <a:p>
            <a:pPr algn="l"/>
            <a:r>
              <a:rPr sz="1100" b="1" i="0">
                <a:solidFill>
                  <a:srgbClr val="5B6778"/>
                </a:solidFill>
                <a:latin typeface="Arial"/>
              </a:rPr>
              <a:t>CHỦ ĐỀ</a:t>
            </a:r>
          </a:p>
        </p:txBody>
      </p:sp>
      <p:sp>
        <p:nvSpPr>
          <p:cNvPr id="6" name="TextBox 5"/>
          <p:cNvSpPr txBox="1"/>
          <p:nvPr/>
        </p:nvSpPr>
        <p:spPr>
          <a:xfrm>
            <a:off x="3611880" y="1280160"/>
            <a:ext cx="2331720" cy="365760"/>
          </a:xfrm>
          <a:prstGeom prst="rect">
            <a:avLst/>
          </a:prstGeom>
          <a:noFill/>
        </p:spPr>
        <p:txBody>
          <a:bodyPr wrap="square" lIns="0" rIns="0" tIns="0" bIns="0" anchor="t">
            <a:spAutoFit/>
          </a:bodyPr>
          <a:lstStyle/>
          <a:p>
            <a:pPr algn="l"/>
            <a:r>
              <a:rPr sz="1100" b="1" i="0">
                <a:solidFill>
                  <a:srgbClr val="5B6778"/>
                </a:solidFill>
                <a:latin typeface="Arial"/>
              </a:rPr>
              <a:t>SLIDE</a:t>
            </a:r>
          </a:p>
        </p:txBody>
      </p:sp>
      <p:sp>
        <p:nvSpPr>
          <p:cNvPr id="7" name="Rounded Rectangle 6"/>
          <p:cNvSpPr/>
          <p:nvPr/>
        </p:nvSpPr>
        <p:spPr>
          <a:xfrm>
            <a:off x="548639" y="1691639"/>
            <a:ext cx="5532120" cy="53035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799" y="1691639"/>
            <a:ext cx="411480" cy="530352"/>
          </a:xfrm>
          <a:prstGeom prst="rect">
            <a:avLst/>
          </a:prstGeom>
          <a:noFill/>
        </p:spPr>
        <p:txBody>
          <a:bodyPr wrap="square" lIns="0" rIns="0" tIns="0" bIns="0" anchor="ctr">
            <a:spAutoFit/>
          </a:bodyPr>
          <a:lstStyle/>
          <a:p>
            <a:pPr algn="l"/>
            <a:r>
              <a:rPr sz="1400" b="1" i="0">
                <a:solidFill>
                  <a:srgbClr val="1B2A41"/>
                </a:solidFill>
                <a:latin typeface="Arial"/>
              </a:rPr>
              <a:t>1</a:t>
            </a:r>
          </a:p>
        </p:txBody>
      </p:sp>
      <p:sp>
        <p:nvSpPr>
          <p:cNvPr id="9" name="TextBox 8"/>
          <p:cNvSpPr txBox="1"/>
          <p:nvPr/>
        </p:nvSpPr>
        <p:spPr>
          <a:xfrm>
            <a:off x="1371599" y="1691639"/>
            <a:ext cx="1965960" cy="530352"/>
          </a:xfrm>
          <a:prstGeom prst="rect">
            <a:avLst/>
          </a:prstGeom>
          <a:noFill/>
        </p:spPr>
        <p:txBody>
          <a:bodyPr wrap="square" lIns="0" rIns="0" tIns="0" bIns="0" anchor="ctr">
            <a:spAutoFit/>
          </a:bodyPr>
          <a:lstStyle/>
          <a:p>
            <a:pPr algn="l"/>
            <a:r>
              <a:rPr sz="1400" b="0" i="0">
                <a:solidFill>
                  <a:srgbClr val="1B2A41"/>
                </a:solidFill>
                <a:latin typeface="Arial"/>
              </a:rPr>
              <a:t>Forecasting là gì</a:t>
            </a:r>
          </a:p>
        </p:txBody>
      </p:sp>
      <p:sp>
        <p:nvSpPr>
          <p:cNvPr id="10" name="TextBox 9"/>
          <p:cNvSpPr txBox="1"/>
          <p:nvPr/>
        </p:nvSpPr>
        <p:spPr>
          <a:xfrm>
            <a:off x="3611879" y="1691639"/>
            <a:ext cx="2331720" cy="530352"/>
          </a:xfrm>
          <a:prstGeom prst="rect">
            <a:avLst/>
          </a:prstGeom>
          <a:noFill/>
        </p:spPr>
        <p:txBody>
          <a:bodyPr wrap="square" lIns="0" rIns="0" tIns="0" bIns="0" anchor="ctr">
            <a:spAutoFit/>
          </a:bodyPr>
          <a:lstStyle/>
          <a:p>
            <a:pPr algn="l"/>
            <a:r>
              <a:rPr sz="1400" b="0" i="0">
                <a:solidFill>
                  <a:srgbClr val="5B6778"/>
                </a:solidFill>
                <a:latin typeface="Arial"/>
              </a:rPr>
              <a:t>11, 12, 14, 15, 16, 18, 20, 21, 23, 25, 26</a:t>
            </a:r>
          </a:p>
        </p:txBody>
      </p:sp>
      <p:sp>
        <p:nvSpPr>
          <p:cNvPr id="11" name="TextBox 10"/>
          <p:cNvSpPr txBox="1"/>
          <p:nvPr/>
        </p:nvSpPr>
        <p:spPr>
          <a:xfrm>
            <a:off x="685799" y="2258568"/>
            <a:ext cx="411480" cy="530352"/>
          </a:xfrm>
          <a:prstGeom prst="rect">
            <a:avLst/>
          </a:prstGeom>
          <a:noFill/>
        </p:spPr>
        <p:txBody>
          <a:bodyPr wrap="square" lIns="0" rIns="0" tIns="0" bIns="0" anchor="ctr">
            <a:spAutoFit/>
          </a:bodyPr>
          <a:lstStyle/>
          <a:p>
            <a:pPr algn="l"/>
            <a:r>
              <a:rPr sz="1400" b="1" i="0">
                <a:solidFill>
                  <a:srgbClr val="1B2A41"/>
                </a:solidFill>
                <a:latin typeface="Arial"/>
              </a:rPr>
              <a:t>2</a:t>
            </a:r>
          </a:p>
        </p:txBody>
      </p:sp>
      <p:sp>
        <p:nvSpPr>
          <p:cNvPr id="12" name="TextBox 11"/>
          <p:cNvSpPr txBox="1"/>
          <p:nvPr/>
        </p:nvSpPr>
        <p:spPr>
          <a:xfrm>
            <a:off x="1371599" y="2258568"/>
            <a:ext cx="1965960" cy="530352"/>
          </a:xfrm>
          <a:prstGeom prst="rect">
            <a:avLst/>
          </a:prstGeom>
          <a:noFill/>
        </p:spPr>
        <p:txBody>
          <a:bodyPr wrap="square" lIns="0" rIns="0" tIns="0" bIns="0" anchor="ctr">
            <a:spAutoFit/>
          </a:bodyPr>
          <a:lstStyle/>
          <a:p>
            <a:pPr algn="l"/>
            <a:r>
              <a:rPr sz="1400" b="0" i="0">
                <a:solidFill>
                  <a:srgbClr val="1B2A41"/>
                </a:solidFill>
                <a:latin typeface="Arial"/>
              </a:rPr>
              <a:t>Xác suất, thống kê</a:t>
            </a:r>
          </a:p>
        </p:txBody>
      </p:sp>
      <p:sp>
        <p:nvSpPr>
          <p:cNvPr id="13" name="TextBox 12"/>
          <p:cNvSpPr txBox="1"/>
          <p:nvPr/>
        </p:nvSpPr>
        <p:spPr>
          <a:xfrm>
            <a:off x="3611879" y="2258568"/>
            <a:ext cx="2331720" cy="530352"/>
          </a:xfrm>
          <a:prstGeom prst="rect">
            <a:avLst/>
          </a:prstGeom>
          <a:noFill/>
        </p:spPr>
        <p:txBody>
          <a:bodyPr wrap="square" lIns="0" rIns="0" tIns="0" bIns="0" anchor="ctr">
            <a:spAutoFit/>
          </a:bodyPr>
          <a:lstStyle/>
          <a:p>
            <a:pPr algn="l"/>
            <a:r>
              <a:rPr sz="1400" b="0" i="0">
                <a:solidFill>
                  <a:srgbClr val="5B6778"/>
                </a:solidFill>
                <a:latin typeface="Arial"/>
              </a:rPr>
              <a:t>25, 28, 30, 31, 32, 34, 35, 36, 38, 39, 41, 95</a:t>
            </a:r>
          </a:p>
        </p:txBody>
      </p:sp>
      <p:sp>
        <p:nvSpPr>
          <p:cNvPr id="14" name="Rounded Rectangle 13"/>
          <p:cNvSpPr/>
          <p:nvPr/>
        </p:nvSpPr>
        <p:spPr>
          <a:xfrm>
            <a:off x="548639" y="2825496"/>
            <a:ext cx="5532120" cy="53035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799" y="2825496"/>
            <a:ext cx="411480" cy="530352"/>
          </a:xfrm>
          <a:prstGeom prst="rect">
            <a:avLst/>
          </a:prstGeom>
          <a:noFill/>
        </p:spPr>
        <p:txBody>
          <a:bodyPr wrap="square" lIns="0" rIns="0" tIns="0" bIns="0" anchor="ctr">
            <a:spAutoFit/>
          </a:bodyPr>
          <a:lstStyle/>
          <a:p>
            <a:pPr algn="l"/>
            <a:r>
              <a:rPr sz="1400" b="1" i="0">
                <a:solidFill>
                  <a:srgbClr val="1B2A41"/>
                </a:solidFill>
                <a:latin typeface="Arial"/>
              </a:rPr>
              <a:t>3</a:t>
            </a:r>
          </a:p>
        </p:txBody>
      </p:sp>
      <p:sp>
        <p:nvSpPr>
          <p:cNvPr id="16" name="TextBox 15"/>
          <p:cNvSpPr txBox="1"/>
          <p:nvPr/>
        </p:nvSpPr>
        <p:spPr>
          <a:xfrm>
            <a:off x="1371599" y="2825496"/>
            <a:ext cx="1965960" cy="530352"/>
          </a:xfrm>
          <a:prstGeom prst="rect">
            <a:avLst/>
          </a:prstGeom>
          <a:noFill/>
        </p:spPr>
        <p:txBody>
          <a:bodyPr wrap="square" lIns="0" rIns="0" tIns="0" bIns="0" anchor="ctr">
            <a:spAutoFit/>
          </a:bodyPr>
          <a:lstStyle/>
          <a:p>
            <a:pPr algn="l"/>
            <a:r>
              <a:rPr sz="1400" b="0" i="0">
                <a:solidFill>
                  <a:srgbClr val="1B2A41"/>
                </a:solidFill>
                <a:latin typeface="Arial"/>
              </a:rPr>
              <a:t>Dữ liệu thời gian</a:t>
            </a:r>
          </a:p>
        </p:txBody>
      </p:sp>
      <p:sp>
        <p:nvSpPr>
          <p:cNvPr id="17" name="TextBox 16"/>
          <p:cNvSpPr txBox="1"/>
          <p:nvPr/>
        </p:nvSpPr>
        <p:spPr>
          <a:xfrm>
            <a:off x="3611879" y="2825496"/>
            <a:ext cx="2331720" cy="530352"/>
          </a:xfrm>
          <a:prstGeom prst="rect">
            <a:avLst/>
          </a:prstGeom>
          <a:noFill/>
        </p:spPr>
        <p:txBody>
          <a:bodyPr wrap="square" lIns="0" rIns="0" tIns="0" bIns="0" anchor="ctr">
            <a:spAutoFit/>
          </a:bodyPr>
          <a:lstStyle/>
          <a:p>
            <a:pPr algn="l"/>
            <a:r>
              <a:rPr sz="1400" b="0" i="0">
                <a:solidFill>
                  <a:srgbClr val="5B6778"/>
                </a:solidFill>
                <a:latin typeface="Arial"/>
              </a:rPr>
              <a:t>43, 45, 47, 48, 134</a:t>
            </a:r>
          </a:p>
        </p:txBody>
      </p:sp>
      <p:sp>
        <p:nvSpPr>
          <p:cNvPr id="18" name="TextBox 17"/>
          <p:cNvSpPr txBox="1"/>
          <p:nvPr/>
        </p:nvSpPr>
        <p:spPr>
          <a:xfrm>
            <a:off x="685799" y="3392424"/>
            <a:ext cx="411480" cy="530352"/>
          </a:xfrm>
          <a:prstGeom prst="rect">
            <a:avLst/>
          </a:prstGeom>
          <a:noFill/>
        </p:spPr>
        <p:txBody>
          <a:bodyPr wrap="square" lIns="0" rIns="0" tIns="0" bIns="0" anchor="ctr">
            <a:spAutoFit/>
          </a:bodyPr>
          <a:lstStyle/>
          <a:p>
            <a:pPr algn="l"/>
            <a:r>
              <a:rPr sz="1400" b="1" i="0">
                <a:solidFill>
                  <a:srgbClr val="1B2A41"/>
                </a:solidFill>
                <a:latin typeface="Arial"/>
              </a:rPr>
              <a:t>4</a:t>
            </a:r>
          </a:p>
        </p:txBody>
      </p:sp>
      <p:sp>
        <p:nvSpPr>
          <p:cNvPr id="19" name="TextBox 18"/>
          <p:cNvSpPr txBox="1"/>
          <p:nvPr/>
        </p:nvSpPr>
        <p:spPr>
          <a:xfrm>
            <a:off x="1371599" y="3392424"/>
            <a:ext cx="1965960" cy="530352"/>
          </a:xfrm>
          <a:prstGeom prst="rect">
            <a:avLst/>
          </a:prstGeom>
          <a:noFill/>
        </p:spPr>
        <p:txBody>
          <a:bodyPr wrap="square" lIns="0" rIns="0" tIns="0" bIns="0" anchor="ctr">
            <a:spAutoFit/>
          </a:bodyPr>
          <a:lstStyle/>
          <a:p>
            <a:pPr algn="l"/>
            <a:r>
              <a:rPr sz="1400" b="0" i="0">
                <a:solidFill>
                  <a:srgbClr val="1B2A41"/>
                </a:solidFill>
                <a:latin typeface="Arial"/>
              </a:rPr>
              <a:t>Đọc biểu đồ</a:t>
            </a:r>
          </a:p>
        </p:txBody>
      </p:sp>
      <p:sp>
        <p:nvSpPr>
          <p:cNvPr id="20" name="TextBox 19"/>
          <p:cNvSpPr txBox="1"/>
          <p:nvPr/>
        </p:nvSpPr>
        <p:spPr>
          <a:xfrm>
            <a:off x="3611879" y="3392424"/>
            <a:ext cx="2331720" cy="530352"/>
          </a:xfrm>
          <a:prstGeom prst="rect">
            <a:avLst/>
          </a:prstGeom>
          <a:noFill/>
        </p:spPr>
        <p:txBody>
          <a:bodyPr wrap="square" lIns="0" rIns="0" tIns="0" bIns="0" anchor="ctr">
            <a:spAutoFit/>
          </a:bodyPr>
          <a:lstStyle/>
          <a:p>
            <a:pPr algn="l"/>
            <a:r>
              <a:rPr sz="1400" b="0" i="0">
                <a:solidFill>
                  <a:srgbClr val="5B6778"/>
                </a:solidFill>
                <a:latin typeface="Arial"/>
              </a:rPr>
              <a:t>50, 51, 53, 54, 55, 56, 58, 60, 61, 64, 65, 137, 139</a:t>
            </a:r>
          </a:p>
        </p:txBody>
      </p:sp>
      <p:sp>
        <p:nvSpPr>
          <p:cNvPr id="21" name="Rounded Rectangle 20"/>
          <p:cNvSpPr/>
          <p:nvPr/>
        </p:nvSpPr>
        <p:spPr>
          <a:xfrm>
            <a:off x="548639" y="3959352"/>
            <a:ext cx="5532120" cy="53035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799" y="3959352"/>
            <a:ext cx="411480" cy="530352"/>
          </a:xfrm>
          <a:prstGeom prst="rect">
            <a:avLst/>
          </a:prstGeom>
          <a:noFill/>
        </p:spPr>
        <p:txBody>
          <a:bodyPr wrap="square" lIns="0" rIns="0" tIns="0" bIns="0" anchor="ctr">
            <a:spAutoFit/>
          </a:bodyPr>
          <a:lstStyle/>
          <a:p>
            <a:pPr algn="l"/>
            <a:r>
              <a:rPr sz="1400" b="1" i="0">
                <a:solidFill>
                  <a:srgbClr val="1B2A41"/>
                </a:solidFill>
                <a:latin typeface="Arial"/>
              </a:rPr>
              <a:t>5</a:t>
            </a:r>
          </a:p>
        </p:txBody>
      </p:sp>
      <p:sp>
        <p:nvSpPr>
          <p:cNvPr id="23" name="TextBox 22"/>
          <p:cNvSpPr txBox="1"/>
          <p:nvPr/>
        </p:nvSpPr>
        <p:spPr>
          <a:xfrm>
            <a:off x="1371599" y="3959352"/>
            <a:ext cx="1965960" cy="530352"/>
          </a:xfrm>
          <a:prstGeom prst="rect">
            <a:avLst/>
          </a:prstGeom>
          <a:noFill/>
        </p:spPr>
        <p:txBody>
          <a:bodyPr wrap="square" lIns="0" rIns="0" tIns="0" bIns="0" anchor="ctr">
            <a:spAutoFit/>
          </a:bodyPr>
          <a:lstStyle/>
          <a:p>
            <a:pPr algn="l"/>
            <a:r>
              <a:rPr sz="1400" b="0" i="0">
                <a:solidFill>
                  <a:srgbClr val="1B2A41"/>
                </a:solidFill>
                <a:latin typeface="Arial"/>
              </a:rPr>
              <a:t>Biến đổi, điều chỉnh</a:t>
            </a:r>
          </a:p>
        </p:txBody>
      </p:sp>
      <p:sp>
        <p:nvSpPr>
          <p:cNvPr id="24" name="TextBox 23"/>
          <p:cNvSpPr txBox="1"/>
          <p:nvPr/>
        </p:nvSpPr>
        <p:spPr>
          <a:xfrm>
            <a:off x="3611879" y="3959352"/>
            <a:ext cx="2331720" cy="530352"/>
          </a:xfrm>
          <a:prstGeom prst="rect">
            <a:avLst/>
          </a:prstGeom>
          <a:noFill/>
        </p:spPr>
        <p:txBody>
          <a:bodyPr wrap="square" lIns="0" rIns="0" tIns="0" bIns="0" anchor="ctr">
            <a:spAutoFit/>
          </a:bodyPr>
          <a:lstStyle/>
          <a:p>
            <a:pPr algn="l"/>
            <a:r>
              <a:rPr sz="1400" b="0" i="0">
                <a:solidFill>
                  <a:srgbClr val="5B6778"/>
                </a:solidFill>
                <a:latin typeface="Arial"/>
              </a:rPr>
              <a:t>66, 67, 68, 69, 71, 141, 145</a:t>
            </a:r>
          </a:p>
        </p:txBody>
      </p:sp>
      <p:sp>
        <p:nvSpPr>
          <p:cNvPr id="25" name="TextBox 24"/>
          <p:cNvSpPr txBox="1"/>
          <p:nvPr/>
        </p:nvSpPr>
        <p:spPr>
          <a:xfrm>
            <a:off x="685799" y="4526280"/>
            <a:ext cx="411480" cy="530352"/>
          </a:xfrm>
          <a:prstGeom prst="rect">
            <a:avLst/>
          </a:prstGeom>
          <a:noFill/>
        </p:spPr>
        <p:txBody>
          <a:bodyPr wrap="square" lIns="0" rIns="0" tIns="0" bIns="0" anchor="ctr">
            <a:spAutoFit/>
          </a:bodyPr>
          <a:lstStyle/>
          <a:p>
            <a:pPr algn="l"/>
            <a:r>
              <a:rPr sz="1400" b="1" i="0">
                <a:solidFill>
                  <a:srgbClr val="1B2A41"/>
                </a:solidFill>
                <a:latin typeface="Arial"/>
              </a:rPr>
              <a:t>6</a:t>
            </a:r>
          </a:p>
        </p:txBody>
      </p:sp>
      <p:sp>
        <p:nvSpPr>
          <p:cNvPr id="26" name="TextBox 25"/>
          <p:cNvSpPr txBox="1"/>
          <p:nvPr/>
        </p:nvSpPr>
        <p:spPr>
          <a:xfrm>
            <a:off x="1371599" y="4526280"/>
            <a:ext cx="1965960" cy="530352"/>
          </a:xfrm>
          <a:prstGeom prst="rect">
            <a:avLst/>
          </a:prstGeom>
          <a:noFill/>
        </p:spPr>
        <p:txBody>
          <a:bodyPr wrap="square" lIns="0" rIns="0" tIns="0" bIns="0" anchor="ctr">
            <a:spAutoFit/>
          </a:bodyPr>
          <a:lstStyle/>
          <a:p>
            <a:pPr algn="l"/>
            <a:r>
              <a:rPr sz="1400" b="0" i="0">
                <a:solidFill>
                  <a:srgbClr val="1B2A41"/>
                </a:solidFill>
                <a:latin typeface="Arial"/>
              </a:rPr>
              <a:t>Phân rã</a:t>
            </a:r>
          </a:p>
        </p:txBody>
      </p:sp>
      <p:sp>
        <p:nvSpPr>
          <p:cNvPr id="27" name="TextBox 26"/>
          <p:cNvSpPr txBox="1"/>
          <p:nvPr/>
        </p:nvSpPr>
        <p:spPr>
          <a:xfrm>
            <a:off x="3611879" y="4526280"/>
            <a:ext cx="2331720" cy="530352"/>
          </a:xfrm>
          <a:prstGeom prst="rect">
            <a:avLst/>
          </a:prstGeom>
          <a:noFill/>
        </p:spPr>
        <p:txBody>
          <a:bodyPr wrap="square" lIns="0" rIns="0" tIns="0" bIns="0" anchor="ctr">
            <a:spAutoFit/>
          </a:bodyPr>
          <a:lstStyle/>
          <a:p>
            <a:pPr algn="l"/>
            <a:r>
              <a:rPr sz="1400" b="0" i="0">
                <a:solidFill>
                  <a:srgbClr val="5B6778"/>
                </a:solidFill>
                <a:latin typeface="Arial"/>
              </a:rPr>
              <a:t>72, 73, 76, 77, 79, 81, 148</a:t>
            </a:r>
          </a:p>
        </p:txBody>
      </p:sp>
      <p:sp>
        <p:nvSpPr>
          <p:cNvPr id="28" name="Rounded Rectangle 27"/>
          <p:cNvSpPr/>
          <p:nvPr/>
        </p:nvSpPr>
        <p:spPr>
          <a:xfrm>
            <a:off x="548639" y="5093207"/>
            <a:ext cx="5532120" cy="53035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799" y="5093207"/>
            <a:ext cx="411480" cy="530352"/>
          </a:xfrm>
          <a:prstGeom prst="rect">
            <a:avLst/>
          </a:prstGeom>
          <a:noFill/>
        </p:spPr>
        <p:txBody>
          <a:bodyPr wrap="square" lIns="0" rIns="0" tIns="0" bIns="0" anchor="ctr">
            <a:spAutoFit/>
          </a:bodyPr>
          <a:lstStyle/>
          <a:p>
            <a:pPr algn="l"/>
            <a:r>
              <a:rPr sz="1400" b="1" i="0">
                <a:solidFill>
                  <a:srgbClr val="1B2A41"/>
                </a:solidFill>
                <a:latin typeface="Arial"/>
              </a:rPr>
              <a:t>7</a:t>
            </a:r>
          </a:p>
        </p:txBody>
      </p:sp>
      <p:sp>
        <p:nvSpPr>
          <p:cNvPr id="30" name="TextBox 29"/>
          <p:cNvSpPr txBox="1"/>
          <p:nvPr/>
        </p:nvSpPr>
        <p:spPr>
          <a:xfrm>
            <a:off x="1371599" y="5093207"/>
            <a:ext cx="1965960" cy="530352"/>
          </a:xfrm>
          <a:prstGeom prst="rect">
            <a:avLst/>
          </a:prstGeom>
          <a:noFill/>
        </p:spPr>
        <p:txBody>
          <a:bodyPr wrap="square" lIns="0" rIns="0" tIns="0" bIns="0" anchor="ctr">
            <a:spAutoFit/>
          </a:bodyPr>
          <a:lstStyle/>
          <a:p>
            <a:pPr algn="l"/>
            <a:r>
              <a:rPr sz="1400" b="0" i="0">
                <a:solidFill>
                  <a:srgbClr val="1B2A41"/>
                </a:solidFill>
                <a:latin typeface="Arial"/>
              </a:rPr>
              <a:t>Tự tương quan, dừng</a:t>
            </a:r>
          </a:p>
        </p:txBody>
      </p:sp>
      <p:sp>
        <p:nvSpPr>
          <p:cNvPr id="31" name="TextBox 30"/>
          <p:cNvSpPr txBox="1"/>
          <p:nvPr/>
        </p:nvSpPr>
        <p:spPr>
          <a:xfrm>
            <a:off x="3611879" y="5093207"/>
            <a:ext cx="2331720" cy="530352"/>
          </a:xfrm>
          <a:prstGeom prst="rect">
            <a:avLst/>
          </a:prstGeom>
          <a:noFill/>
        </p:spPr>
        <p:txBody>
          <a:bodyPr wrap="square" lIns="0" rIns="0" tIns="0" bIns="0" anchor="ctr">
            <a:spAutoFit/>
          </a:bodyPr>
          <a:lstStyle/>
          <a:p>
            <a:pPr algn="l"/>
            <a:r>
              <a:rPr sz="1400" b="0" i="0">
                <a:solidFill>
                  <a:srgbClr val="5B6778"/>
                </a:solidFill>
                <a:latin typeface="Arial"/>
              </a:rPr>
              <a:t>61, 82, 83, 85, 86, 88, 89, 91, 92, 94, 151</a:t>
            </a:r>
          </a:p>
        </p:txBody>
      </p:sp>
      <p:sp>
        <p:nvSpPr>
          <p:cNvPr id="32" name="TextBox 31"/>
          <p:cNvSpPr txBox="1"/>
          <p:nvPr/>
        </p:nvSpPr>
        <p:spPr>
          <a:xfrm>
            <a:off x="685799" y="5660136"/>
            <a:ext cx="411480" cy="530352"/>
          </a:xfrm>
          <a:prstGeom prst="rect">
            <a:avLst/>
          </a:prstGeom>
          <a:noFill/>
        </p:spPr>
        <p:txBody>
          <a:bodyPr wrap="square" lIns="0" rIns="0" tIns="0" bIns="0" anchor="ctr">
            <a:spAutoFit/>
          </a:bodyPr>
          <a:lstStyle/>
          <a:p>
            <a:pPr algn="l"/>
            <a:r>
              <a:rPr sz="1400" b="1" i="0">
                <a:solidFill>
                  <a:srgbClr val="1B2A41"/>
                </a:solidFill>
                <a:latin typeface="Arial"/>
              </a:rPr>
              <a:t>8</a:t>
            </a:r>
          </a:p>
        </p:txBody>
      </p:sp>
      <p:sp>
        <p:nvSpPr>
          <p:cNvPr id="33" name="TextBox 32"/>
          <p:cNvSpPr txBox="1"/>
          <p:nvPr/>
        </p:nvSpPr>
        <p:spPr>
          <a:xfrm>
            <a:off x="1371599" y="5660136"/>
            <a:ext cx="1965960" cy="530352"/>
          </a:xfrm>
          <a:prstGeom prst="rect">
            <a:avLst/>
          </a:prstGeom>
          <a:noFill/>
        </p:spPr>
        <p:txBody>
          <a:bodyPr wrap="square" lIns="0" rIns="0" tIns="0" bIns="0" anchor="ctr">
            <a:spAutoFit/>
          </a:bodyPr>
          <a:lstStyle/>
          <a:p>
            <a:pPr algn="l"/>
            <a:r>
              <a:rPr sz="1400" b="0" i="0">
                <a:solidFill>
                  <a:srgbClr val="1B2A41"/>
                </a:solidFill>
                <a:latin typeface="Arial"/>
              </a:rPr>
              <a:t>Tương quan giữa chuỗi</a:t>
            </a:r>
          </a:p>
        </p:txBody>
      </p:sp>
      <p:sp>
        <p:nvSpPr>
          <p:cNvPr id="34" name="TextBox 33"/>
          <p:cNvSpPr txBox="1"/>
          <p:nvPr/>
        </p:nvSpPr>
        <p:spPr>
          <a:xfrm>
            <a:off x="3611879" y="5660136"/>
            <a:ext cx="2331720" cy="530352"/>
          </a:xfrm>
          <a:prstGeom prst="rect">
            <a:avLst/>
          </a:prstGeom>
          <a:noFill/>
        </p:spPr>
        <p:txBody>
          <a:bodyPr wrap="square" lIns="0" rIns="0" tIns="0" bIns="0" anchor="ctr">
            <a:spAutoFit/>
          </a:bodyPr>
          <a:lstStyle/>
          <a:p>
            <a:pPr algn="l"/>
            <a:r>
              <a:rPr sz="1400" b="0" i="0">
                <a:solidFill>
                  <a:srgbClr val="5B6778"/>
                </a:solidFill>
                <a:latin typeface="Arial"/>
              </a:rPr>
              <a:t>95, 97, 99, 100, 101, 102, 103, 104, 106, 108, 153, 155</a:t>
            </a:r>
          </a:p>
        </p:txBody>
      </p:sp>
      <p:sp>
        <p:nvSpPr>
          <p:cNvPr id="35" name="TextBox 34"/>
          <p:cNvSpPr txBox="1"/>
          <p:nvPr/>
        </p:nvSpPr>
        <p:spPr>
          <a:xfrm>
            <a:off x="6245352" y="1280160"/>
            <a:ext cx="411480" cy="365760"/>
          </a:xfrm>
          <a:prstGeom prst="rect">
            <a:avLst/>
          </a:prstGeom>
          <a:noFill/>
        </p:spPr>
        <p:txBody>
          <a:bodyPr wrap="square" lIns="0" rIns="0" tIns="0" bIns="0" anchor="t">
            <a:spAutoFit/>
          </a:bodyPr>
          <a:lstStyle/>
          <a:p>
            <a:pPr algn="l"/>
            <a:r>
              <a:rPr sz="1100" b="1" i="0">
                <a:solidFill>
                  <a:srgbClr val="4A5568"/>
                </a:solidFill>
                <a:latin typeface="Arial"/>
              </a:rPr>
              <a:t>BUỔI</a:t>
            </a:r>
          </a:p>
        </p:txBody>
      </p:sp>
      <p:sp>
        <p:nvSpPr>
          <p:cNvPr id="36" name="TextBox 35"/>
          <p:cNvSpPr txBox="1"/>
          <p:nvPr/>
        </p:nvSpPr>
        <p:spPr>
          <a:xfrm>
            <a:off x="6931152" y="1280160"/>
            <a:ext cx="1965960" cy="365760"/>
          </a:xfrm>
          <a:prstGeom prst="rect">
            <a:avLst/>
          </a:prstGeom>
          <a:noFill/>
        </p:spPr>
        <p:txBody>
          <a:bodyPr wrap="square" lIns="0" rIns="0" tIns="0" bIns="0" anchor="t">
            <a:spAutoFit/>
          </a:bodyPr>
          <a:lstStyle/>
          <a:p>
            <a:pPr algn="l"/>
            <a:r>
              <a:rPr sz="1100" b="1" i="0">
                <a:solidFill>
                  <a:srgbClr val="5B6778"/>
                </a:solidFill>
                <a:latin typeface="Arial"/>
              </a:rPr>
              <a:t>CHỦ ĐỀ</a:t>
            </a:r>
          </a:p>
        </p:txBody>
      </p:sp>
      <p:sp>
        <p:nvSpPr>
          <p:cNvPr id="37" name="TextBox 36"/>
          <p:cNvSpPr txBox="1"/>
          <p:nvPr/>
        </p:nvSpPr>
        <p:spPr>
          <a:xfrm>
            <a:off x="9171432" y="1280160"/>
            <a:ext cx="2331720" cy="365760"/>
          </a:xfrm>
          <a:prstGeom prst="rect">
            <a:avLst/>
          </a:prstGeom>
          <a:noFill/>
        </p:spPr>
        <p:txBody>
          <a:bodyPr wrap="square" lIns="0" rIns="0" tIns="0" bIns="0" anchor="t">
            <a:spAutoFit/>
          </a:bodyPr>
          <a:lstStyle/>
          <a:p>
            <a:pPr algn="l"/>
            <a:r>
              <a:rPr sz="1100" b="1" i="0">
                <a:solidFill>
                  <a:srgbClr val="5B6778"/>
                </a:solidFill>
                <a:latin typeface="Arial"/>
              </a:rPr>
              <a:t>SLIDE</a:t>
            </a:r>
          </a:p>
        </p:txBody>
      </p:sp>
      <p:sp>
        <p:nvSpPr>
          <p:cNvPr id="38" name="Rounded Rectangle 37"/>
          <p:cNvSpPr/>
          <p:nvPr/>
        </p:nvSpPr>
        <p:spPr>
          <a:xfrm>
            <a:off x="6108191" y="1691639"/>
            <a:ext cx="5532120" cy="53035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245351" y="1691639"/>
            <a:ext cx="411480" cy="530352"/>
          </a:xfrm>
          <a:prstGeom prst="rect">
            <a:avLst/>
          </a:prstGeom>
          <a:noFill/>
        </p:spPr>
        <p:txBody>
          <a:bodyPr wrap="square" lIns="0" rIns="0" tIns="0" bIns="0" anchor="ctr">
            <a:spAutoFit/>
          </a:bodyPr>
          <a:lstStyle/>
          <a:p>
            <a:pPr algn="l"/>
            <a:r>
              <a:rPr sz="1400" b="1" i="0">
                <a:solidFill>
                  <a:srgbClr val="1B2A41"/>
                </a:solidFill>
                <a:latin typeface="Arial"/>
              </a:rPr>
              <a:t>9</a:t>
            </a:r>
          </a:p>
        </p:txBody>
      </p:sp>
      <p:sp>
        <p:nvSpPr>
          <p:cNvPr id="40" name="TextBox 39"/>
          <p:cNvSpPr txBox="1"/>
          <p:nvPr/>
        </p:nvSpPr>
        <p:spPr>
          <a:xfrm>
            <a:off x="6931151" y="1691639"/>
            <a:ext cx="1965960" cy="530352"/>
          </a:xfrm>
          <a:prstGeom prst="rect">
            <a:avLst/>
          </a:prstGeom>
          <a:noFill/>
        </p:spPr>
        <p:txBody>
          <a:bodyPr wrap="square" lIns="0" rIns="0" tIns="0" bIns="0" anchor="ctr">
            <a:spAutoFit/>
          </a:bodyPr>
          <a:lstStyle/>
          <a:p>
            <a:pPr algn="l"/>
            <a:r>
              <a:rPr sz="1400" b="0" i="0">
                <a:solidFill>
                  <a:srgbClr val="1B2A41"/>
                </a:solidFill>
                <a:latin typeface="Arial"/>
              </a:rPr>
              <a:t>Đặc trưng, độ khó</a:t>
            </a:r>
          </a:p>
        </p:txBody>
      </p:sp>
      <p:sp>
        <p:nvSpPr>
          <p:cNvPr id="41" name="TextBox 40"/>
          <p:cNvSpPr txBox="1"/>
          <p:nvPr/>
        </p:nvSpPr>
        <p:spPr>
          <a:xfrm>
            <a:off x="9171432" y="1691639"/>
            <a:ext cx="2331720" cy="530352"/>
          </a:xfrm>
          <a:prstGeom prst="rect">
            <a:avLst/>
          </a:prstGeom>
          <a:noFill/>
        </p:spPr>
        <p:txBody>
          <a:bodyPr wrap="square" lIns="0" rIns="0" tIns="0" bIns="0" anchor="ctr">
            <a:spAutoFit/>
          </a:bodyPr>
          <a:lstStyle/>
          <a:p>
            <a:pPr algn="l"/>
            <a:r>
              <a:rPr sz="1400" b="0" i="0">
                <a:solidFill>
                  <a:srgbClr val="5B6778"/>
                </a:solidFill>
                <a:latin typeface="Arial"/>
              </a:rPr>
              <a:t>110, 112, 113, 115, 117, 119, 121</a:t>
            </a:r>
          </a:p>
        </p:txBody>
      </p:sp>
      <p:sp>
        <p:nvSpPr>
          <p:cNvPr id="42" name="TextBox 41"/>
          <p:cNvSpPr txBox="1"/>
          <p:nvPr/>
        </p:nvSpPr>
        <p:spPr>
          <a:xfrm>
            <a:off x="6245351" y="2258568"/>
            <a:ext cx="411480" cy="530352"/>
          </a:xfrm>
          <a:prstGeom prst="rect">
            <a:avLst/>
          </a:prstGeom>
          <a:noFill/>
        </p:spPr>
        <p:txBody>
          <a:bodyPr wrap="square" lIns="0" rIns="0" tIns="0" bIns="0" anchor="ctr">
            <a:spAutoFit/>
          </a:bodyPr>
          <a:lstStyle/>
          <a:p>
            <a:pPr algn="l"/>
            <a:r>
              <a:rPr sz="1400" b="1" i="0">
                <a:solidFill>
                  <a:srgbClr val="1B2A41"/>
                </a:solidFill>
                <a:latin typeface="Arial"/>
              </a:rPr>
              <a:t>10</a:t>
            </a:r>
          </a:p>
        </p:txBody>
      </p:sp>
      <p:sp>
        <p:nvSpPr>
          <p:cNvPr id="43" name="TextBox 42"/>
          <p:cNvSpPr txBox="1"/>
          <p:nvPr/>
        </p:nvSpPr>
        <p:spPr>
          <a:xfrm>
            <a:off x="6931151" y="2258568"/>
            <a:ext cx="1965960" cy="530352"/>
          </a:xfrm>
          <a:prstGeom prst="rect">
            <a:avLst/>
          </a:prstGeom>
          <a:noFill/>
        </p:spPr>
        <p:txBody>
          <a:bodyPr wrap="square" lIns="0" rIns="0" tIns="0" bIns="0" anchor="ctr">
            <a:spAutoFit/>
          </a:bodyPr>
          <a:lstStyle/>
          <a:p>
            <a:pPr algn="l"/>
            <a:r>
              <a:rPr sz="1400" b="0" i="0">
                <a:solidFill>
                  <a:srgbClr val="1B2A41"/>
                </a:solidFill>
                <a:latin typeface="Arial"/>
              </a:rPr>
              <a:t>Làm sạch, dữ liệu thiếu</a:t>
            </a:r>
          </a:p>
        </p:txBody>
      </p:sp>
      <p:sp>
        <p:nvSpPr>
          <p:cNvPr id="44" name="TextBox 43"/>
          <p:cNvSpPr txBox="1"/>
          <p:nvPr/>
        </p:nvSpPr>
        <p:spPr>
          <a:xfrm>
            <a:off x="9171432" y="2258568"/>
            <a:ext cx="2331720" cy="530352"/>
          </a:xfrm>
          <a:prstGeom prst="rect">
            <a:avLst/>
          </a:prstGeom>
          <a:noFill/>
        </p:spPr>
        <p:txBody>
          <a:bodyPr wrap="square" lIns="0" rIns="0" tIns="0" bIns="0" anchor="ctr">
            <a:spAutoFit/>
          </a:bodyPr>
          <a:lstStyle/>
          <a:p>
            <a:pPr algn="l"/>
            <a:r>
              <a:rPr sz="1400" b="0" i="0">
                <a:solidFill>
                  <a:srgbClr val="5B6778"/>
                </a:solidFill>
                <a:latin typeface="Arial"/>
              </a:rPr>
              <a:t>157, 159, 160, 162, 163, 165, 166, 169, 170</a:t>
            </a:r>
          </a:p>
        </p:txBody>
      </p:sp>
      <p:sp>
        <p:nvSpPr>
          <p:cNvPr id="45" name="Rounded Rectangle 44"/>
          <p:cNvSpPr/>
          <p:nvPr/>
        </p:nvSpPr>
        <p:spPr>
          <a:xfrm>
            <a:off x="6108191" y="2825496"/>
            <a:ext cx="5532120" cy="53035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245351" y="2825496"/>
            <a:ext cx="411480" cy="530352"/>
          </a:xfrm>
          <a:prstGeom prst="rect">
            <a:avLst/>
          </a:prstGeom>
          <a:noFill/>
        </p:spPr>
        <p:txBody>
          <a:bodyPr wrap="square" lIns="0" rIns="0" tIns="0" bIns="0" anchor="ctr">
            <a:spAutoFit/>
          </a:bodyPr>
          <a:lstStyle/>
          <a:p>
            <a:pPr algn="l"/>
            <a:r>
              <a:rPr sz="1400" b="1" i="0">
                <a:solidFill>
                  <a:srgbClr val="1B2A41"/>
                </a:solidFill>
                <a:latin typeface="Arial"/>
              </a:rPr>
              <a:t>11</a:t>
            </a:r>
          </a:p>
        </p:txBody>
      </p:sp>
      <p:sp>
        <p:nvSpPr>
          <p:cNvPr id="47" name="TextBox 46"/>
          <p:cNvSpPr txBox="1"/>
          <p:nvPr/>
        </p:nvSpPr>
        <p:spPr>
          <a:xfrm>
            <a:off x="6931151" y="2825496"/>
            <a:ext cx="1965960" cy="530352"/>
          </a:xfrm>
          <a:prstGeom prst="rect">
            <a:avLst/>
          </a:prstGeom>
          <a:noFill/>
        </p:spPr>
        <p:txBody>
          <a:bodyPr wrap="square" lIns="0" rIns="0" tIns="0" bIns="0" anchor="ctr">
            <a:spAutoFit/>
          </a:bodyPr>
          <a:lstStyle/>
          <a:p>
            <a:pPr algn="l"/>
            <a:r>
              <a:rPr sz="1400" b="0" i="0">
                <a:solidFill>
                  <a:srgbClr val="1B2A41"/>
                </a:solidFill>
                <a:latin typeface="Arial"/>
              </a:rPr>
              <a:t>Ngoại lai, điểm gãy</a:t>
            </a:r>
          </a:p>
        </p:txBody>
      </p:sp>
      <p:sp>
        <p:nvSpPr>
          <p:cNvPr id="48" name="TextBox 47"/>
          <p:cNvSpPr txBox="1"/>
          <p:nvPr/>
        </p:nvSpPr>
        <p:spPr>
          <a:xfrm>
            <a:off x="9171432" y="2825496"/>
            <a:ext cx="2331720" cy="530352"/>
          </a:xfrm>
          <a:prstGeom prst="rect">
            <a:avLst/>
          </a:prstGeom>
          <a:noFill/>
        </p:spPr>
        <p:txBody>
          <a:bodyPr wrap="square" lIns="0" rIns="0" tIns="0" bIns="0" anchor="ctr">
            <a:spAutoFit/>
          </a:bodyPr>
          <a:lstStyle/>
          <a:p>
            <a:pPr algn="l"/>
            <a:r>
              <a:rPr sz="1400" b="0" i="0">
                <a:solidFill>
                  <a:srgbClr val="5B6778"/>
                </a:solidFill>
                <a:latin typeface="Arial"/>
              </a:rPr>
              <a:t>172, 174, 175, 177, 178, 180, 181, 183, 184, 186</a:t>
            </a:r>
          </a:p>
        </p:txBody>
      </p:sp>
      <p:sp>
        <p:nvSpPr>
          <p:cNvPr id="49" name="TextBox 48"/>
          <p:cNvSpPr txBox="1"/>
          <p:nvPr/>
        </p:nvSpPr>
        <p:spPr>
          <a:xfrm>
            <a:off x="6245351" y="3392424"/>
            <a:ext cx="411480" cy="530352"/>
          </a:xfrm>
          <a:prstGeom prst="rect">
            <a:avLst/>
          </a:prstGeom>
          <a:noFill/>
        </p:spPr>
        <p:txBody>
          <a:bodyPr wrap="square" lIns="0" rIns="0" tIns="0" bIns="0" anchor="ctr">
            <a:spAutoFit/>
          </a:bodyPr>
          <a:lstStyle/>
          <a:p>
            <a:pPr algn="l"/>
            <a:r>
              <a:rPr sz="1400" b="1" i="0">
                <a:solidFill>
                  <a:srgbClr val="1B2A41"/>
                </a:solidFill>
                <a:latin typeface="Arial"/>
              </a:rPr>
              <a:t>12</a:t>
            </a:r>
          </a:p>
        </p:txBody>
      </p:sp>
      <p:sp>
        <p:nvSpPr>
          <p:cNvPr id="50" name="TextBox 49"/>
          <p:cNvSpPr txBox="1"/>
          <p:nvPr/>
        </p:nvSpPr>
        <p:spPr>
          <a:xfrm>
            <a:off x="6931151" y="3392424"/>
            <a:ext cx="1965960" cy="530352"/>
          </a:xfrm>
          <a:prstGeom prst="rect">
            <a:avLst/>
          </a:prstGeom>
          <a:noFill/>
        </p:spPr>
        <p:txBody>
          <a:bodyPr wrap="square" lIns="0" rIns="0" tIns="0" bIns="0" anchor="ctr">
            <a:spAutoFit/>
          </a:bodyPr>
          <a:lstStyle/>
          <a:p>
            <a:pPr algn="l"/>
            <a:r>
              <a:rPr sz="1400" b="0" i="0">
                <a:solidFill>
                  <a:srgbClr val="1B2A41"/>
                </a:solidFill>
                <a:latin typeface="Arial"/>
              </a:rPr>
              <a:t>Khử nhiễu, tần số</a:t>
            </a:r>
          </a:p>
        </p:txBody>
      </p:sp>
      <p:sp>
        <p:nvSpPr>
          <p:cNvPr id="51" name="TextBox 50"/>
          <p:cNvSpPr txBox="1"/>
          <p:nvPr/>
        </p:nvSpPr>
        <p:spPr>
          <a:xfrm>
            <a:off x="9171432" y="3392424"/>
            <a:ext cx="2331720" cy="530352"/>
          </a:xfrm>
          <a:prstGeom prst="rect">
            <a:avLst/>
          </a:prstGeom>
          <a:noFill/>
        </p:spPr>
        <p:txBody>
          <a:bodyPr wrap="square" lIns="0" rIns="0" tIns="0" bIns="0" anchor="ctr">
            <a:spAutoFit/>
          </a:bodyPr>
          <a:lstStyle/>
          <a:p>
            <a:pPr algn="l"/>
            <a:r>
              <a:rPr sz="1400" b="0" i="0">
                <a:solidFill>
                  <a:srgbClr val="5B6778"/>
                </a:solidFill>
                <a:latin typeface="Arial"/>
              </a:rPr>
              <a:t>112, 188, 189, 190, 193, 194, 195, 197, 198, 201</a:t>
            </a:r>
          </a:p>
        </p:txBody>
      </p:sp>
      <p:sp>
        <p:nvSpPr>
          <p:cNvPr id="52" name="Rounded Rectangle 51"/>
          <p:cNvSpPr/>
          <p:nvPr/>
        </p:nvSpPr>
        <p:spPr>
          <a:xfrm>
            <a:off x="6108191" y="3959352"/>
            <a:ext cx="5532120" cy="53035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245351" y="3959352"/>
            <a:ext cx="411480" cy="530352"/>
          </a:xfrm>
          <a:prstGeom prst="rect">
            <a:avLst/>
          </a:prstGeom>
          <a:noFill/>
        </p:spPr>
        <p:txBody>
          <a:bodyPr wrap="square" lIns="0" rIns="0" tIns="0" bIns="0" anchor="ctr">
            <a:spAutoFit/>
          </a:bodyPr>
          <a:lstStyle/>
          <a:p>
            <a:pPr algn="l"/>
            <a:r>
              <a:rPr sz="1400" b="1" i="0">
                <a:solidFill>
                  <a:srgbClr val="1B2A41"/>
                </a:solidFill>
                <a:latin typeface="Arial"/>
              </a:rPr>
              <a:t>13</a:t>
            </a:r>
          </a:p>
        </p:txBody>
      </p:sp>
      <p:sp>
        <p:nvSpPr>
          <p:cNvPr id="54" name="TextBox 53"/>
          <p:cNvSpPr txBox="1"/>
          <p:nvPr/>
        </p:nvSpPr>
        <p:spPr>
          <a:xfrm>
            <a:off x="6931151" y="3959352"/>
            <a:ext cx="1965960" cy="530352"/>
          </a:xfrm>
          <a:prstGeom prst="rect">
            <a:avLst/>
          </a:prstGeom>
          <a:noFill/>
        </p:spPr>
        <p:txBody>
          <a:bodyPr wrap="square" lIns="0" rIns="0" tIns="0" bIns="0" anchor="ctr">
            <a:spAutoFit/>
          </a:bodyPr>
          <a:lstStyle/>
          <a:p>
            <a:pPr algn="l"/>
            <a:r>
              <a:rPr sz="1400" b="0" i="0">
                <a:solidFill>
                  <a:srgbClr val="1B2A41"/>
                </a:solidFill>
                <a:latin typeface="Arial"/>
              </a:rPr>
              <a:t>Feature, chống rò rỉ</a:t>
            </a:r>
          </a:p>
        </p:txBody>
      </p:sp>
      <p:sp>
        <p:nvSpPr>
          <p:cNvPr id="55" name="TextBox 54"/>
          <p:cNvSpPr txBox="1"/>
          <p:nvPr/>
        </p:nvSpPr>
        <p:spPr>
          <a:xfrm>
            <a:off x="9171432" y="3959352"/>
            <a:ext cx="2331720" cy="530352"/>
          </a:xfrm>
          <a:prstGeom prst="rect">
            <a:avLst/>
          </a:prstGeom>
          <a:noFill/>
        </p:spPr>
        <p:txBody>
          <a:bodyPr wrap="square" lIns="0" rIns="0" tIns="0" bIns="0" anchor="ctr">
            <a:spAutoFit/>
          </a:bodyPr>
          <a:lstStyle/>
          <a:p>
            <a:pPr algn="l"/>
            <a:r>
              <a:rPr sz="1400" b="0" i="0">
                <a:solidFill>
                  <a:srgbClr val="5B6778"/>
                </a:solidFill>
                <a:latin typeface="Arial"/>
              </a:rPr>
              <a:t>123, 125, 127, 129, 130, 131, 203, 206</a:t>
            </a:r>
          </a:p>
        </p:txBody>
      </p:sp>
      <p:sp>
        <p:nvSpPr>
          <p:cNvPr id="56" name="TextBox 55"/>
          <p:cNvSpPr txBox="1"/>
          <p:nvPr/>
        </p:nvSpPr>
        <p:spPr>
          <a:xfrm>
            <a:off x="6245351" y="4526280"/>
            <a:ext cx="411480" cy="530352"/>
          </a:xfrm>
          <a:prstGeom prst="rect">
            <a:avLst/>
          </a:prstGeom>
          <a:noFill/>
        </p:spPr>
        <p:txBody>
          <a:bodyPr wrap="square" lIns="0" rIns="0" tIns="0" bIns="0" anchor="ctr">
            <a:spAutoFit/>
          </a:bodyPr>
          <a:lstStyle/>
          <a:p>
            <a:pPr algn="l"/>
            <a:r>
              <a:rPr sz="1400" b="1" i="0">
                <a:solidFill>
                  <a:srgbClr val="1B2A41"/>
                </a:solidFill>
                <a:latin typeface="Arial"/>
              </a:rPr>
              <a:t>14</a:t>
            </a:r>
          </a:p>
        </p:txBody>
      </p:sp>
      <p:sp>
        <p:nvSpPr>
          <p:cNvPr id="57" name="TextBox 56"/>
          <p:cNvSpPr txBox="1"/>
          <p:nvPr/>
        </p:nvSpPr>
        <p:spPr>
          <a:xfrm>
            <a:off x="6931151" y="4526280"/>
            <a:ext cx="1965960" cy="530352"/>
          </a:xfrm>
          <a:prstGeom prst="rect">
            <a:avLst/>
          </a:prstGeom>
          <a:noFill/>
        </p:spPr>
        <p:txBody>
          <a:bodyPr wrap="square" lIns="0" rIns="0" tIns="0" bIns="0" anchor="ctr">
            <a:spAutoFit/>
          </a:bodyPr>
          <a:lstStyle/>
          <a:p>
            <a:pPr algn="l"/>
            <a:r>
              <a:rPr sz="1400" b="0" i="0">
                <a:solidFill>
                  <a:srgbClr val="1B2A41"/>
                </a:solidFill>
                <a:latin typeface="Arial"/>
              </a:rPr>
              <a:t>Baseline, chỉ số</a:t>
            </a:r>
          </a:p>
        </p:txBody>
      </p:sp>
      <p:sp>
        <p:nvSpPr>
          <p:cNvPr id="58" name="TextBox 57"/>
          <p:cNvSpPr txBox="1"/>
          <p:nvPr/>
        </p:nvSpPr>
        <p:spPr>
          <a:xfrm>
            <a:off x="9171432" y="4526280"/>
            <a:ext cx="2331720" cy="530352"/>
          </a:xfrm>
          <a:prstGeom prst="rect">
            <a:avLst/>
          </a:prstGeom>
          <a:noFill/>
        </p:spPr>
        <p:txBody>
          <a:bodyPr wrap="square" lIns="0" rIns="0" tIns="0" bIns="0" anchor="ctr">
            <a:spAutoFit/>
          </a:bodyPr>
          <a:lstStyle/>
          <a:p>
            <a:pPr algn="l"/>
            <a:r>
              <a:rPr sz="1400" b="0" i="0">
                <a:solidFill>
                  <a:srgbClr val="5B6778"/>
                </a:solidFill>
                <a:latin typeface="Arial"/>
              </a:rPr>
              <a:t>16, 221, 223, 225, 226, 228</a:t>
            </a:r>
          </a:p>
        </p:txBody>
      </p:sp>
      <p:sp>
        <p:nvSpPr>
          <p:cNvPr id="59" name="Rounded Rectangle 58"/>
          <p:cNvSpPr/>
          <p:nvPr/>
        </p:nvSpPr>
        <p:spPr>
          <a:xfrm>
            <a:off x="6108191" y="5093207"/>
            <a:ext cx="5532120" cy="530352"/>
          </a:xfrm>
          <a:prstGeom prst="roundRect">
            <a:avLst>
              <a:gd name="adj" fmla="val 2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245351" y="5093207"/>
            <a:ext cx="411480" cy="530352"/>
          </a:xfrm>
          <a:prstGeom prst="rect">
            <a:avLst/>
          </a:prstGeom>
          <a:noFill/>
        </p:spPr>
        <p:txBody>
          <a:bodyPr wrap="square" lIns="0" rIns="0" tIns="0" bIns="0" anchor="ctr">
            <a:spAutoFit/>
          </a:bodyPr>
          <a:lstStyle/>
          <a:p>
            <a:pPr algn="l"/>
            <a:r>
              <a:rPr sz="1400" b="1" i="0">
                <a:solidFill>
                  <a:srgbClr val="1B2A41"/>
                </a:solidFill>
                <a:latin typeface="Arial"/>
              </a:rPr>
              <a:t>15</a:t>
            </a:r>
          </a:p>
        </p:txBody>
      </p:sp>
      <p:sp>
        <p:nvSpPr>
          <p:cNvPr id="61" name="TextBox 60"/>
          <p:cNvSpPr txBox="1"/>
          <p:nvPr/>
        </p:nvSpPr>
        <p:spPr>
          <a:xfrm>
            <a:off x="6931151" y="5093207"/>
            <a:ext cx="1965960" cy="530352"/>
          </a:xfrm>
          <a:prstGeom prst="rect">
            <a:avLst/>
          </a:prstGeom>
          <a:noFill/>
        </p:spPr>
        <p:txBody>
          <a:bodyPr wrap="square" lIns="0" rIns="0" tIns="0" bIns="0" anchor="ctr">
            <a:spAutoFit/>
          </a:bodyPr>
          <a:lstStyle/>
          <a:p>
            <a:pPr algn="l"/>
            <a:r>
              <a:rPr sz="1400" b="0" i="0">
                <a:solidFill>
                  <a:srgbClr val="1B2A41"/>
                </a:solidFill>
                <a:latin typeface="Arial"/>
              </a:rPr>
              <a:t>Backtesting</a:t>
            </a:r>
          </a:p>
        </p:txBody>
      </p:sp>
      <p:sp>
        <p:nvSpPr>
          <p:cNvPr id="62" name="TextBox 61"/>
          <p:cNvSpPr txBox="1"/>
          <p:nvPr/>
        </p:nvSpPr>
        <p:spPr>
          <a:xfrm>
            <a:off x="9171432" y="5093207"/>
            <a:ext cx="2331720" cy="530352"/>
          </a:xfrm>
          <a:prstGeom prst="rect">
            <a:avLst/>
          </a:prstGeom>
          <a:noFill/>
        </p:spPr>
        <p:txBody>
          <a:bodyPr wrap="square" lIns="0" rIns="0" tIns="0" bIns="0" anchor="ctr">
            <a:spAutoFit/>
          </a:bodyPr>
          <a:lstStyle/>
          <a:p>
            <a:pPr algn="l"/>
            <a:r>
              <a:rPr sz="1400" b="0" i="0">
                <a:solidFill>
                  <a:srgbClr val="5B6778"/>
                </a:solidFill>
                <a:latin typeface="Arial"/>
              </a:rPr>
              <a:t>231, 233, 234, 236, 238, 240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F</a:t>
            </a:r>
          </a:p>
        </p:txBody>
      </p:sp>
      <p:sp>
        <p:nvSpPr>
          <p:cNvPr id="3" name="TextBox 2"/>
          <p:cNvSpPr txBox="1"/>
          <p:nvPr/>
        </p:nvSpPr>
        <p:spPr>
          <a:xfrm>
            <a:off x="1325880" y="384048"/>
            <a:ext cx="10332720" cy="731520"/>
          </a:xfrm>
          <a:prstGeom prst="rect">
            <a:avLst/>
          </a:prstGeom>
          <a:noFill/>
        </p:spPr>
        <p:txBody>
          <a:bodyPr wrap="square" lIns="0" rIns="0" tIns="0" bIns="0" anchor="ctr">
            <a:spAutoFit/>
          </a:bodyPr>
          <a:lstStyle/>
          <a:p>
            <a:pPr algn="l"/>
            <a:r>
              <a:rPr sz="3000" b="1" i="0">
                <a:solidFill>
                  <a:srgbClr val="1B2A41"/>
                </a:solidFill>
                <a:latin typeface="Arial"/>
              </a:rPr>
              <a:t>Tiền xử lý còn tiếp, theo từng bài toán</a:t>
            </a:r>
          </a:p>
        </p:txBody>
      </p:sp>
      <p:cxnSp>
        <p:nvCxnSpPr>
          <p:cNvPr id="4" name="Connector 3"/>
          <p:cNvCxnSpPr/>
          <p:nvPr/>
        </p:nvCxnSpPr>
        <p:spPr>
          <a:xfrm>
            <a:off x="1371600" y="3657600"/>
            <a:ext cx="9445752" cy="0"/>
          </a:xfrm>
          <a:prstGeom prst="line">
            <a:avLst/>
          </a:prstGeom>
          <a:ln w="38100">
            <a:solidFill>
              <a:srgbClr val="D5DBE3"/>
            </a:solidFill>
          </a:ln>
        </p:spPr>
        <p:style>
          <a:lnRef idx="2">
            <a:schemeClr val="accent1"/>
          </a:lnRef>
          <a:fillRef idx="0">
            <a:schemeClr val="accent1"/>
          </a:fillRef>
          <a:effectRef idx="1">
            <a:schemeClr val="accent1"/>
          </a:effectRef>
          <a:fontRef idx="minor">
            <a:schemeClr val="tx1"/>
          </a:fontRef>
        </p:style>
      </p:cxnSp>
      <p:sp>
        <p:nvSpPr>
          <p:cNvPr id="5" name="Oval 4"/>
          <p:cNvSpPr/>
          <p:nvPr/>
        </p:nvSpPr>
        <p:spPr>
          <a:xfrm>
            <a:off x="987552" y="3273552"/>
            <a:ext cx="768096" cy="768096"/>
          </a:xfrm>
          <a:prstGeom prst="ellipse">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800" b="1" i="0">
                <a:solidFill>
                  <a:srgbClr val="FFFFFF"/>
                </a:solidFill>
                <a:latin typeface="Arial"/>
              </a:rPr>
              <a:t>19</a:t>
            </a:r>
          </a:p>
        </p:txBody>
      </p:sp>
      <p:sp>
        <p:nvSpPr>
          <p:cNvPr id="6" name="TextBox 5"/>
          <p:cNvSpPr txBox="1"/>
          <p:nvPr/>
        </p:nvSpPr>
        <p:spPr>
          <a:xfrm>
            <a:off x="640080" y="2103120"/>
            <a:ext cx="1463040" cy="914400"/>
          </a:xfrm>
          <a:prstGeom prst="rect">
            <a:avLst/>
          </a:prstGeom>
          <a:noFill/>
        </p:spPr>
        <p:txBody>
          <a:bodyPr wrap="square" lIns="0" rIns="0" tIns="0" bIns="0" anchor="b">
            <a:spAutoFit/>
          </a:bodyPr>
          <a:lstStyle/>
          <a:p>
            <a:pPr algn="ctr"/>
            <a:r>
              <a:rPr sz="1500" b="1" i="0">
                <a:solidFill>
                  <a:srgbClr val="1B2A41"/>
                </a:solidFill>
                <a:latin typeface="Arial"/>
              </a:rPr>
              <a:t>Chuỗi thưa, nhiều số 0</a:t>
            </a:r>
          </a:p>
        </p:txBody>
      </p:sp>
      <p:sp>
        <p:nvSpPr>
          <p:cNvPr id="7" name="Oval 6"/>
          <p:cNvSpPr/>
          <p:nvPr/>
        </p:nvSpPr>
        <p:spPr>
          <a:xfrm>
            <a:off x="2336945" y="3273552"/>
            <a:ext cx="768096" cy="768096"/>
          </a:xfrm>
          <a:prstGeom prst="ellipse">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800" b="1" i="0">
                <a:solidFill>
                  <a:srgbClr val="FFFFFF"/>
                </a:solidFill>
                <a:latin typeface="Arial"/>
              </a:rPr>
              <a:t>20</a:t>
            </a:r>
          </a:p>
        </p:txBody>
      </p:sp>
      <p:sp>
        <p:nvSpPr>
          <p:cNvPr id="8" name="TextBox 7"/>
          <p:cNvSpPr txBox="1"/>
          <p:nvPr/>
        </p:nvSpPr>
        <p:spPr>
          <a:xfrm>
            <a:off x="1989473" y="4343400"/>
            <a:ext cx="1463040" cy="914400"/>
          </a:xfrm>
          <a:prstGeom prst="rect">
            <a:avLst/>
          </a:prstGeom>
          <a:noFill/>
        </p:spPr>
        <p:txBody>
          <a:bodyPr wrap="square" lIns="0" rIns="0" tIns="0" bIns="0" anchor="t">
            <a:spAutoFit/>
          </a:bodyPr>
          <a:lstStyle/>
          <a:p>
            <a:pPr algn="ctr"/>
            <a:r>
              <a:rPr sz="1500" b="1" i="0">
                <a:solidFill>
                  <a:srgbClr val="1B2A41"/>
                </a:solidFill>
                <a:latin typeface="Arial"/>
              </a:rPr>
              <a:t>Khác tần suất, số liệu sửa lại</a:t>
            </a:r>
          </a:p>
        </p:txBody>
      </p:sp>
      <p:sp>
        <p:nvSpPr>
          <p:cNvPr id="9" name="Oval 8"/>
          <p:cNvSpPr/>
          <p:nvPr/>
        </p:nvSpPr>
        <p:spPr>
          <a:xfrm>
            <a:off x="3686338" y="3273552"/>
            <a:ext cx="768096" cy="768096"/>
          </a:xfrm>
          <a:prstGeom prst="ellipse">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800" b="1" i="0">
                <a:solidFill>
                  <a:srgbClr val="FFFFFF"/>
                </a:solidFill>
                <a:latin typeface="Arial"/>
              </a:rPr>
              <a:t>22</a:t>
            </a:r>
          </a:p>
        </p:txBody>
      </p:sp>
      <p:sp>
        <p:nvSpPr>
          <p:cNvPr id="10" name="TextBox 9"/>
          <p:cNvSpPr txBox="1"/>
          <p:nvPr/>
        </p:nvSpPr>
        <p:spPr>
          <a:xfrm>
            <a:off x="3338866" y="2103120"/>
            <a:ext cx="1463040" cy="914400"/>
          </a:xfrm>
          <a:prstGeom prst="rect">
            <a:avLst/>
          </a:prstGeom>
          <a:noFill/>
        </p:spPr>
        <p:txBody>
          <a:bodyPr wrap="square" lIns="0" rIns="0" tIns="0" bIns="0" anchor="b">
            <a:spAutoFit/>
          </a:bodyPr>
          <a:lstStyle/>
          <a:p>
            <a:pPr algn="ctr"/>
            <a:r>
              <a:rPr sz="1500" b="1" i="0">
                <a:solidFill>
                  <a:srgbClr val="1B2A41"/>
                </a:solidFill>
                <a:latin typeface="Arial"/>
              </a:rPr>
              <a:t>Chuỗi → bảng hồi quy</a:t>
            </a:r>
          </a:p>
        </p:txBody>
      </p:sp>
      <p:sp>
        <p:nvSpPr>
          <p:cNvPr id="11" name="Oval 10"/>
          <p:cNvSpPr/>
          <p:nvPr/>
        </p:nvSpPr>
        <p:spPr>
          <a:xfrm>
            <a:off x="5035731" y="3273552"/>
            <a:ext cx="768096" cy="768096"/>
          </a:xfrm>
          <a:prstGeom prst="ellipse">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800" b="1" i="0">
                <a:solidFill>
                  <a:srgbClr val="FFFFFF"/>
                </a:solidFill>
                <a:latin typeface="Arial"/>
              </a:rPr>
              <a:t>24</a:t>
            </a:r>
          </a:p>
        </p:txBody>
      </p:sp>
      <p:sp>
        <p:nvSpPr>
          <p:cNvPr id="12" name="TextBox 11"/>
          <p:cNvSpPr txBox="1"/>
          <p:nvPr/>
        </p:nvSpPr>
        <p:spPr>
          <a:xfrm>
            <a:off x="4688259" y="4343400"/>
            <a:ext cx="1463040" cy="914400"/>
          </a:xfrm>
          <a:prstGeom prst="rect">
            <a:avLst/>
          </a:prstGeom>
          <a:noFill/>
        </p:spPr>
        <p:txBody>
          <a:bodyPr wrap="square" lIns="0" rIns="0" tIns="0" bIns="0" anchor="t">
            <a:spAutoFit/>
          </a:bodyPr>
          <a:lstStyle/>
          <a:p>
            <a:pPr algn="ctr"/>
            <a:r>
              <a:rPr sz="1500" b="1" i="0">
                <a:solidFill>
                  <a:srgbClr val="1B2A41"/>
                </a:solidFill>
                <a:latin typeface="Arial"/>
              </a:rPr>
              <a:t>Chuỗi mới (cold start)</a:t>
            </a:r>
          </a:p>
        </p:txBody>
      </p:sp>
      <p:sp>
        <p:nvSpPr>
          <p:cNvPr id="13" name="Oval 12"/>
          <p:cNvSpPr/>
          <p:nvPr/>
        </p:nvSpPr>
        <p:spPr>
          <a:xfrm>
            <a:off x="6385124" y="3273552"/>
            <a:ext cx="768096" cy="768096"/>
          </a:xfrm>
          <a:prstGeom prst="ellipse">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800" b="1" i="0">
                <a:solidFill>
                  <a:srgbClr val="FFFFFF"/>
                </a:solidFill>
                <a:latin typeface="Arial"/>
              </a:rPr>
              <a:t>28</a:t>
            </a:r>
          </a:p>
        </p:txBody>
      </p:sp>
      <p:sp>
        <p:nvSpPr>
          <p:cNvPr id="14" name="TextBox 13"/>
          <p:cNvSpPr txBox="1"/>
          <p:nvPr/>
        </p:nvSpPr>
        <p:spPr>
          <a:xfrm>
            <a:off x="6037652" y="2103120"/>
            <a:ext cx="1463040" cy="914400"/>
          </a:xfrm>
          <a:prstGeom prst="rect">
            <a:avLst/>
          </a:prstGeom>
          <a:noFill/>
        </p:spPr>
        <p:txBody>
          <a:bodyPr wrap="square" lIns="0" rIns="0" tIns="0" bIns="0" anchor="b">
            <a:spAutoFit/>
          </a:bodyPr>
          <a:lstStyle/>
          <a:p>
            <a:pPr algn="ctr"/>
            <a:r>
              <a:rPr sz="1500" b="1" i="0">
                <a:solidFill>
                  <a:srgbClr val="1B2A41"/>
                </a:solidFill>
                <a:latin typeface="Arial"/>
              </a:rPr>
              <a:t>Dự báo phân cấp</a:t>
            </a:r>
          </a:p>
        </p:txBody>
      </p:sp>
      <p:sp>
        <p:nvSpPr>
          <p:cNvPr id="15" name="Oval 14"/>
          <p:cNvSpPr/>
          <p:nvPr/>
        </p:nvSpPr>
        <p:spPr>
          <a:xfrm>
            <a:off x="7734517" y="3273552"/>
            <a:ext cx="768096" cy="768096"/>
          </a:xfrm>
          <a:prstGeom prst="ellipse">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800" b="1" i="0">
                <a:solidFill>
                  <a:srgbClr val="FFFFFF"/>
                </a:solidFill>
                <a:latin typeface="Arial"/>
              </a:rPr>
              <a:t>29</a:t>
            </a:r>
          </a:p>
        </p:txBody>
      </p:sp>
      <p:sp>
        <p:nvSpPr>
          <p:cNvPr id="16" name="TextBox 15"/>
          <p:cNvSpPr txBox="1"/>
          <p:nvPr/>
        </p:nvSpPr>
        <p:spPr>
          <a:xfrm>
            <a:off x="7387045" y="4343400"/>
            <a:ext cx="1463040" cy="914400"/>
          </a:xfrm>
          <a:prstGeom prst="rect">
            <a:avLst/>
          </a:prstGeom>
          <a:noFill/>
        </p:spPr>
        <p:txBody>
          <a:bodyPr wrap="square" lIns="0" rIns="0" tIns="0" bIns="0" anchor="t">
            <a:spAutoFit/>
          </a:bodyPr>
          <a:lstStyle/>
          <a:p>
            <a:pPr algn="ctr"/>
            <a:r>
              <a:rPr sz="1500" b="1" i="0">
                <a:solidFill>
                  <a:srgbClr val="1B2A41"/>
                </a:solidFill>
                <a:latin typeface="Arial"/>
              </a:rPr>
              <a:t>Cửa sổ cho deep learning</a:t>
            </a:r>
          </a:p>
        </p:txBody>
      </p:sp>
      <p:sp>
        <p:nvSpPr>
          <p:cNvPr id="17" name="Oval 16"/>
          <p:cNvSpPr/>
          <p:nvPr/>
        </p:nvSpPr>
        <p:spPr>
          <a:xfrm>
            <a:off x="9083910" y="3273552"/>
            <a:ext cx="768096" cy="768096"/>
          </a:xfrm>
          <a:prstGeom prst="ellipse">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800" b="1" i="0">
                <a:solidFill>
                  <a:srgbClr val="FFFFFF"/>
                </a:solidFill>
                <a:latin typeface="Arial"/>
              </a:rPr>
              <a:t>41</a:t>
            </a:r>
          </a:p>
        </p:txBody>
      </p:sp>
      <p:sp>
        <p:nvSpPr>
          <p:cNvPr id="18" name="TextBox 17"/>
          <p:cNvSpPr txBox="1"/>
          <p:nvPr/>
        </p:nvSpPr>
        <p:spPr>
          <a:xfrm>
            <a:off x="8736438" y="2103120"/>
            <a:ext cx="1463040" cy="914400"/>
          </a:xfrm>
          <a:prstGeom prst="rect">
            <a:avLst/>
          </a:prstGeom>
          <a:noFill/>
        </p:spPr>
        <p:txBody>
          <a:bodyPr wrap="square" lIns="0" rIns="0" tIns="0" bIns="0" anchor="b">
            <a:spAutoFit/>
          </a:bodyPr>
          <a:lstStyle/>
          <a:p>
            <a:pPr algn="ctr"/>
            <a:r>
              <a:rPr sz="1500" b="1" i="0">
                <a:solidFill>
                  <a:srgbClr val="1B2A41"/>
                </a:solidFill>
                <a:latin typeface="Arial"/>
              </a:rPr>
              <a:t>Pipeline point-in-time</a:t>
            </a:r>
          </a:p>
        </p:txBody>
      </p:sp>
      <p:sp>
        <p:nvSpPr>
          <p:cNvPr id="19" name="Oval 18"/>
          <p:cNvSpPr/>
          <p:nvPr/>
        </p:nvSpPr>
        <p:spPr>
          <a:xfrm>
            <a:off x="10433304" y="3273552"/>
            <a:ext cx="768096" cy="768096"/>
          </a:xfrm>
          <a:prstGeom prst="ellipse">
            <a:avLst/>
          </a:prstGeom>
          <a:solidFill>
            <a:srgbClr val="4A556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800" b="1" i="0">
                <a:solidFill>
                  <a:srgbClr val="FFFFFF"/>
                </a:solidFill>
                <a:latin typeface="Arial"/>
              </a:rPr>
              <a:t>43</a:t>
            </a:r>
          </a:p>
        </p:txBody>
      </p:sp>
      <p:sp>
        <p:nvSpPr>
          <p:cNvPr id="20" name="TextBox 19"/>
          <p:cNvSpPr txBox="1"/>
          <p:nvPr/>
        </p:nvSpPr>
        <p:spPr>
          <a:xfrm>
            <a:off x="10085832" y="4343400"/>
            <a:ext cx="1463040" cy="914400"/>
          </a:xfrm>
          <a:prstGeom prst="rect">
            <a:avLst/>
          </a:prstGeom>
          <a:noFill/>
        </p:spPr>
        <p:txBody>
          <a:bodyPr wrap="square" lIns="0" rIns="0" tIns="0" bIns="0" anchor="t">
            <a:spAutoFit/>
          </a:bodyPr>
          <a:lstStyle/>
          <a:p>
            <a:pPr algn="ctr"/>
            <a:r>
              <a:rPr sz="1500" b="1" i="0">
                <a:solidFill>
                  <a:srgbClr val="1B2A41"/>
                </a:solidFill>
                <a:latin typeface="Arial"/>
              </a:rPr>
              <a:t>Giám sát drift</a:t>
            </a:r>
          </a:p>
        </p:txBody>
      </p:sp>
      <p:sp>
        <p:nvSpPr>
          <p:cNvPr id="21" name="TextBox 20"/>
          <p:cNvSpPr txBox="1"/>
          <p:nvPr/>
        </p:nvSpPr>
        <p:spPr>
          <a:xfrm>
            <a:off x="548640" y="5852160"/>
            <a:ext cx="11091672" cy="457200"/>
          </a:xfrm>
          <a:prstGeom prst="rect">
            <a:avLst/>
          </a:prstGeom>
          <a:noFill/>
        </p:spPr>
        <p:txBody>
          <a:bodyPr wrap="square" lIns="0" rIns="0" tIns="0" bIns="0" anchor="t">
            <a:spAutoFit/>
          </a:bodyPr>
          <a:lstStyle/>
          <a:p>
            <a:pPr algn="ctr"/>
            <a:r>
              <a:rPr sz="1300" b="0" i="0">
                <a:solidFill>
                  <a:srgbClr val="5B6778"/>
                </a:solidFill>
                <a:latin typeface="Arial"/>
              </a:rPr>
              <a:t>Số trong vòng tròn = buổi dạy</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bg>
      <p:bgPr>
        <a:solidFill>
          <a:srgbClr val="1B2A41"/>
        </a:solidFill>
        <a:effectLst/>
      </p:bgPr>
    </p:bg>
    <p:spTree>
      <p:nvGrpSpPr>
        <p:cNvPr id="1" name=""/>
        <p:cNvGrpSpPr/>
        <p:nvPr/>
      </p:nvGrpSpPr>
      <p:grpSpPr/>
      <p:sp>
        <p:nvSpPr>
          <p:cNvPr id="2" name="TextBox 1"/>
          <p:cNvSpPr txBox="1"/>
          <p:nvPr/>
        </p:nvSpPr>
        <p:spPr>
          <a:xfrm>
            <a:off x="822960" y="640080"/>
            <a:ext cx="10058400" cy="822960"/>
          </a:xfrm>
          <a:prstGeom prst="rect">
            <a:avLst/>
          </a:prstGeom>
          <a:noFill/>
        </p:spPr>
        <p:txBody>
          <a:bodyPr wrap="square" lIns="0" rIns="0" tIns="0" bIns="0" anchor="t">
            <a:spAutoFit/>
          </a:bodyPr>
          <a:lstStyle/>
          <a:p>
            <a:pPr algn="l"/>
            <a:r>
              <a:rPr sz="3600" b="1" i="0">
                <a:solidFill>
                  <a:srgbClr val="FFFFFF"/>
                </a:solidFill>
                <a:latin typeface="Arial"/>
              </a:rPr>
              <a:t>Năm điều mang về</a:t>
            </a:r>
          </a:p>
        </p:txBody>
      </p:sp>
      <p:sp>
        <p:nvSpPr>
          <p:cNvPr id="3" name="Oval 2"/>
          <p:cNvSpPr/>
          <p:nvPr/>
        </p:nvSpPr>
        <p:spPr>
          <a:xfrm>
            <a:off x="822960" y="1783080"/>
            <a:ext cx="603504" cy="603504"/>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1</a:t>
            </a:r>
          </a:p>
        </p:txBody>
      </p:sp>
      <p:sp>
        <p:nvSpPr>
          <p:cNvPr id="4" name="TextBox 3"/>
          <p:cNvSpPr txBox="1"/>
          <p:nvPr/>
        </p:nvSpPr>
        <p:spPr>
          <a:xfrm>
            <a:off x="1691640" y="1783080"/>
            <a:ext cx="9144000" cy="603504"/>
          </a:xfrm>
          <a:prstGeom prst="rect">
            <a:avLst/>
          </a:prstGeom>
          <a:noFill/>
        </p:spPr>
        <p:txBody>
          <a:bodyPr wrap="square" lIns="0" rIns="0" tIns="0" bIns="0" anchor="ctr">
            <a:spAutoFit/>
          </a:bodyPr>
          <a:lstStyle/>
          <a:p>
            <a:pPr algn="l"/>
            <a:r>
              <a:rPr sz="2400" b="1" i="0">
                <a:solidFill>
                  <a:srgbClr val="FFFFFF"/>
                </a:solidFill>
                <a:latin typeface="Arial"/>
              </a:rPr>
              <a:t>Nhìn trước, xử lý sau</a:t>
            </a:r>
          </a:p>
        </p:txBody>
      </p:sp>
      <p:sp>
        <p:nvSpPr>
          <p:cNvPr id="5" name="Oval 4"/>
          <p:cNvSpPr/>
          <p:nvPr/>
        </p:nvSpPr>
        <p:spPr>
          <a:xfrm>
            <a:off x="822960" y="2651760"/>
            <a:ext cx="603504" cy="603504"/>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2</a:t>
            </a:r>
          </a:p>
        </p:txBody>
      </p:sp>
      <p:sp>
        <p:nvSpPr>
          <p:cNvPr id="6" name="TextBox 5"/>
          <p:cNvSpPr txBox="1"/>
          <p:nvPr/>
        </p:nvSpPr>
        <p:spPr>
          <a:xfrm>
            <a:off x="1691640" y="2651760"/>
            <a:ext cx="9144000" cy="603504"/>
          </a:xfrm>
          <a:prstGeom prst="rect">
            <a:avLst/>
          </a:prstGeom>
          <a:noFill/>
        </p:spPr>
        <p:txBody>
          <a:bodyPr wrap="square" lIns="0" rIns="0" tIns="0" bIns="0" anchor="ctr">
            <a:spAutoFit/>
          </a:bodyPr>
          <a:lstStyle/>
          <a:p>
            <a:pPr algn="l"/>
            <a:r>
              <a:rPr sz="2400" b="1" i="0">
                <a:solidFill>
                  <a:srgbClr val="FFFFFF"/>
                </a:solidFill>
                <a:latin typeface="Arial"/>
              </a:rPr>
              <a:t>NaN không phải 0: gắn cờ, đừng xoá</a:t>
            </a:r>
          </a:p>
        </p:txBody>
      </p:sp>
      <p:sp>
        <p:nvSpPr>
          <p:cNvPr id="7" name="Oval 6"/>
          <p:cNvSpPr/>
          <p:nvPr/>
        </p:nvSpPr>
        <p:spPr>
          <a:xfrm>
            <a:off x="822960" y="3520439"/>
            <a:ext cx="603504" cy="603504"/>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3</a:t>
            </a:r>
          </a:p>
        </p:txBody>
      </p:sp>
      <p:sp>
        <p:nvSpPr>
          <p:cNvPr id="8" name="TextBox 7"/>
          <p:cNvSpPr txBox="1"/>
          <p:nvPr/>
        </p:nvSpPr>
        <p:spPr>
          <a:xfrm>
            <a:off x="1691640" y="3520439"/>
            <a:ext cx="9144000" cy="603504"/>
          </a:xfrm>
          <a:prstGeom prst="rect">
            <a:avLst/>
          </a:prstGeom>
          <a:noFill/>
        </p:spPr>
        <p:txBody>
          <a:bodyPr wrap="square" lIns="0" rIns="0" tIns="0" bIns="0" anchor="ctr">
            <a:spAutoFit/>
          </a:bodyPr>
          <a:lstStyle/>
          <a:p>
            <a:pPr algn="l"/>
            <a:r>
              <a:rPr sz="2400" b="1" i="0">
                <a:solidFill>
                  <a:srgbClr val="FFFFFF"/>
                </a:solidFill>
                <a:latin typeface="Arial"/>
              </a:rPr>
              <a:t>Mọi mốc thời gian về UTC, lưới đủ</a:t>
            </a:r>
          </a:p>
        </p:txBody>
      </p:sp>
      <p:sp>
        <p:nvSpPr>
          <p:cNvPr id="9" name="Oval 8"/>
          <p:cNvSpPr/>
          <p:nvPr/>
        </p:nvSpPr>
        <p:spPr>
          <a:xfrm>
            <a:off x="822960" y="4389120"/>
            <a:ext cx="603504" cy="603504"/>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4</a:t>
            </a:r>
          </a:p>
        </p:txBody>
      </p:sp>
      <p:sp>
        <p:nvSpPr>
          <p:cNvPr id="10" name="TextBox 9"/>
          <p:cNvSpPr txBox="1"/>
          <p:nvPr/>
        </p:nvSpPr>
        <p:spPr>
          <a:xfrm>
            <a:off x="1691640" y="4389120"/>
            <a:ext cx="9144000" cy="603504"/>
          </a:xfrm>
          <a:prstGeom prst="rect">
            <a:avLst/>
          </a:prstGeom>
          <a:noFill/>
        </p:spPr>
        <p:txBody>
          <a:bodyPr wrap="square" lIns="0" rIns="0" tIns="0" bIns="0" anchor="ctr">
            <a:spAutoFit/>
          </a:bodyPr>
          <a:lstStyle/>
          <a:p>
            <a:pPr algn="l"/>
            <a:r>
              <a:rPr sz="2400" b="1" i="0">
                <a:solidFill>
                  <a:srgbClr val="FFFFFF"/>
                </a:solidFill>
                <a:latin typeface="Arial"/>
              </a:rPr>
              <a:t>Chỉ dùng thông tin có trước cutoff</a:t>
            </a:r>
          </a:p>
        </p:txBody>
      </p:sp>
      <p:sp>
        <p:nvSpPr>
          <p:cNvPr id="11" name="Oval 10"/>
          <p:cNvSpPr/>
          <p:nvPr/>
        </p:nvSpPr>
        <p:spPr>
          <a:xfrm>
            <a:off x="822960" y="5257800"/>
            <a:ext cx="603504" cy="603504"/>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5</a:t>
            </a:r>
          </a:p>
        </p:txBody>
      </p:sp>
      <p:sp>
        <p:nvSpPr>
          <p:cNvPr id="12" name="TextBox 11"/>
          <p:cNvSpPr txBox="1"/>
          <p:nvPr/>
        </p:nvSpPr>
        <p:spPr>
          <a:xfrm>
            <a:off x="1691640" y="5257800"/>
            <a:ext cx="9144000" cy="603504"/>
          </a:xfrm>
          <a:prstGeom prst="rect">
            <a:avLst/>
          </a:prstGeom>
          <a:noFill/>
        </p:spPr>
        <p:txBody>
          <a:bodyPr wrap="square" lIns="0" rIns="0" tIns="0" bIns="0" anchor="ctr">
            <a:spAutoFit/>
          </a:bodyPr>
          <a:lstStyle/>
          <a:p>
            <a:pPr algn="l"/>
            <a:r>
              <a:rPr sz="2400" b="1" i="0">
                <a:solidFill>
                  <a:srgbClr val="FFFFFF"/>
                </a:solidFill>
                <a:latin typeface="Arial"/>
              </a:rPr>
              <a:t>Thắng mọi baseline trên rolling origin</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đổi phút ra kWh/giờ, tìm nhịp</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1</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Biến số đo từng phút thành kWh mỗi giờ, rồi thấy nhịp ngày và tuần làm điện dự báo được.</a:t>
            </a:r>
          </a:p>
        </p:txBody>
      </p:sp>
      <p:sp>
        <p:nvSpPr>
          <p:cNvPr id="6" name="Rounded Rectangle 5"/>
          <p:cNvSpPr/>
          <p:nvPr/>
        </p:nvSpPr>
        <p:spPr>
          <a:xfrm>
            <a:off x="548640" y="1737360"/>
            <a:ext cx="7086600" cy="2313178"/>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1993138"/>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pandas as pd</a:t>
            </a:r>
          </a:p>
          <a:p>
            <a:r>
              <a:rPr sz="950">
                <a:solidFill>
                  <a:srgbClr val="6B7385"/>
                </a:solidFill>
                <a:latin typeface="Courier New"/>
              </a:rPr>
              <a:t> 2 </a:t>
            </a:r>
          </a:p>
          <a:p>
            <a:r>
              <a:rPr sz="950">
                <a:solidFill>
                  <a:srgbClr val="6B7385"/>
                </a:solidFill>
                <a:latin typeface="Courier New"/>
              </a:rPr>
              <a:t> 3 </a:t>
            </a:r>
            <a:r>
              <a:rPr sz="950">
                <a:solidFill>
                  <a:srgbClr val="E6EAF0"/>
                </a:solidFill>
                <a:latin typeface="Courier New"/>
              </a:rPr>
              <a:t>df = pd.read_csv("dien-mot-ho.zip", sep=";", na_values="?",</a:t>
            </a:r>
          </a:p>
          <a:p>
            <a:r>
              <a:rPr sz="950">
                <a:solidFill>
                  <a:srgbClr val="6B7385"/>
                </a:solidFill>
                <a:latin typeface="Courier New"/>
              </a:rPr>
              <a:t> 4 </a:t>
            </a:r>
            <a:r>
              <a:rPr sz="950">
                <a:solidFill>
                  <a:srgbClr val="E6EAF0"/>
                </a:solidFill>
                <a:latin typeface="Courier New"/>
              </a:rPr>
              <a:t>                 usecols=["Date", "Time", "Global_active_power"])</a:t>
            </a:r>
          </a:p>
          <a:p>
            <a:r>
              <a:rPr sz="950">
                <a:solidFill>
                  <a:srgbClr val="6B7385"/>
                </a:solidFill>
                <a:latin typeface="Courier New"/>
              </a:rPr>
              <a:t> 5 </a:t>
            </a:r>
            <a:r>
              <a:rPr sz="950">
                <a:solidFill>
                  <a:srgbClr val="E6EAF0"/>
                </a:solidFill>
                <a:latin typeface="Courier New"/>
              </a:rPr>
              <a:t>t = pd.to_datetime(df["Date"] + " " + df["Time"], format="%d/%m/%Y %H:%M:%S")</a:t>
            </a:r>
          </a:p>
          <a:p>
            <a:r>
              <a:rPr sz="950">
                <a:solidFill>
                  <a:srgbClr val="6B7385"/>
                </a:solidFill>
                <a:latin typeface="Courier New"/>
              </a:rPr>
              <a:t> 6 </a:t>
            </a:r>
            <a:r>
              <a:rPr sz="950">
                <a:solidFill>
                  <a:srgbClr val="E6EAF0"/>
                </a:solidFill>
                <a:latin typeface="Courier New"/>
              </a:rPr>
              <a:t>phut = pd.Series(df["Global_active_power"].to_numpy(), index=t)</a:t>
            </a:r>
          </a:p>
          <a:p>
            <a:r>
              <a:rPr sz="950">
                <a:solidFill>
                  <a:srgbClr val="6B7385"/>
                </a:solidFill>
                <a:latin typeface="Courier New"/>
              </a:rPr>
              <a:t> 7 </a:t>
            </a:r>
            <a:r>
              <a:rPr sz="950">
                <a:solidFill>
                  <a:srgbClr val="8FC99A"/>
                </a:solidFill>
                <a:latin typeface="Courier New"/>
              </a:rPr>
              <a:t># TB kW trong một giờ = số kWh của giờ đó; thiếu quá nửa thì để trống</a:t>
            </a:r>
          </a:p>
          <a:p>
            <a:r>
              <a:rPr sz="950">
                <a:solidFill>
                  <a:srgbClr val="6B7385"/>
                </a:solidFill>
                <a:latin typeface="Courier New"/>
              </a:rPr>
              <a:t> 8 </a:t>
            </a:r>
            <a:r>
              <a:rPr sz="950">
                <a:solidFill>
                  <a:srgbClr val="E6EAF0"/>
                </a:solidFill>
                <a:latin typeface="Courier New"/>
              </a:rPr>
              <a:t>gio = phut.resample("h")</a:t>
            </a:r>
          </a:p>
          <a:p>
            <a:r>
              <a:rPr sz="950">
                <a:solidFill>
                  <a:srgbClr val="6B7385"/>
                </a:solidFill>
                <a:latin typeface="Courier New"/>
              </a:rPr>
              <a:t> 9 </a:t>
            </a:r>
            <a:r>
              <a:rPr sz="950">
                <a:solidFill>
                  <a:srgbClr val="E6EAF0"/>
                </a:solidFill>
                <a:latin typeface="Courier New"/>
              </a:rPr>
              <a:t>s = gio.mean().where(gio.count() &gt;= 30)</a:t>
            </a:r>
          </a:p>
          <a:p>
            <a:r>
              <a:rPr sz="950">
                <a:solidFill>
                  <a:srgbClr val="6B7385"/>
                </a:solidFill>
                <a:latin typeface="Courier New"/>
              </a:rPr>
              <a:t>10 </a:t>
            </a:r>
            <a:r>
              <a:rPr sz="950">
                <a:solidFill>
                  <a:srgbClr val="E6EAF0"/>
                </a:solidFill>
                <a:latin typeface="Courier New"/>
              </a:rPr>
              <a:t>theo_gio = s.groupby(s.index.hour).mean()       </a:t>
            </a:r>
            <a:r>
              <a:rPr sz="950">
                <a:solidFill>
                  <a:srgbClr val="8FC99A"/>
                </a:solidFill>
                <a:latin typeface="Courier New"/>
              </a:rPr>
              <a:t># TB theo giờ trong ngày</a:t>
            </a:r>
          </a:p>
          <a:p>
            <a:r>
              <a:rPr sz="950">
                <a:solidFill>
                  <a:srgbClr val="6B7385"/>
                </a:solidFill>
                <a:latin typeface="Courier New"/>
              </a:rPr>
              <a:t>11 </a:t>
            </a:r>
            <a:r>
              <a:rPr sz="950">
                <a:solidFill>
                  <a:srgbClr val="E6EAF0"/>
                </a:solidFill>
                <a:latin typeface="Courier New"/>
              </a:rPr>
              <a:t>print(theo_gio.idxmin(), theo_gio.idxmax())     </a:t>
            </a:r>
            <a:r>
              <a:rPr sz="950">
                <a:solidFill>
                  <a:srgbClr val="8FC99A"/>
                </a:solidFill>
                <a:latin typeface="Courier New"/>
              </a:rPr>
              <a:t># giờ thấp nhất, cao nhất</a:t>
            </a:r>
          </a:p>
          <a:p>
            <a:r>
              <a:rPr sz="950">
                <a:solidFill>
                  <a:srgbClr val="6B7385"/>
                </a:solidFill>
                <a:latin typeface="Courier New"/>
              </a:rPr>
              <a:t>12 </a:t>
            </a:r>
            <a:r>
              <a:rPr sz="950">
                <a:solidFill>
                  <a:srgbClr val="E6EAF0"/>
                </a:solidFill>
                <a:latin typeface="Courier New"/>
              </a:rPr>
              <a:t>ngay_thuong = s[s.index.dayofweek &lt; 5].mean()   </a:t>
            </a:r>
            <a:r>
              <a:rPr sz="950">
                <a:solidFill>
                  <a:srgbClr val="8FC99A"/>
                </a:solidFill>
                <a:latin typeface="Courier New"/>
              </a:rPr>
              <a:t># thứ Hai tới thứ Sáu</a:t>
            </a:r>
          </a:p>
          <a:p>
            <a:r>
              <a:rPr sz="950">
                <a:solidFill>
                  <a:srgbClr val="6B7385"/>
                </a:solidFill>
                <a:latin typeface="Courier New"/>
              </a:rPr>
              <a:t>13 </a:t>
            </a:r>
            <a:r>
              <a:rPr sz="950">
                <a:solidFill>
                  <a:srgbClr val="E6EAF0"/>
                </a:solidFill>
                <a:latin typeface="Courier New"/>
              </a:rPr>
              <a:t>cuoi_tuan = s[s.index.dayofweek &gt;= 5].mean()    </a:t>
            </a:r>
            <a:r>
              <a:rPr sz="950">
                <a:solidFill>
                  <a:srgbClr val="8FC99A"/>
                </a:solidFill>
                <a:latin typeface="Courier New"/>
              </a:rPr>
              <a:t># thứ Bảy, Chủ nhật</a:t>
            </a:r>
          </a:p>
        </p:txBody>
      </p:sp>
      <p:sp>
        <p:nvSpPr>
          <p:cNvPr id="8" name="TextBox 7"/>
          <p:cNvSpPr txBox="1"/>
          <p:nvPr/>
        </p:nvSpPr>
        <p:spPr>
          <a:xfrm>
            <a:off x="685800" y="3803650"/>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buoi-01/tu-hoc.ipynb, phần 0 và 1</a:t>
            </a:r>
          </a:p>
        </p:txBody>
      </p:sp>
      <p:sp>
        <p:nvSpPr>
          <p:cNvPr id="9" name="TextBox 8"/>
          <p:cNvSpPr txBox="1"/>
          <p:nvPr/>
        </p:nvSpPr>
        <p:spPr>
          <a:xfrm>
            <a:off x="548640" y="4160266"/>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4803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3–6</a:t>
            </a:r>
          </a:p>
        </p:txBody>
      </p:sp>
      <p:sp>
        <p:nvSpPr>
          <p:cNvPr id="11" name="TextBox 10"/>
          <p:cNvSpPr txBox="1"/>
          <p:nvPr/>
        </p:nvSpPr>
        <p:spPr>
          <a:xfrm>
            <a:off x="1353312" y="4462018"/>
            <a:ext cx="2697480" cy="457200"/>
          </a:xfrm>
          <a:prstGeom prst="rect">
            <a:avLst/>
          </a:prstGeom>
          <a:noFill/>
        </p:spPr>
        <p:txBody>
          <a:bodyPr wrap="square" lIns="0" rIns="0" tIns="0" bIns="0" anchor="t">
            <a:spAutoFit/>
          </a:bodyPr>
          <a:lstStyle/>
          <a:p>
            <a:pPr algn="l"/>
            <a:r>
              <a:rPr sz="1050" b="0" i="0">
                <a:solidFill>
                  <a:srgbClr val="1B2A41"/>
                </a:solidFill>
                <a:latin typeface="Arial"/>
              </a:rPr>
              <a:t>Đọc số đo từng phút, gắn mốc thời gian.</a:t>
            </a:r>
          </a:p>
        </p:txBody>
      </p:sp>
      <p:sp>
        <p:nvSpPr>
          <p:cNvPr id="12" name="Rounded Rectangle 11"/>
          <p:cNvSpPr/>
          <p:nvPr/>
        </p:nvSpPr>
        <p:spPr>
          <a:xfrm>
            <a:off x="548640" y="49375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8–9</a:t>
            </a:r>
          </a:p>
        </p:txBody>
      </p:sp>
      <p:sp>
        <p:nvSpPr>
          <p:cNvPr id="13" name="TextBox 12"/>
          <p:cNvSpPr txBox="1"/>
          <p:nvPr/>
        </p:nvSpPr>
        <p:spPr>
          <a:xfrm>
            <a:off x="1353312" y="4919218"/>
            <a:ext cx="2697480" cy="457200"/>
          </a:xfrm>
          <a:prstGeom prst="rect">
            <a:avLst/>
          </a:prstGeom>
          <a:noFill/>
        </p:spPr>
        <p:txBody>
          <a:bodyPr wrap="square" lIns="0" rIns="0" tIns="0" bIns="0" anchor="t">
            <a:spAutoFit/>
          </a:bodyPr>
          <a:lstStyle/>
          <a:p>
            <a:pPr algn="l"/>
            <a:r>
              <a:rPr sz="1050" b="0" i="0">
                <a:solidFill>
                  <a:srgbClr val="1B2A41"/>
                </a:solidFill>
                <a:latin typeface="Arial"/>
              </a:rPr>
              <a:t>Gộp về giờ; giờ thiếu hơn 30 phút để trống.</a:t>
            </a:r>
          </a:p>
        </p:txBody>
      </p:sp>
      <p:sp>
        <p:nvSpPr>
          <p:cNvPr id="14" name="Rounded Rectangle 13"/>
          <p:cNvSpPr/>
          <p:nvPr/>
        </p:nvSpPr>
        <p:spPr>
          <a:xfrm>
            <a:off x="4160520" y="44803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10–11</a:t>
            </a:r>
          </a:p>
        </p:txBody>
      </p:sp>
      <p:sp>
        <p:nvSpPr>
          <p:cNvPr id="15" name="TextBox 14"/>
          <p:cNvSpPr txBox="1"/>
          <p:nvPr/>
        </p:nvSpPr>
        <p:spPr>
          <a:xfrm>
            <a:off x="4965192" y="4462018"/>
            <a:ext cx="2697480" cy="457200"/>
          </a:xfrm>
          <a:prstGeom prst="rect">
            <a:avLst/>
          </a:prstGeom>
          <a:noFill/>
        </p:spPr>
        <p:txBody>
          <a:bodyPr wrap="square" lIns="0" rIns="0" tIns="0" bIns="0" anchor="t">
            <a:spAutoFit/>
          </a:bodyPr>
          <a:lstStyle/>
          <a:p>
            <a:pPr algn="l"/>
            <a:r>
              <a:rPr sz="1050" b="0" i="0">
                <a:solidFill>
                  <a:srgbClr val="1B2A41"/>
                </a:solidFill>
                <a:latin typeface="Arial"/>
              </a:rPr>
              <a:t>Trung bình theo giờ trong ngày, tìm đáy, đỉnh.</a:t>
            </a:r>
          </a:p>
        </p:txBody>
      </p:sp>
      <p:sp>
        <p:nvSpPr>
          <p:cNvPr id="16" name="Rounded Rectangle 15"/>
          <p:cNvSpPr/>
          <p:nvPr/>
        </p:nvSpPr>
        <p:spPr>
          <a:xfrm>
            <a:off x="4160520" y="49375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12–13</a:t>
            </a:r>
          </a:p>
        </p:txBody>
      </p:sp>
      <p:sp>
        <p:nvSpPr>
          <p:cNvPr id="17" name="TextBox 16"/>
          <p:cNvSpPr txBox="1"/>
          <p:nvPr/>
        </p:nvSpPr>
        <p:spPr>
          <a:xfrm>
            <a:off x="4965192" y="4919218"/>
            <a:ext cx="2697480" cy="457200"/>
          </a:xfrm>
          <a:prstGeom prst="rect">
            <a:avLst/>
          </a:prstGeom>
          <a:noFill/>
        </p:spPr>
        <p:txBody>
          <a:bodyPr wrap="square" lIns="0" rIns="0" tIns="0" bIns="0" anchor="t">
            <a:spAutoFit/>
          </a:bodyPr>
          <a:lstStyle/>
          <a:p>
            <a:pPr algn="l"/>
            <a:r>
              <a:rPr sz="1050" b="0" i="0">
                <a:solidFill>
                  <a:srgbClr val="1B2A41"/>
                </a:solidFill>
                <a:latin typeface="Arial"/>
              </a:rPr>
              <a:t>So ngày thường với cuối tuần.</a:t>
            </a:r>
          </a:p>
        </p:txBody>
      </p:sp>
      <p:sp>
        <p:nvSpPr>
          <p:cNvPr id="18" name="Rounded Rectangle 17"/>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Thấp nhất lúc 4h, cao nhất lúc 20h; cuối tuần dùng nhiều hơn ngày thường. Nhịp lặp đều này là mùa vụ.</a:t>
            </a:r>
          </a:p>
        </p:txBody>
      </p:sp>
      <p:sp>
        <p:nvSpPr>
          <p:cNvPr id="20" name="TextBox 19"/>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1" name="TextBox 20"/>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resample("h").mean()</a:t>
            </a:r>
            <a:r>
              <a:rPr sz="950" b="1" i="0">
                <a:solidFill>
                  <a:srgbClr val="5B6778"/>
                </a:solidFill>
                <a:latin typeface="Arial"/>
              </a:rPr>
              <a:t>   pandas</a:t>
            </a:r>
          </a:p>
        </p:txBody>
      </p:sp>
      <p:sp>
        <p:nvSpPr>
          <p:cNvPr id="22" name="TextBox 21"/>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Gom các số đo trong cùng một giờ lại, lấy trung bình.</a:t>
            </a:r>
          </a:p>
        </p:txBody>
      </p:sp>
      <p:sp>
        <p:nvSpPr>
          <p:cNvPr id="23" name="TextBox 22"/>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groupby(...).mean()</a:t>
            </a:r>
            <a:r>
              <a:rPr sz="950" b="1" i="0">
                <a:solidFill>
                  <a:srgbClr val="5B6778"/>
                </a:solidFill>
                <a:latin typeface="Arial"/>
              </a:rPr>
              <a:t>   pandas</a:t>
            </a:r>
          </a:p>
        </p:txBody>
      </p:sp>
      <p:sp>
        <p:nvSpPr>
          <p:cNvPr id="24" name="TextBox 23"/>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Chia dữ liệu thành nhóm (ví dụ theo giờ), tính trung bình mỗi nhóm.</a:t>
            </a:r>
          </a:p>
        </p:txBody>
      </p:sp>
      <p:sp>
        <p:nvSpPr>
          <p:cNvPr id="25" name="TextBox 24"/>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idxmin() / idxmax()</a:t>
            </a:r>
            <a:r>
              <a:rPr sz="950" b="1" i="0">
                <a:solidFill>
                  <a:srgbClr val="5B6778"/>
                </a:solidFill>
                <a:latin typeface="Arial"/>
              </a:rPr>
              <a:t>   pandas</a:t>
            </a:r>
          </a:p>
        </p:txBody>
      </p:sp>
      <p:sp>
        <p:nvSpPr>
          <p:cNvPr id="26" name="TextBox 25"/>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Cho biết nhãn (ở đây là giờ) nơi giá trị nhỏ nhất, lớn nhất.</a:t>
            </a:r>
          </a:p>
        </p:txBody>
      </p:sp>
      <p:pic>
        <p:nvPicPr>
          <p:cNvPr id="27" name="Picture 26" descr="kn-mua-vu.png"/>
          <p:cNvPicPr>
            <a:picLocks noChangeAspect="1"/>
          </p:cNvPicPr>
          <p:nvPr/>
        </p:nvPicPr>
        <p:blipFill>
          <a:blip r:embed="rId2"/>
          <a:stretch>
            <a:fillRect/>
          </a:stretch>
        </p:blipFill>
        <p:spPr>
          <a:xfrm>
            <a:off x="7863840" y="4211453"/>
            <a:ext cx="3776472" cy="2138412"/>
          </a:xfrm>
          <a:prstGeom prst="rect">
            <a:avLst/>
          </a:prstGeom>
        </p:spPr>
      </p:pic>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MAE và bốn baseline</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1</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Viết bốn cách dự báo đơn giản làm mốc, để biết một con số MAE là tốt hay xấu.</a:t>
            </a:r>
          </a:p>
        </p:txBody>
      </p:sp>
      <p:sp>
        <p:nvSpPr>
          <p:cNvPr id="6" name="Rounded Rectangle 5"/>
          <p:cNvSpPr/>
          <p:nvPr/>
        </p:nvSpPr>
        <p:spPr>
          <a:xfrm>
            <a:off x="548640" y="1737360"/>
            <a:ext cx="7086600" cy="2597912"/>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277872"/>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numpy as np</a:t>
            </a:r>
          </a:p>
          <a:p>
            <a:r>
              <a:rPr sz="950">
                <a:solidFill>
                  <a:srgbClr val="6B7385"/>
                </a:solidFill>
                <a:latin typeface="Courier New"/>
              </a:rPr>
              <a:t> 2 </a:t>
            </a:r>
          </a:p>
          <a:p>
            <a:r>
              <a:rPr sz="950">
                <a:solidFill>
                  <a:srgbClr val="6B7385"/>
                </a:solidFill>
                <a:latin typeface="Courier New"/>
              </a:rPr>
              <a:t> 3 </a:t>
            </a:r>
            <a:r>
              <a:rPr sz="950">
                <a:solidFill>
                  <a:srgbClr val="E6EAF0"/>
                </a:solidFill>
                <a:latin typeface="Courier New"/>
              </a:rPr>
              <a:t>TAM = 168                                    </a:t>
            </a:r>
            <a:r>
              <a:rPr sz="950">
                <a:solidFill>
                  <a:srgbClr val="8FC99A"/>
                </a:solidFill>
                <a:latin typeface="Courier New"/>
              </a:rPr>
              <a:t># dự báo 168 giờ = 7 ngày</a:t>
            </a:r>
          </a:p>
          <a:p>
            <a:r>
              <a:rPr sz="950">
                <a:solidFill>
                  <a:srgbClr val="6B7385"/>
                </a:solidFill>
                <a:latin typeface="Courier New"/>
              </a:rPr>
              <a:t> 4 </a:t>
            </a:r>
            <a:r>
              <a:rPr sz="950">
                <a:solidFill>
                  <a:srgbClr val="E6EAF0"/>
                </a:solidFill>
                <a:latin typeface="Courier New"/>
              </a:rPr>
              <a:t>def mae(y, du_bao):</a:t>
            </a:r>
          </a:p>
          <a:p>
            <a:r>
              <a:rPr sz="950">
                <a:solidFill>
                  <a:srgbClr val="6B7385"/>
                </a:solidFill>
                <a:latin typeface="Courier New"/>
              </a:rPr>
              <a:t> 5 </a:t>
            </a:r>
            <a:r>
              <a:rPr sz="950">
                <a:solidFill>
                  <a:srgbClr val="E6EAF0"/>
                </a:solidFill>
                <a:latin typeface="Courier New"/>
              </a:rPr>
              <a:t>    y, du_bao = np.asarray(y, float), np.asarray(du_bao, float)</a:t>
            </a:r>
          </a:p>
          <a:p>
            <a:r>
              <a:rPr sz="950">
                <a:solidFill>
                  <a:srgbClr val="6B7385"/>
                </a:solidFill>
                <a:latin typeface="Courier New"/>
              </a:rPr>
              <a:t> 6 </a:t>
            </a:r>
            <a:r>
              <a:rPr sz="950">
                <a:solidFill>
                  <a:srgbClr val="E6EAF0"/>
                </a:solidFill>
                <a:latin typeface="Courier New"/>
              </a:rPr>
              <a:t>    co = ~np.isnan(y)                        </a:t>
            </a:r>
            <a:r>
              <a:rPr sz="950">
                <a:solidFill>
                  <a:srgbClr val="8FC99A"/>
                </a:solidFill>
                <a:latin typeface="Courier New"/>
              </a:rPr>
              <a:t># bỏ giờ không có số đo</a:t>
            </a:r>
          </a:p>
          <a:p>
            <a:r>
              <a:rPr sz="950">
                <a:solidFill>
                  <a:srgbClr val="6B7385"/>
                </a:solidFill>
                <a:latin typeface="Courier New"/>
              </a:rPr>
              <a:t> 7 </a:t>
            </a:r>
            <a:r>
              <a:rPr sz="950">
                <a:solidFill>
                  <a:srgbClr val="E6EAF0"/>
                </a:solidFill>
                <a:latin typeface="Courier New"/>
              </a:rPr>
              <a:t>    return float(np.mean(np.abs(y[co] - du_bao[co])))</a:t>
            </a:r>
          </a:p>
          <a:p>
            <a:r>
              <a:rPr sz="950">
                <a:solidFill>
                  <a:srgbClr val="6B7385"/>
                </a:solidFill>
                <a:latin typeface="Courier New"/>
              </a:rPr>
              <a:t> 8 </a:t>
            </a:r>
            <a:r>
              <a:rPr sz="950">
                <a:solidFill>
                  <a:srgbClr val="8FC99A"/>
                </a:solidFill>
                <a:latin typeface="Courier New"/>
              </a:rPr>
              <a:t># ls: lịch sử tới gốc dự báo, chuỗi kWh theo giờ</a:t>
            </a:r>
          </a:p>
          <a:p>
            <a:r>
              <a:rPr sz="950">
                <a:solidFill>
                  <a:srgbClr val="6B7385"/>
                </a:solidFill>
                <a:latin typeface="Courier New"/>
              </a:rPr>
              <a:t> 9 </a:t>
            </a:r>
            <a:r>
              <a:rPr sz="950">
                <a:solidFill>
                  <a:srgbClr val="E6EAF0"/>
                </a:solidFill>
                <a:latin typeface="Courier New"/>
              </a:rPr>
              <a:t>BASELINE = {</a:t>
            </a:r>
          </a:p>
          <a:p>
            <a:r>
              <a:rPr sz="950">
                <a:solidFill>
                  <a:srgbClr val="6B7385"/>
                </a:solidFill>
                <a:latin typeface="Courier New"/>
              </a:rPr>
              <a:t>10 </a:t>
            </a:r>
            <a:r>
              <a:rPr sz="950">
                <a:solidFill>
                  <a:srgbClr val="E6EAF0"/>
                </a:solidFill>
                <a:latin typeface="Courier New"/>
              </a:rPr>
              <a:t>    "giờ trước": lambda ls: np.full(TAM, ls.iloc[-1]),</a:t>
            </a:r>
          </a:p>
          <a:p>
            <a:r>
              <a:rPr sz="950">
                <a:solidFill>
                  <a:srgbClr val="6B7385"/>
                </a:solidFill>
                <a:latin typeface="Courier New"/>
              </a:rPr>
              <a:t>11 </a:t>
            </a:r>
            <a:r>
              <a:rPr sz="950">
                <a:solidFill>
                  <a:srgbClr val="E6EAF0"/>
                </a:solidFill>
                <a:latin typeface="Courier New"/>
              </a:rPr>
              <a:t>    "trung bình": lambda ls: np.full(TAM, ls.mean()),</a:t>
            </a:r>
          </a:p>
          <a:p>
            <a:r>
              <a:rPr sz="950">
                <a:solidFill>
                  <a:srgbClr val="6B7385"/>
                </a:solidFill>
                <a:latin typeface="Courier New"/>
              </a:rPr>
              <a:t>12 </a:t>
            </a:r>
            <a:r>
              <a:rPr sz="950">
                <a:solidFill>
                  <a:srgbClr val="E6EAF0"/>
                </a:solidFill>
                <a:latin typeface="Courier New"/>
              </a:rPr>
              <a:t>    "tuần trước": lambda ls: ls.iloc[-TAM:].to_numpy(),</a:t>
            </a:r>
          </a:p>
          <a:p>
            <a:r>
              <a:rPr sz="950">
                <a:solidFill>
                  <a:srgbClr val="6B7385"/>
                </a:solidFill>
                <a:latin typeface="Courier New"/>
              </a:rPr>
              <a:t>13 </a:t>
            </a:r>
            <a:r>
              <a:rPr sz="950">
                <a:solidFill>
                  <a:srgbClr val="E6EAF0"/>
                </a:solidFill>
                <a:latin typeface="Courier New"/>
              </a:rPr>
              <a:t>    "trung bình 4 tuần": lambda ls: ls.iloc[-4 * TAM:].to_numpy()</a:t>
            </a:r>
          </a:p>
          <a:p>
            <a:r>
              <a:rPr sz="950">
                <a:solidFill>
                  <a:srgbClr val="6B7385"/>
                </a:solidFill>
                <a:latin typeface="Courier New"/>
              </a:rPr>
              <a:t>14 </a:t>
            </a:r>
            <a:r>
              <a:rPr sz="950">
                <a:solidFill>
                  <a:srgbClr val="E6EAF0"/>
                </a:solidFill>
                <a:latin typeface="Courier New"/>
              </a:rPr>
              <a:t>                                      .reshape(4, TAM).mean(axis=0),</a:t>
            </a:r>
          </a:p>
          <a:p>
            <a:r>
              <a:rPr sz="950">
                <a:solidFill>
                  <a:srgbClr val="6B7385"/>
                </a:solidFill>
                <a:latin typeface="Courier New"/>
              </a:rPr>
              <a:t>15 </a:t>
            </a:r>
            <a:r>
              <a:rPr sz="950">
                <a:solidFill>
                  <a:srgbClr val="E6EAF0"/>
                </a:solidFill>
                <a:latin typeface="Courier New"/>
              </a:rPr>
              <a:t>}</a:t>
            </a:r>
          </a:p>
        </p:txBody>
      </p:sp>
      <p:sp>
        <p:nvSpPr>
          <p:cNvPr id="8" name="TextBox 7"/>
          <p:cNvSpPr txBox="1"/>
          <p:nvPr/>
        </p:nvSpPr>
        <p:spPr>
          <a:xfrm>
            <a:off x="685800" y="4088384"/>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buoi-01/tu-hoc.ipynb, phần 2</a:t>
            </a:r>
          </a:p>
        </p:txBody>
      </p:sp>
      <p:sp>
        <p:nvSpPr>
          <p:cNvPr id="9" name="TextBox 8"/>
          <p:cNvSpPr txBox="1"/>
          <p:nvPr/>
        </p:nvSpPr>
        <p:spPr>
          <a:xfrm>
            <a:off x="548640" y="4445000"/>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4–7</a:t>
            </a:r>
          </a:p>
        </p:txBody>
      </p:sp>
      <p:sp>
        <p:nvSpPr>
          <p:cNvPr id="11" name="TextBox 10"/>
          <p:cNvSpPr txBox="1"/>
          <p:nvPr/>
        </p:nvSpPr>
        <p:spPr>
          <a:xfrm>
            <a:off x="1353312" y="4746752"/>
            <a:ext cx="2697480" cy="347133"/>
          </a:xfrm>
          <a:prstGeom prst="rect">
            <a:avLst/>
          </a:prstGeom>
          <a:noFill/>
        </p:spPr>
        <p:txBody>
          <a:bodyPr wrap="square" lIns="0" rIns="0" tIns="0" bIns="0" anchor="t">
            <a:spAutoFit/>
          </a:bodyPr>
          <a:lstStyle/>
          <a:p>
            <a:pPr algn="l"/>
            <a:r>
              <a:rPr sz="1050" b="0" i="0">
                <a:solidFill>
                  <a:srgbClr val="1B2A41"/>
                </a:solidFill>
                <a:latin typeface="Arial"/>
              </a:rPr>
              <a:t>MAE: trung bình độ lệch, bỏ giờ trống.</a:t>
            </a:r>
          </a:p>
        </p:txBody>
      </p:sp>
      <p:sp>
        <p:nvSpPr>
          <p:cNvPr id="12" name="Rounded Rectangle 11"/>
          <p:cNvSpPr/>
          <p:nvPr/>
        </p:nvSpPr>
        <p:spPr>
          <a:xfrm>
            <a:off x="548640" y="51121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10</a:t>
            </a:r>
          </a:p>
        </p:txBody>
      </p:sp>
      <p:sp>
        <p:nvSpPr>
          <p:cNvPr id="13" name="TextBox 12"/>
          <p:cNvSpPr txBox="1"/>
          <p:nvPr/>
        </p:nvSpPr>
        <p:spPr>
          <a:xfrm>
            <a:off x="1353312" y="5093885"/>
            <a:ext cx="2697480" cy="347133"/>
          </a:xfrm>
          <a:prstGeom prst="rect">
            <a:avLst/>
          </a:prstGeom>
          <a:noFill/>
        </p:spPr>
        <p:txBody>
          <a:bodyPr wrap="square" lIns="0" rIns="0" tIns="0" bIns="0" anchor="t">
            <a:spAutoFit/>
          </a:bodyPr>
          <a:lstStyle/>
          <a:p>
            <a:pPr algn="l"/>
            <a:r>
              <a:rPr sz="1050" b="0" i="0">
                <a:solidFill>
                  <a:srgbClr val="1B2A41"/>
                </a:solidFill>
                <a:latin typeface="Arial"/>
              </a:rPr>
              <a:t>Naive: lặp lại số cuối cùng đã biết.</a:t>
            </a:r>
          </a:p>
        </p:txBody>
      </p:sp>
      <p:sp>
        <p:nvSpPr>
          <p:cNvPr id="14" name="Rounded Rectangle 13"/>
          <p:cNvSpPr/>
          <p:nvPr/>
        </p:nvSpPr>
        <p:spPr>
          <a:xfrm>
            <a:off x="548640" y="54593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11</a:t>
            </a:r>
          </a:p>
        </p:txBody>
      </p:sp>
      <p:sp>
        <p:nvSpPr>
          <p:cNvPr id="15" name="TextBox 14"/>
          <p:cNvSpPr txBox="1"/>
          <p:nvPr/>
        </p:nvSpPr>
        <p:spPr>
          <a:xfrm>
            <a:off x="1353312" y="5441018"/>
            <a:ext cx="2697480" cy="347133"/>
          </a:xfrm>
          <a:prstGeom prst="rect">
            <a:avLst/>
          </a:prstGeom>
          <a:noFill/>
        </p:spPr>
        <p:txBody>
          <a:bodyPr wrap="square" lIns="0" rIns="0" tIns="0" bIns="0" anchor="t">
            <a:spAutoFit/>
          </a:bodyPr>
          <a:lstStyle/>
          <a:p>
            <a:pPr algn="l"/>
            <a:r>
              <a:rPr sz="1050" b="0" i="0">
                <a:solidFill>
                  <a:srgbClr val="1B2A41"/>
                </a:solidFill>
                <a:latin typeface="Arial"/>
              </a:rPr>
              <a:t>Trung bình mọi giờ đã biết.</a:t>
            </a:r>
          </a:p>
        </p:txBody>
      </p:sp>
      <p:sp>
        <p:nvSpPr>
          <p:cNvPr id="16" name="Rounded Rectangle 15"/>
          <p:cNvSpPr/>
          <p:nvPr/>
        </p:nvSpPr>
        <p:spPr>
          <a:xfrm>
            <a:off x="416052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12</a:t>
            </a:r>
          </a:p>
        </p:txBody>
      </p:sp>
      <p:sp>
        <p:nvSpPr>
          <p:cNvPr id="17" name="TextBox 16"/>
          <p:cNvSpPr txBox="1"/>
          <p:nvPr/>
        </p:nvSpPr>
        <p:spPr>
          <a:xfrm>
            <a:off x="4965192" y="4746752"/>
            <a:ext cx="2697480" cy="347133"/>
          </a:xfrm>
          <a:prstGeom prst="rect">
            <a:avLst/>
          </a:prstGeom>
          <a:noFill/>
        </p:spPr>
        <p:txBody>
          <a:bodyPr wrap="square" lIns="0" rIns="0" tIns="0" bIns="0" anchor="t">
            <a:spAutoFit/>
          </a:bodyPr>
          <a:lstStyle/>
          <a:p>
            <a:pPr algn="l"/>
            <a:r>
              <a:rPr sz="1050" b="0" i="0">
                <a:solidFill>
                  <a:srgbClr val="1B2A41"/>
                </a:solidFill>
                <a:latin typeface="Arial"/>
              </a:rPr>
              <a:t>Seasonal naive: cùng giờ tuần trước.</a:t>
            </a:r>
          </a:p>
        </p:txBody>
      </p:sp>
      <p:sp>
        <p:nvSpPr>
          <p:cNvPr id="18" name="Rounded Rectangle 17"/>
          <p:cNvSpPr/>
          <p:nvPr/>
        </p:nvSpPr>
        <p:spPr>
          <a:xfrm>
            <a:off x="4160520" y="51121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13–14</a:t>
            </a:r>
          </a:p>
        </p:txBody>
      </p:sp>
      <p:sp>
        <p:nvSpPr>
          <p:cNvPr id="19" name="TextBox 18"/>
          <p:cNvSpPr txBox="1"/>
          <p:nvPr/>
        </p:nvSpPr>
        <p:spPr>
          <a:xfrm>
            <a:off x="4965192" y="5093885"/>
            <a:ext cx="2697480" cy="347133"/>
          </a:xfrm>
          <a:prstGeom prst="rect">
            <a:avLst/>
          </a:prstGeom>
          <a:noFill/>
        </p:spPr>
        <p:txBody>
          <a:bodyPr wrap="square" lIns="0" rIns="0" tIns="0" bIns="0" anchor="t">
            <a:spAutoFit/>
          </a:bodyPr>
          <a:lstStyle/>
          <a:p>
            <a:pPr algn="l"/>
            <a:r>
              <a:rPr sz="1050" b="0" i="0">
                <a:solidFill>
                  <a:srgbClr val="1B2A41"/>
                </a:solidFill>
                <a:latin typeface="Arial"/>
              </a:rPr>
              <a:t>Xếp 4 tuần thành 4 hàng, lấy TB theo cột.</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Chấm cuốn năm 2010: trung bình 4 tuần 0,490; tuần trước 0,576; trung bình 0,652; giờ trước 0,770 kWh/giờ.</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np.abs(...).mean()</a:t>
            </a:r>
            <a:r>
              <a:rPr sz="950" b="1" i="0">
                <a:solidFill>
                  <a:srgbClr val="5B6778"/>
                </a:solidFill>
                <a:latin typeface="Arial"/>
              </a:rPr>
              <a:t>   numpy</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Bỏ dấu từng sai số rồi lấy trung bình: chính là MAE.</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iloc[-TAM:]</a:t>
            </a:r>
            <a:r>
              <a:rPr sz="950" b="1" i="0">
                <a:solidFill>
                  <a:srgbClr val="5B6778"/>
                </a:solidFill>
                <a:latin typeface="Arial"/>
              </a:rPr>
              <a:t>   pandas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Lấy TAM phần tử cuối của chuỗi theo vị trí, tức tuần gần nhất.</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reshape(4, TAM).mean(axis=0)</a:t>
            </a:r>
            <a:r>
              <a:rPr sz="950" b="1" i="0">
                <a:solidFill>
                  <a:srgbClr val="5B6778"/>
                </a:solidFill>
                <a:latin typeface="Arial"/>
              </a:rPr>
              <a:t>   numpy</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Xếp dãy thành bảng 4 hàng, lấy trung bình từng cột.</a:t>
            </a:r>
          </a:p>
        </p:txBody>
      </p:sp>
      <p:sp>
        <p:nvSpPr>
          <p:cNvPr id="29" name="Rounded Rectangle 28"/>
          <p:cNvSpPr/>
          <p:nvPr/>
        </p:nvSpPr>
        <p:spPr>
          <a:xfrm>
            <a:off x="7863840" y="4059935"/>
            <a:ext cx="3776472" cy="679704"/>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c067fc1191eb.png"/>
          <p:cNvPicPr>
            <a:picLocks noChangeAspect="1"/>
          </p:cNvPicPr>
          <p:nvPr/>
        </p:nvPicPr>
        <p:blipFill>
          <a:blip r:embed="rId2"/>
          <a:stretch>
            <a:fillRect/>
          </a:stretch>
        </p:blipFill>
        <p:spPr>
          <a:xfrm>
            <a:off x="8749284" y="4114799"/>
            <a:ext cx="2005584" cy="569976"/>
          </a:xfrm>
          <a:prstGeom prst="rect">
            <a:avLst/>
          </a:prstGeom>
        </p:spPr>
      </p:pic>
      <p:pic>
        <p:nvPicPr>
          <p:cNvPr id="31" name="Picture 30" descr="kn-tam-du-bao-h.png"/>
          <p:cNvPicPr>
            <a:picLocks noChangeAspect="1"/>
          </p:cNvPicPr>
          <p:nvPr/>
        </p:nvPicPr>
        <p:blipFill>
          <a:blip r:embed="rId3"/>
          <a:stretch>
            <a:fillRect/>
          </a:stretch>
        </p:blipFill>
        <p:spPr>
          <a:xfrm>
            <a:off x="8341777" y="4876799"/>
            <a:ext cx="2820597" cy="1597152"/>
          </a:xfrm>
          <a:prstGeom prst="rect">
            <a:avLst/>
          </a:prstGeom>
        </p:spPr>
      </p:pic>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bảng lịch và dự báo cuốn</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1</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Chấm như ngoài đời: mỗi tuần chỉ khớp mô hình trên dữ liệu trước gốc dự báo.</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pandas as pd</a:t>
            </a:r>
          </a:p>
          <a:p>
            <a:r>
              <a:rPr sz="850">
                <a:solidFill>
                  <a:srgbClr val="6B7385"/>
                </a:solidFill>
                <a:latin typeface="Courier New"/>
              </a:rPr>
              <a:t> 2 </a:t>
            </a:r>
            <a:r>
              <a:rPr sz="850">
                <a:solidFill>
                  <a:srgbClr val="E6EAF0"/>
                </a:solidFill>
                <a:latin typeface="Courier New"/>
              </a:rPr>
              <a:t>TAM = 168</a:t>
            </a:r>
          </a:p>
          <a:p>
            <a:r>
              <a:rPr sz="850">
                <a:solidFill>
                  <a:srgbClr val="6B7385"/>
                </a:solidFill>
                <a:latin typeface="Courier New"/>
              </a:rPr>
              <a:t> 3 </a:t>
            </a:r>
            <a:r>
              <a:rPr sz="850">
                <a:solidFill>
                  <a:srgbClr val="E6EAF0"/>
                </a:solidFill>
                <a:latin typeface="Courier New"/>
              </a:rPr>
              <a:t>def khoa(t):                                 </a:t>
            </a:r>
            <a:r>
              <a:rPr sz="850">
                <a:solidFill>
                  <a:srgbClr val="8FC99A"/>
                </a:solidFill>
                <a:latin typeface="Courier New"/>
              </a:rPr>
              <a:t># (tuần trong năm, thứ, giờ)</a:t>
            </a:r>
          </a:p>
          <a:p>
            <a:r>
              <a:rPr sz="850">
                <a:solidFill>
                  <a:srgbClr val="6B7385"/>
                </a:solidFill>
                <a:latin typeface="Courier New"/>
              </a:rPr>
              <a:t> 4 </a:t>
            </a:r>
            <a:r>
              <a:rPr sz="850">
                <a:solidFill>
                  <a:srgbClr val="E6EAF0"/>
                </a:solidFill>
                <a:latin typeface="Courier New"/>
              </a:rPr>
              <a:t>    return [t.isocalendar().week.to_numpy(), t.dayofweek.to_numpy(),</a:t>
            </a:r>
          </a:p>
          <a:p>
            <a:r>
              <a:rPr sz="850">
                <a:solidFill>
                  <a:srgbClr val="6B7385"/>
                </a:solidFill>
                <a:latin typeface="Courier New"/>
              </a:rPr>
              <a:t> 5 </a:t>
            </a:r>
            <a:r>
              <a:rPr sz="850">
                <a:solidFill>
                  <a:srgbClr val="E6EAF0"/>
                </a:solidFill>
                <a:latin typeface="Courier New"/>
              </a:rPr>
              <a:t>            t.hour.to_numpy()]</a:t>
            </a:r>
          </a:p>
          <a:p>
            <a:r>
              <a:rPr sz="850">
                <a:solidFill>
                  <a:srgbClr val="6B7385"/>
                </a:solidFill>
                <a:latin typeface="Courier New"/>
              </a:rPr>
              <a:t> 6 </a:t>
            </a:r>
            <a:r>
              <a:rPr sz="850">
                <a:solidFill>
                  <a:srgbClr val="E6EAF0"/>
                </a:solidFill>
                <a:latin typeface="Courier New"/>
              </a:rPr>
              <a:t>def bang_lich(ls):                           </a:t>
            </a:r>
            <a:r>
              <a:rPr sz="850">
                <a:solidFill>
                  <a:srgbClr val="8FC99A"/>
                </a:solidFill>
                <a:latin typeface="Courier New"/>
              </a:rPr>
              <a:t># mỗi ô một trung bình</a:t>
            </a:r>
          </a:p>
          <a:p>
            <a:r>
              <a:rPr sz="850">
                <a:solidFill>
                  <a:srgbClr val="6B7385"/>
                </a:solidFill>
                <a:latin typeface="Courier New"/>
              </a:rPr>
              <a:t> 7 </a:t>
            </a:r>
            <a:r>
              <a:rPr sz="850">
                <a:solidFill>
                  <a:srgbClr val="E6EAF0"/>
                </a:solidFill>
                <a:latin typeface="Courier New"/>
              </a:rPr>
              <a:t>    return ls.groupby(khoa(ls.index)).mean()</a:t>
            </a:r>
          </a:p>
          <a:p>
            <a:r>
              <a:rPr sz="850">
                <a:solidFill>
                  <a:srgbClr val="6B7385"/>
                </a:solidFill>
                <a:latin typeface="Courier New"/>
              </a:rPr>
              <a:t> 8 </a:t>
            </a:r>
            <a:r>
              <a:rPr sz="850">
                <a:solidFill>
                  <a:srgbClr val="E6EAF0"/>
                </a:solidFill>
                <a:latin typeface="Courier New"/>
              </a:rPr>
              <a:t>def du_bao_lich(bang, t):</a:t>
            </a:r>
          </a:p>
          <a:p>
            <a:r>
              <a:rPr sz="850">
                <a:solidFill>
                  <a:srgbClr val="6B7385"/>
                </a:solidFill>
                <a:latin typeface="Courier New"/>
              </a:rPr>
              <a:t> 9 </a:t>
            </a:r>
            <a:r>
              <a:rPr sz="850">
                <a:solidFill>
                  <a:srgbClr val="E6EAF0"/>
                </a:solidFill>
                <a:latin typeface="Courier New"/>
              </a:rPr>
              <a:t>    return bang.reindex(pd.MultiIndex.from_arrays(khoa(t))).to_numpy()</a:t>
            </a:r>
          </a:p>
          <a:p>
            <a:r>
              <a:rPr sz="850">
                <a:solidFill>
                  <a:srgbClr val="6B7385"/>
                </a:solidFill>
                <a:latin typeface="Courier New"/>
              </a:rPr>
              <a:t>10 </a:t>
            </a:r>
            <a:r>
              <a:rPr sz="850">
                <a:solidFill>
                  <a:srgbClr val="E6EAF0"/>
                </a:solidFill>
                <a:latin typeface="Courier New"/>
              </a:rPr>
              <a:t>def du_bao_cuon(chuoi, moc="2010-01-04"):</a:t>
            </a:r>
          </a:p>
          <a:p>
            <a:r>
              <a:rPr sz="850">
                <a:solidFill>
                  <a:srgbClr val="6B7385"/>
                </a:solidFill>
                <a:latin typeface="Courier New"/>
              </a:rPr>
              <a:t>11 </a:t>
            </a:r>
            <a:r>
              <a:rPr sz="850">
                <a:solidFill>
                  <a:srgbClr val="E6EAF0"/>
                </a:solidFill>
                <a:latin typeface="Courier New"/>
              </a:rPr>
              <a:t>    phan = []</a:t>
            </a:r>
          </a:p>
          <a:p>
            <a:r>
              <a:rPr sz="850">
                <a:solidFill>
                  <a:srgbClr val="6B7385"/>
                </a:solidFill>
                <a:latin typeface="Courier New"/>
              </a:rPr>
              <a:t>12 </a:t>
            </a:r>
            <a:r>
              <a:rPr sz="850">
                <a:solidFill>
                  <a:srgbClr val="E6EAF0"/>
                </a:solidFill>
                <a:latin typeface="Courier New"/>
              </a:rPr>
              <a:t>    for goc in pd.date_range(moc, chuoi.index[-TAM], freq=f"{TAM}h"):</a:t>
            </a:r>
          </a:p>
          <a:p>
            <a:r>
              <a:rPr sz="850">
                <a:solidFill>
                  <a:srgbClr val="6B7385"/>
                </a:solidFill>
                <a:latin typeface="Courier New"/>
              </a:rPr>
              <a:t>13 </a:t>
            </a:r>
            <a:r>
              <a:rPr sz="850">
                <a:solidFill>
                  <a:srgbClr val="E6EAF0"/>
                </a:solidFill>
                <a:latin typeface="Courier New"/>
              </a:rPr>
              <a:t>        t = pd.date_range(goc, periods=TAM, freq="h")</a:t>
            </a:r>
          </a:p>
          <a:p>
            <a:r>
              <a:rPr sz="850">
                <a:solidFill>
                  <a:srgbClr val="6B7385"/>
                </a:solidFill>
                <a:latin typeface="Courier New"/>
              </a:rPr>
              <a:t>14 </a:t>
            </a:r>
            <a:r>
              <a:rPr sz="850">
                <a:solidFill>
                  <a:srgbClr val="E6EAF0"/>
                </a:solidFill>
                <a:latin typeface="Courier New"/>
              </a:rPr>
              <a:t>        bang = bang_lich(chuoi[chuoi.index &lt; goc])   </a:t>
            </a:r>
            <a:r>
              <a:rPr sz="850">
                <a:solidFill>
                  <a:srgbClr val="8FC99A"/>
                </a:solidFill>
                <a:latin typeface="Courier New"/>
              </a:rPr>
              <a:t># CHỈ quá khứ</a:t>
            </a:r>
          </a:p>
          <a:p>
            <a:r>
              <a:rPr sz="850">
                <a:solidFill>
                  <a:srgbClr val="6B7385"/>
                </a:solidFill>
                <a:latin typeface="Courier New"/>
              </a:rPr>
              <a:t>15 </a:t>
            </a:r>
            <a:r>
              <a:rPr sz="850">
                <a:solidFill>
                  <a:srgbClr val="E6EAF0"/>
                </a:solidFill>
                <a:latin typeface="Courier New"/>
              </a:rPr>
              <a:t>        phan.append(pd.Series(du_bao_lich(bang, t), index=t))</a:t>
            </a:r>
          </a:p>
          <a:p>
            <a:r>
              <a:rPr sz="850">
                <a:solidFill>
                  <a:srgbClr val="6B7385"/>
                </a:solidFill>
                <a:latin typeface="Courier New"/>
              </a:rPr>
              <a:t>16 </a:t>
            </a:r>
            <a:r>
              <a:rPr sz="850">
                <a:solidFill>
                  <a:srgbClr val="E6EAF0"/>
                </a:solidFill>
                <a:latin typeface="Courier New"/>
              </a:rPr>
              <a:t>    return pd.concat(phan)</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buoi-01/tu-hoc.ipynb, phần 3 và 4</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3–7</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Bảng lịch: TB theo tuần, thứ, giờ.</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8–9</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Tra bảng cho các giờ cần dự báo.</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12–13</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Mỗi thứ Hai là một gốc, dự báo 168 giờ.</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14</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Khớp bảng chỉ bằng dữ liệu trước gốc.</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15–16</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Ghép dự báo mọi tuần để chấm.</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Bảng lập từ cả 4 năm cho MAE 0,380 (sai số ảo). Chấm cuốn 46 tuần: 0,508, thua trung bình 4 tuần (0,490).</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groupby([...]).mean()</a:t>
            </a:r>
            <a:r>
              <a:rPr sz="950" b="1" i="0">
                <a:solidFill>
                  <a:srgbClr val="5B6778"/>
                </a:solidFill>
                <a:latin typeface="Arial"/>
              </a:rPr>
              <a:t>   pandas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Nhóm theo nhiều khoá cùng lúc, mỗi tổ hợp ra một trung bình.</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reindex(MultiIndex)</a:t>
            </a:r>
            <a:r>
              <a:rPr sz="950" b="1" i="0">
                <a:solidFill>
                  <a:srgbClr val="5B6778"/>
                </a:solidFill>
                <a:latin typeface="Arial"/>
              </a:rPr>
              <a:t>   pandas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Tra bảng theo danh sách khoá; khoá không có thì ra NaN.</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pd.date_range</a:t>
            </a:r>
            <a:r>
              <a:rPr sz="950" b="1" i="0">
                <a:solidFill>
                  <a:srgbClr val="5B6778"/>
                </a:solidFill>
                <a:latin typeface="Arial"/>
              </a:rPr>
              <a:t>   pandas</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Sinh dãy mốc thời gian cách đều, ví dụ mỗi 168 giờ một gốc.</a:t>
            </a:r>
          </a:p>
        </p:txBody>
      </p:sp>
      <p:pic>
        <p:nvPicPr>
          <p:cNvPr id="29" name="Picture 28" descr="kn-du-bao-cuon.png"/>
          <p:cNvPicPr>
            <a:picLocks noChangeAspect="1"/>
          </p:cNvPicPr>
          <p:nvPr/>
        </p:nvPicPr>
        <p:blipFill>
          <a:blip r:embed="rId2"/>
          <a:stretch>
            <a:fillRect/>
          </a:stretch>
        </p:blipFill>
        <p:spPr>
          <a:xfrm>
            <a:off x="7863840" y="4355862"/>
            <a:ext cx="3776472" cy="1849595"/>
          </a:xfrm>
          <a:prstGeom prst="rect">
            <a:avLst/>
          </a:prstGeom>
        </p:spPr>
      </p:pic>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chấm theo giờ và theo tổng tuần</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1</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Cùng một bộ dự báo, chấm ở mức giờ hay mức tuần có thể đổi người thắng.</a:t>
            </a:r>
          </a:p>
        </p:txBody>
      </p:sp>
      <p:sp>
        <p:nvSpPr>
          <p:cNvPr id="6" name="Rounded Rectangle 5"/>
          <p:cNvSpPr/>
          <p:nvPr/>
        </p:nvSpPr>
        <p:spPr>
          <a:xfrm>
            <a:off x="548640" y="1737360"/>
            <a:ext cx="7086600" cy="2597912"/>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277872"/>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numpy as np</a:t>
            </a:r>
          </a:p>
          <a:p>
            <a:r>
              <a:rPr sz="950">
                <a:solidFill>
                  <a:srgbClr val="6B7385"/>
                </a:solidFill>
                <a:latin typeface="Courier New"/>
              </a:rPr>
              <a:t> 2 </a:t>
            </a:r>
            <a:r>
              <a:rPr sz="950">
                <a:solidFill>
                  <a:srgbClr val="E6EAF0"/>
                </a:solidFill>
                <a:latin typeface="Courier New"/>
              </a:rPr>
              <a:t>import pandas as pd</a:t>
            </a:r>
          </a:p>
          <a:p>
            <a:r>
              <a:rPr sz="950">
                <a:solidFill>
                  <a:srgbClr val="6B7385"/>
                </a:solidFill>
                <a:latin typeface="Courier New"/>
              </a:rPr>
              <a:t> 3 </a:t>
            </a:r>
          </a:p>
          <a:p>
            <a:r>
              <a:rPr sz="950">
                <a:solidFill>
                  <a:srgbClr val="6B7385"/>
                </a:solidFill>
                <a:latin typeface="Courier New"/>
              </a:rPr>
              <a:t> 4 </a:t>
            </a:r>
            <a:r>
              <a:rPr sz="950">
                <a:solidFill>
                  <a:srgbClr val="E6EAF0"/>
                </a:solidFill>
                <a:latin typeface="Courier New"/>
              </a:rPr>
              <a:t>def mae(y, du_bao):</a:t>
            </a:r>
          </a:p>
          <a:p>
            <a:r>
              <a:rPr sz="950">
                <a:solidFill>
                  <a:srgbClr val="6B7385"/>
                </a:solidFill>
                <a:latin typeface="Courier New"/>
              </a:rPr>
              <a:t> 5 </a:t>
            </a:r>
            <a:r>
              <a:rPr sz="950">
                <a:solidFill>
                  <a:srgbClr val="E6EAF0"/>
                </a:solidFill>
                <a:latin typeface="Courier New"/>
              </a:rPr>
              <a:t>    y, du_bao = np.asarray(y, float), np.asarray(du_bao, float)</a:t>
            </a:r>
          </a:p>
          <a:p>
            <a:r>
              <a:rPr sz="950">
                <a:solidFill>
                  <a:srgbClr val="6B7385"/>
                </a:solidFill>
                <a:latin typeface="Courier New"/>
              </a:rPr>
              <a:t> 6 </a:t>
            </a:r>
            <a:r>
              <a:rPr sz="950">
                <a:solidFill>
                  <a:srgbClr val="E6EAF0"/>
                </a:solidFill>
                <a:latin typeface="Courier New"/>
              </a:rPr>
              <a:t>    co = ~np.isnan(y)</a:t>
            </a:r>
          </a:p>
          <a:p>
            <a:r>
              <a:rPr sz="950">
                <a:solidFill>
                  <a:srgbClr val="6B7385"/>
                </a:solidFill>
                <a:latin typeface="Courier New"/>
              </a:rPr>
              <a:t> 7 </a:t>
            </a:r>
            <a:r>
              <a:rPr sz="950">
                <a:solidFill>
                  <a:srgbClr val="E6EAF0"/>
                </a:solidFill>
                <a:latin typeface="Courier New"/>
              </a:rPr>
              <a:t>    return float(np.mean(np.abs(y[co] - du_bao[co])))</a:t>
            </a:r>
          </a:p>
          <a:p>
            <a:r>
              <a:rPr sz="950">
                <a:solidFill>
                  <a:srgbClr val="6B7385"/>
                </a:solidFill>
                <a:latin typeface="Courier New"/>
              </a:rPr>
              <a:t> 8 </a:t>
            </a:r>
          </a:p>
          <a:p>
            <a:r>
              <a:rPr sz="950">
                <a:solidFill>
                  <a:srgbClr val="6B7385"/>
                </a:solidFill>
                <a:latin typeface="Courier New"/>
              </a:rPr>
              <a:t> 9 </a:t>
            </a:r>
            <a:r>
              <a:rPr sz="950">
                <a:solidFill>
                  <a:srgbClr val="8FC99A"/>
                </a:solidFill>
                <a:latin typeface="Courier New"/>
              </a:rPr>
              <a:t># cuon: mỗi dòng một giờ; cột goc, y và các cột dự báo</a:t>
            </a:r>
          </a:p>
          <a:p>
            <a:r>
              <a:rPr sz="950">
                <a:solidFill>
                  <a:srgbClr val="6B7385"/>
                </a:solidFill>
                <a:latin typeface="Courier New"/>
              </a:rPr>
              <a:t>10 </a:t>
            </a:r>
            <a:r>
              <a:rPr sz="950">
                <a:solidFill>
                  <a:srgbClr val="E6EAF0"/>
                </a:solidFill>
                <a:latin typeface="Courier New"/>
              </a:rPr>
              <a:t>cot = ["trung bình 4 tuần", "bảng lịch", "tuần trước"]</a:t>
            </a:r>
          </a:p>
          <a:p>
            <a:r>
              <a:rPr sz="950">
                <a:solidFill>
                  <a:srgbClr val="6B7385"/>
                </a:solidFill>
                <a:latin typeface="Courier New"/>
              </a:rPr>
              <a:t>11 </a:t>
            </a:r>
            <a:r>
              <a:rPr sz="950">
                <a:solidFill>
                  <a:srgbClr val="E6EAF0"/>
                </a:solidFill>
                <a:latin typeface="Courier New"/>
              </a:rPr>
              <a:t>tuan = cuon.groupby("goc")[["y", *cot]].sum(min_count=1)   </a:t>
            </a:r>
            <a:r>
              <a:rPr sz="950">
                <a:solidFill>
                  <a:srgbClr val="8FC99A"/>
                </a:solidFill>
                <a:latin typeface="Courier New"/>
              </a:rPr>
              <a:t># cộng cả tuần</a:t>
            </a:r>
          </a:p>
          <a:p>
            <a:r>
              <a:rPr sz="950">
                <a:solidFill>
                  <a:srgbClr val="6B7385"/>
                </a:solidFill>
                <a:latin typeface="Courier New"/>
              </a:rPr>
              <a:t>12 </a:t>
            </a:r>
            <a:r>
              <a:rPr sz="950">
                <a:solidFill>
                  <a:srgbClr val="E6EAF0"/>
                </a:solidFill>
                <a:latin typeface="Courier New"/>
              </a:rPr>
              <a:t>du = cuon.groupby("goc")["y"].apply(lambda x: x.notna().all())</a:t>
            </a:r>
          </a:p>
          <a:p>
            <a:r>
              <a:rPr sz="950">
                <a:solidFill>
                  <a:srgbClr val="6B7385"/>
                </a:solidFill>
                <a:latin typeface="Courier New"/>
              </a:rPr>
              <a:t>13 </a:t>
            </a:r>
            <a:r>
              <a:rPr sz="950">
                <a:solidFill>
                  <a:srgbClr val="E6EAF0"/>
                </a:solidFill>
                <a:latin typeface="Courier New"/>
              </a:rPr>
              <a:t>tuan.loc[~du, "y"] = np.nan                     </a:t>
            </a:r>
            <a:r>
              <a:rPr sz="950">
                <a:solidFill>
                  <a:srgbClr val="8FC99A"/>
                </a:solidFill>
                <a:latin typeface="Courier New"/>
              </a:rPr>
              <a:t># chỉ chấm tuần đủ số đo</a:t>
            </a:r>
          </a:p>
          <a:p>
            <a:r>
              <a:rPr sz="950">
                <a:solidFill>
                  <a:srgbClr val="6B7385"/>
                </a:solidFill>
                <a:latin typeface="Courier New"/>
              </a:rPr>
              <a:t>14 </a:t>
            </a:r>
            <a:r>
              <a:rPr sz="950">
                <a:solidFill>
                  <a:srgbClr val="E6EAF0"/>
                </a:solidFill>
                <a:latin typeface="Courier New"/>
              </a:rPr>
              <a:t>theo_gio = {c: mae(cuon["y"], cuon[c]) for c in cot}</a:t>
            </a:r>
          </a:p>
          <a:p>
            <a:r>
              <a:rPr sz="950">
                <a:solidFill>
                  <a:srgbClr val="6B7385"/>
                </a:solidFill>
                <a:latin typeface="Courier New"/>
              </a:rPr>
              <a:t>15 </a:t>
            </a:r>
            <a:r>
              <a:rPr sz="950">
                <a:solidFill>
                  <a:srgbClr val="E6EAF0"/>
                </a:solidFill>
                <a:latin typeface="Courier New"/>
              </a:rPr>
              <a:t>theo_tuan = {c: mae(tuan["y"], tuan[c]) for c in cot}</a:t>
            </a:r>
          </a:p>
        </p:txBody>
      </p:sp>
      <p:sp>
        <p:nvSpPr>
          <p:cNvPr id="8" name="TextBox 7"/>
          <p:cNvSpPr txBox="1"/>
          <p:nvPr/>
        </p:nvSpPr>
        <p:spPr>
          <a:xfrm>
            <a:off x="685800" y="4088384"/>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buoi-01/tu-hoc.ipynb, phần 5</a:t>
            </a:r>
          </a:p>
        </p:txBody>
      </p:sp>
      <p:sp>
        <p:nvSpPr>
          <p:cNvPr id="9" name="TextBox 8"/>
          <p:cNvSpPr txBox="1"/>
          <p:nvPr/>
        </p:nvSpPr>
        <p:spPr>
          <a:xfrm>
            <a:off x="548640" y="4445000"/>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4–7</a:t>
            </a:r>
          </a:p>
        </p:txBody>
      </p:sp>
      <p:sp>
        <p:nvSpPr>
          <p:cNvPr id="11" name="TextBox 10"/>
          <p:cNvSpPr txBox="1"/>
          <p:nvPr/>
        </p:nvSpPr>
        <p:spPr>
          <a:xfrm>
            <a:off x="1353312" y="4746752"/>
            <a:ext cx="2697480" cy="457200"/>
          </a:xfrm>
          <a:prstGeom prst="rect">
            <a:avLst/>
          </a:prstGeom>
          <a:noFill/>
        </p:spPr>
        <p:txBody>
          <a:bodyPr wrap="square" lIns="0" rIns="0" tIns="0" bIns="0" anchor="t">
            <a:spAutoFit/>
          </a:bodyPr>
          <a:lstStyle/>
          <a:p>
            <a:pPr algn="l"/>
            <a:r>
              <a:rPr sz="1050" b="0" i="0">
                <a:solidFill>
                  <a:srgbClr val="1B2A41"/>
                </a:solidFill>
                <a:latin typeface="Arial"/>
              </a:rPr>
              <a:t>MAE như mục 4.3, bỏ giờ trống.</a:t>
            </a:r>
          </a:p>
        </p:txBody>
      </p:sp>
      <p:sp>
        <p:nvSpPr>
          <p:cNvPr id="12" name="Rounded Rectangle 11"/>
          <p:cNvSpPr/>
          <p:nvPr/>
        </p:nvSpPr>
        <p:spPr>
          <a:xfrm>
            <a:off x="548640" y="52222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11</a:t>
            </a:r>
          </a:p>
        </p:txBody>
      </p:sp>
      <p:sp>
        <p:nvSpPr>
          <p:cNvPr id="13" name="TextBox 12"/>
          <p:cNvSpPr txBox="1"/>
          <p:nvPr/>
        </p:nvSpPr>
        <p:spPr>
          <a:xfrm>
            <a:off x="1353312" y="5203952"/>
            <a:ext cx="2697480" cy="457200"/>
          </a:xfrm>
          <a:prstGeom prst="rect">
            <a:avLst/>
          </a:prstGeom>
          <a:noFill/>
        </p:spPr>
        <p:txBody>
          <a:bodyPr wrap="square" lIns="0" rIns="0" tIns="0" bIns="0" anchor="t">
            <a:spAutoFit/>
          </a:bodyPr>
          <a:lstStyle/>
          <a:p>
            <a:pPr algn="l"/>
            <a:r>
              <a:rPr sz="1050" b="0" i="0">
                <a:solidFill>
                  <a:srgbClr val="1B2A41"/>
                </a:solidFill>
                <a:latin typeface="Arial"/>
              </a:rPr>
              <a:t>Cộng 168 giờ của mỗi gốc thành tổng tuần.</a:t>
            </a:r>
          </a:p>
        </p:txBody>
      </p:sp>
      <p:sp>
        <p:nvSpPr>
          <p:cNvPr id="14" name="Rounded Rectangle 13"/>
          <p:cNvSpPr/>
          <p:nvPr/>
        </p:nvSpPr>
        <p:spPr>
          <a:xfrm>
            <a:off x="416052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12–13</a:t>
            </a:r>
          </a:p>
        </p:txBody>
      </p:sp>
      <p:sp>
        <p:nvSpPr>
          <p:cNvPr id="15" name="TextBox 14"/>
          <p:cNvSpPr txBox="1"/>
          <p:nvPr/>
        </p:nvSpPr>
        <p:spPr>
          <a:xfrm>
            <a:off x="4965192" y="4746752"/>
            <a:ext cx="2697480" cy="457200"/>
          </a:xfrm>
          <a:prstGeom prst="rect">
            <a:avLst/>
          </a:prstGeom>
          <a:noFill/>
        </p:spPr>
        <p:txBody>
          <a:bodyPr wrap="square" lIns="0" rIns="0" tIns="0" bIns="0" anchor="t">
            <a:spAutoFit/>
          </a:bodyPr>
          <a:lstStyle/>
          <a:p>
            <a:pPr algn="l"/>
            <a:r>
              <a:rPr sz="1050" b="0" i="0">
                <a:solidFill>
                  <a:srgbClr val="1B2A41"/>
                </a:solidFill>
                <a:latin typeface="Arial"/>
              </a:rPr>
              <a:t>Tuần thiếu số đo thì không chấm.</a:t>
            </a:r>
          </a:p>
        </p:txBody>
      </p:sp>
      <p:sp>
        <p:nvSpPr>
          <p:cNvPr id="16" name="Rounded Rectangle 15"/>
          <p:cNvSpPr/>
          <p:nvPr/>
        </p:nvSpPr>
        <p:spPr>
          <a:xfrm>
            <a:off x="4160520" y="52222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14–15</a:t>
            </a:r>
          </a:p>
        </p:txBody>
      </p:sp>
      <p:sp>
        <p:nvSpPr>
          <p:cNvPr id="17" name="TextBox 16"/>
          <p:cNvSpPr txBox="1"/>
          <p:nvPr/>
        </p:nvSpPr>
        <p:spPr>
          <a:xfrm>
            <a:off x="4965192" y="5203952"/>
            <a:ext cx="2697480" cy="457200"/>
          </a:xfrm>
          <a:prstGeom prst="rect">
            <a:avLst/>
          </a:prstGeom>
          <a:noFill/>
        </p:spPr>
        <p:txBody>
          <a:bodyPr wrap="square" lIns="0" rIns="0" tIns="0" bIns="0" anchor="t">
            <a:spAutoFit/>
          </a:bodyPr>
          <a:lstStyle/>
          <a:p>
            <a:pPr algn="l"/>
            <a:r>
              <a:rPr sz="1050" b="0" i="0">
                <a:solidFill>
                  <a:srgbClr val="1B2A41"/>
                </a:solidFill>
                <a:latin typeface="Arial"/>
              </a:rPr>
              <a:t>Tính MAE ở hai mức để so thứ hạng.</a:t>
            </a:r>
          </a:p>
        </p:txBody>
      </p:sp>
      <p:sp>
        <p:nvSpPr>
          <p:cNvPr id="18" name="Rounded Rectangle 17"/>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Theo giờ: TB 4 tuần 0,490 thắng bảng lịch 0,508. Theo tổng tuần: bảng lịch 16,4 thắng xa TB 4 tuần 27,9 kWh/tuần.</a:t>
            </a:r>
          </a:p>
        </p:txBody>
      </p:sp>
      <p:sp>
        <p:nvSpPr>
          <p:cNvPr id="20" name="TextBox 19"/>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1" name="TextBox 20"/>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groupby("goc").sum(min_count=1)</a:t>
            </a:r>
            <a:r>
              <a:rPr sz="950" b="1" i="0">
                <a:solidFill>
                  <a:srgbClr val="5B6778"/>
                </a:solidFill>
                <a:latin typeface="Arial"/>
              </a:rPr>
              <a:t>   pandas</a:t>
            </a:r>
          </a:p>
        </p:txBody>
      </p:sp>
      <p:sp>
        <p:nvSpPr>
          <p:cNvPr id="22" name="TextBox 21"/>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Cộng mọi giờ cùng một gốc; nhóm toàn trống thì ra NaN, không ra 0.</a:t>
            </a:r>
          </a:p>
        </p:txBody>
      </p:sp>
      <p:sp>
        <p:nvSpPr>
          <p:cNvPr id="23" name="TextBox 22"/>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apply(lambda x: x.notna().all())</a:t>
            </a:r>
            <a:r>
              <a:rPr sz="950" b="1" i="0">
                <a:solidFill>
                  <a:srgbClr val="5B6778"/>
                </a:solidFill>
                <a:latin typeface="Arial"/>
              </a:rPr>
              <a:t>   pandas</a:t>
            </a:r>
          </a:p>
        </p:txBody>
      </p:sp>
      <p:sp>
        <p:nvSpPr>
          <p:cNvPr id="24" name="TextBox 23"/>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Hỏi từng tuần: có đủ số đo ở mọi giờ không.</a:t>
            </a:r>
          </a:p>
        </p:txBody>
      </p:sp>
      <p:sp>
        <p:nvSpPr>
          <p:cNvPr id="25" name="TextBox 24"/>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tuan.loc[~du, "y"]</a:t>
            </a:r>
            <a:r>
              <a:rPr sz="950" b="1" i="0">
                <a:solidFill>
                  <a:srgbClr val="5B6778"/>
                </a:solidFill>
                <a:latin typeface="Arial"/>
              </a:rPr>
              <a:t>   pandas</a:t>
            </a:r>
          </a:p>
        </p:txBody>
      </p:sp>
      <p:sp>
        <p:nvSpPr>
          <p:cNvPr id="26" name="TextBox 25"/>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Chọn các dòng tuần thiếu, cột y, để gán trống.</a:t>
            </a:r>
          </a:p>
        </p:txBody>
      </p:sp>
      <p:pic>
        <p:nvPicPr>
          <p:cNvPr id="27" name="Picture 26" descr="tong-tuan.png"/>
          <p:cNvPicPr>
            <a:picLocks noChangeAspect="1"/>
          </p:cNvPicPr>
          <p:nvPr/>
        </p:nvPicPr>
        <p:blipFill>
          <a:blip r:embed="rId2"/>
          <a:stretch>
            <a:fillRect/>
          </a:stretch>
        </p:blipFill>
        <p:spPr>
          <a:xfrm>
            <a:off x="7863840" y="4542301"/>
            <a:ext cx="3776472" cy="1476716"/>
          </a:xfrm>
          <a:prstGeom prst="rect">
            <a:avLst/>
          </a:prstGeom>
        </p:spPr>
      </p:pic>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thiếu đắt hơn thừa, mua quantile</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1</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Thử từng mức mua để thấy mức rẻ nhất là quantile 0,8, rồi áp vào dữ liệu điện thật.</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p>
          <a:p>
            <a:r>
              <a:rPr sz="850">
                <a:solidFill>
                  <a:srgbClr val="6B7385"/>
                </a:solidFill>
                <a:latin typeface="Courier New"/>
              </a:rPr>
              <a:t> 3 </a:t>
            </a:r>
            <a:r>
              <a:rPr sz="850">
                <a:solidFill>
                  <a:srgbClr val="E6EAF0"/>
                </a:solidFill>
                <a:latin typeface="Courier New"/>
              </a:rPr>
              <a:t>nhu_cau = np.array([7, 5, 9, 6, 8, 12, 6, 9, 7, 8])       </a:t>
            </a:r>
            <a:r>
              <a:rPr sz="850">
                <a:solidFill>
                  <a:srgbClr val="8FC99A"/>
                </a:solidFill>
                <a:latin typeface="Courier New"/>
              </a:rPr>
              <a:t># kWh, 10 ngày</a:t>
            </a:r>
          </a:p>
          <a:p>
            <a:r>
              <a:rPr sz="850">
                <a:solidFill>
                  <a:srgbClr val="6B7385"/>
                </a:solidFill>
                <a:latin typeface="Courier New"/>
              </a:rPr>
              <a:t> 4 </a:t>
            </a:r>
            <a:r>
              <a:rPr sz="850">
                <a:solidFill>
                  <a:srgbClr val="E6EAF0"/>
                </a:solidFill>
                <a:latin typeface="Courier New"/>
              </a:rPr>
              <a:t>chi_phi = {m: int(4 * np.clip(nhu_cau - m, 0, None).sum()  </a:t>
            </a:r>
            <a:r>
              <a:rPr sz="850">
                <a:solidFill>
                  <a:srgbClr val="8FC99A"/>
                </a:solidFill>
                <a:latin typeface="Courier New"/>
              </a:rPr>
              <a:t># thiếu: 4 đồng</a:t>
            </a:r>
          </a:p>
          <a:p>
            <a:r>
              <a:rPr sz="850">
                <a:solidFill>
                  <a:srgbClr val="6B7385"/>
                </a:solidFill>
                <a:latin typeface="Courier New"/>
              </a:rPr>
              <a:t> 5 </a:t>
            </a:r>
            <a:r>
              <a:rPr sz="850">
                <a:solidFill>
                  <a:srgbClr val="E6EAF0"/>
                </a:solidFill>
                <a:latin typeface="Courier New"/>
              </a:rPr>
              <a:t>                  + np.clip(m - nhu_cau, 0, None).sum())   </a:t>
            </a:r>
            <a:r>
              <a:rPr sz="850">
                <a:solidFill>
                  <a:srgbClr val="8FC99A"/>
                </a:solidFill>
                <a:latin typeface="Courier New"/>
              </a:rPr>
              <a:t># thừa: 1 đồng</a:t>
            </a:r>
          </a:p>
          <a:p>
            <a:r>
              <a:rPr sz="850">
                <a:solidFill>
                  <a:srgbClr val="6B7385"/>
                </a:solidFill>
                <a:latin typeface="Courier New"/>
              </a:rPr>
              <a:t> 6 </a:t>
            </a:r>
            <a:r>
              <a:rPr sz="850">
                <a:solidFill>
                  <a:srgbClr val="E6EAF0"/>
                </a:solidFill>
                <a:latin typeface="Courier New"/>
              </a:rPr>
              <a:t>           for m in range(6, 13)}</a:t>
            </a:r>
          </a:p>
          <a:p>
            <a:r>
              <a:rPr sz="850">
                <a:solidFill>
                  <a:srgbClr val="6B7385"/>
                </a:solidFill>
                <a:latin typeface="Courier New"/>
              </a:rPr>
              <a:t> 7 </a:t>
            </a:r>
            <a:r>
              <a:rPr sz="850">
                <a:solidFill>
                  <a:srgbClr val="E6EAF0"/>
                </a:solidFill>
                <a:latin typeface="Courier New"/>
              </a:rPr>
              <a:t>q08 = np.quantile(nhu_cau, 0.8, method="inverted_cdf")     </a:t>
            </a:r>
            <a:r>
              <a:rPr sz="850">
                <a:solidFill>
                  <a:srgbClr val="8FC99A"/>
                </a:solidFill>
                <a:latin typeface="Courier New"/>
              </a:rPr>
              <a:t># 4 / (4 + 1)</a:t>
            </a:r>
          </a:p>
          <a:p>
            <a:r>
              <a:rPr sz="850">
                <a:solidFill>
                  <a:srgbClr val="6B7385"/>
                </a:solidFill>
                <a:latin typeface="Courier New"/>
              </a:rPr>
              <a:t> 8 </a:t>
            </a:r>
          </a:p>
          <a:p>
            <a:r>
              <a:rPr sz="850">
                <a:solidFill>
                  <a:srgbClr val="6B7385"/>
                </a:solidFill>
                <a:latin typeface="Courier New"/>
              </a:rPr>
              <a:t> 9 </a:t>
            </a:r>
            <a:r>
              <a:rPr sz="850">
                <a:solidFill>
                  <a:srgbClr val="E6EAF0"/>
                </a:solidFill>
                <a:latin typeface="Courier New"/>
              </a:rPr>
              <a:t>def tien_mat(y, f):</a:t>
            </a:r>
          </a:p>
          <a:p>
            <a:r>
              <a:rPr sz="850">
                <a:solidFill>
                  <a:srgbClr val="6B7385"/>
                </a:solidFill>
                <a:latin typeface="Courier New"/>
              </a:rPr>
              <a:t>10 </a:t>
            </a:r>
            <a:r>
              <a:rPr sz="850">
                <a:solidFill>
                  <a:srgbClr val="E6EAF0"/>
                </a:solidFill>
                <a:latin typeface="Courier New"/>
              </a:rPr>
              <a:t>    d = np.asarray(y, float) - np.asarray(f, float)</a:t>
            </a:r>
          </a:p>
          <a:p>
            <a:r>
              <a:rPr sz="850">
                <a:solidFill>
                  <a:srgbClr val="6B7385"/>
                </a:solidFill>
                <a:latin typeface="Courier New"/>
              </a:rPr>
              <a:t>11 </a:t>
            </a:r>
            <a:r>
              <a:rPr sz="850">
                <a:solidFill>
                  <a:srgbClr val="E6EAF0"/>
                </a:solidFill>
                <a:latin typeface="Courier New"/>
              </a:rPr>
              <a:t>    d = d[~np.isnan(d)]</a:t>
            </a:r>
          </a:p>
          <a:p>
            <a:r>
              <a:rPr sz="850">
                <a:solidFill>
                  <a:srgbClr val="6B7385"/>
                </a:solidFill>
                <a:latin typeface="Courier New"/>
              </a:rPr>
              <a:t>12 </a:t>
            </a:r>
            <a:r>
              <a:rPr sz="850">
                <a:solidFill>
                  <a:srgbClr val="E6EAF0"/>
                </a:solidFill>
                <a:latin typeface="Courier New"/>
              </a:rPr>
              <a:t>    return float(np.mean(np.where(d &gt; 0, 4 * d, -1 * d)))</a:t>
            </a:r>
          </a:p>
          <a:p>
            <a:r>
              <a:rPr sz="850">
                <a:solidFill>
                  <a:srgbClr val="6B7385"/>
                </a:solidFill>
                <a:latin typeface="Courier New"/>
              </a:rPr>
              <a:t>13 </a:t>
            </a:r>
          </a:p>
          <a:p>
            <a:r>
              <a:rPr sz="850">
                <a:solidFill>
                  <a:srgbClr val="6B7385"/>
                </a:solidFill>
                <a:latin typeface="Courier New"/>
              </a:rPr>
              <a:t>14 </a:t>
            </a:r>
            <a:r>
              <a:rPr sz="850">
                <a:solidFill>
                  <a:srgbClr val="8FC99A"/>
                </a:solidFill>
                <a:latin typeface="Courier New"/>
              </a:rPr>
              <a:t># c09: dự báo cuốn năm 2009; chọn mức cộng thêm mà không nhìn 2010</a:t>
            </a:r>
          </a:p>
          <a:p>
            <a:r>
              <a:rPr sz="850">
                <a:solidFill>
                  <a:srgbClr val="6B7385"/>
                </a:solidFill>
                <a:latin typeface="Courier New"/>
              </a:rPr>
              <a:t>15 </a:t>
            </a:r>
            <a:r>
              <a:rPr sz="850">
                <a:solidFill>
                  <a:srgbClr val="E6EAF0"/>
                </a:solidFill>
                <a:latin typeface="Courier New"/>
              </a:rPr>
              <a:t>q = float((c09["y"] - c09["trung bình 4 tuần"]).dropna().quantile(0.8))</a:t>
            </a:r>
          </a:p>
          <a:p>
            <a:r>
              <a:rPr sz="850">
                <a:solidFill>
                  <a:srgbClr val="6B7385"/>
                </a:solidFill>
                <a:latin typeface="Courier New"/>
              </a:rPr>
              <a:t>16 </a:t>
            </a:r>
            <a:r>
              <a:rPr sz="850">
                <a:solidFill>
                  <a:srgbClr val="E6EAF0"/>
                </a:solidFill>
                <a:latin typeface="Courier New"/>
              </a:rPr>
              <a:t>print(tien_mat(y, f), tien_mat(y, f + q))       </a:t>
            </a:r>
            <a:r>
              <a:rPr sz="850">
                <a:solidFill>
                  <a:srgbClr val="8FC99A"/>
                </a:solidFill>
                <a:latin typeface="Courier New"/>
              </a:rPr>
              <a:t># năm 2010: trước, sau</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buoi-01/tu-hoc.ipynb, phần 6</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3–6</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Tính tiền mất 10 ngày cho mỗi mức mua 6–12.</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7</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Quantile 0,8 của nhu cầu, đếm như tính tay.</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9–12</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Tiền mất: thiếu phạt 4, thừa phạt 1.</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14–15</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Lấy quantile 0,8 sai số 2009 làm phần cộng.</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16</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So tiền mất năm 2010 trước và sau khi cộng.</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Mua 9 kWh rẻ nhất (28 đồng) = quantile 0,8, không phải TB 7,7. Thật: cộng 0,455 kWh, tiền mất 1,213 xuống 0,987 (−18,6%), MAE tệ đi.</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np.clip(x, 0, None)</a:t>
            </a:r>
            <a:r>
              <a:rPr sz="950" b="1" i="0">
                <a:solidFill>
                  <a:srgbClr val="5B6778"/>
                </a:solidFill>
                <a:latin typeface="Arial"/>
              </a:rPr>
              <a:t>   numpy</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Cắt số âm về 0: chỉ giữ phần thiếu (hoặc phần thừa).</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np.quantile(..., method="inverted_cdf")</a:t>
            </a:r>
            <a:r>
              <a:rPr sz="950" b="1" i="0">
                <a:solidFill>
                  <a:srgbClr val="5B6778"/>
                </a:solidFill>
                <a:latin typeface="Arial"/>
              </a:rPr>
              <a:t>   numpy</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Tìm quantile đúng cách đếm tay, không nội suy.</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np.where(d &gt; 0, a, b)</a:t>
            </a:r>
            <a:r>
              <a:rPr sz="950" b="1" i="0">
                <a:solidFill>
                  <a:srgbClr val="5B6778"/>
                </a:solidFill>
                <a:latin typeface="Arial"/>
              </a:rPr>
              <a:t>   numpy</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Chọn từng phần tử: điều kiện đúng lấy a, sai lấy b.</a:t>
            </a:r>
          </a:p>
        </p:txBody>
      </p:sp>
      <p:sp>
        <p:nvSpPr>
          <p:cNvPr id="29" name="Rounded Rectangle 28"/>
          <p:cNvSpPr/>
          <p:nvPr/>
        </p:nvSpPr>
        <p:spPr>
          <a:xfrm>
            <a:off x="7863840" y="4059935"/>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b1807774ca46.png"/>
          <p:cNvPicPr>
            <a:picLocks noChangeAspect="1"/>
          </p:cNvPicPr>
          <p:nvPr/>
        </p:nvPicPr>
        <p:blipFill>
          <a:blip r:embed="rId2"/>
          <a:stretch>
            <a:fillRect/>
          </a:stretch>
        </p:blipFill>
        <p:spPr>
          <a:xfrm>
            <a:off x="9194292" y="4169663"/>
            <a:ext cx="1115568" cy="329184"/>
          </a:xfrm>
          <a:prstGeom prst="rect">
            <a:avLst/>
          </a:prstGeom>
        </p:spPr>
      </p:pic>
      <p:pic>
        <p:nvPicPr>
          <p:cNvPr id="31" name="Picture 30" descr="kn-bai-toan-newsvendor.png"/>
          <p:cNvPicPr>
            <a:picLocks noChangeAspect="1"/>
          </p:cNvPicPr>
          <p:nvPr/>
        </p:nvPicPr>
        <p:blipFill>
          <a:blip r:embed="rId3"/>
          <a:stretch>
            <a:fillRect/>
          </a:stretch>
        </p:blipFill>
        <p:spPr>
          <a:xfrm>
            <a:off x="8074406" y="4745735"/>
            <a:ext cx="3355338" cy="1728216"/>
          </a:xfrm>
          <a:prstGeom prst="rect">
            <a:avLst/>
          </a:prstGeom>
        </p:spPr>
      </p:pic>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quantile, trung vị, trung bình</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2</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Tính quantile như đếm tay, và thấy trung bình với trung vị lệch nhau trên dữ liệu thật.</a:t>
            </a:r>
          </a:p>
        </p:txBody>
      </p:sp>
      <p:sp>
        <p:nvSpPr>
          <p:cNvPr id="6" name="Rounded Rectangle 5"/>
          <p:cNvSpPr/>
          <p:nvPr/>
        </p:nvSpPr>
        <p:spPr>
          <a:xfrm>
            <a:off x="548640" y="1737360"/>
            <a:ext cx="7086600" cy="2455545"/>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35505"/>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zipfile</a:t>
            </a:r>
          </a:p>
          <a:p>
            <a:r>
              <a:rPr sz="950">
                <a:solidFill>
                  <a:srgbClr val="6B7385"/>
                </a:solidFill>
                <a:latin typeface="Courier New"/>
              </a:rPr>
              <a:t> 2 </a:t>
            </a:r>
          </a:p>
          <a:p>
            <a:r>
              <a:rPr sz="950">
                <a:solidFill>
                  <a:srgbClr val="6B7385"/>
                </a:solidFill>
                <a:latin typeface="Courier New"/>
              </a:rPr>
              <a:t> 3 </a:t>
            </a:r>
            <a:r>
              <a:rPr sz="950">
                <a:solidFill>
                  <a:srgbClr val="E6EAF0"/>
                </a:solidFill>
                <a:latin typeface="Courier New"/>
              </a:rPr>
              <a:t>import numpy as np</a:t>
            </a:r>
          </a:p>
          <a:p>
            <a:r>
              <a:rPr sz="950">
                <a:solidFill>
                  <a:srgbClr val="6B7385"/>
                </a:solidFill>
                <a:latin typeface="Courier New"/>
              </a:rPr>
              <a:t> 4 </a:t>
            </a:r>
            <a:r>
              <a:rPr sz="950">
                <a:solidFill>
                  <a:srgbClr val="E6EAF0"/>
                </a:solidFill>
                <a:latin typeface="Courier New"/>
              </a:rPr>
              <a:t>import pandas as pd</a:t>
            </a:r>
          </a:p>
          <a:p>
            <a:r>
              <a:rPr sz="950">
                <a:solidFill>
                  <a:srgbClr val="6B7385"/>
                </a:solidFill>
                <a:latin typeface="Courier New"/>
              </a:rPr>
              <a:t> 5 </a:t>
            </a:r>
          </a:p>
          <a:p>
            <a:r>
              <a:rPr sz="950">
                <a:solidFill>
                  <a:srgbClr val="6B7385"/>
                </a:solidFill>
                <a:latin typeface="Courier New"/>
              </a:rPr>
              <a:t> 6 </a:t>
            </a:r>
            <a:r>
              <a:rPr sz="950">
                <a:solidFill>
                  <a:srgbClr val="E6EAF0"/>
                </a:solidFill>
                <a:latin typeface="Courier New"/>
              </a:rPr>
              <a:t>x9 = np.array([8, 2, 36, 5, 12, 3, 18, 6, 9])</a:t>
            </a:r>
          </a:p>
          <a:p>
            <a:r>
              <a:rPr sz="950">
                <a:solidFill>
                  <a:srgbClr val="6B7385"/>
                </a:solidFill>
                <a:latin typeface="Courier New"/>
              </a:rPr>
              <a:t> 7 </a:t>
            </a:r>
            <a:r>
              <a:rPr sz="950">
                <a:solidFill>
                  <a:srgbClr val="E6EAF0"/>
                </a:solidFill>
                <a:latin typeface="Courier New"/>
              </a:rPr>
              <a:t>np.sort(x9)                                    </a:t>
            </a:r>
            <a:r>
              <a:rPr sz="950">
                <a:solidFill>
                  <a:srgbClr val="8FC99A"/>
                </a:solidFill>
                <a:latin typeface="Courier New"/>
              </a:rPr>
              <a:t># 2 3 5 6 8 9 12 18 36</a:t>
            </a:r>
          </a:p>
          <a:p>
            <a:r>
              <a:rPr sz="950">
                <a:solidFill>
                  <a:srgbClr val="6B7385"/>
                </a:solidFill>
                <a:latin typeface="Courier New"/>
              </a:rPr>
              <a:t> 8 </a:t>
            </a:r>
            <a:r>
              <a:rPr sz="950">
                <a:solidFill>
                  <a:srgbClr val="E6EAF0"/>
                </a:solidFill>
                <a:latin typeface="Courier New"/>
              </a:rPr>
              <a:t>np.quantile(x9, 0.8, method="inverted_cdf")    </a:t>
            </a:r>
            <a:r>
              <a:rPr sz="950">
                <a:solidFill>
                  <a:srgbClr val="8FC99A"/>
                </a:solidFill>
                <a:latin typeface="Courier New"/>
              </a:rPr>
              <a:t># đếm tay: số thứ 8</a:t>
            </a:r>
          </a:p>
          <a:p>
            <a:r>
              <a:rPr sz="950">
                <a:solidFill>
                  <a:srgbClr val="6B7385"/>
                </a:solidFill>
                <a:latin typeface="Courier New"/>
              </a:rPr>
              <a:t> 9 </a:t>
            </a:r>
            <a:r>
              <a:rPr sz="950">
                <a:solidFill>
                  <a:srgbClr val="E6EAF0"/>
                </a:solidFill>
                <a:latin typeface="Courier New"/>
              </a:rPr>
              <a:t>np.quantile(x9, 0.8)                           </a:t>
            </a:r>
            <a:r>
              <a:rPr sz="950">
                <a:solidFill>
                  <a:srgbClr val="8FC99A"/>
                </a:solidFill>
                <a:latin typeface="Courier New"/>
              </a:rPr>
              <a:t># mặc định: nội suy</a:t>
            </a:r>
          </a:p>
          <a:p>
            <a:r>
              <a:rPr sz="950">
                <a:solidFill>
                  <a:srgbClr val="6B7385"/>
                </a:solidFill>
                <a:latin typeface="Courier New"/>
              </a:rPr>
              <a:t>10 </a:t>
            </a:r>
          </a:p>
          <a:p>
            <a:r>
              <a:rPr sz="950">
                <a:solidFill>
                  <a:srgbClr val="6B7385"/>
                </a:solidFill>
                <a:latin typeface="Courier New"/>
              </a:rPr>
              <a:t>11 </a:t>
            </a:r>
            <a:r>
              <a:rPr sz="950">
                <a:solidFill>
                  <a:srgbClr val="E6EAF0"/>
                </a:solidFill>
                <a:latin typeface="Courier New"/>
              </a:rPr>
              <a:t>with zipfile.ZipFile("bike-sharing.zip") as z:</a:t>
            </a:r>
          </a:p>
          <a:p>
            <a:r>
              <a:rPr sz="950">
                <a:solidFill>
                  <a:srgbClr val="6B7385"/>
                </a:solidFill>
                <a:latin typeface="Courier New"/>
              </a:rPr>
              <a:t>12 </a:t>
            </a:r>
            <a:r>
              <a:rPr sz="950">
                <a:solidFill>
                  <a:srgbClr val="E6EAF0"/>
                </a:solidFill>
                <a:latin typeface="Courier New"/>
              </a:rPr>
              <a:t>    h = pd.read_csv(z.open("hour.csv"), parse_dates=["dteday"])</a:t>
            </a:r>
          </a:p>
          <a:p>
            <a:r>
              <a:rPr sz="950">
                <a:solidFill>
                  <a:srgbClr val="6B7385"/>
                </a:solidFill>
                <a:latin typeface="Courier New"/>
              </a:rPr>
              <a:t>13 </a:t>
            </a:r>
            <a:r>
              <a:rPr sz="950">
                <a:solidFill>
                  <a:srgbClr val="E6EAF0"/>
                </a:solidFill>
                <a:latin typeface="Courier New"/>
              </a:rPr>
              <a:t>y = h["cnt"].to_numpy(float)                   </a:t>
            </a:r>
            <a:r>
              <a:rPr sz="950">
                <a:solidFill>
                  <a:srgbClr val="8FC99A"/>
                </a:solidFill>
                <a:latin typeface="Courier New"/>
              </a:rPr>
              <a:t># lượt thuê từng giờ</a:t>
            </a:r>
          </a:p>
          <a:p>
            <a:r>
              <a:rPr sz="950">
                <a:solidFill>
                  <a:srgbClr val="6B7385"/>
                </a:solidFill>
                <a:latin typeface="Courier New"/>
              </a:rPr>
              <a:t>14 </a:t>
            </a:r>
            <a:r>
              <a:rPr sz="950">
                <a:solidFill>
                  <a:srgbClr val="E6EAF0"/>
                </a:solidFill>
                <a:latin typeface="Courier New"/>
              </a:rPr>
              <a:t>print(y.mean(), np.median(y), np.quantile(y, 0.9))</a:t>
            </a:r>
          </a:p>
        </p:txBody>
      </p:sp>
      <p:sp>
        <p:nvSpPr>
          <p:cNvPr id="8" name="TextBox 7"/>
          <p:cNvSpPr txBox="1"/>
          <p:nvPr/>
        </p:nvSpPr>
        <p:spPr>
          <a:xfrm>
            <a:off x="685800" y="3946017"/>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buoi-02/tu-hoc.ipynb, phần 0 và 1</a:t>
            </a:r>
          </a:p>
        </p:txBody>
      </p:sp>
      <p:sp>
        <p:nvSpPr>
          <p:cNvPr id="9" name="TextBox 8"/>
          <p:cNvSpPr txBox="1"/>
          <p:nvPr/>
        </p:nvSpPr>
        <p:spPr>
          <a:xfrm>
            <a:off x="548640" y="4302633"/>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6226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6–7</a:t>
            </a:r>
          </a:p>
        </p:txBody>
      </p:sp>
      <p:sp>
        <p:nvSpPr>
          <p:cNvPr id="11" name="TextBox 10"/>
          <p:cNvSpPr txBox="1"/>
          <p:nvPr/>
        </p:nvSpPr>
        <p:spPr>
          <a:xfrm>
            <a:off x="1353312" y="4604385"/>
            <a:ext cx="2697480" cy="394588"/>
          </a:xfrm>
          <a:prstGeom prst="rect">
            <a:avLst/>
          </a:prstGeom>
          <a:noFill/>
        </p:spPr>
        <p:txBody>
          <a:bodyPr wrap="square" lIns="0" rIns="0" tIns="0" bIns="0" anchor="t">
            <a:spAutoFit/>
          </a:bodyPr>
          <a:lstStyle/>
          <a:p>
            <a:pPr algn="l"/>
            <a:r>
              <a:rPr sz="1050" b="0" i="0">
                <a:solidFill>
                  <a:srgbClr val="1B2A41"/>
                </a:solidFill>
                <a:latin typeface="Arial"/>
              </a:rPr>
              <a:t>Chín giờ, xếp tăng dần để đếm.</a:t>
            </a:r>
          </a:p>
        </p:txBody>
      </p:sp>
      <p:sp>
        <p:nvSpPr>
          <p:cNvPr id="12" name="Rounded Rectangle 11"/>
          <p:cNvSpPr/>
          <p:nvPr/>
        </p:nvSpPr>
        <p:spPr>
          <a:xfrm>
            <a:off x="548640" y="5017262"/>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8</a:t>
            </a:r>
          </a:p>
        </p:txBody>
      </p:sp>
      <p:sp>
        <p:nvSpPr>
          <p:cNvPr id="13" name="TextBox 12"/>
          <p:cNvSpPr txBox="1"/>
          <p:nvPr/>
        </p:nvSpPr>
        <p:spPr>
          <a:xfrm>
            <a:off x="1353312" y="4998974"/>
            <a:ext cx="2697480" cy="394588"/>
          </a:xfrm>
          <a:prstGeom prst="rect">
            <a:avLst/>
          </a:prstGeom>
          <a:noFill/>
        </p:spPr>
        <p:txBody>
          <a:bodyPr wrap="square" lIns="0" rIns="0" tIns="0" bIns="0" anchor="t">
            <a:spAutoFit/>
          </a:bodyPr>
          <a:lstStyle/>
          <a:p>
            <a:pPr algn="l"/>
            <a:r>
              <a:rPr sz="1050" b="0" i="0">
                <a:solidFill>
                  <a:srgbClr val="1B2A41"/>
                </a:solidFill>
                <a:latin typeface="Arial"/>
              </a:rPr>
              <a:t>Vị trí 0,8 × 9 = 7,2, làm tròn lên số thứ 8.</a:t>
            </a:r>
          </a:p>
        </p:txBody>
      </p:sp>
      <p:sp>
        <p:nvSpPr>
          <p:cNvPr id="14" name="Rounded Rectangle 13"/>
          <p:cNvSpPr/>
          <p:nvPr/>
        </p:nvSpPr>
        <p:spPr>
          <a:xfrm>
            <a:off x="548640" y="541185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9</a:t>
            </a:r>
          </a:p>
        </p:txBody>
      </p:sp>
      <p:sp>
        <p:nvSpPr>
          <p:cNvPr id="15" name="TextBox 14"/>
          <p:cNvSpPr txBox="1"/>
          <p:nvPr/>
        </p:nvSpPr>
        <p:spPr>
          <a:xfrm>
            <a:off x="1353312" y="5393563"/>
            <a:ext cx="2697480" cy="394588"/>
          </a:xfrm>
          <a:prstGeom prst="rect">
            <a:avLst/>
          </a:prstGeom>
          <a:noFill/>
        </p:spPr>
        <p:txBody>
          <a:bodyPr wrap="square" lIns="0" rIns="0" tIns="0" bIns="0" anchor="t">
            <a:spAutoFit/>
          </a:bodyPr>
          <a:lstStyle/>
          <a:p>
            <a:pPr algn="l"/>
            <a:r>
              <a:rPr sz="1050" b="0" i="0">
                <a:solidFill>
                  <a:srgbClr val="1B2A41"/>
                </a:solidFill>
                <a:latin typeface="Arial"/>
              </a:rPr>
              <a:t>Máy mặc định nội suy giữa hai số kề nhau.</a:t>
            </a:r>
          </a:p>
        </p:txBody>
      </p:sp>
      <p:sp>
        <p:nvSpPr>
          <p:cNvPr id="16" name="Rounded Rectangle 15"/>
          <p:cNvSpPr/>
          <p:nvPr/>
        </p:nvSpPr>
        <p:spPr>
          <a:xfrm>
            <a:off x="4160520" y="46226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11–13</a:t>
            </a:r>
          </a:p>
        </p:txBody>
      </p:sp>
      <p:sp>
        <p:nvSpPr>
          <p:cNvPr id="17" name="TextBox 16"/>
          <p:cNvSpPr txBox="1"/>
          <p:nvPr/>
        </p:nvSpPr>
        <p:spPr>
          <a:xfrm>
            <a:off x="4965192" y="4604385"/>
            <a:ext cx="2697480" cy="394588"/>
          </a:xfrm>
          <a:prstGeom prst="rect">
            <a:avLst/>
          </a:prstGeom>
          <a:noFill/>
        </p:spPr>
        <p:txBody>
          <a:bodyPr wrap="square" lIns="0" rIns="0" tIns="0" bIns="0" anchor="t">
            <a:spAutoFit/>
          </a:bodyPr>
          <a:lstStyle/>
          <a:p>
            <a:pPr algn="l"/>
            <a:r>
              <a:rPr sz="1050" b="0" i="0">
                <a:solidFill>
                  <a:srgbClr val="1B2A41"/>
                </a:solidFill>
                <a:latin typeface="Arial"/>
              </a:rPr>
              <a:t>Đọc lượt thuê theo giờ của Capital Bikeshare.</a:t>
            </a:r>
          </a:p>
        </p:txBody>
      </p:sp>
      <p:sp>
        <p:nvSpPr>
          <p:cNvPr id="18" name="Rounded Rectangle 17"/>
          <p:cNvSpPr/>
          <p:nvPr/>
        </p:nvSpPr>
        <p:spPr>
          <a:xfrm>
            <a:off x="4160520" y="5017262"/>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14</a:t>
            </a:r>
          </a:p>
        </p:txBody>
      </p:sp>
      <p:sp>
        <p:nvSpPr>
          <p:cNvPr id="19" name="TextBox 18"/>
          <p:cNvSpPr txBox="1"/>
          <p:nvPr/>
        </p:nvSpPr>
        <p:spPr>
          <a:xfrm>
            <a:off x="4965192" y="4998974"/>
            <a:ext cx="2697480" cy="394588"/>
          </a:xfrm>
          <a:prstGeom prst="rect">
            <a:avLst/>
          </a:prstGeom>
          <a:noFill/>
        </p:spPr>
        <p:txBody>
          <a:bodyPr wrap="square" lIns="0" rIns="0" tIns="0" bIns="0" anchor="t">
            <a:spAutoFit/>
          </a:bodyPr>
          <a:lstStyle/>
          <a:p>
            <a:pPr algn="l"/>
            <a:r>
              <a:rPr sz="1050" b="0" i="0">
                <a:solidFill>
                  <a:srgbClr val="1B2A41"/>
                </a:solidFill>
                <a:latin typeface="Arial"/>
              </a:rPr>
              <a:t>So trung bình, trung vị, quantile 0,9.</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Đếm tay ra 18, máy mặc định ra 14,4. Dữ liệu thật: trung bình 189, trung vị 142, quantile 0,9 khoảng 451 lượt/giờ.</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np.quantile(x, q)</a:t>
            </a:r>
            <a:r>
              <a:rPr sz="950" b="1" i="0">
                <a:solidFill>
                  <a:srgbClr val="5B6778"/>
                </a:solidFill>
                <a:latin typeface="Arial"/>
              </a:rPr>
              <a:t>   numpy</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Tìm mốc mà tỷ lệ q số liệu nằm dưới hoặc bằng nó.</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np.median(x)</a:t>
            </a:r>
            <a:r>
              <a:rPr sz="950" b="1" i="0">
                <a:solidFill>
                  <a:srgbClr val="5B6778"/>
                </a:solidFill>
                <a:latin typeface="Arial"/>
              </a:rPr>
              <a:t>   numpy</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Trung vị: mốc chia đôi, bằng quantile 0,5.</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pd.read_csv(z.open(...))</a:t>
            </a:r>
            <a:r>
              <a:rPr sz="950" b="1" i="0">
                <a:solidFill>
                  <a:srgbClr val="5B6778"/>
                </a:solidFill>
                <a:latin typeface="Arial"/>
              </a:rPr>
              <a:t>   pandas</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Đọc tệp CSV nằm bên trong tệp nén thành bảng.</a:t>
            </a:r>
          </a:p>
        </p:txBody>
      </p:sp>
      <p:sp>
        <p:nvSpPr>
          <p:cNvPr id="29" name="Rounded Rectangle 28"/>
          <p:cNvSpPr/>
          <p:nvPr/>
        </p:nvSpPr>
        <p:spPr>
          <a:xfrm>
            <a:off x="7863840" y="4059935"/>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772662856a82.png"/>
          <p:cNvPicPr>
            <a:picLocks noChangeAspect="1"/>
          </p:cNvPicPr>
          <p:nvPr/>
        </p:nvPicPr>
        <p:blipFill>
          <a:blip r:embed="rId2"/>
          <a:stretch>
            <a:fillRect/>
          </a:stretch>
        </p:blipFill>
        <p:spPr>
          <a:xfrm>
            <a:off x="8552687" y="4213859"/>
            <a:ext cx="2398776" cy="240791"/>
          </a:xfrm>
          <a:prstGeom prst="rect">
            <a:avLst/>
          </a:prstGeom>
        </p:spPr>
      </p:pic>
      <p:pic>
        <p:nvPicPr>
          <p:cNvPr id="31" name="Picture 30" descr="kn-quantile-trung-vi.png"/>
          <p:cNvPicPr>
            <a:picLocks noChangeAspect="1"/>
          </p:cNvPicPr>
          <p:nvPr/>
        </p:nvPicPr>
        <p:blipFill>
          <a:blip r:embed="rId3"/>
          <a:stretch>
            <a:fillRect/>
          </a:stretch>
        </p:blipFill>
        <p:spPr>
          <a:xfrm>
            <a:off x="8023859" y="4745735"/>
            <a:ext cx="3456432" cy="1728216"/>
          </a:xfrm>
          <a:prstGeom prst="rect">
            <a:avLst/>
          </a:prstGeom>
        </p:spPr>
      </p:pic>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ba cách phạt, ba con số tốt nhất</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2</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Thấy bằng số: cách phạt sai quyết định nên báo trung bình, trung vị hay quantile.</a:t>
            </a:r>
          </a:p>
        </p:txBody>
      </p:sp>
      <p:sp>
        <p:nvSpPr>
          <p:cNvPr id="6" name="Rounded Rectangle 5"/>
          <p:cNvSpPr/>
          <p:nvPr/>
        </p:nvSpPr>
        <p:spPr>
          <a:xfrm>
            <a:off x="548640" y="1737360"/>
            <a:ext cx="7086600" cy="2455545"/>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35505"/>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numpy as np</a:t>
            </a:r>
          </a:p>
          <a:p>
            <a:r>
              <a:rPr sz="950">
                <a:solidFill>
                  <a:srgbClr val="6B7385"/>
                </a:solidFill>
                <a:latin typeface="Courier New"/>
              </a:rPr>
              <a:t> 2 </a:t>
            </a:r>
            <a:r>
              <a:rPr sz="950">
                <a:solidFill>
                  <a:srgbClr val="E6EAF0"/>
                </a:solidFill>
                <a:latin typeface="Courier New"/>
              </a:rPr>
              <a:t>import pandas as pd</a:t>
            </a:r>
          </a:p>
          <a:p>
            <a:r>
              <a:rPr sz="950">
                <a:solidFill>
                  <a:srgbClr val="6B7385"/>
                </a:solidFill>
                <a:latin typeface="Courier New"/>
              </a:rPr>
              <a:t> 3 </a:t>
            </a:r>
          </a:p>
          <a:p>
            <a:r>
              <a:rPr sz="950">
                <a:solidFill>
                  <a:srgbClr val="6B7385"/>
                </a:solidFill>
                <a:latin typeface="Courier New"/>
              </a:rPr>
              <a:t> 4 </a:t>
            </a:r>
            <a:r>
              <a:rPr sz="950">
                <a:solidFill>
                  <a:srgbClr val="E6EAF0"/>
                </a:solidFill>
                <a:latin typeface="Courier New"/>
              </a:rPr>
              <a:t>x9 = np.array([8, 2, 36, 5, 12, 3, 18, 6, 9])</a:t>
            </a:r>
          </a:p>
          <a:p>
            <a:r>
              <a:rPr sz="950">
                <a:solidFill>
                  <a:srgbClr val="6B7385"/>
                </a:solidFill>
                <a:latin typeface="Courier New"/>
              </a:rPr>
              <a:t> 5 </a:t>
            </a:r>
            <a:r>
              <a:rPr sz="950">
                <a:solidFill>
                  <a:srgbClr val="E6EAF0"/>
                </a:solidFill>
                <a:latin typeface="Courier New"/>
              </a:rPr>
              <a:t>s = x9.std(ddof=1)                             </a:t>
            </a:r>
            <a:r>
              <a:rPr sz="950">
                <a:solidFill>
                  <a:srgbClr val="8FC99A"/>
                </a:solidFill>
                <a:latin typeface="Courier New"/>
              </a:rPr>
              <a:t># chia n − 1</a:t>
            </a:r>
          </a:p>
          <a:p>
            <a:r>
              <a:rPr sz="950">
                <a:solidFill>
                  <a:srgbClr val="6B7385"/>
                </a:solidFill>
                <a:latin typeface="Courier New"/>
              </a:rPr>
              <a:t> 6 </a:t>
            </a:r>
          </a:p>
          <a:p>
            <a:r>
              <a:rPr sz="950">
                <a:solidFill>
                  <a:srgbClr val="6B7385"/>
                </a:solidFill>
                <a:latin typeface="Courier New"/>
              </a:rPr>
              <a:t> 7 </a:t>
            </a:r>
            <a:r>
              <a:rPr sz="950">
                <a:solidFill>
                  <a:srgbClr val="E6EAF0"/>
                </a:solidFill>
                <a:latin typeface="Courier New"/>
              </a:rPr>
              <a:t>def pinball(y, c, tau):</a:t>
            </a:r>
          </a:p>
          <a:p>
            <a:r>
              <a:rPr sz="950">
                <a:solidFill>
                  <a:srgbClr val="6B7385"/>
                </a:solidFill>
                <a:latin typeface="Courier New"/>
              </a:rPr>
              <a:t> 8 </a:t>
            </a:r>
            <a:r>
              <a:rPr sz="950">
                <a:solidFill>
                  <a:srgbClr val="E6EAF0"/>
                </a:solidFill>
                <a:latin typeface="Courier New"/>
              </a:rPr>
              <a:t>    sai = np.asarray(y, float) - c</a:t>
            </a:r>
          </a:p>
          <a:p>
            <a:r>
              <a:rPr sz="950">
                <a:solidFill>
                  <a:srgbClr val="6B7385"/>
                </a:solidFill>
                <a:latin typeface="Courier New"/>
              </a:rPr>
              <a:t> 9 </a:t>
            </a:r>
            <a:r>
              <a:rPr sz="950">
                <a:solidFill>
                  <a:srgbClr val="E6EAF0"/>
                </a:solidFill>
                <a:latin typeface="Courier New"/>
              </a:rPr>
              <a:t>    return float(np.where(sai &gt;= 0, tau * sai, (tau - 1) * sai).mean())</a:t>
            </a:r>
          </a:p>
          <a:p>
            <a:r>
              <a:rPr sz="950">
                <a:solidFill>
                  <a:srgbClr val="6B7385"/>
                </a:solidFill>
                <a:latin typeface="Courier New"/>
              </a:rPr>
              <a:t>10 </a:t>
            </a:r>
          </a:p>
          <a:p>
            <a:r>
              <a:rPr sz="950">
                <a:solidFill>
                  <a:srgbClr val="6B7385"/>
                </a:solidFill>
                <a:latin typeface="Courier New"/>
              </a:rPr>
              <a:t>11 </a:t>
            </a:r>
            <a:r>
              <a:rPr sz="950">
                <a:solidFill>
                  <a:srgbClr val="E6EAF0"/>
                </a:solidFill>
                <a:latin typeface="Courier New"/>
              </a:rPr>
              <a:t>bang = pd.DataFrame({c: {"tuyệt đối": np.abs(x9 - c).mean(),</a:t>
            </a:r>
          </a:p>
          <a:p>
            <a:r>
              <a:rPr sz="950">
                <a:solidFill>
                  <a:srgbClr val="6B7385"/>
                </a:solidFill>
                <a:latin typeface="Courier New"/>
              </a:rPr>
              <a:t>12 </a:t>
            </a:r>
            <a:r>
              <a:rPr sz="950">
                <a:solidFill>
                  <a:srgbClr val="E6EAF0"/>
                </a:solidFill>
                <a:latin typeface="Courier New"/>
              </a:rPr>
              <a:t>                         "bình phương": ((x9 - c) ** 2).mean(),</a:t>
            </a:r>
          </a:p>
          <a:p>
            <a:r>
              <a:rPr sz="950">
                <a:solidFill>
                  <a:srgbClr val="6B7385"/>
                </a:solidFill>
                <a:latin typeface="Courier New"/>
              </a:rPr>
              <a:t>13 </a:t>
            </a:r>
            <a:r>
              <a:rPr sz="950">
                <a:solidFill>
                  <a:srgbClr val="E6EAF0"/>
                </a:solidFill>
                <a:latin typeface="Courier New"/>
              </a:rPr>
              <a:t>                         "pinball 0,8": pinball(x9, c, 0.8)}</a:t>
            </a:r>
          </a:p>
          <a:p>
            <a:r>
              <a:rPr sz="950">
                <a:solidFill>
                  <a:srgbClr val="6B7385"/>
                </a:solidFill>
                <a:latin typeface="Courier New"/>
              </a:rPr>
              <a:t>14 </a:t>
            </a:r>
            <a:r>
              <a:rPr sz="950">
                <a:solidFill>
                  <a:srgbClr val="E6EAF0"/>
                </a:solidFill>
                <a:latin typeface="Courier New"/>
              </a:rPr>
              <a:t>                     for c in (8, 11, 18)}).T  </a:t>
            </a:r>
            <a:r>
              <a:rPr sz="950">
                <a:solidFill>
                  <a:srgbClr val="8FC99A"/>
                </a:solidFill>
                <a:latin typeface="Courier New"/>
              </a:rPr>
              <a:t># trung vị, TB, quantile 0,8</a:t>
            </a:r>
          </a:p>
        </p:txBody>
      </p:sp>
      <p:sp>
        <p:nvSpPr>
          <p:cNvPr id="8" name="TextBox 7"/>
          <p:cNvSpPr txBox="1"/>
          <p:nvPr/>
        </p:nvSpPr>
        <p:spPr>
          <a:xfrm>
            <a:off x="685800" y="3946017"/>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buoi-02/tu-hoc.ipynb, phần 2</a:t>
            </a:r>
          </a:p>
        </p:txBody>
      </p:sp>
      <p:sp>
        <p:nvSpPr>
          <p:cNvPr id="9" name="TextBox 8"/>
          <p:cNvSpPr txBox="1"/>
          <p:nvPr/>
        </p:nvSpPr>
        <p:spPr>
          <a:xfrm>
            <a:off x="548640" y="4302633"/>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6226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5</a:t>
            </a:r>
          </a:p>
        </p:txBody>
      </p:sp>
      <p:sp>
        <p:nvSpPr>
          <p:cNvPr id="11" name="TextBox 10"/>
          <p:cNvSpPr txBox="1"/>
          <p:nvPr/>
        </p:nvSpPr>
        <p:spPr>
          <a:xfrm>
            <a:off x="1353312" y="4604385"/>
            <a:ext cx="2697480" cy="457200"/>
          </a:xfrm>
          <a:prstGeom prst="rect">
            <a:avLst/>
          </a:prstGeom>
          <a:noFill/>
        </p:spPr>
        <p:txBody>
          <a:bodyPr wrap="square" lIns="0" rIns="0" tIns="0" bIns="0" anchor="t">
            <a:spAutoFit/>
          </a:bodyPr>
          <a:lstStyle/>
          <a:p>
            <a:pPr algn="l"/>
            <a:r>
              <a:rPr sz="1050" b="0" i="0">
                <a:solidFill>
                  <a:srgbClr val="1B2A41"/>
                </a:solidFill>
                <a:latin typeface="Arial"/>
              </a:rPr>
              <a:t>Độ lệch chuẩn mẫu, chia cho n − 1.</a:t>
            </a:r>
          </a:p>
        </p:txBody>
      </p:sp>
      <p:sp>
        <p:nvSpPr>
          <p:cNvPr id="12" name="Rounded Rectangle 11"/>
          <p:cNvSpPr/>
          <p:nvPr/>
        </p:nvSpPr>
        <p:spPr>
          <a:xfrm>
            <a:off x="548640" y="50798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7–9</a:t>
            </a:r>
          </a:p>
        </p:txBody>
      </p:sp>
      <p:sp>
        <p:nvSpPr>
          <p:cNvPr id="13" name="TextBox 12"/>
          <p:cNvSpPr txBox="1"/>
          <p:nvPr/>
        </p:nvSpPr>
        <p:spPr>
          <a:xfrm>
            <a:off x="1353312" y="5061585"/>
            <a:ext cx="2697480" cy="457200"/>
          </a:xfrm>
          <a:prstGeom prst="rect">
            <a:avLst/>
          </a:prstGeom>
          <a:noFill/>
        </p:spPr>
        <p:txBody>
          <a:bodyPr wrap="square" lIns="0" rIns="0" tIns="0" bIns="0" anchor="t">
            <a:spAutoFit/>
          </a:bodyPr>
          <a:lstStyle/>
          <a:p>
            <a:pPr algn="l"/>
            <a:r>
              <a:rPr sz="1050" b="0" i="0">
                <a:solidFill>
                  <a:srgbClr val="1B2A41"/>
                </a:solidFill>
                <a:latin typeface="Arial"/>
              </a:rPr>
              <a:t>Pinball: thiếu phạt tau, thừa phạt 1 − tau.</a:t>
            </a:r>
          </a:p>
        </p:txBody>
      </p:sp>
      <p:sp>
        <p:nvSpPr>
          <p:cNvPr id="14" name="Rounded Rectangle 13"/>
          <p:cNvSpPr/>
          <p:nvPr/>
        </p:nvSpPr>
        <p:spPr>
          <a:xfrm>
            <a:off x="4160520" y="46226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11–14</a:t>
            </a:r>
          </a:p>
        </p:txBody>
      </p:sp>
      <p:sp>
        <p:nvSpPr>
          <p:cNvPr id="15" name="TextBox 14"/>
          <p:cNvSpPr txBox="1"/>
          <p:nvPr/>
        </p:nvSpPr>
        <p:spPr>
          <a:xfrm>
            <a:off x="4965192" y="4604385"/>
            <a:ext cx="2697480" cy="457200"/>
          </a:xfrm>
          <a:prstGeom prst="rect">
            <a:avLst/>
          </a:prstGeom>
          <a:noFill/>
        </p:spPr>
        <p:txBody>
          <a:bodyPr wrap="square" lIns="0" rIns="0" tIns="0" bIns="0" anchor="t">
            <a:spAutoFit/>
          </a:bodyPr>
          <a:lstStyle/>
          <a:p>
            <a:pPr algn="l"/>
            <a:r>
              <a:rPr sz="1050" b="0" i="0">
                <a:solidFill>
                  <a:srgbClr val="1B2A41"/>
                </a:solidFill>
                <a:latin typeface="Arial"/>
              </a:rPr>
              <a:t>Báo cùng một số c cho 9 giờ, tính ba mức phạt.</a:t>
            </a:r>
          </a:p>
        </p:txBody>
      </p:sp>
      <p:sp>
        <p:nvSpPr>
          <p:cNvPr id="16" name="Rounded Rectangle 15"/>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s = 10,57. Tuyệt đối thấp nhất ở c = 8 (6,56), bình phương ở c = 11 (99,3), pinball 0,8 ở c = 18 (3,40).</a:t>
            </a:r>
          </a:p>
        </p:txBody>
      </p:sp>
      <p:sp>
        <p:nvSpPr>
          <p:cNvPr id="18" name="TextBox 17"/>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19" name="TextBox 18"/>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x.std(ddof=1)</a:t>
            </a:r>
            <a:r>
              <a:rPr sz="950" b="1" i="0">
                <a:solidFill>
                  <a:srgbClr val="5B6778"/>
                </a:solidFill>
                <a:latin typeface="Arial"/>
              </a:rPr>
              <a:t>   numpy</a:t>
            </a:r>
          </a:p>
        </p:txBody>
      </p:sp>
      <p:sp>
        <p:nvSpPr>
          <p:cNvPr id="20" name="TextBox 19"/>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Độ lệch chuẩn; ddof=1 nghĩa là chia cho n − 1 thay vì n.</a:t>
            </a:r>
          </a:p>
        </p:txBody>
      </p:sp>
      <p:sp>
        <p:nvSpPr>
          <p:cNvPr id="21" name="TextBox 20"/>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np.where(sai &gt;= 0, ...)</a:t>
            </a:r>
            <a:r>
              <a:rPr sz="950" b="1" i="0">
                <a:solidFill>
                  <a:srgbClr val="5B6778"/>
                </a:solidFill>
                <a:latin typeface="Arial"/>
              </a:rPr>
              <a:t>   numpy</a:t>
            </a:r>
          </a:p>
        </p:txBody>
      </p:sp>
      <p:sp>
        <p:nvSpPr>
          <p:cNvPr id="22" name="TextBox 21"/>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Phạt khác nhau cho dự báo thấp (sai dương) và dự báo cao.</a:t>
            </a:r>
          </a:p>
        </p:txBody>
      </p:sp>
      <p:sp>
        <p:nvSpPr>
          <p:cNvPr id="23" name="TextBox 22"/>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pd.DataFrame({...}).T</a:t>
            </a:r>
            <a:r>
              <a:rPr sz="950" b="1" i="0">
                <a:solidFill>
                  <a:srgbClr val="5B6778"/>
                </a:solidFill>
                <a:latin typeface="Arial"/>
              </a:rPr>
              <a:t>   pandas</a:t>
            </a:r>
          </a:p>
        </p:txBody>
      </p:sp>
      <p:sp>
        <p:nvSpPr>
          <p:cNvPr id="24" name="TextBox 23"/>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Dựng bảng từ từ điển rồi xoay: mỗi c một dòng.</a:t>
            </a:r>
          </a:p>
        </p:txBody>
      </p:sp>
      <p:sp>
        <p:nvSpPr>
          <p:cNvPr id="25" name="Rounded Rectangle 24"/>
          <p:cNvSpPr/>
          <p:nvPr/>
        </p:nvSpPr>
        <p:spPr>
          <a:xfrm>
            <a:off x="7863840" y="4059935"/>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0ba0af0f0f4f.png"/>
          <p:cNvPicPr>
            <a:picLocks noChangeAspect="1"/>
          </p:cNvPicPr>
          <p:nvPr/>
        </p:nvPicPr>
        <p:blipFill>
          <a:blip r:embed="rId2"/>
          <a:stretch>
            <a:fillRect/>
          </a:stretch>
        </p:blipFill>
        <p:spPr>
          <a:xfrm>
            <a:off x="7993379" y="4227575"/>
            <a:ext cx="3517392" cy="213360"/>
          </a:xfrm>
          <a:prstGeom prst="rect">
            <a:avLst/>
          </a:prstGeom>
        </p:spPr>
      </p:pic>
      <p:pic>
        <p:nvPicPr>
          <p:cNvPr id="27" name="Picture 26" descr="kn-pinball-loss.png"/>
          <p:cNvPicPr>
            <a:picLocks noChangeAspect="1"/>
          </p:cNvPicPr>
          <p:nvPr/>
        </p:nvPicPr>
        <p:blipFill>
          <a:blip r:embed="rId3"/>
          <a:stretch>
            <a:fillRect/>
          </a:stretch>
        </p:blipFill>
        <p:spPr>
          <a:xfrm>
            <a:off x="8100883" y="4745735"/>
            <a:ext cx="3302384" cy="1728216"/>
          </a:xfrm>
          <a:prstGeom prst="rect">
            <a:avLst/>
          </a:prstGeom>
        </p:spPr>
      </p:pic>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khoảng 95% và tỷ lệ phủ</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2</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Dựng khoảng từ năm 2011 hai cách, rồi đếm tỷ lệ phủ và từng đuôi trên năm chưa dùng.</a:t>
            </a:r>
          </a:p>
        </p:txBody>
      </p:sp>
      <p:sp>
        <p:nvSpPr>
          <p:cNvPr id="6" name="Rounded Rectangle 5"/>
          <p:cNvSpPr/>
          <p:nvPr/>
        </p:nvSpPr>
        <p:spPr>
          <a:xfrm>
            <a:off x="548640" y="1737360"/>
            <a:ext cx="7086600" cy="2597912"/>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277872"/>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numpy as np</a:t>
            </a:r>
          </a:p>
          <a:p>
            <a:r>
              <a:rPr sz="950">
                <a:solidFill>
                  <a:srgbClr val="6B7385"/>
                </a:solidFill>
                <a:latin typeface="Courier New"/>
              </a:rPr>
              <a:t> 2 </a:t>
            </a:r>
            <a:r>
              <a:rPr sz="950">
                <a:solidFill>
                  <a:srgbClr val="E6EAF0"/>
                </a:solidFill>
                <a:latin typeface="Courier New"/>
              </a:rPr>
              <a:t>import pandas as pd</a:t>
            </a:r>
          </a:p>
          <a:p>
            <a:r>
              <a:rPr sz="950">
                <a:solidFill>
                  <a:srgbClr val="6B7385"/>
                </a:solidFill>
                <a:latin typeface="Courier New"/>
              </a:rPr>
              <a:t> 3 </a:t>
            </a:r>
          </a:p>
          <a:p>
            <a:r>
              <a:rPr sz="950">
                <a:solidFill>
                  <a:srgbClr val="6B7385"/>
                </a:solidFill>
                <a:latin typeface="Courier New"/>
              </a:rPr>
              <a:t> 4 </a:t>
            </a:r>
            <a:r>
              <a:rPr sz="950">
                <a:solidFill>
                  <a:srgbClr val="8FC99A"/>
                </a:solidFill>
                <a:latin typeface="Courier New"/>
              </a:rPr>
              <a:t># h: bảng lượt thuê theo giờ; yr = 0 là 2011, yr = 1 là 2012</a:t>
            </a:r>
          </a:p>
          <a:p>
            <a:r>
              <a:rPr sz="950">
                <a:solidFill>
                  <a:srgbClr val="6B7385"/>
                </a:solidFill>
                <a:latin typeface="Courier New"/>
              </a:rPr>
              <a:t> 5 </a:t>
            </a:r>
            <a:r>
              <a:rPr sz="950">
                <a:solidFill>
                  <a:srgbClr val="E6EAF0"/>
                </a:solidFill>
                <a:latin typeface="Courier New"/>
              </a:rPr>
              <a:t>cach = {"±1,96s": lambda x: (x.mean() - 1.96 * x.std(ddof=1),</a:t>
            </a:r>
          </a:p>
          <a:p>
            <a:r>
              <a:rPr sz="950">
                <a:solidFill>
                  <a:srgbClr val="6B7385"/>
                </a:solidFill>
                <a:latin typeface="Courier New"/>
              </a:rPr>
              <a:t> 6 </a:t>
            </a:r>
            <a:r>
              <a:rPr sz="950">
                <a:solidFill>
                  <a:srgbClr val="E6EAF0"/>
                </a:solidFill>
                <a:latin typeface="Courier New"/>
              </a:rPr>
              <a:t>                             x.mean() + 1.96 * x.std(ddof=1)),</a:t>
            </a:r>
          </a:p>
          <a:p>
            <a:r>
              <a:rPr sz="950">
                <a:solidFill>
                  <a:srgbClr val="6B7385"/>
                </a:solidFill>
                <a:latin typeface="Courier New"/>
              </a:rPr>
              <a:t> 7 </a:t>
            </a:r>
            <a:r>
              <a:rPr sz="950">
                <a:solidFill>
                  <a:srgbClr val="E6EAF0"/>
                </a:solidFill>
                <a:latin typeface="Courier New"/>
              </a:rPr>
              <a:t>        "quantile": lambda x: tuple(np.quantile(x, [0.025, 0.975]))}</a:t>
            </a:r>
          </a:p>
          <a:p>
            <a:r>
              <a:rPr sz="950">
                <a:solidFill>
                  <a:srgbClr val="6B7385"/>
                </a:solidFill>
                <a:latin typeface="Courier New"/>
              </a:rPr>
              <a:t> 8 </a:t>
            </a:r>
            <a:r>
              <a:rPr sz="950">
                <a:solidFill>
                  <a:srgbClr val="E6EAF0"/>
                </a:solidFill>
                <a:latin typeface="Courier New"/>
              </a:rPr>
              <a:t>n11, n12 = h[h.yr == 0], h[h.yr == 1]</a:t>
            </a:r>
          </a:p>
          <a:p>
            <a:r>
              <a:rPr sz="950">
                <a:solidFill>
                  <a:srgbClr val="6B7385"/>
                </a:solidFill>
                <a:latin typeface="Courier New"/>
              </a:rPr>
              <a:t> 9 </a:t>
            </a:r>
            <a:r>
              <a:rPr sz="950">
                <a:solidFill>
                  <a:srgbClr val="E6EAF0"/>
                </a:solidFill>
                <a:latin typeface="Courier New"/>
              </a:rPr>
              <a:t>for ten, f in cach.items():</a:t>
            </a:r>
          </a:p>
          <a:p>
            <a:r>
              <a:rPr sz="950">
                <a:solidFill>
                  <a:srgbClr val="6B7385"/>
                </a:solidFill>
                <a:latin typeface="Courier New"/>
              </a:rPr>
              <a:t>10 </a:t>
            </a:r>
            <a:r>
              <a:rPr sz="950">
                <a:solidFill>
                  <a:srgbClr val="E6EAF0"/>
                </a:solidFill>
                <a:latin typeface="Courier New"/>
              </a:rPr>
              <a:t>    k = pd.DataFrame([(g, *f(nhom["cnt"])) for g, nhom in n11.groupby("hr")],</a:t>
            </a:r>
          </a:p>
          <a:p>
            <a:r>
              <a:rPr sz="950">
                <a:solidFill>
                  <a:srgbClr val="6B7385"/>
                </a:solidFill>
                <a:latin typeface="Courier New"/>
              </a:rPr>
              <a:t>11 </a:t>
            </a:r>
            <a:r>
              <a:rPr sz="950">
                <a:solidFill>
                  <a:srgbClr val="E6EAF0"/>
                </a:solidFill>
                <a:latin typeface="Courier New"/>
              </a:rPr>
              <a:t>                     columns=["hr", "lo", "hi"])        </a:t>
            </a:r>
            <a:r>
              <a:rPr sz="950">
                <a:solidFill>
                  <a:srgbClr val="8FC99A"/>
                </a:solidFill>
                <a:latin typeface="Courier New"/>
              </a:rPr>
              <a:t># dựng từ 2011</a:t>
            </a:r>
          </a:p>
          <a:p>
            <a:r>
              <a:rPr sz="950">
                <a:solidFill>
                  <a:srgbClr val="6B7385"/>
                </a:solidFill>
                <a:latin typeface="Courier New"/>
              </a:rPr>
              <a:t>12 </a:t>
            </a:r>
            <a:r>
              <a:rPr sz="950">
                <a:solidFill>
                  <a:srgbClr val="E6EAF0"/>
                </a:solidFill>
                <a:latin typeface="Courier New"/>
              </a:rPr>
              <a:t>    for du in (n11, n12):</a:t>
            </a:r>
          </a:p>
          <a:p>
            <a:r>
              <a:rPr sz="950">
                <a:solidFill>
                  <a:srgbClr val="6B7385"/>
                </a:solidFill>
                <a:latin typeface="Courier New"/>
              </a:rPr>
              <a:t>13 </a:t>
            </a:r>
            <a:r>
              <a:rPr sz="950">
                <a:solidFill>
                  <a:srgbClr val="E6EAF0"/>
                </a:solidFill>
                <a:latin typeface="Courier New"/>
              </a:rPr>
              <a:t>        m = du.merge(k, on="hr")</a:t>
            </a:r>
          </a:p>
          <a:p>
            <a:r>
              <a:rPr sz="950">
                <a:solidFill>
                  <a:srgbClr val="6B7385"/>
                </a:solidFill>
                <a:latin typeface="Courier New"/>
              </a:rPr>
              <a:t>14 </a:t>
            </a:r>
            <a:r>
              <a:rPr sz="950">
                <a:solidFill>
                  <a:srgbClr val="E6EAF0"/>
                </a:solidFill>
                <a:latin typeface="Courier New"/>
              </a:rPr>
              <a:t>        phu = np.mean((m.cnt &gt;= m.lo) &amp; (m.cnt &lt;= m.hi))</a:t>
            </a:r>
          </a:p>
          <a:p>
            <a:r>
              <a:rPr sz="950">
                <a:solidFill>
                  <a:srgbClr val="6B7385"/>
                </a:solidFill>
                <a:latin typeface="Courier New"/>
              </a:rPr>
              <a:t>15 </a:t>
            </a:r>
            <a:r>
              <a:rPr sz="950">
                <a:solidFill>
                  <a:srgbClr val="E6EAF0"/>
                </a:solidFill>
                <a:latin typeface="Courier New"/>
              </a:rPr>
              <a:t>        duoi, tren = np.mean(m.cnt &lt; m.lo), np.mean(m.cnt &gt; m.hi)</a:t>
            </a:r>
          </a:p>
        </p:txBody>
      </p:sp>
      <p:sp>
        <p:nvSpPr>
          <p:cNvPr id="8" name="TextBox 7"/>
          <p:cNvSpPr txBox="1"/>
          <p:nvPr/>
        </p:nvSpPr>
        <p:spPr>
          <a:xfrm>
            <a:off x="685800" y="4088384"/>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buoi-02/tu-hoc.ipynb, phần 3</a:t>
            </a:r>
          </a:p>
        </p:txBody>
      </p:sp>
      <p:sp>
        <p:nvSpPr>
          <p:cNvPr id="9" name="TextBox 8"/>
          <p:cNvSpPr txBox="1"/>
          <p:nvPr/>
        </p:nvSpPr>
        <p:spPr>
          <a:xfrm>
            <a:off x="548640" y="4445000"/>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5–7</a:t>
            </a:r>
          </a:p>
        </p:txBody>
      </p:sp>
      <p:sp>
        <p:nvSpPr>
          <p:cNvPr id="11" name="TextBox 10"/>
          <p:cNvSpPr txBox="1"/>
          <p:nvPr/>
        </p:nvSpPr>
        <p:spPr>
          <a:xfrm>
            <a:off x="1353312" y="4746752"/>
            <a:ext cx="2697480" cy="347133"/>
          </a:xfrm>
          <a:prstGeom prst="rect">
            <a:avLst/>
          </a:prstGeom>
          <a:noFill/>
        </p:spPr>
        <p:txBody>
          <a:bodyPr wrap="square" lIns="0" rIns="0" tIns="0" bIns="0" anchor="t">
            <a:spAutoFit/>
          </a:bodyPr>
          <a:lstStyle/>
          <a:p>
            <a:pPr algn="l"/>
            <a:r>
              <a:rPr sz="1050" b="0" i="0">
                <a:solidFill>
                  <a:srgbClr val="1B2A41"/>
                </a:solidFill>
                <a:latin typeface="Arial"/>
              </a:rPr>
              <a:t>Hai cách dựng khoảng: công thức và quantile.</a:t>
            </a:r>
          </a:p>
        </p:txBody>
      </p:sp>
      <p:sp>
        <p:nvSpPr>
          <p:cNvPr id="12" name="Rounded Rectangle 11"/>
          <p:cNvSpPr/>
          <p:nvPr/>
        </p:nvSpPr>
        <p:spPr>
          <a:xfrm>
            <a:off x="548640" y="51121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10–11</a:t>
            </a:r>
          </a:p>
        </p:txBody>
      </p:sp>
      <p:sp>
        <p:nvSpPr>
          <p:cNvPr id="13" name="TextBox 12"/>
          <p:cNvSpPr txBox="1"/>
          <p:nvPr/>
        </p:nvSpPr>
        <p:spPr>
          <a:xfrm>
            <a:off x="1353312" y="5093885"/>
            <a:ext cx="2697480" cy="347133"/>
          </a:xfrm>
          <a:prstGeom prst="rect">
            <a:avLst/>
          </a:prstGeom>
          <a:noFill/>
        </p:spPr>
        <p:txBody>
          <a:bodyPr wrap="square" lIns="0" rIns="0" tIns="0" bIns="0" anchor="t">
            <a:spAutoFit/>
          </a:bodyPr>
          <a:lstStyle/>
          <a:p>
            <a:pPr algn="l"/>
            <a:r>
              <a:rPr sz="1050" b="0" i="0">
                <a:solidFill>
                  <a:srgbClr val="1B2A41"/>
                </a:solidFill>
                <a:latin typeface="Arial"/>
              </a:rPr>
              <a:t>Mỗi giờ trong ngày một khoảng, chỉ từ 2011.</a:t>
            </a:r>
          </a:p>
        </p:txBody>
      </p:sp>
      <p:sp>
        <p:nvSpPr>
          <p:cNvPr id="14" name="Rounded Rectangle 13"/>
          <p:cNvSpPr/>
          <p:nvPr/>
        </p:nvSpPr>
        <p:spPr>
          <a:xfrm>
            <a:off x="548640" y="54593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13</a:t>
            </a:r>
          </a:p>
        </p:txBody>
      </p:sp>
      <p:sp>
        <p:nvSpPr>
          <p:cNvPr id="15" name="TextBox 14"/>
          <p:cNvSpPr txBox="1"/>
          <p:nvPr/>
        </p:nvSpPr>
        <p:spPr>
          <a:xfrm>
            <a:off x="1353312" y="5441018"/>
            <a:ext cx="2697480" cy="347133"/>
          </a:xfrm>
          <a:prstGeom prst="rect">
            <a:avLst/>
          </a:prstGeom>
          <a:noFill/>
        </p:spPr>
        <p:txBody>
          <a:bodyPr wrap="square" lIns="0" rIns="0" tIns="0" bIns="0" anchor="t">
            <a:spAutoFit/>
          </a:bodyPr>
          <a:lstStyle/>
          <a:p>
            <a:pPr algn="l"/>
            <a:r>
              <a:rPr sz="1050" b="0" i="0">
                <a:solidFill>
                  <a:srgbClr val="1B2A41"/>
                </a:solidFill>
                <a:latin typeface="Arial"/>
              </a:rPr>
              <a:t>Gắn khoảng của đúng giờ vào từng dòng.</a:t>
            </a:r>
          </a:p>
        </p:txBody>
      </p:sp>
      <p:sp>
        <p:nvSpPr>
          <p:cNvPr id="16" name="Rounded Rectangle 15"/>
          <p:cNvSpPr/>
          <p:nvPr/>
        </p:nvSpPr>
        <p:spPr>
          <a:xfrm>
            <a:off x="416052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14</a:t>
            </a:r>
          </a:p>
        </p:txBody>
      </p:sp>
      <p:sp>
        <p:nvSpPr>
          <p:cNvPr id="17" name="TextBox 16"/>
          <p:cNvSpPr txBox="1"/>
          <p:nvPr/>
        </p:nvSpPr>
        <p:spPr>
          <a:xfrm>
            <a:off x="4965192" y="4746752"/>
            <a:ext cx="2697480" cy="347133"/>
          </a:xfrm>
          <a:prstGeom prst="rect">
            <a:avLst/>
          </a:prstGeom>
          <a:noFill/>
        </p:spPr>
        <p:txBody>
          <a:bodyPr wrap="square" lIns="0" rIns="0" tIns="0" bIns="0" anchor="t">
            <a:spAutoFit/>
          </a:bodyPr>
          <a:lstStyle/>
          <a:p>
            <a:pPr algn="l"/>
            <a:r>
              <a:rPr sz="1050" b="0" i="0">
                <a:solidFill>
                  <a:srgbClr val="1B2A41"/>
                </a:solidFill>
                <a:latin typeface="Arial"/>
              </a:rPr>
              <a:t>Tỷ lệ phủ: thật rơi vào trong khoảng.</a:t>
            </a:r>
          </a:p>
        </p:txBody>
      </p:sp>
      <p:sp>
        <p:nvSpPr>
          <p:cNvPr id="18" name="Rounded Rectangle 17"/>
          <p:cNvSpPr/>
          <p:nvPr/>
        </p:nvSpPr>
        <p:spPr>
          <a:xfrm>
            <a:off x="4160520" y="51121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15</a:t>
            </a:r>
          </a:p>
        </p:txBody>
      </p:sp>
      <p:sp>
        <p:nvSpPr>
          <p:cNvPr id="19" name="TextBox 18"/>
          <p:cNvSpPr txBox="1"/>
          <p:nvPr/>
        </p:nvSpPr>
        <p:spPr>
          <a:xfrm>
            <a:off x="4965192" y="5093885"/>
            <a:ext cx="2697480" cy="347133"/>
          </a:xfrm>
          <a:prstGeom prst="rect">
            <a:avLst/>
          </a:prstGeom>
          <a:noFill/>
        </p:spPr>
        <p:txBody>
          <a:bodyPr wrap="square" lIns="0" rIns="0" tIns="0" bIns="0" anchor="t">
            <a:spAutoFit/>
          </a:bodyPr>
          <a:lstStyle/>
          <a:p>
            <a:pPr algn="l"/>
            <a:r>
              <a:rPr sz="1050" b="0" i="0">
                <a:solidFill>
                  <a:srgbClr val="1B2A41"/>
                </a:solidFill>
                <a:latin typeface="Arial"/>
              </a:rPr>
              <a:t>Đếm riêng hai đuôi để biết lệch phía nào.</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Trên 2011: ±1,96s phủ 96,4%, quantile 95,3%. Trên 2012: chỉ 72,5% và 70,1%, vượt trên 27,4% và 29,3%.</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np.quantile(x, [0.025, 0.975])</a:t>
            </a:r>
            <a:r>
              <a:rPr sz="950" b="1" i="0">
                <a:solidFill>
                  <a:srgbClr val="5B6778"/>
                </a:solidFill>
                <a:latin typeface="Arial"/>
              </a:rPr>
              <a:t>   numpy</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Lấy hai mốc chặn 2,5% dưới và 2,5% trên của lịch sử.</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groupby("hr")</a:t>
            </a:r>
            <a:r>
              <a:rPr sz="950" b="1" i="0">
                <a:solidFill>
                  <a:srgbClr val="5B6778"/>
                </a:solidFill>
                <a:latin typeface="Arial"/>
              </a:rPr>
              <a:t>   pandas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Chia bảng theo giờ trong ngày để mỗi giờ có khoảng riêng.</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merge(k, on="hr")</a:t>
            </a:r>
            <a:r>
              <a:rPr sz="950" b="1" i="0">
                <a:solidFill>
                  <a:srgbClr val="5B6778"/>
                </a:solidFill>
                <a:latin typeface="Arial"/>
              </a:rPr>
              <a:t>   pandas</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Nối hai bảng theo cột chung hr, như dò bảng.</a:t>
            </a:r>
          </a:p>
        </p:txBody>
      </p:sp>
      <p:sp>
        <p:nvSpPr>
          <p:cNvPr id="29" name="Rounded Rectangle 28"/>
          <p:cNvSpPr/>
          <p:nvPr/>
        </p:nvSpPr>
        <p:spPr>
          <a:xfrm>
            <a:off x="7863840" y="4059935"/>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7202fd44b4d5.png"/>
          <p:cNvPicPr>
            <a:picLocks noChangeAspect="1"/>
          </p:cNvPicPr>
          <p:nvPr/>
        </p:nvPicPr>
        <p:blipFill>
          <a:blip r:embed="rId2"/>
          <a:stretch>
            <a:fillRect/>
          </a:stretch>
        </p:blipFill>
        <p:spPr>
          <a:xfrm>
            <a:off x="9232392" y="4227575"/>
            <a:ext cx="1039368" cy="213360"/>
          </a:xfrm>
          <a:prstGeom prst="rect">
            <a:avLst/>
          </a:prstGeom>
        </p:spPr>
      </p:pic>
      <p:pic>
        <p:nvPicPr>
          <p:cNvPr id="31" name="Picture 30" descr="kn-ty-le-phu.png"/>
          <p:cNvPicPr>
            <a:picLocks noChangeAspect="1"/>
          </p:cNvPicPr>
          <p:nvPr/>
        </p:nvPicPr>
        <p:blipFill>
          <a:blip r:embed="rId3"/>
          <a:stretch>
            <a:fillRect/>
          </a:stretch>
        </p:blipFill>
        <p:spPr>
          <a:xfrm>
            <a:off x="8409319" y="4745735"/>
            <a:ext cx="2685512" cy="1728216"/>
          </a:xfrm>
          <a:prstGeom prst="rect">
            <a:avLst/>
          </a:prstGeom>
        </p:spPr>
      </p:pic>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hệ số r và tự tương quan</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2</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Đo r bằng NumPy, thấy r bỏ sót quan hệ cong, và cao giả khi có biến gây nhiễu.</a:t>
            </a:r>
          </a:p>
        </p:txBody>
      </p:sp>
      <p:sp>
        <p:nvSpPr>
          <p:cNvPr id="6" name="Rounded Rectangle 5"/>
          <p:cNvSpPr/>
          <p:nvPr/>
        </p:nvSpPr>
        <p:spPr>
          <a:xfrm>
            <a:off x="548640" y="1737360"/>
            <a:ext cx="7086600" cy="2365629"/>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045588"/>
          </a:xfrm>
          <a:prstGeom prst="rect">
            <a:avLst/>
          </a:prstGeom>
          <a:noFill/>
        </p:spPr>
        <p:txBody>
          <a:bodyPr wrap="none" lIns="0" rIns="0" tIns="0" bIns="0">
            <a:spAutoFit/>
          </a:bodyPr>
          <a:lstStyle/>
          <a:p>
            <a:r>
              <a:rPr sz="1050">
                <a:solidFill>
                  <a:srgbClr val="6B7385"/>
                </a:solidFill>
                <a:latin typeface="Courier New"/>
              </a:rPr>
              <a:t> 1 </a:t>
            </a:r>
            <a:r>
              <a:rPr sz="1050">
                <a:solidFill>
                  <a:srgbClr val="E6EAF0"/>
                </a:solidFill>
                <a:latin typeface="Courier New"/>
              </a:rPr>
              <a:t>import numpy as np</a:t>
            </a:r>
          </a:p>
          <a:p>
            <a:r>
              <a:rPr sz="1050">
                <a:solidFill>
                  <a:srgbClr val="6B7385"/>
                </a:solidFill>
                <a:latin typeface="Courier New"/>
              </a:rPr>
              <a:t> 2 </a:t>
            </a:r>
          </a:p>
          <a:p>
            <a:r>
              <a:rPr sz="1050">
                <a:solidFill>
                  <a:srgbClr val="6B7385"/>
                </a:solidFill>
                <a:latin typeface="Courier New"/>
              </a:rPr>
              <a:t> 3 </a:t>
            </a:r>
            <a:r>
              <a:rPr sz="1050">
                <a:solidFill>
                  <a:srgbClr val="E6EAF0"/>
                </a:solidFill>
                <a:latin typeface="Courier New"/>
              </a:rPr>
              <a:t>xu = np.array([-2, -1, 0, 1, 2])</a:t>
            </a:r>
          </a:p>
          <a:p>
            <a:r>
              <a:rPr sz="1050">
                <a:solidFill>
                  <a:srgbClr val="6B7385"/>
                </a:solidFill>
                <a:latin typeface="Courier New"/>
              </a:rPr>
              <a:t> 4 </a:t>
            </a:r>
            <a:r>
              <a:rPr sz="1050">
                <a:solidFill>
                  <a:srgbClr val="E6EAF0"/>
                </a:solidFill>
                <a:latin typeface="Courier New"/>
              </a:rPr>
              <a:t>np.corrcoef(xu, xu**2)[0, 1]                   </a:t>
            </a:r>
            <a:r>
              <a:rPr sz="1050">
                <a:solidFill>
                  <a:srgbClr val="8FC99A"/>
                </a:solidFill>
                <a:latin typeface="Courier New"/>
              </a:rPr>
              <a:t># cong hoàn toàn mà r = 0</a:t>
            </a:r>
          </a:p>
          <a:p>
            <a:r>
              <a:rPr sz="1050">
                <a:solidFill>
                  <a:srgbClr val="6B7385"/>
                </a:solidFill>
                <a:latin typeface="Courier New"/>
              </a:rPr>
              <a:t> 5 </a:t>
            </a:r>
            <a:r>
              <a:rPr sz="1050">
                <a:solidFill>
                  <a:srgbClr val="8FC99A"/>
                </a:solidFill>
                <a:latin typeface="Courier New"/>
              </a:rPr>
              <a:t># h: bảng lượt thuê theo giờ, có cột temp, hr, cnt</a:t>
            </a:r>
          </a:p>
          <a:p>
            <a:r>
              <a:rPr sz="1050">
                <a:solidFill>
                  <a:srgbClr val="6B7385"/>
                </a:solidFill>
                <a:latin typeface="Courier New"/>
              </a:rPr>
              <a:t> 6 </a:t>
            </a:r>
            <a:r>
              <a:rPr sz="1050">
                <a:solidFill>
                  <a:srgbClr val="E6EAF0"/>
                </a:solidFill>
                <a:latin typeface="Courier New"/>
              </a:rPr>
              <a:t>g17 = h[h.hr == 17]                            </a:t>
            </a:r>
            <a:r>
              <a:rPr sz="1050">
                <a:solidFill>
                  <a:srgbClr val="8FC99A"/>
                </a:solidFill>
                <a:latin typeface="Courier New"/>
              </a:rPr>
              <a:t># giữ cố định giờ</a:t>
            </a:r>
          </a:p>
          <a:p>
            <a:r>
              <a:rPr sz="1050">
                <a:solidFill>
                  <a:srgbClr val="6B7385"/>
                </a:solidFill>
                <a:latin typeface="Courier New"/>
              </a:rPr>
              <a:t> 7 </a:t>
            </a:r>
            <a:r>
              <a:rPr sz="1050">
                <a:solidFill>
                  <a:srgbClr val="E6EAF0"/>
                </a:solidFill>
                <a:latin typeface="Courier New"/>
              </a:rPr>
              <a:t>r_nhiet = np.corrcoef(h.temp, h.cnt)[0, 1]</a:t>
            </a:r>
          </a:p>
          <a:p>
            <a:r>
              <a:rPr sz="1050">
                <a:solidFill>
                  <a:srgbClr val="6B7385"/>
                </a:solidFill>
                <a:latin typeface="Courier New"/>
              </a:rPr>
              <a:t> 8 </a:t>
            </a:r>
            <a:r>
              <a:rPr sz="1050">
                <a:solidFill>
                  <a:srgbClr val="E6EAF0"/>
                </a:solidFill>
                <a:latin typeface="Courier New"/>
              </a:rPr>
              <a:t>r_nhiet_17 = np.corrcoef(g17.temp, g17.cnt)[0, 1]</a:t>
            </a:r>
          </a:p>
          <a:p>
            <a:r>
              <a:rPr sz="1050">
                <a:solidFill>
                  <a:srgbClr val="6B7385"/>
                </a:solidFill>
                <a:latin typeface="Courier New"/>
              </a:rPr>
              <a:t> 9 </a:t>
            </a:r>
            <a:r>
              <a:rPr sz="1050">
                <a:solidFill>
                  <a:srgbClr val="E6EAF0"/>
                </a:solidFill>
                <a:latin typeface="Courier New"/>
              </a:rPr>
              <a:t>r_gio = np.corrcoef(h.hr, h.cnt)[0, 1]         </a:t>
            </a:r>
            <a:r>
              <a:rPr sz="1050">
                <a:solidFill>
                  <a:srgbClr val="8FC99A"/>
                </a:solidFill>
                <a:latin typeface="Courier New"/>
              </a:rPr>
              <a:t># mạnh nhưng cong</a:t>
            </a:r>
          </a:p>
          <a:p>
            <a:r>
              <a:rPr sz="1050">
                <a:solidFill>
                  <a:srgbClr val="6B7385"/>
                </a:solidFill>
                <a:latin typeface="Courier New"/>
              </a:rPr>
              <a:t>10 </a:t>
            </a:r>
            <a:r>
              <a:rPr sz="1050">
                <a:solidFill>
                  <a:srgbClr val="E6EAF0"/>
                </a:solidFill>
                <a:latin typeface="Courier New"/>
              </a:rPr>
              <a:t>y = h["cnt"].to_numpy(float)</a:t>
            </a:r>
          </a:p>
          <a:p>
            <a:r>
              <a:rPr sz="1050">
                <a:solidFill>
                  <a:srgbClr val="6B7385"/>
                </a:solidFill>
                <a:latin typeface="Courier New"/>
              </a:rPr>
              <a:t>11 </a:t>
            </a:r>
            <a:r>
              <a:rPr sz="1050">
                <a:solidFill>
                  <a:srgbClr val="E6EAF0"/>
                </a:solidFill>
                <a:latin typeface="Courier New"/>
              </a:rPr>
              <a:t>dc = y - y.mean()                              </a:t>
            </a:r>
            <a:r>
              <a:rPr sz="1050">
                <a:solidFill>
                  <a:srgbClr val="8FC99A"/>
                </a:solidFill>
                <a:latin typeface="Courier New"/>
              </a:rPr>
              <a:t># độ lệch khỏi trung bình</a:t>
            </a:r>
          </a:p>
          <a:p>
            <a:r>
              <a:rPr sz="1050">
                <a:solidFill>
                  <a:srgbClr val="6B7385"/>
                </a:solidFill>
                <a:latin typeface="Courier New"/>
              </a:rPr>
              <a:t>12 </a:t>
            </a:r>
            <a:r>
              <a:rPr sz="1050">
                <a:solidFill>
                  <a:srgbClr val="E6EAF0"/>
                </a:solidFill>
                <a:latin typeface="Courier New"/>
              </a:rPr>
              <a:t>tu_tq = (dc[1:] * dc[:-1]).sum() / (dc**2).sum()   </a:t>
            </a:r>
            <a:r>
              <a:rPr sz="1050">
                <a:solidFill>
                  <a:srgbClr val="8FC99A"/>
                </a:solidFill>
                <a:latin typeface="Courier New"/>
              </a:rPr>
              <a:t># giờ này, giờ trước</a:t>
            </a:r>
          </a:p>
        </p:txBody>
      </p:sp>
      <p:sp>
        <p:nvSpPr>
          <p:cNvPr id="8" name="TextBox 7"/>
          <p:cNvSpPr txBox="1"/>
          <p:nvPr/>
        </p:nvSpPr>
        <p:spPr>
          <a:xfrm>
            <a:off x="685800" y="3856100"/>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buoi-02/tu-hoc.ipynb, phần 4</a:t>
            </a:r>
          </a:p>
        </p:txBody>
      </p:sp>
      <p:sp>
        <p:nvSpPr>
          <p:cNvPr id="9" name="TextBox 8"/>
          <p:cNvSpPr txBox="1"/>
          <p:nvPr/>
        </p:nvSpPr>
        <p:spPr>
          <a:xfrm>
            <a:off x="548640" y="4212716"/>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53275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3–4</a:t>
            </a:r>
          </a:p>
        </p:txBody>
      </p:sp>
      <p:sp>
        <p:nvSpPr>
          <p:cNvPr id="11" name="TextBox 10"/>
          <p:cNvSpPr txBox="1"/>
          <p:nvPr/>
        </p:nvSpPr>
        <p:spPr>
          <a:xfrm>
            <a:off x="1353312" y="4514469"/>
            <a:ext cx="2697480" cy="457200"/>
          </a:xfrm>
          <a:prstGeom prst="rect">
            <a:avLst/>
          </a:prstGeom>
          <a:noFill/>
        </p:spPr>
        <p:txBody>
          <a:bodyPr wrap="square" lIns="0" rIns="0" tIns="0" bIns="0" anchor="t">
            <a:spAutoFit/>
          </a:bodyPr>
          <a:lstStyle/>
          <a:p>
            <a:pPr algn="l"/>
            <a:r>
              <a:rPr sz="1050" b="0" i="0">
                <a:solidFill>
                  <a:srgbClr val="1B2A41"/>
                </a:solidFill>
                <a:latin typeface="Arial"/>
              </a:rPr>
              <a:t>y = x² phụ thuộc hẳn vào x mà r bằng 0.</a:t>
            </a:r>
          </a:p>
        </p:txBody>
      </p:sp>
      <p:sp>
        <p:nvSpPr>
          <p:cNvPr id="12" name="Rounded Rectangle 11"/>
          <p:cNvSpPr/>
          <p:nvPr/>
        </p:nvSpPr>
        <p:spPr>
          <a:xfrm>
            <a:off x="548640" y="498995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6–8</a:t>
            </a:r>
          </a:p>
        </p:txBody>
      </p:sp>
      <p:sp>
        <p:nvSpPr>
          <p:cNvPr id="13" name="TextBox 12"/>
          <p:cNvSpPr txBox="1"/>
          <p:nvPr/>
        </p:nvSpPr>
        <p:spPr>
          <a:xfrm>
            <a:off x="1353312" y="4971669"/>
            <a:ext cx="2697480" cy="457200"/>
          </a:xfrm>
          <a:prstGeom prst="rect">
            <a:avLst/>
          </a:prstGeom>
          <a:noFill/>
        </p:spPr>
        <p:txBody>
          <a:bodyPr wrap="square" lIns="0" rIns="0" tIns="0" bIns="0" anchor="t">
            <a:spAutoFit/>
          </a:bodyPr>
          <a:lstStyle/>
          <a:p>
            <a:pPr algn="l"/>
            <a:r>
              <a:rPr sz="1050" b="0" i="0">
                <a:solidFill>
                  <a:srgbClr val="1B2A41"/>
                </a:solidFill>
                <a:latin typeface="Arial"/>
              </a:rPr>
              <a:t>r nhiệt độ: mọi giờ, rồi chỉ lúc 17h.</a:t>
            </a:r>
          </a:p>
        </p:txBody>
      </p:sp>
      <p:sp>
        <p:nvSpPr>
          <p:cNvPr id="14" name="Rounded Rectangle 13"/>
          <p:cNvSpPr/>
          <p:nvPr/>
        </p:nvSpPr>
        <p:spPr>
          <a:xfrm>
            <a:off x="4160520" y="453275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9</a:t>
            </a:r>
          </a:p>
        </p:txBody>
      </p:sp>
      <p:sp>
        <p:nvSpPr>
          <p:cNvPr id="15" name="TextBox 14"/>
          <p:cNvSpPr txBox="1"/>
          <p:nvPr/>
        </p:nvSpPr>
        <p:spPr>
          <a:xfrm>
            <a:off x="4965192" y="4514469"/>
            <a:ext cx="2697480" cy="457200"/>
          </a:xfrm>
          <a:prstGeom prst="rect">
            <a:avLst/>
          </a:prstGeom>
          <a:noFill/>
        </p:spPr>
        <p:txBody>
          <a:bodyPr wrap="square" lIns="0" rIns="0" tIns="0" bIns="0" anchor="t">
            <a:spAutoFit/>
          </a:bodyPr>
          <a:lstStyle/>
          <a:p>
            <a:pPr algn="l"/>
            <a:r>
              <a:rPr sz="1050" b="0" i="0">
                <a:solidFill>
                  <a:srgbClr val="1B2A41"/>
                </a:solidFill>
                <a:latin typeface="Arial"/>
              </a:rPr>
              <a:t>Giờ trong ngày quyết định mạnh nhưng r thấp.</a:t>
            </a:r>
          </a:p>
        </p:txBody>
      </p:sp>
      <p:sp>
        <p:nvSpPr>
          <p:cNvPr id="16" name="Rounded Rectangle 15"/>
          <p:cNvSpPr/>
          <p:nvPr/>
        </p:nvSpPr>
        <p:spPr>
          <a:xfrm>
            <a:off x="4160520" y="498995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10–12</a:t>
            </a:r>
          </a:p>
        </p:txBody>
      </p:sp>
      <p:sp>
        <p:nvSpPr>
          <p:cNvPr id="17" name="TextBox 16"/>
          <p:cNvSpPr txBox="1"/>
          <p:nvPr/>
        </p:nvSpPr>
        <p:spPr>
          <a:xfrm>
            <a:off x="4965192" y="4971669"/>
            <a:ext cx="2697480" cy="457200"/>
          </a:xfrm>
          <a:prstGeom prst="rect">
            <a:avLst/>
          </a:prstGeom>
          <a:noFill/>
        </p:spPr>
        <p:txBody>
          <a:bodyPr wrap="square" lIns="0" rIns="0" tIns="0" bIns="0" anchor="t">
            <a:spAutoFit/>
          </a:bodyPr>
          <a:lstStyle/>
          <a:p>
            <a:pPr algn="l"/>
            <a:r>
              <a:rPr sz="1050" b="0" i="0">
                <a:solidFill>
                  <a:srgbClr val="1B2A41"/>
                </a:solidFill>
                <a:latin typeface="Arial"/>
              </a:rPr>
              <a:t>Tự tương quan trễ 1 tính tay bằng NumPy.</a:t>
            </a:r>
          </a:p>
        </p:txBody>
      </p:sp>
      <p:sp>
        <p:nvSpPr>
          <p:cNvPr id="18" name="Rounded Rectangle 17"/>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y = x² cho r = 0. Nhiệt độ: mọi giờ r = 0,405, chỉ 17h r = 0,588. Giờ trong ngày r = 0,394. Tự tương quan trễ 1: 0,844.</a:t>
            </a:r>
          </a:p>
        </p:txBody>
      </p:sp>
      <p:sp>
        <p:nvSpPr>
          <p:cNvPr id="20" name="TextBox 19"/>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1" name="TextBox 20"/>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np.corrcoef(x, y)[0, 1]</a:t>
            </a:r>
            <a:r>
              <a:rPr sz="950" b="1" i="0">
                <a:solidFill>
                  <a:srgbClr val="5B6778"/>
                </a:solidFill>
                <a:latin typeface="Arial"/>
              </a:rPr>
              <a:t>   numpy</a:t>
            </a:r>
          </a:p>
        </p:txBody>
      </p:sp>
      <p:sp>
        <p:nvSpPr>
          <p:cNvPr id="22" name="TextBox 21"/>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Trả bảng 2 × 2 hệ số r; ô [0, 1] là r giữa x và y.</a:t>
            </a:r>
          </a:p>
        </p:txBody>
      </p:sp>
      <p:sp>
        <p:nvSpPr>
          <p:cNvPr id="23" name="TextBox 22"/>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h[h.hr == 17]</a:t>
            </a:r>
            <a:r>
              <a:rPr sz="950" b="1" i="0">
                <a:solidFill>
                  <a:srgbClr val="5B6778"/>
                </a:solidFill>
                <a:latin typeface="Arial"/>
              </a:rPr>
              <a:t>   pandas</a:t>
            </a:r>
          </a:p>
        </p:txBody>
      </p:sp>
      <p:sp>
        <p:nvSpPr>
          <p:cNvPr id="24" name="TextBox 23"/>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Lọc giữ các dòng thoả điều kiện, ở đây là giờ 17.</a:t>
            </a:r>
          </a:p>
        </p:txBody>
      </p:sp>
      <p:sp>
        <p:nvSpPr>
          <p:cNvPr id="25" name="TextBox 24"/>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dc[1:] * dc[:-1]</a:t>
            </a:r>
            <a:r>
              <a:rPr sz="950" b="1" i="0">
                <a:solidFill>
                  <a:srgbClr val="5B6778"/>
                </a:solidFill>
                <a:latin typeface="Arial"/>
              </a:rPr>
              <a:t>   numpy</a:t>
            </a:r>
          </a:p>
        </p:txBody>
      </p:sp>
      <p:sp>
        <p:nvSpPr>
          <p:cNvPr id="26" name="TextBox 25"/>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Nhân mỗi điểm với điểm ngay trước nó, để đo giống nhau.</a:t>
            </a:r>
          </a:p>
        </p:txBody>
      </p:sp>
      <p:sp>
        <p:nvSpPr>
          <p:cNvPr id="27" name="Rounded Rectangle 26"/>
          <p:cNvSpPr/>
          <p:nvPr/>
        </p:nvSpPr>
        <p:spPr>
          <a:xfrm>
            <a:off x="7863840" y="4059935"/>
            <a:ext cx="3776472" cy="819912"/>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671a6ba5c2fc.png"/>
          <p:cNvPicPr>
            <a:picLocks noChangeAspect="1"/>
          </p:cNvPicPr>
          <p:nvPr/>
        </p:nvPicPr>
        <p:blipFill>
          <a:blip r:embed="rId2"/>
          <a:stretch>
            <a:fillRect/>
          </a:stretch>
        </p:blipFill>
        <p:spPr>
          <a:xfrm>
            <a:off x="8673084" y="4114799"/>
            <a:ext cx="2157984" cy="710184"/>
          </a:xfrm>
          <a:prstGeom prst="rect">
            <a:avLst/>
          </a:prstGeom>
        </p:spPr>
      </p:pic>
      <p:pic>
        <p:nvPicPr>
          <p:cNvPr id="29" name="Picture 28" descr="kn-tuong-quan-he-so-r.png"/>
          <p:cNvPicPr>
            <a:picLocks noChangeAspect="1"/>
          </p:cNvPicPr>
          <p:nvPr/>
        </p:nvPicPr>
        <p:blipFill>
          <a:blip r:embed="rId3"/>
          <a:stretch>
            <a:fillRect/>
          </a:stretch>
        </p:blipFill>
        <p:spPr>
          <a:xfrm>
            <a:off x="7863840" y="5064213"/>
            <a:ext cx="3776472" cy="1362533"/>
          </a:xfrm>
          <a:prstGeom prst="rect">
            <a:avLst/>
          </a:prstGeom>
        </p:spPr>
      </p:pic>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kiểm định hoán vị</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2</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Tính p-value bằng cách xáo nhãn: nếu nhãn vô nghĩa, chênh lệch cỡ thật có hiếm không?</a:t>
            </a:r>
          </a:p>
        </p:txBody>
      </p:sp>
      <p:sp>
        <p:nvSpPr>
          <p:cNvPr id="6" name="Rounded Rectangle 5"/>
          <p:cNvSpPr/>
          <p:nvPr/>
        </p:nvSpPr>
        <p:spPr>
          <a:xfrm>
            <a:off x="548640" y="1737360"/>
            <a:ext cx="7086600" cy="2597912"/>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277872"/>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numpy as np</a:t>
            </a:r>
          </a:p>
          <a:p>
            <a:r>
              <a:rPr sz="950">
                <a:solidFill>
                  <a:srgbClr val="6B7385"/>
                </a:solidFill>
                <a:latin typeface="Courier New"/>
              </a:rPr>
              <a:t> 2 </a:t>
            </a:r>
          </a:p>
          <a:p>
            <a:r>
              <a:rPr sz="950">
                <a:solidFill>
                  <a:srgbClr val="6B7385"/>
                </a:solidFill>
                <a:latin typeface="Courier New"/>
              </a:rPr>
              <a:t> 3 </a:t>
            </a:r>
            <a:r>
              <a:rPr sz="950">
                <a:solidFill>
                  <a:srgbClr val="E6EAF0"/>
                </a:solidFill>
                <a:latin typeface="Courier New"/>
              </a:rPr>
              <a:t>def hoan_vi(yy, nhom, so_lan=9999, seed=2026):</a:t>
            </a:r>
          </a:p>
          <a:p>
            <a:r>
              <a:rPr sz="950">
                <a:solidFill>
                  <a:srgbClr val="6B7385"/>
                </a:solidFill>
                <a:latin typeface="Courier New"/>
              </a:rPr>
              <a:t> 4 </a:t>
            </a:r>
            <a:r>
              <a:rPr sz="950">
                <a:solidFill>
                  <a:srgbClr val="E6EAF0"/>
                </a:solidFill>
                <a:latin typeface="Courier New"/>
              </a:rPr>
              <a:t>    yy, nhom = np.asarray(yy, float), np.asarray(nhom, bool)</a:t>
            </a:r>
          </a:p>
          <a:p>
            <a:r>
              <a:rPr sz="950">
                <a:solidFill>
                  <a:srgbClr val="6B7385"/>
                </a:solidFill>
                <a:latin typeface="Courier New"/>
              </a:rPr>
              <a:t> 5 </a:t>
            </a:r>
            <a:r>
              <a:rPr sz="950">
                <a:solidFill>
                  <a:srgbClr val="E6EAF0"/>
                </a:solidFill>
                <a:latin typeface="Courier New"/>
              </a:rPr>
              <a:t>    that = yy[nhom].mean() - yy[~nhom].mean()</a:t>
            </a:r>
          </a:p>
          <a:p>
            <a:r>
              <a:rPr sz="950">
                <a:solidFill>
                  <a:srgbClr val="6B7385"/>
                </a:solidFill>
                <a:latin typeface="Courier New"/>
              </a:rPr>
              <a:t> 6 </a:t>
            </a:r>
            <a:r>
              <a:rPr sz="950">
                <a:solidFill>
                  <a:srgbClr val="E6EAF0"/>
                </a:solidFill>
                <a:latin typeface="Courier New"/>
              </a:rPr>
              <a:t>    rng = np.random.default_rng(seed)</a:t>
            </a:r>
          </a:p>
          <a:p>
            <a:r>
              <a:rPr sz="950">
                <a:solidFill>
                  <a:srgbClr val="6B7385"/>
                </a:solidFill>
                <a:latin typeface="Courier New"/>
              </a:rPr>
              <a:t> 7 </a:t>
            </a:r>
            <a:r>
              <a:rPr sz="950">
                <a:solidFill>
                  <a:srgbClr val="E6EAF0"/>
                </a:solidFill>
                <a:latin typeface="Courier New"/>
              </a:rPr>
              <a:t>    k = 0</a:t>
            </a:r>
          </a:p>
          <a:p>
            <a:r>
              <a:rPr sz="950">
                <a:solidFill>
                  <a:srgbClr val="6B7385"/>
                </a:solidFill>
                <a:latin typeface="Courier New"/>
              </a:rPr>
              <a:t> 8 </a:t>
            </a:r>
            <a:r>
              <a:rPr sz="950">
                <a:solidFill>
                  <a:srgbClr val="E6EAF0"/>
                </a:solidFill>
                <a:latin typeface="Courier New"/>
              </a:rPr>
              <a:t>    for _ in range(so_lan):</a:t>
            </a:r>
          </a:p>
          <a:p>
            <a:r>
              <a:rPr sz="950">
                <a:solidFill>
                  <a:srgbClr val="6B7385"/>
                </a:solidFill>
                <a:latin typeface="Courier New"/>
              </a:rPr>
              <a:t> 9 </a:t>
            </a:r>
            <a:r>
              <a:rPr sz="950">
                <a:solidFill>
                  <a:srgbClr val="E6EAF0"/>
                </a:solidFill>
                <a:latin typeface="Courier New"/>
              </a:rPr>
              <a:t>        p_ = rng.permutation(nhom)                  </a:t>
            </a:r>
            <a:r>
              <a:rPr sz="950">
                <a:solidFill>
                  <a:srgbClr val="8FC99A"/>
                </a:solidFill>
                <a:latin typeface="Courier New"/>
              </a:rPr>
              <a:t># xáo nhãn, giữ số</a:t>
            </a:r>
          </a:p>
          <a:p>
            <a:r>
              <a:rPr sz="950">
                <a:solidFill>
                  <a:srgbClr val="6B7385"/>
                </a:solidFill>
                <a:latin typeface="Courier New"/>
              </a:rPr>
              <a:t>10 </a:t>
            </a:r>
            <a:r>
              <a:rPr sz="950">
                <a:solidFill>
                  <a:srgbClr val="E6EAF0"/>
                </a:solidFill>
                <a:latin typeface="Courier New"/>
              </a:rPr>
              <a:t>        k += abs(yy[p_].mean() - yy[~p_].mean()) &gt;= abs(that)</a:t>
            </a:r>
          </a:p>
          <a:p>
            <a:r>
              <a:rPr sz="950">
                <a:solidFill>
                  <a:srgbClr val="6B7385"/>
                </a:solidFill>
                <a:latin typeface="Courier New"/>
              </a:rPr>
              <a:t>11 </a:t>
            </a:r>
            <a:r>
              <a:rPr sz="950">
                <a:solidFill>
                  <a:srgbClr val="E6EAF0"/>
                </a:solidFill>
                <a:latin typeface="Courier New"/>
              </a:rPr>
              <a:t>    return that, (k + 1) / (so_lan + 1)</a:t>
            </a:r>
          </a:p>
          <a:p>
            <a:r>
              <a:rPr sz="950">
                <a:solidFill>
                  <a:srgbClr val="6B7385"/>
                </a:solidFill>
                <a:latin typeface="Courier New"/>
              </a:rPr>
              <a:t>12 </a:t>
            </a:r>
          </a:p>
          <a:p>
            <a:r>
              <a:rPr sz="950">
                <a:solidFill>
                  <a:srgbClr val="6B7385"/>
                </a:solidFill>
                <a:latin typeface="Courier New"/>
              </a:rPr>
              <a:t>13 </a:t>
            </a:r>
            <a:r>
              <a:rPr sz="950">
                <a:solidFill>
                  <a:srgbClr val="8FC99A"/>
                </a:solidFill>
                <a:latin typeface="Courier New"/>
              </a:rPr>
              <a:t># d: bảng lượt thuê theo ngày; yr = 1 là năm 2012</a:t>
            </a:r>
          </a:p>
          <a:p>
            <a:r>
              <a:rPr sz="950">
                <a:solidFill>
                  <a:srgbClr val="6B7385"/>
                </a:solidFill>
                <a:latin typeface="Courier New"/>
              </a:rPr>
              <a:t>14 </a:t>
            </a:r>
            <a:r>
              <a:rPr sz="950">
                <a:solidFill>
                  <a:srgbClr val="E6EAF0"/>
                </a:solidFill>
                <a:latin typeface="Courier New"/>
              </a:rPr>
              <a:t>n12 = d[d.yr == 1]</a:t>
            </a:r>
          </a:p>
          <a:p>
            <a:r>
              <a:rPr sz="950">
                <a:solidFill>
                  <a:srgbClr val="6B7385"/>
                </a:solidFill>
                <a:latin typeface="Courier New"/>
              </a:rPr>
              <a:t>15 </a:t>
            </a:r>
            <a:r>
              <a:rPr sz="950">
                <a:solidFill>
                  <a:srgbClr val="E6EAF0"/>
                </a:solidFill>
                <a:latin typeface="Courier New"/>
              </a:rPr>
              <a:t>that, p = hoan_vi(n12.cnt, n12.workingday == 1)</a:t>
            </a:r>
          </a:p>
        </p:txBody>
      </p:sp>
      <p:sp>
        <p:nvSpPr>
          <p:cNvPr id="8" name="TextBox 7"/>
          <p:cNvSpPr txBox="1"/>
          <p:nvPr/>
        </p:nvSpPr>
        <p:spPr>
          <a:xfrm>
            <a:off x="685800" y="4088384"/>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buoi-02/tu-hoc.ipynb, phần 5</a:t>
            </a:r>
          </a:p>
        </p:txBody>
      </p:sp>
      <p:sp>
        <p:nvSpPr>
          <p:cNvPr id="9" name="TextBox 8"/>
          <p:cNvSpPr txBox="1"/>
          <p:nvPr/>
        </p:nvSpPr>
        <p:spPr>
          <a:xfrm>
            <a:off x="548640" y="4445000"/>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5</a:t>
            </a:r>
          </a:p>
        </p:txBody>
      </p:sp>
      <p:sp>
        <p:nvSpPr>
          <p:cNvPr id="11" name="TextBox 10"/>
          <p:cNvSpPr txBox="1"/>
          <p:nvPr/>
        </p:nvSpPr>
        <p:spPr>
          <a:xfrm>
            <a:off x="1353312" y="4746752"/>
            <a:ext cx="2697480" cy="347133"/>
          </a:xfrm>
          <a:prstGeom prst="rect">
            <a:avLst/>
          </a:prstGeom>
          <a:noFill/>
        </p:spPr>
        <p:txBody>
          <a:bodyPr wrap="square" lIns="0" rIns="0" tIns="0" bIns="0" anchor="t">
            <a:spAutoFit/>
          </a:bodyPr>
          <a:lstStyle/>
          <a:p>
            <a:pPr algn="l"/>
            <a:r>
              <a:rPr sz="1050" b="0" i="0">
                <a:solidFill>
                  <a:srgbClr val="1B2A41"/>
                </a:solidFill>
                <a:latin typeface="Arial"/>
              </a:rPr>
              <a:t>Chênh lệch thật giữa hai nhóm ngày.</a:t>
            </a:r>
          </a:p>
        </p:txBody>
      </p:sp>
      <p:sp>
        <p:nvSpPr>
          <p:cNvPr id="12" name="Rounded Rectangle 11"/>
          <p:cNvSpPr/>
          <p:nvPr/>
        </p:nvSpPr>
        <p:spPr>
          <a:xfrm>
            <a:off x="548640" y="51121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6</a:t>
            </a:r>
          </a:p>
        </p:txBody>
      </p:sp>
      <p:sp>
        <p:nvSpPr>
          <p:cNvPr id="13" name="TextBox 12"/>
          <p:cNvSpPr txBox="1"/>
          <p:nvPr/>
        </p:nvSpPr>
        <p:spPr>
          <a:xfrm>
            <a:off x="1353312" y="5093885"/>
            <a:ext cx="2697480" cy="347133"/>
          </a:xfrm>
          <a:prstGeom prst="rect">
            <a:avLst/>
          </a:prstGeom>
          <a:noFill/>
        </p:spPr>
        <p:txBody>
          <a:bodyPr wrap="square" lIns="0" rIns="0" tIns="0" bIns="0" anchor="t">
            <a:spAutoFit/>
          </a:bodyPr>
          <a:lstStyle/>
          <a:p>
            <a:pPr algn="l"/>
            <a:r>
              <a:rPr sz="1050" b="0" i="0">
                <a:solidFill>
                  <a:srgbClr val="1B2A41"/>
                </a:solidFill>
                <a:latin typeface="Arial"/>
              </a:rPr>
              <a:t>Cố định seed để chạy lại ra cùng p.</a:t>
            </a:r>
          </a:p>
        </p:txBody>
      </p:sp>
      <p:sp>
        <p:nvSpPr>
          <p:cNvPr id="14" name="Rounded Rectangle 13"/>
          <p:cNvSpPr/>
          <p:nvPr/>
        </p:nvSpPr>
        <p:spPr>
          <a:xfrm>
            <a:off x="548640" y="54593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8–10</a:t>
            </a:r>
          </a:p>
        </p:txBody>
      </p:sp>
      <p:sp>
        <p:nvSpPr>
          <p:cNvPr id="15" name="TextBox 14"/>
          <p:cNvSpPr txBox="1"/>
          <p:nvPr/>
        </p:nvSpPr>
        <p:spPr>
          <a:xfrm>
            <a:off x="1353312" y="5441018"/>
            <a:ext cx="2697480" cy="347133"/>
          </a:xfrm>
          <a:prstGeom prst="rect">
            <a:avLst/>
          </a:prstGeom>
          <a:noFill/>
        </p:spPr>
        <p:txBody>
          <a:bodyPr wrap="square" lIns="0" rIns="0" tIns="0" bIns="0" anchor="t">
            <a:spAutoFit/>
          </a:bodyPr>
          <a:lstStyle/>
          <a:p>
            <a:pPr algn="l"/>
            <a:r>
              <a:rPr sz="1050" b="0" i="0">
                <a:solidFill>
                  <a:srgbClr val="1B2A41"/>
                </a:solidFill>
                <a:latin typeface="Arial"/>
              </a:rPr>
              <a:t>Xáo nhãn 9.999 lần, đếm lần lệch bằng hoặc hơn.</a:t>
            </a:r>
          </a:p>
        </p:txBody>
      </p:sp>
      <p:sp>
        <p:nvSpPr>
          <p:cNvPr id="16" name="Rounded Rectangle 15"/>
          <p:cNvSpPr/>
          <p:nvPr/>
        </p:nvSpPr>
        <p:spPr>
          <a:xfrm>
            <a:off x="416052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11</a:t>
            </a:r>
          </a:p>
        </p:txBody>
      </p:sp>
      <p:sp>
        <p:nvSpPr>
          <p:cNvPr id="17" name="TextBox 16"/>
          <p:cNvSpPr txBox="1"/>
          <p:nvPr/>
        </p:nvSpPr>
        <p:spPr>
          <a:xfrm>
            <a:off x="4965192" y="4746752"/>
            <a:ext cx="2697480" cy="347133"/>
          </a:xfrm>
          <a:prstGeom prst="rect">
            <a:avLst/>
          </a:prstGeom>
          <a:noFill/>
        </p:spPr>
        <p:txBody>
          <a:bodyPr wrap="square" lIns="0" rIns="0" tIns="0" bIns="0" anchor="t">
            <a:spAutoFit/>
          </a:bodyPr>
          <a:lstStyle/>
          <a:p>
            <a:pPr algn="l"/>
            <a:r>
              <a:rPr sz="1050" b="0" i="0">
                <a:solidFill>
                  <a:srgbClr val="1B2A41"/>
                </a:solidFill>
                <a:latin typeface="Arial"/>
              </a:rPr>
              <a:t>p là tỷ lệ lần xáo lệch cỡ thật.</a:t>
            </a:r>
          </a:p>
        </p:txBody>
      </p:sp>
      <p:sp>
        <p:nvSpPr>
          <p:cNvPr id="18" name="Rounded Rectangle 17"/>
          <p:cNvSpPr/>
          <p:nvPr/>
        </p:nvSpPr>
        <p:spPr>
          <a:xfrm>
            <a:off x="4160520" y="51121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14–15</a:t>
            </a:r>
          </a:p>
        </p:txBody>
      </p:sp>
      <p:sp>
        <p:nvSpPr>
          <p:cNvPr id="19" name="TextBox 18"/>
          <p:cNvSpPr txBox="1"/>
          <p:nvPr/>
        </p:nvSpPr>
        <p:spPr>
          <a:xfrm>
            <a:off x="4965192" y="5093885"/>
            <a:ext cx="2697480" cy="347133"/>
          </a:xfrm>
          <a:prstGeom prst="rect">
            <a:avLst/>
          </a:prstGeom>
          <a:noFill/>
        </p:spPr>
        <p:txBody>
          <a:bodyPr wrap="square" lIns="0" rIns="0" tIns="0" bIns="0" anchor="t">
            <a:spAutoFit/>
          </a:bodyPr>
          <a:lstStyle/>
          <a:p>
            <a:pPr algn="l"/>
            <a:r>
              <a:rPr sz="1050" b="0" i="0">
                <a:solidFill>
                  <a:srgbClr val="1B2A41"/>
                </a:solidFill>
                <a:latin typeface="Arial"/>
              </a:rPr>
              <a:t>Ngày làm việc so với ngày nghỉ năm 2012.</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Làm việc − nghỉ chênh +456 lượt/ngày, p = 0,025 &lt; 0,05: bác bỏ H0. Thứ Bảy − CN chênh +695 mà p &gt; 0,05.</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np.random.default_rng(seed)</a:t>
            </a:r>
            <a:r>
              <a:rPr sz="950" b="1" i="0">
                <a:solidFill>
                  <a:srgbClr val="5B6778"/>
                </a:solidFill>
                <a:latin typeface="Arial"/>
              </a:rPr>
              <a:t>   numpy</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Tạo bộ sinh số ngẫu nhiên; cùng seed thì ra cùng dãy.</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rng.permutation(nhom)</a:t>
            </a:r>
            <a:r>
              <a:rPr sz="950" b="1" i="0">
                <a:solidFill>
                  <a:srgbClr val="5B6778"/>
                </a:solidFill>
                <a:latin typeface="Arial"/>
              </a:rPr>
              <a:t>   numpy</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Xáo trộn thứ tự nhãn, giữ nguyên số nhãn mỗi loại.</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yy[nhom].mean()</a:t>
            </a:r>
            <a:r>
              <a:rPr sz="950" b="1" i="0">
                <a:solidFill>
                  <a:srgbClr val="5B6778"/>
                </a:solidFill>
                <a:latin typeface="Arial"/>
              </a:rPr>
              <a:t>   numpy</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Trung bình của các phần tử có nhãn True.</a:t>
            </a:r>
          </a:p>
        </p:txBody>
      </p:sp>
      <p:sp>
        <p:nvSpPr>
          <p:cNvPr id="29" name="Rounded Rectangle 28"/>
          <p:cNvSpPr/>
          <p:nvPr/>
        </p:nvSpPr>
        <p:spPr>
          <a:xfrm>
            <a:off x="7863840" y="4059935"/>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34d4fe7a5afb.png"/>
          <p:cNvPicPr>
            <a:picLocks noChangeAspect="1"/>
          </p:cNvPicPr>
          <p:nvPr/>
        </p:nvPicPr>
        <p:blipFill>
          <a:blip r:embed="rId2"/>
          <a:stretch>
            <a:fillRect/>
          </a:stretch>
        </p:blipFill>
        <p:spPr>
          <a:xfrm>
            <a:off x="9340596" y="4195571"/>
            <a:ext cx="822960" cy="277368"/>
          </a:xfrm>
          <a:prstGeom prst="rect">
            <a:avLst/>
          </a:prstGeom>
        </p:spPr>
      </p:pic>
      <p:pic>
        <p:nvPicPr>
          <p:cNvPr id="31" name="Picture 30" descr="kn-kiem-dinh-gia-thuyet-khong-h0.png"/>
          <p:cNvPicPr>
            <a:picLocks noChangeAspect="1"/>
          </p:cNvPicPr>
          <p:nvPr/>
        </p:nvPicPr>
        <p:blipFill>
          <a:blip r:embed="rId3"/>
          <a:stretch>
            <a:fillRect/>
          </a:stretch>
        </p:blipFill>
        <p:spPr>
          <a:xfrm>
            <a:off x="8031060" y="4745735"/>
            <a:ext cx="3442030" cy="1728216"/>
          </a:xfrm>
          <a:prstGeom prst="rect">
            <a:avLst/>
          </a:prstGeom>
        </p:spPr>
      </p:pic>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bootstrap từng điểm và rút khối</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2</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Dựng khoảng tin cậy bằng rút lại mẫu, và thấy rút khối sửa được khoảng quá tự tin.</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p>
          <a:p>
            <a:r>
              <a:rPr sz="850">
                <a:solidFill>
                  <a:srgbClr val="6B7385"/>
                </a:solidFill>
                <a:latin typeface="Courier New"/>
              </a:rPr>
              <a:t> 3 </a:t>
            </a:r>
            <a:r>
              <a:rPr sz="850">
                <a:solidFill>
                  <a:srgbClr val="E6EAF0"/>
                </a:solidFill>
                <a:latin typeface="Courier New"/>
              </a:rPr>
              <a:t>def khoang_tin_cay(x, khoi, so_lan=999, seed=0):</a:t>
            </a:r>
          </a:p>
          <a:p>
            <a:r>
              <a:rPr sz="850">
                <a:solidFill>
                  <a:srgbClr val="6B7385"/>
                </a:solidFill>
                <a:latin typeface="Courier New"/>
              </a:rPr>
              <a:t> 4 </a:t>
            </a:r>
            <a:r>
              <a:rPr sz="850">
                <a:solidFill>
                  <a:srgbClr val="E6EAF0"/>
                </a:solidFill>
                <a:latin typeface="Courier New"/>
              </a:rPr>
              <a:t>    rng, n = np.random.default_rng(seed), x.size</a:t>
            </a:r>
          </a:p>
          <a:p>
            <a:r>
              <a:rPr sz="850">
                <a:solidFill>
                  <a:srgbClr val="6B7385"/>
                </a:solidFill>
                <a:latin typeface="Courier New"/>
              </a:rPr>
              <a:t> 5 </a:t>
            </a:r>
            <a:r>
              <a:rPr sz="850">
                <a:solidFill>
                  <a:srgbClr val="E6EAF0"/>
                </a:solidFill>
                <a:latin typeface="Courier New"/>
              </a:rPr>
              <a:t>    if khoi &lt;= 1:</a:t>
            </a:r>
          </a:p>
          <a:p>
            <a:r>
              <a:rPr sz="850">
                <a:solidFill>
                  <a:srgbClr val="6B7385"/>
                </a:solidFill>
                <a:latin typeface="Courier New"/>
              </a:rPr>
              <a:t> 6 </a:t>
            </a:r>
            <a:r>
              <a:rPr sz="850">
                <a:solidFill>
                  <a:srgbClr val="E6EAF0"/>
                </a:solidFill>
                <a:latin typeface="Courier New"/>
              </a:rPr>
              <a:t>        cs = rng.integers(0, n, size=(so_lan, n))          </a:t>
            </a:r>
            <a:r>
              <a:rPr sz="850">
                <a:solidFill>
                  <a:srgbClr val="8FC99A"/>
                </a:solidFill>
                <a:latin typeface="Courier New"/>
              </a:rPr>
              <a:t># từng điểm</a:t>
            </a:r>
          </a:p>
          <a:p>
            <a:r>
              <a:rPr sz="850">
                <a:solidFill>
                  <a:srgbClr val="6B7385"/>
                </a:solidFill>
                <a:latin typeface="Courier New"/>
              </a:rPr>
              <a:t> 7 </a:t>
            </a:r>
            <a:r>
              <a:rPr sz="850">
                <a:solidFill>
                  <a:srgbClr val="E6EAF0"/>
                </a:solidFill>
                <a:latin typeface="Courier New"/>
              </a:rPr>
              <a:t>    else:</a:t>
            </a:r>
          </a:p>
          <a:p>
            <a:r>
              <a:rPr sz="850">
                <a:solidFill>
                  <a:srgbClr val="6B7385"/>
                </a:solidFill>
                <a:latin typeface="Courier New"/>
              </a:rPr>
              <a:t> 8 </a:t>
            </a:r>
            <a:r>
              <a:rPr sz="850">
                <a:solidFill>
                  <a:srgbClr val="E6EAF0"/>
                </a:solidFill>
                <a:latin typeface="Courier New"/>
              </a:rPr>
              <a:t>        so_khoi = int(np.ceil(n / khoi))</a:t>
            </a:r>
          </a:p>
          <a:p>
            <a:r>
              <a:rPr sz="850">
                <a:solidFill>
                  <a:srgbClr val="6B7385"/>
                </a:solidFill>
                <a:latin typeface="Courier New"/>
              </a:rPr>
              <a:t> 9 </a:t>
            </a:r>
            <a:r>
              <a:rPr sz="850">
                <a:solidFill>
                  <a:srgbClr val="E6EAF0"/>
                </a:solidFill>
                <a:latin typeface="Courier New"/>
              </a:rPr>
              <a:t>        bat_dau = rng.integers(0, n - khoi + 1, size=(so_lan, so_khoi))</a:t>
            </a:r>
          </a:p>
          <a:p>
            <a:r>
              <a:rPr sz="850">
                <a:solidFill>
                  <a:srgbClr val="6B7385"/>
                </a:solidFill>
                <a:latin typeface="Courier New"/>
              </a:rPr>
              <a:t>10 </a:t>
            </a:r>
            <a:r>
              <a:rPr sz="850">
                <a:solidFill>
                  <a:srgbClr val="E6EAF0"/>
                </a:solidFill>
                <a:latin typeface="Courier New"/>
              </a:rPr>
              <a:t>        cs = (bat_dau[:, :, None] + np.arange(khoi)).reshape(so_lan, -1)</a:t>
            </a:r>
          </a:p>
          <a:p>
            <a:r>
              <a:rPr sz="850">
                <a:solidFill>
                  <a:srgbClr val="6B7385"/>
                </a:solidFill>
                <a:latin typeface="Courier New"/>
              </a:rPr>
              <a:t>11 </a:t>
            </a:r>
            <a:r>
              <a:rPr sz="850">
                <a:solidFill>
                  <a:srgbClr val="E6EAF0"/>
                </a:solidFill>
                <a:latin typeface="Courier New"/>
              </a:rPr>
              <a:t>    return np.quantile(x[cs[:, :n]].mean(axis=1), [0.025, 0.975])</a:t>
            </a:r>
          </a:p>
          <a:p>
            <a:r>
              <a:rPr sz="850">
                <a:solidFill>
                  <a:srgbClr val="6B7385"/>
                </a:solidFill>
                <a:latin typeface="Courier New"/>
              </a:rPr>
              <a:t>12 </a:t>
            </a:r>
            <a:r>
              <a:rPr sz="850">
                <a:solidFill>
                  <a:srgbClr val="8FC99A"/>
                </a:solidFill>
                <a:latin typeface="Courier New"/>
              </a:rPr>
              <a:t># chuoi: 300 chuỗi AR(1), rho = 0,7, trung bình thật bằng 0</a:t>
            </a:r>
          </a:p>
          <a:p>
            <a:r>
              <a:rPr sz="850">
                <a:solidFill>
                  <a:srgbClr val="6B7385"/>
                </a:solidFill>
                <a:latin typeface="Courier New"/>
              </a:rPr>
              <a:t>13 </a:t>
            </a:r>
            <a:r>
              <a:rPr sz="850">
                <a:solidFill>
                  <a:srgbClr val="E6EAF0"/>
                </a:solidFill>
                <a:latin typeface="Courier New"/>
              </a:rPr>
              <a:t>for khoi in (1, 3, 6, 10, 20, 40):</a:t>
            </a:r>
          </a:p>
          <a:p>
            <a:r>
              <a:rPr sz="850">
                <a:solidFill>
                  <a:srgbClr val="6B7385"/>
                </a:solidFill>
                <a:latin typeface="Courier New"/>
              </a:rPr>
              <a:t>14 </a:t>
            </a:r>
            <a:r>
              <a:rPr sz="850">
                <a:solidFill>
                  <a:srgbClr val="E6EAF0"/>
                </a:solidFill>
                <a:latin typeface="Courier New"/>
              </a:rPr>
              <a:t>    kq = [khoang_tin_cay(x, khoi, seed=2026 + i)</a:t>
            </a:r>
          </a:p>
          <a:p>
            <a:r>
              <a:rPr sz="850">
                <a:solidFill>
                  <a:srgbClr val="6B7385"/>
                </a:solidFill>
                <a:latin typeface="Courier New"/>
              </a:rPr>
              <a:t>15 </a:t>
            </a:r>
            <a:r>
              <a:rPr sz="850">
                <a:solidFill>
                  <a:srgbClr val="E6EAF0"/>
                </a:solidFill>
                <a:latin typeface="Courier New"/>
              </a:rPr>
              <a:t>          for i, x in enumerate(chuoi)]</a:t>
            </a:r>
          </a:p>
          <a:p>
            <a:r>
              <a:rPr sz="850">
                <a:solidFill>
                  <a:srgbClr val="6B7385"/>
                </a:solidFill>
                <a:latin typeface="Courier New"/>
              </a:rPr>
              <a:t>16 </a:t>
            </a:r>
            <a:r>
              <a:rPr sz="850">
                <a:solidFill>
                  <a:srgbClr val="E6EAF0"/>
                </a:solidFill>
                <a:latin typeface="Courier New"/>
              </a:rPr>
              <a:t>    phu = np.mean([lo &lt;= 0 &lt;= hi for lo, hi in kq])</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buoi-02/tu-hoc.ipynb, phần 6</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5–6</a:t>
            </a:r>
          </a:p>
        </p:txBody>
      </p:sp>
      <p:sp>
        <p:nvSpPr>
          <p:cNvPr id="11" name="TextBox 10"/>
          <p:cNvSpPr txBox="1"/>
          <p:nvPr/>
        </p:nvSpPr>
        <p:spPr>
          <a:xfrm>
            <a:off x="1353312" y="4634357"/>
            <a:ext cx="2697480" cy="457200"/>
          </a:xfrm>
          <a:prstGeom prst="rect">
            <a:avLst/>
          </a:prstGeom>
          <a:noFill/>
        </p:spPr>
        <p:txBody>
          <a:bodyPr wrap="square" lIns="0" rIns="0" tIns="0" bIns="0" anchor="t">
            <a:spAutoFit/>
          </a:bodyPr>
          <a:lstStyle/>
          <a:p>
            <a:pPr algn="l"/>
            <a:r>
              <a:rPr sz="1050" b="0" i="0">
                <a:solidFill>
                  <a:srgbClr val="1B2A41"/>
                </a:solidFill>
                <a:latin typeface="Arial"/>
              </a:rPr>
              <a:t>Rút ngẫu nhiên có hoàn lại từng điểm.</a:t>
            </a:r>
          </a:p>
        </p:txBody>
      </p:sp>
      <p:sp>
        <p:nvSpPr>
          <p:cNvPr id="12" name="Rounded Rectangle 11"/>
          <p:cNvSpPr/>
          <p:nvPr/>
        </p:nvSpPr>
        <p:spPr>
          <a:xfrm>
            <a:off x="548640" y="51098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8–10</a:t>
            </a:r>
          </a:p>
        </p:txBody>
      </p:sp>
      <p:sp>
        <p:nvSpPr>
          <p:cNvPr id="13" name="TextBox 12"/>
          <p:cNvSpPr txBox="1"/>
          <p:nvPr/>
        </p:nvSpPr>
        <p:spPr>
          <a:xfrm>
            <a:off x="1353312" y="5091557"/>
            <a:ext cx="2697480" cy="457200"/>
          </a:xfrm>
          <a:prstGeom prst="rect">
            <a:avLst/>
          </a:prstGeom>
          <a:noFill/>
        </p:spPr>
        <p:txBody>
          <a:bodyPr wrap="square" lIns="0" rIns="0" tIns="0" bIns="0" anchor="t">
            <a:spAutoFit/>
          </a:bodyPr>
          <a:lstStyle/>
          <a:p>
            <a:pPr algn="l"/>
            <a:r>
              <a:rPr sz="1050" b="0" i="0">
                <a:solidFill>
                  <a:srgbClr val="1B2A41"/>
                </a:solidFill>
                <a:latin typeface="Arial"/>
              </a:rPr>
              <a:t>Rút điểm đầu khối, nối khối liền nhau.</a:t>
            </a:r>
          </a:p>
        </p:txBody>
      </p:sp>
      <p:sp>
        <p:nvSpPr>
          <p:cNvPr id="14" name="Rounded Rectangle 13"/>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11</a:t>
            </a:r>
          </a:p>
        </p:txBody>
      </p:sp>
      <p:sp>
        <p:nvSpPr>
          <p:cNvPr id="15" name="TextBox 14"/>
          <p:cNvSpPr txBox="1"/>
          <p:nvPr/>
        </p:nvSpPr>
        <p:spPr>
          <a:xfrm>
            <a:off x="4965192" y="4634357"/>
            <a:ext cx="2697480" cy="457200"/>
          </a:xfrm>
          <a:prstGeom prst="rect">
            <a:avLst/>
          </a:prstGeom>
          <a:noFill/>
        </p:spPr>
        <p:txBody>
          <a:bodyPr wrap="square" lIns="0" rIns="0" tIns="0" bIns="0" anchor="t">
            <a:spAutoFit/>
          </a:bodyPr>
          <a:lstStyle/>
          <a:p>
            <a:pPr algn="l"/>
            <a:r>
              <a:rPr sz="1050" b="0" i="0">
                <a:solidFill>
                  <a:srgbClr val="1B2A41"/>
                </a:solidFill>
                <a:latin typeface="Arial"/>
              </a:rPr>
              <a:t>Quantile của 999 trung bình ra khoảng 95%.</a:t>
            </a:r>
          </a:p>
        </p:txBody>
      </p:sp>
      <p:sp>
        <p:nvSpPr>
          <p:cNvPr id="16" name="Rounded Rectangle 15"/>
          <p:cNvSpPr/>
          <p:nvPr/>
        </p:nvSpPr>
        <p:spPr>
          <a:xfrm>
            <a:off x="4160520" y="51098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13–16</a:t>
            </a:r>
          </a:p>
        </p:txBody>
      </p:sp>
      <p:sp>
        <p:nvSpPr>
          <p:cNvPr id="17" name="TextBox 16"/>
          <p:cNvSpPr txBox="1"/>
          <p:nvPr/>
        </p:nvSpPr>
        <p:spPr>
          <a:xfrm>
            <a:off x="4965192" y="5091557"/>
            <a:ext cx="2697480" cy="457200"/>
          </a:xfrm>
          <a:prstGeom prst="rect">
            <a:avLst/>
          </a:prstGeom>
          <a:noFill/>
        </p:spPr>
        <p:txBody>
          <a:bodyPr wrap="square" lIns="0" rIns="0" tIns="0" bIns="0" anchor="t">
            <a:spAutoFit/>
          </a:bodyPr>
          <a:lstStyle/>
          <a:p>
            <a:pPr algn="l"/>
            <a:r>
              <a:rPr sz="1050" b="0" i="0">
                <a:solidFill>
                  <a:srgbClr val="1B2A41"/>
                </a:solidFill>
                <a:latin typeface="Arial"/>
              </a:rPr>
              <a:t>Đếm bao nhiêu khoảng chứa trung bình thật 0.</a:t>
            </a:r>
          </a:p>
        </p:txBody>
      </p:sp>
      <p:sp>
        <p:nvSpPr>
          <p:cNvPr id="18" name="Rounded Rectangle 17"/>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Rút từng điểm: chỉ 60,3% khoảng chứa trung bình thật. Khối 10: 89,0%; khối 20: 89,3%; khối 40 tụt còn 81,3%.</a:t>
            </a:r>
          </a:p>
        </p:txBody>
      </p:sp>
      <p:sp>
        <p:nvSpPr>
          <p:cNvPr id="20" name="TextBox 19"/>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1" name="TextBox 20"/>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rng.integers(0, n, size=...)</a:t>
            </a:r>
            <a:r>
              <a:rPr sz="950" b="1" i="0">
                <a:solidFill>
                  <a:srgbClr val="5B6778"/>
                </a:solidFill>
                <a:latin typeface="Arial"/>
              </a:rPr>
              <a:t>   numpy</a:t>
            </a:r>
          </a:p>
        </p:txBody>
      </p:sp>
      <p:sp>
        <p:nvSpPr>
          <p:cNvPr id="22" name="TextBox 21"/>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Sinh vị trí ngẫu nhiên từ 0 tới n − 1, lặp lại được.</a:t>
            </a:r>
          </a:p>
        </p:txBody>
      </p:sp>
      <p:sp>
        <p:nvSpPr>
          <p:cNvPr id="23" name="TextBox 22"/>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x[cs].mean(axis=1)</a:t>
            </a:r>
            <a:r>
              <a:rPr sz="950" b="1" i="0">
                <a:solidFill>
                  <a:srgbClr val="5B6778"/>
                </a:solidFill>
                <a:latin typeface="Arial"/>
              </a:rPr>
              <a:t>   numpy</a:t>
            </a:r>
          </a:p>
        </p:txBody>
      </p:sp>
      <p:sp>
        <p:nvSpPr>
          <p:cNvPr id="24" name="TextBox 23"/>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Lấy các điểm theo vị trí đã rút, trung bình từng lần rút.</a:t>
            </a:r>
          </a:p>
        </p:txBody>
      </p:sp>
      <p:sp>
        <p:nvSpPr>
          <p:cNvPr id="25" name="TextBox 24"/>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np.arange(khoi)</a:t>
            </a:r>
            <a:r>
              <a:rPr sz="950" b="1" i="0">
                <a:solidFill>
                  <a:srgbClr val="5B6778"/>
                </a:solidFill>
                <a:latin typeface="Arial"/>
              </a:rPr>
              <a:t>   numpy</a:t>
            </a:r>
          </a:p>
        </p:txBody>
      </p:sp>
      <p:sp>
        <p:nvSpPr>
          <p:cNvPr id="26" name="TextBox 25"/>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Dãy 0, 1, …, khoi − 1, cộng vào điểm đầu thành một khối.</a:t>
            </a:r>
          </a:p>
        </p:txBody>
      </p:sp>
      <p:sp>
        <p:nvSpPr>
          <p:cNvPr id="27" name="Rounded Rectangle 26"/>
          <p:cNvSpPr/>
          <p:nvPr/>
        </p:nvSpPr>
        <p:spPr>
          <a:xfrm>
            <a:off x="7863840" y="4059935"/>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c14a2e06122c.png"/>
          <p:cNvPicPr>
            <a:picLocks noChangeAspect="1"/>
          </p:cNvPicPr>
          <p:nvPr/>
        </p:nvPicPr>
        <p:blipFill>
          <a:blip r:embed="rId2"/>
          <a:stretch>
            <a:fillRect/>
          </a:stretch>
        </p:blipFill>
        <p:spPr>
          <a:xfrm>
            <a:off x="9156191" y="4169663"/>
            <a:ext cx="1191768" cy="329184"/>
          </a:xfrm>
          <a:prstGeom prst="rect">
            <a:avLst/>
          </a:prstGeom>
        </p:spPr>
      </p:pic>
      <p:pic>
        <p:nvPicPr>
          <p:cNvPr id="29" name="Picture 28" descr="kn-bootstrap-block-bootstrap.png"/>
          <p:cNvPicPr>
            <a:picLocks noChangeAspect="1"/>
          </p:cNvPicPr>
          <p:nvPr/>
        </p:nvPicPr>
        <p:blipFill>
          <a:blip r:embed="rId3"/>
          <a:stretch>
            <a:fillRect/>
          </a:stretch>
        </p:blipFill>
        <p:spPr>
          <a:xfrm>
            <a:off x="7863840" y="4927230"/>
            <a:ext cx="3776472" cy="1365226"/>
          </a:xfrm>
          <a:prstGeom prst="rect">
            <a:avLst/>
          </a:prstGeom>
        </p:spPr>
      </p:pic>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gắn múi giờ New York, đổi UTC</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3</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Thấy một giờ New York có thể ứng với một, không, hoặc hai thời điểm UTC.</a:t>
            </a:r>
          </a:p>
        </p:txBody>
      </p:sp>
      <p:sp>
        <p:nvSpPr>
          <p:cNvPr id="6" name="Rounded Rectangle 5"/>
          <p:cNvSpPr/>
          <p:nvPr/>
        </p:nvSpPr>
        <p:spPr>
          <a:xfrm>
            <a:off x="548640" y="1737360"/>
            <a:ext cx="7086600" cy="2455545"/>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35505"/>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pandas as pd</a:t>
            </a:r>
          </a:p>
          <a:p>
            <a:r>
              <a:rPr sz="950">
                <a:solidFill>
                  <a:srgbClr val="6B7385"/>
                </a:solidFill>
                <a:latin typeface="Courier New"/>
              </a:rPr>
              <a:t> 2 </a:t>
            </a:r>
          </a:p>
          <a:p>
            <a:r>
              <a:rPr sz="950">
                <a:solidFill>
                  <a:srgbClr val="6B7385"/>
                </a:solidFill>
                <a:latin typeface="Courier New"/>
              </a:rPr>
              <a:t> 3 </a:t>
            </a:r>
            <a:r>
              <a:rPr sz="950">
                <a:solidFill>
                  <a:srgbClr val="E6EAF0"/>
                </a:solidFill>
                <a:latin typeface="Courier New"/>
              </a:rPr>
              <a:t>NY = "America/New_York"</a:t>
            </a:r>
          </a:p>
          <a:p>
            <a:r>
              <a:rPr sz="950">
                <a:solidFill>
                  <a:srgbClr val="6B7385"/>
                </a:solidFill>
                <a:latin typeface="Courier New"/>
              </a:rPr>
              <a:t> 4 </a:t>
            </a:r>
            <a:r>
              <a:rPr sz="950">
                <a:solidFill>
                  <a:srgbClr val="E6EAF0"/>
                </a:solidFill>
                <a:latin typeface="Courier New"/>
              </a:rPr>
              <a:t>for ngay, gio in [("2024-03-10", "01:30"), ("2024-03-10", "02:30"),</a:t>
            </a:r>
          </a:p>
          <a:p>
            <a:r>
              <a:rPr sz="950">
                <a:solidFill>
                  <a:srgbClr val="6B7385"/>
                </a:solidFill>
                <a:latin typeface="Courier New"/>
              </a:rPr>
              <a:t> 5 </a:t>
            </a:r>
            <a:r>
              <a:rPr sz="950">
                <a:solidFill>
                  <a:srgbClr val="E6EAF0"/>
                </a:solidFill>
                <a:latin typeface="Courier New"/>
              </a:rPr>
              <a:t>                  ("2024-03-10", "03:30"), ("2024-11-03", "01:30")]:</a:t>
            </a:r>
          </a:p>
          <a:p>
            <a:r>
              <a:rPr sz="950">
                <a:solidFill>
                  <a:srgbClr val="6B7385"/>
                </a:solidFill>
                <a:latin typeface="Courier New"/>
              </a:rPr>
              <a:t> 6 </a:t>
            </a:r>
            <a:r>
              <a:rPr sz="950">
                <a:solidFill>
                  <a:srgbClr val="E6EAF0"/>
                </a:solidFill>
                <a:latin typeface="Courier New"/>
              </a:rPr>
              <a:t>    ket_qua = []</a:t>
            </a:r>
          </a:p>
          <a:p>
            <a:r>
              <a:rPr sz="950">
                <a:solidFill>
                  <a:srgbClr val="6B7385"/>
                </a:solidFill>
                <a:latin typeface="Courier New"/>
              </a:rPr>
              <a:t> 7 </a:t>
            </a:r>
            <a:r>
              <a:rPr sz="950">
                <a:solidFill>
                  <a:srgbClr val="E6EAF0"/>
                </a:solidFill>
                <a:latin typeface="Courier New"/>
              </a:rPr>
              <a:t>    for mua_he in (True, False):             </a:t>
            </a:r>
            <a:r>
              <a:rPr sz="950">
                <a:solidFill>
                  <a:srgbClr val="8FC99A"/>
                </a:solidFill>
                <a:latin typeface="Courier New"/>
              </a:rPr>
              <a:t># giờ lặp: EDT hay EST</a:t>
            </a:r>
          </a:p>
          <a:p>
            <a:r>
              <a:rPr sz="950">
                <a:solidFill>
                  <a:srgbClr val="6B7385"/>
                </a:solidFill>
                <a:latin typeface="Courier New"/>
              </a:rPr>
              <a:t> 8 </a:t>
            </a:r>
            <a:r>
              <a:rPr sz="950">
                <a:solidFill>
                  <a:srgbClr val="E6EAF0"/>
                </a:solidFill>
                <a:latin typeface="Courier New"/>
              </a:rPr>
              <a:t>        try:</a:t>
            </a:r>
          </a:p>
          <a:p>
            <a:r>
              <a:rPr sz="950">
                <a:solidFill>
                  <a:srgbClr val="6B7385"/>
                </a:solidFill>
                <a:latin typeface="Courier New"/>
              </a:rPr>
              <a:t> 9 </a:t>
            </a:r>
            <a:r>
              <a:rPr sz="950">
                <a:solidFill>
                  <a:srgbClr val="E6EAF0"/>
                </a:solidFill>
                <a:latin typeface="Courier New"/>
              </a:rPr>
              <a:t>            t = pd.Timestamp(f"{ngay} {gio}").tz_localize(</a:t>
            </a:r>
          </a:p>
          <a:p>
            <a:r>
              <a:rPr sz="950">
                <a:solidFill>
                  <a:srgbClr val="6B7385"/>
                </a:solidFill>
                <a:latin typeface="Courier New"/>
              </a:rPr>
              <a:t>10 </a:t>
            </a:r>
            <a:r>
              <a:rPr sz="950">
                <a:solidFill>
                  <a:srgbClr val="E6EAF0"/>
                </a:solidFill>
                <a:latin typeface="Courier New"/>
              </a:rPr>
              <a:t>                NY, ambiguous=mua_he)        </a:t>
            </a:r>
            <a:r>
              <a:rPr sz="950">
                <a:solidFill>
                  <a:srgbClr val="8FC99A"/>
                </a:solidFill>
                <a:latin typeface="Courier New"/>
              </a:rPr>
              <a:t># gắn múi giờ New York</a:t>
            </a:r>
          </a:p>
          <a:p>
            <a:r>
              <a:rPr sz="950">
                <a:solidFill>
                  <a:srgbClr val="6B7385"/>
                </a:solidFill>
                <a:latin typeface="Courier New"/>
              </a:rPr>
              <a:t>11 </a:t>
            </a:r>
            <a:r>
              <a:rPr sz="950">
                <a:solidFill>
                  <a:srgbClr val="E6EAF0"/>
                </a:solidFill>
                <a:latin typeface="Courier New"/>
              </a:rPr>
              <a:t>            ket_qua.append(t.tz_convert("UTC").strftime("%H:%MZ"))</a:t>
            </a:r>
          </a:p>
          <a:p>
            <a:r>
              <a:rPr sz="950">
                <a:solidFill>
                  <a:srgbClr val="6B7385"/>
                </a:solidFill>
                <a:latin typeface="Courier New"/>
              </a:rPr>
              <a:t>12 </a:t>
            </a:r>
            <a:r>
              <a:rPr sz="950">
                <a:solidFill>
                  <a:srgbClr val="E6EAF0"/>
                </a:solidFill>
                <a:latin typeface="Courier New"/>
              </a:rPr>
              <a:t>        except Exception:                    </a:t>
            </a:r>
            <a:r>
              <a:rPr sz="950">
                <a:solidFill>
                  <a:srgbClr val="8FC99A"/>
                </a:solidFill>
                <a:latin typeface="Courier New"/>
              </a:rPr>
              <a:t># giờ không tồn tại</a:t>
            </a:r>
          </a:p>
          <a:p>
            <a:r>
              <a:rPr sz="950">
                <a:solidFill>
                  <a:srgbClr val="6B7385"/>
                </a:solidFill>
                <a:latin typeface="Courier New"/>
              </a:rPr>
              <a:t>13 </a:t>
            </a:r>
            <a:r>
              <a:rPr sz="950">
                <a:solidFill>
                  <a:srgbClr val="E6EAF0"/>
                </a:solidFill>
                <a:latin typeface="Courier New"/>
              </a:rPr>
              <a:t>            pass</a:t>
            </a:r>
          </a:p>
          <a:p>
            <a:r>
              <a:rPr sz="950">
                <a:solidFill>
                  <a:srgbClr val="6B7385"/>
                </a:solidFill>
                <a:latin typeface="Courier New"/>
              </a:rPr>
              <a:t>14 </a:t>
            </a:r>
            <a:r>
              <a:rPr sz="950">
                <a:solidFill>
                  <a:srgbClr val="E6EAF0"/>
                </a:solidFill>
                <a:latin typeface="Courier New"/>
              </a:rPr>
              <a:t>    print(ngay, gio, sorted(set(ket_qua)) or "KHÔNG TỒN TẠI")</a:t>
            </a:r>
          </a:p>
        </p:txBody>
      </p:sp>
      <p:sp>
        <p:nvSpPr>
          <p:cNvPr id="8" name="TextBox 7"/>
          <p:cNvSpPr txBox="1"/>
          <p:nvPr/>
        </p:nvSpPr>
        <p:spPr>
          <a:xfrm>
            <a:off x="685800" y="3946017"/>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buoi-03/tu-hoc.ipynb, phần 1</a:t>
            </a:r>
          </a:p>
        </p:txBody>
      </p:sp>
      <p:sp>
        <p:nvSpPr>
          <p:cNvPr id="9" name="TextBox 8"/>
          <p:cNvSpPr txBox="1"/>
          <p:nvPr/>
        </p:nvSpPr>
        <p:spPr>
          <a:xfrm>
            <a:off x="548640" y="4302633"/>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6226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4–5</a:t>
            </a:r>
          </a:p>
        </p:txBody>
      </p:sp>
      <p:sp>
        <p:nvSpPr>
          <p:cNvPr id="11" name="TextBox 10"/>
          <p:cNvSpPr txBox="1"/>
          <p:nvPr/>
        </p:nvSpPr>
        <p:spPr>
          <a:xfrm>
            <a:off x="1353312" y="4604385"/>
            <a:ext cx="2697480" cy="394588"/>
          </a:xfrm>
          <a:prstGeom prst="rect">
            <a:avLst/>
          </a:prstGeom>
          <a:noFill/>
        </p:spPr>
        <p:txBody>
          <a:bodyPr wrap="square" lIns="0" rIns="0" tIns="0" bIns="0" anchor="t">
            <a:spAutoFit/>
          </a:bodyPr>
          <a:lstStyle/>
          <a:p>
            <a:pPr algn="l"/>
            <a:r>
              <a:rPr sz="1050" b="0" i="0">
                <a:solidFill>
                  <a:srgbClr val="1B2A41"/>
                </a:solidFill>
                <a:latin typeface="Arial"/>
              </a:rPr>
              <a:t>Bốn giờ quanh hai ngày vặn đồng hồ 2024.</a:t>
            </a:r>
          </a:p>
        </p:txBody>
      </p:sp>
      <p:sp>
        <p:nvSpPr>
          <p:cNvPr id="12" name="Rounded Rectangle 11"/>
          <p:cNvSpPr/>
          <p:nvPr/>
        </p:nvSpPr>
        <p:spPr>
          <a:xfrm>
            <a:off x="548640" y="5017262"/>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7</a:t>
            </a:r>
          </a:p>
        </p:txBody>
      </p:sp>
      <p:sp>
        <p:nvSpPr>
          <p:cNvPr id="13" name="TextBox 12"/>
          <p:cNvSpPr txBox="1"/>
          <p:nvPr/>
        </p:nvSpPr>
        <p:spPr>
          <a:xfrm>
            <a:off x="1353312" y="4998974"/>
            <a:ext cx="2697480" cy="394588"/>
          </a:xfrm>
          <a:prstGeom prst="rect">
            <a:avLst/>
          </a:prstGeom>
          <a:noFill/>
        </p:spPr>
        <p:txBody>
          <a:bodyPr wrap="square" lIns="0" rIns="0" tIns="0" bIns="0" anchor="t">
            <a:spAutoFit/>
          </a:bodyPr>
          <a:lstStyle/>
          <a:p>
            <a:pPr algn="l"/>
            <a:r>
              <a:rPr sz="1050" b="0" i="0">
                <a:solidFill>
                  <a:srgbClr val="1B2A41"/>
                </a:solidFill>
                <a:latin typeface="Arial"/>
              </a:rPr>
              <a:t>Thử cả hai cách hiểu: giờ hè và giờ đông.</a:t>
            </a:r>
          </a:p>
        </p:txBody>
      </p:sp>
      <p:sp>
        <p:nvSpPr>
          <p:cNvPr id="14" name="Rounded Rectangle 13"/>
          <p:cNvSpPr/>
          <p:nvPr/>
        </p:nvSpPr>
        <p:spPr>
          <a:xfrm>
            <a:off x="548640" y="541185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9–10</a:t>
            </a:r>
          </a:p>
        </p:txBody>
      </p:sp>
      <p:sp>
        <p:nvSpPr>
          <p:cNvPr id="15" name="TextBox 14"/>
          <p:cNvSpPr txBox="1"/>
          <p:nvPr/>
        </p:nvSpPr>
        <p:spPr>
          <a:xfrm>
            <a:off x="1353312" y="5393563"/>
            <a:ext cx="2697480" cy="394588"/>
          </a:xfrm>
          <a:prstGeom prst="rect">
            <a:avLst/>
          </a:prstGeom>
          <a:noFill/>
        </p:spPr>
        <p:txBody>
          <a:bodyPr wrap="square" lIns="0" rIns="0" tIns="0" bIns="0" anchor="t">
            <a:spAutoFit/>
          </a:bodyPr>
          <a:lstStyle/>
          <a:p>
            <a:pPr algn="l"/>
            <a:r>
              <a:rPr sz="1050" b="0" i="0">
                <a:solidFill>
                  <a:srgbClr val="1B2A41"/>
                </a:solidFill>
                <a:latin typeface="Arial"/>
              </a:rPr>
              <a:t>Gắn múi giờ: con số giờ thành thời điểm thật.</a:t>
            </a:r>
          </a:p>
        </p:txBody>
      </p:sp>
      <p:sp>
        <p:nvSpPr>
          <p:cNvPr id="16" name="Rounded Rectangle 15"/>
          <p:cNvSpPr/>
          <p:nvPr/>
        </p:nvSpPr>
        <p:spPr>
          <a:xfrm>
            <a:off x="4160520" y="46226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11</a:t>
            </a:r>
          </a:p>
        </p:txBody>
      </p:sp>
      <p:sp>
        <p:nvSpPr>
          <p:cNvPr id="17" name="TextBox 16"/>
          <p:cNvSpPr txBox="1"/>
          <p:nvPr/>
        </p:nvSpPr>
        <p:spPr>
          <a:xfrm>
            <a:off x="4965192" y="4604385"/>
            <a:ext cx="2697480" cy="394588"/>
          </a:xfrm>
          <a:prstGeom prst="rect">
            <a:avLst/>
          </a:prstGeom>
          <a:noFill/>
        </p:spPr>
        <p:txBody>
          <a:bodyPr wrap="square" lIns="0" rIns="0" tIns="0" bIns="0" anchor="t">
            <a:spAutoFit/>
          </a:bodyPr>
          <a:lstStyle/>
          <a:p>
            <a:pPr algn="l"/>
            <a:r>
              <a:rPr sz="1050" b="0" i="0">
                <a:solidFill>
                  <a:srgbClr val="1B2A41"/>
                </a:solidFill>
                <a:latin typeface="Arial"/>
              </a:rPr>
              <a:t>Đổi sang UTC, trục thời gian chạy đều.</a:t>
            </a:r>
          </a:p>
        </p:txBody>
      </p:sp>
      <p:sp>
        <p:nvSpPr>
          <p:cNvPr id="18" name="Rounded Rectangle 17"/>
          <p:cNvSpPr/>
          <p:nvPr/>
        </p:nvSpPr>
        <p:spPr>
          <a:xfrm>
            <a:off x="4160520" y="5017262"/>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12–13</a:t>
            </a:r>
          </a:p>
        </p:txBody>
      </p:sp>
      <p:sp>
        <p:nvSpPr>
          <p:cNvPr id="19" name="TextBox 18"/>
          <p:cNvSpPr txBox="1"/>
          <p:nvPr/>
        </p:nvSpPr>
        <p:spPr>
          <a:xfrm>
            <a:off x="4965192" y="4998974"/>
            <a:ext cx="2697480" cy="394588"/>
          </a:xfrm>
          <a:prstGeom prst="rect">
            <a:avLst/>
          </a:prstGeom>
          <a:noFill/>
        </p:spPr>
        <p:txBody>
          <a:bodyPr wrap="square" lIns="0" rIns="0" tIns="0" bIns="0" anchor="t">
            <a:spAutoFit/>
          </a:bodyPr>
          <a:lstStyle/>
          <a:p>
            <a:pPr algn="l"/>
            <a:r>
              <a:rPr sz="1050" b="0" i="0">
                <a:solidFill>
                  <a:srgbClr val="1B2A41"/>
                </a:solidFill>
                <a:latin typeface="Arial"/>
              </a:rPr>
              <a:t>Giờ bị nhảy qua thì báo lỗi, bỏ qua.</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10/3: 01:30 ra 06:30Z, 02:30 không tồn tại, 03:30 ra 07:30Z. 01:30 ngày 3/11 có hai đáp án: 05:30Z hoặc 06:30Z.</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tz_localize(NY, ambiguous=...)</a:t>
            </a:r>
            <a:r>
              <a:rPr sz="950" b="1" i="0">
                <a:solidFill>
                  <a:srgbClr val="5B6778"/>
                </a:solidFill>
                <a:latin typeface="Arial"/>
              </a:rPr>
              <a:t>   pandas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Gắn múi giờ cho giờ chưa có; ambiguous chọn EDT hay EST.</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tz_convert("UTC")</a:t>
            </a:r>
            <a:r>
              <a:rPr sz="950" b="1" i="0">
                <a:solidFill>
                  <a:srgbClr val="5B6778"/>
                </a:solidFill>
                <a:latin typeface="Arial"/>
              </a:rPr>
              <a:t>   pandas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Đổi một thời điểm đã có múi giờ sang giờ UTC.</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strftime("%H:%MZ")</a:t>
            </a:r>
            <a:r>
              <a:rPr sz="950" b="1" i="0">
                <a:solidFill>
                  <a:srgbClr val="5B6778"/>
                </a:solidFill>
                <a:latin typeface="Arial"/>
              </a:rPr>
              <a:t>   pandas</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Viết thời điểm thành chữ theo mẫu giờ:phút kèm chữ Z.</a:t>
            </a:r>
          </a:p>
        </p:txBody>
      </p:sp>
      <p:pic>
        <p:nvPicPr>
          <p:cNvPr id="29" name="Picture 28" descr="kn-gio-mua-he-dst.png"/>
          <p:cNvPicPr>
            <a:picLocks noChangeAspect="1"/>
          </p:cNvPicPr>
          <p:nvPr/>
        </p:nvPicPr>
        <p:blipFill>
          <a:blip r:embed="rId2"/>
          <a:stretch>
            <a:fillRect/>
          </a:stretch>
        </p:blipFill>
        <p:spPr>
          <a:xfrm>
            <a:off x="7863840" y="4359179"/>
            <a:ext cx="3776472" cy="1842960"/>
          </a:xfrm>
          <a:prstGeom prst="rect">
            <a:avLst/>
          </a:prstGeom>
        </p:spPr>
      </p:pic>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đếm chuyến trên giờ naive</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3</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Đếm thẳng trên giờ không múi giờ để thấy giờ 0 chuyến giả và giờ gấp đôi.</a:t>
            </a:r>
          </a:p>
        </p:txBody>
      </p:sp>
      <p:sp>
        <p:nvSpPr>
          <p:cNvPr id="6" name="Rounded Rectangle 5"/>
          <p:cNvSpPr/>
          <p:nvPr/>
        </p:nvSpPr>
        <p:spPr>
          <a:xfrm>
            <a:off x="548640" y="1737360"/>
            <a:ext cx="7086600" cy="2455545"/>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35505"/>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pandas as pd</a:t>
            </a:r>
          </a:p>
          <a:p>
            <a:r>
              <a:rPr sz="950">
                <a:solidFill>
                  <a:srgbClr val="6B7385"/>
                </a:solidFill>
                <a:latin typeface="Courier New"/>
              </a:rPr>
              <a:t> 2 </a:t>
            </a:r>
          </a:p>
          <a:p>
            <a:r>
              <a:rPr sz="950">
                <a:solidFill>
                  <a:srgbClr val="6B7385"/>
                </a:solidFill>
                <a:latin typeface="Courier New"/>
              </a:rPr>
              <a:t> 3 </a:t>
            </a:r>
            <a:r>
              <a:rPr sz="950">
                <a:solidFill>
                  <a:srgbClr val="E6EAF0"/>
                </a:solidFill>
                <a:latin typeface="Courier New"/>
              </a:rPr>
              <a:t>cot = ["tpep_pickup_datetime", "tpep_dropoff_datetime"]</a:t>
            </a:r>
          </a:p>
          <a:p>
            <a:r>
              <a:rPr sz="950">
                <a:solidFill>
                  <a:srgbClr val="6B7385"/>
                </a:solidFill>
                <a:latin typeface="Courier New"/>
              </a:rPr>
              <a:t> 4 </a:t>
            </a:r>
            <a:r>
              <a:rPr sz="950">
                <a:solidFill>
                  <a:srgbClr val="E6EAF0"/>
                </a:solidFill>
                <a:latin typeface="Courier New"/>
              </a:rPr>
              <a:t>t3 = pd.read_parquet("yellow_tripdata_2024-03.parquet", columns=cot)</a:t>
            </a:r>
          </a:p>
          <a:p>
            <a:r>
              <a:rPr sz="950">
                <a:solidFill>
                  <a:srgbClr val="6B7385"/>
                </a:solidFill>
                <a:latin typeface="Courier New"/>
              </a:rPr>
              <a:t> 5 </a:t>
            </a:r>
            <a:r>
              <a:rPr sz="950">
                <a:solidFill>
                  <a:srgbClr val="E6EAF0"/>
                </a:solidFill>
                <a:latin typeface="Courier New"/>
              </a:rPr>
              <a:t>t11 = pd.read_parquet("yellow_tripdata_2024-11.parquet", columns=cot)</a:t>
            </a:r>
          </a:p>
          <a:p>
            <a:r>
              <a:rPr sz="950">
                <a:solidFill>
                  <a:srgbClr val="6B7385"/>
                </a:solidFill>
                <a:latin typeface="Courier New"/>
              </a:rPr>
              <a:t> 6 </a:t>
            </a:r>
          </a:p>
          <a:p>
            <a:r>
              <a:rPr sz="950">
                <a:solidFill>
                  <a:srgbClr val="6B7385"/>
                </a:solidFill>
                <a:latin typeface="Courier New"/>
              </a:rPr>
              <a:t> 7 </a:t>
            </a:r>
            <a:r>
              <a:rPr sz="950">
                <a:solidFill>
                  <a:srgbClr val="E6EAF0"/>
                </a:solidFill>
                <a:latin typeface="Courier New"/>
              </a:rPr>
              <a:t>def dem_naive(chuyen):                      </a:t>
            </a:r>
            <a:r>
              <a:rPr sz="950">
                <a:solidFill>
                  <a:srgbClr val="8FC99A"/>
                </a:solidFill>
                <a:latin typeface="Courier New"/>
              </a:rPr>
              <a:t># đếm thẳng trên giờ naive</a:t>
            </a:r>
          </a:p>
          <a:p>
            <a:r>
              <a:rPr sz="950">
                <a:solidFill>
                  <a:srgbClr val="6B7385"/>
                </a:solidFill>
                <a:latin typeface="Courier New"/>
              </a:rPr>
              <a:t> 8 </a:t>
            </a:r>
            <a:r>
              <a:rPr sz="950">
                <a:solidFill>
                  <a:srgbClr val="E6EAF0"/>
                </a:solidFill>
                <a:latin typeface="Courier New"/>
              </a:rPr>
              <a:t>    return chuyen.set_index("tpep_pickup_datetime").resample("h").size()</a:t>
            </a:r>
          </a:p>
          <a:p>
            <a:r>
              <a:rPr sz="950">
                <a:solidFill>
                  <a:srgbClr val="6B7385"/>
                </a:solidFill>
                <a:latin typeface="Courier New"/>
              </a:rPr>
              <a:t> 9 </a:t>
            </a:r>
          </a:p>
          <a:p>
            <a:r>
              <a:rPr sz="950">
                <a:solidFill>
                  <a:srgbClr val="6B7385"/>
                </a:solidFill>
                <a:latin typeface="Courier New"/>
              </a:rPr>
              <a:t>10 </a:t>
            </a:r>
            <a:r>
              <a:rPr sz="950">
                <a:solidFill>
                  <a:srgbClr val="E6EAF0"/>
                </a:solidFill>
                <a:latin typeface="Courier New"/>
              </a:rPr>
              <a:t>dem_naive(t3)["2024-03-10 00:00":"2024-03-10 03:00"]    </a:t>
            </a:r>
            <a:r>
              <a:rPr sz="950">
                <a:solidFill>
                  <a:srgbClr val="8FC99A"/>
                </a:solidFill>
                <a:latin typeface="Courier New"/>
              </a:rPr>
              <a:t># 02:00 trống</a:t>
            </a:r>
          </a:p>
          <a:p>
            <a:r>
              <a:rPr sz="950">
                <a:solidFill>
                  <a:srgbClr val="6B7385"/>
                </a:solidFill>
                <a:latin typeface="Courier New"/>
              </a:rPr>
              <a:t>11 </a:t>
            </a:r>
            <a:r>
              <a:rPr sz="950">
                <a:solidFill>
                  <a:srgbClr val="E6EAF0"/>
                </a:solidFill>
                <a:latin typeface="Courier New"/>
              </a:rPr>
              <a:t>dem_naive(t11)["2024-11-03 00:00":"2024-11-03 03:00"]   </a:t>
            </a:r>
            <a:r>
              <a:rPr sz="950">
                <a:solidFill>
                  <a:srgbClr val="8FC99A"/>
                </a:solidFill>
                <a:latin typeface="Courier New"/>
              </a:rPr>
              <a:t># 01:00 gấp đôi</a:t>
            </a:r>
          </a:p>
          <a:p>
            <a:r>
              <a:rPr sz="950">
                <a:solidFill>
                  <a:srgbClr val="6B7385"/>
                </a:solidFill>
                <a:latin typeface="Courier New"/>
              </a:rPr>
              <a:t>12 </a:t>
            </a:r>
            <a:r>
              <a:rPr sz="950">
                <a:solidFill>
                  <a:srgbClr val="E6EAF0"/>
                </a:solidFill>
                <a:latin typeface="Courier New"/>
              </a:rPr>
              <a:t>dem_naive(t11)["2024-11-10 01:00"]                      </a:t>
            </a:r>
            <a:r>
              <a:rPr sz="950">
                <a:solidFill>
                  <a:srgbClr val="8FC99A"/>
                </a:solidFill>
                <a:latin typeface="Courier New"/>
              </a:rPr>
              <a:t># tuần sau để so</a:t>
            </a:r>
          </a:p>
          <a:p>
            <a:r>
              <a:rPr sz="950">
                <a:solidFill>
                  <a:srgbClr val="6B7385"/>
                </a:solidFill>
                <a:latin typeface="Courier New"/>
              </a:rPr>
              <a:t>13 </a:t>
            </a:r>
            <a:r>
              <a:rPr sz="950">
                <a:solidFill>
                  <a:srgbClr val="8FC99A"/>
                </a:solidFill>
                <a:latin typeface="Courier New"/>
              </a:rPr>
              <a:t># trừ thẳng hai giờ naive: có khách xuống xe trước khi lên</a:t>
            </a:r>
          </a:p>
          <a:p>
            <a:r>
              <a:rPr sz="950">
                <a:solidFill>
                  <a:srgbClr val="6B7385"/>
                </a:solidFill>
                <a:latin typeface="Courier New"/>
              </a:rPr>
              <a:t>14 </a:t>
            </a:r>
            <a:r>
              <a:rPr sz="950">
                <a:solidFill>
                  <a:srgbClr val="E6EAF0"/>
                </a:solidFill>
                <a:latin typeface="Courier New"/>
              </a:rPr>
              <a:t>am = t11["tpep_dropoff_datetime"] &lt; t11["tpep_pickup_datetime"]</a:t>
            </a:r>
          </a:p>
        </p:txBody>
      </p:sp>
      <p:sp>
        <p:nvSpPr>
          <p:cNvPr id="8" name="TextBox 7"/>
          <p:cNvSpPr txBox="1"/>
          <p:nvPr/>
        </p:nvSpPr>
        <p:spPr>
          <a:xfrm>
            <a:off x="685800" y="3946017"/>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buoi-03/tu-hoc.ipynb, phần 2</a:t>
            </a:r>
          </a:p>
        </p:txBody>
      </p:sp>
      <p:sp>
        <p:nvSpPr>
          <p:cNvPr id="9" name="TextBox 8"/>
          <p:cNvSpPr txBox="1"/>
          <p:nvPr/>
        </p:nvSpPr>
        <p:spPr>
          <a:xfrm>
            <a:off x="548640" y="4302633"/>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6226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3–5</a:t>
            </a:r>
          </a:p>
        </p:txBody>
      </p:sp>
      <p:sp>
        <p:nvSpPr>
          <p:cNvPr id="11" name="TextBox 10"/>
          <p:cNvSpPr txBox="1"/>
          <p:nvPr/>
        </p:nvSpPr>
        <p:spPr>
          <a:xfrm>
            <a:off x="1353312" y="4604385"/>
            <a:ext cx="2697480" cy="394588"/>
          </a:xfrm>
          <a:prstGeom prst="rect">
            <a:avLst/>
          </a:prstGeom>
          <a:noFill/>
        </p:spPr>
        <p:txBody>
          <a:bodyPr wrap="square" lIns="0" rIns="0" tIns="0" bIns="0" anchor="t">
            <a:spAutoFit/>
          </a:bodyPr>
          <a:lstStyle/>
          <a:p>
            <a:pPr algn="l"/>
            <a:r>
              <a:rPr sz="1050" b="0" i="0">
                <a:solidFill>
                  <a:srgbClr val="1B2A41"/>
                </a:solidFill>
                <a:latin typeface="Arial"/>
              </a:rPr>
              <a:t>Đọc giờ đón, giờ trả của tháng 3 và 11.</a:t>
            </a:r>
          </a:p>
        </p:txBody>
      </p:sp>
      <p:sp>
        <p:nvSpPr>
          <p:cNvPr id="12" name="Rounded Rectangle 11"/>
          <p:cNvSpPr/>
          <p:nvPr/>
        </p:nvSpPr>
        <p:spPr>
          <a:xfrm>
            <a:off x="548640" y="5017262"/>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7–8</a:t>
            </a:r>
          </a:p>
        </p:txBody>
      </p:sp>
      <p:sp>
        <p:nvSpPr>
          <p:cNvPr id="13" name="TextBox 12"/>
          <p:cNvSpPr txBox="1"/>
          <p:nvPr/>
        </p:nvSpPr>
        <p:spPr>
          <a:xfrm>
            <a:off x="1353312" y="4998974"/>
            <a:ext cx="2697480" cy="394588"/>
          </a:xfrm>
          <a:prstGeom prst="rect">
            <a:avLst/>
          </a:prstGeom>
          <a:noFill/>
        </p:spPr>
        <p:txBody>
          <a:bodyPr wrap="square" lIns="0" rIns="0" tIns="0" bIns="0" anchor="t">
            <a:spAutoFit/>
          </a:bodyPr>
          <a:lstStyle/>
          <a:p>
            <a:pPr algn="l"/>
            <a:r>
              <a:rPr sz="1050" b="0" i="0">
                <a:solidFill>
                  <a:srgbClr val="1B2A41"/>
                </a:solidFill>
                <a:latin typeface="Arial"/>
              </a:rPr>
              <a:t>Đếm chuyến mỗi giờ, chưa gắn múi giờ.</a:t>
            </a:r>
          </a:p>
        </p:txBody>
      </p:sp>
      <p:sp>
        <p:nvSpPr>
          <p:cNvPr id="14" name="Rounded Rectangle 13"/>
          <p:cNvSpPr/>
          <p:nvPr/>
        </p:nvSpPr>
        <p:spPr>
          <a:xfrm>
            <a:off x="548640" y="541185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10–11</a:t>
            </a:r>
          </a:p>
        </p:txBody>
      </p:sp>
      <p:sp>
        <p:nvSpPr>
          <p:cNvPr id="15" name="TextBox 14"/>
          <p:cNvSpPr txBox="1"/>
          <p:nvPr/>
        </p:nvSpPr>
        <p:spPr>
          <a:xfrm>
            <a:off x="1353312" y="5393563"/>
            <a:ext cx="2697480" cy="394588"/>
          </a:xfrm>
          <a:prstGeom prst="rect">
            <a:avLst/>
          </a:prstGeom>
          <a:noFill/>
        </p:spPr>
        <p:txBody>
          <a:bodyPr wrap="square" lIns="0" rIns="0" tIns="0" bIns="0" anchor="t">
            <a:spAutoFit/>
          </a:bodyPr>
          <a:lstStyle/>
          <a:p>
            <a:pPr algn="l"/>
            <a:r>
              <a:rPr sz="1050" b="0" i="0">
                <a:solidFill>
                  <a:srgbClr val="1B2A41"/>
                </a:solidFill>
                <a:latin typeface="Arial"/>
              </a:rPr>
              <a:t>Xem quanh hai ngày vặn đồng hồ.</a:t>
            </a:r>
          </a:p>
        </p:txBody>
      </p:sp>
      <p:sp>
        <p:nvSpPr>
          <p:cNvPr id="16" name="Rounded Rectangle 15"/>
          <p:cNvSpPr/>
          <p:nvPr/>
        </p:nvSpPr>
        <p:spPr>
          <a:xfrm>
            <a:off x="4160520" y="46226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12</a:t>
            </a:r>
          </a:p>
        </p:txBody>
      </p:sp>
      <p:sp>
        <p:nvSpPr>
          <p:cNvPr id="17" name="TextBox 16"/>
          <p:cNvSpPr txBox="1"/>
          <p:nvPr/>
        </p:nvSpPr>
        <p:spPr>
          <a:xfrm>
            <a:off x="4965192" y="4604385"/>
            <a:ext cx="2697480" cy="394588"/>
          </a:xfrm>
          <a:prstGeom prst="rect">
            <a:avLst/>
          </a:prstGeom>
          <a:noFill/>
        </p:spPr>
        <p:txBody>
          <a:bodyPr wrap="square" lIns="0" rIns="0" tIns="0" bIns="0" anchor="t">
            <a:spAutoFit/>
          </a:bodyPr>
          <a:lstStyle/>
          <a:p>
            <a:pPr algn="l"/>
            <a:r>
              <a:rPr sz="1050" b="0" i="0">
                <a:solidFill>
                  <a:srgbClr val="1B2A41"/>
                </a:solidFill>
                <a:latin typeface="Arial"/>
              </a:rPr>
              <a:t>Cùng giờ tuần sau làm mốc so.</a:t>
            </a:r>
          </a:p>
        </p:txBody>
      </p:sp>
      <p:sp>
        <p:nvSpPr>
          <p:cNvPr id="18" name="Rounded Rectangle 17"/>
          <p:cNvSpPr/>
          <p:nvPr/>
        </p:nvSpPr>
        <p:spPr>
          <a:xfrm>
            <a:off x="4160520" y="5017262"/>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14</a:t>
            </a:r>
          </a:p>
        </p:txBody>
      </p:sp>
      <p:sp>
        <p:nvSpPr>
          <p:cNvPr id="19" name="TextBox 18"/>
          <p:cNvSpPr txBox="1"/>
          <p:nvPr/>
        </p:nvSpPr>
        <p:spPr>
          <a:xfrm>
            <a:off x="4965192" y="4998974"/>
            <a:ext cx="2697480" cy="394588"/>
          </a:xfrm>
          <a:prstGeom prst="rect">
            <a:avLst/>
          </a:prstGeom>
          <a:noFill/>
        </p:spPr>
        <p:txBody>
          <a:bodyPr wrap="square" lIns="0" rIns="0" tIns="0" bIns="0" anchor="t">
            <a:spAutoFit/>
          </a:bodyPr>
          <a:lstStyle/>
          <a:p>
            <a:pPr algn="l"/>
            <a:r>
              <a:rPr sz="1050" b="0" i="0">
                <a:solidFill>
                  <a:srgbClr val="1B2A41"/>
                </a:solidFill>
                <a:latin typeface="Arial"/>
              </a:rPr>
              <a:t>Tìm chuyến trả trước khi đón.</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Giờ 02:00 ngày 10/3 có 0 chuyến; giờ 01:00 ngày 3/11 có 9.869 chuyến, gần gấp đôi tuần sau (5.318).</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pd.read_parquet(..., columns=...)</a:t>
            </a:r>
            <a:r>
              <a:rPr sz="950" b="1" i="0">
                <a:solidFill>
                  <a:srgbClr val="5B6778"/>
                </a:solidFill>
                <a:latin typeface="Arial"/>
              </a:rPr>
              <a:t>   pandas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Đọc tệp Parquet, chỉ lấy các cột cần cho nhanh.</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set_index(...).resample("h").size()</a:t>
            </a:r>
            <a:r>
              <a:rPr sz="950" b="1" i="0">
                <a:solidFill>
                  <a:srgbClr val="5B6778"/>
                </a:solidFill>
                <a:latin typeface="Arial"/>
              </a:rPr>
              <a:t>   pandas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Lấy cột giờ làm mốc, đếm số dòng rơi vào mỗi giờ.</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s["a":"b"]</a:t>
            </a:r>
            <a:r>
              <a:rPr sz="950" b="1" i="0">
                <a:solidFill>
                  <a:srgbClr val="5B6778"/>
                </a:solidFill>
                <a:latin typeface="Arial"/>
              </a:rPr>
              <a:t>   pandas</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Cắt chuỗi theo khoảng thời gian, lấy cả hai đầu.</a:t>
            </a:r>
          </a:p>
        </p:txBody>
      </p:sp>
      <p:pic>
        <p:nvPicPr>
          <p:cNvPr id="29" name="Picture 28" descr="dst-hai-ngay.png"/>
          <p:cNvPicPr>
            <a:picLocks noChangeAspect="1"/>
          </p:cNvPicPr>
          <p:nvPr/>
        </p:nvPicPr>
        <p:blipFill>
          <a:blip r:embed="rId2"/>
          <a:stretch>
            <a:fillRect/>
          </a:stretch>
        </p:blipFill>
        <p:spPr>
          <a:xfrm>
            <a:off x="7863840" y="4224162"/>
            <a:ext cx="3776472" cy="2112995"/>
          </a:xfrm>
          <a:prstGeom prst="rect">
            <a:avLst/>
          </a:prstGeom>
        </p:spPr>
      </p:pic>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resample cộng hay trung bình</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3</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Gộp sự kiện thành chuỗi đều: đếm thì cộng, số đo thì lấy trung bình.</a:t>
            </a:r>
          </a:p>
        </p:txBody>
      </p:sp>
      <p:sp>
        <p:nvSpPr>
          <p:cNvPr id="6" name="Rounded Rectangle 5"/>
          <p:cNvSpPr/>
          <p:nvPr/>
        </p:nvSpPr>
        <p:spPr>
          <a:xfrm>
            <a:off x="548640" y="1737360"/>
            <a:ext cx="7086600" cy="2313178"/>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1993138"/>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pandas as pd</a:t>
            </a:r>
          </a:p>
          <a:p>
            <a:r>
              <a:rPr sz="950">
                <a:solidFill>
                  <a:srgbClr val="6B7385"/>
                </a:solidFill>
                <a:latin typeface="Courier New"/>
              </a:rPr>
              <a:t> 2 </a:t>
            </a:r>
          </a:p>
          <a:p>
            <a:r>
              <a:rPr sz="950">
                <a:solidFill>
                  <a:srgbClr val="6B7385"/>
                </a:solidFill>
                <a:latin typeface="Courier New"/>
              </a:rPr>
              <a:t> 3 </a:t>
            </a:r>
            <a:r>
              <a:rPr sz="950">
                <a:solidFill>
                  <a:srgbClr val="E6EAF0"/>
                </a:solidFill>
                <a:latin typeface="Courier New"/>
              </a:rPr>
              <a:t>t = pd.to_datetime(["2024-01-01 00:10", "2024-01-01 00:50",</a:t>
            </a:r>
          </a:p>
          <a:p>
            <a:r>
              <a:rPr sz="950">
                <a:solidFill>
                  <a:srgbClr val="6B7385"/>
                </a:solidFill>
                <a:latin typeface="Courier New"/>
              </a:rPr>
              <a:t> 4 </a:t>
            </a:r>
            <a:r>
              <a:rPr sz="950">
                <a:solidFill>
                  <a:srgbClr val="E6EAF0"/>
                </a:solidFill>
                <a:latin typeface="Courier New"/>
              </a:rPr>
              <a:t>                    "2024-01-01 02:20"])</a:t>
            </a:r>
          </a:p>
          <a:p>
            <a:r>
              <a:rPr sz="950">
                <a:solidFill>
                  <a:srgbClr val="6B7385"/>
                </a:solidFill>
                <a:latin typeface="Courier New"/>
              </a:rPr>
              <a:t> 5 </a:t>
            </a:r>
            <a:r>
              <a:rPr sz="950">
                <a:solidFill>
                  <a:srgbClr val="E6EAF0"/>
                </a:solidFill>
                <a:latin typeface="Courier New"/>
              </a:rPr>
              <a:t>s = pd.Series([1.0, 2.0, 5.0], index=t)</a:t>
            </a:r>
          </a:p>
          <a:p>
            <a:r>
              <a:rPr sz="950">
                <a:solidFill>
                  <a:srgbClr val="6B7385"/>
                </a:solidFill>
                <a:latin typeface="Courier New"/>
              </a:rPr>
              <a:t> 6 </a:t>
            </a:r>
            <a:r>
              <a:rPr sz="950">
                <a:solidFill>
                  <a:srgbClr val="E6EAF0"/>
                </a:solidFill>
                <a:latin typeface="Courier New"/>
              </a:rPr>
              <a:t>s.resample("h").sum()       </a:t>
            </a:r>
            <a:r>
              <a:rPr sz="950">
                <a:solidFill>
                  <a:srgbClr val="8FC99A"/>
                </a:solidFill>
                <a:latin typeface="Courier New"/>
              </a:rPr>
              <a:t># số lượng: cộng, giờ trống ra 0</a:t>
            </a:r>
          </a:p>
          <a:p>
            <a:r>
              <a:rPr sz="950">
                <a:solidFill>
                  <a:srgbClr val="6B7385"/>
                </a:solidFill>
                <a:latin typeface="Courier New"/>
              </a:rPr>
              <a:t> 7 </a:t>
            </a:r>
            <a:r>
              <a:rPr sz="950">
                <a:solidFill>
                  <a:srgbClr val="E6EAF0"/>
                </a:solidFill>
                <a:latin typeface="Courier New"/>
              </a:rPr>
              <a:t>s.resample("h").mean()      </a:t>
            </a:r>
            <a:r>
              <a:rPr sz="950">
                <a:solidFill>
                  <a:srgbClr val="8FC99A"/>
                </a:solidFill>
                <a:latin typeface="Courier New"/>
              </a:rPr>
              <a:t># số đo: trung bình, giờ trống ra NaN</a:t>
            </a:r>
          </a:p>
          <a:p>
            <a:r>
              <a:rPr sz="950">
                <a:solidFill>
                  <a:srgbClr val="6B7385"/>
                </a:solidFill>
                <a:latin typeface="Courier New"/>
              </a:rPr>
              <a:t> 8 </a:t>
            </a:r>
            <a:r>
              <a:rPr sz="950">
                <a:solidFill>
                  <a:srgbClr val="8FC99A"/>
                </a:solidFill>
                <a:latin typeface="Courier New"/>
              </a:rPr>
              <a:t># cách khác: floor về đầu giờ; không tự thêm giờ trống</a:t>
            </a:r>
          </a:p>
          <a:p>
            <a:r>
              <a:rPr sz="950">
                <a:solidFill>
                  <a:srgbClr val="6B7385"/>
                </a:solidFill>
                <a:latin typeface="Courier New"/>
              </a:rPr>
              <a:t> 9 </a:t>
            </a:r>
            <a:r>
              <a:rPr sz="950">
                <a:solidFill>
                  <a:srgbClr val="E6EAF0"/>
                </a:solidFill>
                <a:latin typeface="Courier New"/>
              </a:rPr>
              <a:t>s.groupby(s.index.floor("h")).sum()</a:t>
            </a:r>
          </a:p>
          <a:p>
            <a:r>
              <a:rPr sz="950">
                <a:solidFill>
                  <a:srgbClr val="6B7385"/>
                </a:solidFill>
                <a:latin typeface="Courier New"/>
              </a:rPr>
              <a:t>10 </a:t>
            </a:r>
            <a:r>
              <a:rPr sz="950">
                <a:solidFill>
                  <a:srgbClr val="8FC99A"/>
                </a:solidFill>
                <a:latin typeface="Courier New"/>
              </a:rPr>
              <a:t># tháng 3 New York: ngày 10/3 chỉ dài 23 giờ</a:t>
            </a:r>
          </a:p>
          <a:p>
            <a:r>
              <a:rPr sz="950">
                <a:solidFill>
                  <a:srgbClr val="6B7385"/>
                </a:solidFill>
                <a:latin typeface="Courier New"/>
              </a:rPr>
              <a:t>11 </a:t>
            </a:r>
            <a:r>
              <a:rPr sz="950">
                <a:solidFill>
                  <a:srgbClr val="E6EAF0"/>
                </a:solidFill>
                <a:latin typeface="Courier New"/>
              </a:rPr>
              <a:t>gio = pd.date_range("2024-03-01", "2024-04-01", freq="h",</a:t>
            </a:r>
          </a:p>
          <a:p>
            <a:r>
              <a:rPr sz="950">
                <a:solidFill>
                  <a:srgbClr val="6B7385"/>
                </a:solidFill>
                <a:latin typeface="Courier New"/>
              </a:rPr>
              <a:t>12 </a:t>
            </a:r>
            <a:r>
              <a:rPr sz="950">
                <a:solidFill>
                  <a:srgbClr val="E6EAF0"/>
                </a:solidFill>
                <a:latin typeface="Courier New"/>
              </a:rPr>
              <a:t>                    tz="America/New_York", inclusive="left")</a:t>
            </a:r>
          </a:p>
          <a:p>
            <a:r>
              <a:rPr sz="950">
                <a:solidFill>
                  <a:srgbClr val="6B7385"/>
                </a:solidFill>
                <a:latin typeface="Courier New"/>
              </a:rPr>
              <a:t>13 </a:t>
            </a:r>
            <a:r>
              <a:rPr sz="950">
                <a:solidFill>
                  <a:srgbClr val="E6EAF0"/>
                </a:solidFill>
                <a:latin typeface="Courier New"/>
              </a:rPr>
              <a:t>len(gio)</a:t>
            </a:r>
          </a:p>
        </p:txBody>
      </p:sp>
      <p:sp>
        <p:nvSpPr>
          <p:cNvPr id="8" name="TextBox 7"/>
          <p:cNvSpPr txBox="1"/>
          <p:nvPr/>
        </p:nvSpPr>
        <p:spPr>
          <a:xfrm>
            <a:off x="685800" y="3803650"/>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buoi-03/tu-hoc.ipynb, phần 3</a:t>
            </a:r>
          </a:p>
        </p:txBody>
      </p:sp>
      <p:sp>
        <p:nvSpPr>
          <p:cNvPr id="9" name="TextBox 8"/>
          <p:cNvSpPr txBox="1"/>
          <p:nvPr/>
        </p:nvSpPr>
        <p:spPr>
          <a:xfrm>
            <a:off x="548640" y="4160266"/>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4803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3–5</a:t>
            </a:r>
          </a:p>
        </p:txBody>
      </p:sp>
      <p:sp>
        <p:nvSpPr>
          <p:cNvPr id="11" name="TextBox 10"/>
          <p:cNvSpPr txBox="1"/>
          <p:nvPr/>
        </p:nvSpPr>
        <p:spPr>
          <a:xfrm>
            <a:off x="1353312" y="4462018"/>
            <a:ext cx="2697480" cy="442044"/>
          </a:xfrm>
          <a:prstGeom prst="rect">
            <a:avLst/>
          </a:prstGeom>
          <a:noFill/>
        </p:spPr>
        <p:txBody>
          <a:bodyPr wrap="square" lIns="0" rIns="0" tIns="0" bIns="0" anchor="t">
            <a:spAutoFit/>
          </a:bodyPr>
          <a:lstStyle/>
          <a:p>
            <a:pPr algn="l"/>
            <a:r>
              <a:rPr sz="1050" b="0" i="0">
                <a:solidFill>
                  <a:srgbClr val="1B2A41"/>
                </a:solidFill>
                <a:latin typeface="Arial"/>
              </a:rPr>
              <a:t>Ba sự kiện lúc 00:10, 00:50, 02:20.</a:t>
            </a:r>
          </a:p>
        </p:txBody>
      </p:sp>
      <p:sp>
        <p:nvSpPr>
          <p:cNvPr id="12" name="Rounded Rectangle 11"/>
          <p:cNvSpPr/>
          <p:nvPr/>
        </p:nvSpPr>
        <p:spPr>
          <a:xfrm>
            <a:off x="548640" y="492235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6</a:t>
            </a:r>
          </a:p>
        </p:txBody>
      </p:sp>
      <p:sp>
        <p:nvSpPr>
          <p:cNvPr id="13" name="TextBox 12"/>
          <p:cNvSpPr txBox="1"/>
          <p:nvPr/>
        </p:nvSpPr>
        <p:spPr>
          <a:xfrm>
            <a:off x="1353312" y="4904062"/>
            <a:ext cx="2697480" cy="442044"/>
          </a:xfrm>
          <a:prstGeom prst="rect">
            <a:avLst/>
          </a:prstGeom>
          <a:noFill/>
        </p:spPr>
        <p:txBody>
          <a:bodyPr wrap="square" lIns="0" rIns="0" tIns="0" bIns="0" anchor="t">
            <a:spAutoFit/>
          </a:bodyPr>
          <a:lstStyle/>
          <a:p>
            <a:pPr algn="l"/>
            <a:r>
              <a:rPr sz="1050" b="0" i="0">
                <a:solidFill>
                  <a:srgbClr val="1B2A41"/>
                </a:solidFill>
                <a:latin typeface="Arial"/>
              </a:rPr>
              <a:t>Cộng theo giờ; giờ 01:00 không có gì ra 0.</a:t>
            </a:r>
          </a:p>
        </p:txBody>
      </p:sp>
      <p:sp>
        <p:nvSpPr>
          <p:cNvPr id="14" name="Rounded Rectangle 13"/>
          <p:cNvSpPr/>
          <p:nvPr/>
        </p:nvSpPr>
        <p:spPr>
          <a:xfrm>
            <a:off x="548640" y="536439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7</a:t>
            </a:r>
          </a:p>
        </p:txBody>
      </p:sp>
      <p:sp>
        <p:nvSpPr>
          <p:cNvPr id="15" name="TextBox 14"/>
          <p:cNvSpPr txBox="1"/>
          <p:nvPr/>
        </p:nvSpPr>
        <p:spPr>
          <a:xfrm>
            <a:off x="1353312" y="5346107"/>
            <a:ext cx="2697480" cy="442044"/>
          </a:xfrm>
          <a:prstGeom prst="rect">
            <a:avLst/>
          </a:prstGeom>
          <a:noFill/>
        </p:spPr>
        <p:txBody>
          <a:bodyPr wrap="square" lIns="0" rIns="0" tIns="0" bIns="0" anchor="t">
            <a:spAutoFit/>
          </a:bodyPr>
          <a:lstStyle/>
          <a:p>
            <a:pPr algn="l"/>
            <a:r>
              <a:rPr sz="1050" b="0" i="0">
                <a:solidFill>
                  <a:srgbClr val="1B2A41"/>
                </a:solidFill>
                <a:latin typeface="Arial"/>
              </a:rPr>
              <a:t>Trung bình theo giờ; giờ trống ra NaN.</a:t>
            </a:r>
          </a:p>
        </p:txBody>
      </p:sp>
      <p:sp>
        <p:nvSpPr>
          <p:cNvPr id="16" name="Rounded Rectangle 15"/>
          <p:cNvSpPr/>
          <p:nvPr/>
        </p:nvSpPr>
        <p:spPr>
          <a:xfrm>
            <a:off x="4160520" y="44803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9</a:t>
            </a:r>
          </a:p>
        </p:txBody>
      </p:sp>
      <p:sp>
        <p:nvSpPr>
          <p:cNvPr id="17" name="TextBox 16"/>
          <p:cNvSpPr txBox="1"/>
          <p:nvPr/>
        </p:nvSpPr>
        <p:spPr>
          <a:xfrm>
            <a:off x="4965192" y="4462018"/>
            <a:ext cx="2697480" cy="442044"/>
          </a:xfrm>
          <a:prstGeom prst="rect">
            <a:avLst/>
          </a:prstGeom>
          <a:noFill/>
        </p:spPr>
        <p:txBody>
          <a:bodyPr wrap="square" lIns="0" rIns="0" tIns="0" bIns="0" anchor="t">
            <a:spAutoFit/>
          </a:bodyPr>
          <a:lstStyle/>
          <a:p>
            <a:pPr algn="l"/>
            <a:r>
              <a:rPr sz="1050" b="0" i="0">
                <a:solidFill>
                  <a:srgbClr val="1B2A41"/>
                </a:solidFill>
                <a:latin typeface="Arial"/>
              </a:rPr>
              <a:t>Làm tròn xuống đầu giờ rồi cộng, thiếu giờ 01.</a:t>
            </a:r>
          </a:p>
        </p:txBody>
      </p:sp>
      <p:sp>
        <p:nvSpPr>
          <p:cNvPr id="18" name="Rounded Rectangle 17"/>
          <p:cNvSpPr/>
          <p:nvPr/>
        </p:nvSpPr>
        <p:spPr>
          <a:xfrm>
            <a:off x="4160520" y="492235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11–13</a:t>
            </a:r>
          </a:p>
        </p:txBody>
      </p:sp>
      <p:sp>
        <p:nvSpPr>
          <p:cNvPr id="19" name="TextBox 18"/>
          <p:cNvSpPr txBox="1"/>
          <p:nvPr/>
        </p:nvSpPr>
        <p:spPr>
          <a:xfrm>
            <a:off x="4965192" y="4904062"/>
            <a:ext cx="2697480" cy="442044"/>
          </a:xfrm>
          <a:prstGeom prst="rect">
            <a:avLst/>
          </a:prstGeom>
          <a:noFill/>
        </p:spPr>
        <p:txBody>
          <a:bodyPr wrap="square" lIns="0" rIns="0" tIns="0" bIns="0" anchor="t">
            <a:spAutoFit/>
          </a:bodyPr>
          <a:lstStyle/>
          <a:p>
            <a:pPr algn="l"/>
            <a:r>
              <a:rPr sz="1050" b="0" i="0">
                <a:solidFill>
                  <a:srgbClr val="1B2A41"/>
                </a:solidFill>
                <a:latin typeface="Arial"/>
              </a:rPr>
              <a:t>Đếm số giờ thật của tháng 3.</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Cộng ra [3, 0, 5], trung bình ra [1,5; NaN; 5], floor chỉ ra [3, 5]. Tháng 3 có 743 giờ, không phải 744.</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resample("h")</a:t>
            </a:r>
            <a:r>
              <a:rPr sz="950" b="1" i="0">
                <a:solidFill>
                  <a:srgbClr val="5B6778"/>
                </a:solidFill>
                <a:latin typeface="Arial"/>
              </a:rPr>
              <a:t>   pandas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Chia trục thời gian thành từng giờ, mỗi giờ gộp thành một số.</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index.floor("h")</a:t>
            </a:r>
            <a:r>
              <a:rPr sz="950" b="1" i="0">
                <a:solidFill>
                  <a:srgbClr val="5B6778"/>
                </a:solidFill>
                <a:latin typeface="Arial"/>
              </a:rPr>
              <a:t>   pandas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Làm tròn mỗi mốc xuống đầu giờ: 9:40 thành 9:00.</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pd.date_range(..., tz=...)</a:t>
            </a:r>
            <a:r>
              <a:rPr sz="950" b="1" i="0">
                <a:solidFill>
                  <a:srgbClr val="5B6778"/>
                </a:solidFill>
                <a:latin typeface="Arial"/>
              </a:rPr>
              <a:t>   pandas</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Sinh lưới giờ theo múi giờ, tự bỏ giờ bị nhảy qua.</a:t>
            </a:r>
          </a:p>
        </p:txBody>
      </p:sp>
      <p:sp>
        <p:nvSpPr>
          <p:cNvPr id="29" name="Rounded Rectangle 28"/>
          <p:cNvSpPr/>
          <p:nvPr/>
        </p:nvSpPr>
        <p:spPr>
          <a:xfrm>
            <a:off x="7863840" y="4059935"/>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3be3743220d9.png"/>
          <p:cNvPicPr>
            <a:picLocks noChangeAspect="1"/>
          </p:cNvPicPr>
          <p:nvPr/>
        </p:nvPicPr>
        <p:blipFill>
          <a:blip r:embed="rId2"/>
          <a:stretch>
            <a:fillRect/>
          </a:stretch>
        </p:blipFill>
        <p:spPr>
          <a:xfrm>
            <a:off x="8851392" y="4195571"/>
            <a:ext cx="1801368" cy="277368"/>
          </a:xfrm>
          <a:prstGeom prst="rect">
            <a:avLst/>
          </a:prstGeom>
        </p:spPr>
      </p:pic>
      <p:pic>
        <p:nvPicPr>
          <p:cNvPr id="31" name="Picture 30" descr="kn-closed-label.png"/>
          <p:cNvPicPr>
            <a:picLocks noChangeAspect="1"/>
          </p:cNvPicPr>
          <p:nvPr/>
        </p:nvPicPr>
        <p:blipFill>
          <a:blip r:embed="rId3"/>
          <a:stretch>
            <a:fillRect/>
          </a:stretch>
        </p:blipFill>
        <p:spPr>
          <a:xfrm>
            <a:off x="8106897" y="4745735"/>
            <a:ext cx="3290357" cy="1728216"/>
          </a:xfrm>
          <a:prstGeom prst="rect">
            <a:avLst/>
          </a:prstGeom>
        </p:spPr>
      </p:pic>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ghép hai nguồn trên cùng UTC</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3</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Đưa cả hai bảng về UTC rồi mới ghép; ghép gần nhất thì chỉ nhìn về quá khứ.</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pandas as pd</a:t>
            </a:r>
          </a:p>
          <a:p>
            <a:r>
              <a:rPr sz="850">
                <a:solidFill>
                  <a:srgbClr val="6B7385"/>
                </a:solidFill>
                <a:latin typeface="Courier New"/>
              </a:rPr>
              <a:t> 2 </a:t>
            </a:r>
          </a:p>
          <a:p>
            <a:r>
              <a:rPr sz="850">
                <a:solidFill>
                  <a:srgbClr val="6B7385"/>
                </a:solidFill>
                <a:latin typeface="Courier New"/>
              </a:rPr>
              <a:t> 3 </a:t>
            </a:r>
            <a:r>
              <a:rPr sz="850">
                <a:solidFill>
                  <a:srgbClr val="E6EAF0"/>
                </a:solidFill>
                <a:latin typeface="Courier New"/>
              </a:rPr>
              <a:t>NY = "America/New_York"</a:t>
            </a:r>
          </a:p>
          <a:p>
            <a:r>
              <a:rPr sz="850">
                <a:solidFill>
                  <a:srgbClr val="6B7385"/>
                </a:solidFill>
                <a:latin typeface="Courier New"/>
              </a:rPr>
              <a:t> 4 </a:t>
            </a:r>
            <a:r>
              <a:rPr sz="850">
                <a:solidFill>
                  <a:srgbClr val="8FC99A"/>
                </a:solidFill>
                <a:latin typeface="Courier New"/>
              </a:rPr>
              <a:t># t3: chuyến taxi (giờ NY naive); tt: thời tiết (giờ UTC naive)</a:t>
            </a:r>
          </a:p>
          <a:p>
            <a:r>
              <a:rPr sz="850">
                <a:solidFill>
                  <a:srgbClr val="6B7385"/>
                </a:solidFill>
                <a:latin typeface="Courier New"/>
              </a:rPr>
              <a:t> 5 </a:t>
            </a:r>
            <a:r>
              <a:rPr sz="850">
                <a:solidFill>
                  <a:srgbClr val="E6EAF0"/>
                </a:solidFill>
                <a:latin typeface="Courier New"/>
              </a:rPr>
              <a:t>tt["ds"] = pd.to_datetime(tt["time"]).dt.tz_localize("UTC")</a:t>
            </a:r>
          </a:p>
          <a:p>
            <a:r>
              <a:rPr sz="850">
                <a:solidFill>
                  <a:srgbClr val="6B7385"/>
                </a:solidFill>
                <a:latin typeface="Courier New"/>
              </a:rPr>
              <a:t> 6 </a:t>
            </a:r>
            <a:r>
              <a:rPr sz="850">
                <a:solidFill>
                  <a:srgbClr val="E6EAF0"/>
                </a:solidFill>
                <a:latin typeface="Courier New"/>
              </a:rPr>
              <a:t>utc = t3["tpep_pickup_datetime"].dt.tz_localize(</a:t>
            </a:r>
          </a:p>
          <a:p>
            <a:r>
              <a:rPr sz="850">
                <a:solidFill>
                  <a:srgbClr val="6B7385"/>
                </a:solidFill>
                <a:latin typeface="Courier New"/>
              </a:rPr>
              <a:t> 7 </a:t>
            </a:r>
            <a:r>
              <a:rPr sz="850">
                <a:solidFill>
                  <a:srgbClr val="E6EAF0"/>
                </a:solidFill>
                <a:latin typeface="Courier New"/>
              </a:rPr>
              <a:t>    NY, ambiguous="NaT", nonexistent="NaT").dt.tz_convert("UTC")</a:t>
            </a:r>
          </a:p>
          <a:p>
            <a:r>
              <a:rPr sz="850">
                <a:solidFill>
                  <a:srgbClr val="6B7385"/>
                </a:solidFill>
                <a:latin typeface="Courier New"/>
              </a:rPr>
              <a:t> 8 </a:t>
            </a:r>
            <a:r>
              <a:rPr sz="850">
                <a:solidFill>
                  <a:srgbClr val="E6EAF0"/>
                </a:solidFill>
                <a:latin typeface="Courier New"/>
              </a:rPr>
              <a:t>dem = utc.dt.floor("h").value_counts().rename("y").rename_axis("ds")</a:t>
            </a:r>
          </a:p>
          <a:p>
            <a:r>
              <a:rPr sz="850">
                <a:solidFill>
                  <a:srgbClr val="6B7385"/>
                </a:solidFill>
                <a:latin typeface="Courier New"/>
              </a:rPr>
              <a:t> 9 </a:t>
            </a:r>
            <a:r>
              <a:rPr sz="850">
                <a:solidFill>
                  <a:srgbClr val="E6EAF0"/>
                </a:solidFill>
                <a:latin typeface="Courier New"/>
              </a:rPr>
              <a:t>dung = dem.reset_index().merge(tt, on="ds")        </a:t>
            </a:r>
            <a:r>
              <a:rPr sz="850">
                <a:solidFill>
                  <a:srgbClr val="8FC99A"/>
                </a:solidFill>
                <a:latin typeface="Courier New"/>
              </a:rPr>
              <a:t># cùng UTC mới ghép</a:t>
            </a:r>
          </a:p>
          <a:p>
            <a:r>
              <a:rPr sz="850">
                <a:solidFill>
                  <a:srgbClr val="6B7385"/>
                </a:solidFill>
                <a:latin typeface="Courier New"/>
              </a:rPr>
              <a:t>10 </a:t>
            </a:r>
            <a:r>
              <a:rPr sz="850">
                <a:solidFill>
                  <a:srgbClr val="E6EAF0"/>
                </a:solidFill>
                <a:latin typeface="Courier New"/>
              </a:rPr>
              <a:t>gio_ny = dung["ds"].dt.tz_convert(NY).dt.hour</a:t>
            </a:r>
          </a:p>
          <a:p>
            <a:r>
              <a:rPr sz="850">
                <a:solidFill>
                  <a:srgbClr val="6B7385"/>
                </a:solidFill>
                <a:latin typeface="Courier New"/>
              </a:rPr>
              <a:t>11 </a:t>
            </a:r>
            <a:r>
              <a:rPr sz="850">
                <a:solidFill>
                  <a:srgbClr val="E6EAF0"/>
                </a:solidFill>
                <a:latin typeface="Courier New"/>
              </a:rPr>
              <a:t>nong = dung.groupby(gio_ny)["nhiet_do"].mean().idxmax()   </a:t>
            </a:r>
            <a:r>
              <a:rPr sz="850">
                <a:solidFill>
                  <a:srgbClr val="8FC99A"/>
                </a:solidFill>
                <a:latin typeface="Courier New"/>
              </a:rPr>
              <a:t># phép thử</a:t>
            </a:r>
          </a:p>
          <a:p>
            <a:r>
              <a:rPr sz="850">
                <a:solidFill>
                  <a:srgbClr val="6B7385"/>
                </a:solidFill>
                <a:latin typeface="Courier New"/>
              </a:rPr>
              <a:t>12 </a:t>
            </a:r>
            <a:r>
              <a:rPr sz="850">
                <a:solidFill>
                  <a:srgbClr val="8FC99A"/>
                </a:solidFill>
                <a:latin typeface="Courier New"/>
              </a:rPr>
              <a:t># bảng phải thưa: lấy giá gần nhất đã có, không nhìn tương lai</a:t>
            </a:r>
          </a:p>
          <a:p>
            <a:r>
              <a:rPr sz="850">
                <a:solidFill>
                  <a:srgbClr val="6B7385"/>
                </a:solidFill>
                <a:latin typeface="Courier New"/>
              </a:rPr>
              <a:t>13 </a:t>
            </a:r>
            <a:r>
              <a:rPr sz="850">
                <a:solidFill>
                  <a:srgbClr val="E6EAF0"/>
                </a:solidFill>
                <a:latin typeface="Courier New"/>
              </a:rPr>
              <a:t>trai = pd.DataFrame({"t": pd.to_datetime(["2024-01-01 10:00"])})</a:t>
            </a:r>
          </a:p>
          <a:p>
            <a:r>
              <a:rPr sz="850">
                <a:solidFill>
                  <a:srgbClr val="6B7385"/>
                </a:solidFill>
                <a:latin typeface="Courier New"/>
              </a:rPr>
              <a:t>14 </a:t>
            </a:r>
            <a:r>
              <a:rPr sz="850">
                <a:solidFill>
                  <a:srgbClr val="E6EAF0"/>
                </a:solidFill>
                <a:latin typeface="Courier New"/>
              </a:rPr>
              <a:t>phai = pd.DataFrame({"t": pd.to_datetime(["2024-01-01 09:30",</a:t>
            </a:r>
          </a:p>
          <a:p>
            <a:r>
              <a:rPr sz="850">
                <a:solidFill>
                  <a:srgbClr val="6B7385"/>
                </a:solidFill>
                <a:latin typeface="Courier New"/>
              </a:rPr>
              <a:t>15 </a:t>
            </a:r>
            <a:r>
              <a:rPr sz="850">
                <a:solidFill>
                  <a:srgbClr val="E6EAF0"/>
                </a:solidFill>
                <a:latin typeface="Courier New"/>
              </a:rPr>
              <a:t>                     "2024-01-01 10:30"]), "gia": [9, 10]})</a:t>
            </a:r>
          </a:p>
          <a:p>
            <a:r>
              <a:rPr sz="850">
                <a:solidFill>
                  <a:srgbClr val="6B7385"/>
                </a:solidFill>
                <a:latin typeface="Courier New"/>
              </a:rPr>
              <a:t>16 </a:t>
            </a:r>
            <a:r>
              <a:rPr sz="850">
                <a:solidFill>
                  <a:srgbClr val="E6EAF0"/>
                </a:solidFill>
                <a:latin typeface="Courier New"/>
              </a:rPr>
              <a:t>pd.merge_asof(trai, phai, on="t")              </a:t>
            </a:r>
            <a:r>
              <a:rPr sz="850">
                <a:solidFill>
                  <a:srgbClr val="8FC99A"/>
                </a:solidFill>
                <a:latin typeface="Courier New"/>
              </a:rPr>
              <a:t># backward: nhìn quá khứ</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buoi-03/tu-hoc.ipynb, phần 4</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5</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Thời tiết vốn là UTC: chỉ cần ghi rõ ra.</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6–7</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Taxi: gắn giờ New York, đổi UTC; mơ hồ ra NaT.</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8–9</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Đếm chuyến mỗi giờ UTC, ghép với thời tiết.</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10–11</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Phép thử: giờ nóng nhất phải là buổi chiều.</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13–16</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Ghép as-of, mặc định lấy giá đã có trước.</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Giờ nóng nhất: ghép sai 20h, ghép đúng 16h. Tương quan mưa–số chuyến: sai −0,100, đúng +0,136. merge_asof lấy giá 9.</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dt.tz_localize(..., nonexistent="NaT")</a:t>
            </a:r>
            <a:r>
              <a:rPr sz="950" b="1" i="0">
                <a:solidFill>
                  <a:srgbClr val="5B6778"/>
                </a:solidFill>
                <a:latin typeface="Arial"/>
              </a:rPr>
              <a:t>   pandas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Gắn múi giờ cho cả cột; giờ không tồn tại hay lặp ghi NaT.</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merge(tt, on="ds")</a:t>
            </a:r>
            <a:r>
              <a:rPr sz="950" b="1" i="0">
                <a:solidFill>
                  <a:srgbClr val="5B6778"/>
                </a:solidFill>
                <a:latin typeface="Arial"/>
              </a:rPr>
              <a:t>   pandas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Nối hai bảng theo cột thời gian chung ds.</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pd.merge_asof</a:t>
            </a:r>
            <a:r>
              <a:rPr sz="950" b="1" i="0">
                <a:solidFill>
                  <a:srgbClr val="5B6778"/>
                </a:solidFill>
                <a:latin typeface="Arial"/>
              </a:rPr>
              <a:t>   pandas</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Nối mỗi dòng với dòng gần nhất ở trước nó theo thời gian.</a:t>
            </a:r>
          </a:p>
        </p:txBody>
      </p:sp>
      <p:pic>
        <p:nvPicPr>
          <p:cNvPr id="29" name="Picture 28" descr="kn-ghep-as-of-merge-asof.png"/>
          <p:cNvPicPr>
            <a:picLocks noChangeAspect="1"/>
          </p:cNvPicPr>
          <p:nvPr/>
        </p:nvPicPr>
        <p:blipFill>
          <a:blip r:embed="rId2"/>
          <a:stretch>
            <a:fillRect/>
          </a:stretch>
        </p:blipFill>
        <p:spPr>
          <a:xfrm>
            <a:off x="7863840" y="4282932"/>
            <a:ext cx="3776472" cy="1995454"/>
          </a:xfrm>
          <a:prstGeom prst="rect">
            <a:avLst/>
          </a:prstGeom>
        </p:spPr>
      </p:pic>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dạng dài trên một lưới chung</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3</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Dựng bảng unique_id, ds, y cho mọi khu vực, đủ mọi giờ, giờ không có chuyến ghi 0.</a:t>
            </a:r>
          </a:p>
        </p:txBody>
      </p:sp>
      <p:sp>
        <p:nvSpPr>
          <p:cNvPr id="6" name="Rounded Rectangle 5"/>
          <p:cNvSpPr/>
          <p:nvPr/>
        </p:nvSpPr>
        <p:spPr>
          <a:xfrm>
            <a:off x="548640" y="1737360"/>
            <a:ext cx="7086600" cy="2208276"/>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1888236"/>
          </a:xfrm>
          <a:prstGeom prst="rect">
            <a:avLst/>
          </a:prstGeom>
          <a:noFill/>
        </p:spPr>
        <p:txBody>
          <a:bodyPr wrap="none" lIns="0" rIns="0" tIns="0" bIns="0">
            <a:spAutoFit/>
          </a:bodyPr>
          <a:lstStyle/>
          <a:p>
            <a:r>
              <a:rPr sz="1050">
                <a:solidFill>
                  <a:srgbClr val="6B7385"/>
                </a:solidFill>
                <a:latin typeface="Courier New"/>
              </a:rPr>
              <a:t> 1 </a:t>
            </a:r>
            <a:r>
              <a:rPr sz="1050">
                <a:solidFill>
                  <a:srgbClr val="E6EAF0"/>
                </a:solidFill>
                <a:latin typeface="Courier New"/>
              </a:rPr>
              <a:t>import pandas as pd</a:t>
            </a:r>
          </a:p>
          <a:p>
            <a:r>
              <a:rPr sz="1050">
                <a:solidFill>
                  <a:srgbClr val="6B7385"/>
                </a:solidFill>
                <a:latin typeface="Courier New"/>
              </a:rPr>
              <a:t> 2 </a:t>
            </a:r>
          </a:p>
          <a:p>
            <a:r>
              <a:rPr sz="1050">
                <a:solidFill>
                  <a:srgbClr val="6B7385"/>
                </a:solidFill>
                <a:latin typeface="Courier New"/>
              </a:rPr>
              <a:t> 3 </a:t>
            </a:r>
            <a:r>
              <a:rPr sz="1050">
                <a:solidFill>
                  <a:srgbClr val="8FC99A"/>
                </a:solidFill>
                <a:latin typeface="Courier New"/>
              </a:rPr>
              <a:t># t3: chuyến tháng 3; utc: giờ đón đã đổi UTC như mục 4.4</a:t>
            </a:r>
          </a:p>
          <a:p>
            <a:r>
              <a:rPr sz="1050">
                <a:solidFill>
                  <a:srgbClr val="6B7385"/>
                </a:solidFill>
                <a:latin typeface="Courier New"/>
              </a:rPr>
              <a:t> 4 </a:t>
            </a:r>
            <a:r>
              <a:rPr sz="1050">
                <a:solidFill>
                  <a:srgbClr val="E6EAF0"/>
                </a:solidFill>
                <a:latin typeface="Courier New"/>
              </a:rPr>
              <a:t>kv = t3.assign(ds=utc.dt.floor("h")).dropna(subset=["ds"])</a:t>
            </a:r>
          </a:p>
          <a:p>
            <a:r>
              <a:rPr sz="1050">
                <a:solidFill>
                  <a:srgbClr val="6B7385"/>
                </a:solidFill>
                <a:latin typeface="Courier New"/>
              </a:rPr>
              <a:t> 5 </a:t>
            </a:r>
            <a:r>
              <a:rPr sz="1050">
                <a:solidFill>
                  <a:srgbClr val="E6EAF0"/>
                </a:solidFill>
                <a:latin typeface="Courier New"/>
              </a:rPr>
              <a:t>dem = kv.groupby(["PULocationID", "ds"]).size()    </a:t>
            </a:r>
            <a:r>
              <a:rPr sz="1050">
                <a:solidFill>
                  <a:srgbClr val="8FC99A"/>
                </a:solidFill>
                <a:latin typeface="Courier New"/>
              </a:rPr>
              <a:t># chỉ giờ có chuyến</a:t>
            </a:r>
          </a:p>
          <a:p>
            <a:r>
              <a:rPr sz="1050">
                <a:solidFill>
                  <a:srgbClr val="6B7385"/>
                </a:solidFill>
                <a:latin typeface="Courier New"/>
              </a:rPr>
              <a:t> 6 </a:t>
            </a:r>
            <a:r>
              <a:rPr sz="1050">
                <a:solidFill>
                  <a:srgbClr val="E6EAF0"/>
                </a:solidFill>
                <a:latin typeface="Courier New"/>
              </a:rPr>
              <a:t>luoi = pd.date_range("2024-03-01 05:00", "2024-04-01 04:00", freq="h",</a:t>
            </a:r>
          </a:p>
          <a:p>
            <a:r>
              <a:rPr sz="1050">
                <a:solidFill>
                  <a:srgbClr val="6B7385"/>
                </a:solidFill>
                <a:latin typeface="Courier New"/>
              </a:rPr>
              <a:t> 7 </a:t>
            </a:r>
            <a:r>
              <a:rPr sz="1050">
                <a:solidFill>
                  <a:srgbClr val="E6EAF0"/>
                </a:solidFill>
                <a:latin typeface="Courier New"/>
              </a:rPr>
              <a:t>                     tz="UTC", inclusive="left")   </a:t>
            </a:r>
            <a:r>
              <a:rPr sz="1050">
                <a:solidFill>
                  <a:srgbClr val="8FC99A"/>
                </a:solidFill>
                <a:latin typeface="Courier New"/>
              </a:rPr>
              <a:t># [đầu, cuối)</a:t>
            </a:r>
          </a:p>
          <a:p>
            <a:r>
              <a:rPr sz="1050">
                <a:solidFill>
                  <a:srgbClr val="6B7385"/>
                </a:solidFill>
                <a:latin typeface="Courier New"/>
              </a:rPr>
              <a:t> 8 </a:t>
            </a:r>
            <a:r>
              <a:rPr sz="1050">
                <a:solidFill>
                  <a:srgbClr val="E6EAF0"/>
                </a:solidFill>
                <a:latin typeface="Courier New"/>
              </a:rPr>
              <a:t>day_du = pd.MultiIndex.from_product([dem.index.levels[0], luoi],</a:t>
            </a:r>
          </a:p>
          <a:p>
            <a:r>
              <a:rPr sz="1050">
                <a:solidFill>
                  <a:srgbClr val="6B7385"/>
                </a:solidFill>
                <a:latin typeface="Courier New"/>
              </a:rPr>
              <a:t> 9 </a:t>
            </a:r>
            <a:r>
              <a:rPr sz="1050">
                <a:solidFill>
                  <a:srgbClr val="E6EAF0"/>
                </a:solidFill>
                <a:latin typeface="Courier New"/>
              </a:rPr>
              <a:t>                                    names=["unique_id", "ds"])</a:t>
            </a:r>
          </a:p>
          <a:p>
            <a:r>
              <a:rPr sz="1050">
                <a:solidFill>
                  <a:srgbClr val="6B7385"/>
                </a:solidFill>
                <a:latin typeface="Courier New"/>
              </a:rPr>
              <a:t>10 </a:t>
            </a:r>
            <a:r>
              <a:rPr sz="1050">
                <a:solidFill>
                  <a:srgbClr val="E6EAF0"/>
                </a:solidFill>
                <a:latin typeface="Courier New"/>
              </a:rPr>
              <a:t>dai = dem.reindex(day_du, fill_value=0).rename("y").reset_index()</a:t>
            </a:r>
          </a:p>
          <a:p>
            <a:r>
              <a:rPr sz="1050">
                <a:solidFill>
                  <a:srgbClr val="6B7385"/>
                </a:solidFill>
                <a:latin typeface="Courier New"/>
              </a:rPr>
              <a:t>11 </a:t>
            </a:r>
            <a:r>
              <a:rPr sz="1050">
                <a:solidFill>
                  <a:srgbClr val="E6EAF0"/>
                </a:solidFill>
                <a:latin typeface="Courier New"/>
              </a:rPr>
              <a:t>ty_le_0 = (dai["y"] == 0).mean()                   </a:t>
            </a:r>
            <a:r>
              <a:rPr sz="1050">
                <a:solidFill>
                  <a:srgbClr val="8FC99A"/>
                </a:solidFill>
                <a:latin typeface="Courier New"/>
              </a:rPr>
              <a:t># tỷ lệ ô bằng 0</a:t>
            </a:r>
          </a:p>
        </p:txBody>
      </p:sp>
      <p:sp>
        <p:nvSpPr>
          <p:cNvPr id="8" name="TextBox 7"/>
          <p:cNvSpPr txBox="1"/>
          <p:nvPr/>
        </p:nvSpPr>
        <p:spPr>
          <a:xfrm>
            <a:off x="685800" y="3698748"/>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buoi-03/tu-hoc.ipynb, phần 5</a:t>
            </a:r>
          </a:p>
        </p:txBody>
      </p:sp>
      <p:sp>
        <p:nvSpPr>
          <p:cNvPr id="9" name="TextBox 8"/>
          <p:cNvSpPr txBox="1"/>
          <p:nvPr/>
        </p:nvSpPr>
        <p:spPr>
          <a:xfrm>
            <a:off x="548640" y="4055363"/>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3754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4</a:t>
            </a:r>
          </a:p>
        </p:txBody>
      </p:sp>
      <p:sp>
        <p:nvSpPr>
          <p:cNvPr id="11" name="TextBox 10"/>
          <p:cNvSpPr txBox="1"/>
          <p:nvPr/>
        </p:nvSpPr>
        <p:spPr>
          <a:xfrm>
            <a:off x="1353312" y="4357116"/>
            <a:ext cx="2697480" cy="457200"/>
          </a:xfrm>
          <a:prstGeom prst="rect">
            <a:avLst/>
          </a:prstGeom>
          <a:noFill/>
        </p:spPr>
        <p:txBody>
          <a:bodyPr wrap="square" lIns="0" rIns="0" tIns="0" bIns="0" anchor="t">
            <a:spAutoFit/>
          </a:bodyPr>
          <a:lstStyle/>
          <a:p>
            <a:pPr algn="l"/>
            <a:r>
              <a:rPr sz="1050" b="0" i="0">
                <a:solidFill>
                  <a:srgbClr val="1B2A41"/>
                </a:solidFill>
                <a:latin typeface="Arial"/>
              </a:rPr>
              <a:t>Làm tròn giờ đón UTC xuống đầu giờ.</a:t>
            </a:r>
          </a:p>
        </p:txBody>
      </p:sp>
      <p:sp>
        <p:nvSpPr>
          <p:cNvPr id="12" name="Rounded Rectangle 11"/>
          <p:cNvSpPr/>
          <p:nvPr/>
        </p:nvSpPr>
        <p:spPr>
          <a:xfrm>
            <a:off x="548640" y="48326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5</a:t>
            </a:r>
          </a:p>
        </p:txBody>
      </p:sp>
      <p:sp>
        <p:nvSpPr>
          <p:cNvPr id="13" name="TextBox 12"/>
          <p:cNvSpPr txBox="1"/>
          <p:nvPr/>
        </p:nvSpPr>
        <p:spPr>
          <a:xfrm>
            <a:off x="1353312" y="4814316"/>
            <a:ext cx="2697480" cy="457200"/>
          </a:xfrm>
          <a:prstGeom prst="rect">
            <a:avLst/>
          </a:prstGeom>
          <a:noFill/>
        </p:spPr>
        <p:txBody>
          <a:bodyPr wrap="square" lIns="0" rIns="0" tIns="0" bIns="0" anchor="t">
            <a:spAutoFit/>
          </a:bodyPr>
          <a:lstStyle/>
          <a:p>
            <a:pPr algn="l"/>
            <a:r>
              <a:rPr sz="1050" b="0" i="0">
                <a:solidFill>
                  <a:srgbClr val="1B2A41"/>
                </a:solidFill>
                <a:latin typeface="Arial"/>
              </a:rPr>
              <a:t>Đếm chuyến theo khu vực và giờ.</a:t>
            </a:r>
          </a:p>
        </p:txBody>
      </p:sp>
      <p:sp>
        <p:nvSpPr>
          <p:cNvPr id="14" name="Rounded Rectangle 13"/>
          <p:cNvSpPr/>
          <p:nvPr/>
        </p:nvSpPr>
        <p:spPr>
          <a:xfrm>
            <a:off x="548640" y="52898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6–7</a:t>
            </a:r>
          </a:p>
        </p:txBody>
      </p:sp>
      <p:sp>
        <p:nvSpPr>
          <p:cNvPr id="15" name="TextBox 14"/>
          <p:cNvSpPr txBox="1"/>
          <p:nvPr/>
        </p:nvSpPr>
        <p:spPr>
          <a:xfrm>
            <a:off x="1353312" y="5271516"/>
            <a:ext cx="2697480" cy="457200"/>
          </a:xfrm>
          <a:prstGeom prst="rect">
            <a:avLst/>
          </a:prstGeom>
          <a:noFill/>
        </p:spPr>
        <p:txBody>
          <a:bodyPr wrap="square" lIns="0" rIns="0" tIns="0" bIns="0" anchor="t">
            <a:spAutoFit/>
          </a:bodyPr>
          <a:lstStyle/>
          <a:p>
            <a:pPr algn="l"/>
            <a:r>
              <a:rPr sz="1050" b="0" i="0">
                <a:solidFill>
                  <a:srgbClr val="1B2A41"/>
                </a:solidFill>
                <a:latin typeface="Arial"/>
              </a:rPr>
              <a:t>Lưới giờ UTC của cả tháng 3 New York.</a:t>
            </a:r>
          </a:p>
        </p:txBody>
      </p:sp>
      <p:sp>
        <p:nvSpPr>
          <p:cNvPr id="16" name="Rounded Rectangle 15"/>
          <p:cNvSpPr/>
          <p:nvPr/>
        </p:nvSpPr>
        <p:spPr>
          <a:xfrm>
            <a:off x="4160520" y="43754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8–10</a:t>
            </a:r>
          </a:p>
        </p:txBody>
      </p:sp>
      <p:sp>
        <p:nvSpPr>
          <p:cNvPr id="17" name="TextBox 16"/>
          <p:cNvSpPr txBox="1"/>
          <p:nvPr/>
        </p:nvSpPr>
        <p:spPr>
          <a:xfrm>
            <a:off x="4965192" y="4357116"/>
            <a:ext cx="2697480" cy="457200"/>
          </a:xfrm>
          <a:prstGeom prst="rect">
            <a:avLst/>
          </a:prstGeom>
          <a:noFill/>
        </p:spPr>
        <p:txBody>
          <a:bodyPr wrap="square" lIns="0" rIns="0" tIns="0" bIns="0" anchor="t">
            <a:spAutoFit/>
          </a:bodyPr>
          <a:lstStyle/>
          <a:p>
            <a:pPr algn="l"/>
            <a:r>
              <a:rPr sz="1050" b="0" i="0">
                <a:solidFill>
                  <a:srgbClr val="1B2A41"/>
                </a:solidFill>
                <a:latin typeface="Arial"/>
              </a:rPr>
              <a:t>Mọi khu vực nhân mọi giờ; giờ vắng ghi 0.</a:t>
            </a:r>
          </a:p>
        </p:txBody>
      </p:sp>
      <p:sp>
        <p:nvSpPr>
          <p:cNvPr id="18" name="Rounded Rectangle 17"/>
          <p:cNvSpPr/>
          <p:nvPr/>
        </p:nvSpPr>
        <p:spPr>
          <a:xfrm>
            <a:off x="4160520" y="48326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11</a:t>
            </a:r>
          </a:p>
        </p:txBody>
      </p:sp>
      <p:sp>
        <p:nvSpPr>
          <p:cNvPr id="19" name="TextBox 18"/>
          <p:cNvSpPr txBox="1"/>
          <p:nvPr/>
        </p:nvSpPr>
        <p:spPr>
          <a:xfrm>
            <a:off x="4965192" y="4814316"/>
            <a:ext cx="2697480" cy="457200"/>
          </a:xfrm>
          <a:prstGeom prst="rect">
            <a:avLst/>
          </a:prstGeom>
          <a:noFill/>
        </p:spPr>
        <p:txBody>
          <a:bodyPr wrap="square" lIns="0" rIns="0" tIns="0" bIns="0" anchor="t">
            <a:spAutoFit/>
          </a:bodyPr>
          <a:lstStyle/>
          <a:p>
            <a:pPr algn="l"/>
            <a:r>
              <a:rPr sz="1050" b="0" i="0">
                <a:solidFill>
                  <a:srgbClr val="1B2A41"/>
                </a:solidFill>
                <a:latin typeface="Arial"/>
              </a:rPr>
              <a:t>Xem bao nhiêu ô bằng 0.</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192.437 dòng = 259 khu vực × 743 giờ, không mất chuyến nào; 53,7% số ô bằng 0.</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pd.MultiIndex.from_product</a:t>
            </a:r>
            <a:r>
              <a:rPr sz="950" b="1" i="0">
                <a:solidFill>
                  <a:srgbClr val="5B6778"/>
                </a:solidFill>
                <a:latin typeface="Arial"/>
              </a:rPr>
              <a:t>   pandas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Tạo mọi cặp (khu vực, giờ) từ hai danh sách.</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reindex(..., fill_value=0)</a:t>
            </a:r>
            <a:r>
              <a:rPr sz="950" b="1" i="0">
                <a:solidFill>
                  <a:srgbClr val="5B6778"/>
                </a:solidFill>
                <a:latin typeface="Arial"/>
              </a:rPr>
              <a:t>   pandas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Trải số đếm lên lưới đủ; cặp chưa có thì điền 0.</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reset_index()</a:t>
            </a:r>
            <a:r>
              <a:rPr sz="950" b="1" i="0">
                <a:solidFill>
                  <a:srgbClr val="5B6778"/>
                </a:solidFill>
                <a:latin typeface="Arial"/>
              </a:rPr>
              <a:t>   pandas</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Biến chỉ mục thành cột thường: ra bảng ba cột dạng dài.</a:t>
            </a:r>
          </a:p>
        </p:txBody>
      </p:sp>
      <p:pic>
        <p:nvPicPr>
          <p:cNvPr id="29" name="Picture 28" descr="kn-backtest.png"/>
          <p:cNvPicPr>
            <a:picLocks noChangeAspect="1"/>
          </p:cNvPicPr>
          <p:nvPr/>
        </p:nvPicPr>
        <p:blipFill>
          <a:blip r:embed="rId2"/>
          <a:stretch>
            <a:fillRect/>
          </a:stretch>
        </p:blipFill>
        <p:spPr>
          <a:xfrm>
            <a:off x="7863840" y="4410282"/>
            <a:ext cx="3776472" cy="1740755"/>
          </a:xfrm>
          <a:prstGeom prst="rect">
            <a:avLst/>
          </a:prstGeom>
        </p:spPr>
      </p:pic>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tách xu hướng và mùa vụ tuần</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4</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Tính tay hai tuần để thấy mùa vụ là phần lặp lại, rồi gộp dữ liệu thật theo ngày, tháng.</a:t>
            </a:r>
          </a:p>
        </p:txBody>
      </p:sp>
      <p:sp>
        <p:nvSpPr>
          <p:cNvPr id="6" name="Rounded Rectangle 5"/>
          <p:cNvSpPr/>
          <p:nvPr/>
        </p:nvSpPr>
        <p:spPr>
          <a:xfrm>
            <a:off x="548640" y="1737360"/>
            <a:ext cx="7086600" cy="2313178"/>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1993138"/>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numpy as np</a:t>
            </a:r>
          </a:p>
          <a:p>
            <a:r>
              <a:rPr sz="950">
                <a:solidFill>
                  <a:srgbClr val="6B7385"/>
                </a:solidFill>
                <a:latin typeface="Courier New"/>
              </a:rPr>
              <a:t> 2 </a:t>
            </a:r>
            <a:r>
              <a:rPr sz="950">
                <a:solidFill>
                  <a:srgbClr val="E6EAF0"/>
                </a:solidFill>
                <a:latin typeface="Courier New"/>
              </a:rPr>
              <a:t>import pandas as pd</a:t>
            </a:r>
          </a:p>
          <a:p>
            <a:r>
              <a:rPr sz="950">
                <a:solidFill>
                  <a:srgbClr val="6B7385"/>
                </a:solidFill>
                <a:latin typeface="Courier New"/>
              </a:rPr>
              <a:t> 3 </a:t>
            </a:r>
          </a:p>
          <a:p>
            <a:r>
              <a:rPr sz="950">
                <a:solidFill>
                  <a:srgbClr val="6B7385"/>
                </a:solidFill>
                <a:latin typeface="Courier New"/>
              </a:rPr>
              <a:t> 4 </a:t>
            </a:r>
            <a:r>
              <a:rPr sz="950">
                <a:solidFill>
                  <a:srgbClr val="8FC99A"/>
                </a:solidFill>
                <a:latin typeface="Courier New"/>
              </a:rPr>
              <a:t># hai tuần, trăm lượt mỗi ngày, từ T2 tới CN</a:t>
            </a:r>
          </a:p>
          <a:p>
            <a:r>
              <a:rPr sz="950">
                <a:solidFill>
                  <a:srgbClr val="6B7385"/>
                </a:solidFill>
                <a:latin typeface="Courier New"/>
              </a:rPr>
              <a:t> 5 </a:t>
            </a:r>
            <a:r>
              <a:rPr sz="950">
                <a:solidFill>
                  <a:srgbClr val="E6EAF0"/>
                </a:solidFill>
                <a:latin typeface="Courier New"/>
              </a:rPr>
              <a:t>tuan = np.array([[10, 12, 12, 12, 14, 6, 4],</a:t>
            </a:r>
          </a:p>
          <a:p>
            <a:r>
              <a:rPr sz="950">
                <a:solidFill>
                  <a:srgbClr val="6B7385"/>
                </a:solidFill>
                <a:latin typeface="Courier New"/>
              </a:rPr>
              <a:t> 6 </a:t>
            </a:r>
            <a:r>
              <a:rPr sz="950">
                <a:solidFill>
                  <a:srgbClr val="E6EAF0"/>
                </a:solidFill>
                <a:latin typeface="Courier New"/>
              </a:rPr>
              <a:t>                 [12, 14, 14, 14, 16, 8, 6]])</a:t>
            </a:r>
          </a:p>
          <a:p>
            <a:r>
              <a:rPr sz="950">
                <a:solidFill>
                  <a:srgbClr val="6B7385"/>
                </a:solidFill>
                <a:latin typeface="Courier New"/>
              </a:rPr>
              <a:t> 7 </a:t>
            </a:r>
            <a:r>
              <a:rPr sz="950">
                <a:solidFill>
                  <a:srgbClr val="E6EAF0"/>
                </a:solidFill>
                <a:latin typeface="Courier New"/>
              </a:rPr>
              <a:t>tb = tuan.mean(axis=1, keepdims=True)    </a:t>
            </a:r>
            <a:r>
              <a:rPr sz="950">
                <a:solidFill>
                  <a:srgbClr val="8FC99A"/>
                </a:solidFill>
                <a:latin typeface="Courier New"/>
              </a:rPr>
              <a:t># trung bình mỗi tuần</a:t>
            </a:r>
          </a:p>
          <a:p>
            <a:r>
              <a:rPr sz="950">
                <a:solidFill>
                  <a:srgbClr val="6B7385"/>
                </a:solidFill>
                <a:latin typeface="Courier New"/>
              </a:rPr>
              <a:t> 8 </a:t>
            </a:r>
            <a:r>
              <a:rPr sz="950">
                <a:solidFill>
                  <a:srgbClr val="E6EAF0"/>
                </a:solidFill>
                <a:latin typeface="Courier New"/>
              </a:rPr>
              <a:t>lech = tuan - tb                         </a:t>
            </a:r>
            <a:r>
              <a:rPr sz="950">
                <a:solidFill>
                  <a:srgbClr val="8FC99A"/>
                </a:solidFill>
                <a:latin typeface="Courier New"/>
              </a:rPr>
              <a:t># phần lệch: mùa vụ tuần</a:t>
            </a:r>
          </a:p>
          <a:p>
            <a:r>
              <a:rPr sz="950">
                <a:solidFill>
                  <a:srgbClr val="6B7385"/>
                </a:solidFill>
                <a:latin typeface="Courier New"/>
              </a:rPr>
              <a:t> 9 </a:t>
            </a:r>
          </a:p>
          <a:p>
            <a:r>
              <a:rPr sz="950">
                <a:solidFill>
                  <a:srgbClr val="6B7385"/>
                </a:solidFill>
                <a:latin typeface="Courier New"/>
              </a:rPr>
              <a:t>10 </a:t>
            </a:r>
            <a:r>
              <a:rPr sz="950">
                <a:solidFill>
                  <a:srgbClr val="8FC99A"/>
                </a:solidFill>
                <a:latin typeface="Courier New"/>
              </a:rPr>
              <a:t># df: lượt thuê theo giờ, đặt trên lưới giờ đầy đủ</a:t>
            </a:r>
          </a:p>
          <a:p>
            <a:r>
              <a:rPr sz="950">
                <a:solidFill>
                  <a:srgbClr val="6B7385"/>
                </a:solidFill>
                <a:latin typeface="Courier New"/>
              </a:rPr>
              <a:t>11 </a:t>
            </a:r>
            <a:r>
              <a:rPr sz="950">
                <a:solidFill>
                  <a:srgbClr val="E6EAF0"/>
                </a:solidFill>
                <a:latin typeface="Courier New"/>
              </a:rPr>
              <a:t>ngay = df["cnt"].resample("D").sum(min_count=12)  </a:t>
            </a:r>
            <a:r>
              <a:rPr sz="950">
                <a:solidFill>
                  <a:srgbClr val="8FC99A"/>
                </a:solidFill>
                <a:latin typeface="Courier New"/>
              </a:rPr>
              <a:t># thiếu giờ ra NaN</a:t>
            </a:r>
          </a:p>
          <a:p>
            <a:r>
              <a:rPr sz="950">
                <a:solidFill>
                  <a:srgbClr val="6B7385"/>
                </a:solidFill>
                <a:latin typeface="Courier New"/>
              </a:rPr>
              <a:t>12 </a:t>
            </a:r>
            <a:r>
              <a:rPr sz="950">
                <a:solidFill>
                  <a:srgbClr val="E6EAF0"/>
                </a:solidFill>
                <a:latin typeface="Courier New"/>
              </a:rPr>
              <a:t>thang = df["cnt"].resample("MS").sum()</a:t>
            </a:r>
          </a:p>
          <a:p>
            <a:r>
              <a:rPr sz="950">
                <a:solidFill>
                  <a:srgbClr val="6B7385"/>
                </a:solidFill>
                <a:latin typeface="Courier New"/>
              </a:rPr>
              <a:t>13 </a:t>
            </a:r>
            <a:r>
              <a:rPr sz="950">
                <a:solidFill>
                  <a:srgbClr val="E6EAF0"/>
                </a:solidFill>
                <a:latin typeface="Courier New"/>
              </a:rPr>
              <a:t>print(ngay.nsmallest(3))                 </a:t>
            </a:r>
            <a:r>
              <a:rPr sz="950">
                <a:solidFill>
                  <a:srgbClr val="8FC99A"/>
                </a:solidFill>
                <a:latin typeface="Courier New"/>
              </a:rPr>
              <a:t># những ngày rơi sát 0</a:t>
            </a:r>
          </a:p>
        </p:txBody>
      </p:sp>
      <p:sp>
        <p:nvSpPr>
          <p:cNvPr id="8" name="TextBox 7"/>
          <p:cNvSpPr txBox="1"/>
          <p:nvPr/>
        </p:nvSpPr>
        <p:spPr>
          <a:xfrm>
            <a:off x="685800" y="3803650"/>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buoi-04/tu-hoc.ipynb, phần 1</a:t>
            </a:r>
          </a:p>
        </p:txBody>
      </p:sp>
      <p:sp>
        <p:nvSpPr>
          <p:cNvPr id="9" name="TextBox 8"/>
          <p:cNvSpPr txBox="1"/>
          <p:nvPr/>
        </p:nvSpPr>
        <p:spPr>
          <a:xfrm>
            <a:off x="548640" y="4160266"/>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4803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4–6</a:t>
            </a:r>
          </a:p>
        </p:txBody>
      </p:sp>
      <p:sp>
        <p:nvSpPr>
          <p:cNvPr id="11" name="TextBox 10"/>
          <p:cNvSpPr txBox="1"/>
          <p:nvPr/>
        </p:nvSpPr>
        <p:spPr>
          <a:xfrm>
            <a:off x="1353312" y="4462018"/>
            <a:ext cx="2697480" cy="442044"/>
          </a:xfrm>
          <a:prstGeom prst="rect">
            <a:avLst/>
          </a:prstGeom>
          <a:noFill/>
        </p:spPr>
        <p:txBody>
          <a:bodyPr wrap="square" lIns="0" rIns="0" tIns="0" bIns="0" anchor="t">
            <a:spAutoFit/>
          </a:bodyPr>
          <a:lstStyle/>
          <a:p>
            <a:pPr algn="l"/>
            <a:r>
              <a:rPr sz="1050" b="0" i="0">
                <a:solidFill>
                  <a:srgbClr val="1B2A41"/>
                </a:solidFill>
                <a:latin typeface="Arial"/>
              </a:rPr>
              <a:t>Hai tuần số nhỏ, tuần sau cao hơn tuần trước.</a:t>
            </a:r>
          </a:p>
        </p:txBody>
      </p:sp>
      <p:sp>
        <p:nvSpPr>
          <p:cNvPr id="12" name="Rounded Rectangle 11"/>
          <p:cNvSpPr/>
          <p:nvPr/>
        </p:nvSpPr>
        <p:spPr>
          <a:xfrm>
            <a:off x="548640" y="492235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7</a:t>
            </a:r>
          </a:p>
        </p:txBody>
      </p:sp>
      <p:sp>
        <p:nvSpPr>
          <p:cNvPr id="13" name="TextBox 12"/>
          <p:cNvSpPr txBox="1"/>
          <p:nvPr/>
        </p:nvSpPr>
        <p:spPr>
          <a:xfrm>
            <a:off x="1353312" y="4904062"/>
            <a:ext cx="2697480" cy="442044"/>
          </a:xfrm>
          <a:prstGeom prst="rect">
            <a:avLst/>
          </a:prstGeom>
          <a:noFill/>
        </p:spPr>
        <p:txBody>
          <a:bodyPr wrap="square" lIns="0" rIns="0" tIns="0" bIns="0" anchor="t">
            <a:spAutoFit/>
          </a:bodyPr>
          <a:lstStyle/>
          <a:p>
            <a:pPr algn="l"/>
            <a:r>
              <a:rPr sz="1050" b="0" i="0">
                <a:solidFill>
                  <a:srgbClr val="1B2A41"/>
                </a:solidFill>
                <a:latin typeface="Arial"/>
              </a:rPr>
              <a:t>Trung bình tuần đi từ 10 lên 12: xu hướng.</a:t>
            </a:r>
          </a:p>
        </p:txBody>
      </p:sp>
      <p:sp>
        <p:nvSpPr>
          <p:cNvPr id="14" name="Rounded Rectangle 13"/>
          <p:cNvSpPr/>
          <p:nvPr/>
        </p:nvSpPr>
        <p:spPr>
          <a:xfrm>
            <a:off x="548640" y="536439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8</a:t>
            </a:r>
          </a:p>
        </p:txBody>
      </p:sp>
      <p:sp>
        <p:nvSpPr>
          <p:cNvPr id="15" name="TextBox 14"/>
          <p:cNvSpPr txBox="1"/>
          <p:nvPr/>
        </p:nvSpPr>
        <p:spPr>
          <a:xfrm>
            <a:off x="1353312" y="5346107"/>
            <a:ext cx="2697480" cy="442044"/>
          </a:xfrm>
          <a:prstGeom prst="rect">
            <a:avLst/>
          </a:prstGeom>
          <a:noFill/>
        </p:spPr>
        <p:txBody>
          <a:bodyPr wrap="square" lIns="0" rIns="0" tIns="0" bIns="0" anchor="t">
            <a:spAutoFit/>
          </a:bodyPr>
          <a:lstStyle/>
          <a:p>
            <a:pPr algn="l"/>
            <a:r>
              <a:rPr sz="1050" b="0" i="0">
                <a:solidFill>
                  <a:srgbClr val="1B2A41"/>
                </a:solidFill>
                <a:latin typeface="Arial"/>
              </a:rPr>
              <a:t>Trừ trung bình, phần còn lại là mùa vụ tuần.</a:t>
            </a:r>
          </a:p>
        </p:txBody>
      </p:sp>
      <p:sp>
        <p:nvSpPr>
          <p:cNvPr id="16" name="Rounded Rectangle 15"/>
          <p:cNvSpPr/>
          <p:nvPr/>
        </p:nvSpPr>
        <p:spPr>
          <a:xfrm>
            <a:off x="4160520" y="44803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11–12</a:t>
            </a:r>
          </a:p>
        </p:txBody>
      </p:sp>
      <p:sp>
        <p:nvSpPr>
          <p:cNvPr id="17" name="TextBox 16"/>
          <p:cNvSpPr txBox="1"/>
          <p:nvPr/>
        </p:nvSpPr>
        <p:spPr>
          <a:xfrm>
            <a:off x="4965192" y="4462018"/>
            <a:ext cx="2697480" cy="442044"/>
          </a:xfrm>
          <a:prstGeom prst="rect">
            <a:avLst/>
          </a:prstGeom>
          <a:noFill/>
        </p:spPr>
        <p:txBody>
          <a:bodyPr wrap="square" lIns="0" rIns="0" tIns="0" bIns="0" anchor="t">
            <a:spAutoFit/>
          </a:bodyPr>
          <a:lstStyle/>
          <a:p>
            <a:pPr algn="l"/>
            <a:r>
              <a:rPr sz="1050" b="0" i="0">
                <a:solidFill>
                  <a:srgbClr val="1B2A41"/>
                </a:solidFill>
                <a:latin typeface="Arial"/>
              </a:rPr>
              <a:t>Gộp giờ thành ngày và tháng để nhìn đủ tầng.</a:t>
            </a:r>
          </a:p>
        </p:txBody>
      </p:sp>
      <p:sp>
        <p:nvSpPr>
          <p:cNvPr id="18" name="Rounded Rectangle 17"/>
          <p:cNvSpPr/>
          <p:nvPr/>
        </p:nvSpPr>
        <p:spPr>
          <a:xfrm>
            <a:off x="4160520" y="492235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13</a:t>
            </a:r>
          </a:p>
        </p:txBody>
      </p:sp>
      <p:sp>
        <p:nvSpPr>
          <p:cNvPr id="19" name="TextBox 18"/>
          <p:cNvSpPr txBox="1"/>
          <p:nvPr/>
        </p:nvSpPr>
        <p:spPr>
          <a:xfrm>
            <a:off x="4965192" y="4904062"/>
            <a:ext cx="2697480" cy="442044"/>
          </a:xfrm>
          <a:prstGeom prst="rect">
            <a:avLst/>
          </a:prstGeom>
          <a:noFill/>
        </p:spPr>
        <p:txBody>
          <a:bodyPr wrap="square" lIns="0" rIns="0" tIns="0" bIns="0" anchor="t">
            <a:spAutoFit/>
          </a:bodyPr>
          <a:lstStyle/>
          <a:p>
            <a:pPr algn="l"/>
            <a:r>
              <a:rPr sz="1050" b="0" i="0">
                <a:solidFill>
                  <a:srgbClr val="1B2A41"/>
                </a:solidFill>
                <a:latin typeface="Arial"/>
              </a:rPr>
              <a:t>Tìm ngày thấp bất thường mà hình tháng giấu.</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Trung bình tuần 10 và 12; phần lệch hai tuần giống hệt: 0, 2, 2, 2, 4, −4, −6. Đó là mùa vụ tuần.</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mean(axis=1, keepdims=True)</a:t>
            </a:r>
            <a:r>
              <a:rPr sz="950" b="1" i="0">
                <a:solidFill>
                  <a:srgbClr val="5B6778"/>
                </a:solidFill>
                <a:latin typeface="Arial"/>
              </a:rPr>
              <a:t>   numpy</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Trung bình theo từng dòng, giữ dạng cột để trừ được cả bảng.</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resample("D").sum(min_count=12)</a:t>
            </a:r>
            <a:r>
              <a:rPr sz="950" b="1" i="0">
                <a:solidFill>
                  <a:srgbClr val="5B6778"/>
                </a:solidFill>
                <a:latin typeface="Arial"/>
              </a:rPr>
              <a:t>   pandas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Cộng các giờ thành tổng ngày; ngày dưới 12 giờ số liệu để trống.</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nsmallest(3)</a:t>
            </a:r>
            <a:r>
              <a:rPr sz="950" b="1" i="0">
                <a:solidFill>
                  <a:srgbClr val="5B6778"/>
                </a:solidFill>
                <a:latin typeface="Arial"/>
              </a:rPr>
              <a:t>   pandas</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Lấy ba giá trị nhỏ nhất kèm ngày của chúng.</a:t>
            </a:r>
          </a:p>
        </p:txBody>
      </p:sp>
      <p:pic>
        <p:nvPicPr>
          <p:cNvPr id="29" name="Picture 28" descr="kn-chu-ky.png"/>
          <p:cNvPicPr>
            <a:picLocks noChangeAspect="1"/>
          </p:cNvPicPr>
          <p:nvPr/>
        </p:nvPicPr>
        <p:blipFill>
          <a:blip r:embed="rId2"/>
          <a:stretch>
            <a:fillRect/>
          </a:stretch>
        </p:blipFill>
        <p:spPr>
          <a:xfrm>
            <a:off x="7863840" y="4316827"/>
            <a:ext cx="3776472" cy="1927665"/>
          </a:xfrm>
          <a:prstGeom prst="rect">
            <a:avLst/>
          </a:prstGeom>
        </p:spPr>
      </p:pic>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làm trơn và tăng theo phần trăm</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4</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Thấy bằng số làm trơn xoá mất ngày bão, và thang log đo tăng theo phần trăm.</a:t>
            </a:r>
          </a:p>
        </p:txBody>
      </p:sp>
      <p:sp>
        <p:nvSpPr>
          <p:cNvPr id="6" name="Rounded Rectangle 5"/>
          <p:cNvSpPr/>
          <p:nvPr/>
        </p:nvSpPr>
        <p:spPr>
          <a:xfrm>
            <a:off x="548640" y="1737360"/>
            <a:ext cx="7086600" cy="2313178"/>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1993138"/>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pandas as pd</a:t>
            </a:r>
          </a:p>
          <a:p>
            <a:r>
              <a:rPr sz="950">
                <a:solidFill>
                  <a:srgbClr val="6B7385"/>
                </a:solidFill>
                <a:latin typeface="Courier New"/>
              </a:rPr>
              <a:t> 2 </a:t>
            </a:r>
          </a:p>
          <a:p>
            <a:r>
              <a:rPr sz="950">
                <a:solidFill>
                  <a:srgbClr val="6B7385"/>
                </a:solidFill>
                <a:latin typeface="Courier New"/>
              </a:rPr>
              <a:t> 3 </a:t>
            </a:r>
            <a:r>
              <a:rPr sz="950">
                <a:solidFill>
                  <a:srgbClr val="8FC99A"/>
                </a:solidFill>
                <a:latin typeface="Courier New"/>
              </a:rPr>
              <a:t># df: lượt thuê theo giờ, đặt trên lưới giờ đầy đủ</a:t>
            </a:r>
          </a:p>
          <a:p>
            <a:r>
              <a:rPr sz="950">
                <a:solidFill>
                  <a:srgbClr val="6B7385"/>
                </a:solidFill>
                <a:latin typeface="Courier New"/>
              </a:rPr>
              <a:t> 4 </a:t>
            </a:r>
            <a:r>
              <a:rPr sz="950">
                <a:solidFill>
                  <a:srgbClr val="E6EAF0"/>
                </a:solidFill>
                <a:latin typeface="Courier New"/>
              </a:rPr>
              <a:t>ngay1 = df["cnt"].resample("D").sum(min_count=1)</a:t>
            </a:r>
          </a:p>
          <a:p>
            <a:r>
              <a:rPr sz="950">
                <a:solidFill>
                  <a:srgbClr val="6B7385"/>
                </a:solidFill>
                <a:latin typeface="Courier New"/>
              </a:rPr>
              <a:t> 5 </a:t>
            </a:r>
            <a:r>
              <a:rPr sz="950">
                <a:solidFill>
                  <a:srgbClr val="E6EAF0"/>
                </a:solidFill>
                <a:latin typeface="Courier New"/>
              </a:rPr>
              <a:t>tron = ngay1.rolling(7, center=True, min_periods=4).mean()</a:t>
            </a:r>
          </a:p>
          <a:p>
            <a:r>
              <a:rPr sz="950">
                <a:solidFill>
                  <a:srgbClr val="6B7385"/>
                </a:solidFill>
                <a:latin typeface="Courier New"/>
              </a:rPr>
              <a:t> 6 </a:t>
            </a:r>
            <a:r>
              <a:rPr sz="950">
                <a:solidFill>
                  <a:srgbClr val="E6EAF0"/>
                </a:solidFill>
                <a:latin typeface="Courier New"/>
              </a:rPr>
              <a:t>print(ngay1["2012-10-29"], tron["2012-10-29"])   </a:t>
            </a:r>
            <a:r>
              <a:rPr sz="950">
                <a:solidFill>
                  <a:srgbClr val="8FC99A"/>
                </a:solidFill>
                <a:latin typeface="Courier New"/>
              </a:rPr>
              <a:t># ngày bão Sandy</a:t>
            </a:r>
          </a:p>
          <a:p>
            <a:r>
              <a:rPr sz="950">
                <a:solidFill>
                  <a:srgbClr val="6B7385"/>
                </a:solidFill>
                <a:latin typeface="Courier New"/>
              </a:rPr>
              <a:t> 7 </a:t>
            </a:r>
          </a:p>
          <a:p>
            <a:r>
              <a:rPr sz="950">
                <a:solidFill>
                  <a:srgbClr val="6B7385"/>
                </a:solidFill>
                <a:latin typeface="Courier New"/>
              </a:rPr>
              <a:t> 8 </a:t>
            </a:r>
            <a:r>
              <a:rPr sz="950">
                <a:solidFill>
                  <a:srgbClr val="E6EAF0"/>
                </a:solidFill>
                <a:latin typeface="Courier New"/>
              </a:rPr>
              <a:t>th11 = df["cnt"].resample("MS").sum()["2011"]</a:t>
            </a:r>
          </a:p>
          <a:p>
            <a:r>
              <a:rPr sz="950">
                <a:solidFill>
                  <a:srgbClr val="6B7385"/>
                </a:solidFill>
                <a:latin typeface="Courier New"/>
              </a:rPr>
              <a:t> 9 </a:t>
            </a:r>
            <a:r>
              <a:rPr sz="950">
                <a:solidFill>
                  <a:srgbClr val="E6EAF0"/>
                </a:solidFill>
                <a:latin typeface="Courier New"/>
              </a:rPr>
              <a:t>bang = pd.DataFrame({</a:t>
            </a:r>
          </a:p>
          <a:p>
            <a:r>
              <a:rPr sz="950">
                <a:solidFill>
                  <a:srgbClr val="6B7385"/>
                </a:solidFill>
                <a:latin typeface="Courier New"/>
              </a:rPr>
              <a:t>10 </a:t>
            </a:r>
            <a:r>
              <a:rPr sz="950">
                <a:solidFill>
                  <a:srgbClr val="E6EAF0"/>
                </a:solidFill>
                <a:latin typeface="Courier New"/>
              </a:rPr>
              <a:t>    "tăng (lượt)": th11.diff(),           </a:t>
            </a:r>
            <a:r>
              <a:rPr sz="950">
                <a:solidFill>
                  <a:srgbClr val="8FC99A"/>
                </a:solidFill>
                <a:latin typeface="Courier New"/>
              </a:rPr>
              <a:t># thang thường hỏi cái này</a:t>
            </a:r>
          </a:p>
          <a:p>
            <a:r>
              <a:rPr sz="950">
                <a:solidFill>
                  <a:srgbClr val="6B7385"/>
                </a:solidFill>
                <a:latin typeface="Courier New"/>
              </a:rPr>
              <a:t>11 </a:t>
            </a:r>
            <a:r>
              <a:rPr sz="950">
                <a:solidFill>
                  <a:srgbClr val="E6EAF0"/>
                </a:solidFill>
                <a:latin typeface="Courier New"/>
              </a:rPr>
              <a:t>    "tăng (%)": th11.pct_change() * 100,  </a:t>
            </a:r>
            <a:r>
              <a:rPr sz="950">
                <a:solidFill>
                  <a:srgbClr val="8FC99A"/>
                </a:solidFill>
                <a:latin typeface="Courier New"/>
              </a:rPr>
              <a:t># thang log hỏi cái này</a:t>
            </a:r>
          </a:p>
          <a:p>
            <a:r>
              <a:rPr sz="950">
                <a:solidFill>
                  <a:srgbClr val="6B7385"/>
                </a:solidFill>
                <a:latin typeface="Courier New"/>
              </a:rPr>
              <a:t>12 </a:t>
            </a:r>
            <a:r>
              <a:rPr sz="950">
                <a:solidFill>
                  <a:srgbClr val="E6EAF0"/>
                </a:solidFill>
                <a:latin typeface="Courier New"/>
              </a:rPr>
              <a:t>})</a:t>
            </a:r>
          </a:p>
          <a:p>
            <a:r>
              <a:rPr sz="950">
                <a:solidFill>
                  <a:srgbClr val="6B7385"/>
                </a:solidFill>
                <a:latin typeface="Courier New"/>
              </a:rPr>
              <a:t>13 </a:t>
            </a:r>
            <a:r>
              <a:rPr sz="950">
                <a:solidFill>
                  <a:srgbClr val="E6EAF0"/>
                </a:solidFill>
                <a:latin typeface="Courier New"/>
              </a:rPr>
              <a:t>print(bang.loc["2011-04":"2011-05"].round(1))</a:t>
            </a:r>
          </a:p>
        </p:txBody>
      </p:sp>
      <p:sp>
        <p:nvSpPr>
          <p:cNvPr id="8" name="TextBox 7"/>
          <p:cNvSpPr txBox="1"/>
          <p:nvPr/>
        </p:nvSpPr>
        <p:spPr>
          <a:xfrm>
            <a:off x="685800" y="3803650"/>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buoi-04/tu-hoc.ipynb, phần 2</a:t>
            </a:r>
          </a:p>
        </p:txBody>
      </p:sp>
      <p:sp>
        <p:nvSpPr>
          <p:cNvPr id="9" name="TextBox 8"/>
          <p:cNvSpPr txBox="1"/>
          <p:nvPr/>
        </p:nvSpPr>
        <p:spPr>
          <a:xfrm>
            <a:off x="548640" y="4160266"/>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4803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4</a:t>
            </a:r>
          </a:p>
        </p:txBody>
      </p:sp>
      <p:sp>
        <p:nvSpPr>
          <p:cNvPr id="11" name="TextBox 10"/>
          <p:cNvSpPr txBox="1"/>
          <p:nvPr/>
        </p:nvSpPr>
        <p:spPr>
          <a:xfrm>
            <a:off x="1353312" y="4462018"/>
            <a:ext cx="2697480" cy="442044"/>
          </a:xfrm>
          <a:prstGeom prst="rect">
            <a:avLst/>
          </a:prstGeom>
          <a:noFill/>
        </p:spPr>
        <p:txBody>
          <a:bodyPr wrap="square" lIns="0" rIns="0" tIns="0" bIns="0" anchor="t">
            <a:spAutoFit/>
          </a:bodyPr>
          <a:lstStyle/>
          <a:p>
            <a:pPr algn="l"/>
            <a:r>
              <a:rPr sz="1050" b="0" i="0">
                <a:solidFill>
                  <a:srgbClr val="1B2A41"/>
                </a:solidFill>
                <a:latin typeface="Arial"/>
              </a:rPr>
              <a:t>Tổng lượt thuê mỗi ngày.</a:t>
            </a:r>
          </a:p>
        </p:txBody>
      </p:sp>
      <p:sp>
        <p:nvSpPr>
          <p:cNvPr id="12" name="Rounded Rectangle 11"/>
          <p:cNvSpPr/>
          <p:nvPr/>
        </p:nvSpPr>
        <p:spPr>
          <a:xfrm>
            <a:off x="548640" y="492235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5</a:t>
            </a:r>
          </a:p>
        </p:txBody>
      </p:sp>
      <p:sp>
        <p:nvSpPr>
          <p:cNvPr id="13" name="TextBox 12"/>
          <p:cNvSpPr txBox="1"/>
          <p:nvPr/>
        </p:nvSpPr>
        <p:spPr>
          <a:xfrm>
            <a:off x="1353312" y="4904062"/>
            <a:ext cx="2697480" cy="442044"/>
          </a:xfrm>
          <a:prstGeom prst="rect">
            <a:avLst/>
          </a:prstGeom>
          <a:noFill/>
        </p:spPr>
        <p:txBody>
          <a:bodyPr wrap="square" lIns="0" rIns="0" tIns="0" bIns="0" anchor="t">
            <a:spAutoFit/>
          </a:bodyPr>
          <a:lstStyle/>
          <a:p>
            <a:pPr algn="l"/>
            <a:r>
              <a:rPr sz="1050" b="0" i="0">
                <a:solidFill>
                  <a:srgbClr val="1B2A41"/>
                </a:solidFill>
                <a:latin typeface="Arial"/>
              </a:rPr>
              <a:t>Trung bình trượt 7 ngày, lấy ngày giữa làm tâm.</a:t>
            </a:r>
          </a:p>
        </p:txBody>
      </p:sp>
      <p:sp>
        <p:nvSpPr>
          <p:cNvPr id="14" name="Rounded Rectangle 13"/>
          <p:cNvSpPr/>
          <p:nvPr/>
        </p:nvSpPr>
        <p:spPr>
          <a:xfrm>
            <a:off x="548640" y="536439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6</a:t>
            </a:r>
          </a:p>
        </p:txBody>
      </p:sp>
      <p:sp>
        <p:nvSpPr>
          <p:cNvPr id="15" name="TextBox 14"/>
          <p:cNvSpPr txBox="1"/>
          <p:nvPr/>
        </p:nvSpPr>
        <p:spPr>
          <a:xfrm>
            <a:off x="1353312" y="5346107"/>
            <a:ext cx="2697480" cy="442044"/>
          </a:xfrm>
          <a:prstGeom prst="rect">
            <a:avLst/>
          </a:prstGeom>
          <a:noFill/>
        </p:spPr>
        <p:txBody>
          <a:bodyPr wrap="square" lIns="0" rIns="0" tIns="0" bIns="0" anchor="t">
            <a:spAutoFit/>
          </a:bodyPr>
          <a:lstStyle/>
          <a:p>
            <a:pPr algn="l"/>
            <a:r>
              <a:rPr sz="1050" b="0" i="0">
                <a:solidFill>
                  <a:srgbClr val="1B2A41"/>
                </a:solidFill>
                <a:latin typeface="Arial"/>
              </a:rPr>
              <a:t>So ngày bão: số thật và số đã làm trơn.</a:t>
            </a:r>
          </a:p>
        </p:txBody>
      </p:sp>
      <p:sp>
        <p:nvSpPr>
          <p:cNvPr id="16" name="Rounded Rectangle 15"/>
          <p:cNvSpPr/>
          <p:nvPr/>
        </p:nvSpPr>
        <p:spPr>
          <a:xfrm>
            <a:off x="4160520" y="44803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8</a:t>
            </a:r>
          </a:p>
        </p:txBody>
      </p:sp>
      <p:sp>
        <p:nvSpPr>
          <p:cNvPr id="17" name="TextBox 16"/>
          <p:cNvSpPr txBox="1"/>
          <p:nvPr/>
        </p:nvSpPr>
        <p:spPr>
          <a:xfrm>
            <a:off x="4965192" y="4462018"/>
            <a:ext cx="2697480" cy="442044"/>
          </a:xfrm>
          <a:prstGeom prst="rect">
            <a:avLst/>
          </a:prstGeom>
          <a:noFill/>
        </p:spPr>
        <p:txBody>
          <a:bodyPr wrap="square" lIns="0" rIns="0" tIns="0" bIns="0" anchor="t">
            <a:spAutoFit/>
          </a:bodyPr>
          <a:lstStyle/>
          <a:p>
            <a:pPr algn="l"/>
            <a:r>
              <a:rPr sz="1050" b="0" i="0">
                <a:solidFill>
                  <a:srgbClr val="1B2A41"/>
                </a:solidFill>
                <a:latin typeface="Arial"/>
              </a:rPr>
              <a:t>Tổng tháng của năm 2011.</a:t>
            </a:r>
          </a:p>
        </p:txBody>
      </p:sp>
      <p:sp>
        <p:nvSpPr>
          <p:cNvPr id="18" name="Rounded Rectangle 17"/>
          <p:cNvSpPr/>
          <p:nvPr/>
        </p:nvSpPr>
        <p:spPr>
          <a:xfrm>
            <a:off x="4160520" y="492235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9–12</a:t>
            </a:r>
          </a:p>
        </p:txBody>
      </p:sp>
      <p:sp>
        <p:nvSpPr>
          <p:cNvPr id="19" name="TextBox 18"/>
          <p:cNvSpPr txBox="1"/>
          <p:nvPr/>
        </p:nvSpPr>
        <p:spPr>
          <a:xfrm>
            <a:off x="4965192" y="4904062"/>
            <a:ext cx="2697480" cy="442044"/>
          </a:xfrm>
          <a:prstGeom prst="rect">
            <a:avLst/>
          </a:prstGeom>
          <a:noFill/>
        </p:spPr>
        <p:txBody>
          <a:bodyPr wrap="square" lIns="0" rIns="0" tIns="0" bIns="0" anchor="t">
            <a:spAutoFit/>
          </a:bodyPr>
          <a:lstStyle/>
          <a:p>
            <a:pPr algn="l"/>
            <a:r>
              <a:rPr sz="1050" b="0" i="0">
                <a:solidFill>
                  <a:srgbClr val="1B2A41"/>
                </a:solidFill>
                <a:latin typeface="Arial"/>
              </a:rPr>
              <a:t>Tăng bao nhiêu lượt và tăng bao nhiêu phần trăm.</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Ngày bão chỉ còn 1 giờ số liệu mà đường trơn vẫn hơn 4.600 lượt. T4 so T3 +48,1%, T5 so T4 +43,2% dù T5 thêm nhiều lượt nhất (+40.951).</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rolling(7, center=True).mean()</a:t>
            </a:r>
            <a:r>
              <a:rPr sz="950" b="1" i="0">
                <a:solidFill>
                  <a:srgbClr val="5B6778"/>
                </a:solidFill>
                <a:latin typeface="Arial"/>
              </a:rPr>
              <a:t>   pandas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Trung bình 7 ngày quanh mỗi ngày: 3 ngày trước, 3 ngày sau.</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diff()</a:t>
            </a:r>
            <a:r>
              <a:rPr sz="950" b="1" i="0">
                <a:solidFill>
                  <a:srgbClr val="5B6778"/>
                </a:solidFill>
                <a:latin typeface="Arial"/>
              </a:rPr>
              <a:t>   pandas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Hiệu của mỗi giá trị với giá trị ngay trước nó.</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pct_change()</a:t>
            </a:r>
            <a:r>
              <a:rPr sz="950" b="1" i="0">
                <a:solidFill>
                  <a:srgbClr val="5B6778"/>
                </a:solidFill>
                <a:latin typeface="Arial"/>
              </a:rPr>
              <a:t>   pandas</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Tăng bao nhiêu phần so với giá trị trước, ví dụ 0,48 là +48%.</a:t>
            </a:r>
          </a:p>
        </p:txBody>
      </p:sp>
      <p:sp>
        <p:nvSpPr>
          <p:cNvPr id="29" name="Rounded Rectangle 28"/>
          <p:cNvSpPr/>
          <p:nvPr/>
        </p:nvSpPr>
        <p:spPr>
          <a:xfrm>
            <a:off x="7863840" y="4059935"/>
            <a:ext cx="3776472" cy="743712"/>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401b3df17482.png"/>
          <p:cNvPicPr>
            <a:picLocks noChangeAspect="1"/>
          </p:cNvPicPr>
          <p:nvPr/>
        </p:nvPicPr>
        <p:blipFill>
          <a:blip r:embed="rId2"/>
          <a:stretch>
            <a:fillRect/>
          </a:stretch>
        </p:blipFill>
        <p:spPr>
          <a:xfrm>
            <a:off x="8502395" y="4114799"/>
            <a:ext cx="2499360" cy="633984"/>
          </a:xfrm>
          <a:prstGeom prst="rect">
            <a:avLst/>
          </a:prstGeom>
        </p:spPr>
      </p:pic>
      <p:pic>
        <p:nvPicPr>
          <p:cNvPr id="31" name="Picture 30" descr="kn-lam-tron-trung-binh-truot.png"/>
          <p:cNvPicPr>
            <a:picLocks noChangeAspect="1"/>
          </p:cNvPicPr>
          <p:nvPr/>
        </p:nvPicPr>
        <p:blipFill>
          <a:blip r:embed="rId3"/>
          <a:stretch>
            <a:fillRect/>
          </a:stretch>
        </p:blipFill>
        <p:spPr>
          <a:xfrm>
            <a:off x="8263773" y="4940807"/>
            <a:ext cx="2976605" cy="1533144"/>
          </a:xfrm>
          <a:prstGeom prst="rect">
            <a:avLst/>
          </a:prstGeom>
        </p:spPr>
      </p:pic>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xếp dữ liệu theo giờ trong tuần</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4</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Xoay bảng cho mỗi tuần một cột để thấy hình dạng mùa vụ, rồi so tổng từng thứ.</a:t>
            </a:r>
          </a:p>
        </p:txBody>
      </p:sp>
      <p:sp>
        <p:nvSpPr>
          <p:cNvPr id="6" name="Rounded Rectangle 5"/>
          <p:cNvSpPr/>
          <p:nvPr/>
        </p:nvSpPr>
        <p:spPr>
          <a:xfrm>
            <a:off x="548640" y="1737360"/>
            <a:ext cx="7086600" cy="2208276"/>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1888236"/>
          </a:xfrm>
          <a:prstGeom prst="rect">
            <a:avLst/>
          </a:prstGeom>
          <a:noFill/>
        </p:spPr>
        <p:txBody>
          <a:bodyPr wrap="none" lIns="0" rIns="0" tIns="0" bIns="0">
            <a:spAutoFit/>
          </a:bodyPr>
          <a:lstStyle/>
          <a:p>
            <a:r>
              <a:rPr sz="1050">
                <a:solidFill>
                  <a:srgbClr val="6B7385"/>
                </a:solidFill>
                <a:latin typeface="Courier New"/>
              </a:rPr>
              <a:t> 1 </a:t>
            </a:r>
            <a:r>
              <a:rPr sz="1050">
                <a:solidFill>
                  <a:srgbClr val="E6EAF0"/>
                </a:solidFill>
                <a:latin typeface="Courier New"/>
              </a:rPr>
              <a:t>import pandas as pd</a:t>
            </a:r>
          </a:p>
          <a:p>
            <a:r>
              <a:rPr sz="1050">
                <a:solidFill>
                  <a:srgbClr val="6B7385"/>
                </a:solidFill>
                <a:latin typeface="Courier New"/>
              </a:rPr>
              <a:t> 2 </a:t>
            </a:r>
          </a:p>
          <a:p>
            <a:r>
              <a:rPr sz="1050">
                <a:solidFill>
                  <a:srgbClr val="6B7385"/>
                </a:solidFill>
                <a:latin typeface="Courier New"/>
              </a:rPr>
              <a:t> 3 </a:t>
            </a:r>
            <a:r>
              <a:rPr sz="1050">
                <a:solidFill>
                  <a:srgbClr val="8FC99A"/>
                </a:solidFill>
                <a:latin typeface="Courier New"/>
              </a:rPr>
              <a:t># df: lượt thuê theo giờ, có cột thu (0 là T2) và gio</a:t>
            </a:r>
          </a:p>
          <a:p>
            <a:r>
              <a:rPr sz="1050">
                <a:solidFill>
                  <a:srgbClr val="6B7385"/>
                </a:solidFill>
                <a:latin typeface="Courier New"/>
              </a:rPr>
              <a:t> 4 </a:t>
            </a:r>
            <a:r>
              <a:rPr sz="1050">
                <a:solidFill>
                  <a:srgbClr val="E6EAF0"/>
                </a:solidFill>
                <a:latin typeface="Courier New"/>
              </a:rPr>
              <a:t>bang = (df.assign(gio_tuan=df["thu"] * 24 + df["gio"],   </a:t>
            </a:r>
            <a:r>
              <a:rPr sz="1050">
                <a:solidFill>
                  <a:srgbClr val="8FC99A"/>
                </a:solidFill>
                <a:latin typeface="Courier New"/>
              </a:rPr>
              <a:t># 0 tới 167</a:t>
            </a:r>
          </a:p>
          <a:p>
            <a:r>
              <a:rPr sz="1050">
                <a:solidFill>
                  <a:srgbClr val="6B7385"/>
                </a:solidFill>
                <a:latin typeface="Courier New"/>
              </a:rPr>
              <a:t> 5 </a:t>
            </a:r>
            <a:r>
              <a:rPr sz="1050">
                <a:solidFill>
                  <a:srgbClr val="E6EAF0"/>
                </a:solidFill>
                <a:latin typeface="Courier New"/>
              </a:rPr>
              <a:t>                  tuan=df.index.to_period("W-SUN"))</a:t>
            </a:r>
          </a:p>
          <a:p>
            <a:r>
              <a:rPr sz="1050">
                <a:solidFill>
                  <a:srgbClr val="6B7385"/>
                </a:solidFill>
                <a:latin typeface="Courier New"/>
              </a:rPr>
              <a:t> 6 </a:t>
            </a:r>
            <a:r>
              <a:rPr sz="1050">
                <a:solidFill>
                  <a:srgbClr val="E6EAF0"/>
                </a:solidFill>
                <a:latin typeface="Courier New"/>
              </a:rPr>
              <a:t>          .pivot_table(index="gio_tuan", columns="tuan", values="cnt"))</a:t>
            </a:r>
          </a:p>
          <a:p>
            <a:r>
              <a:rPr sz="1050">
                <a:solidFill>
                  <a:srgbClr val="6B7385"/>
                </a:solidFill>
                <a:latin typeface="Courier New"/>
              </a:rPr>
              <a:t> 7 </a:t>
            </a:r>
            <a:r>
              <a:rPr sz="1050">
                <a:solidFill>
                  <a:srgbClr val="E6EAF0"/>
                </a:solidFill>
                <a:latin typeface="Courier New"/>
              </a:rPr>
              <a:t>khuon = bang.median(axis=1)          </a:t>
            </a:r>
            <a:r>
              <a:rPr sz="1050">
                <a:solidFill>
                  <a:srgbClr val="8FC99A"/>
                </a:solidFill>
                <a:latin typeface="Courier New"/>
              </a:rPr>
              <a:t># hình dạng tuần điển hình</a:t>
            </a:r>
          </a:p>
          <a:p>
            <a:r>
              <a:rPr sz="1050">
                <a:solidFill>
                  <a:srgbClr val="6B7385"/>
                </a:solidFill>
                <a:latin typeface="Courier New"/>
              </a:rPr>
              <a:t> 8 </a:t>
            </a:r>
          </a:p>
          <a:p>
            <a:r>
              <a:rPr sz="1050">
                <a:solidFill>
                  <a:srgbClr val="6B7385"/>
                </a:solidFill>
                <a:latin typeface="Courier New"/>
              </a:rPr>
              <a:t> 9 </a:t>
            </a:r>
            <a:r>
              <a:rPr sz="1050">
                <a:solidFill>
                  <a:srgbClr val="E6EAF0"/>
                </a:solidFill>
                <a:latin typeface="Courier New"/>
              </a:rPr>
              <a:t>du = df["cnt"].resample("D").agg(["sum", "count"])</a:t>
            </a:r>
          </a:p>
          <a:p>
            <a:r>
              <a:rPr sz="1050">
                <a:solidFill>
                  <a:srgbClr val="6B7385"/>
                </a:solidFill>
                <a:latin typeface="Courier New"/>
              </a:rPr>
              <a:t>10 </a:t>
            </a:r>
            <a:r>
              <a:rPr sz="1050">
                <a:solidFill>
                  <a:srgbClr val="E6EAF0"/>
                </a:solidFill>
                <a:latin typeface="Courier New"/>
              </a:rPr>
              <a:t>du = du[du["count"] == 24]           </a:t>
            </a:r>
            <a:r>
              <a:rPr sz="1050">
                <a:solidFill>
                  <a:srgbClr val="8FC99A"/>
                </a:solidFill>
                <a:latin typeface="Courier New"/>
              </a:rPr>
              <a:t># chỉ ngày đủ 24 giờ</a:t>
            </a:r>
          </a:p>
          <a:p>
            <a:r>
              <a:rPr sz="1050">
                <a:solidFill>
                  <a:srgbClr val="6B7385"/>
                </a:solidFill>
                <a:latin typeface="Courier New"/>
              </a:rPr>
              <a:t>11 </a:t>
            </a:r>
            <a:r>
              <a:rPr sz="1050">
                <a:solidFill>
                  <a:srgbClr val="E6EAF0"/>
                </a:solidFill>
                <a:latin typeface="Courier New"/>
              </a:rPr>
              <a:t>tb_thu = du.groupby(du.index.dayofweek)["sum"].mean()</a:t>
            </a:r>
          </a:p>
        </p:txBody>
      </p:sp>
      <p:sp>
        <p:nvSpPr>
          <p:cNvPr id="8" name="TextBox 7"/>
          <p:cNvSpPr txBox="1"/>
          <p:nvPr/>
        </p:nvSpPr>
        <p:spPr>
          <a:xfrm>
            <a:off x="685800" y="3698748"/>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buoi-04/tu-hoc.ipynb, phần 3</a:t>
            </a:r>
          </a:p>
        </p:txBody>
      </p:sp>
      <p:sp>
        <p:nvSpPr>
          <p:cNvPr id="9" name="TextBox 8"/>
          <p:cNvSpPr txBox="1"/>
          <p:nvPr/>
        </p:nvSpPr>
        <p:spPr>
          <a:xfrm>
            <a:off x="548640" y="4055363"/>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3754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4</a:t>
            </a:r>
          </a:p>
        </p:txBody>
      </p:sp>
      <p:sp>
        <p:nvSpPr>
          <p:cNvPr id="11" name="TextBox 10"/>
          <p:cNvSpPr txBox="1"/>
          <p:nvPr/>
        </p:nvSpPr>
        <p:spPr>
          <a:xfrm>
            <a:off x="1353312" y="4357116"/>
            <a:ext cx="2697480" cy="457200"/>
          </a:xfrm>
          <a:prstGeom prst="rect">
            <a:avLst/>
          </a:prstGeom>
          <a:noFill/>
        </p:spPr>
        <p:txBody>
          <a:bodyPr wrap="square" lIns="0" rIns="0" tIns="0" bIns="0" anchor="t">
            <a:spAutoFit/>
          </a:bodyPr>
          <a:lstStyle/>
          <a:p>
            <a:pPr algn="l"/>
            <a:r>
              <a:rPr sz="1050" b="0" i="0">
                <a:solidFill>
                  <a:srgbClr val="1B2A41"/>
                </a:solidFill>
                <a:latin typeface="Arial"/>
              </a:rPr>
              <a:t>Giờ trong tuần = thứ nhân 24 cộng giờ.</a:t>
            </a:r>
          </a:p>
        </p:txBody>
      </p:sp>
      <p:sp>
        <p:nvSpPr>
          <p:cNvPr id="12" name="Rounded Rectangle 11"/>
          <p:cNvSpPr/>
          <p:nvPr/>
        </p:nvSpPr>
        <p:spPr>
          <a:xfrm>
            <a:off x="548640" y="48326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5</a:t>
            </a:r>
          </a:p>
        </p:txBody>
      </p:sp>
      <p:sp>
        <p:nvSpPr>
          <p:cNvPr id="13" name="TextBox 12"/>
          <p:cNvSpPr txBox="1"/>
          <p:nvPr/>
        </p:nvSpPr>
        <p:spPr>
          <a:xfrm>
            <a:off x="1353312" y="4814316"/>
            <a:ext cx="2697480" cy="457200"/>
          </a:xfrm>
          <a:prstGeom prst="rect">
            <a:avLst/>
          </a:prstGeom>
          <a:noFill/>
        </p:spPr>
        <p:txBody>
          <a:bodyPr wrap="square" lIns="0" rIns="0" tIns="0" bIns="0" anchor="t">
            <a:spAutoFit/>
          </a:bodyPr>
          <a:lstStyle/>
          <a:p>
            <a:pPr algn="l"/>
            <a:r>
              <a:rPr sz="1050" b="0" i="0">
                <a:solidFill>
                  <a:srgbClr val="1B2A41"/>
                </a:solidFill>
                <a:latin typeface="Arial"/>
              </a:rPr>
              <a:t>Gắn nhãn tuần, tuần kết thúc Chủ nhật.</a:t>
            </a:r>
          </a:p>
        </p:txBody>
      </p:sp>
      <p:sp>
        <p:nvSpPr>
          <p:cNvPr id="14" name="Rounded Rectangle 13"/>
          <p:cNvSpPr/>
          <p:nvPr/>
        </p:nvSpPr>
        <p:spPr>
          <a:xfrm>
            <a:off x="548640" y="52898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6</a:t>
            </a:r>
          </a:p>
        </p:txBody>
      </p:sp>
      <p:sp>
        <p:nvSpPr>
          <p:cNvPr id="15" name="TextBox 14"/>
          <p:cNvSpPr txBox="1"/>
          <p:nvPr/>
        </p:nvSpPr>
        <p:spPr>
          <a:xfrm>
            <a:off x="1353312" y="5271516"/>
            <a:ext cx="2697480" cy="457200"/>
          </a:xfrm>
          <a:prstGeom prst="rect">
            <a:avLst/>
          </a:prstGeom>
          <a:noFill/>
        </p:spPr>
        <p:txBody>
          <a:bodyPr wrap="square" lIns="0" rIns="0" tIns="0" bIns="0" anchor="t">
            <a:spAutoFit/>
          </a:bodyPr>
          <a:lstStyle/>
          <a:p>
            <a:pPr algn="l"/>
            <a:r>
              <a:rPr sz="1050" b="0" i="0">
                <a:solidFill>
                  <a:srgbClr val="1B2A41"/>
                </a:solidFill>
                <a:latin typeface="Arial"/>
              </a:rPr>
              <a:t>Mỗi tuần một cột, mỗi dòng một giờ trong tuần.</a:t>
            </a:r>
          </a:p>
        </p:txBody>
      </p:sp>
      <p:sp>
        <p:nvSpPr>
          <p:cNvPr id="16" name="Rounded Rectangle 15"/>
          <p:cNvSpPr/>
          <p:nvPr/>
        </p:nvSpPr>
        <p:spPr>
          <a:xfrm>
            <a:off x="4160520" y="43754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7</a:t>
            </a:r>
          </a:p>
        </p:txBody>
      </p:sp>
      <p:sp>
        <p:nvSpPr>
          <p:cNvPr id="17" name="TextBox 16"/>
          <p:cNvSpPr txBox="1"/>
          <p:nvPr/>
        </p:nvSpPr>
        <p:spPr>
          <a:xfrm>
            <a:off x="4965192" y="4357116"/>
            <a:ext cx="2697480" cy="457200"/>
          </a:xfrm>
          <a:prstGeom prst="rect">
            <a:avLst/>
          </a:prstGeom>
          <a:noFill/>
        </p:spPr>
        <p:txBody>
          <a:bodyPr wrap="square" lIns="0" rIns="0" tIns="0" bIns="0" anchor="t">
            <a:spAutoFit/>
          </a:bodyPr>
          <a:lstStyle/>
          <a:p>
            <a:pPr algn="l"/>
            <a:r>
              <a:rPr sz="1050" b="0" i="0">
                <a:solidFill>
                  <a:srgbClr val="1B2A41"/>
                </a:solidFill>
                <a:latin typeface="Arial"/>
              </a:rPr>
              <a:t>Trung vị các tuần: khuôn chung của tuần.</a:t>
            </a:r>
          </a:p>
        </p:txBody>
      </p:sp>
      <p:sp>
        <p:nvSpPr>
          <p:cNvPr id="18" name="Rounded Rectangle 17"/>
          <p:cNvSpPr/>
          <p:nvPr/>
        </p:nvSpPr>
        <p:spPr>
          <a:xfrm>
            <a:off x="4160520" y="48326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9–11</a:t>
            </a:r>
          </a:p>
        </p:txBody>
      </p:sp>
      <p:sp>
        <p:nvSpPr>
          <p:cNvPr id="19" name="TextBox 18"/>
          <p:cNvSpPr txBox="1"/>
          <p:nvPr/>
        </p:nvSpPr>
        <p:spPr>
          <a:xfrm>
            <a:off x="4965192" y="4814316"/>
            <a:ext cx="2697480" cy="457200"/>
          </a:xfrm>
          <a:prstGeom prst="rect">
            <a:avLst/>
          </a:prstGeom>
          <a:noFill/>
        </p:spPr>
        <p:txBody>
          <a:bodyPr wrap="square" lIns="0" rIns="0" tIns="0" bIns="0" anchor="t">
            <a:spAutoFit/>
          </a:bodyPr>
          <a:lstStyle/>
          <a:p>
            <a:pPr algn="l"/>
            <a:r>
              <a:rPr sz="1050" b="0" i="0">
                <a:solidFill>
                  <a:srgbClr val="1B2A41"/>
                </a:solidFill>
                <a:latin typeface="Arial"/>
              </a:rPr>
              <a:t>Tổng ngày trung bình theo thứ, bỏ ngày thiếu.</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106 tuần chồng nhau: T2–T6 hai đỉnh, T7–CN một bướu. Tổng ngày gần nhau: T7 4.653 lượt so với T6 4.933.</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pivot_table(index, columns, values)</a:t>
            </a:r>
            <a:r>
              <a:rPr sz="950" b="1" i="0">
                <a:solidFill>
                  <a:srgbClr val="5B6778"/>
                </a:solidFill>
                <a:latin typeface="Arial"/>
              </a:rPr>
              <a:t>   pandas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Xoay bảng dài thành bảng ngang: dòng theo một cột, cột theo cột khác.</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to_period("W-SUN")</a:t>
            </a:r>
            <a:r>
              <a:rPr sz="950" b="1" i="0">
                <a:solidFill>
                  <a:srgbClr val="5B6778"/>
                </a:solidFill>
                <a:latin typeface="Arial"/>
              </a:rPr>
              <a:t>   pandas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Đổi mỗi mốc giờ thành tuần chứa nó, tuần tính tới Chủ nhật.</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groupby(...).mean()</a:t>
            </a:r>
            <a:r>
              <a:rPr sz="950" b="1" i="0">
                <a:solidFill>
                  <a:srgbClr val="5B6778"/>
                </a:solidFill>
                <a:latin typeface="Arial"/>
              </a:rPr>
              <a:t>   pandas</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Chia các dòng thành nhóm theo nhãn rồi lấy trung bình mỗi nhóm.</a:t>
            </a:r>
          </a:p>
        </p:txBody>
      </p:sp>
      <p:pic>
        <p:nvPicPr>
          <p:cNvPr id="29" name="Picture 28" descr="kn-mua-vu-kep.png"/>
          <p:cNvPicPr>
            <a:picLocks noChangeAspect="1"/>
          </p:cNvPicPr>
          <p:nvPr/>
        </p:nvPicPr>
        <p:blipFill>
          <a:blip r:embed="rId2"/>
          <a:stretch>
            <a:fillRect/>
          </a:stretch>
        </p:blipFill>
        <p:spPr>
          <a:xfrm>
            <a:off x="7863840" y="4392548"/>
            <a:ext cx="3776472" cy="1776222"/>
          </a:xfrm>
          <a:prstGeom prst="rect">
            <a:avLst/>
          </a:prstGeom>
        </p:spPr>
      </p:pic>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số cho heatmap và boxplot</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4</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Tính trung bình từng ô lịch cho heatmap và quantile cho hộp của boxplot.</a:t>
            </a:r>
          </a:p>
        </p:txBody>
      </p:sp>
      <p:sp>
        <p:nvSpPr>
          <p:cNvPr id="6" name="Rounded Rectangle 5"/>
          <p:cNvSpPr/>
          <p:nvPr/>
        </p:nvSpPr>
        <p:spPr>
          <a:xfrm>
            <a:off x="548640" y="1737360"/>
            <a:ext cx="7086600" cy="2455545"/>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35505"/>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numpy as np</a:t>
            </a:r>
          </a:p>
          <a:p>
            <a:r>
              <a:rPr sz="950">
                <a:solidFill>
                  <a:srgbClr val="6B7385"/>
                </a:solidFill>
                <a:latin typeface="Courier New"/>
              </a:rPr>
              <a:t> 2 </a:t>
            </a:r>
            <a:r>
              <a:rPr sz="950">
                <a:solidFill>
                  <a:srgbClr val="E6EAF0"/>
                </a:solidFill>
                <a:latin typeface="Courier New"/>
              </a:rPr>
              <a:t>import pandas as pd</a:t>
            </a:r>
          </a:p>
          <a:p>
            <a:r>
              <a:rPr sz="950">
                <a:solidFill>
                  <a:srgbClr val="6B7385"/>
                </a:solidFill>
                <a:latin typeface="Courier New"/>
              </a:rPr>
              <a:t> 3 </a:t>
            </a:r>
          </a:p>
          <a:p>
            <a:r>
              <a:rPr sz="950">
                <a:solidFill>
                  <a:srgbClr val="6B7385"/>
                </a:solidFill>
                <a:latin typeface="Courier New"/>
              </a:rPr>
              <a:t> 4 </a:t>
            </a:r>
            <a:r>
              <a:rPr sz="950">
                <a:solidFill>
                  <a:srgbClr val="E6EAF0"/>
                </a:solidFill>
                <a:latin typeface="Courier New"/>
              </a:rPr>
              <a:t>x = np.array([420, 60, 450, 410, 440])   </a:t>
            </a:r>
            <a:r>
              <a:rPr sz="950">
                <a:solidFill>
                  <a:srgbClr val="8FC99A"/>
                </a:solidFill>
                <a:latin typeface="Courier New"/>
              </a:rPr>
              <a:t># năm thứ Hai lúc 8h</a:t>
            </a:r>
          </a:p>
          <a:p>
            <a:r>
              <a:rPr sz="950">
                <a:solidFill>
                  <a:srgbClr val="6B7385"/>
                </a:solidFill>
                <a:latin typeface="Courier New"/>
              </a:rPr>
              <a:t> 5 </a:t>
            </a:r>
            <a:r>
              <a:rPr sz="950">
                <a:solidFill>
                  <a:srgbClr val="E6EAF0"/>
                </a:solidFill>
                <a:latin typeface="Courier New"/>
              </a:rPr>
              <a:t>print(x.mean())                          </a:t>
            </a:r>
            <a:r>
              <a:rPr sz="950">
                <a:solidFill>
                  <a:srgbClr val="8FC99A"/>
                </a:solidFill>
                <a:latin typeface="Courier New"/>
              </a:rPr>
              <a:t># bị ngày lễ kéo xuống</a:t>
            </a:r>
          </a:p>
          <a:p>
            <a:r>
              <a:rPr sz="950">
                <a:solidFill>
                  <a:srgbClr val="6B7385"/>
                </a:solidFill>
                <a:latin typeface="Courier New"/>
              </a:rPr>
              <a:t> 6 </a:t>
            </a:r>
            <a:r>
              <a:rPr sz="950">
                <a:solidFill>
                  <a:srgbClr val="E6EAF0"/>
                </a:solidFill>
                <a:latin typeface="Courier New"/>
              </a:rPr>
              <a:t>print(np.quantile(x, [0.25, 0.5, 0.75], method="inverted_cdf"))</a:t>
            </a:r>
          </a:p>
          <a:p>
            <a:r>
              <a:rPr sz="950">
                <a:solidFill>
                  <a:srgbClr val="6B7385"/>
                </a:solidFill>
                <a:latin typeface="Courier New"/>
              </a:rPr>
              <a:t> 7 </a:t>
            </a:r>
          </a:p>
          <a:p>
            <a:r>
              <a:rPr sz="950">
                <a:solidFill>
                  <a:srgbClr val="6B7385"/>
                </a:solidFill>
                <a:latin typeface="Courier New"/>
              </a:rPr>
              <a:t> 8 </a:t>
            </a:r>
            <a:r>
              <a:rPr sz="950">
                <a:solidFill>
                  <a:srgbClr val="8FC99A"/>
                </a:solidFill>
                <a:latin typeface="Courier New"/>
              </a:rPr>
              <a:t># df: lượt thuê theo giờ, có cột thu, gio, workingday</a:t>
            </a:r>
          </a:p>
          <a:p>
            <a:r>
              <a:rPr sz="950">
                <a:solidFill>
                  <a:srgbClr val="6B7385"/>
                </a:solidFill>
                <a:latin typeface="Courier New"/>
              </a:rPr>
              <a:t> 9 </a:t>
            </a:r>
            <a:r>
              <a:rPr sz="950">
                <a:solidFill>
                  <a:srgbClr val="E6EAF0"/>
                </a:solidFill>
                <a:latin typeface="Courier New"/>
              </a:rPr>
              <a:t>ho_so = df.pivot_table(index="thu", columns="gio", values="cnt",</a:t>
            </a:r>
          </a:p>
          <a:p>
            <a:r>
              <a:rPr sz="950">
                <a:solidFill>
                  <a:srgbClr val="6B7385"/>
                </a:solidFill>
                <a:latin typeface="Courier New"/>
              </a:rPr>
              <a:t>10 </a:t>
            </a:r>
            <a:r>
              <a:rPr sz="950">
                <a:solidFill>
                  <a:srgbClr val="E6EAF0"/>
                </a:solidFill>
                <a:latin typeface="Courier New"/>
              </a:rPr>
              <a:t>                       aggfunc="mean")   </a:t>
            </a:r>
            <a:r>
              <a:rPr sz="950">
                <a:solidFill>
                  <a:srgbClr val="8FC99A"/>
                </a:solidFill>
                <a:latin typeface="Courier New"/>
              </a:rPr>
              <a:t># 7 thứ nhân 24 giờ</a:t>
            </a:r>
          </a:p>
          <a:p>
            <a:r>
              <a:rPr sz="950">
                <a:solidFill>
                  <a:srgbClr val="6B7385"/>
                </a:solidFill>
                <a:latin typeface="Courier New"/>
              </a:rPr>
              <a:t>11 </a:t>
            </a:r>
            <a:r>
              <a:rPr sz="950">
                <a:solidFill>
                  <a:srgbClr val="E6EAF0"/>
                </a:solidFill>
                <a:latin typeface="Courier New"/>
              </a:rPr>
              <a:t>for lam, g in [(1, 8), (1, 17), (0, 8), (0, 13)]:</a:t>
            </a:r>
          </a:p>
          <a:p>
            <a:r>
              <a:rPr sz="950">
                <a:solidFill>
                  <a:srgbClr val="6B7385"/>
                </a:solidFill>
                <a:latin typeface="Courier New"/>
              </a:rPr>
              <a:t>12 </a:t>
            </a:r>
            <a:r>
              <a:rPr sz="950">
                <a:solidFill>
                  <a:srgbClr val="E6EAF0"/>
                </a:solidFill>
                <a:latin typeface="Courier New"/>
              </a:rPr>
              <a:t>    chon = (df["workingday"] == lam) &amp; (df["gio"] == g)</a:t>
            </a:r>
          </a:p>
          <a:p>
            <a:r>
              <a:rPr sz="950">
                <a:solidFill>
                  <a:srgbClr val="6B7385"/>
                </a:solidFill>
                <a:latin typeface="Courier New"/>
              </a:rPr>
              <a:t>13 </a:t>
            </a:r>
            <a:r>
              <a:rPr sz="950">
                <a:solidFill>
                  <a:srgbClr val="E6EAF0"/>
                </a:solidFill>
                <a:latin typeface="Courier New"/>
              </a:rPr>
              <a:t>    q = df.loc[chon, "cnt"].quantile([0.25, 0.5, 0.75])  </a:t>
            </a:r>
            <a:r>
              <a:rPr sz="950">
                <a:solidFill>
                  <a:srgbClr val="8FC99A"/>
                </a:solidFill>
                <a:latin typeface="Courier New"/>
              </a:rPr>
              <a:t># mép hộp</a:t>
            </a:r>
          </a:p>
          <a:p>
            <a:r>
              <a:rPr sz="950">
                <a:solidFill>
                  <a:srgbClr val="6B7385"/>
                </a:solidFill>
                <a:latin typeface="Courier New"/>
              </a:rPr>
              <a:t>14 </a:t>
            </a:r>
            <a:r>
              <a:rPr sz="950">
                <a:solidFill>
                  <a:srgbClr val="E6EAF0"/>
                </a:solidFill>
                <a:latin typeface="Courier New"/>
              </a:rPr>
              <a:t>    print(lam, g, q.round(0).tolist())</a:t>
            </a:r>
          </a:p>
        </p:txBody>
      </p:sp>
      <p:sp>
        <p:nvSpPr>
          <p:cNvPr id="8" name="TextBox 7"/>
          <p:cNvSpPr txBox="1"/>
          <p:nvPr/>
        </p:nvSpPr>
        <p:spPr>
          <a:xfrm>
            <a:off x="685800" y="3946017"/>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buoi-04/tu-hoc.ipynb, phần 4</a:t>
            </a:r>
          </a:p>
        </p:txBody>
      </p:sp>
      <p:sp>
        <p:nvSpPr>
          <p:cNvPr id="9" name="TextBox 8"/>
          <p:cNvSpPr txBox="1"/>
          <p:nvPr/>
        </p:nvSpPr>
        <p:spPr>
          <a:xfrm>
            <a:off x="548640" y="4302633"/>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6226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4–5</a:t>
            </a:r>
          </a:p>
        </p:txBody>
      </p:sp>
      <p:sp>
        <p:nvSpPr>
          <p:cNvPr id="11" name="TextBox 10"/>
          <p:cNvSpPr txBox="1"/>
          <p:nvPr/>
        </p:nvSpPr>
        <p:spPr>
          <a:xfrm>
            <a:off x="1353312" y="4604385"/>
            <a:ext cx="2697480" cy="457200"/>
          </a:xfrm>
          <a:prstGeom prst="rect">
            <a:avLst/>
          </a:prstGeom>
          <a:noFill/>
        </p:spPr>
        <p:txBody>
          <a:bodyPr wrap="square" lIns="0" rIns="0" tIns="0" bIns="0" anchor="t">
            <a:spAutoFit/>
          </a:bodyPr>
          <a:lstStyle/>
          <a:p>
            <a:pPr algn="l"/>
            <a:r>
              <a:rPr sz="1050" b="0" i="0">
                <a:solidFill>
                  <a:srgbClr val="1B2A41"/>
                </a:solidFill>
                <a:latin typeface="Arial"/>
              </a:rPr>
              <a:t>Trung bình bị một ngày lạ kéo lệch.</a:t>
            </a:r>
          </a:p>
        </p:txBody>
      </p:sp>
      <p:sp>
        <p:nvSpPr>
          <p:cNvPr id="12" name="Rounded Rectangle 11"/>
          <p:cNvSpPr/>
          <p:nvPr/>
        </p:nvSpPr>
        <p:spPr>
          <a:xfrm>
            <a:off x="548640" y="50798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6</a:t>
            </a:r>
          </a:p>
        </p:txBody>
      </p:sp>
      <p:sp>
        <p:nvSpPr>
          <p:cNvPr id="13" name="TextBox 12"/>
          <p:cNvSpPr txBox="1"/>
          <p:nvPr/>
        </p:nvSpPr>
        <p:spPr>
          <a:xfrm>
            <a:off x="1353312" y="5061585"/>
            <a:ext cx="2697480" cy="457200"/>
          </a:xfrm>
          <a:prstGeom prst="rect">
            <a:avLst/>
          </a:prstGeom>
          <a:noFill/>
        </p:spPr>
        <p:txBody>
          <a:bodyPr wrap="square" lIns="0" rIns="0" tIns="0" bIns="0" anchor="t">
            <a:spAutoFit/>
          </a:bodyPr>
          <a:lstStyle/>
          <a:p>
            <a:pPr algn="l"/>
            <a:r>
              <a:rPr sz="1050" b="0" i="0">
                <a:solidFill>
                  <a:srgbClr val="1B2A41"/>
                </a:solidFill>
                <a:latin typeface="Arial"/>
              </a:rPr>
              <a:t>Quantile 0,25, 0,5, 0,75 thì không bị.</a:t>
            </a:r>
          </a:p>
        </p:txBody>
      </p:sp>
      <p:sp>
        <p:nvSpPr>
          <p:cNvPr id="14" name="Rounded Rectangle 13"/>
          <p:cNvSpPr/>
          <p:nvPr/>
        </p:nvSpPr>
        <p:spPr>
          <a:xfrm>
            <a:off x="4160520" y="46226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9–10</a:t>
            </a:r>
          </a:p>
        </p:txBody>
      </p:sp>
      <p:sp>
        <p:nvSpPr>
          <p:cNvPr id="15" name="TextBox 14"/>
          <p:cNvSpPr txBox="1"/>
          <p:nvPr/>
        </p:nvSpPr>
        <p:spPr>
          <a:xfrm>
            <a:off x="4965192" y="4604385"/>
            <a:ext cx="2697480" cy="457200"/>
          </a:xfrm>
          <a:prstGeom prst="rect">
            <a:avLst/>
          </a:prstGeom>
          <a:noFill/>
        </p:spPr>
        <p:txBody>
          <a:bodyPr wrap="square" lIns="0" rIns="0" tIns="0" bIns="0" anchor="t">
            <a:spAutoFit/>
          </a:bodyPr>
          <a:lstStyle/>
          <a:p>
            <a:pPr algn="l"/>
            <a:r>
              <a:rPr sz="1050" b="0" i="0">
                <a:solidFill>
                  <a:srgbClr val="1B2A41"/>
                </a:solidFill>
                <a:latin typeface="Arial"/>
              </a:rPr>
              <a:t>Bảng 7 thứ, 24 giờ: đúng số tô lên heatmap.</a:t>
            </a:r>
          </a:p>
        </p:txBody>
      </p:sp>
      <p:sp>
        <p:nvSpPr>
          <p:cNvPr id="16" name="Rounded Rectangle 15"/>
          <p:cNvSpPr/>
          <p:nvPr/>
        </p:nvSpPr>
        <p:spPr>
          <a:xfrm>
            <a:off x="4160520" y="50798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11–14</a:t>
            </a:r>
          </a:p>
        </p:txBody>
      </p:sp>
      <p:sp>
        <p:nvSpPr>
          <p:cNvPr id="17" name="TextBox 16"/>
          <p:cNvSpPr txBox="1"/>
          <p:nvPr/>
        </p:nvSpPr>
        <p:spPr>
          <a:xfrm>
            <a:off x="4965192" y="5061585"/>
            <a:ext cx="2697480" cy="457200"/>
          </a:xfrm>
          <a:prstGeom prst="rect">
            <a:avLst/>
          </a:prstGeom>
          <a:noFill/>
        </p:spPr>
        <p:txBody>
          <a:bodyPr wrap="square" lIns="0" rIns="0" tIns="0" bIns="0" anchor="t">
            <a:spAutoFit/>
          </a:bodyPr>
          <a:lstStyle/>
          <a:p>
            <a:pPr algn="l"/>
            <a:r>
              <a:rPr sz="1050" b="0" i="0">
                <a:solidFill>
                  <a:srgbClr val="1B2A41"/>
                </a:solidFill>
                <a:latin typeface="Arial"/>
              </a:rPr>
              <a:t>Hộp từng giờ, tách ngày làm việc và ngày nghỉ.</a:t>
            </a:r>
          </a:p>
        </p:txBody>
      </p:sp>
      <p:sp>
        <p:nvSpPr>
          <p:cNvPr id="18" name="Rounded Rectangle 17"/>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Trung bình 356, trung vị 420, hộp 410–440. 8h: T2 412, CN 84. Hộp 8h ngày nghỉ 57–141, ngày làm việc 365–646.</a:t>
            </a:r>
          </a:p>
        </p:txBody>
      </p:sp>
      <p:sp>
        <p:nvSpPr>
          <p:cNvPr id="20" name="TextBox 19"/>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1" name="TextBox 20"/>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np.quantile(x, q)</a:t>
            </a:r>
            <a:r>
              <a:rPr sz="950" b="1" i="0">
                <a:solidFill>
                  <a:srgbClr val="5B6778"/>
                </a:solidFill>
                <a:latin typeface="Arial"/>
              </a:rPr>
              <a:t>   numpy</a:t>
            </a:r>
          </a:p>
        </p:txBody>
      </p:sp>
      <p:sp>
        <p:nvSpPr>
          <p:cNvPr id="22" name="TextBox 21"/>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Số mà q phần dữ liệu nằm dưới nó; q = 0,5 là trung vị.</a:t>
            </a:r>
          </a:p>
        </p:txBody>
      </p:sp>
      <p:sp>
        <p:nvSpPr>
          <p:cNvPr id="23" name="TextBox 22"/>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pivot_table(aggfunc="mean")</a:t>
            </a:r>
            <a:r>
              <a:rPr sz="950" b="1" i="0">
                <a:solidFill>
                  <a:srgbClr val="5B6778"/>
                </a:solidFill>
                <a:latin typeface="Arial"/>
              </a:rPr>
              <a:t>   pandas</a:t>
            </a:r>
          </a:p>
        </p:txBody>
      </p:sp>
      <p:sp>
        <p:nvSpPr>
          <p:cNvPr id="24" name="TextBox 23"/>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Bảng hai chiều, mỗi ô là trung bình các dòng rơi vào ô đó.</a:t>
            </a:r>
          </a:p>
        </p:txBody>
      </p:sp>
      <p:sp>
        <p:nvSpPr>
          <p:cNvPr id="25" name="TextBox 24"/>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quantile([0.25, 0.5, 0.75])</a:t>
            </a:r>
            <a:r>
              <a:rPr sz="950" b="1" i="0">
                <a:solidFill>
                  <a:srgbClr val="5B6778"/>
                </a:solidFill>
                <a:latin typeface="Arial"/>
              </a:rPr>
              <a:t>   pandas</a:t>
            </a:r>
          </a:p>
        </p:txBody>
      </p:sp>
      <p:sp>
        <p:nvSpPr>
          <p:cNvPr id="26" name="TextBox 25"/>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Ba số làm nên cái hộp: mép dưới, vạch giữa, mép trên.</a:t>
            </a:r>
          </a:p>
        </p:txBody>
      </p:sp>
      <p:pic>
        <p:nvPicPr>
          <p:cNvPr id="27" name="Picture 26" descr="kn-boxplot.png"/>
          <p:cNvPicPr>
            <a:picLocks noChangeAspect="1"/>
          </p:cNvPicPr>
          <p:nvPr/>
        </p:nvPicPr>
        <p:blipFill>
          <a:blip r:embed="rId2"/>
          <a:stretch>
            <a:fillRect/>
          </a:stretch>
        </p:blipFill>
        <p:spPr>
          <a:xfrm>
            <a:off x="7863840" y="4208475"/>
            <a:ext cx="3776472" cy="2144368"/>
          </a:xfrm>
          <a:prstGeom prst="rect">
            <a:avLst/>
          </a:prstGeom>
        </p:spPr>
      </p:pic>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tự tính ACF và r của lag plot</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4</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Viết công thức tự tương quan vài dòng, kiểm bằng chuỗi nhỏ rồi chạy trên dữ liệu giờ.</a:t>
            </a:r>
          </a:p>
        </p:txBody>
      </p:sp>
      <p:sp>
        <p:nvSpPr>
          <p:cNvPr id="6" name="Rounded Rectangle 5"/>
          <p:cNvSpPr/>
          <p:nvPr/>
        </p:nvSpPr>
        <p:spPr>
          <a:xfrm>
            <a:off x="548640" y="1737360"/>
            <a:ext cx="7086600" cy="2597912"/>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277872"/>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numpy as np</a:t>
            </a:r>
          </a:p>
          <a:p>
            <a:r>
              <a:rPr sz="950">
                <a:solidFill>
                  <a:srgbClr val="6B7385"/>
                </a:solidFill>
                <a:latin typeface="Courier New"/>
              </a:rPr>
              <a:t> 2 </a:t>
            </a:r>
            <a:r>
              <a:rPr sz="950">
                <a:solidFill>
                  <a:srgbClr val="E6EAF0"/>
                </a:solidFill>
                <a:latin typeface="Courier New"/>
              </a:rPr>
              <a:t>import pandas as pd</a:t>
            </a:r>
          </a:p>
          <a:p>
            <a:r>
              <a:rPr sz="950">
                <a:solidFill>
                  <a:srgbClr val="6B7385"/>
                </a:solidFill>
                <a:latin typeface="Courier New"/>
              </a:rPr>
              <a:t> 3 </a:t>
            </a:r>
          </a:p>
          <a:p>
            <a:r>
              <a:rPr sz="950">
                <a:solidFill>
                  <a:srgbClr val="6B7385"/>
                </a:solidFill>
                <a:latin typeface="Courier New"/>
              </a:rPr>
              <a:t> 4 </a:t>
            </a:r>
            <a:r>
              <a:rPr sz="950">
                <a:solidFill>
                  <a:srgbClr val="E6EAF0"/>
                </a:solidFill>
                <a:latin typeface="Courier New"/>
              </a:rPr>
              <a:t>def acf_nhanh(y, so_tre):</a:t>
            </a:r>
          </a:p>
          <a:p>
            <a:r>
              <a:rPr sz="950">
                <a:solidFill>
                  <a:srgbClr val="6B7385"/>
                </a:solidFill>
                <a:latin typeface="Courier New"/>
              </a:rPr>
              <a:t> 5 </a:t>
            </a:r>
            <a:r>
              <a:rPr sz="950">
                <a:solidFill>
                  <a:srgbClr val="E6EAF0"/>
                </a:solidFill>
                <a:latin typeface="Courier New"/>
              </a:rPr>
              <a:t>    y = np.asarray(y, dtype=float)</a:t>
            </a:r>
          </a:p>
          <a:p>
            <a:r>
              <a:rPr sz="950">
                <a:solidFill>
                  <a:srgbClr val="6B7385"/>
                </a:solidFill>
                <a:latin typeface="Courier New"/>
              </a:rPr>
              <a:t> 6 </a:t>
            </a:r>
            <a:r>
              <a:rPr sz="950">
                <a:solidFill>
                  <a:srgbClr val="E6EAF0"/>
                </a:solidFill>
                <a:latin typeface="Courier New"/>
              </a:rPr>
              <a:t>    lech = y - np.nanmean(y)             </a:t>
            </a:r>
            <a:r>
              <a:rPr sz="950">
                <a:solidFill>
                  <a:srgbClr val="8FC99A"/>
                </a:solidFill>
                <a:latin typeface="Courier New"/>
              </a:rPr>
              <a:t># độ lệch khỏi trung bình</a:t>
            </a:r>
          </a:p>
          <a:p>
            <a:r>
              <a:rPr sz="950">
                <a:solidFill>
                  <a:srgbClr val="6B7385"/>
                </a:solidFill>
                <a:latin typeface="Courier New"/>
              </a:rPr>
              <a:t> 7 </a:t>
            </a:r>
            <a:r>
              <a:rPr sz="950">
                <a:solidFill>
                  <a:srgbClr val="E6EAF0"/>
                </a:solidFill>
                <a:latin typeface="Courier New"/>
              </a:rPr>
              <a:t>    mau = np.nansum(lech**2)             </a:t>
            </a:r>
            <a:r>
              <a:rPr sz="950">
                <a:solidFill>
                  <a:srgbClr val="8FC99A"/>
                </a:solidFill>
                <a:latin typeface="Courier New"/>
              </a:rPr>
              <a:t># mẫu số: cả chuỗi</a:t>
            </a:r>
          </a:p>
          <a:p>
            <a:r>
              <a:rPr sz="950">
                <a:solidFill>
                  <a:srgbClr val="6B7385"/>
                </a:solidFill>
                <a:latin typeface="Courier New"/>
              </a:rPr>
              <a:t> 8 </a:t>
            </a:r>
            <a:r>
              <a:rPr sz="950">
                <a:solidFill>
                  <a:srgbClr val="E6EAF0"/>
                </a:solidFill>
                <a:latin typeface="Courier New"/>
              </a:rPr>
              <a:t>    return np.array([1.0] + [np.nansum(lech[k:] * lech[:-k]) / mau</a:t>
            </a:r>
          </a:p>
          <a:p>
            <a:r>
              <a:rPr sz="950">
                <a:solidFill>
                  <a:srgbClr val="6B7385"/>
                </a:solidFill>
                <a:latin typeface="Courier New"/>
              </a:rPr>
              <a:t> 9 </a:t>
            </a:r>
            <a:r>
              <a:rPr sz="950">
                <a:solidFill>
                  <a:srgbClr val="E6EAF0"/>
                </a:solidFill>
                <a:latin typeface="Courier New"/>
              </a:rPr>
              <a:t>                             for k in range(1, so_tre + 1)])</a:t>
            </a:r>
          </a:p>
          <a:p>
            <a:r>
              <a:rPr sz="950">
                <a:solidFill>
                  <a:srgbClr val="6B7385"/>
                </a:solidFill>
                <a:latin typeface="Courier New"/>
              </a:rPr>
              <a:t>10 </a:t>
            </a:r>
          </a:p>
          <a:p>
            <a:r>
              <a:rPr sz="950">
                <a:solidFill>
                  <a:srgbClr val="6B7385"/>
                </a:solidFill>
                <a:latin typeface="Courier New"/>
              </a:rPr>
              <a:t>11 </a:t>
            </a:r>
            <a:r>
              <a:rPr sz="950">
                <a:solidFill>
                  <a:srgbClr val="E6EAF0"/>
                </a:solidFill>
                <a:latin typeface="Courier New"/>
              </a:rPr>
              <a:t>print(acf_nhanh([2, 4, 6, 4, 2, 4, 6, 4], 4).round(2))</a:t>
            </a:r>
          </a:p>
          <a:p>
            <a:r>
              <a:rPr sz="950">
                <a:solidFill>
                  <a:srgbClr val="6B7385"/>
                </a:solidFill>
                <a:latin typeface="Courier New"/>
              </a:rPr>
              <a:t>12 </a:t>
            </a:r>
            <a:r>
              <a:rPr sz="950">
                <a:solidFill>
                  <a:srgbClr val="E6EAF0"/>
                </a:solidFill>
                <a:latin typeface="Courier New"/>
              </a:rPr>
              <a:t>r = acf_nhanh(df["cnt"], 336)            </a:t>
            </a:r>
            <a:r>
              <a:rPr sz="950">
                <a:solidFill>
                  <a:srgbClr val="8FC99A"/>
                </a:solidFill>
                <a:latin typeface="Courier New"/>
              </a:rPr>
              <a:t># df: lượt thuê theo giờ</a:t>
            </a:r>
          </a:p>
          <a:p>
            <a:r>
              <a:rPr sz="950">
                <a:solidFill>
                  <a:srgbClr val="6B7385"/>
                </a:solidFill>
                <a:latin typeface="Courier New"/>
              </a:rPr>
              <a:t>13 </a:t>
            </a:r>
            <a:r>
              <a:rPr sz="950">
                <a:solidFill>
                  <a:srgbClr val="E6EAF0"/>
                </a:solidFill>
                <a:latin typeface="Courier New"/>
              </a:rPr>
              <a:t>for k in (1, 12, 24, 168):               </a:t>
            </a:r>
            <a:r>
              <a:rPr sz="950">
                <a:solidFill>
                  <a:srgbClr val="8FC99A"/>
                </a:solidFill>
                <a:latin typeface="Courier New"/>
              </a:rPr>
              <a:t># r của từng lag plot</a:t>
            </a:r>
          </a:p>
          <a:p>
            <a:r>
              <a:rPr sz="950">
                <a:solidFill>
                  <a:srgbClr val="6B7385"/>
                </a:solidFill>
                <a:latin typeface="Courier New"/>
              </a:rPr>
              <a:t>14 </a:t>
            </a:r>
            <a:r>
              <a:rPr sz="950">
                <a:solidFill>
                  <a:srgbClr val="E6EAF0"/>
                </a:solidFill>
                <a:latin typeface="Courier New"/>
              </a:rPr>
              <a:t>    cap = pd.DataFrame({"truoc": df["cnt"].shift(k), "sau": df["cnt"]})</a:t>
            </a:r>
          </a:p>
          <a:p>
            <a:r>
              <a:rPr sz="950">
                <a:solidFill>
                  <a:srgbClr val="6B7385"/>
                </a:solidFill>
                <a:latin typeface="Courier New"/>
              </a:rPr>
              <a:t>15 </a:t>
            </a:r>
            <a:r>
              <a:rPr sz="950">
                <a:solidFill>
                  <a:srgbClr val="E6EAF0"/>
                </a:solidFill>
                <a:latin typeface="Courier New"/>
              </a:rPr>
              <a:t>    print(k, cap.dropna().corr().iloc[0, 1])</a:t>
            </a:r>
          </a:p>
        </p:txBody>
      </p:sp>
      <p:sp>
        <p:nvSpPr>
          <p:cNvPr id="8" name="TextBox 7"/>
          <p:cNvSpPr txBox="1"/>
          <p:nvPr/>
        </p:nvSpPr>
        <p:spPr>
          <a:xfrm>
            <a:off x="685800" y="4088384"/>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buoi-04/tu-hoc.ipynb, phần 5</a:t>
            </a:r>
          </a:p>
        </p:txBody>
      </p:sp>
      <p:sp>
        <p:nvSpPr>
          <p:cNvPr id="9" name="TextBox 8"/>
          <p:cNvSpPr txBox="1"/>
          <p:nvPr/>
        </p:nvSpPr>
        <p:spPr>
          <a:xfrm>
            <a:off x="548640" y="4445000"/>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6–7</a:t>
            </a:r>
          </a:p>
        </p:txBody>
      </p:sp>
      <p:sp>
        <p:nvSpPr>
          <p:cNvPr id="11" name="TextBox 10"/>
          <p:cNvSpPr txBox="1"/>
          <p:nvPr/>
        </p:nvSpPr>
        <p:spPr>
          <a:xfrm>
            <a:off x="1353312" y="4746752"/>
            <a:ext cx="2697480" cy="347133"/>
          </a:xfrm>
          <a:prstGeom prst="rect">
            <a:avLst/>
          </a:prstGeom>
          <a:noFill/>
        </p:spPr>
        <p:txBody>
          <a:bodyPr wrap="square" lIns="0" rIns="0" tIns="0" bIns="0" anchor="t">
            <a:spAutoFit/>
          </a:bodyPr>
          <a:lstStyle/>
          <a:p>
            <a:pPr algn="l"/>
            <a:r>
              <a:rPr sz="1050" b="0" i="0">
                <a:solidFill>
                  <a:srgbClr val="1B2A41"/>
                </a:solidFill>
                <a:latin typeface="Arial"/>
              </a:rPr>
              <a:t>Độ lệch từng điểm và tổng bình phương độ lệch.</a:t>
            </a:r>
          </a:p>
        </p:txBody>
      </p:sp>
      <p:sp>
        <p:nvSpPr>
          <p:cNvPr id="12" name="Rounded Rectangle 11"/>
          <p:cNvSpPr/>
          <p:nvPr/>
        </p:nvSpPr>
        <p:spPr>
          <a:xfrm>
            <a:off x="548640" y="51121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8–9</a:t>
            </a:r>
          </a:p>
        </p:txBody>
      </p:sp>
      <p:sp>
        <p:nvSpPr>
          <p:cNvPr id="13" name="TextBox 12"/>
          <p:cNvSpPr txBox="1"/>
          <p:nvPr/>
        </p:nvSpPr>
        <p:spPr>
          <a:xfrm>
            <a:off x="1353312" y="5093885"/>
            <a:ext cx="2697480" cy="347133"/>
          </a:xfrm>
          <a:prstGeom prst="rect">
            <a:avLst/>
          </a:prstGeom>
          <a:noFill/>
        </p:spPr>
        <p:txBody>
          <a:bodyPr wrap="square" lIns="0" rIns="0" tIns="0" bIns="0" anchor="t">
            <a:spAutoFit/>
          </a:bodyPr>
          <a:lstStyle/>
          <a:p>
            <a:pPr algn="l"/>
            <a:r>
              <a:rPr sz="1050" b="0" i="0">
                <a:solidFill>
                  <a:srgbClr val="1B2A41"/>
                </a:solidFill>
                <a:latin typeface="Arial"/>
              </a:rPr>
              <a:t>Cộng tích lệch bây giờ với lệch k bước trước.</a:t>
            </a:r>
          </a:p>
        </p:txBody>
      </p:sp>
      <p:sp>
        <p:nvSpPr>
          <p:cNvPr id="14" name="Rounded Rectangle 13"/>
          <p:cNvSpPr/>
          <p:nvPr/>
        </p:nvSpPr>
        <p:spPr>
          <a:xfrm>
            <a:off x="548640" y="54593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11</a:t>
            </a:r>
          </a:p>
        </p:txBody>
      </p:sp>
      <p:sp>
        <p:nvSpPr>
          <p:cNvPr id="15" name="TextBox 14"/>
          <p:cNvSpPr txBox="1"/>
          <p:nvPr/>
        </p:nvSpPr>
        <p:spPr>
          <a:xfrm>
            <a:off x="1353312" y="5441018"/>
            <a:ext cx="2697480" cy="347133"/>
          </a:xfrm>
          <a:prstGeom prst="rect">
            <a:avLst/>
          </a:prstGeom>
          <a:noFill/>
        </p:spPr>
        <p:txBody>
          <a:bodyPr wrap="square" lIns="0" rIns="0" tIns="0" bIns="0" anchor="t">
            <a:spAutoFit/>
          </a:bodyPr>
          <a:lstStyle/>
          <a:p>
            <a:pPr algn="l"/>
            <a:r>
              <a:rPr sz="1050" b="0" i="0">
                <a:solidFill>
                  <a:srgbClr val="1B2A41"/>
                </a:solidFill>
                <a:latin typeface="Arial"/>
              </a:rPr>
              <a:t>Kiểm trên chuỗi 2, 4, 6, 4 lặp lại.</a:t>
            </a:r>
          </a:p>
        </p:txBody>
      </p:sp>
      <p:sp>
        <p:nvSpPr>
          <p:cNvPr id="16" name="Rounded Rectangle 15"/>
          <p:cNvSpPr/>
          <p:nvPr/>
        </p:nvSpPr>
        <p:spPr>
          <a:xfrm>
            <a:off x="416052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12</a:t>
            </a:r>
          </a:p>
        </p:txBody>
      </p:sp>
      <p:sp>
        <p:nvSpPr>
          <p:cNvPr id="17" name="TextBox 16"/>
          <p:cNvSpPr txBox="1"/>
          <p:nvPr/>
        </p:nvSpPr>
        <p:spPr>
          <a:xfrm>
            <a:off x="4965192" y="4746752"/>
            <a:ext cx="2697480" cy="347133"/>
          </a:xfrm>
          <a:prstGeom prst="rect">
            <a:avLst/>
          </a:prstGeom>
          <a:noFill/>
        </p:spPr>
        <p:txBody>
          <a:bodyPr wrap="square" lIns="0" rIns="0" tIns="0" bIns="0" anchor="t">
            <a:spAutoFit/>
          </a:bodyPr>
          <a:lstStyle/>
          <a:p>
            <a:pPr algn="l"/>
            <a:r>
              <a:rPr sz="1050" b="0" i="0">
                <a:solidFill>
                  <a:srgbClr val="1B2A41"/>
                </a:solidFill>
                <a:latin typeface="Arial"/>
              </a:rPr>
              <a:t>ACF 336 giờ, tức hai tuần, trên dữ liệu thật.</a:t>
            </a:r>
          </a:p>
        </p:txBody>
      </p:sp>
      <p:sp>
        <p:nvSpPr>
          <p:cNvPr id="18" name="Rounded Rectangle 17"/>
          <p:cNvSpPr/>
          <p:nvPr/>
        </p:nvSpPr>
        <p:spPr>
          <a:xfrm>
            <a:off x="4160520" y="51121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13–15</a:t>
            </a:r>
          </a:p>
        </p:txBody>
      </p:sp>
      <p:sp>
        <p:nvSpPr>
          <p:cNvPr id="19" name="TextBox 18"/>
          <p:cNvSpPr txBox="1"/>
          <p:nvPr/>
        </p:nvSpPr>
        <p:spPr>
          <a:xfrm>
            <a:off x="4965192" y="5093885"/>
            <a:ext cx="2697480" cy="347133"/>
          </a:xfrm>
          <a:prstGeom prst="rect">
            <a:avLst/>
          </a:prstGeom>
          <a:noFill/>
        </p:spPr>
        <p:txBody>
          <a:bodyPr wrap="square" lIns="0" rIns="0" tIns="0" bIns="0" anchor="t">
            <a:spAutoFit/>
          </a:bodyPr>
          <a:lstStyle/>
          <a:p>
            <a:pPr algn="l"/>
            <a:r>
              <a:rPr sz="1050" b="0" i="0">
                <a:solidFill>
                  <a:srgbClr val="1B2A41"/>
                </a:solidFill>
                <a:latin typeface="Arial"/>
              </a:rPr>
              <a:t>Ghép giờ t với giờ t − k rồi đo tương quan.</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Chuỗi nhỏ: r2 = −0,75, r4 = 0,5. Dữ liệu thật: r168 = 0,864 cao hơn r144 = 0,786; lag plot trễ 168 cho r = 0,876.</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acf_nhanh(y, so_tre)</a:t>
            </a:r>
            <a:r>
              <a:rPr sz="950" b="1" i="0">
                <a:solidFill>
                  <a:srgbClr val="5B6778"/>
                </a:solidFill>
                <a:latin typeface="Arial"/>
              </a:rPr>
              <a:t>   tự viết</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Tính r_k cho k = 1, 2, … theo đúng công thức tự tương quan.</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np.nansum</a:t>
            </a:r>
            <a:r>
              <a:rPr sz="950" b="1" i="0">
                <a:solidFill>
                  <a:srgbClr val="5B6778"/>
                </a:solidFill>
                <a:latin typeface="Arial"/>
              </a:rPr>
              <a:t>   numpy</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Cộng các phần tử, bỏ qua ô trống thay vì ra NaN.</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shift(k)</a:t>
            </a:r>
            <a:r>
              <a:rPr sz="950" b="1" i="0">
                <a:solidFill>
                  <a:srgbClr val="5B6778"/>
                </a:solidFill>
                <a:latin typeface="Arial"/>
              </a:rPr>
              <a:t>   pandas</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Dời chuỗi xuống k bước: giờ t nhận giá trị của giờ t − k.</a:t>
            </a:r>
          </a:p>
        </p:txBody>
      </p:sp>
      <p:sp>
        <p:nvSpPr>
          <p:cNvPr id="29" name="Rounded Rectangle 28"/>
          <p:cNvSpPr/>
          <p:nvPr/>
        </p:nvSpPr>
        <p:spPr>
          <a:xfrm>
            <a:off x="7863840" y="4059935"/>
            <a:ext cx="3776472" cy="896112"/>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50ce81e2cd7f.png"/>
          <p:cNvPicPr>
            <a:picLocks noChangeAspect="1"/>
          </p:cNvPicPr>
          <p:nvPr/>
        </p:nvPicPr>
        <p:blipFill>
          <a:blip r:embed="rId2"/>
          <a:stretch>
            <a:fillRect/>
          </a:stretch>
        </p:blipFill>
        <p:spPr>
          <a:xfrm>
            <a:off x="8776631" y="4114799"/>
            <a:ext cx="1950889" cy="786384"/>
          </a:xfrm>
          <a:prstGeom prst="rect">
            <a:avLst/>
          </a:prstGeom>
        </p:spPr>
      </p:pic>
      <p:pic>
        <p:nvPicPr>
          <p:cNvPr id="31" name="Picture 30" descr="kn-acf.png"/>
          <p:cNvPicPr>
            <a:picLocks noChangeAspect="1"/>
          </p:cNvPicPr>
          <p:nvPr/>
        </p:nvPicPr>
        <p:blipFill>
          <a:blip r:embed="rId3"/>
          <a:stretch>
            <a:fillRect/>
          </a:stretch>
        </p:blipFill>
        <p:spPr>
          <a:xfrm>
            <a:off x="8384718" y="5093207"/>
            <a:ext cx="2734714" cy="1380744"/>
          </a:xfrm>
          <a:prstGeom prst="rect">
            <a:avLst/>
          </a:prstGeom>
        </p:spPr>
      </p:pic>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r từng nhóm thay cho trục kép</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4</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Đo quan hệ nhiệt độ và lượt thuê bằng số, và thấy trộn hai năm làm quan hệ trông yếu đi.</a:t>
            </a:r>
          </a:p>
        </p:txBody>
      </p:sp>
      <p:sp>
        <p:nvSpPr>
          <p:cNvPr id="6" name="Rounded Rectangle 5"/>
          <p:cNvSpPr/>
          <p:nvPr/>
        </p:nvSpPr>
        <p:spPr>
          <a:xfrm>
            <a:off x="548640" y="1737360"/>
            <a:ext cx="7086600" cy="2455545"/>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35505"/>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pandas as pd</a:t>
            </a:r>
          </a:p>
          <a:p>
            <a:r>
              <a:rPr sz="950">
                <a:solidFill>
                  <a:srgbClr val="6B7385"/>
                </a:solidFill>
                <a:latin typeface="Courier New"/>
              </a:rPr>
              <a:t> 2 </a:t>
            </a:r>
          </a:p>
          <a:p>
            <a:r>
              <a:rPr sz="950">
                <a:solidFill>
                  <a:srgbClr val="6B7385"/>
                </a:solidFill>
                <a:latin typeface="Courier New"/>
              </a:rPr>
              <a:t> 3 </a:t>
            </a:r>
            <a:r>
              <a:rPr sz="950">
                <a:solidFill>
                  <a:srgbClr val="8FC99A"/>
                </a:solidFill>
                <a:latin typeface="Courier New"/>
              </a:rPr>
              <a:t># df: lượt thuê theo giờ; temp đã chia cho 41 độ C</a:t>
            </a:r>
          </a:p>
          <a:p>
            <a:r>
              <a:rPr sz="950">
                <a:solidFill>
                  <a:srgbClr val="6B7385"/>
                </a:solidFill>
                <a:latin typeface="Courier New"/>
              </a:rPr>
              <a:t> 4 </a:t>
            </a:r>
            <a:r>
              <a:rPr sz="950">
                <a:solidFill>
                  <a:srgbClr val="E6EAF0"/>
                </a:solidFill>
                <a:latin typeface="Courier New"/>
              </a:rPr>
              <a:t>th12 = df[df["nam"] == 2012].resample("MS").agg(</a:t>
            </a:r>
          </a:p>
          <a:p>
            <a:r>
              <a:rPr sz="950">
                <a:solidFill>
                  <a:srgbClr val="6B7385"/>
                </a:solidFill>
                <a:latin typeface="Courier New"/>
              </a:rPr>
              <a:t> 5 </a:t>
            </a:r>
            <a:r>
              <a:rPr sz="950">
                <a:solidFill>
                  <a:srgbClr val="E6EAF0"/>
                </a:solidFill>
                <a:latin typeface="Courier New"/>
              </a:rPr>
              <a:t>    {"cnt": "sum", "temp": "mean"})</a:t>
            </a:r>
          </a:p>
          <a:p>
            <a:r>
              <a:rPr sz="950">
                <a:solidFill>
                  <a:srgbClr val="6B7385"/>
                </a:solidFill>
                <a:latin typeface="Courier New"/>
              </a:rPr>
              <a:t> 6 </a:t>
            </a:r>
            <a:r>
              <a:rPr sz="950">
                <a:solidFill>
                  <a:srgbClr val="E6EAF0"/>
                </a:solidFill>
                <a:latin typeface="Courier New"/>
              </a:rPr>
              <a:t>r12 = th12["cnt"].corr(th12["temp"])     </a:t>
            </a:r>
            <a:r>
              <a:rPr sz="950">
                <a:solidFill>
                  <a:srgbClr val="8FC99A"/>
                </a:solidFill>
                <a:latin typeface="Courier New"/>
              </a:rPr>
              <a:t># quan hệ theo 12 tháng</a:t>
            </a:r>
          </a:p>
          <a:p>
            <a:r>
              <a:rPr sz="950">
                <a:solidFill>
                  <a:srgbClr val="6B7385"/>
                </a:solidFill>
                <a:latin typeface="Courier New"/>
              </a:rPr>
              <a:t> 7 </a:t>
            </a:r>
          </a:p>
          <a:p>
            <a:r>
              <a:rPr sz="950">
                <a:solidFill>
                  <a:srgbClr val="6B7385"/>
                </a:solidFill>
                <a:latin typeface="Courier New"/>
              </a:rPr>
              <a:t> 8 </a:t>
            </a:r>
            <a:r>
              <a:rPr sz="950">
                <a:solidFill>
                  <a:srgbClr val="E6EAF0"/>
                </a:solidFill>
                <a:latin typeface="Courier New"/>
              </a:rPr>
              <a:t>nd = df.resample("D").agg({"cnt": "sum", "temp": "mean",</a:t>
            </a:r>
          </a:p>
          <a:p>
            <a:r>
              <a:rPr sz="950">
                <a:solidFill>
                  <a:srgbClr val="6B7385"/>
                </a:solidFill>
                <a:latin typeface="Courier New"/>
              </a:rPr>
              <a:t> 9 </a:t>
            </a:r>
            <a:r>
              <a:rPr sz="950">
                <a:solidFill>
                  <a:srgbClr val="E6EAF0"/>
                </a:solidFill>
                <a:latin typeface="Courier New"/>
              </a:rPr>
              <a:t>                           "nam": "first"}).dropna()</a:t>
            </a:r>
          </a:p>
          <a:p>
            <a:r>
              <a:rPr sz="950">
                <a:solidFill>
                  <a:srgbClr val="6B7385"/>
                </a:solidFill>
                <a:latin typeface="Courier New"/>
              </a:rPr>
              <a:t>10 </a:t>
            </a:r>
            <a:r>
              <a:rPr sz="950">
                <a:solidFill>
                  <a:srgbClr val="E6EAF0"/>
                </a:solidFill>
                <a:latin typeface="Courier New"/>
              </a:rPr>
              <a:t>r_nam = {n: g["cnt"].corr(g["temp"]) for n, g in nd.groupby("nam")}</a:t>
            </a:r>
          </a:p>
          <a:p>
            <a:r>
              <a:rPr sz="950">
                <a:solidFill>
                  <a:srgbClr val="6B7385"/>
                </a:solidFill>
                <a:latin typeface="Courier New"/>
              </a:rPr>
              <a:t>11 </a:t>
            </a:r>
            <a:r>
              <a:rPr sz="950">
                <a:solidFill>
                  <a:srgbClr val="E6EAF0"/>
                </a:solidFill>
                <a:latin typeface="Courier New"/>
              </a:rPr>
              <a:t>r_gop = nd["cnt"].corr(nd["temp"])       </a:t>
            </a:r>
            <a:r>
              <a:rPr sz="950">
                <a:solidFill>
                  <a:srgbClr val="8FC99A"/>
                </a:solidFill>
                <a:latin typeface="Courier New"/>
              </a:rPr>
              <a:t># trộn hai năm vào một</a:t>
            </a:r>
          </a:p>
          <a:p>
            <a:r>
              <a:rPr sz="950">
                <a:solidFill>
                  <a:srgbClr val="6B7385"/>
                </a:solidFill>
                <a:latin typeface="Courier New"/>
              </a:rPr>
              <a:t>12 </a:t>
            </a:r>
          </a:p>
          <a:p>
            <a:r>
              <a:rPr sz="950">
                <a:solidFill>
                  <a:srgbClr val="6B7385"/>
                </a:solidFill>
                <a:latin typeface="Courier New"/>
              </a:rPr>
              <a:t>13 </a:t>
            </a:r>
            <a:r>
              <a:rPr sz="950">
                <a:solidFill>
                  <a:srgbClr val="8FC99A"/>
                </a:solidFill>
                <a:latin typeface="Courier New"/>
              </a:rPr>
              <a:t># thay trục kép: đánh chỉ số, tháng đầu bằng 100</a:t>
            </a:r>
          </a:p>
          <a:p>
            <a:r>
              <a:rPr sz="950">
                <a:solidFill>
                  <a:srgbClr val="6B7385"/>
                </a:solidFill>
                <a:latin typeface="Courier New"/>
              </a:rPr>
              <a:t>14 </a:t>
            </a:r>
            <a:r>
              <a:rPr sz="950">
                <a:solidFill>
                  <a:srgbClr val="E6EAF0"/>
                </a:solidFill>
                <a:latin typeface="Courier New"/>
              </a:rPr>
              <a:t>chi_so = th12 / th12.iloc[0] * 100</a:t>
            </a:r>
          </a:p>
        </p:txBody>
      </p:sp>
      <p:sp>
        <p:nvSpPr>
          <p:cNvPr id="8" name="TextBox 7"/>
          <p:cNvSpPr txBox="1"/>
          <p:nvPr/>
        </p:nvSpPr>
        <p:spPr>
          <a:xfrm>
            <a:off x="685800" y="3946017"/>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buoi-04/tu-hoc.ipynb, phần 6</a:t>
            </a:r>
          </a:p>
        </p:txBody>
      </p:sp>
      <p:sp>
        <p:nvSpPr>
          <p:cNvPr id="9" name="TextBox 8"/>
          <p:cNvSpPr txBox="1"/>
          <p:nvPr/>
        </p:nvSpPr>
        <p:spPr>
          <a:xfrm>
            <a:off x="548640" y="4302633"/>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6226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4–5</a:t>
            </a:r>
          </a:p>
        </p:txBody>
      </p:sp>
      <p:sp>
        <p:nvSpPr>
          <p:cNvPr id="11" name="TextBox 10"/>
          <p:cNvSpPr txBox="1"/>
          <p:nvPr/>
        </p:nvSpPr>
        <p:spPr>
          <a:xfrm>
            <a:off x="1353312" y="4604385"/>
            <a:ext cx="2697480" cy="394588"/>
          </a:xfrm>
          <a:prstGeom prst="rect">
            <a:avLst/>
          </a:prstGeom>
          <a:noFill/>
        </p:spPr>
        <p:txBody>
          <a:bodyPr wrap="square" lIns="0" rIns="0" tIns="0" bIns="0" anchor="t">
            <a:spAutoFit/>
          </a:bodyPr>
          <a:lstStyle/>
          <a:p>
            <a:pPr algn="l"/>
            <a:r>
              <a:rPr sz="1050" b="0" i="0">
                <a:solidFill>
                  <a:srgbClr val="1B2A41"/>
                </a:solidFill>
                <a:latin typeface="Arial"/>
              </a:rPr>
              <a:t>Tổng lượt và nhiệt độ trung bình mỗi tháng 2012.</a:t>
            </a:r>
          </a:p>
        </p:txBody>
      </p:sp>
      <p:sp>
        <p:nvSpPr>
          <p:cNvPr id="12" name="Rounded Rectangle 11"/>
          <p:cNvSpPr/>
          <p:nvPr/>
        </p:nvSpPr>
        <p:spPr>
          <a:xfrm>
            <a:off x="548640" y="5017262"/>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6</a:t>
            </a:r>
          </a:p>
        </p:txBody>
      </p:sp>
      <p:sp>
        <p:nvSpPr>
          <p:cNvPr id="13" name="TextBox 12"/>
          <p:cNvSpPr txBox="1"/>
          <p:nvPr/>
        </p:nvSpPr>
        <p:spPr>
          <a:xfrm>
            <a:off x="1353312" y="4998974"/>
            <a:ext cx="2697480" cy="394588"/>
          </a:xfrm>
          <a:prstGeom prst="rect">
            <a:avLst/>
          </a:prstGeom>
          <a:noFill/>
        </p:spPr>
        <p:txBody>
          <a:bodyPr wrap="square" lIns="0" rIns="0" tIns="0" bIns="0" anchor="t">
            <a:spAutoFit/>
          </a:bodyPr>
          <a:lstStyle/>
          <a:p>
            <a:pPr algn="l"/>
            <a:r>
              <a:rPr sz="1050" b="0" i="0">
                <a:solidFill>
                  <a:srgbClr val="1B2A41"/>
                </a:solidFill>
                <a:latin typeface="Arial"/>
              </a:rPr>
              <a:t>Hệ số r cho biết hai chuỗi đi cùng nhau tới đâu.</a:t>
            </a:r>
          </a:p>
        </p:txBody>
      </p:sp>
      <p:sp>
        <p:nvSpPr>
          <p:cNvPr id="14" name="Rounded Rectangle 13"/>
          <p:cNvSpPr/>
          <p:nvPr/>
        </p:nvSpPr>
        <p:spPr>
          <a:xfrm>
            <a:off x="548640" y="541185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8–10</a:t>
            </a:r>
          </a:p>
        </p:txBody>
      </p:sp>
      <p:sp>
        <p:nvSpPr>
          <p:cNvPr id="15" name="TextBox 14"/>
          <p:cNvSpPr txBox="1"/>
          <p:nvPr/>
        </p:nvSpPr>
        <p:spPr>
          <a:xfrm>
            <a:off x="1353312" y="5393563"/>
            <a:ext cx="2697480" cy="394588"/>
          </a:xfrm>
          <a:prstGeom prst="rect">
            <a:avLst/>
          </a:prstGeom>
          <a:noFill/>
        </p:spPr>
        <p:txBody>
          <a:bodyPr wrap="square" lIns="0" rIns="0" tIns="0" bIns="0" anchor="t">
            <a:spAutoFit/>
          </a:bodyPr>
          <a:lstStyle/>
          <a:p>
            <a:pPr algn="l"/>
            <a:r>
              <a:rPr sz="1050" b="0" i="0">
                <a:solidFill>
                  <a:srgbClr val="1B2A41"/>
                </a:solidFill>
                <a:latin typeface="Arial"/>
              </a:rPr>
              <a:t>Theo ngày: tính r riêng cho từng năm.</a:t>
            </a:r>
          </a:p>
        </p:txBody>
      </p:sp>
      <p:sp>
        <p:nvSpPr>
          <p:cNvPr id="16" name="Rounded Rectangle 15"/>
          <p:cNvSpPr/>
          <p:nvPr/>
        </p:nvSpPr>
        <p:spPr>
          <a:xfrm>
            <a:off x="4160520" y="46226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11</a:t>
            </a:r>
          </a:p>
        </p:txBody>
      </p:sp>
      <p:sp>
        <p:nvSpPr>
          <p:cNvPr id="17" name="TextBox 16"/>
          <p:cNvSpPr txBox="1"/>
          <p:nvPr/>
        </p:nvSpPr>
        <p:spPr>
          <a:xfrm>
            <a:off x="4965192" y="4604385"/>
            <a:ext cx="2697480" cy="394588"/>
          </a:xfrm>
          <a:prstGeom prst="rect">
            <a:avLst/>
          </a:prstGeom>
          <a:noFill/>
        </p:spPr>
        <p:txBody>
          <a:bodyPr wrap="square" lIns="0" rIns="0" tIns="0" bIns="0" anchor="t">
            <a:spAutoFit/>
          </a:bodyPr>
          <a:lstStyle/>
          <a:p>
            <a:pPr algn="l"/>
            <a:r>
              <a:rPr sz="1050" b="0" i="0">
                <a:solidFill>
                  <a:srgbClr val="1B2A41"/>
                </a:solidFill>
                <a:latin typeface="Arial"/>
              </a:rPr>
              <a:t>Gộp hai năm rồi tính r để so.</a:t>
            </a:r>
          </a:p>
        </p:txBody>
      </p:sp>
      <p:sp>
        <p:nvSpPr>
          <p:cNvPr id="18" name="Rounded Rectangle 17"/>
          <p:cNvSpPr/>
          <p:nvPr/>
        </p:nvSpPr>
        <p:spPr>
          <a:xfrm>
            <a:off x="4160520" y="5017262"/>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14</a:t>
            </a:r>
          </a:p>
        </p:txBody>
      </p:sp>
      <p:sp>
        <p:nvSpPr>
          <p:cNvPr id="19" name="TextBox 18"/>
          <p:cNvSpPr txBox="1"/>
          <p:nvPr/>
        </p:nvSpPr>
        <p:spPr>
          <a:xfrm>
            <a:off x="4965192" y="4998974"/>
            <a:ext cx="2697480" cy="394588"/>
          </a:xfrm>
          <a:prstGeom prst="rect">
            <a:avLst/>
          </a:prstGeom>
          <a:noFill/>
        </p:spPr>
        <p:txBody>
          <a:bodyPr wrap="square" lIns="0" rIns="0" tIns="0" bIns="0" anchor="t">
            <a:spAutoFit/>
          </a:bodyPr>
          <a:lstStyle/>
          <a:p>
            <a:pPr algn="l"/>
            <a:r>
              <a:rPr sz="1050" b="0" i="0">
                <a:solidFill>
                  <a:srgbClr val="1B2A41"/>
                </a:solidFill>
                <a:latin typeface="Arial"/>
              </a:rPr>
              <a:t>Chung một trục mà không cần trục kép.</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12 tháng 2012: r = 0,91. Theo ngày: 2011 r = 0,771, 2012 r = 0,714, nhưng gộp hai năm chỉ còn 0,627.</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agg({cột: cách gộp})</a:t>
            </a:r>
            <a:r>
              <a:rPr sz="950" b="1" i="0">
                <a:solidFill>
                  <a:srgbClr val="5B6778"/>
                </a:solidFill>
                <a:latin typeface="Arial"/>
              </a:rPr>
              <a:t>   pandas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Gộp mỗi cột một kiểu: cột này cộng, cột kia lấy trung bình.</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corr</a:t>
            </a:r>
            <a:r>
              <a:rPr sz="950" b="1" i="0">
                <a:solidFill>
                  <a:srgbClr val="5B6778"/>
                </a:solidFill>
                <a:latin typeface="Arial"/>
              </a:rPr>
              <a:t>   pandas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Hệ số tương quan r giữa hai cột, từ −1 tới 1.</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groupby("nam")</a:t>
            </a:r>
            <a:r>
              <a:rPr sz="950" b="1" i="0">
                <a:solidFill>
                  <a:srgbClr val="5B6778"/>
                </a:solidFill>
                <a:latin typeface="Arial"/>
              </a:rPr>
              <a:t>   pandas</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Chia bảng thành từng năm để tính riêng cho mỗi năm.</a:t>
            </a:r>
          </a:p>
        </p:txBody>
      </p:sp>
      <p:pic>
        <p:nvPicPr>
          <p:cNvPr id="29" name="Picture 28" descr="kn-truc-y-cat.png"/>
          <p:cNvPicPr>
            <a:picLocks noChangeAspect="1"/>
          </p:cNvPicPr>
          <p:nvPr/>
        </p:nvPicPr>
        <p:blipFill>
          <a:blip r:embed="rId2"/>
          <a:stretch>
            <a:fillRect/>
          </a:stretch>
        </p:blipFill>
        <p:spPr>
          <a:xfrm>
            <a:off x="7863840" y="4432553"/>
            <a:ext cx="3776472" cy="1696212"/>
          </a:xfrm>
          <a:prstGeom prst="rect">
            <a:avLst/>
          </a:prstGeom>
        </p:spPr>
      </p:pic>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chia số ngày của tháng</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5</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Thấy chia số ngày có thể đảo dấu kết luận khi so hai tháng liền nhau.</a:t>
            </a:r>
          </a:p>
        </p:txBody>
      </p:sp>
      <p:sp>
        <p:nvSpPr>
          <p:cNvPr id="6" name="Rounded Rectangle 5"/>
          <p:cNvSpPr/>
          <p:nvPr/>
        </p:nvSpPr>
        <p:spPr>
          <a:xfrm>
            <a:off x="548640" y="1737360"/>
            <a:ext cx="7086600" cy="2208276"/>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1888236"/>
          </a:xfrm>
          <a:prstGeom prst="rect">
            <a:avLst/>
          </a:prstGeom>
          <a:noFill/>
        </p:spPr>
        <p:txBody>
          <a:bodyPr wrap="none" lIns="0" rIns="0" tIns="0" bIns="0">
            <a:spAutoFit/>
          </a:bodyPr>
          <a:lstStyle/>
          <a:p>
            <a:r>
              <a:rPr sz="1050">
                <a:solidFill>
                  <a:srgbClr val="6B7385"/>
                </a:solidFill>
                <a:latin typeface="Courier New"/>
              </a:rPr>
              <a:t> 1 </a:t>
            </a:r>
            <a:r>
              <a:rPr sz="1050">
                <a:solidFill>
                  <a:srgbClr val="E6EAF0"/>
                </a:solidFill>
                <a:latin typeface="Courier New"/>
              </a:rPr>
              <a:t>import pandas as pd</a:t>
            </a:r>
          </a:p>
          <a:p>
            <a:r>
              <a:rPr sz="1050">
                <a:solidFill>
                  <a:srgbClr val="6B7385"/>
                </a:solidFill>
                <a:latin typeface="Courier New"/>
              </a:rPr>
              <a:t> 2 </a:t>
            </a:r>
          </a:p>
          <a:p>
            <a:r>
              <a:rPr sz="1050">
                <a:solidFill>
                  <a:srgbClr val="6B7385"/>
                </a:solidFill>
                <a:latin typeface="Courier New"/>
              </a:rPr>
              <a:t> 3 </a:t>
            </a:r>
            <a:r>
              <a:rPr sz="1050">
                <a:solidFill>
                  <a:srgbClr val="8FC99A"/>
                </a:solidFill>
                <a:latin typeface="Courier New"/>
              </a:rPr>
              <a:t># y: doanh số bán lẻ Mỹ theo tháng (triệu USD), chưa điều chỉnh</a:t>
            </a:r>
          </a:p>
          <a:p>
            <a:r>
              <a:rPr sz="1050">
                <a:solidFill>
                  <a:srgbClr val="6B7385"/>
                </a:solidFill>
                <a:latin typeface="Courier New"/>
              </a:rPr>
              <a:t> 4 </a:t>
            </a:r>
            <a:r>
              <a:rPr sz="1050">
                <a:solidFill>
                  <a:srgbClr val="E6EAF0"/>
                </a:solidFill>
                <a:latin typeface="Courier New"/>
              </a:rPr>
              <a:t>ba = y["2023-01":"2023-03"]</a:t>
            </a:r>
          </a:p>
          <a:p>
            <a:r>
              <a:rPr sz="1050">
                <a:solidFill>
                  <a:srgbClr val="6B7385"/>
                </a:solidFill>
                <a:latin typeface="Courier New"/>
              </a:rPr>
              <a:t> 5 </a:t>
            </a:r>
            <a:r>
              <a:rPr sz="1050">
                <a:solidFill>
                  <a:srgbClr val="E6EAF0"/>
                </a:solidFill>
                <a:latin typeface="Courier New"/>
              </a:rPr>
              <a:t>so_ngay = ba.index.days_in_month               </a:t>
            </a:r>
            <a:r>
              <a:rPr sz="1050">
                <a:solidFill>
                  <a:srgbClr val="8FC99A"/>
                </a:solidFill>
                <a:latin typeface="Courier New"/>
              </a:rPr>
              <a:t># 31, 28, 31</a:t>
            </a:r>
          </a:p>
          <a:p>
            <a:r>
              <a:rPr sz="1050">
                <a:solidFill>
                  <a:srgbClr val="6B7385"/>
                </a:solidFill>
                <a:latin typeface="Courier New"/>
              </a:rPr>
              <a:t> 6 </a:t>
            </a:r>
            <a:r>
              <a:rPr sz="1050">
                <a:solidFill>
                  <a:srgbClr val="E6EAF0"/>
                </a:solidFill>
                <a:latin typeface="Courier New"/>
              </a:rPr>
              <a:t>khong_cn = [sum(d.dayofweek != 6 for d in</a:t>
            </a:r>
          </a:p>
          <a:p>
            <a:r>
              <a:rPr sz="1050">
                <a:solidFill>
                  <a:srgbClr val="6B7385"/>
                </a:solidFill>
                <a:latin typeface="Courier New"/>
              </a:rPr>
              <a:t> 7 </a:t>
            </a:r>
            <a:r>
              <a:rPr sz="1050">
                <a:solidFill>
                  <a:srgbClr val="E6EAF0"/>
                </a:solidFill>
                <a:latin typeface="Courier New"/>
              </a:rPr>
              <a:t>                pd.date_range(t, t + pd.offsets.MonthEnd(0)))</a:t>
            </a:r>
          </a:p>
          <a:p>
            <a:r>
              <a:rPr sz="1050">
                <a:solidFill>
                  <a:srgbClr val="6B7385"/>
                </a:solidFill>
                <a:latin typeface="Courier New"/>
              </a:rPr>
              <a:t> 8 </a:t>
            </a:r>
            <a:r>
              <a:rPr sz="1050">
                <a:solidFill>
                  <a:srgbClr val="E6EAF0"/>
                </a:solidFill>
                <a:latin typeface="Courier New"/>
              </a:rPr>
              <a:t>            for t in ba.index]                 </a:t>
            </a:r>
            <a:r>
              <a:rPr sz="1050">
                <a:solidFill>
                  <a:srgbClr val="8FC99A"/>
                </a:solidFill>
                <a:latin typeface="Courier New"/>
              </a:rPr>
              <a:t># ngày bán hàng</a:t>
            </a:r>
          </a:p>
          <a:p>
            <a:r>
              <a:rPr sz="1050">
                <a:solidFill>
                  <a:srgbClr val="6B7385"/>
                </a:solidFill>
                <a:latin typeface="Courier New"/>
              </a:rPr>
              <a:t> 9 </a:t>
            </a:r>
            <a:r>
              <a:rPr sz="1050">
                <a:solidFill>
                  <a:srgbClr val="E6EAF0"/>
                </a:solidFill>
                <a:latin typeface="Courier New"/>
              </a:rPr>
              <a:t>bang = pd.DataFrame({"tổng": ba, "mỗi ngày": ba / so_ngay,</a:t>
            </a:r>
          </a:p>
          <a:p>
            <a:r>
              <a:rPr sz="1050">
                <a:solidFill>
                  <a:srgbClr val="6B7385"/>
                </a:solidFill>
                <a:latin typeface="Courier New"/>
              </a:rPr>
              <a:t>10 </a:t>
            </a:r>
            <a:r>
              <a:rPr sz="1050">
                <a:solidFill>
                  <a:srgbClr val="E6EAF0"/>
                </a:solidFill>
                <a:latin typeface="Courier New"/>
              </a:rPr>
              <a:t>                     "mỗi ngày không CN": ba / khong_cn})</a:t>
            </a:r>
          </a:p>
          <a:p>
            <a:r>
              <a:rPr sz="1050">
                <a:solidFill>
                  <a:srgbClr val="6B7385"/>
                </a:solidFill>
                <a:latin typeface="Courier New"/>
              </a:rPr>
              <a:t>11 </a:t>
            </a:r>
            <a:r>
              <a:rPr sz="1050">
                <a:solidFill>
                  <a:srgbClr val="E6EAF0"/>
                </a:solidFill>
                <a:latin typeface="Courier New"/>
              </a:rPr>
              <a:t>thay_doi = bang.pct_change() * 100             </a:t>
            </a:r>
            <a:r>
              <a:rPr sz="1050">
                <a:solidFill>
                  <a:srgbClr val="8FC99A"/>
                </a:solidFill>
                <a:latin typeface="Courier New"/>
              </a:rPr>
              <a:t># % so với tháng trước</a:t>
            </a:r>
          </a:p>
        </p:txBody>
      </p:sp>
      <p:sp>
        <p:nvSpPr>
          <p:cNvPr id="8" name="TextBox 7"/>
          <p:cNvSpPr txBox="1"/>
          <p:nvPr/>
        </p:nvSpPr>
        <p:spPr>
          <a:xfrm>
            <a:off x="685800" y="3698748"/>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buoi-05/tu-hoc.ipynb, phần 1</a:t>
            </a:r>
          </a:p>
        </p:txBody>
      </p:sp>
      <p:sp>
        <p:nvSpPr>
          <p:cNvPr id="9" name="TextBox 8"/>
          <p:cNvSpPr txBox="1"/>
          <p:nvPr/>
        </p:nvSpPr>
        <p:spPr>
          <a:xfrm>
            <a:off x="548640" y="4055363"/>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3754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4</a:t>
            </a:r>
          </a:p>
        </p:txBody>
      </p:sp>
      <p:sp>
        <p:nvSpPr>
          <p:cNvPr id="11" name="TextBox 10"/>
          <p:cNvSpPr txBox="1"/>
          <p:nvPr/>
        </p:nvSpPr>
        <p:spPr>
          <a:xfrm>
            <a:off x="1353312" y="4357116"/>
            <a:ext cx="2697480" cy="457200"/>
          </a:xfrm>
          <a:prstGeom prst="rect">
            <a:avLst/>
          </a:prstGeom>
          <a:noFill/>
        </p:spPr>
        <p:txBody>
          <a:bodyPr wrap="square" lIns="0" rIns="0" tIns="0" bIns="0" anchor="t">
            <a:spAutoFit/>
          </a:bodyPr>
          <a:lstStyle/>
          <a:p>
            <a:pPr algn="l"/>
            <a:r>
              <a:rPr sz="1050" b="0" i="0">
                <a:solidFill>
                  <a:srgbClr val="1B2A41"/>
                </a:solidFill>
                <a:latin typeface="Arial"/>
              </a:rPr>
              <a:t>Ba tháng đầu năm 2023.</a:t>
            </a:r>
          </a:p>
        </p:txBody>
      </p:sp>
      <p:sp>
        <p:nvSpPr>
          <p:cNvPr id="12" name="Rounded Rectangle 11"/>
          <p:cNvSpPr/>
          <p:nvPr/>
        </p:nvSpPr>
        <p:spPr>
          <a:xfrm>
            <a:off x="548640" y="48326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5</a:t>
            </a:r>
          </a:p>
        </p:txBody>
      </p:sp>
      <p:sp>
        <p:nvSpPr>
          <p:cNvPr id="13" name="TextBox 12"/>
          <p:cNvSpPr txBox="1"/>
          <p:nvPr/>
        </p:nvSpPr>
        <p:spPr>
          <a:xfrm>
            <a:off x="1353312" y="4814316"/>
            <a:ext cx="2697480" cy="457200"/>
          </a:xfrm>
          <a:prstGeom prst="rect">
            <a:avLst/>
          </a:prstGeom>
          <a:noFill/>
        </p:spPr>
        <p:txBody>
          <a:bodyPr wrap="square" lIns="0" rIns="0" tIns="0" bIns="0" anchor="t">
            <a:spAutoFit/>
          </a:bodyPr>
          <a:lstStyle/>
          <a:p>
            <a:pPr algn="l"/>
            <a:r>
              <a:rPr sz="1050" b="0" i="0">
                <a:solidFill>
                  <a:srgbClr val="1B2A41"/>
                </a:solidFill>
                <a:latin typeface="Arial"/>
              </a:rPr>
              <a:t>Số ngày lịch của từng tháng.</a:t>
            </a:r>
          </a:p>
        </p:txBody>
      </p:sp>
      <p:sp>
        <p:nvSpPr>
          <p:cNvPr id="14" name="Rounded Rectangle 13"/>
          <p:cNvSpPr/>
          <p:nvPr/>
        </p:nvSpPr>
        <p:spPr>
          <a:xfrm>
            <a:off x="548640" y="52898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6–8</a:t>
            </a:r>
          </a:p>
        </p:txBody>
      </p:sp>
      <p:sp>
        <p:nvSpPr>
          <p:cNvPr id="15" name="TextBox 14"/>
          <p:cNvSpPr txBox="1"/>
          <p:nvPr/>
        </p:nvSpPr>
        <p:spPr>
          <a:xfrm>
            <a:off x="1353312" y="5271516"/>
            <a:ext cx="2697480" cy="457200"/>
          </a:xfrm>
          <a:prstGeom prst="rect">
            <a:avLst/>
          </a:prstGeom>
          <a:noFill/>
        </p:spPr>
        <p:txBody>
          <a:bodyPr wrap="square" lIns="0" rIns="0" tIns="0" bIns="0" anchor="t">
            <a:spAutoFit/>
          </a:bodyPr>
          <a:lstStyle/>
          <a:p>
            <a:pPr algn="l"/>
            <a:r>
              <a:rPr sz="1050" b="0" i="0">
                <a:solidFill>
                  <a:srgbClr val="1B2A41"/>
                </a:solidFill>
                <a:latin typeface="Arial"/>
              </a:rPr>
              <a:t>Đếm số ngày không phải Chủ nhật.</a:t>
            </a:r>
          </a:p>
        </p:txBody>
      </p:sp>
      <p:sp>
        <p:nvSpPr>
          <p:cNvPr id="16" name="Rounded Rectangle 15"/>
          <p:cNvSpPr/>
          <p:nvPr/>
        </p:nvSpPr>
        <p:spPr>
          <a:xfrm>
            <a:off x="4160520" y="43754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9–10</a:t>
            </a:r>
          </a:p>
        </p:txBody>
      </p:sp>
      <p:sp>
        <p:nvSpPr>
          <p:cNvPr id="17" name="TextBox 16"/>
          <p:cNvSpPr txBox="1"/>
          <p:nvPr/>
        </p:nvSpPr>
        <p:spPr>
          <a:xfrm>
            <a:off x="4965192" y="4357116"/>
            <a:ext cx="2697480" cy="457200"/>
          </a:xfrm>
          <a:prstGeom prst="rect">
            <a:avLst/>
          </a:prstGeom>
          <a:noFill/>
        </p:spPr>
        <p:txBody>
          <a:bodyPr wrap="square" lIns="0" rIns="0" tIns="0" bIns="0" anchor="t">
            <a:spAutoFit/>
          </a:bodyPr>
          <a:lstStyle/>
          <a:p>
            <a:pPr algn="l"/>
            <a:r>
              <a:rPr sz="1050" b="0" i="0">
                <a:solidFill>
                  <a:srgbClr val="1B2A41"/>
                </a:solidFill>
                <a:latin typeface="Arial"/>
              </a:rPr>
              <a:t>Doanh số mỗi ngày theo hai cách đếm ngày.</a:t>
            </a:r>
          </a:p>
        </p:txBody>
      </p:sp>
      <p:sp>
        <p:nvSpPr>
          <p:cNvPr id="18" name="Rounded Rectangle 17"/>
          <p:cNvSpPr/>
          <p:nvPr/>
        </p:nvSpPr>
        <p:spPr>
          <a:xfrm>
            <a:off x="4160520" y="48326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11</a:t>
            </a:r>
          </a:p>
        </p:txBody>
      </p:sp>
      <p:sp>
        <p:nvSpPr>
          <p:cNvPr id="19" name="TextBox 18"/>
          <p:cNvSpPr txBox="1"/>
          <p:nvPr/>
        </p:nvSpPr>
        <p:spPr>
          <a:xfrm>
            <a:off x="4965192" y="4814316"/>
            <a:ext cx="2697480" cy="457200"/>
          </a:xfrm>
          <a:prstGeom prst="rect">
            <a:avLst/>
          </a:prstGeom>
          <a:noFill/>
        </p:spPr>
        <p:txBody>
          <a:bodyPr wrap="square" lIns="0" rIns="0" tIns="0" bIns="0" anchor="t">
            <a:spAutoFit/>
          </a:bodyPr>
          <a:lstStyle/>
          <a:p>
            <a:pPr algn="l"/>
            <a:r>
              <a:rPr sz="1050" b="0" i="0">
                <a:solidFill>
                  <a:srgbClr val="1B2A41"/>
                </a:solidFill>
                <a:latin typeface="Arial"/>
              </a:rPr>
              <a:t>So mỗi tháng với tháng trước theo phần trăm.</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T2 so T1: tổng −3,4% nhưng mỗi ngày +7,0%. T3 so T2: +14,15% thẳng, +3,11% chia ngày, +1,47% bỏ CN, −1,05% ADJUSTED.</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index.days_in_month</a:t>
            </a:r>
            <a:r>
              <a:rPr sz="950" b="1" i="0">
                <a:solidFill>
                  <a:srgbClr val="5B6778"/>
                </a:solidFill>
                <a:latin typeface="Arial"/>
              </a:rPr>
              <a:t>   pandas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Số ngày của tháng chứa mỗi mốc: 28, 30 hay 31.</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pd.offsets.MonthEnd(0)</a:t>
            </a:r>
            <a:r>
              <a:rPr sz="950" b="1" i="0">
                <a:solidFill>
                  <a:srgbClr val="5B6778"/>
                </a:solidFill>
                <a:latin typeface="Arial"/>
              </a:rPr>
              <a:t>   pandas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Nhảy tới ngày cuối của chính tháng đó.</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pd.date_range</a:t>
            </a:r>
            <a:r>
              <a:rPr sz="950" b="1" i="0">
                <a:solidFill>
                  <a:srgbClr val="5B6778"/>
                </a:solidFill>
                <a:latin typeface="Arial"/>
              </a:rPr>
              <a:t>   pandas</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Tạo dãy ngày liên tiếp từ ngày đầu tới ngày cuối.</a:t>
            </a:r>
          </a:p>
        </p:txBody>
      </p:sp>
      <p:sp>
        <p:nvSpPr>
          <p:cNvPr id="29" name="Rounded Rectangle 28"/>
          <p:cNvSpPr/>
          <p:nvPr/>
        </p:nvSpPr>
        <p:spPr>
          <a:xfrm>
            <a:off x="7863840" y="4059935"/>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6122f3acb35c.png"/>
          <p:cNvPicPr>
            <a:picLocks noChangeAspect="1"/>
          </p:cNvPicPr>
          <p:nvPr/>
        </p:nvPicPr>
        <p:blipFill>
          <a:blip r:embed="rId2"/>
          <a:stretch>
            <a:fillRect/>
          </a:stretch>
        </p:blipFill>
        <p:spPr>
          <a:xfrm>
            <a:off x="9124187" y="4213859"/>
            <a:ext cx="1255776" cy="240791"/>
          </a:xfrm>
          <a:prstGeom prst="rect">
            <a:avLst/>
          </a:prstGeom>
        </p:spPr>
      </p:pic>
      <p:pic>
        <p:nvPicPr>
          <p:cNvPr id="31" name="Picture 30" descr="dieu-chinh-lich.png"/>
          <p:cNvPicPr>
            <a:picLocks noChangeAspect="1"/>
          </p:cNvPicPr>
          <p:nvPr/>
        </p:nvPicPr>
        <p:blipFill>
          <a:blip r:embed="rId3"/>
          <a:stretch>
            <a:fillRect/>
          </a:stretch>
        </p:blipFill>
        <p:spPr>
          <a:xfrm>
            <a:off x="7863840" y="4964369"/>
            <a:ext cx="3776472" cy="1290949"/>
          </a:xfrm>
          <a:prstGeom prst="rect">
            <a:avLst/>
          </a:prstGeom>
        </p:spPr>
      </p:pic>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giá thực và trên đầu người</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5</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Bóc lạm phát và dân số khỏi doanh số để biết mỗi người thật sự mua thêm bao nhiêu.</a:t>
            </a:r>
          </a:p>
        </p:txBody>
      </p:sp>
      <p:sp>
        <p:nvSpPr>
          <p:cNvPr id="6" name="Rounded Rectangle 5"/>
          <p:cNvSpPr/>
          <p:nvPr/>
        </p:nvSpPr>
        <p:spPr>
          <a:xfrm>
            <a:off x="548640" y="1737360"/>
            <a:ext cx="7086600" cy="2208276"/>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1888236"/>
          </a:xfrm>
          <a:prstGeom prst="rect">
            <a:avLst/>
          </a:prstGeom>
          <a:noFill/>
        </p:spPr>
        <p:txBody>
          <a:bodyPr wrap="none" lIns="0" rIns="0" tIns="0" bIns="0">
            <a:spAutoFit/>
          </a:bodyPr>
          <a:lstStyle/>
          <a:p>
            <a:r>
              <a:rPr sz="1050">
                <a:solidFill>
                  <a:srgbClr val="6B7385"/>
                </a:solidFill>
                <a:latin typeface="Courier New"/>
              </a:rPr>
              <a:t> 1 </a:t>
            </a:r>
            <a:r>
              <a:rPr sz="1050">
                <a:solidFill>
                  <a:srgbClr val="E6EAF0"/>
                </a:solidFill>
                <a:latin typeface="Courier New"/>
              </a:rPr>
              <a:t>import pandas as pd</a:t>
            </a:r>
          </a:p>
          <a:p>
            <a:r>
              <a:rPr sz="1050">
                <a:solidFill>
                  <a:srgbClr val="6B7385"/>
                </a:solidFill>
                <a:latin typeface="Courier New"/>
              </a:rPr>
              <a:t> 2 </a:t>
            </a:r>
          </a:p>
          <a:p>
            <a:r>
              <a:rPr sz="1050">
                <a:solidFill>
                  <a:srgbClr val="6B7385"/>
                </a:solidFill>
                <a:latin typeface="Courier New"/>
              </a:rPr>
              <a:t> 3 </a:t>
            </a:r>
            <a:r>
              <a:rPr sz="1050">
                <a:solidFill>
                  <a:srgbClr val="8FC99A"/>
                </a:solidFill>
                <a:latin typeface="Courier New"/>
              </a:rPr>
              <a:t># y: bán lẻ danh nghĩa, cpi: CPI tháng, dan_so: nghìn người</a:t>
            </a:r>
          </a:p>
          <a:p>
            <a:r>
              <a:rPr sz="1050">
                <a:solidFill>
                  <a:srgbClr val="6B7385"/>
                </a:solidFill>
                <a:latin typeface="Courier New"/>
              </a:rPr>
              <a:t> 4 </a:t>
            </a:r>
            <a:r>
              <a:rPr sz="1050">
                <a:solidFill>
                  <a:srgbClr val="E6EAF0"/>
                </a:solidFill>
                <a:latin typeface="Courier New"/>
              </a:rPr>
              <a:t>cpi_du = cpi.interpolate(limit=1, limit_area="inside")  </a:t>
            </a:r>
            <a:r>
              <a:rPr sz="1050">
                <a:solidFill>
                  <a:srgbClr val="8FC99A"/>
                </a:solidFill>
                <a:latin typeface="Courier New"/>
              </a:rPr>
              <a:t># lấp 10/2025</a:t>
            </a:r>
          </a:p>
          <a:p>
            <a:r>
              <a:rPr sz="1050">
                <a:solidFill>
                  <a:srgbClr val="6B7385"/>
                </a:solidFill>
                <a:latin typeface="Courier New"/>
              </a:rPr>
              <a:t> 5 </a:t>
            </a:r>
            <a:r>
              <a:rPr sz="1050">
                <a:solidFill>
                  <a:srgbClr val="E6EAF0"/>
                </a:solidFill>
                <a:latin typeface="Courier New"/>
              </a:rPr>
              <a:t>goc = cpi_du["2025"].mean()                    </a:t>
            </a:r>
            <a:r>
              <a:rPr sz="1050">
                <a:solidFill>
                  <a:srgbClr val="8FC99A"/>
                </a:solidFill>
                <a:latin typeface="Courier New"/>
              </a:rPr>
              <a:t># năm gốc 2025</a:t>
            </a:r>
          </a:p>
          <a:p>
            <a:r>
              <a:rPr sz="1050">
                <a:solidFill>
                  <a:srgbClr val="6B7385"/>
                </a:solidFill>
                <a:latin typeface="Courier New"/>
              </a:rPr>
              <a:t> 6 </a:t>
            </a:r>
            <a:r>
              <a:rPr sz="1050">
                <a:solidFill>
                  <a:srgbClr val="E6EAF0"/>
                </a:solidFill>
                <a:latin typeface="Courier New"/>
              </a:rPr>
              <a:t>thuc = y / cpi_du.reindex(y.index) * goc       </a:t>
            </a:r>
            <a:r>
              <a:rPr sz="1050">
                <a:solidFill>
                  <a:srgbClr val="8FC99A"/>
                </a:solidFill>
                <a:latin typeface="Courier New"/>
              </a:rPr>
              <a:t># đổi ra giá năm gốc</a:t>
            </a:r>
          </a:p>
          <a:p>
            <a:r>
              <a:rPr sz="1050">
                <a:solidFill>
                  <a:srgbClr val="6B7385"/>
                </a:solidFill>
                <a:latin typeface="Courier New"/>
              </a:rPr>
              <a:t> 7 </a:t>
            </a:r>
            <a:r>
              <a:rPr sz="1050">
                <a:solidFill>
                  <a:srgbClr val="E6EAF0"/>
                </a:solidFill>
                <a:latin typeface="Courier New"/>
              </a:rPr>
              <a:t>dau_nguoi = thuc / dan_so.reindex(y.index) * 1e6</a:t>
            </a:r>
          </a:p>
          <a:p>
            <a:r>
              <a:rPr sz="1050">
                <a:solidFill>
                  <a:srgbClr val="6B7385"/>
                </a:solidFill>
                <a:latin typeface="Courier New"/>
              </a:rPr>
              <a:t> 8 </a:t>
            </a:r>
            <a:r>
              <a:rPr sz="1050">
                <a:solidFill>
                  <a:srgbClr val="E6EAF0"/>
                </a:solidFill>
                <a:latin typeface="Courier New"/>
              </a:rPr>
              <a:t>nam = pd.DataFrame({"danh nghĩa": y, "giá thực": thuc,</a:t>
            </a:r>
          </a:p>
          <a:p>
            <a:r>
              <a:rPr sz="1050">
                <a:solidFill>
                  <a:srgbClr val="6B7385"/>
                </a:solidFill>
                <a:latin typeface="Courier New"/>
              </a:rPr>
              <a:t> 9 </a:t>
            </a:r>
            <a:r>
              <a:rPr sz="1050">
                <a:solidFill>
                  <a:srgbClr val="E6EAF0"/>
                </a:solidFill>
                <a:latin typeface="Courier New"/>
              </a:rPr>
              <a:t>                    "thực trên đầu người": dau_nguoi})</a:t>
            </a:r>
          </a:p>
          <a:p>
            <a:r>
              <a:rPr sz="1050">
                <a:solidFill>
                  <a:srgbClr val="6B7385"/>
                </a:solidFill>
                <a:latin typeface="Courier New"/>
              </a:rPr>
              <a:t>10 </a:t>
            </a:r>
            <a:r>
              <a:rPr sz="1050">
                <a:solidFill>
                  <a:srgbClr val="E6EAF0"/>
                </a:solidFill>
                <a:latin typeface="Courier New"/>
              </a:rPr>
              <a:t>nam = nam.resample("YS").sum()["1993":"2025"]</a:t>
            </a:r>
          </a:p>
          <a:p>
            <a:r>
              <a:rPr sz="1050">
                <a:solidFill>
                  <a:srgbClr val="6B7385"/>
                </a:solidFill>
                <a:latin typeface="Courier New"/>
              </a:rPr>
              <a:t>11 </a:t>
            </a:r>
            <a:r>
              <a:rPr sz="1050">
                <a:solidFill>
                  <a:srgbClr val="E6EAF0"/>
                </a:solidFill>
                <a:latin typeface="Courier New"/>
              </a:rPr>
              <a:t>chi_so = nam / nam.iloc[0] * 100               </a:t>
            </a:r>
            <a:r>
              <a:rPr sz="1050">
                <a:solidFill>
                  <a:srgbClr val="8FC99A"/>
                </a:solidFill>
                <a:latin typeface="Courier New"/>
              </a:rPr>
              <a:t># 1993 bằng 100</a:t>
            </a:r>
          </a:p>
        </p:txBody>
      </p:sp>
      <p:sp>
        <p:nvSpPr>
          <p:cNvPr id="8" name="TextBox 7"/>
          <p:cNvSpPr txBox="1"/>
          <p:nvPr/>
        </p:nvSpPr>
        <p:spPr>
          <a:xfrm>
            <a:off x="685800" y="3698748"/>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buoi-05/tu-hoc.ipynb, phần 2</a:t>
            </a:r>
          </a:p>
        </p:txBody>
      </p:sp>
      <p:sp>
        <p:nvSpPr>
          <p:cNvPr id="9" name="TextBox 8"/>
          <p:cNvSpPr txBox="1"/>
          <p:nvPr/>
        </p:nvSpPr>
        <p:spPr>
          <a:xfrm>
            <a:off x="548640" y="4055363"/>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3754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4</a:t>
            </a:r>
          </a:p>
        </p:txBody>
      </p:sp>
      <p:sp>
        <p:nvSpPr>
          <p:cNvPr id="11" name="TextBox 10"/>
          <p:cNvSpPr txBox="1"/>
          <p:nvPr/>
        </p:nvSpPr>
        <p:spPr>
          <a:xfrm>
            <a:off x="1353312" y="4357116"/>
            <a:ext cx="2697480" cy="457200"/>
          </a:xfrm>
          <a:prstGeom prst="rect">
            <a:avLst/>
          </a:prstGeom>
          <a:noFill/>
        </p:spPr>
        <p:txBody>
          <a:bodyPr wrap="square" lIns="0" rIns="0" tIns="0" bIns="0" anchor="t">
            <a:spAutoFit/>
          </a:bodyPr>
          <a:lstStyle/>
          <a:p>
            <a:pPr algn="l"/>
            <a:r>
              <a:rPr sz="1050" b="0" i="0">
                <a:solidFill>
                  <a:srgbClr val="1B2A41"/>
                </a:solidFill>
                <a:latin typeface="Arial"/>
              </a:rPr>
              <a:t>Lấp đúng một tháng CPI không công bố.</a:t>
            </a:r>
          </a:p>
        </p:txBody>
      </p:sp>
      <p:sp>
        <p:nvSpPr>
          <p:cNvPr id="12" name="Rounded Rectangle 11"/>
          <p:cNvSpPr/>
          <p:nvPr/>
        </p:nvSpPr>
        <p:spPr>
          <a:xfrm>
            <a:off x="548640" y="48326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5–6</a:t>
            </a:r>
          </a:p>
        </p:txBody>
      </p:sp>
      <p:sp>
        <p:nvSpPr>
          <p:cNvPr id="13" name="TextBox 12"/>
          <p:cNvSpPr txBox="1"/>
          <p:nvPr/>
        </p:nvSpPr>
        <p:spPr>
          <a:xfrm>
            <a:off x="1353312" y="4814316"/>
            <a:ext cx="2697480" cy="457200"/>
          </a:xfrm>
          <a:prstGeom prst="rect">
            <a:avLst/>
          </a:prstGeom>
          <a:noFill/>
        </p:spPr>
        <p:txBody>
          <a:bodyPr wrap="square" lIns="0" rIns="0" tIns="0" bIns="0" anchor="t">
            <a:spAutoFit/>
          </a:bodyPr>
          <a:lstStyle/>
          <a:p>
            <a:pPr algn="l"/>
            <a:r>
              <a:rPr sz="1050" b="0" i="0">
                <a:solidFill>
                  <a:srgbClr val="1B2A41"/>
                </a:solidFill>
                <a:latin typeface="Arial"/>
              </a:rPr>
              <a:t>Chia CPI lúc đó, nhân CPI năm gốc.</a:t>
            </a:r>
          </a:p>
        </p:txBody>
      </p:sp>
      <p:sp>
        <p:nvSpPr>
          <p:cNvPr id="14" name="Rounded Rectangle 13"/>
          <p:cNvSpPr/>
          <p:nvPr/>
        </p:nvSpPr>
        <p:spPr>
          <a:xfrm>
            <a:off x="548640" y="52898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7</a:t>
            </a:r>
          </a:p>
        </p:txBody>
      </p:sp>
      <p:sp>
        <p:nvSpPr>
          <p:cNvPr id="15" name="TextBox 14"/>
          <p:cNvSpPr txBox="1"/>
          <p:nvPr/>
        </p:nvSpPr>
        <p:spPr>
          <a:xfrm>
            <a:off x="1353312" y="5271516"/>
            <a:ext cx="2697480" cy="457200"/>
          </a:xfrm>
          <a:prstGeom prst="rect">
            <a:avLst/>
          </a:prstGeom>
          <a:noFill/>
        </p:spPr>
        <p:txBody>
          <a:bodyPr wrap="square" lIns="0" rIns="0" tIns="0" bIns="0" anchor="t">
            <a:spAutoFit/>
          </a:bodyPr>
          <a:lstStyle/>
          <a:p>
            <a:pPr algn="l"/>
            <a:r>
              <a:rPr sz="1050" b="0" i="0">
                <a:solidFill>
                  <a:srgbClr val="1B2A41"/>
                </a:solidFill>
                <a:latin typeface="Arial"/>
              </a:rPr>
              <a:t>Chia dân số ra mức mỗi người.</a:t>
            </a:r>
          </a:p>
        </p:txBody>
      </p:sp>
      <p:sp>
        <p:nvSpPr>
          <p:cNvPr id="16" name="Rounded Rectangle 15"/>
          <p:cNvSpPr/>
          <p:nvPr/>
        </p:nvSpPr>
        <p:spPr>
          <a:xfrm>
            <a:off x="4160520" y="43754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8–10</a:t>
            </a:r>
          </a:p>
        </p:txBody>
      </p:sp>
      <p:sp>
        <p:nvSpPr>
          <p:cNvPr id="17" name="TextBox 16"/>
          <p:cNvSpPr txBox="1"/>
          <p:nvPr/>
        </p:nvSpPr>
        <p:spPr>
          <a:xfrm>
            <a:off x="4965192" y="4357116"/>
            <a:ext cx="2697480" cy="457200"/>
          </a:xfrm>
          <a:prstGeom prst="rect">
            <a:avLst/>
          </a:prstGeom>
          <a:noFill/>
        </p:spPr>
        <p:txBody>
          <a:bodyPr wrap="square" lIns="0" rIns="0" tIns="0" bIns="0" anchor="t">
            <a:spAutoFit/>
          </a:bodyPr>
          <a:lstStyle/>
          <a:p>
            <a:pPr algn="l"/>
            <a:r>
              <a:rPr sz="1050" b="0" i="0">
                <a:solidFill>
                  <a:srgbClr val="1B2A41"/>
                </a:solidFill>
                <a:latin typeface="Arial"/>
              </a:rPr>
              <a:t>Cộng thành tổng năm cho cả ba chuỗi.</a:t>
            </a:r>
          </a:p>
        </p:txBody>
      </p:sp>
      <p:sp>
        <p:nvSpPr>
          <p:cNvPr id="18" name="Rounded Rectangle 17"/>
          <p:cNvSpPr/>
          <p:nvPr/>
        </p:nvSpPr>
        <p:spPr>
          <a:xfrm>
            <a:off x="4160520" y="48326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11</a:t>
            </a:r>
          </a:p>
        </p:txBody>
      </p:sp>
      <p:sp>
        <p:nvSpPr>
          <p:cNvPr id="19" name="TextBox 18"/>
          <p:cNvSpPr txBox="1"/>
          <p:nvPr/>
        </p:nvSpPr>
        <p:spPr>
          <a:xfrm>
            <a:off x="4965192" y="4814316"/>
            <a:ext cx="2697480" cy="457200"/>
          </a:xfrm>
          <a:prstGeom prst="rect">
            <a:avLst/>
          </a:prstGeom>
          <a:noFill/>
        </p:spPr>
        <p:txBody>
          <a:bodyPr wrap="square" lIns="0" rIns="0" tIns="0" bIns="0" anchor="t">
            <a:spAutoFit/>
          </a:bodyPr>
          <a:lstStyle/>
          <a:p>
            <a:pPr algn="l"/>
            <a:r>
              <a:rPr sz="1050" b="0" i="0">
                <a:solidFill>
                  <a:srgbClr val="1B2A41"/>
                </a:solidFill>
                <a:latin typeface="Arial"/>
              </a:rPr>
              <a:t>Đánh chỉ số để ba chuỗi so được với nhau.</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Chỉ số 2025: danh nghĩa 416, giá thực 187, thực trên đầu người 142. Giá chung tăng 2,23 lần, dân số 1,31 lần.</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interpolate(limit=1)</a:t>
            </a:r>
            <a:r>
              <a:rPr sz="950" b="1" i="0">
                <a:solidFill>
                  <a:srgbClr val="5B6778"/>
                </a:solidFill>
                <a:latin typeface="Arial"/>
              </a:rPr>
              <a:t>   pandas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Điền ô trống bằng giá trị nằm giữa hai tháng bên cạnh, tối đa một ô.</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reindex(y.index)</a:t>
            </a:r>
            <a:r>
              <a:rPr sz="950" b="1" i="0">
                <a:solidFill>
                  <a:srgbClr val="5B6778"/>
                </a:solidFill>
                <a:latin typeface="Arial"/>
              </a:rPr>
              <a:t>   pandas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Xếp lại chuỗi theo đúng các tháng của y để chia từng tháng.</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resample("YS").sum()</a:t>
            </a:r>
            <a:r>
              <a:rPr sz="950" b="1" i="0">
                <a:solidFill>
                  <a:srgbClr val="5B6778"/>
                </a:solidFill>
                <a:latin typeface="Arial"/>
              </a:rPr>
              <a:t>   pandas</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Cộng các tháng thành tổng của từng năm.</a:t>
            </a:r>
          </a:p>
        </p:txBody>
      </p:sp>
      <p:sp>
        <p:nvSpPr>
          <p:cNvPr id="29" name="Rounded Rectangle 28"/>
          <p:cNvSpPr/>
          <p:nvPr/>
        </p:nvSpPr>
        <p:spPr>
          <a:xfrm>
            <a:off x="7863840" y="4059935"/>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0ff1cc406f23.png"/>
          <p:cNvPicPr>
            <a:picLocks noChangeAspect="1"/>
          </p:cNvPicPr>
          <p:nvPr/>
        </p:nvPicPr>
        <p:blipFill>
          <a:blip r:embed="rId2"/>
          <a:stretch>
            <a:fillRect/>
          </a:stretch>
        </p:blipFill>
        <p:spPr>
          <a:xfrm>
            <a:off x="9111996" y="4195571"/>
            <a:ext cx="1280160" cy="277368"/>
          </a:xfrm>
          <a:prstGeom prst="rect">
            <a:avLst/>
          </a:prstGeom>
        </p:spPr>
      </p:pic>
      <p:pic>
        <p:nvPicPr>
          <p:cNvPr id="31" name="Picture 30" descr="danh-nghia-thuc.png"/>
          <p:cNvPicPr>
            <a:picLocks noChangeAspect="1"/>
          </p:cNvPicPr>
          <p:nvPr/>
        </p:nvPicPr>
        <p:blipFill>
          <a:blip r:embed="rId3"/>
          <a:stretch>
            <a:fillRect/>
          </a:stretch>
        </p:blipFill>
        <p:spPr>
          <a:xfrm>
            <a:off x="7863840" y="4830525"/>
            <a:ext cx="3776472" cy="1558637"/>
          </a:xfrm>
          <a:prstGeom prst="rect">
            <a:avLst/>
          </a:prstGeom>
        </p:spPr>
      </p:pic>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log và dao động theo mức</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5</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Thấy log biến cùng phần trăm thành cùng khoảng cách, rồi kiểm dao động lớn lên ra sao.</a:t>
            </a:r>
          </a:p>
        </p:txBody>
      </p:sp>
      <p:sp>
        <p:nvSpPr>
          <p:cNvPr id="6" name="Rounded Rectangle 5"/>
          <p:cNvSpPr/>
          <p:nvPr/>
        </p:nvSpPr>
        <p:spPr>
          <a:xfrm>
            <a:off x="548640" y="1737360"/>
            <a:ext cx="7086600" cy="2208276"/>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1888236"/>
          </a:xfrm>
          <a:prstGeom prst="rect">
            <a:avLst/>
          </a:prstGeom>
          <a:noFill/>
        </p:spPr>
        <p:txBody>
          <a:bodyPr wrap="none" lIns="0" rIns="0" tIns="0" bIns="0">
            <a:spAutoFit/>
          </a:bodyPr>
          <a:lstStyle/>
          <a:p>
            <a:r>
              <a:rPr sz="1050">
                <a:solidFill>
                  <a:srgbClr val="6B7385"/>
                </a:solidFill>
                <a:latin typeface="Courier New"/>
              </a:rPr>
              <a:t> 1 </a:t>
            </a:r>
            <a:r>
              <a:rPr sz="1050">
                <a:solidFill>
                  <a:srgbClr val="E6EAF0"/>
                </a:solidFill>
                <a:latin typeface="Courier New"/>
              </a:rPr>
              <a:t>import numpy as np</a:t>
            </a:r>
          </a:p>
          <a:p>
            <a:r>
              <a:rPr sz="1050">
                <a:solidFill>
                  <a:srgbClr val="6B7385"/>
                </a:solidFill>
                <a:latin typeface="Courier New"/>
              </a:rPr>
              <a:t> 2 </a:t>
            </a:r>
          </a:p>
          <a:p>
            <a:r>
              <a:rPr sz="1050">
                <a:solidFill>
                  <a:srgbClr val="6B7385"/>
                </a:solidFill>
                <a:latin typeface="Courier New"/>
              </a:rPr>
              <a:t> 3 </a:t>
            </a:r>
            <a:r>
              <a:rPr sz="1050">
                <a:solidFill>
                  <a:srgbClr val="E6EAF0"/>
                </a:solidFill>
                <a:latin typeface="Courier New"/>
              </a:rPr>
              <a:t>print(np.log([100, 120, 1000, 1200]).round(3))  </a:t>
            </a:r>
            <a:r>
              <a:rPr sz="1050">
                <a:solidFill>
                  <a:srgbClr val="8FC99A"/>
                </a:solidFill>
                <a:latin typeface="Courier New"/>
              </a:rPr>
              <a:t># cùng tăng 20%</a:t>
            </a:r>
          </a:p>
          <a:p>
            <a:r>
              <a:rPr sz="1050">
                <a:solidFill>
                  <a:srgbClr val="6B7385"/>
                </a:solidFill>
                <a:latin typeface="Courier New"/>
              </a:rPr>
              <a:t> 4 </a:t>
            </a:r>
            <a:r>
              <a:rPr sz="1050">
                <a:solidFill>
                  <a:srgbClr val="E6EAF0"/>
                </a:solidFill>
                <a:latin typeface="Courier New"/>
              </a:rPr>
              <a:t>print(np.log(1.2))                     </a:t>
            </a:r>
            <a:r>
              <a:rPr sz="1050">
                <a:solidFill>
                  <a:srgbClr val="8FC99A"/>
                </a:solidFill>
                <a:latin typeface="Courier New"/>
              </a:rPr>
              <a:t># khoảng cách log của +20%</a:t>
            </a:r>
          </a:p>
          <a:p>
            <a:r>
              <a:rPr sz="1050">
                <a:solidFill>
                  <a:srgbClr val="6B7385"/>
                </a:solidFill>
                <a:latin typeface="Courier New"/>
              </a:rPr>
              <a:t> 5 </a:t>
            </a:r>
          </a:p>
          <a:p>
            <a:r>
              <a:rPr sz="1050">
                <a:solidFill>
                  <a:srgbClr val="6B7385"/>
                </a:solidFill>
                <a:latin typeface="Courier New"/>
              </a:rPr>
              <a:t> 6 </a:t>
            </a:r>
            <a:r>
              <a:rPr sz="1050">
                <a:solidFill>
                  <a:srgbClr val="8FC99A"/>
                </a:solidFill>
                <a:latin typeface="Courier New"/>
              </a:rPr>
              <a:t># y19: doanh số bán lẻ tháng, 1992 tới 2019</a:t>
            </a:r>
          </a:p>
          <a:p>
            <a:r>
              <a:rPr sz="1050">
                <a:solidFill>
                  <a:srgbClr val="6B7385"/>
                </a:solidFill>
                <a:latin typeface="Courier New"/>
              </a:rPr>
              <a:t> 7 </a:t>
            </a:r>
            <a:r>
              <a:rPr sz="1050">
                <a:solidFill>
                  <a:srgbClr val="E6EAF0"/>
                </a:solidFill>
                <a:latin typeface="Courier New"/>
              </a:rPr>
              <a:t>v = y19.to_numpy()[y19.size % 12:]</a:t>
            </a:r>
          </a:p>
          <a:p>
            <a:r>
              <a:rPr sz="1050">
                <a:solidFill>
                  <a:srgbClr val="6B7385"/>
                </a:solidFill>
                <a:latin typeface="Courier New"/>
              </a:rPr>
              <a:t> 8 </a:t>
            </a:r>
            <a:r>
              <a:rPr sz="1050">
                <a:solidFill>
                  <a:srgbClr val="E6EAF0"/>
                </a:solidFill>
                <a:latin typeface="Courier New"/>
              </a:rPr>
              <a:t>khoi = v.reshape(-1, 12) / 1000        </a:t>
            </a:r>
            <a:r>
              <a:rPr sz="1050">
                <a:solidFill>
                  <a:srgbClr val="8FC99A"/>
                </a:solidFill>
                <a:latin typeface="Courier New"/>
              </a:rPr>
              <a:t># 28 năm, 12 tháng, tỷ USD</a:t>
            </a:r>
          </a:p>
          <a:p>
            <a:r>
              <a:rPr sz="1050">
                <a:solidFill>
                  <a:srgbClr val="6B7385"/>
                </a:solidFill>
                <a:latin typeface="Courier New"/>
              </a:rPr>
              <a:t> 9 </a:t>
            </a:r>
            <a:r>
              <a:rPr sz="1050">
                <a:solidFill>
                  <a:srgbClr val="E6EAF0"/>
                </a:solidFill>
                <a:latin typeface="Courier New"/>
              </a:rPr>
              <a:t>tb = khoi.mean(axis=1)                 </a:t>
            </a:r>
            <a:r>
              <a:rPr sz="1050">
                <a:solidFill>
                  <a:srgbClr val="8FC99A"/>
                </a:solidFill>
                <a:latin typeface="Courier New"/>
              </a:rPr>
              <a:t># mức mỗi năm</a:t>
            </a:r>
          </a:p>
          <a:p>
            <a:r>
              <a:rPr sz="1050">
                <a:solidFill>
                  <a:srgbClr val="6B7385"/>
                </a:solidFill>
                <a:latin typeface="Courier New"/>
              </a:rPr>
              <a:t>10 </a:t>
            </a:r>
            <a:r>
              <a:rPr sz="1050">
                <a:solidFill>
                  <a:srgbClr val="E6EAF0"/>
                </a:solidFill>
                <a:latin typeface="Courier New"/>
              </a:rPr>
              <a:t>sd = khoi.std(axis=1, ddof=1)          </a:t>
            </a:r>
            <a:r>
              <a:rPr sz="1050">
                <a:solidFill>
                  <a:srgbClr val="8FC99A"/>
                </a:solidFill>
                <a:latin typeface="Courier New"/>
              </a:rPr>
              <a:t># dao động trong năm</a:t>
            </a:r>
          </a:p>
          <a:p>
            <a:r>
              <a:rPr sz="1050">
                <a:solidFill>
                  <a:srgbClr val="6B7385"/>
                </a:solidFill>
                <a:latin typeface="Courier New"/>
              </a:rPr>
              <a:t>11 </a:t>
            </a:r>
            <a:r>
              <a:rPr sz="1050">
                <a:solidFill>
                  <a:srgbClr val="E6EAF0"/>
                </a:solidFill>
                <a:latin typeface="Courier New"/>
              </a:rPr>
              <a:t>print(tb[-1] / tb[0], sd[-1] / sd[0])</a:t>
            </a:r>
          </a:p>
        </p:txBody>
      </p:sp>
      <p:sp>
        <p:nvSpPr>
          <p:cNvPr id="8" name="TextBox 7"/>
          <p:cNvSpPr txBox="1"/>
          <p:nvPr/>
        </p:nvSpPr>
        <p:spPr>
          <a:xfrm>
            <a:off x="685800" y="3698748"/>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buoi-05/tu-hoc.ipynb, phần 3</a:t>
            </a:r>
          </a:p>
        </p:txBody>
      </p:sp>
      <p:sp>
        <p:nvSpPr>
          <p:cNvPr id="9" name="TextBox 8"/>
          <p:cNvSpPr txBox="1"/>
          <p:nvPr/>
        </p:nvSpPr>
        <p:spPr>
          <a:xfrm>
            <a:off x="548640" y="4055363"/>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3754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3</a:t>
            </a:r>
          </a:p>
        </p:txBody>
      </p:sp>
      <p:sp>
        <p:nvSpPr>
          <p:cNvPr id="11" name="TextBox 10"/>
          <p:cNvSpPr txBox="1"/>
          <p:nvPr/>
        </p:nvSpPr>
        <p:spPr>
          <a:xfrm>
            <a:off x="1353312" y="4357116"/>
            <a:ext cx="2697480" cy="457200"/>
          </a:xfrm>
          <a:prstGeom prst="rect">
            <a:avLst/>
          </a:prstGeom>
          <a:noFill/>
        </p:spPr>
        <p:txBody>
          <a:bodyPr wrap="square" lIns="0" rIns="0" tIns="0" bIns="0" anchor="t">
            <a:spAutoFit/>
          </a:bodyPr>
          <a:lstStyle/>
          <a:p>
            <a:pPr algn="l"/>
            <a:r>
              <a:rPr sz="1050" b="0" i="0">
                <a:solidFill>
                  <a:srgbClr val="1B2A41"/>
                </a:solidFill>
                <a:latin typeface="Arial"/>
              </a:rPr>
              <a:t>Cửa hàng nhỏ và siêu thị cùng tăng 20%.</a:t>
            </a:r>
          </a:p>
        </p:txBody>
      </p:sp>
      <p:sp>
        <p:nvSpPr>
          <p:cNvPr id="12" name="Rounded Rectangle 11"/>
          <p:cNvSpPr/>
          <p:nvPr/>
        </p:nvSpPr>
        <p:spPr>
          <a:xfrm>
            <a:off x="548640" y="48326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4</a:t>
            </a:r>
          </a:p>
        </p:txBody>
      </p:sp>
      <p:sp>
        <p:nvSpPr>
          <p:cNvPr id="13" name="TextBox 12"/>
          <p:cNvSpPr txBox="1"/>
          <p:nvPr/>
        </p:nvSpPr>
        <p:spPr>
          <a:xfrm>
            <a:off x="1353312" y="4814316"/>
            <a:ext cx="2697480" cy="457200"/>
          </a:xfrm>
          <a:prstGeom prst="rect">
            <a:avLst/>
          </a:prstGeom>
          <a:noFill/>
        </p:spPr>
        <p:txBody>
          <a:bodyPr wrap="square" lIns="0" rIns="0" tIns="0" bIns="0" anchor="t">
            <a:spAutoFit/>
          </a:bodyPr>
          <a:lstStyle/>
          <a:p>
            <a:pPr algn="l"/>
            <a:r>
              <a:rPr sz="1050" b="0" i="0">
                <a:solidFill>
                  <a:srgbClr val="1B2A41"/>
                </a:solidFill>
                <a:latin typeface="Arial"/>
              </a:rPr>
              <a:t>Trên thang log cả hai cách nhau đúng log 1,2.</a:t>
            </a:r>
          </a:p>
        </p:txBody>
      </p:sp>
      <p:sp>
        <p:nvSpPr>
          <p:cNvPr id="14" name="Rounded Rectangle 13"/>
          <p:cNvSpPr/>
          <p:nvPr/>
        </p:nvSpPr>
        <p:spPr>
          <a:xfrm>
            <a:off x="548640" y="52898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7–8</a:t>
            </a:r>
          </a:p>
        </p:txBody>
      </p:sp>
      <p:sp>
        <p:nvSpPr>
          <p:cNvPr id="15" name="TextBox 14"/>
          <p:cNvSpPr txBox="1"/>
          <p:nvPr/>
        </p:nvSpPr>
        <p:spPr>
          <a:xfrm>
            <a:off x="1353312" y="5271516"/>
            <a:ext cx="2697480" cy="457200"/>
          </a:xfrm>
          <a:prstGeom prst="rect">
            <a:avLst/>
          </a:prstGeom>
          <a:noFill/>
        </p:spPr>
        <p:txBody>
          <a:bodyPr wrap="square" lIns="0" rIns="0" tIns="0" bIns="0" anchor="t">
            <a:spAutoFit/>
          </a:bodyPr>
          <a:lstStyle/>
          <a:p>
            <a:pPr algn="l"/>
            <a:r>
              <a:rPr sz="1050" b="0" i="0">
                <a:solidFill>
                  <a:srgbClr val="1B2A41"/>
                </a:solidFill>
                <a:latin typeface="Arial"/>
              </a:rPr>
              <a:t>Cắt chuỗi thành từng năm, mỗi dòng một năm.</a:t>
            </a:r>
          </a:p>
        </p:txBody>
      </p:sp>
      <p:sp>
        <p:nvSpPr>
          <p:cNvPr id="16" name="Rounded Rectangle 15"/>
          <p:cNvSpPr/>
          <p:nvPr/>
        </p:nvSpPr>
        <p:spPr>
          <a:xfrm>
            <a:off x="4160520" y="43754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9–10</a:t>
            </a:r>
          </a:p>
        </p:txBody>
      </p:sp>
      <p:sp>
        <p:nvSpPr>
          <p:cNvPr id="17" name="TextBox 16"/>
          <p:cNvSpPr txBox="1"/>
          <p:nvPr/>
        </p:nvSpPr>
        <p:spPr>
          <a:xfrm>
            <a:off x="4965192" y="4357116"/>
            <a:ext cx="2697480" cy="457200"/>
          </a:xfrm>
          <a:prstGeom prst="rect">
            <a:avLst/>
          </a:prstGeom>
          <a:noFill/>
        </p:spPr>
        <p:txBody>
          <a:bodyPr wrap="square" lIns="0" rIns="0" tIns="0" bIns="0" anchor="t">
            <a:spAutoFit/>
          </a:bodyPr>
          <a:lstStyle/>
          <a:p>
            <a:pPr algn="l"/>
            <a:r>
              <a:rPr sz="1050" b="0" i="0">
                <a:solidFill>
                  <a:srgbClr val="1B2A41"/>
                </a:solidFill>
                <a:latin typeface="Arial"/>
              </a:rPr>
              <a:t>Mức và độ lệch chuẩn của từng năm.</a:t>
            </a:r>
          </a:p>
        </p:txBody>
      </p:sp>
      <p:sp>
        <p:nvSpPr>
          <p:cNvPr id="18" name="Rounded Rectangle 17"/>
          <p:cNvSpPr/>
          <p:nvPr/>
        </p:nvSpPr>
        <p:spPr>
          <a:xfrm>
            <a:off x="4160520" y="48326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11</a:t>
            </a:r>
          </a:p>
        </p:txBody>
      </p:sp>
      <p:sp>
        <p:nvSpPr>
          <p:cNvPr id="19" name="TextBox 18"/>
          <p:cNvSpPr txBox="1"/>
          <p:nvPr/>
        </p:nvSpPr>
        <p:spPr>
          <a:xfrm>
            <a:off x="4965192" y="4814316"/>
            <a:ext cx="2697480" cy="457200"/>
          </a:xfrm>
          <a:prstGeom prst="rect">
            <a:avLst/>
          </a:prstGeom>
          <a:noFill/>
        </p:spPr>
        <p:txBody>
          <a:bodyPr wrap="square" lIns="0" rIns="0" tIns="0" bIns="0" anchor="t">
            <a:spAutoFit/>
          </a:bodyPr>
          <a:lstStyle/>
          <a:p>
            <a:pPr algn="l"/>
            <a:r>
              <a:rPr sz="1050" b="0" i="0">
                <a:solidFill>
                  <a:srgbClr val="1B2A41"/>
                </a:solidFill>
                <a:latin typeface="Arial"/>
              </a:rPr>
              <a:t>So mức và dao động lớn lên bao nhiêu lần.</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Hai cặp 100, 120 và 1.000, 1.200 cùng cách nhau 0,182 trên thang log. 1992 tới 2019: mức gấp 3,1 lần, dao động gấp 2,4 lần.</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np.log</a:t>
            </a:r>
            <a:r>
              <a:rPr sz="950" b="1" i="0">
                <a:solidFill>
                  <a:srgbClr val="5B6778"/>
                </a:solidFill>
                <a:latin typeface="Arial"/>
              </a:rPr>
              <a:t>   numpy</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Logarit tự nhiên: biến phép nhân thành phép cộng.</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reshape(-1, 12)</a:t>
            </a:r>
            <a:r>
              <a:rPr sz="950" b="1" i="0">
                <a:solidFill>
                  <a:srgbClr val="5B6778"/>
                </a:solidFill>
                <a:latin typeface="Arial"/>
              </a:rPr>
              <a:t>   numpy</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Xếp dãy dài thành bảng 12 cột, số dòng tự tính.</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std(axis=1, ddof=1)</a:t>
            </a:r>
            <a:r>
              <a:rPr sz="950" b="1" i="0">
                <a:solidFill>
                  <a:srgbClr val="5B6778"/>
                </a:solidFill>
                <a:latin typeface="Arial"/>
              </a:rPr>
              <a:t>   numpy</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Độ lệch chuẩn của từng dòng, tức dao động trong mỗi năm.</a:t>
            </a:r>
          </a:p>
        </p:txBody>
      </p:sp>
      <p:sp>
        <p:nvSpPr>
          <p:cNvPr id="29" name="Rounded Rectangle 28"/>
          <p:cNvSpPr/>
          <p:nvPr/>
        </p:nvSpPr>
        <p:spPr>
          <a:xfrm>
            <a:off x="7863840" y="4059935"/>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791eb32ef034.png"/>
          <p:cNvPicPr>
            <a:picLocks noChangeAspect="1"/>
          </p:cNvPicPr>
          <p:nvPr/>
        </p:nvPicPr>
        <p:blipFill>
          <a:blip r:embed="rId2"/>
          <a:stretch>
            <a:fillRect/>
          </a:stretch>
        </p:blipFill>
        <p:spPr>
          <a:xfrm>
            <a:off x="8426196" y="4227575"/>
            <a:ext cx="2651760" cy="213360"/>
          </a:xfrm>
          <a:prstGeom prst="rect">
            <a:avLst/>
          </a:prstGeom>
        </p:spPr>
      </p:pic>
      <p:pic>
        <p:nvPicPr>
          <p:cNvPr id="31" name="Picture 30" descr="kn-log-exp.png"/>
          <p:cNvPicPr>
            <a:picLocks noChangeAspect="1"/>
          </p:cNvPicPr>
          <p:nvPr/>
        </p:nvPicPr>
        <p:blipFill>
          <a:blip r:embed="rId3"/>
          <a:stretch>
            <a:fillRect/>
          </a:stretch>
        </p:blipFill>
        <p:spPr>
          <a:xfrm>
            <a:off x="7863840" y="4792445"/>
            <a:ext cx="3776472" cy="1634796"/>
          </a:xfrm>
          <a:prstGeom prst="rect">
            <a:avLst/>
          </a:prstGeom>
        </p:spPr>
      </p:pic>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chọn λ Box-Cox bằng Guerrero</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5</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Chọn λ bằng số để dao động mỗi năm đều nhau, rồi so với cách chọn của scipy.</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from scipy import stats</a:t>
            </a:r>
          </a:p>
          <a:p>
            <a:r>
              <a:rPr sz="850">
                <a:solidFill>
                  <a:srgbClr val="6B7385"/>
                </a:solidFill>
                <a:latin typeface="Courier New"/>
              </a:rPr>
              <a:t> 3 </a:t>
            </a:r>
          </a:p>
          <a:p>
            <a:r>
              <a:rPr sz="850">
                <a:solidFill>
                  <a:srgbClr val="6B7385"/>
                </a:solidFill>
                <a:latin typeface="Courier New"/>
              </a:rPr>
              <a:t> 4 </a:t>
            </a:r>
            <a:r>
              <a:rPr sz="850">
                <a:solidFill>
                  <a:srgbClr val="E6EAF0"/>
                </a:solidFill>
                <a:latin typeface="Courier New"/>
              </a:rPr>
              <a:t>def guerrero(y, m):</a:t>
            </a:r>
          </a:p>
          <a:p>
            <a:r>
              <a:rPr sz="850">
                <a:solidFill>
                  <a:srgbClr val="6B7385"/>
                </a:solidFill>
                <a:latin typeface="Courier New"/>
              </a:rPr>
              <a:t> 5 </a:t>
            </a:r>
            <a:r>
              <a:rPr sz="850">
                <a:solidFill>
                  <a:srgbClr val="E6EAF0"/>
                </a:solidFill>
                <a:latin typeface="Courier New"/>
              </a:rPr>
              <a:t>    luoi = np.linspace(-1, 2, 3001)            </a:t>
            </a:r>
            <a:r>
              <a:rPr sz="850">
                <a:solidFill>
                  <a:srgbClr val="8FC99A"/>
                </a:solidFill>
                <a:latin typeface="Courier New"/>
              </a:rPr>
              <a:t># thử λ từ −1 tới 2</a:t>
            </a:r>
          </a:p>
          <a:p>
            <a:r>
              <a:rPr sz="850">
                <a:solidFill>
                  <a:srgbClr val="6B7385"/>
                </a:solidFill>
                <a:latin typeface="Courier New"/>
              </a:rPr>
              <a:t> 6 </a:t>
            </a:r>
            <a:r>
              <a:rPr sz="850">
                <a:solidFill>
                  <a:srgbClr val="E6EAF0"/>
                </a:solidFill>
                <a:latin typeface="Courier New"/>
              </a:rPr>
              <a:t>    y = np.asarray(y, dtype=float)</a:t>
            </a:r>
          </a:p>
          <a:p>
            <a:r>
              <a:rPr sz="850">
                <a:solidFill>
                  <a:srgbClr val="6B7385"/>
                </a:solidFill>
                <a:latin typeface="Courier New"/>
              </a:rPr>
              <a:t> 7 </a:t>
            </a:r>
            <a:r>
              <a:rPr sz="850">
                <a:solidFill>
                  <a:srgbClr val="E6EAF0"/>
                </a:solidFill>
                <a:latin typeface="Courier New"/>
              </a:rPr>
              <a:t>    khoi = y[y.size % m:].reshape(-1, m)       </a:t>
            </a:r>
            <a:r>
              <a:rPr sz="850">
                <a:solidFill>
                  <a:srgbClr val="8FC99A"/>
                </a:solidFill>
                <a:latin typeface="Courier New"/>
              </a:rPr>
              <a:t># mỗi dòng một năm</a:t>
            </a:r>
          </a:p>
          <a:p>
            <a:r>
              <a:rPr sz="850">
                <a:solidFill>
                  <a:srgbClr val="6B7385"/>
                </a:solidFill>
                <a:latin typeface="Courier New"/>
              </a:rPr>
              <a:t> 8 </a:t>
            </a:r>
            <a:r>
              <a:rPr sz="850">
                <a:solidFill>
                  <a:srgbClr val="E6EAF0"/>
                </a:solidFill>
                <a:latin typeface="Courier New"/>
              </a:rPr>
              <a:t>    tb, sd = khoi.mean(axis=1), khoi.std(axis=1, ddof=1)</a:t>
            </a:r>
          </a:p>
          <a:p>
            <a:r>
              <a:rPr sz="850">
                <a:solidFill>
                  <a:srgbClr val="6B7385"/>
                </a:solidFill>
                <a:latin typeface="Courier New"/>
              </a:rPr>
              <a:t> 9 </a:t>
            </a:r>
            <a:r>
              <a:rPr sz="850">
                <a:solidFill>
                  <a:srgbClr val="E6EAF0"/>
                </a:solidFill>
                <a:latin typeface="Courier New"/>
              </a:rPr>
              <a:t>    ty_so = sd[None, :] / tb[None, :] ** (1 - luoi[:, None])</a:t>
            </a:r>
          </a:p>
          <a:p>
            <a:r>
              <a:rPr sz="850">
                <a:solidFill>
                  <a:srgbClr val="6B7385"/>
                </a:solidFill>
                <a:latin typeface="Courier New"/>
              </a:rPr>
              <a:t>10 </a:t>
            </a:r>
            <a:r>
              <a:rPr sz="850">
                <a:solidFill>
                  <a:srgbClr val="E6EAF0"/>
                </a:solidFill>
                <a:latin typeface="Courier New"/>
              </a:rPr>
              <a:t>    cv = ty_so.std(axis=1, ddof=1) / ty_so.mean(axis=1)</a:t>
            </a:r>
          </a:p>
          <a:p>
            <a:r>
              <a:rPr sz="850">
                <a:solidFill>
                  <a:srgbClr val="6B7385"/>
                </a:solidFill>
                <a:latin typeface="Courier New"/>
              </a:rPr>
              <a:t>11 </a:t>
            </a:r>
            <a:r>
              <a:rPr sz="850">
                <a:solidFill>
                  <a:srgbClr val="E6EAF0"/>
                </a:solidFill>
                <a:latin typeface="Courier New"/>
              </a:rPr>
              <a:t>    return float(luoi[np.argmin(cv)])          </a:t>
            </a:r>
            <a:r>
              <a:rPr sz="850">
                <a:solidFill>
                  <a:srgbClr val="8FC99A"/>
                </a:solidFill>
                <a:latin typeface="Courier New"/>
              </a:rPr>
              <a:t># λ cho tỷ số đều nhất</a:t>
            </a:r>
          </a:p>
          <a:p>
            <a:r>
              <a:rPr sz="850">
                <a:solidFill>
                  <a:srgbClr val="6B7385"/>
                </a:solidFill>
                <a:latin typeface="Courier New"/>
              </a:rPr>
              <a:t>12 </a:t>
            </a:r>
          </a:p>
          <a:p>
            <a:r>
              <a:rPr sz="850">
                <a:solidFill>
                  <a:srgbClr val="6B7385"/>
                </a:solidFill>
                <a:latin typeface="Courier New"/>
              </a:rPr>
              <a:t>13 </a:t>
            </a:r>
            <a:r>
              <a:rPr sz="850">
                <a:solidFill>
                  <a:srgbClr val="E6EAF0"/>
                </a:solidFill>
                <a:latin typeface="Courier New"/>
              </a:rPr>
              <a:t>lam_g = guerrero(y19, 12)                      </a:t>
            </a:r>
            <a:r>
              <a:rPr sz="850">
                <a:solidFill>
                  <a:srgbClr val="8FC99A"/>
                </a:solidFill>
                <a:latin typeface="Courier New"/>
              </a:rPr>
              <a:t># y19: bán lẻ 1992 tới 2019</a:t>
            </a:r>
          </a:p>
          <a:p>
            <a:r>
              <a:rPr sz="850">
                <a:solidFill>
                  <a:srgbClr val="6B7385"/>
                </a:solidFill>
                <a:latin typeface="Courier New"/>
              </a:rPr>
              <a:t>14 </a:t>
            </a:r>
            <a:r>
              <a:rPr sz="850">
                <a:solidFill>
                  <a:srgbClr val="E6EAF0"/>
                </a:solidFill>
                <a:latin typeface="Courier New"/>
              </a:rPr>
              <a:t>lam_mle = stats.boxcox(y19.to_numpy())[1]      </a:t>
            </a:r>
            <a:r>
              <a:rPr sz="850">
                <a:solidFill>
                  <a:srgbClr val="8FC99A"/>
                </a:solidFill>
                <a:latin typeface="Courier New"/>
              </a:rPr>
              <a:t># tiêu chí khác</a:t>
            </a:r>
          </a:p>
          <a:p>
            <a:r>
              <a:rPr sz="850">
                <a:solidFill>
                  <a:srgbClr val="6B7385"/>
                </a:solidFill>
                <a:latin typeface="Courier New"/>
              </a:rPr>
              <a:t>15 </a:t>
            </a:r>
            <a:r>
              <a:rPr sz="850">
                <a:solidFill>
                  <a:srgbClr val="8FC99A"/>
                </a:solidFill>
                <a:latin typeface="Courier New"/>
              </a:rPr>
              <a:t># tang: % tăng so với cùng tháng năm trước, có số âm</a:t>
            </a:r>
          </a:p>
          <a:p>
            <a:r>
              <a:rPr sz="850">
                <a:solidFill>
                  <a:srgbClr val="6B7385"/>
                </a:solidFill>
                <a:latin typeface="Courier New"/>
              </a:rPr>
              <a:t>16 </a:t>
            </a:r>
            <a:r>
              <a:rPr sz="850">
                <a:solidFill>
                  <a:srgbClr val="E6EAF0"/>
                </a:solidFill>
                <a:latin typeface="Courier New"/>
              </a:rPr>
              <a:t>lam_yj = stats.yeojohnson(tang.to_numpy())[1]</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buoi-05/tu-hoc.ipynb, phần 4</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5</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Lưới 3.001 giá trị λ để thử.</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7–8</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Mức và dao động của từng năm.</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9–10</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Tỷ số mỗi năm và độ đều của chúng (CV).</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11</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Giữ λ cho CV nhỏ nhất.</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14</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scipy chọn λ theo tiêu chí hình chuông.</a:t>
            </a:r>
          </a:p>
        </p:txBody>
      </p:sp>
      <p:sp>
        <p:nvSpPr>
          <p:cNvPr id="20" name="Rounded Rectangle 19"/>
          <p:cNvSpPr/>
          <p:nvPr/>
        </p:nvSpPr>
        <p:spPr>
          <a:xfrm>
            <a:off x="416052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15–16</a:t>
            </a:r>
          </a:p>
        </p:txBody>
      </p:sp>
      <p:sp>
        <p:nvSpPr>
          <p:cNvPr id="21" name="TextBox 20"/>
          <p:cNvSpPr txBox="1"/>
          <p:nvPr/>
        </p:nvSpPr>
        <p:spPr>
          <a:xfrm>
            <a:off x="496519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Chuỗi có số âm thì dùng Yeo-Johnson.</a:t>
            </a:r>
          </a:p>
        </p:txBody>
      </p:sp>
      <p:sp>
        <p:nvSpPr>
          <p:cNvPr id="22" name="Rounded Rectangle 21"/>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λ Guerrero 0,34: dao động 2019 so 1992 còn 1,21 (log ép còn 0,84). scipy chọn 0,595; Yeo-Johnson trên % tăng ra khoảng 1,02.</a:t>
            </a:r>
          </a:p>
        </p:txBody>
      </p:sp>
      <p:sp>
        <p:nvSpPr>
          <p:cNvPr id="24" name="TextBox 23"/>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5" name="TextBox 24"/>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guerrero(y, m)</a:t>
            </a:r>
            <a:r>
              <a:rPr sz="950" b="1" i="0">
                <a:solidFill>
                  <a:srgbClr val="5B6778"/>
                </a:solidFill>
                <a:latin typeface="Arial"/>
              </a:rPr>
              <a:t>   tự viết</a:t>
            </a:r>
          </a:p>
        </p:txBody>
      </p:sp>
      <p:sp>
        <p:nvSpPr>
          <p:cNvPr id="26" name="TextBox 25"/>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Thử từng λ, chọn λ làm dao động các năm đều nhau nhất.</a:t>
            </a:r>
          </a:p>
        </p:txBody>
      </p:sp>
      <p:sp>
        <p:nvSpPr>
          <p:cNvPr id="27" name="TextBox 26"/>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stats.boxcox</a:t>
            </a:r>
            <a:r>
              <a:rPr sz="950" b="1" i="0">
                <a:solidFill>
                  <a:srgbClr val="5B6778"/>
                </a:solidFill>
                <a:latin typeface="Arial"/>
              </a:rPr>
              <a:t>   scipy</a:t>
            </a:r>
          </a:p>
        </p:txBody>
      </p:sp>
      <p:sp>
        <p:nvSpPr>
          <p:cNvPr id="28" name="TextBox 27"/>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Biến đổi Box-Cox và tự chọn λ làm dữ liệu giống hình chuông nhất.</a:t>
            </a:r>
          </a:p>
        </p:txBody>
      </p:sp>
      <p:sp>
        <p:nvSpPr>
          <p:cNvPr id="29" name="TextBox 28"/>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stats.yeojohnson</a:t>
            </a:r>
            <a:r>
              <a:rPr sz="950" b="1" i="0">
                <a:solidFill>
                  <a:srgbClr val="5B6778"/>
                </a:solidFill>
                <a:latin typeface="Arial"/>
              </a:rPr>
              <a:t>   scipy</a:t>
            </a:r>
          </a:p>
        </p:txBody>
      </p:sp>
      <p:sp>
        <p:nvSpPr>
          <p:cNvPr id="30" name="TextBox 29"/>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Giống Box-Cox nhưng nhận cả số 0 và số âm.</a:t>
            </a:r>
          </a:p>
        </p:txBody>
      </p:sp>
      <p:sp>
        <p:nvSpPr>
          <p:cNvPr id="31" name="Rounded Rectangle 30"/>
          <p:cNvSpPr/>
          <p:nvPr/>
        </p:nvSpPr>
        <p:spPr>
          <a:xfrm>
            <a:off x="7863840" y="4059935"/>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2fb819fdc0b1.png"/>
          <p:cNvPicPr>
            <a:picLocks noChangeAspect="1"/>
          </p:cNvPicPr>
          <p:nvPr/>
        </p:nvPicPr>
        <p:blipFill>
          <a:blip r:embed="rId2"/>
          <a:stretch>
            <a:fillRect/>
          </a:stretch>
        </p:blipFill>
        <p:spPr>
          <a:xfrm>
            <a:off x="9256776" y="4157471"/>
            <a:ext cx="990599" cy="353568"/>
          </a:xfrm>
          <a:prstGeom prst="rect">
            <a:avLst/>
          </a:prstGeom>
        </p:spPr>
      </p:pic>
      <p:pic>
        <p:nvPicPr>
          <p:cNvPr id="33" name="Picture 32" descr="kn-bien-doi-box-cox.png"/>
          <p:cNvPicPr>
            <a:picLocks noChangeAspect="1"/>
          </p:cNvPicPr>
          <p:nvPr/>
        </p:nvPicPr>
        <p:blipFill>
          <a:blip r:embed="rId3"/>
          <a:stretch>
            <a:fillRect/>
          </a:stretch>
        </p:blipFill>
        <p:spPr>
          <a:xfrm>
            <a:off x="8055238" y="4745735"/>
            <a:ext cx="3393675" cy="1728216"/>
          </a:xfrm>
          <a:prstGeom prst="rect">
            <a:avLst/>
          </a:prstGeom>
        </p:spPr>
      </p:pic>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đổi ngược ra trung vị</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5</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Thấy bằng mô phỏng exp của dự báo log hụt trung bình, và hiệu chỉnh bias bù lại.</a:t>
            </a:r>
          </a:p>
        </p:txBody>
      </p:sp>
      <p:sp>
        <p:nvSpPr>
          <p:cNvPr id="6" name="Rounded Rectangle 5"/>
          <p:cNvSpPr/>
          <p:nvPr/>
        </p:nvSpPr>
        <p:spPr>
          <a:xfrm>
            <a:off x="548640" y="1737360"/>
            <a:ext cx="7086600" cy="2050922"/>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1730882"/>
          </a:xfrm>
          <a:prstGeom prst="rect">
            <a:avLst/>
          </a:prstGeom>
          <a:noFill/>
        </p:spPr>
        <p:txBody>
          <a:bodyPr wrap="none" lIns="0" rIns="0" tIns="0" bIns="0">
            <a:spAutoFit/>
          </a:bodyPr>
          <a:lstStyle/>
          <a:p>
            <a:r>
              <a:rPr sz="1050">
                <a:solidFill>
                  <a:srgbClr val="6B7385"/>
                </a:solidFill>
                <a:latin typeface="Courier New"/>
              </a:rPr>
              <a:t> 1 </a:t>
            </a:r>
            <a:r>
              <a:rPr sz="1050">
                <a:solidFill>
                  <a:srgbClr val="E6EAF0"/>
                </a:solidFill>
                <a:latin typeface="Courier New"/>
              </a:rPr>
              <a:t>import numpy as np</a:t>
            </a:r>
          </a:p>
          <a:p>
            <a:r>
              <a:rPr sz="1050">
                <a:solidFill>
                  <a:srgbClr val="6B7385"/>
                </a:solidFill>
                <a:latin typeface="Courier New"/>
              </a:rPr>
              <a:t> 2 </a:t>
            </a:r>
          </a:p>
          <a:p>
            <a:r>
              <a:rPr sz="1050">
                <a:solidFill>
                  <a:srgbClr val="6B7385"/>
                </a:solidFill>
                <a:latin typeface="Courier New"/>
              </a:rPr>
              <a:t> 3 </a:t>
            </a:r>
            <a:r>
              <a:rPr sz="1050">
                <a:solidFill>
                  <a:srgbClr val="E6EAF0"/>
                </a:solidFill>
                <a:latin typeface="Courier New"/>
              </a:rPr>
              <a:t>w = np.array([0.0, 1.0, 2.0])</a:t>
            </a:r>
          </a:p>
          <a:p>
            <a:r>
              <a:rPr sz="1050">
                <a:solidFill>
                  <a:srgbClr val="6B7385"/>
                </a:solidFill>
                <a:latin typeface="Courier New"/>
              </a:rPr>
              <a:t> 4 </a:t>
            </a:r>
            <a:r>
              <a:rPr sz="1050">
                <a:solidFill>
                  <a:srgbClr val="E6EAF0"/>
                </a:solidFill>
                <a:latin typeface="Courier New"/>
              </a:rPr>
              <a:t>print(np.exp(w.mean()), np.exp(w).mean())   </a:t>
            </a:r>
            <a:r>
              <a:rPr sz="1050">
                <a:solidFill>
                  <a:srgbClr val="8FC99A"/>
                </a:solidFill>
                <a:latin typeface="Courier New"/>
              </a:rPr>
              <a:t># trung vị so với trung bình</a:t>
            </a:r>
          </a:p>
          <a:p>
            <a:r>
              <a:rPr sz="1050">
                <a:solidFill>
                  <a:srgbClr val="6B7385"/>
                </a:solidFill>
                <a:latin typeface="Courier New"/>
              </a:rPr>
              <a:t> 5 </a:t>
            </a:r>
          </a:p>
          <a:p>
            <a:r>
              <a:rPr sz="1050">
                <a:solidFill>
                  <a:srgbClr val="6B7385"/>
                </a:solidFill>
                <a:latin typeface="Courier New"/>
              </a:rPr>
              <a:t> 6 </a:t>
            </a:r>
            <a:r>
              <a:rPr sz="1050">
                <a:solidFill>
                  <a:srgbClr val="E6EAF0"/>
                </a:solidFill>
                <a:latin typeface="Courier New"/>
              </a:rPr>
              <a:t>x = np.random.default_rng(42).lognormal(5.0, 0.5, 100_000)</a:t>
            </a:r>
          </a:p>
          <a:p>
            <a:r>
              <a:rPr sz="1050">
                <a:solidFill>
                  <a:srgbClr val="6B7385"/>
                </a:solidFill>
                <a:latin typeface="Courier New"/>
              </a:rPr>
              <a:t> 7 </a:t>
            </a:r>
            <a:r>
              <a:rPr sz="1050">
                <a:solidFill>
                  <a:srgbClr val="E6EAF0"/>
                </a:solidFill>
                <a:latin typeface="Courier New"/>
              </a:rPr>
              <a:t>wx = np.log(x)                               </a:t>
            </a:r>
            <a:r>
              <a:rPr sz="1050">
                <a:solidFill>
                  <a:srgbClr val="8FC99A"/>
                </a:solidFill>
                <a:latin typeface="Courier New"/>
              </a:rPr>
              <a:t># thang log</a:t>
            </a:r>
          </a:p>
          <a:p>
            <a:r>
              <a:rPr sz="1050">
                <a:solidFill>
                  <a:srgbClr val="6B7385"/>
                </a:solidFill>
                <a:latin typeface="Courier New"/>
              </a:rPr>
              <a:t> 8 </a:t>
            </a:r>
            <a:r>
              <a:rPr sz="1050">
                <a:solidFill>
                  <a:srgbClr val="E6EAF0"/>
                </a:solidFill>
                <a:latin typeface="Courier New"/>
              </a:rPr>
              <a:t>trung_vi = np.exp(wx.mean())                 </a:t>
            </a:r>
            <a:r>
              <a:rPr sz="1050">
                <a:solidFill>
                  <a:srgbClr val="8FC99A"/>
                </a:solidFill>
                <a:latin typeface="Courier New"/>
              </a:rPr>
              <a:t># đổi ngược thẳng</a:t>
            </a:r>
          </a:p>
          <a:p>
            <a:r>
              <a:rPr sz="1050">
                <a:solidFill>
                  <a:srgbClr val="6B7385"/>
                </a:solidFill>
                <a:latin typeface="Courier New"/>
              </a:rPr>
              <a:t> 9 </a:t>
            </a:r>
            <a:r>
              <a:rPr sz="1050">
                <a:solidFill>
                  <a:srgbClr val="E6EAF0"/>
                </a:solidFill>
                <a:latin typeface="Courier New"/>
              </a:rPr>
              <a:t>tb_fpp = trung_vi * (1 + wx.var(ddof=1) / 2)  </a:t>
            </a:r>
            <a:r>
              <a:rPr sz="1050">
                <a:solidFill>
                  <a:srgbClr val="8FC99A"/>
                </a:solidFill>
                <a:latin typeface="Courier New"/>
              </a:rPr>
              <a:t># hiệu chỉnh bias</a:t>
            </a:r>
          </a:p>
          <a:p>
            <a:r>
              <a:rPr sz="1050">
                <a:solidFill>
                  <a:srgbClr val="6B7385"/>
                </a:solidFill>
                <a:latin typeface="Courier New"/>
              </a:rPr>
              <a:t>10 </a:t>
            </a:r>
            <a:r>
              <a:rPr sz="1050">
                <a:solidFill>
                  <a:srgbClr val="E6EAF0"/>
                </a:solidFill>
                <a:latin typeface="Courier New"/>
              </a:rPr>
              <a:t>print(trung_vi / x.mean() - 1, tb_fpp / x.mean() - 1)</a:t>
            </a:r>
          </a:p>
        </p:txBody>
      </p:sp>
      <p:sp>
        <p:nvSpPr>
          <p:cNvPr id="8" name="TextBox 7"/>
          <p:cNvSpPr txBox="1"/>
          <p:nvPr/>
        </p:nvSpPr>
        <p:spPr>
          <a:xfrm>
            <a:off x="685800" y="3541394"/>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buoi-05/tu-hoc.ipynb, phần 5</a:t>
            </a:r>
          </a:p>
        </p:txBody>
      </p:sp>
      <p:sp>
        <p:nvSpPr>
          <p:cNvPr id="9" name="TextBox 8"/>
          <p:cNvSpPr txBox="1"/>
          <p:nvPr/>
        </p:nvSpPr>
        <p:spPr>
          <a:xfrm>
            <a:off x="548640" y="3898011"/>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21805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3–4</a:t>
            </a:r>
          </a:p>
        </p:txBody>
      </p:sp>
      <p:sp>
        <p:nvSpPr>
          <p:cNvPr id="11" name="TextBox 10"/>
          <p:cNvSpPr txBox="1"/>
          <p:nvPr/>
        </p:nvSpPr>
        <p:spPr>
          <a:xfrm>
            <a:off x="1353312" y="4199763"/>
            <a:ext cx="2697480" cy="457200"/>
          </a:xfrm>
          <a:prstGeom prst="rect">
            <a:avLst/>
          </a:prstGeom>
          <a:noFill/>
        </p:spPr>
        <p:txBody>
          <a:bodyPr wrap="square" lIns="0" rIns="0" tIns="0" bIns="0" anchor="t">
            <a:spAutoFit/>
          </a:bodyPr>
          <a:lstStyle/>
          <a:p>
            <a:pPr algn="l"/>
            <a:r>
              <a:rPr sz="1050" b="0" i="0">
                <a:solidFill>
                  <a:srgbClr val="1B2A41"/>
                </a:solidFill>
                <a:latin typeface="Arial"/>
              </a:rPr>
              <a:t>Ba số log: exp của trung bình khác trung bình.</a:t>
            </a:r>
          </a:p>
        </p:txBody>
      </p:sp>
      <p:sp>
        <p:nvSpPr>
          <p:cNvPr id="12" name="Rounded Rectangle 11"/>
          <p:cNvSpPr/>
          <p:nvPr/>
        </p:nvSpPr>
        <p:spPr>
          <a:xfrm>
            <a:off x="548640" y="467525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6</a:t>
            </a:r>
          </a:p>
        </p:txBody>
      </p:sp>
      <p:sp>
        <p:nvSpPr>
          <p:cNvPr id="13" name="TextBox 12"/>
          <p:cNvSpPr txBox="1"/>
          <p:nvPr/>
        </p:nvSpPr>
        <p:spPr>
          <a:xfrm>
            <a:off x="1353312" y="4656963"/>
            <a:ext cx="2697480" cy="457200"/>
          </a:xfrm>
          <a:prstGeom prst="rect">
            <a:avLst/>
          </a:prstGeom>
          <a:noFill/>
        </p:spPr>
        <p:txBody>
          <a:bodyPr wrap="square" lIns="0" rIns="0" tIns="0" bIns="0" anchor="t">
            <a:spAutoFit/>
          </a:bodyPr>
          <a:lstStyle/>
          <a:p>
            <a:pPr algn="l"/>
            <a:r>
              <a:rPr sz="1050" b="0" i="0">
                <a:solidFill>
                  <a:srgbClr val="1B2A41"/>
                </a:solidFill>
                <a:latin typeface="Arial"/>
              </a:rPr>
              <a:t>100.000 mẫu log-normal, seed 42.</a:t>
            </a:r>
          </a:p>
        </p:txBody>
      </p:sp>
      <p:sp>
        <p:nvSpPr>
          <p:cNvPr id="14" name="Rounded Rectangle 13"/>
          <p:cNvSpPr/>
          <p:nvPr/>
        </p:nvSpPr>
        <p:spPr>
          <a:xfrm>
            <a:off x="548640" y="513245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8</a:t>
            </a:r>
          </a:p>
        </p:txBody>
      </p:sp>
      <p:sp>
        <p:nvSpPr>
          <p:cNvPr id="15" name="TextBox 14"/>
          <p:cNvSpPr txBox="1"/>
          <p:nvPr/>
        </p:nvSpPr>
        <p:spPr>
          <a:xfrm>
            <a:off x="1353312" y="5114163"/>
            <a:ext cx="2697480" cy="457200"/>
          </a:xfrm>
          <a:prstGeom prst="rect">
            <a:avLst/>
          </a:prstGeom>
          <a:noFill/>
        </p:spPr>
        <p:txBody>
          <a:bodyPr wrap="square" lIns="0" rIns="0" tIns="0" bIns="0" anchor="t">
            <a:spAutoFit/>
          </a:bodyPr>
          <a:lstStyle/>
          <a:p>
            <a:pPr algn="l"/>
            <a:r>
              <a:rPr sz="1050" b="0" i="0">
                <a:solidFill>
                  <a:srgbClr val="1B2A41"/>
                </a:solidFill>
                <a:latin typeface="Arial"/>
              </a:rPr>
              <a:t>Đổi ngược thẳng: ra trung vị.</a:t>
            </a:r>
          </a:p>
        </p:txBody>
      </p:sp>
      <p:sp>
        <p:nvSpPr>
          <p:cNvPr id="16" name="Rounded Rectangle 15"/>
          <p:cNvSpPr/>
          <p:nvPr/>
        </p:nvSpPr>
        <p:spPr>
          <a:xfrm>
            <a:off x="4160520" y="421805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9</a:t>
            </a:r>
          </a:p>
        </p:txBody>
      </p:sp>
      <p:sp>
        <p:nvSpPr>
          <p:cNvPr id="17" name="TextBox 16"/>
          <p:cNvSpPr txBox="1"/>
          <p:nvPr/>
        </p:nvSpPr>
        <p:spPr>
          <a:xfrm>
            <a:off x="4965192" y="4199763"/>
            <a:ext cx="2697480" cy="457200"/>
          </a:xfrm>
          <a:prstGeom prst="rect">
            <a:avLst/>
          </a:prstGeom>
          <a:noFill/>
        </p:spPr>
        <p:txBody>
          <a:bodyPr wrap="square" lIns="0" rIns="0" tIns="0" bIns="0" anchor="t">
            <a:spAutoFit/>
          </a:bodyPr>
          <a:lstStyle/>
          <a:p>
            <a:pPr algn="l"/>
            <a:r>
              <a:rPr sz="1050" b="0" i="0">
                <a:solidFill>
                  <a:srgbClr val="1B2A41"/>
                </a:solidFill>
                <a:latin typeface="Arial"/>
              </a:rPr>
              <a:t>Nhân thêm 1 cộng nửa phương sai log.</a:t>
            </a:r>
          </a:p>
        </p:txBody>
      </p:sp>
      <p:sp>
        <p:nvSpPr>
          <p:cNvPr id="18" name="Rounded Rectangle 17"/>
          <p:cNvSpPr/>
          <p:nvPr/>
        </p:nvSpPr>
        <p:spPr>
          <a:xfrm>
            <a:off x="4160520" y="467525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10</a:t>
            </a:r>
          </a:p>
        </p:txBody>
      </p:sp>
      <p:sp>
        <p:nvSpPr>
          <p:cNvPr id="19" name="TextBox 18"/>
          <p:cNvSpPr txBox="1"/>
          <p:nvPr/>
        </p:nvSpPr>
        <p:spPr>
          <a:xfrm>
            <a:off x="4965192" y="4656963"/>
            <a:ext cx="2697480" cy="457200"/>
          </a:xfrm>
          <a:prstGeom prst="rect">
            <a:avLst/>
          </a:prstGeom>
          <a:noFill/>
        </p:spPr>
        <p:txBody>
          <a:bodyPr wrap="square" lIns="0" rIns="0" tIns="0" bIns="0" anchor="t">
            <a:spAutoFit/>
          </a:bodyPr>
          <a:lstStyle/>
          <a:p>
            <a:pPr algn="l"/>
            <a:r>
              <a:rPr sz="1050" b="0" i="0">
                <a:solidFill>
                  <a:srgbClr val="1B2A41"/>
                </a:solidFill>
                <a:latin typeface="Arial"/>
              </a:rPr>
              <a:t>Mỗi cách hụt bao nhiêu so với trung bình thật.</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exp(trung bình log) = 2,72, trung bình thật 3,70. Mô phỏng: đổi ngược thẳng hụt 11,9%, có hiệu chỉnh gần khớp.</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np.exp</a:t>
            </a:r>
            <a:r>
              <a:rPr sz="950" b="1" i="0">
                <a:solidFill>
                  <a:srgbClr val="5B6778"/>
                </a:solidFill>
                <a:latin typeface="Arial"/>
              </a:rPr>
              <a:t>   numpy</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Hàm mũ, làm ngược lại log để về đơn vị gốc.</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default_rng(42).lognormal</a:t>
            </a:r>
            <a:r>
              <a:rPr sz="950" b="1" i="0">
                <a:solidFill>
                  <a:srgbClr val="5B6778"/>
                </a:solidFill>
                <a:latin typeface="Arial"/>
              </a:rPr>
              <a:t>   numpy</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Sinh số ngẫu nhiên mà log của chúng có hình chuông.</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var(ddof=1)</a:t>
            </a:r>
            <a:r>
              <a:rPr sz="950" b="1" i="0">
                <a:solidFill>
                  <a:srgbClr val="5B6778"/>
                </a:solidFill>
                <a:latin typeface="Arial"/>
              </a:rPr>
              <a:t>   numpy</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Phương sai mẫu: độ tản bình phương quanh trung bình.</a:t>
            </a:r>
          </a:p>
        </p:txBody>
      </p:sp>
      <p:sp>
        <p:nvSpPr>
          <p:cNvPr id="29" name="Rounded Rectangle 28"/>
          <p:cNvSpPr/>
          <p:nvPr/>
        </p:nvSpPr>
        <p:spPr>
          <a:xfrm>
            <a:off x="7863840" y="4059935"/>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c17d731fe40b.png"/>
          <p:cNvPicPr>
            <a:picLocks noChangeAspect="1"/>
          </p:cNvPicPr>
          <p:nvPr/>
        </p:nvPicPr>
        <p:blipFill>
          <a:blip r:embed="rId2"/>
          <a:stretch>
            <a:fillRect/>
          </a:stretch>
        </p:blipFill>
        <p:spPr>
          <a:xfrm>
            <a:off x="9212580" y="4175759"/>
            <a:ext cx="1078992" cy="316992"/>
          </a:xfrm>
          <a:prstGeom prst="rect">
            <a:avLst/>
          </a:prstGeom>
        </p:spPr>
      </p:pic>
      <p:pic>
        <p:nvPicPr>
          <p:cNvPr id="31" name="Picture 30" descr="kn-doi-nguoc.png"/>
          <p:cNvPicPr>
            <a:picLocks noChangeAspect="1"/>
          </p:cNvPicPr>
          <p:nvPr/>
        </p:nvPicPr>
        <p:blipFill>
          <a:blip r:embed="rId3"/>
          <a:stretch>
            <a:fillRect/>
          </a:stretch>
        </p:blipFill>
        <p:spPr>
          <a:xfrm>
            <a:off x="7863840" y="4929200"/>
            <a:ext cx="3776472" cy="1361286"/>
          </a:xfrm>
          <a:prstGeom prst="rect">
            <a:avLst/>
          </a:prstGeom>
        </p:spPr>
      </p:pic>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seasonal naive có drift trên log</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5</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Dự báo trên thang log chỉ bằng dữ liệu trước gốc, đổi ngược cả trung vị lẫn trung bình.</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import pandas as pd</a:t>
            </a:r>
          </a:p>
          <a:p>
            <a:r>
              <a:rPr sz="850">
                <a:solidFill>
                  <a:srgbClr val="6B7385"/>
                </a:solidFill>
                <a:latin typeface="Courier New"/>
              </a:rPr>
              <a:t> 3 </a:t>
            </a:r>
          </a:p>
          <a:p>
            <a:r>
              <a:rPr sz="850">
                <a:solidFill>
                  <a:srgbClr val="6B7385"/>
                </a:solidFill>
                <a:latin typeface="Courier New"/>
              </a:rPr>
              <a:t> 4 </a:t>
            </a:r>
            <a:r>
              <a:rPr sz="850">
                <a:solidFill>
                  <a:srgbClr val="E6EAF0"/>
                </a:solidFill>
                <a:latin typeface="Courier New"/>
              </a:rPr>
              <a:t>def du_bao_log(y, goc, so_buoc=12):</a:t>
            </a:r>
          </a:p>
          <a:p>
            <a:r>
              <a:rPr sz="850">
                <a:solidFill>
                  <a:srgbClr val="6B7385"/>
                </a:solidFill>
                <a:latin typeface="Courier New"/>
              </a:rPr>
              <a:t> 5 </a:t>
            </a:r>
            <a:r>
              <a:rPr sz="850">
                <a:solidFill>
                  <a:srgbClr val="E6EAF0"/>
                </a:solidFill>
                <a:latin typeface="Courier New"/>
              </a:rPr>
              <a:t>    hoc = y[(y.index &lt; goc) &amp; (y.index &gt;= goc - pd.DateOffset(months=96))]</a:t>
            </a:r>
          </a:p>
          <a:p>
            <a:r>
              <a:rPr sz="850">
                <a:solidFill>
                  <a:srgbClr val="6B7385"/>
                </a:solidFill>
                <a:latin typeface="Courier New"/>
              </a:rPr>
              <a:t> 6 </a:t>
            </a:r>
            <a:r>
              <a:rPr sz="850">
                <a:solidFill>
                  <a:srgbClr val="E6EAF0"/>
                </a:solidFill>
                <a:latin typeface="Courier New"/>
              </a:rPr>
              <a:t>    w = np.log(hoc)                            </a:t>
            </a:r>
            <a:r>
              <a:rPr sz="850">
                <a:solidFill>
                  <a:srgbClr val="8FC99A"/>
                </a:solidFill>
                <a:latin typeface="Courier New"/>
              </a:rPr>
              <a:t># CHỈ dữ liệu trước gốc</a:t>
            </a:r>
          </a:p>
          <a:p>
            <a:r>
              <a:rPr sz="850">
                <a:solidFill>
                  <a:srgbClr val="6B7385"/>
                </a:solidFill>
                <a:latin typeface="Courier New"/>
              </a:rPr>
              <a:t> 7 </a:t>
            </a:r>
            <a:r>
              <a:rPr sz="850">
                <a:solidFill>
                  <a:srgbClr val="E6EAF0"/>
                </a:solidFill>
                <a:latin typeface="Courier New"/>
              </a:rPr>
              <a:t>    sp = (w - w.shift(12)).dropna()            </a:t>
            </a:r>
            <a:r>
              <a:rPr sz="850">
                <a:solidFill>
                  <a:srgbClr val="8FC99A"/>
                </a:solidFill>
                <a:latin typeface="Courier New"/>
              </a:rPr>
              <a:t># sai phân mùa vụ</a:t>
            </a:r>
          </a:p>
          <a:p>
            <a:r>
              <a:rPr sz="850">
                <a:solidFill>
                  <a:srgbClr val="6B7385"/>
                </a:solidFill>
                <a:latin typeface="Courier New"/>
              </a:rPr>
              <a:t> 8 </a:t>
            </a:r>
            <a:r>
              <a:rPr sz="850">
                <a:solidFill>
                  <a:srgbClr val="E6EAF0"/>
                </a:solidFill>
                <a:latin typeface="Courier New"/>
              </a:rPr>
              <a:t>    drift, s2 = sp.mean(), sp.var(ddof=1)</a:t>
            </a:r>
          </a:p>
          <a:p>
            <a:r>
              <a:rPr sz="850">
                <a:solidFill>
                  <a:srgbClr val="6B7385"/>
                </a:solidFill>
                <a:latin typeface="Courier New"/>
              </a:rPr>
              <a:t> 9 </a:t>
            </a:r>
            <a:r>
              <a:rPr sz="850">
                <a:solidFill>
                  <a:srgbClr val="E6EAF0"/>
                </a:solidFill>
                <a:latin typeface="Courier New"/>
              </a:rPr>
              <a:t>    tg = pd.date_range(goc, periods=so_buoc, freq="MS")</a:t>
            </a:r>
          </a:p>
          <a:p>
            <a:r>
              <a:rPr sz="850">
                <a:solidFill>
                  <a:srgbClr val="6B7385"/>
                </a:solidFill>
                <a:latin typeface="Courier New"/>
              </a:rPr>
              <a:t>10 </a:t>
            </a:r>
            <a:r>
              <a:rPr sz="850">
                <a:solidFill>
                  <a:srgbClr val="E6EAF0"/>
                </a:solidFill>
                <a:latin typeface="Courier New"/>
              </a:rPr>
              <a:t>    w_hat = np.array([w[t - pd.DateOffset(years=1)] + drift for t in tg])</a:t>
            </a:r>
          </a:p>
          <a:p>
            <a:r>
              <a:rPr sz="850">
                <a:solidFill>
                  <a:srgbClr val="6B7385"/>
                </a:solidFill>
                <a:latin typeface="Courier New"/>
              </a:rPr>
              <a:t>11 </a:t>
            </a:r>
            <a:r>
              <a:rPr sz="850">
                <a:solidFill>
                  <a:srgbClr val="E6EAF0"/>
                </a:solidFill>
                <a:latin typeface="Courier New"/>
              </a:rPr>
              <a:t>    return pd.DataFrame({"trung_vi": np.exp(w_hat),</a:t>
            </a:r>
          </a:p>
          <a:p>
            <a:r>
              <a:rPr sz="850">
                <a:solidFill>
                  <a:srgbClr val="6B7385"/>
                </a:solidFill>
                <a:latin typeface="Courier New"/>
              </a:rPr>
              <a:t>12 </a:t>
            </a:r>
            <a:r>
              <a:rPr sz="850">
                <a:solidFill>
                  <a:srgbClr val="E6EAF0"/>
                </a:solidFill>
                <a:latin typeface="Courier New"/>
              </a:rPr>
              <a:t>                         "trung_binh": np.exp(w_hat) * (1 + s2 / 2)},</a:t>
            </a:r>
          </a:p>
          <a:p>
            <a:r>
              <a:rPr sz="850">
                <a:solidFill>
                  <a:srgbClr val="6B7385"/>
                </a:solidFill>
                <a:latin typeface="Courier New"/>
              </a:rPr>
              <a:t>13 </a:t>
            </a:r>
            <a:r>
              <a:rPr sz="850">
                <a:solidFill>
                  <a:srgbClr val="E6EAF0"/>
                </a:solidFill>
                <a:latin typeface="Courier New"/>
              </a:rPr>
              <a:t>                        index=tg)</a:t>
            </a:r>
          </a:p>
          <a:p>
            <a:r>
              <a:rPr sz="850">
                <a:solidFill>
                  <a:srgbClr val="6B7385"/>
                </a:solidFill>
                <a:latin typeface="Courier New"/>
              </a:rPr>
              <a:t>14 </a:t>
            </a:r>
          </a:p>
          <a:p>
            <a:r>
              <a:rPr sz="850">
                <a:solidFill>
                  <a:srgbClr val="6B7385"/>
                </a:solidFill>
                <a:latin typeface="Courier New"/>
              </a:rPr>
              <a:t>15 </a:t>
            </a:r>
            <a:r>
              <a:rPr sz="850">
                <a:solidFill>
                  <a:srgbClr val="E6EAF0"/>
                </a:solidFill>
                <a:latin typeface="Courier New"/>
              </a:rPr>
              <a:t>goc = pd.date_range("2012-01-01", "2018-12-01", freq="MS")  </a:t>
            </a:r>
            <a:r>
              <a:rPr sz="850">
                <a:solidFill>
                  <a:srgbClr val="8FC99A"/>
                </a:solidFill>
                <a:latin typeface="Courier New"/>
              </a:rPr>
              <a:t># 84 gốc</a:t>
            </a:r>
          </a:p>
          <a:p>
            <a:r>
              <a:rPr sz="850">
                <a:solidFill>
                  <a:srgbClr val="6B7385"/>
                </a:solidFill>
                <a:latin typeface="Courier New"/>
              </a:rPr>
              <a:t>16 </a:t>
            </a:r>
            <a:r>
              <a:rPr sz="850">
                <a:solidFill>
                  <a:srgbClr val="E6EAF0"/>
                </a:solidFill>
                <a:latin typeface="Courier New"/>
              </a:rPr>
              <a:t>bang = pd.concat([du_bao_log(y, g) for g in goc])</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buoi-05/tu-hoc.ipynb, phần 6</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5–6</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Lấy 96 tháng ngay trước gốc, rồi lấy log.</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7–8</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Drift và σ² từ sai phân mùa vụ của log.</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10</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Cùng tháng năm trước cộng drift.</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11–13</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Đổi ngược thẳng và đổi ngược có hiệu chỉnh.</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15–16</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Chạy lại ở mỗi gốc từ 1/2012 tới 12/2018.</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1.008 dự báo. Hiệu chỉnh đẩy tổng dự báo lên đúng cỡ σ²/2, chỉ giúp khi dự báo đang thấp; bách hoá vốn đã lệch gần +10%.</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pd.DateOffset(months=96)</a:t>
            </a:r>
            <a:r>
              <a:rPr sz="950" b="1" i="0">
                <a:solidFill>
                  <a:srgbClr val="5B6778"/>
                </a:solidFill>
                <a:latin typeface="Arial"/>
              </a:rPr>
              <a:t>   pandas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Lùi đúng 96 tháng theo lịch, không theo số ngày.</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w - w.shift(12)</a:t>
            </a:r>
            <a:r>
              <a:rPr sz="950" b="1" i="0">
                <a:solidFill>
                  <a:srgbClr val="5B6778"/>
                </a:solidFill>
                <a:latin typeface="Arial"/>
              </a:rPr>
              <a:t>   pandas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Sai phân mùa vụ: tháng này trừ cùng tháng năm trước.</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pd.concat</a:t>
            </a:r>
            <a:r>
              <a:rPr sz="950" b="1" i="0">
                <a:solidFill>
                  <a:srgbClr val="5B6778"/>
                </a:solidFill>
                <a:latin typeface="Arial"/>
              </a:rPr>
              <a:t>   pandas</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Nối các bảng dự báo của từng gốc thành một bảng dài.</a:t>
            </a:r>
          </a:p>
        </p:txBody>
      </p:sp>
      <p:pic>
        <p:nvPicPr>
          <p:cNvPr id="29" name="Picture 28" descr="kn-drift.png"/>
          <p:cNvPicPr>
            <a:picLocks noChangeAspect="1"/>
          </p:cNvPicPr>
          <p:nvPr/>
        </p:nvPicPr>
        <p:blipFill>
          <a:blip r:embed="rId2"/>
          <a:stretch>
            <a:fillRect/>
          </a:stretch>
        </p:blipFill>
        <p:spPr>
          <a:xfrm>
            <a:off x="7863840" y="4325874"/>
            <a:ext cx="3776472" cy="1909572"/>
          </a:xfrm>
          <a:prstGeom prst="rect">
            <a:avLst/>
          </a:prstGeom>
        </p:spPr>
      </p:pic>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phân rã cổ điển bằng NumPy</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6</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Tự viết phân rã cổ điển trong mười dòng và kiểm nó khớp statsmodels tới từng số.</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from statsmodels.tsa.seasonal import seasonal_decompose</a:t>
            </a:r>
          </a:p>
          <a:p>
            <a:r>
              <a:rPr sz="850">
                <a:solidFill>
                  <a:srgbClr val="6B7385"/>
                </a:solidFill>
                <a:latin typeface="Courier New"/>
              </a:rPr>
              <a:t> 3 </a:t>
            </a:r>
          </a:p>
          <a:p>
            <a:r>
              <a:rPr sz="850">
                <a:solidFill>
                  <a:srgbClr val="6B7385"/>
                </a:solidFill>
                <a:latin typeface="Courier New"/>
              </a:rPr>
              <a:t> 4 </a:t>
            </a:r>
            <a:r>
              <a:rPr sz="850">
                <a:solidFill>
                  <a:srgbClr val="E6EAF0"/>
                </a:solidFill>
                <a:latin typeface="Courier New"/>
              </a:rPr>
              <a:t>def co_dien(x, m):</a:t>
            </a:r>
          </a:p>
          <a:p>
            <a:r>
              <a:rPr sz="850">
                <a:solidFill>
                  <a:srgbClr val="6B7385"/>
                </a:solidFill>
                <a:latin typeface="Courier New"/>
              </a:rPr>
              <a:t> 5 </a:t>
            </a:r>
            <a:r>
              <a:rPr sz="850">
                <a:solidFill>
                  <a:srgbClr val="E6EAF0"/>
                </a:solidFill>
                <a:latin typeface="Courier New"/>
              </a:rPr>
              <a:t>    x = np.asarray(x, dtype=float)</a:t>
            </a:r>
          </a:p>
          <a:p>
            <a:r>
              <a:rPr sz="850">
                <a:solidFill>
                  <a:srgbClr val="6B7385"/>
                </a:solidFill>
                <a:latin typeface="Courier New"/>
              </a:rPr>
              <a:t> 6 </a:t>
            </a:r>
            <a:r>
              <a:rPr sz="850">
                <a:solidFill>
                  <a:srgbClr val="E6EAF0"/>
                </a:solidFill>
                <a:latin typeface="Courier New"/>
              </a:rPr>
              <a:t>    w = np.r_[0.5, np.ones(m - 1), 0.5] / m       </a:t>
            </a:r>
            <a:r>
              <a:rPr sz="850">
                <a:solidFill>
                  <a:srgbClr val="8FC99A"/>
                </a:solidFill>
                <a:latin typeface="Courier New"/>
              </a:rPr>
              <a:t># 2×m-MA, tổng bằng 1</a:t>
            </a:r>
          </a:p>
          <a:p>
            <a:r>
              <a:rPr sz="850">
                <a:solidFill>
                  <a:srgbClr val="6B7385"/>
                </a:solidFill>
                <a:latin typeface="Courier New"/>
              </a:rPr>
              <a:t> 7 </a:t>
            </a:r>
            <a:r>
              <a:rPr sz="850">
                <a:solidFill>
                  <a:srgbClr val="E6EAF0"/>
                </a:solidFill>
                <a:latin typeface="Courier New"/>
              </a:rPr>
              <a:t>    T = np.full(x.size, np.nan)</a:t>
            </a:r>
          </a:p>
          <a:p>
            <a:r>
              <a:rPr sz="850">
                <a:solidFill>
                  <a:srgbClr val="6B7385"/>
                </a:solidFill>
                <a:latin typeface="Courier New"/>
              </a:rPr>
              <a:t> 8 </a:t>
            </a:r>
            <a:r>
              <a:rPr sz="850">
                <a:solidFill>
                  <a:srgbClr val="E6EAF0"/>
                </a:solidFill>
                <a:latin typeface="Courier New"/>
              </a:rPr>
              <a:t>    T[m // 2:-m // 2] = np.convolve(x, w, mode="valid")  </a:t>
            </a:r>
            <a:r>
              <a:rPr sz="850">
                <a:solidFill>
                  <a:srgbClr val="8FC99A"/>
                </a:solidFill>
                <a:latin typeface="Courier New"/>
              </a:rPr>
              <a:t># xu hướng</a:t>
            </a:r>
          </a:p>
          <a:p>
            <a:r>
              <a:rPr sz="850">
                <a:solidFill>
                  <a:srgbClr val="6B7385"/>
                </a:solidFill>
                <a:latin typeface="Courier New"/>
              </a:rPr>
              <a:t> 9 </a:t>
            </a:r>
            <a:r>
              <a:rPr sz="850">
                <a:solidFill>
                  <a:srgbClr val="E6EAF0"/>
                </a:solidFill>
                <a:latin typeface="Courier New"/>
              </a:rPr>
              <a:t>    pha = np.arange(x.size) % m                   </a:t>
            </a:r>
            <a:r>
              <a:rPr sz="850">
                <a:solidFill>
                  <a:srgbClr val="8FC99A"/>
                </a:solidFill>
                <a:latin typeface="Courier New"/>
              </a:rPr>
              <a:t># vị trí trong vòng</a:t>
            </a:r>
          </a:p>
          <a:p>
            <a:r>
              <a:rPr sz="850">
                <a:solidFill>
                  <a:srgbClr val="6B7385"/>
                </a:solidFill>
                <a:latin typeface="Courier New"/>
              </a:rPr>
              <a:t>10 </a:t>
            </a:r>
            <a:r>
              <a:rPr sz="850">
                <a:solidFill>
                  <a:srgbClr val="E6EAF0"/>
                </a:solidFill>
                <a:latin typeface="Courier New"/>
              </a:rPr>
              <a:t>    S_mua = np.array([np.nanmean((x - T)[pha == k]) for k in range(m)])</a:t>
            </a:r>
          </a:p>
          <a:p>
            <a:r>
              <a:rPr sz="850">
                <a:solidFill>
                  <a:srgbClr val="6B7385"/>
                </a:solidFill>
                <a:latin typeface="Courier New"/>
              </a:rPr>
              <a:t>11 </a:t>
            </a:r>
            <a:r>
              <a:rPr sz="850">
                <a:solidFill>
                  <a:srgbClr val="E6EAF0"/>
                </a:solidFill>
                <a:latin typeface="Courier New"/>
              </a:rPr>
              <a:t>    S = (S_mua - S_mua.mean())[pha]               </a:t>
            </a:r>
            <a:r>
              <a:rPr sz="850">
                <a:solidFill>
                  <a:srgbClr val="8FC99A"/>
                </a:solidFill>
                <a:latin typeface="Courier New"/>
              </a:rPr>
              <a:t># mùa vụ, tổng bằng 0</a:t>
            </a:r>
          </a:p>
          <a:p>
            <a:r>
              <a:rPr sz="850">
                <a:solidFill>
                  <a:srgbClr val="6B7385"/>
                </a:solidFill>
                <a:latin typeface="Courier New"/>
              </a:rPr>
              <a:t>12 </a:t>
            </a:r>
            <a:r>
              <a:rPr sz="850">
                <a:solidFill>
                  <a:srgbClr val="E6EAF0"/>
                </a:solidFill>
                <a:latin typeface="Courier New"/>
              </a:rPr>
              <a:t>    return T, S, x - T - S                        </a:t>
            </a:r>
            <a:r>
              <a:rPr sz="850">
                <a:solidFill>
                  <a:srgbClr val="8FC99A"/>
                </a:solidFill>
                <a:latin typeface="Courier New"/>
              </a:rPr>
              <a:t># phần dư còn lại</a:t>
            </a:r>
          </a:p>
          <a:p>
            <a:r>
              <a:rPr sz="850">
                <a:solidFill>
                  <a:srgbClr val="6B7385"/>
                </a:solidFill>
                <a:latin typeface="Courier New"/>
              </a:rPr>
              <a:t>13 </a:t>
            </a:r>
          </a:p>
          <a:p>
            <a:r>
              <a:rPr sz="850">
                <a:solidFill>
                  <a:srgbClr val="6B7385"/>
                </a:solidFill>
                <a:latin typeface="Courier New"/>
              </a:rPr>
              <a:t>14 </a:t>
            </a:r>
            <a:r>
              <a:rPr sz="850">
                <a:solidFill>
                  <a:srgbClr val="E6EAF0"/>
                </a:solidFill>
                <a:latin typeface="Courier New"/>
              </a:rPr>
              <a:t>x = np.array([22, 18, 15, 29, 30, 22, 19, 33, 30, 26, 23, 37])</a:t>
            </a:r>
          </a:p>
          <a:p>
            <a:r>
              <a:rPr sz="850">
                <a:solidFill>
                  <a:srgbClr val="6B7385"/>
                </a:solidFill>
                <a:latin typeface="Courier New"/>
              </a:rPr>
              <a:t>15 </a:t>
            </a:r>
            <a:r>
              <a:rPr sz="850">
                <a:solidFill>
                  <a:srgbClr val="E6EAF0"/>
                </a:solidFill>
                <a:latin typeface="Courier New"/>
              </a:rPr>
              <a:t>T, S, R = co_dien(x, 4)</a:t>
            </a:r>
          </a:p>
          <a:p>
            <a:r>
              <a:rPr sz="850">
                <a:solidFill>
                  <a:srgbClr val="6B7385"/>
                </a:solidFill>
                <a:latin typeface="Courier New"/>
              </a:rPr>
              <a:t>16 </a:t>
            </a:r>
            <a:r>
              <a:rPr sz="850">
                <a:solidFill>
                  <a:srgbClr val="E6EAF0"/>
                </a:solidFill>
                <a:latin typeface="Courier New"/>
              </a:rPr>
              <a:t>sm = seasonal_decompose(x, period=4)              </a:t>
            </a:r>
            <a:r>
              <a:rPr sz="850">
                <a:solidFill>
                  <a:srgbClr val="8FC99A"/>
                </a:solidFill>
                <a:latin typeface="Courier New"/>
              </a:rPr>
              <a:t># phải khớp T và S</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buoi-06/tu-hoc.ipynb, phần 1</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6</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m + 1 trọng số, hai đầu mỗi đầu một nửa.</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7–8</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Trung bình trượt một vòng: ra xu hướng.</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9–10</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Trung bình phần trừ xu hướng theo vị trí.</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11</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Dời cho tổng mùa vụ một vòng bằng 0.</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14–16</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Chạy trên 12 quý, so với thư viện.</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Quý 3 có xu hướng 22. Mùa vụ bốn quý 4, −3, −7, 6; phần dư chỉ ±0,5 và ±1,5; khớp seasonal_decompose.</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np.convolve(x, w, mode="valid")</a:t>
            </a:r>
            <a:r>
              <a:rPr sz="950" b="1" i="0">
                <a:solidFill>
                  <a:srgbClr val="5B6778"/>
                </a:solidFill>
                <a:latin typeface="Arial"/>
              </a:rPr>
              <a:t>   numpy</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Trượt bộ trọng số dọc chuỗi, chỉ giữ chỗ đủ hàng xóm.</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co_dien(x, m)</a:t>
            </a:r>
            <a:r>
              <a:rPr sz="950" b="1" i="0">
                <a:solidFill>
                  <a:srgbClr val="5B6778"/>
                </a:solidFill>
                <a:latin typeface="Arial"/>
              </a:rPr>
              <a:t>   tự viết</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Trả về xu hướng, mùa vụ và phần dư theo cách cổ điển.</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seasonal_decompose</a:t>
            </a:r>
            <a:r>
              <a:rPr sz="950" b="1" i="0">
                <a:solidFill>
                  <a:srgbClr val="5B6778"/>
                </a:solidFill>
                <a:latin typeface="Arial"/>
              </a:rPr>
              <a:t>   statsmodels</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Phân rã cổ điển có sẵn; kết quả có .trend, .seasonal, .resid.</a:t>
            </a:r>
          </a:p>
        </p:txBody>
      </p:sp>
      <p:sp>
        <p:nvSpPr>
          <p:cNvPr id="29" name="Rounded Rectangle 28"/>
          <p:cNvSpPr/>
          <p:nvPr/>
        </p:nvSpPr>
        <p:spPr>
          <a:xfrm>
            <a:off x="7863840" y="4059935"/>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28f1cd6e8497.png"/>
          <p:cNvPicPr>
            <a:picLocks noChangeAspect="1"/>
          </p:cNvPicPr>
          <p:nvPr/>
        </p:nvPicPr>
        <p:blipFill>
          <a:blip r:embed="rId2"/>
          <a:stretch>
            <a:fillRect/>
          </a:stretch>
        </p:blipFill>
        <p:spPr>
          <a:xfrm>
            <a:off x="8945880" y="4227575"/>
            <a:ext cx="1612392" cy="213360"/>
          </a:xfrm>
          <a:prstGeom prst="rect">
            <a:avLst/>
          </a:prstGeom>
        </p:spPr>
      </p:pic>
      <p:pic>
        <p:nvPicPr>
          <p:cNvPr id="31" name="Picture 30" descr="kn-2-m-ma.png"/>
          <p:cNvPicPr>
            <a:picLocks noChangeAspect="1"/>
          </p:cNvPicPr>
          <p:nvPr/>
        </p:nvPicPr>
        <p:blipFill>
          <a:blip r:embed="rId3"/>
          <a:stretch>
            <a:fillRect/>
          </a:stretch>
        </p:blipFill>
        <p:spPr>
          <a:xfrm>
            <a:off x="8001766" y="4745735"/>
            <a:ext cx="3500619" cy="1728216"/>
          </a:xfrm>
          <a:prstGeom prst="rect">
            <a:avLst/>
          </a:prstGeom>
        </p:spPr>
      </p:pic>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biên độ trong ngày theo tháng</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6</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Đo biên độ mỗi ngày để biết mùa vụ đổi theo mùa, và bắt một giờ số liệu hỏng.</a:t>
            </a:r>
          </a:p>
        </p:txBody>
      </p:sp>
      <p:sp>
        <p:nvSpPr>
          <p:cNvPr id="6" name="Rounded Rectangle 5"/>
          <p:cNvSpPr/>
          <p:nvPr/>
        </p:nvSpPr>
        <p:spPr>
          <a:xfrm>
            <a:off x="548640" y="1737360"/>
            <a:ext cx="7086600" cy="2208276"/>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1888236"/>
          </a:xfrm>
          <a:prstGeom prst="rect">
            <a:avLst/>
          </a:prstGeom>
          <a:noFill/>
        </p:spPr>
        <p:txBody>
          <a:bodyPr wrap="none" lIns="0" rIns="0" tIns="0" bIns="0">
            <a:spAutoFit/>
          </a:bodyPr>
          <a:lstStyle/>
          <a:p>
            <a:r>
              <a:rPr sz="1050">
                <a:solidFill>
                  <a:srgbClr val="6B7385"/>
                </a:solidFill>
                <a:latin typeface="Courier New"/>
              </a:rPr>
              <a:t> 1 </a:t>
            </a:r>
            <a:r>
              <a:rPr sz="1050">
                <a:solidFill>
                  <a:srgbClr val="E6EAF0"/>
                </a:solidFill>
                <a:latin typeface="Courier New"/>
              </a:rPr>
              <a:t>import pandas as pd</a:t>
            </a:r>
          </a:p>
          <a:p>
            <a:r>
              <a:rPr sz="1050">
                <a:solidFill>
                  <a:srgbClr val="6B7385"/>
                </a:solidFill>
                <a:latin typeface="Courier New"/>
              </a:rPr>
              <a:t> 2 </a:t>
            </a:r>
          </a:p>
          <a:p>
            <a:r>
              <a:rPr sz="1050">
                <a:solidFill>
                  <a:srgbClr val="6B7385"/>
                </a:solidFill>
                <a:latin typeface="Courier New"/>
              </a:rPr>
              <a:t> 3 </a:t>
            </a:r>
            <a:r>
              <a:rPr sz="1050">
                <a:solidFill>
                  <a:srgbClr val="8FC99A"/>
                </a:solidFill>
                <a:latin typeface="Courier New"/>
              </a:rPr>
              <a:t># y: nhu cầu điện PJM theo giờ (MW), giờ New York</a:t>
            </a:r>
          </a:p>
          <a:p>
            <a:r>
              <a:rPr sz="1050">
                <a:solidFill>
                  <a:srgbClr val="6B7385"/>
                </a:solidFill>
                <a:latin typeface="Courier New"/>
              </a:rPr>
              <a:t> 4 </a:t>
            </a:r>
            <a:r>
              <a:rPr sz="1050">
                <a:solidFill>
                  <a:srgbClr val="8FC99A"/>
                </a:solidFill>
                <a:latin typeface="Courier New"/>
              </a:rPr>
              <a:t># y_goc: cùng chuỗi theo giờ UTC, chưa lấp giờ trống</a:t>
            </a:r>
          </a:p>
          <a:p>
            <a:r>
              <a:rPr sz="1050">
                <a:solidFill>
                  <a:srgbClr val="6B7385"/>
                </a:solidFill>
                <a:latin typeface="Courier New"/>
              </a:rPr>
              <a:t> 5 </a:t>
            </a:r>
            <a:r>
              <a:rPr sz="1050">
                <a:solidFill>
                  <a:srgbClr val="E6EAF0"/>
                </a:solidFill>
                <a:latin typeface="Courier New"/>
              </a:rPr>
              <a:t>ngay = y.resample("D")</a:t>
            </a:r>
          </a:p>
          <a:p>
            <a:r>
              <a:rPr sz="1050">
                <a:solidFill>
                  <a:srgbClr val="6B7385"/>
                </a:solidFill>
                <a:latin typeface="Courier New"/>
              </a:rPr>
              <a:t> 6 </a:t>
            </a:r>
            <a:r>
              <a:rPr sz="1050">
                <a:solidFill>
                  <a:srgbClr val="E6EAF0"/>
                </a:solidFill>
                <a:latin typeface="Courier New"/>
              </a:rPr>
              <a:t>bd = (ngay.max() - ngay.min()) / 1000        </a:t>
            </a:r>
            <a:r>
              <a:rPr sz="1050">
                <a:solidFill>
                  <a:srgbClr val="8FC99A"/>
                </a:solidFill>
                <a:latin typeface="Courier New"/>
              </a:rPr>
              <a:t># biên độ trong ngày, GW</a:t>
            </a:r>
          </a:p>
          <a:p>
            <a:r>
              <a:rPr sz="1050">
                <a:solidFill>
                  <a:srgbClr val="6B7385"/>
                </a:solidFill>
                <a:latin typeface="Courier New"/>
              </a:rPr>
              <a:t> 7 </a:t>
            </a:r>
            <a:r>
              <a:rPr sz="1050">
                <a:solidFill>
                  <a:srgbClr val="E6EAF0"/>
                </a:solidFill>
                <a:latin typeface="Courier New"/>
              </a:rPr>
              <a:t>theo_thang = bd.groupby(bd.index.month).mean()</a:t>
            </a:r>
          </a:p>
          <a:p>
            <a:r>
              <a:rPr sz="1050">
                <a:solidFill>
                  <a:srgbClr val="6B7385"/>
                </a:solidFill>
                <a:latin typeface="Courier New"/>
              </a:rPr>
              <a:t> 8 </a:t>
            </a:r>
            <a:r>
              <a:rPr sz="1050">
                <a:solidFill>
                  <a:srgbClr val="E6EAF0"/>
                </a:solidFill>
                <a:latin typeface="Courier New"/>
              </a:rPr>
              <a:t>print(theo_thang.loc[[1, 4, 7]].round(1))</a:t>
            </a:r>
          </a:p>
          <a:p>
            <a:r>
              <a:rPr sz="1050">
                <a:solidFill>
                  <a:srgbClr val="6B7385"/>
                </a:solidFill>
                <a:latin typeface="Courier New"/>
              </a:rPr>
              <a:t> 9 </a:t>
            </a:r>
          </a:p>
          <a:p>
            <a:r>
              <a:rPr sz="1050">
                <a:solidFill>
                  <a:srgbClr val="6B7385"/>
                </a:solidFill>
                <a:latin typeface="Courier New"/>
              </a:rPr>
              <a:t>10 </a:t>
            </a:r>
            <a:r>
              <a:rPr sz="1050">
                <a:solidFill>
                  <a:srgbClr val="E6EAF0"/>
                </a:solidFill>
                <a:latin typeface="Courier New"/>
              </a:rPr>
              <a:t>t0 = pd.Timestamp("2024-11-21 17:00")        </a:t>
            </a:r>
            <a:r>
              <a:rPr sz="1050">
                <a:solidFill>
                  <a:srgbClr val="8FC99A"/>
                </a:solidFill>
                <a:latin typeface="Courier New"/>
              </a:rPr>
              <a:t># giờ nghi hỏng (UTC)</a:t>
            </a:r>
          </a:p>
          <a:p>
            <a:r>
              <a:rPr sz="1050">
                <a:solidFill>
                  <a:srgbClr val="6B7385"/>
                </a:solidFill>
                <a:latin typeface="Courier New"/>
              </a:rPr>
              <a:t>11 </a:t>
            </a:r>
            <a:r>
              <a:rPr sz="1050">
                <a:solidFill>
                  <a:srgbClr val="E6EAF0"/>
                </a:solidFill>
                <a:latin typeface="Courier New"/>
              </a:rPr>
              <a:t>print(y_goc[t0 - pd.Timedelta("1h"):t0 + pd.Timedelta("1h")])</a:t>
            </a:r>
          </a:p>
        </p:txBody>
      </p:sp>
      <p:sp>
        <p:nvSpPr>
          <p:cNvPr id="8" name="TextBox 7"/>
          <p:cNvSpPr txBox="1"/>
          <p:nvPr/>
        </p:nvSpPr>
        <p:spPr>
          <a:xfrm>
            <a:off x="685800" y="3698748"/>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buoi-06/tu-hoc.ipynb, phần 2</a:t>
            </a:r>
          </a:p>
        </p:txBody>
      </p:sp>
      <p:sp>
        <p:nvSpPr>
          <p:cNvPr id="9" name="TextBox 8"/>
          <p:cNvSpPr txBox="1"/>
          <p:nvPr/>
        </p:nvSpPr>
        <p:spPr>
          <a:xfrm>
            <a:off x="548640" y="4055363"/>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3754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5–6</a:t>
            </a:r>
          </a:p>
        </p:txBody>
      </p:sp>
      <p:sp>
        <p:nvSpPr>
          <p:cNvPr id="11" name="TextBox 10"/>
          <p:cNvSpPr txBox="1"/>
          <p:nvPr/>
        </p:nvSpPr>
        <p:spPr>
          <a:xfrm>
            <a:off x="1353312" y="4357116"/>
            <a:ext cx="2697480" cy="457200"/>
          </a:xfrm>
          <a:prstGeom prst="rect">
            <a:avLst/>
          </a:prstGeom>
          <a:noFill/>
        </p:spPr>
        <p:txBody>
          <a:bodyPr wrap="square" lIns="0" rIns="0" tIns="0" bIns="0" anchor="t">
            <a:spAutoFit/>
          </a:bodyPr>
          <a:lstStyle/>
          <a:p>
            <a:pPr algn="l"/>
            <a:r>
              <a:rPr sz="1050" b="0" i="0">
                <a:solidFill>
                  <a:srgbClr val="1B2A41"/>
                </a:solidFill>
                <a:latin typeface="Arial"/>
              </a:rPr>
              <a:t>Cao nhất trừ thấp nhất trong mỗi ngày.</a:t>
            </a:r>
          </a:p>
        </p:txBody>
      </p:sp>
      <p:sp>
        <p:nvSpPr>
          <p:cNvPr id="12" name="Rounded Rectangle 11"/>
          <p:cNvSpPr/>
          <p:nvPr/>
        </p:nvSpPr>
        <p:spPr>
          <a:xfrm>
            <a:off x="548640" y="48326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7–8</a:t>
            </a:r>
          </a:p>
        </p:txBody>
      </p:sp>
      <p:sp>
        <p:nvSpPr>
          <p:cNvPr id="13" name="TextBox 12"/>
          <p:cNvSpPr txBox="1"/>
          <p:nvPr/>
        </p:nvSpPr>
        <p:spPr>
          <a:xfrm>
            <a:off x="1353312" y="4814316"/>
            <a:ext cx="2697480" cy="457200"/>
          </a:xfrm>
          <a:prstGeom prst="rect">
            <a:avLst/>
          </a:prstGeom>
          <a:noFill/>
        </p:spPr>
        <p:txBody>
          <a:bodyPr wrap="square" lIns="0" rIns="0" tIns="0" bIns="0" anchor="t">
            <a:spAutoFit/>
          </a:bodyPr>
          <a:lstStyle/>
          <a:p>
            <a:pPr algn="l"/>
            <a:r>
              <a:rPr sz="1050" b="0" i="0">
                <a:solidFill>
                  <a:srgbClr val="1B2A41"/>
                </a:solidFill>
                <a:latin typeface="Arial"/>
              </a:rPr>
              <a:t>Trung bình biên độ theo từng tháng.</a:t>
            </a:r>
          </a:p>
        </p:txBody>
      </p:sp>
      <p:sp>
        <p:nvSpPr>
          <p:cNvPr id="14" name="Rounded Rectangle 13"/>
          <p:cNvSpPr/>
          <p:nvPr/>
        </p:nvSpPr>
        <p:spPr>
          <a:xfrm>
            <a:off x="4160520" y="43754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10–11</a:t>
            </a:r>
          </a:p>
        </p:txBody>
      </p:sp>
      <p:sp>
        <p:nvSpPr>
          <p:cNvPr id="15" name="TextBox 14"/>
          <p:cNvSpPr txBox="1"/>
          <p:nvPr/>
        </p:nvSpPr>
        <p:spPr>
          <a:xfrm>
            <a:off x="4965192" y="4357116"/>
            <a:ext cx="2697480" cy="457200"/>
          </a:xfrm>
          <a:prstGeom prst="rect">
            <a:avLst/>
          </a:prstGeom>
          <a:noFill/>
        </p:spPr>
        <p:txBody>
          <a:bodyPr wrap="square" lIns="0" rIns="0" tIns="0" bIns="0" anchor="t">
            <a:spAutoFit/>
          </a:bodyPr>
          <a:lstStyle/>
          <a:p>
            <a:pPr algn="l"/>
            <a:r>
              <a:rPr sz="1050" b="0" i="0">
                <a:solidFill>
                  <a:srgbClr val="1B2A41"/>
                </a:solidFill>
                <a:latin typeface="Arial"/>
              </a:rPr>
              <a:t>Xem giờ lạ cùng hai giờ hai bên.</a:t>
            </a:r>
          </a:p>
        </p:txBody>
      </p:sp>
      <p:sp>
        <p:nvSpPr>
          <p:cNvPr id="16" name="Rounded Rectangle 15"/>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Biên độ trong ngày tháng 7 trung bình 44 GW, tháng 1 chỉ 17 GW. 17:00 UTC 21/11 báo 56.260 MW giữa hai giờ khoảng 95.000 MW.</a:t>
            </a:r>
          </a:p>
        </p:txBody>
      </p:sp>
      <p:sp>
        <p:nvSpPr>
          <p:cNvPr id="18" name="TextBox 17"/>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19" name="TextBox 18"/>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resample("D").max()</a:t>
            </a:r>
            <a:r>
              <a:rPr sz="950" b="1" i="0">
                <a:solidFill>
                  <a:srgbClr val="5B6778"/>
                </a:solidFill>
                <a:latin typeface="Arial"/>
              </a:rPr>
              <a:t>   pandas</a:t>
            </a:r>
          </a:p>
        </p:txBody>
      </p:sp>
      <p:sp>
        <p:nvSpPr>
          <p:cNvPr id="20" name="TextBox 19"/>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Gom các giờ thành từng ngày và lấy giá trị lớn nhất mỗi ngày.</a:t>
            </a:r>
          </a:p>
        </p:txBody>
      </p:sp>
      <p:sp>
        <p:nvSpPr>
          <p:cNvPr id="21" name="TextBox 20"/>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groupby(index.month).mean()</a:t>
            </a:r>
            <a:r>
              <a:rPr sz="950" b="1" i="0">
                <a:solidFill>
                  <a:srgbClr val="5B6778"/>
                </a:solidFill>
                <a:latin typeface="Arial"/>
              </a:rPr>
              <a:t>   pandas</a:t>
            </a:r>
          </a:p>
        </p:txBody>
      </p:sp>
      <p:sp>
        <p:nvSpPr>
          <p:cNvPr id="22" name="TextBox 21"/>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Trung bình theo tháng, gộp mọi ngày cùng tháng.</a:t>
            </a:r>
          </a:p>
        </p:txBody>
      </p:sp>
      <p:sp>
        <p:nvSpPr>
          <p:cNvPr id="23" name="TextBox 22"/>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pd.Timedelta("1h")</a:t>
            </a:r>
            <a:r>
              <a:rPr sz="950" b="1" i="0">
                <a:solidFill>
                  <a:srgbClr val="5B6778"/>
                </a:solidFill>
                <a:latin typeface="Arial"/>
              </a:rPr>
              <a:t>   pandas</a:t>
            </a:r>
          </a:p>
        </p:txBody>
      </p:sp>
      <p:sp>
        <p:nvSpPr>
          <p:cNvPr id="24" name="TextBox 23"/>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Một khoảng thời gian một giờ để cộng trừ với mốc giờ.</a:t>
            </a:r>
          </a:p>
        </p:txBody>
      </p:sp>
      <p:pic>
        <p:nvPicPr>
          <p:cNvPr id="25" name="Picture 24" descr="kn-phan-ra-cong-nhan.png"/>
          <p:cNvPicPr>
            <a:picLocks noChangeAspect="1"/>
          </p:cNvPicPr>
          <p:nvPr/>
        </p:nvPicPr>
        <p:blipFill>
          <a:blip r:embed="rId2"/>
          <a:stretch>
            <a:fillRect/>
          </a:stretch>
        </p:blipFill>
        <p:spPr>
          <a:xfrm>
            <a:off x="7863840" y="4359243"/>
            <a:ext cx="3776472" cy="1842832"/>
          </a:xfrm>
          <a:prstGeom prst="rect">
            <a:avLst/>
          </a:prstGeom>
        </p:spPr>
      </p:pic>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mùa vụ trốn trong xu hướng, phần dư</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6</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Kiểm hai chỗ mùa vụ trốn: xu hướng theo thứ, và phần dư theo tháng và giờ.</a:t>
            </a:r>
          </a:p>
        </p:txBody>
      </p:sp>
      <p:sp>
        <p:nvSpPr>
          <p:cNvPr id="6" name="Rounded Rectangle 5"/>
          <p:cNvSpPr/>
          <p:nvPr/>
        </p:nvSpPr>
        <p:spPr>
          <a:xfrm>
            <a:off x="548640" y="1737360"/>
            <a:ext cx="7086600" cy="2597912"/>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277872"/>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pandas as pd</a:t>
            </a:r>
          </a:p>
          <a:p>
            <a:r>
              <a:rPr sz="950">
                <a:solidFill>
                  <a:srgbClr val="6B7385"/>
                </a:solidFill>
                <a:latin typeface="Courier New"/>
              </a:rPr>
              <a:t> 2 </a:t>
            </a:r>
            <a:r>
              <a:rPr sz="950">
                <a:solidFill>
                  <a:srgbClr val="E6EAF0"/>
                </a:solidFill>
                <a:latin typeface="Courier New"/>
              </a:rPr>
              <a:t>from statsmodels.tsa.seasonal import MSTL, seasonal_decompose</a:t>
            </a:r>
          </a:p>
          <a:p>
            <a:r>
              <a:rPr sz="950">
                <a:solidFill>
                  <a:srgbClr val="6B7385"/>
                </a:solidFill>
                <a:latin typeface="Courier New"/>
              </a:rPr>
              <a:t> 3 </a:t>
            </a:r>
          </a:p>
          <a:p>
            <a:r>
              <a:rPr sz="950">
                <a:solidFill>
                  <a:srgbClr val="6B7385"/>
                </a:solidFill>
                <a:latin typeface="Courier New"/>
              </a:rPr>
              <a:t> 4 </a:t>
            </a:r>
            <a:r>
              <a:rPr sz="950">
                <a:solidFill>
                  <a:srgbClr val="8FC99A"/>
                </a:solidFill>
                <a:latin typeface="Courier New"/>
              </a:rPr>
              <a:t># y: nhu cầu PJM theo giờ, đã lấp giờ trống, giờ New York</a:t>
            </a:r>
          </a:p>
          <a:p>
            <a:r>
              <a:rPr sz="950">
                <a:solidFill>
                  <a:srgbClr val="6B7385"/>
                </a:solidFill>
                <a:latin typeface="Courier New"/>
              </a:rPr>
              <a:t> 5 </a:t>
            </a:r>
            <a:r>
              <a:rPr sz="950">
                <a:solidFill>
                  <a:srgbClr val="E6EAF0"/>
                </a:solidFill>
                <a:latin typeface="Courier New"/>
              </a:rPr>
              <a:t>sm24 = seasonal_decompose(y, period=24)</a:t>
            </a:r>
          </a:p>
          <a:p>
            <a:r>
              <a:rPr sz="950">
                <a:solidFill>
                  <a:srgbClr val="6B7385"/>
                </a:solidFill>
                <a:latin typeface="Courier New"/>
              </a:rPr>
              <a:t> 6 </a:t>
            </a:r>
            <a:r>
              <a:rPr sz="950">
                <a:solidFill>
                  <a:srgbClr val="E6EAF0"/>
                </a:solidFill>
                <a:latin typeface="Courier New"/>
              </a:rPr>
              <a:t>xh = sm24.trend.dropna()</a:t>
            </a:r>
          </a:p>
          <a:p>
            <a:r>
              <a:rPr sz="950">
                <a:solidFill>
                  <a:srgbClr val="6B7385"/>
                </a:solidFill>
                <a:latin typeface="Courier New"/>
              </a:rPr>
              <a:t> 7 </a:t>
            </a:r>
            <a:r>
              <a:rPr sz="950">
                <a:solidFill>
                  <a:srgbClr val="E6EAF0"/>
                </a:solidFill>
                <a:latin typeface="Courier New"/>
              </a:rPr>
              <a:t>print(xh.groupby(xh.index.dayofweek).mean())   </a:t>
            </a:r>
            <a:r>
              <a:rPr sz="950">
                <a:solidFill>
                  <a:srgbClr val="8FC99A"/>
                </a:solidFill>
                <a:latin typeface="Courier New"/>
              </a:rPr>
              <a:t># nhịp tuần ở xu hướng</a:t>
            </a:r>
          </a:p>
          <a:p>
            <a:r>
              <a:rPr sz="950">
                <a:solidFill>
                  <a:srgbClr val="6B7385"/>
                </a:solidFill>
                <a:latin typeface="Courier New"/>
              </a:rPr>
              <a:t> 8 </a:t>
            </a:r>
          </a:p>
          <a:p>
            <a:r>
              <a:rPr sz="950">
                <a:solidFill>
                  <a:srgbClr val="6B7385"/>
                </a:solidFill>
                <a:latin typeface="Courier New"/>
              </a:rPr>
              <a:t> 9 </a:t>
            </a:r>
            <a:r>
              <a:rPr sz="950">
                <a:solidFill>
                  <a:srgbClr val="E6EAF0"/>
                </a:solidFill>
                <a:latin typeface="Courier New"/>
              </a:rPr>
              <a:t>def ty_le_mau_hinh(resid, y):</a:t>
            </a:r>
          </a:p>
          <a:p>
            <a:r>
              <a:rPr sz="950">
                <a:solidFill>
                  <a:srgbClr val="6B7385"/>
                </a:solidFill>
                <a:latin typeface="Courier New"/>
              </a:rPr>
              <a:t>10 </a:t>
            </a:r>
            <a:r>
              <a:rPr sz="950">
                <a:solidFill>
                  <a:srgbClr val="E6EAF0"/>
                </a:solidFill>
                <a:latin typeface="Courier New"/>
              </a:rPr>
              <a:t>    r = resid.dropna()</a:t>
            </a:r>
          </a:p>
          <a:p>
            <a:r>
              <a:rPr sz="950">
                <a:solidFill>
                  <a:srgbClr val="6B7385"/>
                </a:solidFill>
                <a:latin typeface="Courier New"/>
              </a:rPr>
              <a:t>11 </a:t>
            </a:r>
            <a:r>
              <a:rPr sz="950">
                <a:solidFill>
                  <a:srgbClr val="E6EAF0"/>
                </a:solidFill>
                <a:latin typeface="Courier New"/>
              </a:rPr>
              <a:t>    g = r.groupby([r.index.month, r.index.hour]).mean()  </a:t>
            </a:r>
            <a:r>
              <a:rPr sz="950">
                <a:solidFill>
                  <a:srgbClr val="8FC99A"/>
                </a:solidFill>
                <a:latin typeface="Courier New"/>
              </a:rPr>
              <a:t># tháng, giờ</a:t>
            </a:r>
          </a:p>
          <a:p>
            <a:r>
              <a:rPr sz="950">
                <a:solidFill>
                  <a:srgbClr val="6B7385"/>
                </a:solidFill>
                <a:latin typeface="Courier New"/>
              </a:rPr>
              <a:t>12 </a:t>
            </a:r>
            <a:r>
              <a:rPr sz="950">
                <a:solidFill>
                  <a:srgbClr val="E6EAF0"/>
                </a:solidFill>
                <a:latin typeface="Courier New"/>
              </a:rPr>
              <a:t>    return g.var() / y.var()</a:t>
            </a:r>
          </a:p>
          <a:p>
            <a:r>
              <a:rPr sz="950">
                <a:solidFill>
                  <a:srgbClr val="6B7385"/>
                </a:solidFill>
                <a:latin typeface="Courier New"/>
              </a:rPr>
              <a:t>13 </a:t>
            </a:r>
          </a:p>
          <a:p>
            <a:r>
              <a:rPr sz="950">
                <a:solidFill>
                  <a:srgbClr val="6B7385"/>
                </a:solidFill>
                <a:latin typeface="Courier New"/>
              </a:rPr>
              <a:t>14 </a:t>
            </a:r>
            <a:r>
              <a:rPr sz="950">
                <a:solidFill>
                  <a:srgbClr val="E6EAF0"/>
                </a:solidFill>
                <a:latin typeface="Courier New"/>
              </a:rPr>
              <a:t>ms = MSTL(y, periods=(24, 168)).fit()</a:t>
            </a:r>
          </a:p>
          <a:p>
            <a:r>
              <a:rPr sz="950">
                <a:solidFill>
                  <a:srgbClr val="6B7385"/>
                </a:solidFill>
                <a:latin typeface="Courier New"/>
              </a:rPr>
              <a:t>15 </a:t>
            </a:r>
            <a:r>
              <a:rPr sz="950">
                <a:solidFill>
                  <a:srgbClr val="E6EAF0"/>
                </a:solidFill>
                <a:latin typeface="Courier New"/>
              </a:rPr>
              <a:t>print(ty_le_mau_hinh(sm24.resid, y), ty_le_mau_hinh(ms.resid, y))</a:t>
            </a:r>
          </a:p>
        </p:txBody>
      </p:sp>
      <p:sp>
        <p:nvSpPr>
          <p:cNvPr id="8" name="TextBox 7"/>
          <p:cNvSpPr txBox="1"/>
          <p:nvPr/>
        </p:nvSpPr>
        <p:spPr>
          <a:xfrm>
            <a:off x="685800" y="4088384"/>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buoi-06/tu-hoc.ipynb, phần 3</a:t>
            </a:r>
          </a:p>
        </p:txBody>
      </p:sp>
      <p:sp>
        <p:nvSpPr>
          <p:cNvPr id="9" name="TextBox 8"/>
          <p:cNvSpPr txBox="1"/>
          <p:nvPr/>
        </p:nvSpPr>
        <p:spPr>
          <a:xfrm>
            <a:off x="548640" y="4445000"/>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5</a:t>
            </a:r>
          </a:p>
        </p:txBody>
      </p:sp>
      <p:sp>
        <p:nvSpPr>
          <p:cNvPr id="11" name="TextBox 10"/>
          <p:cNvSpPr txBox="1"/>
          <p:nvPr/>
        </p:nvSpPr>
        <p:spPr>
          <a:xfrm>
            <a:off x="1353312" y="4746752"/>
            <a:ext cx="2697480" cy="347133"/>
          </a:xfrm>
          <a:prstGeom prst="rect">
            <a:avLst/>
          </a:prstGeom>
          <a:noFill/>
        </p:spPr>
        <p:txBody>
          <a:bodyPr wrap="square" lIns="0" rIns="0" tIns="0" bIns="0" anchor="t">
            <a:spAutoFit/>
          </a:bodyPr>
          <a:lstStyle/>
          <a:p>
            <a:pPr algn="l"/>
            <a:r>
              <a:rPr sz="1050" b="0" i="0">
                <a:solidFill>
                  <a:srgbClr val="1B2A41"/>
                </a:solidFill>
                <a:latin typeface="Arial"/>
              </a:rPr>
              <a:t>Phân rã cổ điển chu kỳ 24 giờ.</a:t>
            </a:r>
          </a:p>
        </p:txBody>
      </p:sp>
      <p:sp>
        <p:nvSpPr>
          <p:cNvPr id="12" name="Rounded Rectangle 11"/>
          <p:cNvSpPr/>
          <p:nvPr/>
        </p:nvSpPr>
        <p:spPr>
          <a:xfrm>
            <a:off x="548640" y="51121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6–7</a:t>
            </a:r>
          </a:p>
        </p:txBody>
      </p:sp>
      <p:sp>
        <p:nvSpPr>
          <p:cNvPr id="13" name="TextBox 12"/>
          <p:cNvSpPr txBox="1"/>
          <p:nvPr/>
        </p:nvSpPr>
        <p:spPr>
          <a:xfrm>
            <a:off x="1353312" y="5093885"/>
            <a:ext cx="2697480" cy="347133"/>
          </a:xfrm>
          <a:prstGeom prst="rect">
            <a:avLst/>
          </a:prstGeom>
          <a:noFill/>
        </p:spPr>
        <p:txBody>
          <a:bodyPr wrap="square" lIns="0" rIns="0" tIns="0" bIns="0" anchor="t">
            <a:spAutoFit/>
          </a:bodyPr>
          <a:lstStyle/>
          <a:p>
            <a:pPr algn="l"/>
            <a:r>
              <a:rPr sz="1050" b="0" i="0">
                <a:solidFill>
                  <a:srgbClr val="1B2A41"/>
                </a:solidFill>
                <a:latin typeface="Arial"/>
              </a:rPr>
              <a:t>Xu hướng trung bình theo thứ: thấy nhịp tuần.</a:t>
            </a:r>
          </a:p>
        </p:txBody>
      </p:sp>
      <p:sp>
        <p:nvSpPr>
          <p:cNvPr id="14" name="Rounded Rectangle 13"/>
          <p:cNvSpPr/>
          <p:nvPr/>
        </p:nvSpPr>
        <p:spPr>
          <a:xfrm>
            <a:off x="548640" y="54593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9–12</a:t>
            </a:r>
          </a:p>
        </p:txBody>
      </p:sp>
      <p:sp>
        <p:nvSpPr>
          <p:cNvPr id="15" name="TextBox 14"/>
          <p:cNvSpPr txBox="1"/>
          <p:nvPr/>
        </p:nvSpPr>
        <p:spPr>
          <a:xfrm>
            <a:off x="1353312" y="5441018"/>
            <a:ext cx="2697480" cy="347133"/>
          </a:xfrm>
          <a:prstGeom prst="rect">
            <a:avLst/>
          </a:prstGeom>
          <a:noFill/>
        </p:spPr>
        <p:txBody>
          <a:bodyPr wrap="square" lIns="0" rIns="0" tIns="0" bIns="0" anchor="t">
            <a:spAutoFit/>
          </a:bodyPr>
          <a:lstStyle/>
          <a:p>
            <a:pPr algn="l"/>
            <a:r>
              <a:rPr sz="1050" b="0" i="0">
                <a:solidFill>
                  <a:srgbClr val="1B2A41"/>
                </a:solidFill>
                <a:latin typeface="Arial"/>
              </a:rPr>
              <a:t>Phần dư trung bình theo tháng và giờ.</a:t>
            </a:r>
          </a:p>
        </p:txBody>
      </p:sp>
      <p:sp>
        <p:nvSpPr>
          <p:cNvPr id="16" name="Rounded Rectangle 15"/>
          <p:cNvSpPr/>
          <p:nvPr/>
        </p:nvSpPr>
        <p:spPr>
          <a:xfrm>
            <a:off x="416052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12</a:t>
            </a:r>
          </a:p>
        </p:txBody>
      </p:sp>
      <p:sp>
        <p:nvSpPr>
          <p:cNvPr id="17" name="TextBox 16"/>
          <p:cNvSpPr txBox="1"/>
          <p:nvPr/>
        </p:nvSpPr>
        <p:spPr>
          <a:xfrm>
            <a:off x="4965192" y="4746752"/>
            <a:ext cx="2697480" cy="347133"/>
          </a:xfrm>
          <a:prstGeom prst="rect">
            <a:avLst/>
          </a:prstGeom>
          <a:noFill/>
        </p:spPr>
        <p:txBody>
          <a:bodyPr wrap="square" lIns="0" rIns="0" tIns="0" bIns="0" anchor="t">
            <a:spAutoFit/>
          </a:bodyPr>
          <a:lstStyle/>
          <a:p>
            <a:pPr algn="l"/>
            <a:r>
              <a:rPr sz="1050" b="0" i="0">
                <a:solidFill>
                  <a:srgbClr val="1B2A41"/>
                </a:solidFill>
                <a:latin typeface="Arial"/>
              </a:rPr>
              <a:t>Chia phương sai chuỗi: gần 0 là phần dư sạch.</a:t>
            </a:r>
          </a:p>
        </p:txBody>
      </p:sp>
      <p:sp>
        <p:nvSpPr>
          <p:cNvPr id="18" name="Rounded Rectangle 17"/>
          <p:cNvSpPr/>
          <p:nvPr/>
        </p:nvSpPr>
        <p:spPr>
          <a:xfrm>
            <a:off x="4160520" y="51121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14–15</a:t>
            </a:r>
          </a:p>
        </p:txBody>
      </p:sp>
      <p:sp>
        <p:nvSpPr>
          <p:cNvPr id="19" name="TextBox 18"/>
          <p:cNvSpPr txBox="1"/>
          <p:nvPr/>
        </p:nvSpPr>
        <p:spPr>
          <a:xfrm>
            <a:off x="4965192" y="5093885"/>
            <a:ext cx="2697480" cy="347133"/>
          </a:xfrm>
          <a:prstGeom prst="rect">
            <a:avLst/>
          </a:prstGeom>
          <a:noFill/>
        </p:spPr>
        <p:txBody>
          <a:bodyPr wrap="square" lIns="0" rIns="0" tIns="0" bIns="0" anchor="t">
            <a:spAutoFit/>
          </a:bodyPr>
          <a:lstStyle/>
          <a:p>
            <a:pPr algn="l"/>
            <a:r>
              <a:rPr sz="1050" b="0" i="0">
                <a:solidFill>
                  <a:srgbClr val="1B2A41"/>
                </a:solidFill>
                <a:latin typeface="Arial"/>
              </a:rPr>
              <a:t>So cổ điển với MSTL bằng cùng thước đo.</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Xu hướng T7, CN thấp hơn giữa tuần khoảng 5.500–6.600 MW. Tỷ lệ mẫu hình tháng × giờ: cổ điển 0,102, MSTL 0,0006.</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seasonal_decompose(y, period=24)</a:t>
            </a:r>
            <a:r>
              <a:rPr sz="950" b="1" i="0">
                <a:solidFill>
                  <a:srgbClr val="5B6778"/>
                </a:solidFill>
                <a:latin typeface="Arial"/>
              </a:rPr>
              <a:t>   statsmodels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Phân rã cổ điển với một khuôn mùa vụ 24 giờ cho cả năm.</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MSTL(y, periods=(24, 168))</a:t>
            </a:r>
            <a:r>
              <a:rPr sz="950" b="1" i="0">
                <a:solidFill>
                  <a:srgbClr val="5B6778"/>
                </a:solidFill>
                <a:latin typeface="Arial"/>
              </a:rPr>
              <a:t>   statsmodels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Phân rã tách riêng mùa vụ ngày và mùa vụ tuần.</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ty_le_mau_hinh</a:t>
            </a:r>
            <a:r>
              <a:rPr sz="950" b="1" i="0">
                <a:solidFill>
                  <a:srgbClr val="5B6778"/>
                </a:solidFill>
                <a:latin typeface="Arial"/>
              </a:rPr>
              <a:t>   tự viết</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Phần dư còn mẫu hình theo lịch tới đâu, đo bằng một con số.</a:t>
            </a:r>
          </a:p>
        </p:txBody>
      </p:sp>
      <p:pic>
        <p:nvPicPr>
          <p:cNvPr id="29" name="Picture 28" descr="co-dien-24.png"/>
          <p:cNvPicPr>
            <a:picLocks noChangeAspect="1"/>
          </p:cNvPicPr>
          <p:nvPr/>
        </p:nvPicPr>
        <p:blipFill>
          <a:blip r:embed="rId2"/>
          <a:stretch>
            <a:fillRect/>
          </a:stretch>
        </p:blipFill>
        <p:spPr>
          <a:xfrm>
            <a:off x="8154223" y="4087367"/>
            <a:ext cx="3195704" cy="2386584"/>
          </a:xfrm>
          <a:prstGeom prst="rect">
            <a:avLst/>
          </a:prstGeom>
        </p:spPr>
      </p:pic>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STL, MSTL và hai lỗi hay gặp</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6</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Chạy STL và MSTL, xem hai lỗi hay gặp, rồi đo mùa vụ ngày đổi theo mùa thế nào.</a:t>
            </a:r>
          </a:p>
        </p:txBody>
      </p:sp>
      <p:sp>
        <p:nvSpPr>
          <p:cNvPr id="6" name="Rounded Rectangle 5"/>
          <p:cNvSpPr/>
          <p:nvPr/>
        </p:nvSpPr>
        <p:spPr>
          <a:xfrm>
            <a:off x="548640" y="1737360"/>
            <a:ext cx="7086600" cy="2455545"/>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35505"/>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from statsmodels.tsa.seasonal import MSTL, STL</a:t>
            </a:r>
          </a:p>
          <a:p>
            <a:r>
              <a:rPr sz="950">
                <a:solidFill>
                  <a:srgbClr val="6B7385"/>
                </a:solidFill>
                <a:latin typeface="Courier New"/>
              </a:rPr>
              <a:t> 2 </a:t>
            </a:r>
          </a:p>
          <a:p>
            <a:r>
              <a:rPr sz="950">
                <a:solidFill>
                  <a:srgbClr val="6B7385"/>
                </a:solidFill>
                <a:latin typeface="Courier New"/>
              </a:rPr>
              <a:t> 3 </a:t>
            </a:r>
            <a:r>
              <a:rPr sz="950">
                <a:solidFill>
                  <a:srgbClr val="8FC99A"/>
                </a:solidFill>
                <a:latin typeface="Courier New"/>
              </a:rPr>
              <a:t># y: nhu cầu PJM theo giờ, giờ New York; y_goc: bản còn NaN</a:t>
            </a:r>
          </a:p>
          <a:p>
            <a:r>
              <a:rPr sz="950">
                <a:solidFill>
                  <a:srgbClr val="6B7385"/>
                </a:solidFill>
                <a:latin typeface="Courier New"/>
              </a:rPr>
              <a:t> 4 </a:t>
            </a:r>
            <a:r>
              <a:rPr sz="950">
                <a:solidFill>
                  <a:srgbClr val="E6EAF0"/>
                </a:solidFill>
                <a:latin typeface="Courier New"/>
              </a:rPr>
              <a:t>bay = MSTL(y_goc, periods=(24, 168)).fit()</a:t>
            </a:r>
          </a:p>
          <a:p>
            <a:r>
              <a:rPr sz="950">
                <a:solidFill>
                  <a:srgbClr val="6B7385"/>
                </a:solidFill>
                <a:latin typeface="Courier New"/>
              </a:rPr>
              <a:t> 5 </a:t>
            </a:r>
            <a:r>
              <a:rPr sz="950">
                <a:solidFill>
                  <a:srgbClr val="E6EAF0"/>
                </a:solidFill>
                <a:latin typeface="Courier New"/>
              </a:rPr>
              <a:t>print(bay.trend.notna().sum())          </a:t>
            </a:r>
            <a:r>
              <a:rPr sz="950">
                <a:solidFill>
                  <a:srgbClr val="8FC99A"/>
                </a:solidFill>
                <a:latin typeface="Courier New"/>
              </a:rPr>
              <a:t># còn NaN là ra toàn NaN</a:t>
            </a:r>
          </a:p>
          <a:p>
            <a:r>
              <a:rPr sz="950">
                <a:solidFill>
                  <a:srgbClr val="6B7385"/>
                </a:solidFill>
                <a:latin typeface="Courier New"/>
              </a:rPr>
              <a:t> 6 </a:t>
            </a:r>
          </a:p>
          <a:p>
            <a:r>
              <a:rPr sz="950">
                <a:solidFill>
                  <a:srgbClr val="6B7385"/>
                </a:solidFill>
                <a:latin typeface="Courier New"/>
              </a:rPr>
              <a:t> 7 </a:t>
            </a:r>
            <a:r>
              <a:rPr sz="950">
                <a:solidFill>
                  <a:srgbClr val="E6EAF0"/>
                </a:solidFill>
                <a:latin typeface="Courier New"/>
              </a:rPr>
              <a:t>stl = STL(y, period=24).fit()           </a:t>
            </a:r>
            <a:r>
              <a:rPr sz="950">
                <a:solidFill>
                  <a:srgbClr val="8FC99A"/>
                </a:solidFill>
                <a:latin typeface="Courier New"/>
              </a:rPr>
              <a:t># xu hướng 47 giờ, quá mềm</a:t>
            </a:r>
          </a:p>
          <a:p>
            <a:r>
              <a:rPr sz="950">
                <a:solidFill>
                  <a:srgbClr val="6B7385"/>
                </a:solidFill>
                <a:latin typeface="Courier New"/>
              </a:rPr>
              <a:t> 8 </a:t>
            </a:r>
            <a:r>
              <a:rPr sz="950">
                <a:solidFill>
                  <a:srgbClr val="E6EAF0"/>
                </a:solidFill>
                <a:latin typeface="Courier New"/>
              </a:rPr>
              <a:t>ms = MSTL(y, periods=(24, 168)).fit()   </a:t>
            </a:r>
            <a:r>
              <a:rPr sz="950">
                <a:solidFill>
                  <a:srgbClr val="8FC99A"/>
                </a:solidFill>
                <a:latin typeface="Courier New"/>
              </a:rPr>
              <a:t># mùa vụ ngày rồi mùa vụ tuần</a:t>
            </a:r>
          </a:p>
          <a:p>
            <a:r>
              <a:rPr sz="950">
                <a:solidFill>
                  <a:srgbClr val="6B7385"/>
                </a:solidFill>
                <a:latin typeface="Courier New"/>
              </a:rPr>
              <a:t> 9 </a:t>
            </a:r>
            <a:r>
              <a:rPr sz="950">
                <a:solidFill>
                  <a:srgbClr val="E6EAF0"/>
                </a:solidFill>
                <a:latin typeface="Courier New"/>
              </a:rPr>
              <a:t>print(stl.resid.var() / 1e6, ms.resid.var() / 1e6)   </a:t>
            </a:r>
            <a:r>
              <a:rPr sz="950">
                <a:solidFill>
                  <a:srgbClr val="8FC99A"/>
                </a:solidFill>
                <a:latin typeface="Courier New"/>
              </a:rPr>
              <a:t># GW bình phương</a:t>
            </a:r>
          </a:p>
          <a:p>
            <a:r>
              <a:rPr sz="950">
                <a:solidFill>
                  <a:srgbClr val="6B7385"/>
                </a:solidFill>
                <a:latin typeface="Courier New"/>
              </a:rPr>
              <a:t>10 </a:t>
            </a:r>
          </a:p>
          <a:p>
            <a:r>
              <a:rPr sz="950">
                <a:solidFill>
                  <a:srgbClr val="6B7385"/>
                </a:solidFill>
                <a:latin typeface="Courier New"/>
              </a:rPr>
              <a:t>11 </a:t>
            </a:r>
            <a:r>
              <a:rPr sz="950">
                <a:solidFill>
                  <a:srgbClr val="E6EAF0"/>
                </a:solidFill>
                <a:latin typeface="Courier New"/>
              </a:rPr>
              <a:t>s24 = ms.seasonal["seasonal_24"]</a:t>
            </a:r>
          </a:p>
          <a:p>
            <a:r>
              <a:rPr sz="950">
                <a:solidFill>
                  <a:srgbClr val="6B7385"/>
                </a:solidFill>
                <a:latin typeface="Courier New"/>
              </a:rPr>
              <a:t>12 </a:t>
            </a:r>
            <a:r>
              <a:rPr sz="950">
                <a:solidFill>
                  <a:srgbClr val="E6EAF0"/>
                </a:solidFill>
                <a:latin typeface="Courier New"/>
              </a:rPr>
              <a:t>ho = s24.groupby([s24.index.month, s24.index.hour]).mean().unstack()</a:t>
            </a:r>
          </a:p>
          <a:p>
            <a:r>
              <a:rPr sz="950">
                <a:solidFill>
                  <a:srgbClr val="6B7385"/>
                </a:solidFill>
                <a:latin typeface="Courier New"/>
              </a:rPr>
              <a:t>13 </a:t>
            </a:r>
            <a:r>
              <a:rPr sz="950">
                <a:solidFill>
                  <a:srgbClr val="E6EAF0"/>
                </a:solidFill>
                <a:latin typeface="Courier New"/>
              </a:rPr>
              <a:t>bien_do = (ho.max(axis=1) - ho.min(axis=1)) / 1000   </a:t>
            </a:r>
            <a:r>
              <a:rPr sz="950">
                <a:solidFill>
                  <a:srgbClr val="8FC99A"/>
                </a:solidFill>
                <a:latin typeface="Courier New"/>
              </a:rPr>
              <a:t># GW theo tháng</a:t>
            </a:r>
          </a:p>
          <a:p>
            <a:r>
              <a:rPr sz="950">
                <a:solidFill>
                  <a:srgbClr val="6B7385"/>
                </a:solidFill>
                <a:latin typeface="Courier New"/>
              </a:rPr>
              <a:t>14 </a:t>
            </a:r>
            <a:r>
              <a:rPr sz="950">
                <a:solidFill>
                  <a:srgbClr val="E6EAF0"/>
                </a:solidFill>
                <a:latin typeface="Courier New"/>
              </a:rPr>
              <a:t>print(ho.loc[1].idxmax(), ho.loc[7].idxmax())        </a:t>
            </a:r>
            <a:r>
              <a:rPr sz="950">
                <a:solidFill>
                  <a:srgbClr val="8FC99A"/>
                </a:solidFill>
                <a:latin typeface="Courier New"/>
              </a:rPr>
              <a:t># giờ đỉnh</a:t>
            </a:r>
          </a:p>
        </p:txBody>
      </p:sp>
      <p:sp>
        <p:nvSpPr>
          <p:cNvPr id="8" name="TextBox 7"/>
          <p:cNvSpPr txBox="1"/>
          <p:nvPr/>
        </p:nvSpPr>
        <p:spPr>
          <a:xfrm>
            <a:off x="685800" y="3946017"/>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buoi-06/tu-hoc.ipynb, phần 4</a:t>
            </a:r>
          </a:p>
        </p:txBody>
      </p:sp>
      <p:sp>
        <p:nvSpPr>
          <p:cNvPr id="9" name="TextBox 8"/>
          <p:cNvSpPr txBox="1"/>
          <p:nvPr/>
        </p:nvSpPr>
        <p:spPr>
          <a:xfrm>
            <a:off x="548640" y="4302633"/>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6226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4–5</a:t>
            </a:r>
          </a:p>
        </p:txBody>
      </p:sp>
      <p:sp>
        <p:nvSpPr>
          <p:cNvPr id="11" name="TextBox 10"/>
          <p:cNvSpPr txBox="1"/>
          <p:nvPr/>
        </p:nvSpPr>
        <p:spPr>
          <a:xfrm>
            <a:off x="1353312" y="4604385"/>
            <a:ext cx="2697480" cy="394588"/>
          </a:xfrm>
          <a:prstGeom prst="rect">
            <a:avLst/>
          </a:prstGeom>
          <a:noFill/>
        </p:spPr>
        <p:txBody>
          <a:bodyPr wrap="square" lIns="0" rIns="0" tIns="0" bIns="0" anchor="t">
            <a:spAutoFit/>
          </a:bodyPr>
          <a:lstStyle/>
          <a:p>
            <a:pPr algn="l"/>
            <a:r>
              <a:rPr sz="1050" b="0" i="0">
                <a:solidFill>
                  <a:srgbClr val="1B2A41"/>
                </a:solidFill>
                <a:latin typeface="Arial"/>
              </a:rPr>
              <a:t>Lỗi 1: còn giờ trống thì kết quả toàn NaN.</a:t>
            </a:r>
          </a:p>
        </p:txBody>
      </p:sp>
      <p:sp>
        <p:nvSpPr>
          <p:cNvPr id="12" name="Rounded Rectangle 11"/>
          <p:cNvSpPr/>
          <p:nvPr/>
        </p:nvSpPr>
        <p:spPr>
          <a:xfrm>
            <a:off x="548640" y="5017262"/>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7</a:t>
            </a:r>
          </a:p>
        </p:txBody>
      </p:sp>
      <p:sp>
        <p:nvSpPr>
          <p:cNvPr id="13" name="TextBox 12"/>
          <p:cNvSpPr txBox="1"/>
          <p:nvPr/>
        </p:nvSpPr>
        <p:spPr>
          <a:xfrm>
            <a:off x="1353312" y="4998974"/>
            <a:ext cx="2697480" cy="394588"/>
          </a:xfrm>
          <a:prstGeom prst="rect">
            <a:avLst/>
          </a:prstGeom>
          <a:noFill/>
        </p:spPr>
        <p:txBody>
          <a:bodyPr wrap="square" lIns="0" rIns="0" tIns="0" bIns="0" anchor="t">
            <a:spAutoFit/>
          </a:bodyPr>
          <a:lstStyle/>
          <a:p>
            <a:pPr algn="l"/>
            <a:r>
              <a:rPr sz="1050" b="0" i="0">
                <a:solidFill>
                  <a:srgbClr val="1B2A41"/>
                </a:solidFill>
                <a:latin typeface="Arial"/>
              </a:rPr>
              <a:t>Lỗi 2: STL mặc định cho phần dư nhỏ giả tạo.</a:t>
            </a:r>
          </a:p>
        </p:txBody>
      </p:sp>
      <p:sp>
        <p:nvSpPr>
          <p:cNvPr id="14" name="Rounded Rectangle 13"/>
          <p:cNvSpPr/>
          <p:nvPr/>
        </p:nvSpPr>
        <p:spPr>
          <a:xfrm>
            <a:off x="548640" y="541185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8–9</a:t>
            </a:r>
          </a:p>
        </p:txBody>
      </p:sp>
      <p:sp>
        <p:nvSpPr>
          <p:cNvPr id="15" name="TextBox 14"/>
          <p:cNvSpPr txBox="1"/>
          <p:nvPr/>
        </p:nvSpPr>
        <p:spPr>
          <a:xfrm>
            <a:off x="1353312" y="5393563"/>
            <a:ext cx="2697480" cy="394588"/>
          </a:xfrm>
          <a:prstGeom prst="rect">
            <a:avLst/>
          </a:prstGeom>
          <a:noFill/>
        </p:spPr>
        <p:txBody>
          <a:bodyPr wrap="square" lIns="0" rIns="0" tIns="0" bIns="0" anchor="t">
            <a:spAutoFit/>
          </a:bodyPr>
          <a:lstStyle/>
          <a:p>
            <a:pPr algn="l"/>
            <a:r>
              <a:rPr sz="1050" b="0" i="0">
                <a:solidFill>
                  <a:srgbClr val="1B2A41"/>
                </a:solidFill>
                <a:latin typeface="Arial"/>
              </a:rPr>
              <a:t>MSTL tách hai chu kỳ, so phương sai phần dư.</a:t>
            </a:r>
          </a:p>
        </p:txBody>
      </p:sp>
      <p:sp>
        <p:nvSpPr>
          <p:cNvPr id="16" name="Rounded Rectangle 15"/>
          <p:cNvSpPr/>
          <p:nvPr/>
        </p:nvSpPr>
        <p:spPr>
          <a:xfrm>
            <a:off x="4160520" y="46226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11–13</a:t>
            </a:r>
          </a:p>
        </p:txBody>
      </p:sp>
      <p:sp>
        <p:nvSpPr>
          <p:cNvPr id="17" name="TextBox 16"/>
          <p:cNvSpPr txBox="1"/>
          <p:nvPr/>
        </p:nvSpPr>
        <p:spPr>
          <a:xfrm>
            <a:off x="4965192" y="4604385"/>
            <a:ext cx="2697480" cy="394588"/>
          </a:xfrm>
          <a:prstGeom prst="rect">
            <a:avLst/>
          </a:prstGeom>
          <a:noFill/>
        </p:spPr>
        <p:txBody>
          <a:bodyPr wrap="square" lIns="0" rIns="0" tIns="0" bIns="0" anchor="t">
            <a:spAutoFit/>
          </a:bodyPr>
          <a:lstStyle/>
          <a:p>
            <a:pPr algn="l"/>
            <a:r>
              <a:rPr sz="1050" b="0" i="0">
                <a:solidFill>
                  <a:srgbClr val="1B2A41"/>
                </a:solidFill>
                <a:latin typeface="Arial"/>
              </a:rPr>
              <a:t>Biên độ mùa vụ ngày của từng tháng.</a:t>
            </a:r>
          </a:p>
        </p:txBody>
      </p:sp>
      <p:sp>
        <p:nvSpPr>
          <p:cNvPr id="18" name="Rounded Rectangle 17"/>
          <p:cNvSpPr/>
          <p:nvPr/>
        </p:nvSpPr>
        <p:spPr>
          <a:xfrm>
            <a:off x="4160520" y="5017262"/>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14</a:t>
            </a:r>
          </a:p>
        </p:txBody>
      </p:sp>
      <p:sp>
        <p:nvSpPr>
          <p:cNvPr id="19" name="TextBox 18"/>
          <p:cNvSpPr txBox="1"/>
          <p:nvPr/>
        </p:nvSpPr>
        <p:spPr>
          <a:xfrm>
            <a:off x="4965192" y="4998974"/>
            <a:ext cx="2697480" cy="394588"/>
          </a:xfrm>
          <a:prstGeom prst="rect">
            <a:avLst/>
          </a:prstGeom>
          <a:noFill/>
        </p:spPr>
        <p:txBody>
          <a:bodyPr wrap="square" lIns="0" rIns="0" tIns="0" bIns="0" anchor="t">
            <a:spAutoFit/>
          </a:bodyPr>
          <a:lstStyle/>
          <a:p>
            <a:pPr algn="l"/>
            <a:r>
              <a:rPr sz="1050" b="0" i="0">
                <a:solidFill>
                  <a:srgbClr val="1B2A41"/>
                </a:solidFill>
                <a:latin typeface="Arial"/>
              </a:rPr>
              <a:t>Giờ đỉnh mùa đông và mùa hè.</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Phần dư STL mặc định 2,8 GW², MSTL 16,5 GW². Biên độ mùa vụ ngày tháng 7 là 43,3 GW, tháng 1 là 14,4 GW.</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STL(y, period=24)</a:t>
            </a:r>
            <a:r>
              <a:rPr sz="950" b="1" i="0">
                <a:solidFill>
                  <a:srgbClr val="5B6778"/>
                </a:solidFill>
                <a:latin typeface="Arial"/>
              </a:rPr>
              <a:t>   statsmodels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Phân rã bằng làm trơn cục bộ, mùa vụ được đổi dần qua các ngày.</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MSTL(...).fit().seasonal</a:t>
            </a:r>
            <a:r>
              <a:rPr sz="950" b="1" i="0">
                <a:solidFill>
                  <a:srgbClr val="5B6778"/>
                </a:solidFill>
                <a:latin typeface="Arial"/>
              </a:rPr>
              <a:t>   statsmodels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Bảng các mùa vụ, mỗi chu kỳ một cột: seasonal_24, seasonal_168.</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unstack()</a:t>
            </a:r>
            <a:r>
              <a:rPr sz="950" b="1" i="0">
                <a:solidFill>
                  <a:srgbClr val="5B6778"/>
                </a:solidFill>
                <a:latin typeface="Arial"/>
              </a:rPr>
              <a:t>   pandas</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Xoay nhãn giờ thành cột: mỗi dòng một tháng, mỗi cột một giờ.</a:t>
            </a:r>
          </a:p>
        </p:txBody>
      </p:sp>
      <p:pic>
        <p:nvPicPr>
          <p:cNvPr id="29" name="Picture 28" descr="kn-stl-loess.png"/>
          <p:cNvPicPr>
            <a:picLocks noChangeAspect="1"/>
          </p:cNvPicPr>
          <p:nvPr/>
        </p:nvPicPr>
        <p:blipFill>
          <a:blip r:embed="rId2"/>
          <a:stretch>
            <a:fillRect/>
          </a:stretch>
        </p:blipFill>
        <p:spPr>
          <a:xfrm>
            <a:off x="7863840" y="4308096"/>
            <a:ext cx="3776472" cy="1945126"/>
          </a:xfrm>
          <a:prstGeom prst="rect">
            <a:avLst/>
          </a:prstGeom>
        </p:spPr>
      </p:pic>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độ mạnh xu hướng và mùa vụ</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6</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Tính F_T và F_S từ phương sai, cho mọi thành phần mùa vụ của một phân rã.</a:t>
            </a:r>
          </a:p>
        </p:txBody>
      </p:sp>
      <p:sp>
        <p:nvSpPr>
          <p:cNvPr id="6" name="Rounded Rectangle 5"/>
          <p:cNvSpPr/>
          <p:nvPr/>
        </p:nvSpPr>
        <p:spPr>
          <a:xfrm>
            <a:off x="548640" y="1737360"/>
            <a:ext cx="7086600" cy="2597912"/>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277872"/>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pandas as pd</a:t>
            </a:r>
          </a:p>
          <a:p>
            <a:r>
              <a:rPr sz="950">
                <a:solidFill>
                  <a:srgbClr val="6B7385"/>
                </a:solidFill>
                <a:latin typeface="Courier New"/>
              </a:rPr>
              <a:t> 2 </a:t>
            </a:r>
            <a:r>
              <a:rPr sz="950">
                <a:solidFill>
                  <a:srgbClr val="E6EAF0"/>
                </a:solidFill>
                <a:latin typeface="Courier New"/>
              </a:rPr>
              <a:t>from statsmodels.tsa.seasonal import MSTL</a:t>
            </a:r>
          </a:p>
          <a:p>
            <a:r>
              <a:rPr sz="950">
                <a:solidFill>
                  <a:srgbClr val="6B7385"/>
                </a:solidFill>
                <a:latin typeface="Courier New"/>
              </a:rPr>
              <a:t> 3 </a:t>
            </a:r>
          </a:p>
          <a:p>
            <a:r>
              <a:rPr sz="950">
                <a:solidFill>
                  <a:srgbClr val="6B7385"/>
                </a:solidFill>
                <a:latin typeface="Courier New"/>
              </a:rPr>
              <a:t> 4 </a:t>
            </a:r>
            <a:r>
              <a:rPr sz="950">
                <a:solidFill>
                  <a:srgbClr val="E6EAF0"/>
                </a:solidFill>
                <a:latin typeface="Courier New"/>
              </a:rPr>
              <a:t>def do_manh(bang):</a:t>
            </a:r>
          </a:p>
          <a:p>
            <a:r>
              <a:rPr sz="950">
                <a:solidFill>
                  <a:srgbClr val="6B7385"/>
                </a:solidFill>
                <a:latin typeface="Courier New"/>
              </a:rPr>
              <a:t> 5 </a:t>
            </a:r>
            <a:r>
              <a:rPr sz="950">
                <a:solidFill>
                  <a:srgbClr val="E6EAF0"/>
                </a:solidFill>
                <a:latin typeface="Courier New"/>
              </a:rPr>
              <a:t>    r = bang["resid"]</a:t>
            </a:r>
          </a:p>
          <a:p>
            <a:r>
              <a:rPr sz="950">
                <a:solidFill>
                  <a:srgbClr val="6B7385"/>
                </a:solidFill>
                <a:latin typeface="Courier New"/>
              </a:rPr>
              <a:t> 6 </a:t>
            </a:r>
            <a:r>
              <a:rPr sz="950">
                <a:solidFill>
                  <a:srgbClr val="E6EAF0"/>
                </a:solidFill>
                <a:latin typeface="Courier New"/>
              </a:rPr>
              <a:t>    kq = {"F_T": max(0.0, float(1 - r.var() / (bang["trend"] + r).var()))}</a:t>
            </a:r>
          </a:p>
          <a:p>
            <a:r>
              <a:rPr sz="950">
                <a:solidFill>
                  <a:srgbClr val="6B7385"/>
                </a:solidFill>
                <a:latin typeface="Courier New"/>
              </a:rPr>
              <a:t> 7 </a:t>
            </a:r>
            <a:r>
              <a:rPr sz="950">
                <a:solidFill>
                  <a:srgbClr val="E6EAF0"/>
                </a:solidFill>
                <a:latin typeface="Courier New"/>
              </a:rPr>
              <a:t>    for c in [c for c in bang.columns if c.startswith("seasonal")]:</a:t>
            </a:r>
          </a:p>
          <a:p>
            <a:r>
              <a:rPr sz="950">
                <a:solidFill>
                  <a:srgbClr val="6B7385"/>
                </a:solidFill>
                <a:latin typeface="Courier New"/>
              </a:rPr>
              <a:t> 8 </a:t>
            </a:r>
            <a:r>
              <a:rPr sz="950">
                <a:solidFill>
                  <a:srgbClr val="E6EAF0"/>
                </a:solidFill>
                <a:latin typeface="Courier New"/>
              </a:rPr>
              <a:t>        kq[c] = max(0.0, float(1 - r.var() / (bang[c] + r).var()))</a:t>
            </a:r>
          </a:p>
          <a:p>
            <a:r>
              <a:rPr sz="950">
                <a:solidFill>
                  <a:srgbClr val="6B7385"/>
                </a:solidFill>
                <a:latin typeface="Courier New"/>
              </a:rPr>
              <a:t> 9 </a:t>
            </a:r>
            <a:r>
              <a:rPr sz="950">
                <a:solidFill>
                  <a:srgbClr val="E6EAF0"/>
                </a:solidFill>
                <a:latin typeface="Courier New"/>
              </a:rPr>
              <a:t>    return kq</a:t>
            </a:r>
          </a:p>
          <a:p>
            <a:r>
              <a:rPr sz="950">
                <a:solidFill>
                  <a:srgbClr val="6B7385"/>
                </a:solidFill>
                <a:latin typeface="Courier New"/>
              </a:rPr>
              <a:t>10 </a:t>
            </a:r>
          </a:p>
          <a:p>
            <a:r>
              <a:rPr sz="950">
                <a:solidFill>
                  <a:srgbClr val="6B7385"/>
                </a:solidFill>
                <a:latin typeface="Courier New"/>
              </a:rPr>
              <a:t>11 </a:t>
            </a:r>
            <a:r>
              <a:rPr sz="950">
                <a:solidFill>
                  <a:srgbClr val="8FC99A"/>
                </a:solidFill>
                <a:latin typeface="Courier New"/>
              </a:rPr>
              <a:t># y: nhu cầu PJM theo giờ, đã lấp giờ trống</a:t>
            </a:r>
          </a:p>
          <a:p>
            <a:r>
              <a:rPr sz="950">
                <a:solidFill>
                  <a:srgbClr val="6B7385"/>
                </a:solidFill>
                <a:latin typeface="Courier New"/>
              </a:rPr>
              <a:t>12 </a:t>
            </a:r>
            <a:r>
              <a:rPr sz="950">
                <a:solidFill>
                  <a:srgbClr val="E6EAF0"/>
                </a:solidFill>
                <a:latin typeface="Courier New"/>
              </a:rPr>
              <a:t>kq = MSTL(y, periods=(24, 168)).fit()</a:t>
            </a:r>
          </a:p>
          <a:p>
            <a:r>
              <a:rPr sz="950">
                <a:solidFill>
                  <a:srgbClr val="6B7385"/>
                </a:solidFill>
                <a:latin typeface="Courier New"/>
              </a:rPr>
              <a:t>13 </a:t>
            </a:r>
            <a:r>
              <a:rPr sz="950">
                <a:solidFill>
                  <a:srgbClr val="E6EAF0"/>
                </a:solidFill>
                <a:latin typeface="Courier New"/>
              </a:rPr>
              <a:t>ms = pd.DataFrame({"trend": kq.trend, "resid": kq.resid})</a:t>
            </a:r>
          </a:p>
          <a:p>
            <a:r>
              <a:rPr sz="950">
                <a:solidFill>
                  <a:srgbClr val="6B7385"/>
                </a:solidFill>
                <a:latin typeface="Courier New"/>
              </a:rPr>
              <a:t>14 </a:t>
            </a:r>
            <a:r>
              <a:rPr sz="950">
                <a:solidFill>
                  <a:srgbClr val="E6EAF0"/>
                </a:solidFill>
                <a:latin typeface="Courier New"/>
              </a:rPr>
              <a:t>ms = ms.join(kq.seasonal)            </a:t>
            </a:r>
            <a:r>
              <a:rPr sz="950">
                <a:solidFill>
                  <a:srgbClr val="8FC99A"/>
                </a:solidFill>
                <a:latin typeface="Courier New"/>
              </a:rPr>
              <a:t># thêm seasonal_24, seasonal_168</a:t>
            </a:r>
          </a:p>
          <a:p>
            <a:r>
              <a:rPr sz="950">
                <a:solidFill>
                  <a:srgbClr val="6B7385"/>
                </a:solidFill>
                <a:latin typeface="Courier New"/>
              </a:rPr>
              <a:t>15 </a:t>
            </a:r>
            <a:r>
              <a:rPr sz="950">
                <a:solidFill>
                  <a:srgbClr val="E6EAF0"/>
                </a:solidFill>
                <a:latin typeface="Courier New"/>
              </a:rPr>
              <a:t>print(do_manh(ms))                   </a:t>
            </a:r>
            <a:r>
              <a:rPr sz="950">
                <a:solidFill>
                  <a:srgbClr val="8FC99A"/>
                </a:solidFill>
                <a:latin typeface="Courier New"/>
              </a:rPr>
              <a:t># so với cùng hàm trên cổ điển</a:t>
            </a:r>
          </a:p>
        </p:txBody>
      </p:sp>
      <p:sp>
        <p:nvSpPr>
          <p:cNvPr id="8" name="TextBox 7"/>
          <p:cNvSpPr txBox="1"/>
          <p:nvPr/>
        </p:nvSpPr>
        <p:spPr>
          <a:xfrm>
            <a:off x="685800" y="4088384"/>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buoi-06/tu-hoc.ipynb, phần 5</a:t>
            </a:r>
          </a:p>
        </p:txBody>
      </p:sp>
      <p:sp>
        <p:nvSpPr>
          <p:cNvPr id="9" name="TextBox 8"/>
          <p:cNvSpPr txBox="1"/>
          <p:nvPr/>
        </p:nvSpPr>
        <p:spPr>
          <a:xfrm>
            <a:off x="548640" y="4445000"/>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6</a:t>
            </a:r>
          </a:p>
        </p:txBody>
      </p:sp>
      <p:sp>
        <p:nvSpPr>
          <p:cNvPr id="11" name="TextBox 10"/>
          <p:cNvSpPr txBox="1"/>
          <p:nvPr/>
        </p:nvSpPr>
        <p:spPr>
          <a:xfrm>
            <a:off x="1353312" y="4746752"/>
            <a:ext cx="2697480" cy="457200"/>
          </a:xfrm>
          <a:prstGeom prst="rect">
            <a:avLst/>
          </a:prstGeom>
          <a:noFill/>
        </p:spPr>
        <p:txBody>
          <a:bodyPr wrap="square" lIns="0" rIns="0" tIns="0" bIns="0" anchor="t">
            <a:spAutoFit/>
          </a:bodyPr>
          <a:lstStyle/>
          <a:p>
            <a:pPr algn="l"/>
            <a:r>
              <a:rPr sz="1050" b="0" i="0">
                <a:solidFill>
                  <a:srgbClr val="1B2A41"/>
                </a:solidFill>
                <a:latin typeface="Arial"/>
              </a:rPr>
              <a:t>F_T: phần dư nhỏ tới đâu so với xu hướng.</a:t>
            </a:r>
          </a:p>
        </p:txBody>
      </p:sp>
      <p:sp>
        <p:nvSpPr>
          <p:cNvPr id="12" name="Rounded Rectangle 11"/>
          <p:cNvSpPr/>
          <p:nvPr/>
        </p:nvSpPr>
        <p:spPr>
          <a:xfrm>
            <a:off x="548640" y="52222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7–8</a:t>
            </a:r>
          </a:p>
        </p:txBody>
      </p:sp>
      <p:sp>
        <p:nvSpPr>
          <p:cNvPr id="13" name="TextBox 12"/>
          <p:cNvSpPr txBox="1"/>
          <p:nvPr/>
        </p:nvSpPr>
        <p:spPr>
          <a:xfrm>
            <a:off x="1353312" y="5203952"/>
            <a:ext cx="2697480" cy="457200"/>
          </a:xfrm>
          <a:prstGeom prst="rect">
            <a:avLst/>
          </a:prstGeom>
          <a:noFill/>
        </p:spPr>
        <p:txBody>
          <a:bodyPr wrap="square" lIns="0" rIns="0" tIns="0" bIns="0" anchor="t">
            <a:spAutoFit/>
          </a:bodyPr>
          <a:lstStyle/>
          <a:p>
            <a:pPr algn="l"/>
            <a:r>
              <a:rPr sz="1050" b="0" i="0">
                <a:solidFill>
                  <a:srgbClr val="1B2A41"/>
                </a:solidFill>
                <a:latin typeface="Arial"/>
              </a:rPr>
              <a:t>F_S cho từng cột mùa vụ, cùng một phần dư.</a:t>
            </a:r>
          </a:p>
        </p:txBody>
      </p:sp>
      <p:sp>
        <p:nvSpPr>
          <p:cNvPr id="14" name="Rounded Rectangle 13"/>
          <p:cNvSpPr/>
          <p:nvPr/>
        </p:nvSpPr>
        <p:spPr>
          <a:xfrm>
            <a:off x="416052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12–14</a:t>
            </a:r>
          </a:p>
        </p:txBody>
      </p:sp>
      <p:sp>
        <p:nvSpPr>
          <p:cNvPr id="15" name="TextBox 14"/>
          <p:cNvSpPr txBox="1"/>
          <p:nvPr/>
        </p:nvSpPr>
        <p:spPr>
          <a:xfrm>
            <a:off x="4965192" y="4746752"/>
            <a:ext cx="2697480" cy="457200"/>
          </a:xfrm>
          <a:prstGeom prst="rect">
            <a:avLst/>
          </a:prstGeom>
          <a:noFill/>
        </p:spPr>
        <p:txBody>
          <a:bodyPr wrap="square" lIns="0" rIns="0" tIns="0" bIns="0" anchor="t">
            <a:spAutoFit/>
          </a:bodyPr>
          <a:lstStyle/>
          <a:p>
            <a:pPr algn="l"/>
            <a:r>
              <a:rPr sz="1050" b="0" i="0">
                <a:solidFill>
                  <a:srgbClr val="1B2A41"/>
                </a:solidFill>
                <a:latin typeface="Arial"/>
              </a:rPr>
              <a:t>Gom kết quả MSTL vào một bảng.</a:t>
            </a:r>
          </a:p>
        </p:txBody>
      </p:sp>
      <p:sp>
        <p:nvSpPr>
          <p:cNvPr id="16" name="Rounded Rectangle 15"/>
          <p:cNvSpPr/>
          <p:nvPr/>
        </p:nvSpPr>
        <p:spPr>
          <a:xfrm>
            <a:off x="4160520" y="52222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15</a:t>
            </a:r>
          </a:p>
        </p:txBody>
      </p:sp>
      <p:sp>
        <p:nvSpPr>
          <p:cNvPr id="17" name="TextBox 16"/>
          <p:cNvSpPr txBox="1"/>
          <p:nvPr/>
        </p:nvSpPr>
        <p:spPr>
          <a:xfrm>
            <a:off x="4965192" y="5203952"/>
            <a:ext cx="2697480" cy="457200"/>
          </a:xfrm>
          <a:prstGeom prst="rect">
            <a:avLst/>
          </a:prstGeom>
          <a:noFill/>
        </p:spPr>
        <p:txBody>
          <a:bodyPr wrap="square" lIns="0" rIns="0" tIns="0" bIns="0" anchor="t">
            <a:spAutoFit/>
          </a:bodyPr>
          <a:lstStyle/>
          <a:p>
            <a:pPr algn="l"/>
            <a:r>
              <a:rPr sz="1050" b="0" i="0">
                <a:solidFill>
                  <a:srgbClr val="1B2A41"/>
                </a:solidFill>
                <a:latin typeface="Arial"/>
              </a:rPr>
              <a:t>Tính độ mạnh để so giữa các phân rã.</a:t>
            </a:r>
          </a:p>
        </p:txBody>
      </p:sp>
      <p:sp>
        <p:nvSpPr>
          <p:cNvPr id="18" name="Rounded Rectangle 17"/>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F_S của mùa vụ ngày: cổ điển 0,618, MSTL 0,829; mùa vụ tuần của MSTL 0,415. Cùng chuỗi, khác phân rã, khác số.</a:t>
            </a:r>
          </a:p>
        </p:txBody>
      </p:sp>
      <p:sp>
        <p:nvSpPr>
          <p:cNvPr id="20" name="TextBox 19"/>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1" name="TextBox 20"/>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do_manh(bang)</a:t>
            </a:r>
            <a:r>
              <a:rPr sz="950" b="1" i="0">
                <a:solidFill>
                  <a:srgbClr val="5B6778"/>
                </a:solidFill>
                <a:latin typeface="Arial"/>
              </a:rPr>
              <a:t>   tự viết</a:t>
            </a:r>
          </a:p>
        </p:txBody>
      </p:sp>
      <p:sp>
        <p:nvSpPr>
          <p:cNvPr id="22" name="TextBox 21"/>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Trả về F_T và F_S, số từ 0 tới 1, càng gần 1 càng mạnh.</a:t>
            </a:r>
          </a:p>
        </p:txBody>
      </p:sp>
      <p:sp>
        <p:nvSpPr>
          <p:cNvPr id="23" name="TextBox 22"/>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var()</a:t>
            </a:r>
            <a:r>
              <a:rPr sz="950" b="1" i="0">
                <a:solidFill>
                  <a:srgbClr val="5B6778"/>
                </a:solidFill>
                <a:latin typeface="Arial"/>
              </a:rPr>
              <a:t>   pandas</a:t>
            </a:r>
          </a:p>
        </p:txBody>
      </p:sp>
      <p:sp>
        <p:nvSpPr>
          <p:cNvPr id="24" name="TextBox 23"/>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Phương sai của một cột: nó dao động mạnh cỡ nào.</a:t>
            </a:r>
          </a:p>
        </p:txBody>
      </p:sp>
      <p:sp>
        <p:nvSpPr>
          <p:cNvPr id="25" name="TextBox 24"/>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join</a:t>
            </a:r>
            <a:r>
              <a:rPr sz="950" b="1" i="0">
                <a:solidFill>
                  <a:srgbClr val="5B6778"/>
                </a:solidFill>
                <a:latin typeface="Arial"/>
              </a:rPr>
              <a:t>   pandas</a:t>
            </a:r>
          </a:p>
        </p:txBody>
      </p:sp>
      <p:sp>
        <p:nvSpPr>
          <p:cNvPr id="26" name="TextBox 25"/>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Ghép thêm cột từ bảng khác theo cùng mốc giờ.</a:t>
            </a:r>
          </a:p>
        </p:txBody>
      </p:sp>
      <p:sp>
        <p:nvSpPr>
          <p:cNvPr id="27" name="Rounded Rectangle 26"/>
          <p:cNvSpPr/>
          <p:nvPr/>
        </p:nvSpPr>
        <p:spPr>
          <a:xfrm>
            <a:off x="7863840" y="4059935"/>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d5ce75464ef7.png"/>
          <p:cNvPicPr>
            <a:picLocks noChangeAspect="1"/>
          </p:cNvPicPr>
          <p:nvPr/>
        </p:nvPicPr>
        <p:blipFill>
          <a:blip r:embed="rId2"/>
          <a:stretch>
            <a:fillRect/>
          </a:stretch>
        </p:blipFill>
        <p:spPr>
          <a:xfrm>
            <a:off x="8356091" y="4169663"/>
            <a:ext cx="2791968" cy="329184"/>
          </a:xfrm>
          <a:prstGeom prst="rect">
            <a:avLst/>
          </a:prstGeom>
        </p:spPr>
      </p:pic>
      <p:pic>
        <p:nvPicPr>
          <p:cNvPr id="29" name="Picture 28" descr="kn-do-manh-xu-huong-mua-vu.png"/>
          <p:cNvPicPr>
            <a:picLocks noChangeAspect="1"/>
          </p:cNvPicPr>
          <p:nvPr/>
        </p:nvPicPr>
        <p:blipFill>
          <a:blip r:embed="rId3"/>
          <a:stretch>
            <a:fillRect/>
          </a:stretch>
        </p:blipFill>
        <p:spPr>
          <a:xfrm>
            <a:off x="7987421" y="4745735"/>
            <a:ext cx="3529308" cy="1728216"/>
          </a:xfrm>
          <a:prstGeom prst="rect">
            <a:avLst/>
          </a:prstGeom>
        </p:spPr>
      </p:pic>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MSTL robust với một giờ hỏng</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6</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Tính trọng số robust tay, rồi thấy robust giữ lỗi một giờ trong phần dư.</a:t>
            </a:r>
          </a:p>
        </p:txBody>
      </p:sp>
      <p:sp>
        <p:nvSpPr>
          <p:cNvPr id="6" name="Rounded Rectangle 5"/>
          <p:cNvSpPr/>
          <p:nvPr/>
        </p:nvSpPr>
        <p:spPr>
          <a:xfrm>
            <a:off x="548640" y="1737360"/>
            <a:ext cx="7086600" cy="2597912"/>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277872"/>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numpy as np</a:t>
            </a:r>
          </a:p>
          <a:p>
            <a:r>
              <a:rPr sz="950">
                <a:solidFill>
                  <a:srgbClr val="6B7385"/>
                </a:solidFill>
                <a:latin typeface="Courier New"/>
              </a:rPr>
              <a:t> 2 </a:t>
            </a:r>
            <a:r>
              <a:rPr sz="950">
                <a:solidFill>
                  <a:srgbClr val="E6EAF0"/>
                </a:solidFill>
                <a:latin typeface="Courier New"/>
              </a:rPr>
              <a:t>import pandas as pd</a:t>
            </a:r>
          </a:p>
          <a:p>
            <a:r>
              <a:rPr sz="950">
                <a:solidFill>
                  <a:srgbClr val="6B7385"/>
                </a:solidFill>
                <a:latin typeface="Courier New"/>
              </a:rPr>
              <a:t> 3 </a:t>
            </a:r>
            <a:r>
              <a:rPr sz="950">
                <a:solidFill>
                  <a:srgbClr val="E6EAF0"/>
                </a:solidFill>
                <a:latin typeface="Courier New"/>
              </a:rPr>
              <a:t>from statsmodels.tsa.seasonal import MSTL</a:t>
            </a:r>
          </a:p>
          <a:p>
            <a:r>
              <a:rPr sz="950">
                <a:solidFill>
                  <a:srgbClr val="6B7385"/>
                </a:solidFill>
                <a:latin typeface="Courier New"/>
              </a:rPr>
              <a:t> 4 </a:t>
            </a:r>
          </a:p>
          <a:p>
            <a:r>
              <a:rPr sz="950">
                <a:solidFill>
                  <a:srgbClr val="6B7385"/>
                </a:solidFill>
                <a:latin typeface="Courier New"/>
              </a:rPr>
              <a:t> 5 </a:t>
            </a:r>
            <a:r>
              <a:rPr sz="950">
                <a:solidFill>
                  <a:srgbClr val="E6EAF0"/>
                </a:solidFill>
                <a:latin typeface="Courier New"/>
              </a:rPr>
              <a:t>phan_du = np.array([1, -2, 1, 20, -1])</a:t>
            </a:r>
          </a:p>
          <a:p>
            <a:r>
              <a:rPr sz="950">
                <a:solidFill>
                  <a:srgbClr val="6B7385"/>
                </a:solidFill>
                <a:latin typeface="Courier New"/>
              </a:rPr>
              <a:t> 6 </a:t>
            </a:r>
            <a:r>
              <a:rPr sz="950">
                <a:solidFill>
                  <a:srgbClr val="E6EAF0"/>
                </a:solidFill>
                <a:latin typeface="Courier New"/>
              </a:rPr>
              <a:t>u = np.abs(phan_du) / (6 * np.median(np.abs(phan_du)))</a:t>
            </a:r>
          </a:p>
          <a:p>
            <a:r>
              <a:rPr sz="950">
                <a:solidFill>
                  <a:srgbClr val="6B7385"/>
                </a:solidFill>
                <a:latin typeface="Courier New"/>
              </a:rPr>
              <a:t> 7 </a:t>
            </a:r>
            <a:r>
              <a:rPr sz="950">
                <a:solidFill>
                  <a:srgbClr val="E6EAF0"/>
                </a:solidFill>
                <a:latin typeface="Courier New"/>
              </a:rPr>
              <a:t>trong_so = np.where(u &lt; 1, (1 - u**2) ** 2, 0)   </a:t>
            </a:r>
            <a:r>
              <a:rPr sz="950">
                <a:solidFill>
                  <a:srgbClr val="8FC99A"/>
                </a:solidFill>
                <a:latin typeface="Courier New"/>
              </a:rPr>
              <a:t># điểm lạ ra 0</a:t>
            </a:r>
          </a:p>
          <a:p>
            <a:r>
              <a:rPr sz="950">
                <a:solidFill>
                  <a:srgbClr val="6B7385"/>
                </a:solidFill>
                <a:latin typeface="Courier New"/>
              </a:rPr>
              <a:t> 8 </a:t>
            </a:r>
          </a:p>
          <a:p>
            <a:r>
              <a:rPr sz="950">
                <a:solidFill>
                  <a:srgbClr val="6B7385"/>
                </a:solidFill>
                <a:latin typeface="Courier New"/>
              </a:rPr>
              <a:t> 9 </a:t>
            </a:r>
            <a:r>
              <a:rPr sz="950">
                <a:solidFill>
                  <a:srgbClr val="8FC99A"/>
                </a:solidFill>
                <a:latin typeface="Courier New"/>
              </a:rPr>
              <a:t># y: nhu cầu PJM theo giờ; ms: kết quả MSTL không robust</a:t>
            </a:r>
          </a:p>
          <a:p>
            <a:r>
              <a:rPr sz="950">
                <a:solidFill>
                  <a:srgbClr val="6B7385"/>
                </a:solidFill>
                <a:latin typeface="Courier New"/>
              </a:rPr>
              <a:t>10 </a:t>
            </a:r>
            <a:r>
              <a:rPr sz="950">
                <a:solidFill>
                  <a:srgbClr val="E6EAF0"/>
                </a:solidFill>
                <a:latin typeface="Courier New"/>
              </a:rPr>
              <a:t>rb = MSTL(y, periods=(24, 168), stl_kwargs={"robust": True}).fit()</a:t>
            </a:r>
          </a:p>
          <a:p>
            <a:r>
              <a:rPr sz="950">
                <a:solidFill>
                  <a:srgbClr val="6B7385"/>
                </a:solidFill>
                <a:latin typeface="Courier New"/>
              </a:rPr>
              <a:t>11 </a:t>
            </a:r>
            <a:r>
              <a:rPr sz="950">
                <a:solidFill>
                  <a:srgbClr val="E6EAF0"/>
                </a:solidFill>
                <a:latin typeface="Courier New"/>
              </a:rPr>
              <a:t>t0 = pd.Timestamp("2024-11-21 17:00")            </a:t>
            </a:r>
            <a:r>
              <a:rPr sz="950">
                <a:solidFill>
                  <a:srgbClr val="8FC99A"/>
                </a:solidFill>
                <a:latin typeface="Courier New"/>
              </a:rPr>
              <a:t># giờ hỏng</a:t>
            </a:r>
          </a:p>
          <a:p>
            <a:r>
              <a:rPr sz="950">
                <a:solidFill>
                  <a:srgbClr val="6B7385"/>
                </a:solidFill>
                <a:latin typeface="Courier New"/>
              </a:rPr>
              <a:t>12 </a:t>
            </a:r>
            <a:r>
              <a:rPr sz="950">
                <a:solidFill>
                  <a:srgbClr val="E6EAF0"/>
                </a:solidFill>
                <a:latin typeface="Courier New"/>
              </a:rPr>
              <a:t>hom_truoc = t0 - pd.Timedelta("1D")              </a:t>
            </a:r>
            <a:r>
              <a:rPr sz="950">
                <a:solidFill>
                  <a:srgbClr val="8FC99A"/>
                </a:solidFill>
                <a:latin typeface="Courier New"/>
              </a:rPr>
              <a:t># ngày không lỗi</a:t>
            </a:r>
          </a:p>
          <a:p>
            <a:r>
              <a:rPr sz="950">
                <a:solidFill>
                  <a:srgbClr val="6B7385"/>
                </a:solidFill>
                <a:latin typeface="Courier New"/>
              </a:rPr>
              <a:t>13 </a:t>
            </a:r>
            <a:r>
              <a:rPr sz="950">
                <a:solidFill>
                  <a:srgbClr val="E6EAF0"/>
                </a:solidFill>
                <a:latin typeface="Courier New"/>
              </a:rPr>
              <a:t>print(ms.seasonal.loc[hom_truoc, "seasonal_24"],</a:t>
            </a:r>
          </a:p>
          <a:p>
            <a:r>
              <a:rPr sz="950">
                <a:solidFill>
                  <a:srgbClr val="6B7385"/>
                </a:solidFill>
                <a:latin typeface="Courier New"/>
              </a:rPr>
              <a:t>14 </a:t>
            </a:r>
            <a:r>
              <a:rPr sz="950">
                <a:solidFill>
                  <a:srgbClr val="E6EAF0"/>
                </a:solidFill>
                <a:latin typeface="Courier New"/>
              </a:rPr>
              <a:t>      rb.seasonal.loc[hom_truoc, "seasonal_24"])</a:t>
            </a:r>
          </a:p>
          <a:p>
            <a:r>
              <a:rPr sz="950">
                <a:solidFill>
                  <a:srgbClr val="6B7385"/>
                </a:solidFill>
                <a:latin typeface="Courier New"/>
              </a:rPr>
              <a:t>15 </a:t>
            </a:r>
            <a:r>
              <a:rPr sz="950">
                <a:solidFill>
                  <a:srgbClr val="E6EAF0"/>
                </a:solidFill>
                <a:latin typeface="Courier New"/>
              </a:rPr>
              <a:t>print(ms.resid[t0], rb.resid[t0])                </a:t>
            </a:r>
            <a:r>
              <a:rPr sz="950">
                <a:solidFill>
                  <a:srgbClr val="8FC99A"/>
                </a:solidFill>
                <a:latin typeface="Courier New"/>
              </a:rPr>
              <a:t># lỗi nằm ở đâu</a:t>
            </a:r>
          </a:p>
        </p:txBody>
      </p:sp>
      <p:sp>
        <p:nvSpPr>
          <p:cNvPr id="8" name="TextBox 7"/>
          <p:cNvSpPr txBox="1"/>
          <p:nvPr/>
        </p:nvSpPr>
        <p:spPr>
          <a:xfrm>
            <a:off x="685800" y="4088384"/>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buoi-06/tu-hoc.ipynb, phần 6</a:t>
            </a:r>
          </a:p>
        </p:txBody>
      </p:sp>
      <p:sp>
        <p:nvSpPr>
          <p:cNvPr id="9" name="TextBox 8"/>
          <p:cNvSpPr txBox="1"/>
          <p:nvPr/>
        </p:nvSpPr>
        <p:spPr>
          <a:xfrm>
            <a:off x="548640" y="4445000"/>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5–6</a:t>
            </a:r>
          </a:p>
        </p:txBody>
      </p:sp>
      <p:sp>
        <p:nvSpPr>
          <p:cNvPr id="11" name="TextBox 10"/>
          <p:cNvSpPr txBox="1"/>
          <p:nvPr/>
        </p:nvSpPr>
        <p:spPr>
          <a:xfrm>
            <a:off x="1353312" y="4746752"/>
            <a:ext cx="2697480" cy="347133"/>
          </a:xfrm>
          <a:prstGeom prst="rect">
            <a:avLst/>
          </a:prstGeom>
          <a:noFill/>
        </p:spPr>
        <p:txBody>
          <a:bodyPr wrap="square" lIns="0" rIns="0" tIns="0" bIns="0" anchor="t">
            <a:spAutoFit/>
          </a:bodyPr>
          <a:lstStyle/>
          <a:p>
            <a:pPr algn="l"/>
            <a:r>
              <a:rPr sz="1050" b="0" i="0">
                <a:solidFill>
                  <a:srgbClr val="1B2A41"/>
                </a:solidFill>
                <a:latin typeface="Arial"/>
              </a:rPr>
              <a:t>Chia |phần dư| cho 6 lần trung vị của nó.</a:t>
            </a:r>
          </a:p>
        </p:txBody>
      </p:sp>
      <p:sp>
        <p:nvSpPr>
          <p:cNvPr id="12" name="Rounded Rectangle 11"/>
          <p:cNvSpPr/>
          <p:nvPr/>
        </p:nvSpPr>
        <p:spPr>
          <a:xfrm>
            <a:off x="548640" y="51121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7</a:t>
            </a:r>
          </a:p>
        </p:txBody>
      </p:sp>
      <p:sp>
        <p:nvSpPr>
          <p:cNvPr id="13" name="TextBox 12"/>
          <p:cNvSpPr txBox="1"/>
          <p:nvPr/>
        </p:nvSpPr>
        <p:spPr>
          <a:xfrm>
            <a:off x="1353312" y="5093885"/>
            <a:ext cx="2697480" cy="347133"/>
          </a:xfrm>
          <a:prstGeom prst="rect">
            <a:avLst/>
          </a:prstGeom>
          <a:noFill/>
        </p:spPr>
        <p:txBody>
          <a:bodyPr wrap="square" lIns="0" rIns="0" tIns="0" bIns="0" anchor="t">
            <a:spAutoFit/>
          </a:bodyPr>
          <a:lstStyle/>
          <a:p>
            <a:pPr algn="l"/>
            <a:r>
              <a:rPr sz="1050" b="0" i="0">
                <a:solidFill>
                  <a:srgbClr val="1B2A41"/>
                </a:solidFill>
                <a:latin typeface="Arial"/>
              </a:rPr>
              <a:t>Trọng số: gần 1 là tin, 0 là bỏ qua.</a:t>
            </a:r>
          </a:p>
        </p:txBody>
      </p:sp>
      <p:sp>
        <p:nvSpPr>
          <p:cNvPr id="14" name="Rounded Rectangle 13"/>
          <p:cNvSpPr/>
          <p:nvPr/>
        </p:nvSpPr>
        <p:spPr>
          <a:xfrm>
            <a:off x="548640" y="54593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10</a:t>
            </a:r>
          </a:p>
        </p:txBody>
      </p:sp>
      <p:sp>
        <p:nvSpPr>
          <p:cNvPr id="15" name="TextBox 14"/>
          <p:cNvSpPr txBox="1"/>
          <p:nvPr/>
        </p:nvSpPr>
        <p:spPr>
          <a:xfrm>
            <a:off x="1353312" y="5441018"/>
            <a:ext cx="2697480" cy="347133"/>
          </a:xfrm>
          <a:prstGeom prst="rect">
            <a:avLst/>
          </a:prstGeom>
          <a:noFill/>
        </p:spPr>
        <p:txBody>
          <a:bodyPr wrap="square" lIns="0" rIns="0" tIns="0" bIns="0" anchor="t">
            <a:spAutoFit/>
          </a:bodyPr>
          <a:lstStyle/>
          <a:p>
            <a:pPr algn="l"/>
            <a:r>
              <a:rPr sz="1050" b="0" i="0">
                <a:solidFill>
                  <a:srgbClr val="1B2A41"/>
                </a:solidFill>
                <a:latin typeface="Arial"/>
              </a:rPr>
              <a:t>Bật robust cho từng lượt STL bên trong.</a:t>
            </a:r>
          </a:p>
        </p:txBody>
      </p:sp>
      <p:sp>
        <p:nvSpPr>
          <p:cNvPr id="16" name="Rounded Rectangle 15"/>
          <p:cNvSpPr/>
          <p:nvPr/>
        </p:nvSpPr>
        <p:spPr>
          <a:xfrm>
            <a:off x="416052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13–14</a:t>
            </a:r>
          </a:p>
        </p:txBody>
      </p:sp>
      <p:sp>
        <p:nvSpPr>
          <p:cNvPr id="17" name="TextBox 16"/>
          <p:cNvSpPr txBox="1"/>
          <p:nvPr/>
        </p:nvSpPr>
        <p:spPr>
          <a:xfrm>
            <a:off x="4965192" y="4746752"/>
            <a:ext cx="2697480" cy="347133"/>
          </a:xfrm>
          <a:prstGeom prst="rect">
            <a:avLst/>
          </a:prstGeom>
          <a:noFill/>
        </p:spPr>
        <p:txBody>
          <a:bodyPr wrap="square" lIns="0" rIns="0" tIns="0" bIns="0" anchor="t">
            <a:spAutoFit/>
          </a:bodyPr>
          <a:lstStyle/>
          <a:p>
            <a:pPr algn="l"/>
            <a:r>
              <a:rPr sz="1050" b="0" i="0">
                <a:solidFill>
                  <a:srgbClr val="1B2A41"/>
                </a:solidFill>
                <a:latin typeface="Arial"/>
              </a:rPr>
              <a:t>Mùa vụ ngày hôm trước có bị kéo lệch không.</a:t>
            </a:r>
          </a:p>
        </p:txBody>
      </p:sp>
      <p:sp>
        <p:nvSpPr>
          <p:cNvPr id="18" name="Rounded Rectangle 17"/>
          <p:cNvSpPr/>
          <p:nvPr/>
        </p:nvSpPr>
        <p:spPr>
          <a:xfrm>
            <a:off x="4160520" y="51121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15</a:t>
            </a:r>
          </a:p>
        </p:txBody>
      </p:sp>
      <p:sp>
        <p:nvSpPr>
          <p:cNvPr id="19" name="TextBox 18"/>
          <p:cNvSpPr txBox="1"/>
          <p:nvPr/>
        </p:nvSpPr>
        <p:spPr>
          <a:xfrm>
            <a:off x="4965192" y="5093885"/>
            <a:ext cx="2697480" cy="347133"/>
          </a:xfrm>
          <a:prstGeom prst="rect">
            <a:avLst/>
          </a:prstGeom>
          <a:noFill/>
        </p:spPr>
        <p:txBody>
          <a:bodyPr wrap="square" lIns="0" rIns="0" tIns="0" bIns="0" anchor="t">
            <a:spAutoFit/>
          </a:bodyPr>
          <a:lstStyle/>
          <a:p>
            <a:pPr algn="l"/>
            <a:r>
              <a:rPr sz="1050" b="0" i="0">
                <a:solidFill>
                  <a:srgbClr val="1B2A41"/>
                </a:solidFill>
                <a:latin typeface="Arial"/>
              </a:rPr>
              <a:t>Phần dư ở giờ hỏng: robust giữ trọn cú rơi.</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Ví dụ tay: điểm 20 trọng số 0, điểm −2 là 0,79. Không robust, mùa vụ ngày 20/11 lệch khoảng 6.200 MW; robust giữ lỗi trong phần dư.</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np.median</a:t>
            </a:r>
            <a:r>
              <a:rPr sz="950" b="1" i="0">
                <a:solidFill>
                  <a:srgbClr val="5B6778"/>
                </a:solidFill>
                <a:latin typeface="Arial"/>
              </a:rPr>
              <a:t>   numpy</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Trung vị: số đứng giữa, không bị điểm lạ kéo đi.</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np.where(điều kiện, a, b)</a:t>
            </a:r>
            <a:r>
              <a:rPr sz="950" b="1" i="0">
                <a:solidFill>
                  <a:srgbClr val="5B6778"/>
                </a:solidFill>
                <a:latin typeface="Arial"/>
              </a:rPr>
              <a:t>   numpy</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Chỗ nào đúng điều kiện lấy a, còn lại lấy b.</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stl_kwargs={"robust": True}</a:t>
            </a:r>
            <a:r>
              <a:rPr sz="950" b="1" i="0">
                <a:solidFill>
                  <a:srgbClr val="5B6778"/>
                </a:solidFill>
                <a:latin typeface="Arial"/>
              </a:rPr>
              <a:t>   statsmodels</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Bảo MSTL giảm trọng số điểm có phần dư quá lớn.</a:t>
            </a:r>
          </a:p>
        </p:txBody>
      </p:sp>
      <p:sp>
        <p:nvSpPr>
          <p:cNvPr id="29" name="Rounded Rectangle 28"/>
          <p:cNvSpPr/>
          <p:nvPr/>
        </p:nvSpPr>
        <p:spPr>
          <a:xfrm>
            <a:off x="7863840" y="4059935"/>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77bb50eb9ecf.png"/>
          <p:cNvPicPr>
            <a:picLocks noChangeAspect="1"/>
          </p:cNvPicPr>
          <p:nvPr/>
        </p:nvPicPr>
        <p:blipFill>
          <a:blip r:embed="rId2"/>
          <a:stretch>
            <a:fillRect/>
          </a:stretch>
        </p:blipFill>
        <p:spPr>
          <a:xfrm>
            <a:off x="8203691" y="4157471"/>
            <a:ext cx="3096768" cy="353568"/>
          </a:xfrm>
          <a:prstGeom prst="rect">
            <a:avLst/>
          </a:prstGeom>
        </p:spPr>
      </p:pic>
      <p:pic>
        <p:nvPicPr>
          <p:cNvPr id="31" name="Picture 30" descr="kn-robust.png"/>
          <p:cNvPicPr>
            <a:picLocks noChangeAspect="1"/>
          </p:cNvPicPr>
          <p:nvPr/>
        </p:nvPicPr>
        <p:blipFill>
          <a:blip r:embed="rId3"/>
          <a:stretch>
            <a:fillRect/>
          </a:stretch>
        </p:blipFill>
        <p:spPr>
          <a:xfrm>
            <a:off x="8062371" y="4745735"/>
            <a:ext cx="3379408" cy="1728216"/>
          </a:xfrm>
          <a:prstGeom prst="rect">
            <a:avLst/>
          </a:prstGeom>
        </p:spPr>
      </p:pic>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ACF tự viết và ba hình dạng</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7</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Tự tính ACF bằng vài dòng NumPy, khớp với thư viện, rồi nhìn ba hình dạng cần nhớ.</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from statsmodels.tsa.stattools import acf</a:t>
            </a:r>
          </a:p>
          <a:p>
            <a:r>
              <a:rPr sz="850">
                <a:solidFill>
                  <a:srgbClr val="6B7385"/>
                </a:solidFill>
                <a:latin typeface="Courier New"/>
              </a:rPr>
              <a:t> 3 </a:t>
            </a:r>
          </a:p>
          <a:p>
            <a:r>
              <a:rPr sz="850">
                <a:solidFill>
                  <a:srgbClr val="6B7385"/>
                </a:solidFill>
                <a:latin typeface="Courier New"/>
              </a:rPr>
              <a:t> 4 </a:t>
            </a:r>
            <a:r>
              <a:rPr sz="850">
                <a:solidFill>
                  <a:srgbClr val="E6EAF0"/>
                </a:solidFill>
                <a:latin typeface="Courier New"/>
              </a:rPr>
              <a:t>def acf_tu_viet(y, so_tre):</a:t>
            </a:r>
          </a:p>
          <a:p>
            <a:r>
              <a:rPr sz="850">
                <a:solidFill>
                  <a:srgbClr val="6B7385"/>
                </a:solidFill>
                <a:latin typeface="Courier New"/>
              </a:rPr>
              <a:t> 5 </a:t>
            </a:r>
            <a:r>
              <a:rPr sz="850">
                <a:solidFill>
                  <a:srgbClr val="E6EAF0"/>
                </a:solidFill>
                <a:latin typeface="Courier New"/>
              </a:rPr>
              <a:t>    y = np.asarray(y, dtype=float)</a:t>
            </a:r>
          </a:p>
          <a:p>
            <a:r>
              <a:rPr sz="850">
                <a:solidFill>
                  <a:srgbClr val="6B7385"/>
                </a:solidFill>
                <a:latin typeface="Courier New"/>
              </a:rPr>
              <a:t> 6 </a:t>
            </a:r>
            <a:r>
              <a:rPr sz="850">
                <a:solidFill>
                  <a:srgbClr val="E6EAF0"/>
                </a:solidFill>
                <a:latin typeface="Courier New"/>
              </a:rPr>
              <a:t>    lech = y - np.nanmean(y)                  </a:t>
            </a:r>
            <a:r>
              <a:rPr sz="850">
                <a:solidFill>
                  <a:srgbClr val="8FC99A"/>
                </a:solidFill>
                <a:latin typeface="Courier New"/>
              </a:rPr>
              <a:t># độ lệch khỏi trung bình</a:t>
            </a:r>
          </a:p>
          <a:p>
            <a:r>
              <a:rPr sz="850">
                <a:solidFill>
                  <a:srgbClr val="6B7385"/>
                </a:solidFill>
                <a:latin typeface="Courier New"/>
              </a:rPr>
              <a:t> 7 </a:t>
            </a:r>
            <a:r>
              <a:rPr sz="850">
                <a:solidFill>
                  <a:srgbClr val="E6EAF0"/>
                </a:solidFill>
                <a:latin typeface="Courier New"/>
              </a:rPr>
              <a:t>    mau = np.nansum(lech**2)                  </a:t>
            </a:r>
            <a:r>
              <a:rPr sz="850">
                <a:solidFill>
                  <a:srgbClr val="8FC99A"/>
                </a:solidFill>
                <a:latin typeface="Courier New"/>
              </a:rPr>
              <a:t># mẫu: tính trên CẢ chuỗi</a:t>
            </a:r>
          </a:p>
          <a:p>
            <a:r>
              <a:rPr sz="850">
                <a:solidFill>
                  <a:srgbClr val="6B7385"/>
                </a:solidFill>
                <a:latin typeface="Courier New"/>
              </a:rPr>
              <a:t> 8 </a:t>
            </a:r>
            <a:r>
              <a:rPr sz="850">
                <a:solidFill>
                  <a:srgbClr val="E6EAF0"/>
                </a:solidFill>
                <a:latin typeface="Courier New"/>
              </a:rPr>
              <a:t>    return np.array([1.0] + [np.nansum(lech[k:] * lech[:-k]) / mau</a:t>
            </a:r>
          </a:p>
          <a:p>
            <a:r>
              <a:rPr sz="850">
                <a:solidFill>
                  <a:srgbClr val="6B7385"/>
                </a:solidFill>
                <a:latin typeface="Courier New"/>
              </a:rPr>
              <a:t> 9 </a:t>
            </a:r>
            <a:r>
              <a:rPr sz="850">
                <a:solidFill>
                  <a:srgbClr val="E6EAF0"/>
                </a:solidFill>
                <a:latin typeface="Courier New"/>
              </a:rPr>
              <a:t>                             for k in range(1, so_tre + 1)])</a:t>
            </a:r>
          </a:p>
          <a:p>
            <a:r>
              <a:rPr sz="850">
                <a:solidFill>
                  <a:srgbClr val="6B7385"/>
                </a:solidFill>
                <a:latin typeface="Courier New"/>
              </a:rPr>
              <a:t>10 </a:t>
            </a:r>
          </a:p>
          <a:p>
            <a:r>
              <a:rPr sz="850">
                <a:solidFill>
                  <a:srgbClr val="6B7385"/>
                </a:solidFill>
                <a:latin typeface="Courier New"/>
              </a:rPr>
              <a:t>11 </a:t>
            </a:r>
            <a:r>
              <a:rPr sz="850">
                <a:solidFill>
                  <a:srgbClr val="E6EAF0"/>
                </a:solidFill>
                <a:latin typeface="Courier New"/>
              </a:rPr>
              <a:t>y = [2, 3, 5, 6, 5, 3]</a:t>
            </a:r>
          </a:p>
          <a:p>
            <a:r>
              <a:rPr sz="850">
                <a:solidFill>
                  <a:srgbClr val="6B7385"/>
                </a:solidFill>
                <a:latin typeface="Courier New"/>
              </a:rPr>
              <a:t>12 </a:t>
            </a:r>
            <a:r>
              <a:rPr sz="850">
                <a:solidFill>
                  <a:srgbClr val="E6EAF0"/>
                </a:solidFill>
                <a:latin typeface="Courier New"/>
              </a:rPr>
              <a:t>print(acf_tu_viet(y, 2)[1:])                  </a:t>
            </a:r>
            <a:r>
              <a:rPr sz="850">
                <a:solidFill>
                  <a:srgbClr val="8FC99A"/>
                </a:solidFill>
                <a:latin typeface="Courier New"/>
              </a:rPr>
              <a:t># tự viết</a:t>
            </a:r>
          </a:p>
          <a:p>
            <a:r>
              <a:rPr sz="850">
                <a:solidFill>
                  <a:srgbClr val="6B7385"/>
                </a:solidFill>
                <a:latin typeface="Courier New"/>
              </a:rPr>
              <a:t>13 </a:t>
            </a:r>
            <a:r>
              <a:rPr sz="850">
                <a:solidFill>
                  <a:srgbClr val="E6EAF0"/>
                </a:solidFill>
                <a:latin typeface="Courier New"/>
              </a:rPr>
              <a:t>print(acf(y, nlags=2, adjusted=False)[1:])    </a:t>
            </a:r>
            <a:r>
              <a:rPr sz="850">
                <a:solidFill>
                  <a:srgbClr val="8FC99A"/>
                </a:solidFill>
                <a:latin typeface="Courier New"/>
              </a:rPr>
              <a:t># thư viện, phải ra y hệt</a:t>
            </a:r>
          </a:p>
          <a:p>
            <a:r>
              <a:rPr sz="850">
                <a:solidFill>
                  <a:srgbClr val="6B7385"/>
                </a:solidFill>
                <a:latin typeface="Courier New"/>
              </a:rPr>
              <a:t>14 </a:t>
            </a:r>
            <a:r>
              <a:rPr sz="850">
                <a:solidFill>
                  <a:srgbClr val="E6EAF0"/>
                </a:solidFill>
                <a:latin typeface="Courier New"/>
              </a:rPr>
              <a:t>e = np.random.default_rng(42).normal(size=500)</a:t>
            </a:r>
          </a:p>
          <a:p>
            <a:r>
              <a:rPr sz="850">
                <a:solidFill>
                  <a:srgbClr val="6B7385"/>
                </a:solidFill>
                <a:latin typeface="Courier New"/>
              </a:rPr>
              <a:t>15 </a:t>
            </a:r>
            <a:r>
              <a:rPr sz="850">
                <a:solidFill>
                  <a:srgbClr val="E6EAF0"/>
                </a:solidFill>
                <a:latin typeface="Courier New"/>
              </a:rPr>
              <a:t>ba = {"nhiễu trắng": e, "random walk": e.cumsum()}</a:t>
            </a:r>
          </a:p>
          <a:p>
            <a:r>
              <a:rPr sz="850">
                <a:solidFill>
                  <a:srgbClr val="6B7385"/>
                </a:solidFill>
                <a:latin typeface="Courier New"/>
              </a:rPr>
              <a:t>16 </a:t>
            </a:r>
            <a:r>
              <a:rPr sz="850">
                <a:solidFill>
                  <a:srgbClr val="E6EAF0"/>
                </a:solidFill>
                <a:latin typeface="Courier New"/>
              </a:rPr>
              <a:t>r = {ten: acf_tu_viet(v, 30) for ten, v in ba.items()}</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buoi-07/tu-hoc.ipynb, phần 1</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6–7</a:t>
            </a:r>
          </a:p>
        </p:txBody>
      </p:sp>
      <p:sp>
        <p:nvSpPr>
          <p:cNvPr id="11" name="TextBox 10"/>
          <p:cNvSpPr txBox="1"/>
          <p:nvPr/>
        </p:nvSpPr>
        <p:spPr>
          <a:xfrm>
            <a:off x="1353312" y="4634357"/>
            <a:ext cx="2697480" cy="457200"/>
          </a:xfrm>
          <a:prstGeom prst="rect">
            <a:avLst/>
          </a:prstGeom>
          <a:noFill/>
        </p:spPr>
        <p:txBody>
          <a:bodyPr wrap="square" lIns="0" rIns="0" tIns="0" bIns="0" anchor="t">
            <a:spAutoFit/>
          </a:bodyPr>
          <a:lstStyle/>
          <a:p>
            <a:pPr algn="l"/>
            <a:r>
              <a:rPr sz="1050" b="0" i="0">
                <a:solidFill>
                  <a:srgbClr val="1B2A41"/>
                </a:solidFill>
                <a:latin typeface="Arial"/>
              </a:rPr>
              <a:t>Lấy độ lệch, mẫu số chung cho mọi trễ.</a:t>
            </a:r>
          </a:p>
        </p:txBody>
      </p:sp>
      <p:sp>
        <p:nvSpPr>
          <p:cNvPr id="12" name="Rounded Rectangle 11"/>
          <p:cNvSpPr/>
          <p:nvPr/>
        </p:nvSpPr>
        <p:spPr>
          <a:xfrm>
            <a:off x="548640" y="51098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8–9</a:t>
            </a:r>
          </a:p>
        </p:txBody>
      </p:sp>
      <p:sp>
        <p:nvSpPr>
          <p:cNvPr id="13" name="TextBox 12"/>
          <p:cNvSpPr txBox="1"/>
          <p:nvPr/>
        </p:nvSpPr>
        <p:spPr>
          <a:xfrm>
            <a:off x="1353312" y="5091557"/>
            <a:ext cx="2697480" cy="457200"/>
          </a:xfrm>
          <a:prstGeom prst="rect">
            <a:avLst/>
          </a:prstGeom>
          <a:noFill/>
        </p:spPr>
        <p:txBody>
          <a:bodyPr wrap="square" lIns="0" rIns="0" tIns="0" bIns="0" anchor="t">
            <a:spAutoFit/>
          </a:bodyPr>
          <a:lstStyle/>
          <a:p>
            <a:pPr algn="l"/>
            <a:r>
              <a:rPr sz="1050" b="0" i="0">
                <a:solidFill>
                  <a:srgbClr val="1B2A41"/>
                </a:solidFill>
                <a:latin typeface="Arial"/>
              </a:rPr>
              <a:t>Mỗi trễ k: cộng tích hai độ lệch cách k bước.</a:t>
            </a:r>
          </a:p>
        </p:txBody>
      </p:sp>
      <p:sp>
        <p:nvSpPr>
          <p:cNvPr id="14" name="Rounded Rectangle 13"/>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11–13</a:t>
            </a:r>
          </a:p>
        </p:txBody>
      </p:sp>
      <p:sp>
        <p:nvSpPr>
          <p:cNvPr id="15" name="TextBox 14"/>
          <p:cNvSpPr txBox="1"/>
          <p:nvPr/>
        </p:nvSpPr>
        <p:spPr>
          <a:xfrm>
            <a:off x="4965192" y="4634357"/>
            <a:ext cx="2697480" cy="457200"/>
          </a:xfrm>
          <a:prstGeom prst="rect">
            <a:avLst/>
          </a:prstGeom>
          <a:noFill/>
        </p:spPr>
        <p:txBody>
          <a:bodyPr wrap="square" lIns="0" rIns="0" tIns="0" bIns="0" anchor="t">
            <a:spAutoFit/>
          </a:bodyPr>
          <a:lstStyle/>
          <a:p>
            <a:pPr algn="l"/>
            <a:r>
              <a:rPr sz="1050" b="0" i="0">
                <a:solidFill>
                  <a:srgbClr val="1B2A41"/>
                </a:solidFill>
                <a:latin typeface="Arial"/>
              </a:rPr>
              <a:t>Ví dụ tay sáu số, so với statsmodels.</a:t>
            </a:r>
          </a:p>
        </p:txBody>
      </p:sp>
      <p:sp>
        <p:nvSpPr>
          <p:cNvPr id="16" name="Rounded Rectangle 15"/>
          <p:cNvSpPr/>
          <p:nvPr/>
        </p:nvSpPr>
        <p:spPr>
          <a:xfrm>
            <a:off x="4160520" y="51098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14–16</a:t>
            </a:r>
          </a:p>
        </p:txBody>
      </p:sp>
      <p:sp>
        <p:nvSpPr>
          <p:cNvPr id="17" name="TextBox 16"/>
          <p:cNvSpPr txBox="1"/>
          <p:nvPr/>
        </p:nvSpPr>
        <p:spPr>
          <a:xfrm>
            <a:off x="4965192" y="5091557"/>
            <a:ext cx="2697480" cy="457200"/>
          </a:xfrm>
          <a:prstGeom prst="rect">
            <a:avLst/>
          </a:prstGeom>
          <a:noFill/>
        </p:spPr>
        <p:txBody>
          <a:bodyPr wrap="square" lIns="0" rIns="0" tIns="0" bIns="0" anchor="t">
            <a:spAutoFit/>
          </a:bodyPr>
          <a:lstStyle/>
          <a:p>
            <a:pPr algn="l"/>
            <a:r>
              <a:rPr sz="1050" b="0" i="0">
                <a:solidFill>
                  <a:srgbClr val="1B2A41"/>
                </a:solidFill>
                <a:latin typeface="Arial"/>
              </a:rPr>
              <a:t>Tính ACF cho nhiễu trắng và random walk.</a:t>
            </a:r>
          </a:p>
        </p:txBody>
      </p:sp>
      <p:sp>
        <p:nvSpPr>
          <p:cNvPr id="18" name="Rounded Rectangle 17"/>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r1 = 0,333 và r2 = −0,417 như tính tay. Nhiễu trắng quanh 0; random walk giảm rất chậm; lượt thuê có đỉnh ở trễ 24, 48.</a:t>
            </a:r>
          </a:p>
        </p:txBody>
      </p:sp>
      <p:sp>
        <p:nvSpPr>
          <p:cNvPr id="20" name="TextBox 19"/>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1" name="TextBox 20"/>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acf_tu_viet</a:t>
            </a:r>
            <a:r>
              <a:rPr sz="950" b="1" i="0">
                <a:solidFill>
                  <a:srgbClr val="5B6778"/>
                </a:solidFill>
                <a:latin typeface="Arial"/>
              </a:rPr>
              <a:t>   tự viết</a:t>
            </a:r>
          </a:p>
        </p:txBody>
      </p:sp>
      <p:sp>
        <p:nvSpPr>
          <p:cNvPr id="22" name="TextBox 21"/>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Hệ số tự tương quan r_k cho các trễ 0 tới so_tre, trễ 0 luôn là 1.</a:t>
            </a:r>
          </a:p>
        </p:txBody>
      </p:sp>
      <p:sp>
        <p:nvSpPr>
          <p:cNvPr id="23" name="TextBox 22"/>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acf(y, nlags, adjusted=False)</a:t>
            </a:r>
            <a:r>
              <a:rPr sz="950" b="1" i="0">
                <a:solidFill>
                  <a:srgbClr val="5B6778"/>
                </a:solidFill>
                <a:latin typeface="Arial"/>
              </a:rPr>
              <a:t>   statsmodels</a:t>
            </a:r>
          </a:p>
        </p:txBody>
      </p:sp>
      <p:sp>
        <p:nvSpPr>
          <p:cNvPr id="24" name="TextBox 23"/>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Cùng phép tính đó; adjusted=False để chia cho tổng của cả chuỗi.</a:t>
            </a:r>
          </a:p>
        </p:txBody>
      </p:sp>
      <p:sp>
        <p:nvSpPr>
          <p:cNvPr id="25" name="TextBox 24"/>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cumsum()</a:t>
            </a:r>
            <a:r>
              <a:rPr sz="950" b="1" i="0">
                <a:solidFill>
                  <a:srgbClr val="5B6778"/>
                </a:solidFill>
                <a:latin typeface="Arial"/>
              </a:rPr>
              <a:t>   numpy</a:t>
            </a:r>
          </a:p>
        </p:txBody>
      </p:sp>
      <p:sp>
        <p:nvSpPr>
          <p:cNvPr id="26" name="TextBox 25"/>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Cộng dồn: biến dãy nhiễu thành đường đi của random walk.</a:t>
            </a:r>
          </a:p>
        </p:txBody>
      </p:sp>
      <p:sp>
        <p:nvSpPr>
          <p:cNvPr id="27" name="Rounded Rectangle 26"/>
          <p:cNvSpPr/>
          <p:nvPr/>
        </p:nvSpPr>
        <p:spPr>
          <a:xfrm>
            <a:off x="7863840" y="4059935"/>
            <a:ext cx="3776472" cy="896112"/>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50ce81e2cd7f.png"/>
          <p:cNvPicPr>
            <a:picLocks noChangeAspect="1"/>
          </p:cNvPicPr>
          <p:nvPr/>
        </p:nvPicPr>
        <p:blipFill>
          <a:blip r:embed="rId2"/>
          <a:stretch>
            <a:fillRect/>
          </a:stretch>
        </p:blipFill>
        <p:spPr>
          <a:xfrm>
            <a:off x="8776631" y="4114799"/>
            <a:ext cx="1950889" cy="786384"/>
          </a:xfrm>
          <a:prstGeom prst="rect">
            <a:avLst/>
          </a:prstGeom>
        </p:spPr>
      </p:pic>
      <p:pic>
        <p:nvPicPr>
          <p:cNvPr id="29" name="Picture 28" descr="kn-acf.png"/>
          <p:cNvPicPr>
            <a:picLocks noChangeAspect="1"/>
          </p:cNvPicPr>
          <p:nvPr/>
        </p:nvPicPr>
        <p:blipFill>
          <a:blip r:embed="rId3"/>
          <a:stretch>
            <a:fillRect/>
          </a:stretch>
        </p:blipFill>
        <p:spPr>
          <a:xfrm>
            <a:off x="8384718" y="5093207"/>
            <a:ext cx="2734714" cy="1380744"/>
          </a:xfrm>
          <a:prstGeom prst="rect">
            <a:avLst/>
          </a:prstGeom>
        </p:spPr>
      </p:pic>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ACF và PACF của bốn chuỗi</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7</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Thấy PACF tách được AR(1), còn ACF không phân biệt random walk với xu hướng.</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from statsmodels.tsa.stattools import acf, pacf</a:t>
            </a:r>
          </a:p>
          <a:p>
            <a:r>
              <a:rPr sz="850">
                <a:solidFill>
                  <a:srgbClr val="6B7385"/>
                </a:solidFill>
                <a:latin typeface="Courier New"/>
              </a:rPr>
              <a:t> 3 </a:t>
            </a:r>
          </a:p>
          <a:p>
            <a:r>
              <a:rPr sz="850">
                <a:solidFill>
                  <a:srgbClr val="6B7385"/>
                </a:solidFill>
                <a:latin typeface="Courier New"/>
              </a:rPr>
              <a:t> 4 </a:t>
            </a:r>
            <a:r>
              <a:rPr sz="850">
                <a:solidFill>
                  <a:srgbClr val="E6EAF0"/>
                </a:solidFill>
                <a:latin typeface="Courier New"/>
              </a:rPr>
              <a:t>e = np.random.default_rng(42).normal(size=500)   </a:t>
            </a:r>
            <a:r>
              <a:rPr sz="850">
                <a:solidFill>
                  <a:srgbClr val="8FC99A"/>
                </a:solidFill>
                <a:latin typeface="Courier New"/>
              </a:rPr>
              <a:t># một dãy nhiễu chung</a:t>
            </a:r>
          </a:p>
          <a:p>
            <a:r>
              <a:rPr sz="850">
                <a:solidFill>
                  <a:srgbClr val="6B7385"/>
                </a:solidFill>
                <a:latin typeface="Courier New"/>
              </a:rPr>
              <a:t> 5 </a:t>
            </a:r>
            <a:r>
              <a:rPr sz="850">
                <a:solidFill>
                  <a:srgbClr val="E6EAF0"/>
                </a:solidFill>
                <a:latin typeface="Courier New"/>
              </a:rPr>
              <a:t>ar = np.empty(500)</a:t>
            </a:r>
          </a:p>
          <a:p>
            <a:r>
              <a:rPr sz="850">
                <a:solidFill>
                  <a:srgbClr val="6B7385"/>
                </a:solidFill>
                <a:latin typeface="Courier New"/>
              </a:rPr>
              <a:t> 6 </a:t>
            </a:r>
            <a:r>
              <a:rPr sz="850">
                <a:solidFill>
                  <a:srgbClr val="E6EAF0"/>
                </a:solidFill>
                <a:latin typeface="Courier New"/>
              </a:rPr>
              <a:t>ar[0] = e[0]</a:t>
            </a:r>
          </a:p>
          <a:p>
            <a:r>
              <a:rPr sz="850">
                <a:solidFill>
                  <a:srgbClr val="6B7385"/>
                </a:solidFill>
                <a:latin typeface="Courier New"/>
              </a:rPr>
              <a:t> 7 </a:t>
            </a:r>
            <a:r>
              <a:rPr sz="850">
                <a:solidFill>
                  <a:srgbClr val="E6EAF0"/>
                </a:solidFill>
                <a:latin typeface="Courier New"/>
              </a:rPr>
              <a:t>for t in range(1, 500):</a:t>
            </a:r>
          </a:p>
          <a:p>
            <a:r>
              <a:rPr sz="850">
                <a:solidFill>
                  <a:srgbClr val="6B7385"/>
                </a:solidFill>
                <a:latin typeface="Courier New"/>
              </a:rPr>
              <a:t> 8 </a:t>
            </a:r>
            <a:r>
              <a:rPr sz="850">
                <a:solidFill>
                  <a:srgbClr val="E6EAF0"/>
                </a:solidFill>
                <a:latin typeface="Courier New"/>
              </a:rPr>
              <a:t>    ar[t] = 0.7 * ar[t - 1] + e[t]               </a:t>
            </a:r>
            <a:r>
              <a:rPr sz="850">
                <a:solidFill>
                  <a:srgbClr val="8FC99A"/>
                </a:solidFill>
                <a:latin typeface="Courier New"/>
              </a:rPr>
              <a:t># AR(1), phi = 0,7</a:t>
            </a:r>
          </a:p>
          <a:p>
            <a:r>
              <a:rPr sz="850">
                <a:solidFill>
                  <a:srgbClr val="6B7385"/>
                </a:solidFill>
                <a:latin typeface="Courier New"/>
              </a:rPr>
              <a:t> 9 </a:t>
            </a:r>
            <a:r>
              <a:rPr sz="850">
                <a:solidFill>
                  <a:srgbClr val="E6EAF0"/>
                </a:solidFill>
                <a:latin typeface="Courier New"/>
              </a:rPr>
              <a:t>bon = {"nhiễu trắng": e, "AR(1)": ar, "random walk": e.cumsum(),</a:t>
            </a:r>
          </a:p>
          <a:p>
            <a:r>
              <a:rPr sz="850">
                <a:solidFill>
                  <a:srgbClr val="6B7385"/>
                </a:solidFill>
                <a:latin typeface="Courier New"/>
              </a:rPr>
              <a:t>10 </a:t>
            </a:r>
            <a:r>
              <a:rPr sz="850">
                <a:solidFill>
                  <a:srgbClr val="E6EAF0"/>
                </a:solidFill>
                <a:latin typeface="Courier New"/>
              </a:rPr>
              <a:t>       "xu hướng 0,05t": 0.05 * np.arange(500) + e}</a:t>
            </a:r>
          </a:p>
          <a:p>
            <a:r>
              <a:rPr sz="850">
                <a:solidFill>
                  <a:srgbClr val="6B7385"/>
                </a:solidFill>
                <a:latin typeface="Courier New"/>
              </a:rPr>
              <a:t>11 </a:t>
            </a:r>
            <a:r>
              <a:rPr sz="850">
                <a:solidFill>
                  <a:srgbClr val="E6EAF0"/>
                </a:solidFill>
                <a:latin typeface="Courier New"/>
              </a:rPr>
              <a:t>DAI = 1.96 / np.sqrt(500)                        </a:t>
            </a:r>
            <a:r>
              <a:rPr sz="850">
                <a:solidFill>
                  <a:srgbClr val="8FC99A"/>
                </a:solidFill>
                <a:latin typeface="Courier New"/>
              </a:rPr>
              <a:t># dải ±1,96/√T</a:t>
            </a:r>
          </a:p>
          <a:p>
            <a:r>
              <a:rPr sz="850">
                <a:solidFill>
                  <a:srgbClr val="6B7385"/>
                </a:solidFill>
                <a:latin typeface="Courier New"/>
              </a:rPr>
              <a:t>12 </a:t>
            </a:r>
            <a:r>
              <a:rPr sz="850">
                <a:solidFill>
                  <a:srgbClr val="E6EAF0"/>
                </a:solidFill>
                <a:latin typeface="Courier New"/>
              </a:rPr>
              <a:t>bang = {}</a:t>
            </a:r>
          </a:p>
          <a:p>
            <a:r>
              <a:rPr sz="850">
                <a:solidFill>
                  <a:srgbClr val="6B7385"/>
                </a:solidFill>
                <a:latin typeface="Courier New"/>
              </a:rPr>
              <a:t>13 </a:t>
            </a:r>
            <a:r>
              <a:rPr sz="850">
                <a:solidFill>
                  <a:srgbClr val="E6EAF0"/>
                </a:solidFill>
                <a:latin typeface="Courier New"/>
              </a:rPr>
              <a:t>for ten, y in bon.items():</a:t>
            </a:r>
          </a:p>
          <a:p>
            <a:r>
              <a:rPr sz="850">
                <a:solidFill>
                  <a:srgbClr val="6B7385"/>
                </a:solidFill>
                <a:latin typeface="Courier New"/>
              </a:rPr>
              <a:t>14 </a:t>
            </a:r>
            <a:r>
              <a:rPr sz="850">
                <a:solidFill>
                  <a:srgbClr val="E6EAF0"/>
                </a:solidFill>
                <a:latin typeface="Courier New"/>
              </a:rPr>
              <a:t>    r = acf(y, nlags=30, adjusted=False)</a:t>
            </a:r>
          </a:p>
          <a:p>
            <a:r>
              <a:rPr sz="850">
                <a:solidFill>
                  <a:srgbClr val="6B7385"/>
                </a:solidFill>
                <a:latin typeface="Courier New"/>
              </a:rPr>
              <a:t>15 </a:t>
            </a:r>
            <a:r>
              <a:rPr sz="850">
                <a:solidFill>
                  <a:srgbClr val="E6EAF0"/>
                </a:solidFill>
                <a:latin typeface="Courier New"/>
              </a:rPr>
              <a:t>    p = pacf(y, nlags=30, method="ywm")          </a:t>
            </a:r>
            <a:r>
              <a:rPr sz="850">
                <a:solidFill>
                  <a:srgbClr val="8FC99A"/>
                </a:solidFill>
                <a:latin typeface="Courier New"/>
              </a:rPr>
              <a:t># khai method rõ ràng</a:t>
            </a:r>
          </a:p>
          <a:p>
            <a:r>
              <a:rPr sz="850">
                <a:solidFill>
                  <a:srgbClr val="6B7385"/>
                </a:solidFill>
                <a:latin typeface="Courier New"/>
              </a:rPr>
              <a:t>16 </a:t>
            </a:r>
            <a:r>
              <a:rPr sz="850">
                <a:solidFill>
                  <a:srgbClr val="E6EAF0"/>
                </a:solidFill>
                <a:latin typeface="Courier New"/>
              </a:rPr>
              <a:t>    bang[ten] = {"r1": r[1], "r30": r[30], "PACF1": p[1], "PACF2": p[2]}</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buoi-07/tu-hoc.ipynb, phần 2</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4–8</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Dựng AR(1): hôm nay bằng 0,7 lần hôm qua.</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9–10</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Bốn chuỗi dùng chung một dãy nhiễu.</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11</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Dải để xem cột nào đáng chú ý.</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14–16</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Tính ACF, PACF và giữ vài con số.</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15</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Khai method vì mặc định hai hàm khác nhau.</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AR(1): ACF giảm nhanh, PACF cắt sau trễ 1. Random walk và xu hướng đều có r1 gần 0,98: chỉ nhìn ACF không phân biệt được.</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pacf(y, nlags, method="ywm")</a:t>
            </a:r>
            <a:r>
              <a:rPr sz="950" b="1" i="0">
                <a:solidFill>
                  <a:srgbClr val="5B6778"/>
                </a:solidFill>
                <a:latin typeface="Arial"/>
              </a:rPr>
              <a:t>   statsmodels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Tương quan riêng phần: phần còn lại sau khi bỏ các trễ ngắn hơn.</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acf(y, nlags)</a:t>
            </a:r>
            <a:r>
              <a:rPr sz="950" b="1" i="0">
                <a:solidFill>
                  <a:srgbClr val="5B6778"/>
                </a:solidFill>
                <a:latin typeface="Arial"/>
              </a:rPr>
              <a:t>   statsmodels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Hệ số tự tương quan r_k cho từng trễ k.</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np.empty(n)</a:t>
            </a:r>
            <a:r>
              <a:rPr sz="950" b="1" i="0">
                <a:solidFill>
                  <a:srgbClr val="5B6778"/>
                </a:solidFill>
                <a:latin typeface="Arial"/>
              </a:rPr>
              <a:t>   numpy</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Tạo mảng n chỗ trống để điền dần từng bước.</a:t>
            </a:r>
          </a:p>
        </p:txBody>
      </p:sp>
      <p:sp>
        <p:nvSpPr>
          <p:cNvPr id="29" name="Rounded Rectangle 28"/>
          <p:cNvSpPr/>
          <p:nvPr/>
        </p:nvSpPr>
        <p:spPr>
          <a:xfrm>
            <a:off x="7863840" y="4059935"/>
            <a:ext cx="3776472" cy="55168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496096bb0994.png"/>
          <p:cNvPicPr>
            <a:picLocks noChangeAspect="1"/>
          </p:cNvPicPr>
          <p:nvPr/>
        </p:nvPicPr>
        <p:blipFill>
          <a:blip r:embed="rId2"/>
          <a:stretch>
            <a:fillRect/>
          </a:stretch>
        </p:blipFill>
        <p:spPr>
          <a:xfrm>
            <a:off x="9200388" y="4114799"/>
            <a:ext cx="1103376" cy="441959"/>
          </a:xfrm>
          <a:prstGeom prst="rect">
            <a:avLst/>
          </a:prstGeom>
        </p:spPr>
      </p:pic>
      <p:pic>
        <p:nvPicPr>
          <p:cNvPr id="31" name="Picture 30" descr="kn-pacf.png"/>
          <p:cNvPicPr>
            <a:picLocks noChangeAspect="1"/>
          </p:cNvPicPr>
          <p:nvPr/>
        </p:nvPicPr>
        <p:blipFill>
          <a:blip r:embed="rId3"/>
          <a:stretch>
            <a:fillRect/>
          </a:stretch>
        </p:blipFill>
        <p:spPr>
          <a:xfrm>
            <a:off x="8065351" y="4748783"/>
            <a:ext cx="3373448" cy="1725168"/>
          </a:xfrm>
          <a:prstGeom prst="rect">
            <a:avLst/>
          </a:prstGeom>
        </p:spPr>
      </p:pic>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gộp nhiều r_k bằng Ljung-Box</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7</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Thay việc đếm cột vượt dải bằng một con số Q* và một p-value.</a:t>
            </a:r>
          </a:p>
        </p:txBody>
      </p:sp>
      <p:sp>
        <p:nvSpPr>
          <p:cNvPr id="6" name="Rounded Rectangle 5"/>
          <p:cNvSpPr/>
          <p:nvPr/>
        </p:nvSpPr>
        <p:spPr>
          <a:xfrm>
            <a:off x="548640" y="1737360"/>
            <a:ext cx="7086600" cy="2597912"/>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277872"/>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numpy as np</a:t>
            </a:r>
          </a:p>
          <a:p>
            <a:r>
              <a:rPr sz="950">
                <a:solidFill>
                  <a:srgbClr val="6B7385"/>
                </a:solidFill>
                <a:latin typeface="Courier New"/>
              </a:rPr>
              <a:t> 2 </a:t>
            </a:r>
            <a:r>
              <a:rPr sz="950">
                <a:solidFill>
                  <a:srgbClr val="E6EAF0"/>
                </a:solidFill>
                <a:latin typeface="Courier New"/>
              </a:rPr>
              <a:t>from scipy import stats</a:t>
            </a:r>
          </a:p>
          <a:p>
            <a:r>
              <a:rPr sz="950">
                <a:solidFill>
                  <a:srgbClr val="6B7385"/>
                </a:solidFill>
                <a:latin typeface="Courier New"/>
              </a:rPr>
              <a:t> 3 </a:t>
            </a:r>
            <a:r>
              <a:rPr sz="950">
                <a:solidFill>
                  <a:srgbClr val="E6EAF0"/>
                </a:solidFill>
                <a:latin typeface="Courier New"/>
              </a:rPr>
              <a:t>from statsmodels.stats.diagnostic import acorr_ljungbox</a:t>
            </a:r>
          </a:p>
          <a:p>
            <a:r>
              <a:rPr sz="950">
                <a:solidFill>
                  <a:srgbClr val="6B7385"/>
                </a:solidFill>
                <a:latin typeface="Courier New"/>
              </a:rPr>
              <a:t> 4 </a:t>
            </a:r>
          </a:p>
          <a:p>
            <a:r>
              <a:rPr sz="950">
                <a:solidFill>
                  <a:srgbClr val="6B7385"/>
                </a:solidFill>
                <a:latin typeface="Courier New"/>
              </a:rPr>
              <a:t> 5 </a:t>
            </a:r>
            <a:r>
              <a:rPr sz="950">
                <a:solidFill>
                  <a:srgbClr val="E6EAF0"/>
                </a:solidFill>
                <a:latin typeface="Courier New"/>
              </a:rPr>
              <a:t>T, r = 100, np.array([0.2, 0.1])                 </a:t>
            </a:r>
            <a:r>
              <a:rPr sz="950">
                <a:solidFill>
                  <a:srgbClr val="8FC99A"/>
                </a:solidFill>
                <a:latin typeface="Courier New"/>
              </a:rPr>
              <a:t># ví dụ tay: 100 điểm</a:t>
            </a:r>
          </a:p>
          <a:p>
            <a:r>
              <a:rPr sz="950">
                <a:solidFill>
                  <a:srgbClr val="6B7385"/>
                </a:solidFill>
                <a:latin typeface="Courier New"/>
              </a:rPr>
              <a:t> 6 </a:t>
            </a:r>
            <a:r>
              <a:rPr sz="950">
                <a:solidFill>
                  <a:srgbClr val="E6EAF0"/>
                </a:solidFill>
                <a:latin typeface="Courier New"/>
              </a:rPr>
              <a:t>Q = T * (T + 2) * np.sum(r**2 / (T - np.arange(1, 3)))</a:t>
            </a:r>
          </a:p>
          <a:p>
            <a:r>
              <a:rPr sz="950">
                <a:solidFill>
                  <a:srgbClr val="6B7385"/>
                </a:solidFill>
                <a:latin typeface="Courier New"/>
              </a:rPr>
              <a:t> 7 </a:t>
            </a:r>
            <a:r>
              <a:rPr sz="950">
                <a:solidFill>
                  <a:srgbClr val="E6EAF0"/>
                </a:solidFill>
                <a:latin typeface="Courier New"/>
              </a:rPr>
              <a:t>nguong = stats.chi2.ppf(0.95, 2)                 </a:t>
            </a:r>
            <a:r>
              <a:rPr sz="950">
                <a:solidFill>
                  <a:srgbClr val="8FC99A"/>
                </a:solidFill>
                <a:latin typeface="Courier New"/>
              </a:rPr>
              <a:t># ngưỡng 5%, 2 bậc tự do</a:t>
            </a:r>
          </a:p>
          <a:p>
            <a:r>
              <a:rPr sz="950">
                <a:solidFill>
                  <a:srgbClr val="6B7385"/>
                </a:solidFill>
                <a:latin typeface="Courier New"/>
              </a:rPr>
              <a:t> 8 </a:t>
            </a:r>
            <a:r>
              <a:rPr sz="950">
                <a:solidFill>
                  <a:srgbClr val="E6EAF0"/>
                </a:solidFill>
                <a:latin typeface="Courier New"/>
              </a:rPr>
              <a:t>p = stats.chi2.sf(Q, 2)</a:t>
            </a:r>
          </a:p>
          <a:p>
            <a:r>
              <a:rPr sz="950">
                <a:solidFill>
                  <a:srgbClr val="6B7385"/>
                </a:solidFill>
                <a:latin typeface="Courier New"/>
              </a:rPr>
              <a:t> 9 </a:t>
            </a:r>
          </a:p>
          <a:p>
            <a:r>
              <a:rPr sz="950">
                <a:solidFill>
                  <a:srgbClr val="6B7385"/>
                </a:solidFill>
                <a:latin typeface="Courier New"/>
              </a:rPr>
              <a:t>10 </a:t>
            </a:r>
            <a:r>
              <a:rPr sz="950">
                <a:solidFill>
                  <a:srgbClr val="E6EAF0"/>
                </a:solidFill>
                <a:latin typeface="Courier New"/>
              </a:rPr>
              <a:t>for s in (1, 2, 3):</a:t>
            </a:r>
          </a:p>
          <a:p>
            <a:r>
              <a:rPr sz="950">
                <a:solidFill>
                  <a:srgbClr val="6B7385"/>
                </a:solidFill>
                <a:latin typeface="Courier New"/>
              </a:rPr>
              <a:t>11 </a:t>
            </a:r>
            <a:r>
              <a:rPr sz="950">
                <a:solidFill>
                  <a:srgbClr val="E6EAF0"/>
                </a:solidFill>
                <a:latin typeface="Courier New"/>
              </a:rPr>
              <a:t>    nhieu = np.random.default_rng(s).normal(size=500)</a:t>
            </a:r>
          </a:p>
          <a:p>
            <a:r>
              <a:rPr sz="950">
                <a:solidFill>
                  <a:srgbClr val="6B7385"/>
                </a:solidFill>
                <a:latin typeface="Courier New"/>
              </a:rPr>
              <a:t>12 </a:t>
            </a:r>
            <a:r>
              <a:rPr sz="950">
                <a:solidFill>
                  <a:srgbClr val="E6EAF0"/>
                </a:solidFill>
                <a:latin typeface="Courier New"/>
              </a:rPr>
              <a:t>    kq0 = acorr_ljungbox(nhieu, lags=[10])</a:t>
            </a:r>
          </a:p>
          <a:p>
            <a:r>
              <a:rPr sz="950">
                <a:solidFill>
                  <a:srgbClr val="6B7385"/>
                </a:solidFill>
                <a:latin typeface="Courier New"/>
              </a:rPr>
              <a:t>13 </a:t>
            </a:r>
            <a:r>
              <a:rPr sz="950">
                <a:solidFill>
                  <a:srgbClr val="E6EAF0"/>
                </a:solidFill>
                <a:latin typeface="Courier New"/>
              </a:rPr>
              <a:t>    </a:t>
            </a:r>
            <a:r>
              <a:rPr sz="950">
                <a:solidFill>
                  <a:srgbClr val="8FC99A"/>
                </a:solidFill>
                <a:latin typeface="Courier New"/>
              </a:rPr>
              <a:t># nếu là sai số của mô hình 2 tham số: trừ bậc tự do</a:t>
            </a:r>
          </a:p>
          <a:p>
            <a:r>
              <a:rPr sz="950">
                <a:solidFill>
                  <a:srgbClr val="6B7385"/>
                </a:solidFill>
                <a:latin typeface="Courier New"/>
              </a:rPr>
              <a:t>14 </a:t>
            </a:r>
            <a:r>
              <a:rPr sz="950">
                <a:solidFill>
                  <a:srgbClr val="E6EAF0"/>
                </a:solidFill>
                <a:latin typeface="Courier New"/>
              </a:rPr>
              <a:t>    kq2 = acorr_ljungbox(nhieu, lags=[10], model_df=2)</a:t>
            </a:r>
          </a:p>
          <a:p>
            <a:r>
              <a:rPr sz="950">
                <a:solidFill>
                  <a:srgbClr val="6B7385"/>
                </a:solidFill>
                <a:latin typeface="Courier New"/>
              </a:rPr>
              <a:t>15 </a:t>
            </a:r>
            <a:r>
              <a:rPr sz="950">
                <a:solidFill>
                  <a:srgbClr val="E6EAF0"/>
                </a:solidFill>
                <a:latin typeface="Courier New"/>
              </a:rPr>
              <a:t>    print(kq0["lb_pvalue"].iloc[0], kq2["lb_pvalue"].iloc[0])</a:t>
            </a:r>
          </a:p>
        </p:txBody>
      </p:sp>
      <p:sp>
        <p:nvSpPr>
          <p:cNvPr id="8" name="TextBox 7"/>
          <p:cNvSpPr txBox="1"/>
          <p:nvPr/>
        </p:nvSpPr>
        <p:spPr>
          <a:xfrm>
            <a:off x="685800" y="4088384"/>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buoi-07/tu-hoc.ipynb, phần 3</a:t>
            </a:r>
          </a:p>
        </p:txBody>
      </p:sp>
      <p:sp>
        <p:nvSpPr>
          <p:cNvPr id="9" name="TextBox 8"/>
          <p:cNvSpPr txBox="1"/>
          <p:nvPr/>
        </p:nvSpPr>
        <p:spPr>
          <a:xfrm>
            <a:off x="548640" y="4445000"/>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5–6</a:t>
            </a:r>
          </a:p>
        </p:txBody>
      </p:sp>
      <p:sp>
        <p:nvSpPr>
          <p:cNvPr id="11" name="TextBox 10"/>
          <p:cNvSpPr txBox="1"/>
          <p:nvPr/>
        </p:nvSpPr>
        <p:spPr>
          <a:xfrm>
            <a:off x="1353312" y="4746752"/>
            <a:ext cx="2697480" cy="457200"/>
          </a:xfrm>
          <a:prstGeom prst="rect">
            <a:avLst/>
          </a:prstGeom>
          <a:noFill/>
        </p:spPr>
        <p:txBody>
          <a:bodyPr wrap="square" lIns="0" rIns="0" tIns="0" bIns="0" anchor="t">
            <a:spAutoFit/>
          </a:bodyPr>
          <a:lstStyle/>
          <a:p>
            <a:pPr algn="l"/>
            <a:r>
              <a:rPr sz="1050" b="0" i="0">
                <a:solidFill>
                  <a:srgbClr val="1B2A41"/>
                </a:solidFill>
                <a:latin typeface="Arial"/>
              </a:rPr>
              <a:t>Tính Q* bằng tay theo công thức.</a:t>
            </a:r>
          </a:p>
        </p:txBody>
      </p:sp>
      <p:sp>
        <p:nvSpPr>
          <p:cNvPr id="12" name="Rounded Rectangle 11"/>
          <p:cNvSpPr/>
          <p:nvPr/>
        </p:nvSpPr>
        <p:spPr>
          <a:xfrm>
            <a:off x="548640" y="52222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7–8</a:t>
            </a:r>
          </a:p>
        </p:txBody>
      </p:sp>
      <p:sp>
        <p:nvSpPr>
          <p:cNvPr id="13" name="TextBox 12"/>
          <p:cNvSpPr txBox="1"/>
          <p:nvPr/>
        </p:nvSpPr>
        <p:spPr>
          <a:xfrm>
            <a:off x="1353312" y="5203952"/>
            <a:ext cx="2697480" cy="457200"/>
          </a:xfrm>
          <a:prstGeom prst="rect">
            <a:avLst/>
          </a:prstGeom>
          <a:noFill/>
        </p:spPr>
        <p:txBody>
          <a:bodyPr wrap="square" lIns="0" rIns="0" tIns="0" bIns="0" anchor="t">
            <a:spAutoFit/>
          </a:bodyPr>
          <a:lstStyle/>
          <a:p>
            <a:pPr algn="l"/>
            <a:r>
              <a:rPr sz="1050" b="0" i="0">
                <a:solidFill>
                  <a:srgbClr val="1B2A41"/>
                </a:solidFill>
                <a:latin typeface="Arial"/>
              </a:rPr>
              <a:t>Tra ngưỡng và p từ phân phối khi bình phương.</a:t>
            </a:r>
          </a:p>
        </p:txBody>
      </p:sp>
      <p:sp>
        <p:nvSpPr>
          <p:cNvPr id="14" name="Rounded Rectangle 13"/>
          <p:cNvSpPr/>
          <p:nvPr/>
        </p:nvSpPr>
        <p:spPr>
          <a:xfrm>
            <a:off x="416052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10–12</a:t>
            </a:r>
          </a:p>
        </p:txBody>
      </p:sp>
      <p:sp>
        <p:nvSpPr>
          <p:cNvPr id="15" name="TextBox 14"/>
          <p:cNvSpPr txBox="1"/>
          <p:nvPr/>
        </p:nvSpPr>
        <p:spPr>
          <a:xfrm>
            <a:off x="4965192" y="4746752"/>
            <a:ext cx="2697480" cy="457200"/>
          </a:xfrm>
          <a:prstGeom prst="rect">
            <a:avLst/>
          </a:prstGeom>
          <a:noFill/>
        </p:spPr>
        <p:txBody>
          <a:bodyPr wrap="square" lIns="0" rIns="0" tIns="0" bIns="0" anchor="t">
            <a:spAutoFit/>
          </a:bodyPr>
          <a:lstStyle/>
          <a:p>
            <a:pPr algn="l"/>
            <a:r>
              <a:rPr sz="1050" b="0" i="0">
                <a:solidFill>
                  <a:srgbClr val="1B2A41"/>
                </a:solidFill>
                <a:latin typeface="Arial"/>
              </a:rPr>
              <a:t>Kiểm 10 trễ trên ba chuỗi nhiễu trắng.</a:t>
            </a:r>
          </a:p>
        </p:txBody>
      </p:sp>
      <p:sp>
        <p:nvSpPr>
          <p:cNvPr id="16" name="Rounded Rectangle 15"/>
          <p:cNvSpPr/>
          <p:nvPr/>
        </p:nvSpPr>
        <p:spPr>
          <a:xfrm>
            <a:off x="4160520" y="52222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14</a:t>
            </a:r>
          </a:p>
        </p:txBody>
      </p:sp>
      <p:sp>
        <p:nvSpPr>
          <p:cNvPr id="17" name="TextBox 16"/>
          <p:cNvSpPr txBox="1"/>
          <p:nvPr/>
        </p:nvSpPr>
        <p:spPr>
          <a:xfrm>
            <a:off x="4965192" y="5203952"/>
            <a:ext cx="2697480" cy="457200"/>
          </a:xfrm>
          <a:prstGeom prst="rect">
            <a:avLst/>
          </a:prstGeom>
          <a:noFill/>
        </p:spPr>
        <p:txBody>
          <a:bodyPr wrap="square" lIns="0" rIns="0" tIns="0" bIns="0" anchor="t">
            <a:spAutoFit/>
          </a:bodyPr>
          <a:lstStyle/>
          <a:p>
            <a:pPr algn="l"/>
            <a:r>
              <a:rPr sz="1050" b="0" i="0">
                <a:solidFill>
                  <a:srgbClr val="1B2A41"/>
                </a:solidFill>
                <a:latin typeface="Arial"/>
              </a:rPr>
              <a:t>model_df=2 khi kiểm sai số của mô hình.</a:t>
            </a:r>
          </a:p>
        </p:txBody>
      </p:sp>
      <p:sp>
        <p:nvSpPr>
          <p:cNvPr id="18" name="Rounded Rectangle 17"/>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Ví dụ tay Q* = 5,16 &lt; 5,99: không bác bỏ. Ba chuỗi nhiễu cho p từ 0,081 tới 0,885; model_df=2 làm p nhỏ đi.</a:t>
            </a:r>
          </a:p>
        </p:txBody>
      </p:sp>
      <p:sp>
        <p:nvSpPr>
          <p:cNvPr id="20" name="TextBox 19"/>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1" name="TextBox 20"/>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acorr_ljungbox(y, lags, model_df)</a:t>
            </a:r>
            <a:r>
              <a:rPr sz="950" b="1" i="0">
                <a:solidFill>
                  <a:srgbClr val="5B6778"/>
                </a:solidFill>
                <a:latin typeface="Arial"/>
              </a:rPr>
              <a:t>   statsmodels</a:t>
            </a:r>
          </a:p>
        </p:txBody>
      </p:sp>
      <p:sp>
        <p:nvSpPr>
          <p:cNvPr id="22" name="TextBox 21"/>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Kiểm định Ljung-Box, trả bảng có cột lb_stat và lb_pvalue.</a:t>
            </a:r>
          </a:p>
        </p:txBody>
      </p:sp>
      <p:sp>
        <p:nvSpPr>
          <p:cNvPr id="23" name="TextBox 22"/>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stats.chi2.ppf(0.95, df)</a:t>
            </a:r>
            <a:r>
              <a:rPr sz="950" b="1" i="0">
                <a:solidFill>
                  <a:srgbClr val="5B6778"/>
                </a:solidFill>
                <a:latin typeface="Arial"/>
              </a:rPr>
              <a:t>   scipy</a:t>
            </a:r>
          </a:p>
        </p:txBody>
      </p:sp>
      <p:sp>
        <p:nvSpPr>
          <p:cNvPr id="24" name="TextBox 23"/>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Ngưỡng mà chỉ 5% giá trị của phân phối vượt qua.</a:t>
            </a:r>
          </a:p>
        </p:txBody>
      </p:sp>
      <p:sp>
        <p:nvSpPr>
          <p:cNvPr id="25" name="TextBox 24"/>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stats.chi2.sf(Q, df)</a:t>
            </a:r>
            <a:r>
              <a:rPr sz="950" b="1" i="0">
                <a:solidFill>
                  <a:srgbClr val="5B6778"/>
                </a:solidFill>
                <a:latin typeface="Arial"/>
              </a:rPr>
              <a:t>   scipy</a:t>
            </a:r>
          </a:p>
        </p:txBody>
      </p:sp>
      <p:sp>
        <p:nvSpPr>
          <p:cNvPr id="26" name="TextBox 25"/>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p-value: xác suất gặp Q lớn cỡ này nếu là nhiễu trắng.</a:t>
            </a:r>
          </a:p>
        </p:txBody>
      </p:sp>
      <p:sp>
        <p:nvSpPr>
          <p:cNvPr id="27" name="Rounded Rectangle 26"/>
          <p:cNvSpPr/>
          <p:nvPr/>
        </p:nvSpPr>
        <p:spPr>
          <a:xfrm>
            <a:off x="7863840" y="4059935"/>
            <a:ext cx="3776472" cy="70408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f90497078ea4.png"/>
          <p:cNvPicPr>
            <a:picLocks noChangeAspect="1"/>
          </p:cNvPicPr>
          <p:nvPr/>
        </p:nvPicPr>
        <p:blipFill>
          <a:blip r:embed="rId2"/>
          <a:stretch>
            <a:fillRect/>
          </a:stretch>
        </p:blipFill>
        <p:spPr>
          <a:xfrm>
            <a:off x="8654796" y="4114799"/>
            <a:ext cx="2194560" cy="594360"/>
          </a:xfrm>
          <a:prstGeom prst="rect">
            <a:avLst/>
          </a:prstGeom>
        </p:spPr>
      </p:pic>
      <p:pic>
        <p:nvPicPr>
          <p:cNvPr id="29" name="Picture 28" descr="kn-ljung-box.png"/>
          <p:cNvPicPr>
            <a:picLocks noChangeAspect="1"/>
          </p:cNvPicPr>
          <p:nvPr/>
        </p:nvPicPr>
        <p:blipFill>
          <a:blip r:embed="rId3"/>
          <a:stretch>
            <a:fillRect/>
          </a:stretch>
        </p:blipFill>
        <p:spPr>
          <a:xfrm>
            <a:off x="8363308" y="4901183"/>
            <a:ext cx="2777534" cy="1572768"/>
          </a:xfrm>
          <a:prstGeom prst="rect">
            <a:avLst/>
          </a:prstGeom>
        </p:spPr>
      </p:pic>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hai loại không dừng, hai thuốc</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7</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Thấy random walk dao động to dần, và mỗi loại không dừng cần một cách chữa riêng.</a:t>
            </a:r>
          </a:p>
        </p:txBody>
      </p:sp>
      <p:sp>
        <p:nvSpPr>
          <p:cNvPr id="6" name="Rounded Rectangle 5"/>
          <p:cNvSpPr/>
          <p:nvPr/>
        </p:nvSpPr>
        <p:spPr>
          <a:xfrm>
            <a:off x="548640" y="1737360"/>
            <a:ext cx="7086600" cy="2455545"/>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35505"/>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numpy as np</a:t>
            </a:r>
          </a:p>
          <a:p>
            <a:r>
              <a:rPr sz="950">
                <a:solidFill>
                  <a:srgbClr val="6B7385"/>
                </a:solidFill>
                <a:latin typeface="Courier New"/>
              </a:rPr>
              <a:t> 2 </a:t>
            </a:r>
            <a:r>
              <a:rPr sz="950">
                <a:solidFill>
                  <a:srgbClr val="E6EAF0"/>
                </a:solidFill>
                <a:latin typeface="Courier New"/>
              </a:rPr>
              <a:t>from statsmodels.tsa.stattools import acf</a:t>
            </a:r>
          </a:p>
          <a:p>
            <a:r>
              <a:rPr sz="950">
                <a:solidFill>
                  <a:srgbClr val="6B7385"/>
                </a:solidFill>
                <a:latin typeface="Courier New"/>
              </a:rPr>
              <a:t> 3 </a:t>
            </a:r>
          </a:p>
          <a:p>
            <a:r>
              <a:rPr sz="950">
                <a:solidFill>
                  <a:srgbClr val="6B7385"/>
                </a:solidFill>
                <a:latin typeface="Courier New"/>
              </a:rPr>
              <a:t> 4 </a:t>
            </a:r>
            <a:r>
              <a:rPr sz="950">
                <a:solidFill>
                  <a:srgbClr val="8FC99A"/>
                </a:solidFill>
                <a:latin typeface="Courier New"/>
              </a:rPr>
              <a:t># 10.000 người tung đồng xu, mỗi người 100 bước</a:t>
            </a:r>
          </a:p>
          <a:p>
            <a:r>
              <a:rPr sz="950">
                <a:solidFill>
                  <a:srgbClr val="6B7385"/>
                </a:solidFill>
                <a:latin typeface="Courier New"/>
              </a:rPr>
              <a:t> 5 </a:t>
            </a:r>
            <a:r>
              <a:rPr sz="950">
                <a:solidFill>
                  <a:srgbClr val="E6EAF0"/>
                </a:solidFill>
                <a:latin typeface="Courier New"/>
              </a:rPr>
              <a:t>buoc = np.random.default_rng(7).choice([-1, 1], size=(10_000, 100))</a:t>
            </a:r>
          </a:p>
          <a:p>
            <a:r>
              <a:rPr sz="950">
                <a:solidFill>
                  <a:srgbClr val="6B7385"/>
                </a:solidFill>
                <a:latin typeface="Courier New"/>
              </a:rPr>
              <a:t> 6 </a:t>
            </a:r>
            <a:r>
              <a:rPr sz="950">
                <a:solidFill>
                  <a:srgbClr val="E6EAF0"/>
                </a:solidFill>
                <a:latin typeface="Courier New"/>
              </a:rPr>
              <a:t>vi_tri = buoc.cumsum(axis=1)</a:t>
            </a:r>
          </a:p>
          <a:p>
            <a:r>
              <a:rPr sz="950">
                <a:solidFill>
                  <a:srgbClr val="6B7385"/>
                </a:solidFill>
                <a:latin typeface="Courier New"/>
              </a:rPr>
              <a:t> 7 </a:t>
            </a:r>
            <a:r>
              <a:rPr sz="950">
                <a:solidFill>
                  <a:srgbClr val="E6EAF0"/>
                </a:solidFill>
                <a:latin typeface="Courier New"/>
              </a:rPr>
              <a:t>do_lech = vi_tri[:, [3, 24, 99]].std(axis=0)     </a:t>
            </a:r>
            <a:r>
              <a:rPr sz="950">
                <a:solidFill>
                  <a:srgbClr val="8FC99A"/>
                </a:solidFill>
                <a:latin typeface="Courier New"/>
              </a:rPr>
              <a:t># sau 4, 25, 100 bước</a:t>
            </a:r>
          </a:p>
          <a:p>
            <a:r>
              <a:rPr sz="950">
                <a:solidFill>
                  <a:srgbClr val="6B7385"/>
                </a:solidFill>
                <a:latin typeface="Courier New"/>
              </a:rPr>
              <a:t> 8 </a:t>
            </a:r>
          </a:p>
          <a:p>
            <a:r>
              <a:rPr sz="950">
                <a:solidFill>
                  <a:srgbClr val="6B7385"/>
                </a:solidFill>
                <a:latin typeface="Courier New"/>
              </a:rPr>
              <a:t> 9 </a:t>
            </a:r>
            <a:r>
              <a:rPr sz="950">
                <a:solidFill>
                  <a:srgbClr val="E6EAF0"/>
                </a:solidFill>
                <a:latin typeface="Courier New"/>
              </a:rPr>
              <a:t>e = np.random.default_rng(42).normal(size=500)</a:t>
            </a:r>
          </a:p>
          <a:p>
            <a:r>
              <a:rPr sz="950">
                <a:solidFill>
                  <a:srgbClr val="6B7385"/>
                </a:solidFill>
                <a:latin typeface="Courier New"/>
              </a:rPr>
              <a:t>10 </a:t>
            </a:r>
            <a:r>
              <a:rPr sz="950">
                <a:solidFill>
                  <a:srgbClr val="E6EAF0"/>
                </a:solidFill>
                <a:latin typeface="Courier New"/>
              </a:rPr>
              <a:t>t = np.arange(500)</a:t>
            </a:r>
          </a:p>
          <a:p>
            <a:r>
              <a:rPr sz="950">
                <a:solidFill>
                  <a:srgbClr val="6B7385"/>
                </a:solidFill>
                <a:latin typeface="Courier New"/>
              </a:rPr>
              <a:t>11 </a:t>
            </a:r>
            <a:r>
              <a:rPr sz="950">
                <a:solidFill>
                  <a:srgbClr val="E6EAF0"/>
                </a:solidFill>
                <a:latin typeface="Courier New"/>
              </a:rPr>
              <a:t>for y in (e.cumsum(), 0.05 * t + e):             </a:t>
            </a:r>
            <a:r>
              <a:rPr sz="950">
                <a:solidFill>
                  <a:srgbClr val="8FC99A"/>
                </a:solidFill>
                <a:latin typeface="Courier New"/>
              </a:rPr>
              <a:t># random walk, xu hướng</a:t>
            </a:r>
          </a:p>
          <a:p>
            <a:r>
              <a:rPr sz="950">
                <a:solidFill>
                  <a:srgbClr val="6B7385"/>
                </a:solidFill>
                <a:latin typeface="Courier New"/>
              </a:rPr>
              <a:t>12 </a:t>
            </a:r>
            <a:r>
              <a:rPr sz="950">
                <a:solidFill>
                  <a:srgbClr val="E6EAF0"/>
                </a:solidFill>
                <a:latin typeface="Courier New"/>
              </a:rPr>
              <a:t>    khu_xh = y - np.polyval(np.polyfit(t, y, 1), t)   </a:t>
            </a:r>
            <a:r>
              <a:rPr sz="950">
                <a:solidFill>
                  <a:srgbClr val="8FC99A"/>
                </a:solidFill>
                <a:latin typeface="Courier New"/>
              </a:rPr>
              <a:t># trừ đường thẳng</a:t>
            </a:r>
          </a:p>
          <a:p>
            <a:r>
              <a:rPr sz="950">
                <a:solidFill>
                  <a:srgbClr val="6B7385"/>
                </a:solidFill>
                <a:latin typeface="Courier New"/>
              </a:rPr>
              <a:t>13 </a:t>
            </a:r>
            <a:r>
              <a:rPr sz="950">
                <a:solidFill>
                  <a:srgbClr val="E6EAF0"/>
                </a:solidFill>
                <a:latin typeface="Courier New"/>
              </a:rPr>
              <a:t>    sai_phan = np.diff(y)                             </a:t>
            </a:r>
            <a:r>
              <a:rPr sz="950">
                <a:solidFill>
                  <a:srgbClr val="8FC99A"/>
                </a:solidFill>
                <a:latin typeface="Courier New"/>
              </a:rPr>
              <a:t># y_t trừ y_(t-1)</a:t>
            </a:r>
          </a:p>
          <a:p>
            <a:r>
              <a:rPr sz="950">
                <a:solidFill>
                  <a:srgbClr val="6B7385"/>
                </a:solidFill>
                <a:latin typeface="Courier New"/>
              </a:rPr>
              <a:t>14 </a:t>
            </a:r>
            <a:r>
              <a:rPr sz="950">
                <a:solidFill>
                  <a:srgbClr val="E6EAF0"/>
                </a:solidFill>
                <a:latin typeface="Courier New"/>
              </a:rPr>
              <a:t>    print(acf(khu_xh, nlags=1)[1], acf(sai_phan, nlags=1)[1])</a:t>
            </a:r>
          </a:p>
        </p:txBody>
      </p:sp>
      <p:sp>
        <p:nvSpPr>
          <p:cNvPr id="8" name="TextBox 7"/>
          <p:cNvSpPr txBox="1"/>
          <p:nvPr/>
        </p:nvSpPr>
        <p:spPr>
          <a:xfrm>
            <a:off x="685800" y="3946017"/>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buoi-07/tu-hoc.ipynb, phần 4</a:t>
            </a:r>
          </a:p>
        </p:txBody>
      </p:sp>
      <p:sp>
        <p:nvSpPr>
          <p:cNvPr id="9" name="TextBox 8"/>
          <p:cNvSpPr txBox="1"/>
          <p:nvPr/>
        </p:nvSpPr>
        <p:spPr>
          <a:xfrm>
            <a:off x="548640" y="4302633"/>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6226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4–6</a:t>
            </a:r>
          </a:p>
        </p:txBody>
      </p:sp>
      <p:sp>
        <p:nvSpPr>
          <p:cNvPr id="11" name="TextBox 10"/>
          <p:cNvSpPr txBox="1"/>
          <p:nvPr/>
        </p:nvSpPr>
        <p:spPr>
          <a:xfrm>
            <a:off x="1353312" y="4604385"/>
            <a:ext cx="2697480" cy="394588"/>
          </a:xfrm>
          <a:prstGeom prst="rect">
            <a:avLst/>
          </a:prstGeom>
          <a:noFill/>
        </p:spPr>
        <p:txBody>
          <a:bodyPr wrap="square" lIns="0" rIns="0" tIns="0" bIns="0" anchor="t">
            <a:spAutoFit/>
          </a:bodyPr>
          <a:lstStyle/>
          <a:p>
            <a:pPr algn="l"/>
            <a:r>
              <a:rPr sz="1050" b="0" i="0">
                <a:solidFill>
                  <a:srgbClr val="1B2A41"/>
                </a:solidFill>
                <a:latin typeface="Arial"/>
              </a:rPr>
              <a:t>Mô phỏng 10.000 người bước ngẫu nhiên.</a:t>
            </a:r>
          </a:p>
        </p:txBody>
      </p:sp>
      <p:sp>
        <p:nvSpPr>
          <p:cNvPr id="12" name="Rounded Rectangle 11"/>
          <p:cNvSpPr/>
          <p:nvPr/>
        </p:nvSpPr>
        <p:spPr>
          <a:xfrm>
            <a:off x="548640" y="5017262"/>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7</a:t>
            </a:r>
          </a:p>
        </p:txBody>
      </p:sp>
      <p:sp>
        <p:nvSpPr>
          <p:cNvPr id="13" name="TextBox 12"/>
          <p:cNvSpPr txBox="1"/>
          <p:nvPr/>
        </p:nvSpPr>
        <p:spPr>
          <a:xfrm>
            <a:off x="1353312" y="4998974"/>
            <a:ext cx="2697480" cy="394588"/>
          </a:xfrm>
          <a:prstGeom prst="rect">
            <a:avLst/>
          </a:prstGeom>
          <a:noFill/>
        </p:spPr>
        <p:txBody>
          <a:bodyPr wrap="square" lIns="0" rIns="0" tIns="0" bIns="0" anchor="t">
            <a:spAutoFit/>
          </a:bodyPr>
          <a:lstStyle/>
          <a:p>
            <a:pPr algn="l"/>
            <a:r>
              <a:rPr sz="1050" b="0" i="0">
                <a:solidFill>
                  <a:srgbClr val="1B2A41"/>
                </a:solidFill>
                <a:latin typeface="Arial"/>
              </a:rPr>
              <a:t>Đo độ dao động ở ba thời điểm.</a:t>
            </a:r>
          </a:p>
        </p:txBody>
      </p:sp>
      <p:sp>
        <p:nvSpPr>
          <p:cNvPr id="14" name="Rounded Rectangle 13"/>
          <p:cNvSpPr/>
          <p:nvPr/>
        </p:nvSpPr>
        <p:spPr>
          <a:xfrm>
            <a:off x="548640" y="541185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11</a:t>
            </a:r>
          </a:p>
        </p:txBody>
      </p:sp>
      <p:sp>
        <p:nvSpPr>
          <p:cNvPr id="15" name="TextBox 14"/>
          <p:cNvSpPr txBox="1"/>
          <p:nvPr/>
        </p:nvSpPr>
        <p:spPr>
          <a:xfrm>
            <a:off x="1353312" y="5393563"/>
            <a:ext cx="2697480" cy="394588"/>
          </a:xfrm>
          <a:prstGeom prst="rect">
            <a:avLst/>
          </a:prstGeom>
          <a:noFill/>
        </p:spPr>
        <p:txBody>
          <a:bodyPr wrap="square" lIns="0" rIns="0" tIns="0" bIns="0" anchor="t">
            <a:spAutoFit/>
          </a:bodyPr>
          <a:lstStyle/>
          <a:p>
            <a:pPr algn="l"/>
            <a:r>
              <a:rPr sz="1050" b="0" i="0">
                <a:solidFill>
                  <a:srgbClr val="1B2A41"/>
                </a:solidFill>
                <a:latin typeface="Arial"/>
              </a:rPr>
              <a:t>Thuốc một: khử xu hướng bằng đường thẳng.</a:t>
            </a:r>
          </a:p>
        </p:txBody>
      </p:sp>
      <p:sp>
        <p:nvSpPr>
          <p:cNvPr id="16" name="Rounded Rectangle 15"/>
          <p:cNvSpPr/>
          <p:nvPr/>
        </p:nvSpPr>
        <p:spPr>
          <a:xfrm>
            <a:off x="4160520" y="46226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12</a:t>
            </a:r>
          </a:p>
        </p:txBody>
      </p:sp>
      <p:sp>
        <p:nvSpPr>
          <p:cNvPr id="17" name="TextBox 16"/>
          <p:cNvSpPr txBox="1"/>
          <p:nvPr/>
        </p:nvSpPr>
        <p:spPr>
          <a:xfrm>
            <a:off x="4965192" y="4604385"/>
            <a:ext cx="2697480" cy="394588"/>
          </a:xfrm>
          <a:prstGeom prst="rect">
            <a:avLst/>
          </a:prstGeom>
          <a:noFill/>
        </p:spPr>
        <p:txBody>
          <a:bodyPr wrap="square" lIns="0" rIns="0" tIns="0" bIns="0" anchor="t">
            <a:spAutoFit/>
          </a:bodyPr>
          <a:lstStyle/>
          <a:p>
            <a:pPr algn="l"/>
            <a:r>
              <a:rPr sz="1050" b="0" i="0">
                <a:solidFill>
                  <a:srgbClr val="1B2A41"/>
                </a:solidFill>
                <a:latin typeface="Arial"/>
              </a:rPr>
              <a:t>Thuốc hai: sai phân.</a:t>
            </a:r>
          </a:p>
        </p:txBody>
      </p:sp>
      <p:sp>
        <p:nvSpPr>
          <p:cNvPr id="18" name="Rounded Rectangle 17"/>
          <p:cNvSpPr/>
          <p:nvPr/>
        </p:nvSpPr>
        <p:spPr>
          <a:xfrm>
            <a:off x="4160520" y="5017262"/>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13</a:t>
            </a:r>
          </a:p>
        </p:txBody>
      </p:sp>
      <p:sp>
        <p:nvSpPr>
          <p:cNvPr id="19" name="TextBox 18"/>
          <p:cNvSpPr txBox="1"/>
          <p:nvPr/>
        </p:nvSpPr>
        <p:spPr>
          <a:xfrm>
            <a:off x="4965192" y="4998974"/>
            <a:ext cx="2697480" cy="394588"/>
          </a:xfrm>
          <a:prstGeom prst="rect">
            <a:avLst/>
          </a:prstGeom>
          <a:noFill/>
        </p:spPr>
        <p:txBody>
          <a:bodyPr wrap="square" lIns="0" rIns="0" tIns="0" bIns="0" anchor="t">
            <a:spAutoFit/>
          </a:bodyPr>
          <a:lstStyle/>
          <a:p>
            <a:pPr algn="l"/>
            <a:r>
              <a:rPr sz="1050" b="0" i="0">
                <a:solidFill>
                  <a:srgbClr val="1B2A41"/>
                </a:solidFill>
                <a:latin typeface="Arial"/>
              </a:rPr>
              <a:t>r1 phần còn lại cho biết thuốc có hợp không.</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Số bước gấp 25 lần thì độ lệch chuẩn gấp 5 lần (2,0 lên 10,1). Khử xu hướng random walk: r1 vẫn rất lớn; sai phân chuỗi xu hướng: r1 âm rõ.</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np.polyfit(t, y, 1)</a:t>
            </a:r>
            <a:r>
              <a:rPr sz="950" b="1" i="0">
                <a:solidFill>
                  <a:srgbClr val="5B6778"/>
                </a:solidFill>
                <a:latin typeface="Arial"/>
              </a:rPr>
              <a:t>   numpy</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Tìm đường thẳng khớp dữ liệu nhất, trả độ dốc và hệ số chặn.</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np.polyval(he_so, t)</a:t>
            </a:r>
            <a:r>
              <a:rPr sz="950" b="1" i="0">
                <a:solidFill>
                  <a:srgbClr val="5B6778"/>
                </a:solidFill>
                <a:latin typeface="Arial"/>
              </a:rPr>
              <a:t>   numpy</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Tính giá trị của đường thẳng đó tại từng thời điểm t.</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np.diff(y)</a:t>
            </a:r>
            <a:r>
              <a:rPr sz="950" b="1" i="0">
                <a:solidFill>
                  <a:srgbClr val="5B6778"/>
                </a:solidFill>
                <a:latin typeface="Arial"/>
              </a:rPr>
              <a:t>   numpy</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Sai phân: hiệu của mỗi giá trị với giá trị ngay trước.</a:t>
            </a:r>
          </a:p>
        </p:txBody>
      </p:sp>
      <p:sp>
        <p:nvSpPr>
          <p:cNvPr id="29" name="Rounded Rectangle 28"/>
          <p:cNvSpPr/>
          <p:nvPr/>
        </p:nvSpPr>
        <p:spPr>
          <a:xfrm>
            <a:off x="7863840" y="4059935"/>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0f005e10b2b4.png"/>
          <p:cNvPicPr>
            <a:picLocks noChangeAspect="1"/>
          </p:cNvPicPr>
          <p:nvPr/>
        </p:nvPicPr>
        <p:blipFill>
          <a:blip r:embed="rId2"/>
          <a:stretch>
            <a:fillRect/>
          </a:stretch>
        </p:blipFill>
        <p:spPr>
          <a:xfrm>
            <a:off x="9060180" y="4239767"/>
            <a:ext cx="1383792" cy="188976"/>
          </a:xfrm>
          <a:prstGeom prst="rect">
            <a:avLst/>
          </a:prstGeom>
        </p:spPr>
      </p:pic>
      <p:pic>
        <p:nvPicPr>
          <p:cNvPr id="31" name="Picture 30" descr="kn-random-walk.png"/>
          <p:cNvPicPr>
            <a:picLocks noChangeAspect="1"/>
          </p:cNvPicPr>
          <p:nvPr/>
        </p:nvPicPr>
        <p:blipFill>
          <a:blip r:embed="rId3"/>
          <a:stretch>
            <a:fillRect/>
          </a:stretch>
        </p:blipFill>
        <p:spPr>
          <a:xfrm>
            <a:off x="8040708" y="4745735"/>
            <a:ext cx="3422734" cy="1728216"/>
          </a:xfrm>
          <a:prstGeom prst="rect">
            <a:avLst/>
          </a:prstGeom>
        </p:spPr>
      </p:pic>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ADF + KPSS và bảng 2 × 2</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7</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Chạy hai kiểm định có giả thuyết ngược nhau, cùng dạng, rồi đọc kết luận từ bảng.</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from statsmodels.tsa.stattools import adfuller, kpss</a:t>
            </a:r>
          </a:p>
          <a:p>
            <a:r>
              <a:rPr sz="850">
                <a:solidFill>
                  <a:srgbClr val="6B7385"/>
                </a:solidFill>
                <a:latin typeface="Courier New"/>
              </a:rPr>
              <a:t> 3 </a:t>
            </a:r>
          </a:p>
          <a:p>
            <a:r>
              <a:rPr sz="850">
                <a:solidFill>
                  <a:srgbClr val="6B7385"/>
                </a:solidFill>
                <a:latin typeface="Courier New"/>
              </a:rPr>
              <a:t> 4 </a:t>
            </a:r>
            <a:r>
              <a:rPr sz="850">
                <a:solidFill>
                  <a:srgbClr val="E6EAF0"/>
                </a:solidFill>
                <a:latin typeface="Courier New"/>
              </a:rPr>
              <a:t>def kiem_dinh(y, dang="c"):      </a:t>
            </a:r>
            <a:r>
              <a:rPr sz="850">
                <a:solidFill>
                  <a:srgbClr val="8FC99A"/>
                </a:solidFill>
                <a:latin typeface="Courier New"/>
              </a:rPr>
              <a:t># "c": quanh một mức, "ct": quanh đường</a:t>
            </a:r>
          </a:p>
          <a:p>
            <a:r>
              <a:rPr sz="850">
                <a:solidFill>
                  <a:srgbClr val="6B7385"/>
                </a:solidFill>
                <a:latin typeface="Courier New"/>
              </a:rPr>
              <a:t> 5 </a:t>
            </a:r>
            <a:r>
              <a:rPr sz="850">
                <a:solidFill>
                  <a:srgbClr val="E6EAF0"/>
                </a:solidFill>
                <a:latin typeface="Courier New"/>
              </a:rPr>
              <a:t>    y = np.asarray(y, dtype=float)</a:t>
            </a:r>
          </a:p>
          <a:p>
            <a:r>
              <a:rPr sz="850">
                <a:solidFill>
                  <a:srgbClr val="6B7385"/>
                </a:solidFill>
                <a:latin typeface="Courier New"/>
              </a:rPr>
              <a:t> 6 </a:t>
            </a:r>
            <a:r>
              <a:rPr sz="850">
                <a:solidFill>
                  <a:srgbClr val="E6EAF0"/>
                </a:solidFill>
                <a:latin typeface="Courier New"/>
              </a:rPr>
              <a:t>    p_adf = adfuller(y, regression=dang, autolag="AIC",</a:t>
            </a:r>
          </a:p>
          <a:p>
            <a:r>
              <a:rPr sz="850">
                <a:solidFill>
                  <a:srgbClr val="6B7385"/>
                </a:solidFill>
                <a:latin typeface="Courier New"/>
              </a:rPr>
              <a:t> 7 </a:t>
            </a:r>
            <a:r>
              <a:rPr sz="850">
                <a:solidFill>
                  <a:srgbClr val="E6EAF0"/>
                </a:solidFill>
                <a:latin typeface="Courier New"/>
              </a:rPr>
              <a:t>                     result_object=True).pvalue</a:t>
            </a:r>
          </a:p>
          <a:p>
            <a:r>
              <a:rPr sz="850">
                <a:solidFill>
                  <a:srgbClr val="6B7385"/>
                </a:solidFill>
                <a:latin typeface="Courier New"/>
              </a:rPr>
              <a:t> 8 </a:t>
            </a:r>
            <a:r>
              <a:rPr sz="850">
                <a:solidFill>
                  <a:srgbClr val="E6EAF0"/>
                </a:solidFill>
                <a:latin typeface="Courier New"/>
              </a:rPr>
              <a:t>    p_kpss = kpss(y, regression=dang, nlags="auto",</a:t>
            </a:r>
          </a:p>
          <a:p>
            <a:r>
              <a:rPr sz="850">
                <a:solidFill>
                  <a:srgbClr val="6B7385"/>
                </a:solidFill>
                <a:latin typeface="Courier New"/>
              </a:rPr>
              <a:t> 9 </a:t>
            </a:r>
            <a:r>
              <a:rPr sz="850">
                <a:solidFill>
                  <a:srgbClr val="E6EAF0"/>
                </a:solidFill>
                <a:latin typeface="Courier New"/>
              </a:rPr>
              <a:t>                  result_object=True).pvalue</a:t>
            </a:r>
          </a:p>
          <a:p>
            <a:r>
              <a:rPr sz="850">
                <a:solidFill>
                  <a:srgbClr val="6B7385"/>
                </a:solidFill>
                <a:latin typeface="Courier New"/>
              </a:rPr>
              <a:t>10 </a:t>
            </a:r>
            <a:r>
              <a:rPr sz="850">
                <a:solidFill>
                  <a:srgbClr val="E6EAF0"/>
                </a:solidFill>
                <a:latin typeface="Courier New"/>
              </a:rPr>
              <a:t>    return p_adf, p_kpss</a:t>
            </a:r>
          </a:p>
          <a:p>
            <a:r>
              <a:rPr sz="850">
                <a:solidFill>
                  <a:srgbClr val="6B7385"/>
                </a:solidFill>
                <a:latin typeface="Courier New"/>
              </a:rPr>
              <a:t>11 </a:t>
            </a:r>
            <a:r>
              <a:rPr sz="850">
                <a:solidFill>
                  <a:srgbClr val="E6EAF0"/>
                </a:solidFill>
                <a:latin typeface="Courier New"/>
              </a:rPr>
              <a:t>def o_bang(p_adf, p_kpss):       </a:t>
            </a:r>
            <a:r>
              <a:rPr sz="850">
                <a:solidFill>
                  <a:srgbClr val="8FC99A"/>
                </a:solidFill>
                <a:latin typeface="Courier New"/>
              </a:rPr>
              <a:t># ADF bác bỏ? KPSS bác bỏ?</a:t>
            </a:r>
          </a:p>
          <a:p>
            <a:r>
              <a:rPr sz="850">
                <a:solidFill>
                  <a:srgbClr val="6B7385"/>
                </a:solidFill>
                <a:latin typeface="Courier New"/>
              </a:rPr>
              <a:t>12 </a:t>
            </a:r>
            <a:r>
              <a:rPr sz="850">
                <a:solidFill>
                  <a:srgbClr val="E6EAF0"/>
                </a:solidFill>
                <a:latin typeface="Courier New"/>
              </a:rPr>
              <a:t>    ten = {(True, False): "dừng", (False, True): "không dừng",</a:t>
            </a:r>
          </a:p>
          <a:p>
            <a:r>
              <a:rPr sz="850">
                <a:solidFill>
                  <a:srgbClr val="6B7385"/>
                </a:solidFill>
                <a:latin typeface="Courier New"/>
              </a:rPr>
              <a:t>13 </a:t>
            </a:r>
            <a:r>
              <a:rPr sz="850">
                <a:solidFill>
                  <a:srgbClr val="E6EAF0"/>
                </a:solidFill>
                <a:latin typeface="Courier New"/>
              </a:rPr>
              <a:t>           (True, True): "mâu thuẫn", (False, False): "không đủ bằng chứng"}</a:t>
            </a:r>
          </a:p>
          <a:p>
            <a:r>
              <a:rPr sz="850">
                <a:solidFill>
                  <a:srgbClr val="6B7385"/>
                </a:solidFill>
                <a:latin typeface="Courier New"/>
              </a:rPr>
              <a:t>14 </a:t>
            </a:r>
            <a:r>
              <a:rPr sz="850">
                <a:solidFill>
                  <a:srgbClr val="E6EAF0"/>
                </a:solidFill>
                <a:latin typeface="Courier New"/>
              </a:rPr>
              <a:t>    return ten[(p_adf &lt; 0.05, p_kpss &lt; 0.05)]</a:t>
            </a:r>
          </a:p>
          <a:p>
            <a:r>
              <a:rPr sz="850">
                <a:solidFill>
                  <a:srgbClr val="6B7385"/>
                </a:solidFill>
                <a:latin typeface="Courier New"/>
              </a:rPr>
              <a:t>15 </a:t>
            </a:r>
            <a:r>
              <a:rPr sz="850">
                <a:solidFill>
                  <a:srgbClr val="E6EAF0"/>
                </a:solidFill>
                <a:latin typeface="Courier New"/>
              </a:rPr>
              <a:t>y = 0.05 * np.arange(500) + np.random.default_rng(42).normal(size=500)</a:t>
            </a:r>
          </a:p>
          <a:p>
            <a:r>
              <a:rPr sz="850">
                <a:solidFill>
                  <a:srgbClr val="6B7385"/>
                </a:solidFill>
                <a:latin typeface="Courier New"/>
              </a:rPr>
              <a:t>16 </a:t>
            </a:r>
            <a:r>
              <a:rPr sz="850">
                <a:solidFill>
                  <a:srgbClr val="E6EAF0"/>
                </a:solidFill>
                <a:latin typeface="Courier New"/>
              </a:rPr>
              <a:t>kq = {d: o_bang(*kiem_dinh(y, d)) for d in ("c", "ct")}   </a:t>
            </a:r>
            <a:r>
              <a:rPr sz="850">
                <a:solidFill>
                  <a:srgbClr val="8FC99A"/>
                </a:solidFill>
                <a:latin typeface="Courier New"/>
              </a:rPr>
              <a:t># hai dạng</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buoi-07/tu-hoc.ipynb, phần 5</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4</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Dạng kiểm định phải khai rõ, cả hai dùng chung.</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6–7</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ADF: p nhỏ là có bằng chứng dừng.</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8–9</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KPSS: p nhỏ là có bằng chứng không dừng.</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11–14</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Ghép hai kết quả thành một ô của bảng 2 × 2.</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15–16</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Thử chuỗi xu hướng với dạng c và ct.</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Xu hướng 0,05t: dạng c nói không dừng, chỉ dạng ct cho thấy chuỗi dừng quanh xu hướng. Random walk có ADF p = 0,073; KPSS bắt được.</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adfuller(y, regression, autolag)</a:t>
            </a:r>
            <a:r>
              <a:rPr sz="950" b="1" i="0">
                <a:solidFill>
                  <a:srgbClr val="5B6778"/>
                </a:solidFill>
                <a:latin typeface="Arial"/>
              </a:rPr>
              <a:t>   statsmodels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Kiểm định ADF; giả thuyết gốc là có nghiệm đơn vị (không dừng).</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kpss(y, regression, nlags)</a:t>
            </a:r>
            <a:r>
              <a:rPr sz="950" b="1" i="0">
                <a:solidFill>
                  <a:srgbClr val="5B6778"/>
                </a:solidFill>
                <a:latin typeface="Arial"/>
              </a:rPr>
              <a:t>   statsmodels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Kiểm định KPSS; giả thuyết gốc là dừng, p bị cắt ở 0,01 và 0,1.</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o_bang</a:t>
            </a:r>
            <a:r>
              <a:rPr sz="950" b="1" i="0">
                <a:solidFill>
                  <a:srgbClr val="5B6778"/>
                </a:solidFill>
                <a:latin typeface="Arial"/>
              </a:rPr>
              <a:t>   tự viết</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Đổi cặp p-value thành một trong bốn kết luận.</a:t>
            </a:r>
          </a:p>
        </p:txBody>
      </p:sp>
      <p:pic>
        <p:nvPicPr>
          <p:cNvPr id="29" name="Picture 28" descr="kn-adf-kpss.png"/>
          <p:cNvPicPr>
            <a:picLocks noChangeAspect="1"/>
          </p:cNvPicPr>
          <p:nvPr/>
        </p:nvPicPr>
        <p:blipFill>
          <a:blip r:embed="rId2"/>
          <a:stretch>
            <a:fillRect/>
          </a:stretch>
        </p:blipFill>
        <p:spPr>
          <a:xfrm>
            <a:off x="7863840" y="4356129"/>
            <a:ext cx="3776472" cy="1849060"/>
          </a:xfrm>
          <a:prstGeom prst="rect">
            <a:avLst/>
          </a:prstGeom>
        </p:spPr>
      </p:pic>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hai dấu hiệu sai phân thừa</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7</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Biết khi nào dừng sai phân: r1 gần −0,5 hoặc độ lệch chuẩn tăng lên.</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import pandas as pd</a:t>
            </a:r>
          </a:p>
          <a:p>
            <a:r>
              <a:rPr sz="850">
                <a:solidFill>
                  <a:srgbClr val="6B7385"/>
                </a:solidFill>
                <a:latin typeface="Courier New"/>
              </a:rPr>
              <a:t> 3 </a:t>
            </a:r>
            <a:r>
              <a:rPr sz="850">
                <a:solidFill>
                  <a:srgbClr val="E6EAF0"/>
                </a:solidFill>
                <a:latin typeface="Courier New"/>
              </a:rPr>
              <a:t>from statsmodels.tsa.stattools import acf</a:t>
            </a:r>
          </a:p>
          <a:p>
            <a:r>
              <a:rPr sz="850">
                <a:solidFill>
                  <a:srgbClr val="6B7385"/>
                </a:solidFill>
                <a:latin typeface="Courier New"/>
              </a:rPr>
              <a:t> 4 </a:t>
            </a:r>
          </a:p>
          <a:p>
            <a:r>
              <a:rPr sz="850">
                <a:solidFill>
                  <a:srgbClr val="6B7385"/>
                </a:solidFill>
                <a:latin typeface="Courier New"/>
              </a:rPr>
              <a:t> 5 </a:t>
            </a:r>
            <a:r>
              <a:rPr sz="850">
                <a:solidFill>
                  <a:srgbClr val="E6EAF0"/>
                </a:solidFill>
                <a:latin typeface="Courier New"/>
              </a:rPr>
              <a:t>def dau_hieu(y):</a:t>
            </a:r>
          </a:p>
          <a:p>
            <a:r>
              <a:rPr sz="850">
                <a:solidFill>
                  <a:srgbClr val="6B7385"/>
                </a:solidFill>
                <a:latin typeface="Courier New"/>
              </a:rPr>
              <a:t> 6 </a:t>
            </a:r>
            <a:r>
              <a:rPr sz="850">
                <a:solidFill>
                  <a:srgbClr val="E6EAF0"/>
                </a:solidFill>
                <a:latin typeface="Courier New"/>
              </a:rPr>
              <a:t>    y = pd.Series(np.asarray(y, dtype=float)).dropna()</a:t>
            </a:r>
          </a:p>
          <a:p>
            <a:r>
              <a:rPr sz="850">
                <a:solidFill>
                  <a:srgbClr val="6B7385"/>
                </a:solidFill>
                <a:latin typeface="Courier New"/>
              </a:rPr>
              <a:t> 7 </a:t>
            </a:r>
            <a:r>
              <a:rPr sz="850">
                <a:solidFill>
                  <a:srgbClr val="E6EAF0"/>
                </a:solidFill>
                <a:latin typeface="Courier New"/>
              </a:rPr>
              <a:t>    sp = y.diff().dropna()                       </a:t>
            </a:r>
            <a:r>
              <a:rPr sz="850">
                <a:solidFill>
                  <a:srgbClr val="8FC99A"/>
                </a:solidFill>
                <a:latin typeface="Courier New"/>
              </a:rPr>
              <a:t># sai phân một lần</a:t>
            </a:r>
          </a:p>
          <a:p>
            <a:r>
              <a:rPr sz="850">
                <a:solidFill>
                  <a:srgbClr val="6B7385"/>
                </a:solidFill>
                <a:latin typeface="Courier New"/>
              </a:rPr>
              <a:t> 8 </a:t>
            </a:r>
            <a:r>
              <a:rPr sz="850">
                <a:solidFill>
                  <a:srgbClr val="E6EAF0"/>
                </a:solidFill>
                <a:latin typeface="Courier New"/>
              </a:rPr>
              <a:t>    return acf(sp, nlags=1)[1], y.std(ddof=1), sp.std(ddof=1)</a:t>
            </a:r>
          </a:p>
          <a:p>
            <a:r>
              <a:rPr sz="850">
                <a:solidFill>
                  <a:srgbClr val="6B7385"/>
                </a:solidFill>
                <a:latin typeface="Courier New"/>
              </a:rPr>
              <a:t> 9 </a:t>
            </a:r>
          </a:p>
          <a:p>
            <a:r>
              <a:rPr sz="850">
                <a:solidFill>
                  <a:srgbClr val="6B7385"/>
                </a:solidFill>
                <a:latin typeface="Courier New"/>
              </a:rPr>
              <a:t>10 </a:t>
            </a:r>
            <a:r>
              <a:rPr sz="850">
                <a:solidFill>
                  <a:srgbClr val="E6EAF0"/>
                </a:solidFill>
                <a:latin typeface="Courier New"/>
              </a:rPr>
              <a:t>e = np.random.default_rng(42).normal(size=500)</a:t>
            </a:r>
          </a:p>
          <a:p>
            <a:r>
              <a:rPr sz="850">
                <a:solidFill>
                  <a:srgbClr val="6B7385"/>
                </a:solidFill>
                <a:latin typeface="Courier New"/>
              </a:rPr>
              <a:t>11 </a:t>
            </a:r>
            <a:r>
              <a:rPr sz="850">
                <a:solidFill>
                  <a:srgbClr val="E6EAF0"/>
                </a:solidFill>
                <a:latin typeface="Courier New"/>
              </a:rPr>
              <a:t>print(dau_hieu(e))              </a:t>
            </a:r>
            <a:r>
              <a:rPr sz="850">
                <a:solidFill>
                  <a:srgbClr val="8FC99A"/>
                </a:solidFill>
                <a:latin typeface="Courier New"/>
              </a:rPr>
              <a:t># đã dừng: sai phân là thừa</a:t>
            </a:r>
          </a:p>
          <a:p>
            <a:r>
              <a:rPr sz="850">
                <a:solidFill>
                  <a:srgbClr val="6B7385"/>
                </a:solidFill>
                <a:latin typeface="Courier New"/>
              </a:rPr>
              <a:t>12 </a:t>
            </a:r>
            <a:r>
              <a:rPr sz="850">
                <a:solidFill>
                  <a:srgbClr val="E6EAF0"/>
                </a:solidFill>
                <a:latin typeface="Courier New"/>
              </a:rPr>
              <a:t>print(dau_hieu(e.cumsum()))     </a:t>
            </a:r>
            <a:r>
              <a:rPr sz="850">
                <a:solidFill>
                  <a:srgbClr val="8FC99A"/>
                </a:solidFill>
                <a:latin typeface="Courier New"/>
              </a:rPr>
              <a:t># random walk: sai phân đúng liều</a:t>
            </a:r>
          </a:p>
          <a:p>
            <a:r>
              <a:rPr sz="850">
                <a:solidFill>
                  <a:srgbClr val="6B7385"/>
                </a:solidFill>
                <a:latin typeface="Courier New"/>
              </a:rPr>
              <a:t>13 </a:t>
            </a:r>
          </a:p>
          <a:p>
            <a:r>
              <a:rPr sz="850">
                <a:solidFill>
                  <a:srgbClr val="6B7385"/>
                </a:solidFill>
                <a:latin typeface="Courier New"/>
              </a:rPr>
              <a:t>14 </a:t>
            </a:r>
            <a:r>
              <a:rPr sz="850">
                <a:solidFill>
                  <a:srgbClr val="E6EAF0"/>
                </a:solidFill>
                <a:latin typeface="Courier New"/>
              </a:rPr>
              <a:t>g = np.log1p(luot.interpolate(limit=3))          </a:t>
            </a:r>
            <a:r>
              <a:rPr sz="850">
                <a:solidFill>
                  <a:srgbClr val="8FC99A"/>
                </a:solidFill>
                <a:latin typeface="Courier New"/>
              </a:rPr>
              <a:t># lượt thuê theo giờ</a:t>
            </a:r>
          </a:p>
          <a:p>
            <a:r>
              <a:rPr sz="850">
                <a:solidFill>
                  <a:srgbClr val="6B7385"/>
                </a:solidFill>
                <a:latin typeface="Courier New"/>
              </a:rPr>
              <a:t>15 </a:t>
            </a:r>
            <a:r>
              <a:rPr sz="850">
                <a:solidFill>
                  <a:srgbClr val="E6EAF0"/>
                </a:solidFill>
                <a:latin typeface="Courier New"/>
              </a:rPr>
              <a:t>for s in (g.diff(), g.diff(168), g.diff(168).diff()):</a:t>
            </a:r>
          </a:p>
          <a:p>
            <a:r>
              <a:rPr sz="850">
                <a:solidFill>
                  <a:srgbClr val="6B7385"/>
                </a:solidFill>
                <a:latin typeface="Courier New"/>
              </a:rPr>
              <a:t>16 </a:t>
            </a:r>
            <a:r>
              <a:rPr sz="850">
                <a:solidFill>
                  <a:srgbClr val="E6EAF0"/>
                </a:solidFill>
                <a:latin typeface="Courier New"/>
              </a:rPr>
              <a:t>    print(acf(s.dropna(), nlags=168)[[1, 24, 168]], s.std(ddof=1))</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buoi-07/tu-hoc.ipynb, phần 6</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5–8</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Trả r1 sau sai phân và độ lệch chuẩn trước, sau.</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11</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Sai phân chuỗi đã dừng để thấy dấu hiệu thừa.</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12</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Sai phân random walk để thấy đúng liều.</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14</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log(1 + y) vì có giờ không ai thuê xe.</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15–16</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So sai phân thường, mùa vụ 168 và cả hai.</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Nhiễu trắng: r1 = −0,447, độ lệch chuẩn 0,96 lên 1,29 (thừa). Random walk: 4,55 xuống 0,96. Lượt thuê: 168 rồi thường giảm 0,589 xuống 0,427.</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diff(k)</a:t>
            </a:r>
            <a:r>
              <a:rPr sz="950" b="1" i="0">
                <a:solidFill>
                  <a:srgbClr val="5B6778"/>
                </a:solidFill>
                <a:latin typeface="Arial"/>
              </a:rPr>
              <a:t>   pandas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Trừ mỗi giá trị cho giá trị cách k bước; k = 168: cùng giờ tuần trước.</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np.log1p(y)</a:t>
            </a:r>
            <a:r>
              <a:rPr sz="950" b="1" i="0">
                <a:solidFill>
                  <a:srgbClr val="5B6778"/>
                </a:solidFill>
                <a:latin typeface="Arial"/>
              </a:rPr>
              <a:t>   numpy</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Tính log(1 + y), dùng được cả khi y bằng 0.</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std(ddof=1)</a:t>
            </a:r>
            <a:r>
              <a:rPr sz="950" b="1" i="0">
                <a:solidFill>
                  <a:srgbClr val="5B6778"/>
                </a:solidFill>
                <a:latin typeface="Arial"/>
              </a:rPr>
              <a:t>   pandas</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Độ lệch chuẩn mẫu: đo chuỗi dao động mạnh cỡ nào.</a:t>
            </a:r>
          </a:p>
        </p:txBody>
      </p:sp>
      <p:sp>
        <p:nvSpPr>
          <p:cNvPr id="29" name="Rounded Rectangle 28"/>
          <p:cNvSpPr/>
          <p:nvPr/>
        </p:nvSpPr>
        <p:spPr>
          <a:xfrm>
            <a:off x="7863840" y="4059935"/>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2d3e563a28d2.png"/>
          <p:cNvPicPr>
            <a:picLocks noChangeAspect="1"/>
          </p:cNvPicPr>
          <p:nvPr/>
        </p:nvPicPr>
        <p:blipFill>
          <a:blip r:embed="rId2"/>
          <a:stretch>
            <a:fillRect/>
          </a:stretch>
        </p:blipFill>
        <p:spPr>
          <a:xfrm>
            <a:off x="7955279" y="4233635"/>
            <a:ext cx="3593592" cy="201241"/>
          </a:xfrm>
          <a:prstGeom prst="rect">
            <a:avLst/>
          </a:prstGeom>
        </p:spPr>
      </p:pic>
      <p:pic>
        <p:nvPicPr>
          <p:cNvPr id="31" name="Picture 30" descr="sai-phan-thua.png"/>
          <p:cNvPicPr>
            <a:picLocks noChangeAspect="1"/>
          </p:cNvPicPr>
          <p:nvPr/>
        </p:nvPicPr>
        <p:blipFill>
          <a:blip r:embed="rId3"/>
          <a:stretch>
            <a:fillRect/>
          </a:stretch>
        </p:blipFill>
        <p:spPr>
          <a:xfrm>
            <a:off x="8174416" y="4745735"/>
            <a:ext cx="3155319" cy="1728216"/>
          </a:xfrm>
          <a:prstGeom prst="rect">
            <a:avLst/>
          </a:prstGeom>
        </p:spPr>
      </p:pic>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Pearson, Spearman và Anscombe</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8</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Thấy một hệ số tương quan giấu được cả hình dạng, nên luôn phải vẽ trước.</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from scipy import stats</a:t>
            </a:r>
          </a:p>
          <a:p>
            <a:r>
              <a:rPr sz="850">
                <a:solidFill>
                  <a:srgbClr val="6B7385"/>
                </a:solidFill>
                <a:latin typeface="Courier New"/>
              </a:rPr>
              <a:t> 3 </a:t>
            </a:r>
          </a:p>
          <a:p>
            <a:r>
              <a:rPr sz="850">
                <a:solidFill>
                  <a:srgbClr val="6B7385"/>
                </a:solidFill>
                <a:latin typeface="Courier New"/>
              </a:rPr>
              <a:t> 4 </a:t>
            </a:r>
            <a:r>
              <a:rPr sz="850">
                <a:solidFill>
                  <a:srgbClr val="E6EAF0"/>
                </a:solidFill>
                <a:latin typeface="Courier New"/>
              </a:rPr>
              <a:t>for x in (np.arange(1, 6), np.arange(-2, 3)):     </a:t>
            </a:r>
            <a:r>
              <a:rPr sz="850">
                <a:solidFill>
                  <a:srgbClr val="8FC99A"/>
                </a:solidFill>
                <a:latin typeface="Courier New"/>
              </a:rPr>
              <a:t># y = x² trên hai khoảng</a:t>
            </a:r>
          </a:p>
          <a:p>
            <a:r>
              <a:rPr sz="850">
                <a:solidFill>
                  <a:srgbClr val="6B7385"/>
                </a:solidFill>
                <a:latin typeface="Courier New"/>
              </a:rPr>
              <a:t> 5 </a:t>
            </a:r>
            <a:r>
              <a:rPr sz="850">
                <a:solidFill>
                  <a:srgbClr val="E6EAF0"/>
                </a:solidFill>
                <a:latin typeface="Courier New"/>
              </a:rPr>
              <a:t>    print(stats.pearsonr(x, x**2)[0], stats.spearmanr(x, x**2)[0])</a:t>
            </a:r>
          </a:p>
          <a:p>
            <a:r>
              <a:rPr sz="850">
                <a:solidFill>
                  <a:srgbClr val="6B7385"/>
                </a:solidFill>
                <a:latin typeface="Courier New"/>
              </a:rPr>
              <a:t> 6 </a:t>
            </a:r>
          </a:p>
          <a:p>
            <a:r>
              <a:rPr sz="850">
                <a:solidFill>
                  <a:srgbClr val="6B7385"/>
                </a:solidFill>
                <a:latin typeface="Courier New"/>
              </a:rPr>
              <a:t> 7 </a:t>
            </a:r>
            <a:r>
              <a:rPr sz="850">
                <a:solidFill>
                  <a:srgbClr val="E6EAF0"/>
                </a:solidFill>
                <a:latin typeface="Courier New"/>
              </a:rPr>
              <a:t>X0 = [10, 8, 13, 9, 11, 14, 6, 4, 12, 7, 5]</a:t>
            </a:r>
          </a:p>
          <a:p>
            <a:r>
              <a:rPr sz="850">
                <a:solidFill>
                  <a:srgbClr val="6B7385"/>
                </a:solidFill>
                <a:latin typeface="Courier New"/>
              </a:rPr>
              <a:t> 8 </a:t>
            </a:r>
            <a:r>
              <a:rPr sz="850">
                <a:solidFill>
                  <a:srgbClr val="E6EAF0"/>
                </a:solidFill>
                <a:latin typeface="Courier New"/>
              </a:rPr>
              <a:t>ANSCOMBE = {</a:t>
            </a:r>
          </a:p>
          <a:p>
            <a:r>
              <a:rPr sz="850">
                <a:solidFill>
                  <a:srgbClr val="6B7385"/>
                </a:solidFill>
                <a:latin typeface="Courier New"/>
              </a:rPr>
              <a:t> 9 </a:t>
            </a:r>
            <a:r>
              <a:rPr sz="850">
                <a:solidFill>
                  <a:srgbClr val="E6EAF0"/>
                </a:solidFill>
                <a:latin typeface="Courier New"/>
              </a:rPr>
              <a:t>    "I": (X0, [8.04, 6.95, 7.58, 8.81, 8.33, 9.96, 7.24, 4.26, 10.84,</a:t>
            </a:r>
          </a:p>
          <a:p>
            <a:r>
              <a:rPr sz="850">
                <a:solidFill>
                  <a:srgbClr val="6B7385"/>
                </a:solidFill>
                <a:latin typeface="Courier New"/>
              </a:rPr>
              <a:t>10 </a:t>
            </a:r>
            <a:r>
              <a:rPr sz="850">
                <a:solidFill>
                  <a:srgbClr val="E6EAF0"/>
                </a:solidFill>
                <a:latin typeface="Courier New"/>
              </a:rPr>
              <a:t>               4.82, 5.68]),</a:t>
            </a:r>
          </a:p>
          <a:p>
            <a:r>
              <a:rPr sz="850">
                <a:solidFill>
                  <a:srgbClr val="6B7385"/>
                </a:solidFill>
                <a:latin typeface="Courier New"/>
              </a:rPr>
              <a:t>11 </a:t>
            </a:r>
            <a:r>
              <a:rPr sz="850">
                <a:solidFill>
                  <a:srgbClr val="E6EAF0"/>
                </a:solidFill>
                <a:latin typeface="Courier New"/>
              </a:rPr>
              <a:t>    "IV": ([8, 8, 8, 8, 8, 8, 8, 19, 8, 8, 8],</a:t>
            </a:r>
          </a:p>
          <a:p>
            <a:r>
              <a:rPr sz="850">
                <a:solidFill>
                  <a:srgbClr val="6B7385"/>
                </a:solidFill>
                <a:latin typeface="Courier New"/>
              </a:rPr>
              <a:t>12 </a:t>
            </a:r>
            <a:r>
              <a:rPr sz="850">
                <a:solidFill>
                  <a:srgbClr val="E6EAF0"/>
                </a:solidFill>
                <a:latin typeface="Courier New"/>
              </a:rPr>
              <a:t>           [6.58, 5.76, 7.71, 8.84, 8.47, 7.04, 5.25, 12.50, 5.56, 7.91,</a:t>
            </a:r>
          </a:p>
          <a:p>
            <a:r>
              <a:rPr sz="850">
                <a:solidFill>
                  <a:srgbClr val="6B7385"/>
                </a:solidFill>
                <a:latin typeface="Courier New"/>
              </a:rPr>
              <a:t>13 </a:t>
            </a:r>
            <a:r>
              <a:rPr sz="850">
                <a:solidFill>
                  <a:srgbClr val="E6EAF0"/>
                </a:solidFill>
                <a:latin typeface="Courier New"/>
              </a:rPr>
              <a:t>            6.89]),</a:t>
            </a:r>
          </a:p>
          <a:p>
            <a:r>
              <a:rPr sz="850">
                <a:solidFill>
                  <a:srgbClr val="6B7385"/>
                </a:solidFill>
                <a:latin typeface="Courier New"/>
              </a:rPr>
              <a:t>14 </a:t>
            </a:r>
            <a:r>
              <a:rPr sz="850">
                <a:solidFill>
                  <a:srgbClr val="E6EAF0"/>
                </a:solidFill>
                <a:latin typeface="Courier New"/>
              </a:rPr>
              <a:t>}                                                 </a:t>
            </a:r>
            <a:r>
              <a:rPr sz="850">
                <a:solidFill>
                  <a:srgbClr val="8FC99A"/>
                </a:solidFill>
                <a:latin typeface="Courier New"/>
              </a:rPr>
              <a:t># bộ II, III tương tự</a:t>
            </a:r>
          </a:p>
          <a:p>
            <a:r>
              <a:rPr sz="850">
                <a:solidFill>
                  <a:srgbClr val="6B7385"/>
                </a:solidFill>
                <a:latin typeface="Courier New"/>
              </a:rPr>
              <a:t>15 </a:t>
            </a:r>
            <a:r>
              <a:rPr sz="850">
                <a:solidFill>
                  <a:srgbClr val="E6EAF0"/>
                </a:solidFill>
                <a:latin typeface="Courier New"/>
              </a:rPr>
              <a:t>for ten, (x, y) in ANSCOMBE.items():</a:t>
            </a:r>
          </a:p>
          <a:p>
            <a:r>
              <a:rPr sz="850">
                <a:solidFill>
                  <a:srgbClr val="6B7385"/>
                </a:solidFill>
                <a:latin typeface="Courier New"/>
              </a:rPr>
              <a:t>16 </a:t>
            </a:r>
            <a:r>
              <a:rPr sz="850">
                <a:solidFill>
                  <a:srgbClr val="E6EAF0"/>
                </a:solidFill>
                <a:latin typeface="Courier New"/>
              </a:rPr>
              <a:t>    print(ten, stats.pearsonr(x, y)[0], stats.spearmanr(x, y)[0])</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buoi-08/tu-hoc.ipynb, phần 1</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4–5</a:t>
            </a:r>
          </a:p>
        </p:txBody>
      </p:sp>
      <p:sp>
        <p:nvSpPr>
          <p:cNvPr id="11" name="TextBox 10"/>
          <p:cNvSpPr txBox="1"/>
          <p:nvPr/>
        </p:nvSpPr>
        <p:spPr>
          <a:xfrm>
            <a:off x="1353312" y="4634357"/>
            <a:ext cx="2697480" cy="457200"/>
          </a:xfrm>
          <a:prstGeom prst="rect">
            <a:avLst/>
          </a:prstGeom>
          <a:noFill/>
        </p:spPr>
        <p:txBody>
          <a:bodyPr wrap="square" lIns="0" rIns="0" tIns="0" bIns="0" anchor="t">
            <a:spAutoFit/>
          </a:bodyPr>
          <a:lstStyle/>
          <a:p>
            <a:pPr algn="l"/>
            <a:r>
              <a:rPr sz="1050" b="0" i="0">
                <a:solidFill>
                  <a:srgbClr val="1B2A41"/>
                </a:solidFill>
                <a:latin typeface="Arial"/>
              </a:rPr>
              <a:t>Chữ U: Pearson ra 0 dù y phụ thuộc hẳn vào x.</a:t>
            </a:r>
          </a:p>
        </p:txBody>
      </p:sp>
      <p:sp>
        <p:nvSpPr>
          <p:cNvPr id="12" name="Rounded Rectangle 11"/>
          <p:cNvSpPr/>
          <p:nvPr/>
        </p:nvSpPr>
        <p:spPr>
          <a:xfrm>
            <a:off x="548640" y="51098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7–14</a:t>
            </a:r>
          </a:p>
        </p:txBody>
      </p:sp>
      <p:sp>
        <p:nvSpPr>
          <p:cNvPr id="13" name="TextBox 12"/>
          <p:cNvSpPr txBox="1"/>
          <p:nvPr/>
        </p:nvSpPr>
        <p:spPr>
          <a:xfrm>
            <a:off x="1353312" y="5091557"/>
            <a:ext cx="2697480" cy="457200"/>
          </a:xfrm>
          <a:prstGeom prst="rect">
            <a:avLst/>
          </a:prstGeom>
          <a:noFill/>
        </p:spPr>
        <p:txBody>
          <a:bodyPr wrap="square" lIns="0" rIns="0" tIns="0" bIns="0" anchor="t">
            <a:spAutoFit/>
          </a:bodyPr>
          <a:lstStyle/>
          <a:p>
            <a:pPr algn="l"/>
            <a:r>
              <a:rPr sz="1050" b="0" i="0">
                <a:solidFill>
                  <a:srgbClr val="1B2A41"/>
                </a:solidFill>
                <a:latin typeface="Arial"/>
              </a:rPr>
              <a:t>Hai trong bốn bộ Anscombe, rất khác hình.</a:t>
            </a:r>
          </a:p>
        </p:txBody>
      </p:sp>
      <p:sp>
        <p:nvSpPr>
          <p:cNvPr id="14" name="Rounded Rectangle 13"/>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15–16</a:t>
            </a:r>
          </a:p>
        </p:txBody>
      </p:sp>
      <p:sp>
        <p:nvSpPr>
          <p:cNvPr id="15" name="TextBox 14"/>
          <p:cNvSpPr txBox="1"/>
          <p:nvPr/>
        </p:nvSpPr>
        <p:spPr>
          <a:xfrm>
            <a:off x="4965192" y="4634357"/>
            <a:ext cx="2697480" cy="457200"/>
          </a:xfrm>
          <a:prstGeom prst="rect">
            <a:avLst/>
          </a:prstGeom>
          <a:noFill/>
        </p:spPr>
        <p:txBody>
          <a:bodyPr wrap="square" lIns="0" rIns="0" tIns="0" bIns="0" anchor="t">
            <a:spAutoFit/>
          </a:bodyPr>
          <a:lstStyle/>
          <a:p>
            <a:pPr algn="l"/>
            <a:r>
              <a:rPr sz="1050" b="0" i="0">
                <a:solidFill>
                  <a:srgbClr val="1B2A41"/>
                </a:solidFill>
                <a:latin typeface="Arial"/>
              </a:rPr>
              <a:t>Tính hai hệ số cho từng bộ để so.</a:t>
            </a:r>
          </a:p>
        </p:txBody>
      </p:sp>
      <p:sp>
        <p:nvSpPr>
          <p:cNvPr id="16" name="Rounded Rectangle 15"/>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Với x từ −2 tới 2, y = x²: Pearson 0. Bốn bộ Anscombe cùng Pearson 0,82 nhưng Spearman từ 0,5 tới 0,99: bốn câu chuyện khác nhau.</a:t>
            </a:r>
          </a:p>
        </p:txBody>
      </p:sp>
      <p:sp>
        <p:nvSpPr>
          <p:cNvPr id="18" name="TextBox 17"/>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19" name="TextBox 18"/>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stats.pearsonr(x, y)</a:t>
            </a:r>
            <a:r>
              <a:rPr sz="950" b="1" i="0">
                <a:solidFill>
                  <a:srgbClr val="5B6778"/>
                </a:solidFill>
                <a:latin typeface="Arial"/>
              </a:rPr>
              <a:t>   scipy</a:t>
            </a:r>
          </a:p>
        </p:txBody>
      </p:sp>
      <p:sp>
        <p:nvSpPr>
          <p:cNvPr id="20" name="TextBox 19"/>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Tương quan Pearson: đo quan hệ theo đường thẳng, kèm p-value.</a:t>
            </a:r>
          </a:p>
        </p:txBody>
      </p:sp>
      <p:sp>
        <p:nvSpPr>
          <p:cNvPr id="21" name="TextBox 20"/>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stats.spearmanr(x, y)</a:t>
            </a:r>
            <a:r>
              <a:rPr sz="950" b="1" i="0">
                <a:solidFill>
                  <a:srgbClr val="5B6778"/>
                </a:solidFill>
                <a:latin typeface="Arial"/>
              </a:rPr>
              <a:t>   scipy</a:t>
            </a:r>
          </a:p>
        </p:txBody>
      </p:sp>
      <p:sp>
        <p:nvSpPr>
          <p:cNvPr id="22" name="TextBox 21"/>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Tương quan trên thứ hạng: đo quan hệ cùng tăng, dù cong.</a:t>
            </a:r>
          </a:p>
        </p:txBody>
      </p:sp>
      <p:pic>
        <p:nvPicPr>
          <p:cNvPr id="23" name="Picture 22" descr="kn-spearman.png"/>
          <p:cNvPicPr>
            <a:picLocks noChangeAspect="1"/>
          </p:cNvPicPr>
          <p:nvPr/>
        </p:nvPicPr>
        <p:blipFill>
          <a:blip r:embed="rId2"/>
          <a:stretch>
            <a:fillRect/>
          </a:stretch>
        </p:blipFill>
        <p:spPr>
          <a:xfrm>
            <a:off x="7863840" y="4027054"/>
            <a:ext cx="3776472" cy="1848843"/>
          </a:xfrm>
          <a:prstGeom prst="rect">
            <a:avLst/>
          </a:prstGeom>
        </p:spPr>
      </p:pic>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hồi quy giả và Durbin–Watson</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8</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Bắt tương quan giả bằng hai phép kiểm: DW của phần dư và tương quan sau sai phân.</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p>
          <a:p>
            <a:r>
              <a:rPr sz="850">
                <a:solidFill>
                  <a:srgbClr val="6B7385"/>
                </a:solidFill>
                <a:latin typeface="Courier New"/>
              </a:rPr>
              <a:t> 3 </a:t>
            </a:r>
            <a:r>
              <a:rPr sz="850">
                <a:solidFill>
                  <a:srgbClr val="E6EAF0"/>
                </a:solidFill>
                <a:latin typeface="Courier New"/>
              </a:rPr>
              <a:t>def durbin_watson(e):                            </a:t>
            </a:r>
            <a:r>
              <a:rPr sz="850">
                <a:solidFill>
                  <a:srgbClr val="8FC99A"/>
                </a:solidFill>
                <a:latin typeface="Courier New"/>
              </a:rPr>
              <a:t># gần 2 tốt, gần 0 xấu</a:t>
            </a:r>
          </a:p>
          <a:p>
            <a:r>
              <a:rPr sz="850">
                <a:solidFill>
                  <a:srgbClr val="6B7385"/>
                </a:solidFill>
                <a:latin typeface="Courier New"/>
              </a:rPr>
              <a:t> 4 </a:t>
            </a:r>
            <a:r>
              <a:rPr sz="850">
                <a:solidFill>
                  <a:srgbClr val="E6EAF0"/>
                </a:solidFill>
                <a:latin typeface="Courier New"/>
              </a:rPr>
              <a:t>    return np.sum(np.diff(e) ** 2) / np.sum(e**2)</a:t>
            </a:r>
          </a:p>
          <a:p>
            <a:r>
              <a:rPr sz="850">
                <a:solidFill>
                  <a:srgbClr val="6B7385"/>
                </a:solidFill>
                <a:latin typeface="Courier New"/>
              </a:rPr>
              <a:t> 5 </a:t>
            </a:r>
          </a:p>
          <a:p>
            <a:r>
              <a:rPr sz="850">
                <a:solidFill>
                  <a:srgbClr val="6B7385"/>
                </a:solidFill>
                <a:latin typeface="Courier New"/>
              </a:rPr>
              <a:t> 6 </a:t>
            </a:r>
            <a:r>
              <a:rPr sz="850">
                <a:solidFill>
                  <a:srgbClr val="E6EAF0"/>
                </a:solidFill>
                <a:latin typeface="Courier New"/>
              </a:rPr>
              <a:t>def hoi_quy_don(x, y):</a:t>
            </a:r>
          </a:p>
          <a:p>
            <a:r>
              <a:rPr sz="850">
                <a:solidFill>
                  <a:srgbClr val="6B7385"/>
                </a:solidFill>
                <a:latin typeface="Courier New"/>
              </a:rPr>
              <a:t> 7 </a:t>
            </a:r>
            <a:r>
              <a:rPr sz="850">
                <a:solidFill>
                  <a:srgbClr val="E6EAF0"/>
                </a:solidFill>
                <a:latin typeface="Courier New"/>
              </a:rPr>
              <a:t>    X = np.column_stack([np.ones(x.size), x])</a:t>
            </a:r>
          </a:p>
          <a:p>
            <a:r>
              <a:rPr sz="850">
                <a:solidFill>
                  <a:srgbClr val="6B7385"/>
                </a:solidFill>
                <a:latin typeface="Courier New"/>
              </a:rPr>
              <a:t> 8 </a:t>
            </a:r>
            <a:r>
              <a:rPr sz="850">
                <a:solidFill>
                  <a:srgbClr val="E6EAF0"/>
                </a:solidFill>
                <a:latin typeface="Courier New"/>
              </a:rPr>
              <a:t>    he_so = np.linalg.lstsq(X, y, rcond=None)[0]  </a:t>
            </a:r>
            <a:r>
              <a:rPr sz="850">
                <a:solidFill>
                  <a:srgbClr val="8FC99A"/>
                </a:solidFill>
                <a:latin typeface="Courier New"/>
              </a:rPr>
              <a:t># bình phương nhỏ nhất</a:t>
            </a:r>
          </a:p>
          <a:p>
            <a:r>
              <a:rPr sz="850">
                <a:solidFill>
                  <a:srgbClr val="6B7385"/>
                </a:solidFill>
                <a:latin typeface="Courier New"/>
              </a:rPr>
              <a:t> 9 </a:t>
            </a:r>
            <a:r>
              <a:rPr sz="850">
                <a:solidFill>
                  <a:srgbClr val="E6EAF0"/>
                </a:solidFill>
                <a:latin typeface="Courier New"/>
              </a:rPr>
              <a:t>    du = y - X @ he_so                            </a:t>
            </a:r>
            <a:r>
              <a:rPr sz="850">
                <a:solidFill>
                  <a:srgbClr val="8FC99A"/>
                </a:solidFill>
                <a:latin typeface="Courier New"/>
              </a:rPr>
              <a:t># phần dư</a:t>
            </a:r>
          </a:p>
          <a:p>
            <a:r>
              <a:rPr sz="850">
                <a:solidFill>
                  <a:srgbClr val="6B7385"/>
                </a:solidFill>
                <a:latin typeface="Courier New"/>
              </a:rPr>
              <a:t>10 </a:t>
            </a:r>
            <a:r>
              <a:rPr sz="850">
                <a:solidFill>
                  <a:srgbClr val="E6EAF0"/>
                </a:solidFill>
                <a:latin typeface="Courier New"/>
              </a:rPr>
              <a:t>    se = np.sqrt(du @ du / (x.size - 2) * np.linalg.inv(X.T @ X)[1, 1])</a:t>
            </a:r>
          </a:p>
          <a:p>
            <a:r>
              <a:rPr sz="850">
                <a:solidFill>
                  <a:srgbClr val="6B7385"/>
                </a:solidFill>
                <a:latin typeface="Courier New"/>
              </a:rPr>
              <a:t>11 </a:t>
            </a:r>
            <a:r>
              <a:rPr sz="850">
                <a:solidFill>
                  <a:srgbClr val="E6EAF0"/>
                </a:solidFill>
                <a:latin typeface="Courier New"/>
              </a:rPr>
              <a:t>    return 1 - du.var() / y.var(), he_so[1] / se, durbin_watson(du)</a:t>
            </a:r>
          </a:p>
          <a:p>
            <a:r>
              <a:rPr sz="850">
                <a:solidFill>
                  <a:srgbClr val="6B7385"/>
                </a:solidFill>
                <a:latin typeface="Courier New"/>
              </a:rPr>
              <a:t>12 </a:t>
            </a:r>
          </a:p>
          <a:p>
            <a:r>
              <a:rPr sz="850">
                <a:solidFill>
                  <a:srgbClr val="6B7385"/>
                </a:solidFill>
                <a:latin typeface="Courier New"/>
              </a:rPr>
              <a:t>13 </a:t>
            </a:r>
            <a:r>
              <a:rPr sz="850">
                <a:solidFill>
                  <a:srgbClr val="8FC99A"/>
                </a:solidFill>
                <a:latin typeface="Courier New"/>
              </a:rPr>
              <a:t># kt: CPI và dân số Mỹ theo tháng, 1990–2024</a:t>
            </a:r>
          </a:p>
          <a:p>
            <a:r>
              <a:rPr sz="850">
                <a:solidFill>
                  <a:srgbClr val="6B7385"/>
                </a:solidFill>
                <a:latin typeface="Courier New"/>
              </a:rPr>
              <a:t>14 </a:t>
            </a:r>
            <a:r>
              <a:rPr sz="850">
                <a:solidFill>
                  <a:srgbClr val="E6EAF0"/>
                </a:solidFill>
                <a:latin typeface="Courier New"/>
              </a:rPr>
              <a:t>r2, t, dw = hoi_quy_don(kt["cpi"].to_numpy(), kt["dan_so"].to_numpy())</a:t>
            </a:r>
          </a:p>
          <a:p>
            <a:r>
              <a:rPr sz="850">
                <a:solidFill>
                  <a:srgbClr val="6B7385"/>
                </a:solidFill>
                <a:latin typeface="Courier New"/>
              </a:rPr>
              <a:t>15 </a:t>
            </a:r>
            <a:r>
              <a:rPr sz="850">
                <a:solidFill>
                  <a:srgbClr val="E6EAF0"/>
                </a:solidFill>
                <a:latin typeface="Courier New"/>
              </a:rPr>
              <a:t>d = kt.diff().dropna()                            </a:t>
            </a:r>
            <a:r>
              <a:rPr sz="850">
                <a:solidFill>
                  <a:srgbClr val="8FC99A"/>
                </a:solidFill>
                <a:latin typeface="Courier New"/>
              </a:rPr>
              <a:t># thay đổi hằng tháng</a:t>
            </a:r>
          </a:p>
          <a:p>
            <a:r>
              <a:rPr sz="850">
                <a:solidFill>
                  <a:srgbClr val="6B7385"/>
                </a:solidFill>
                <a:latin typeface="Courier New"/>
              </a:rPr>
              <a:t>16 </a:t>
            </a:r>
            <a:r>
              <a:rPr sz="850">
                <a:solidFill>
                  <a:srgbClr val="E6EAF0"/>
                </a:solidFill>
                <a:latin typeface="Courier New"/>
              </a:rPr>
              <a:t>r_sai_phan = d["cpi"].corr(d["dan_so"])</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buoi-08/tu-hoc.ipynb, phần 2</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3–4</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DW đo phần dư có đổi chậm theo thời gian không.</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6–8</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Khớp đường thẳng, lấy phần dư.</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9–10</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Trả R², t của hệ số và DW.</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13</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Hồi quy dân số theo CPI trên mức.</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14–15</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Hỏi lại câu đúng: các thay đổi có đi cùng?</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Trên mức: r 0,974, R² 0,95, t 88,6. Nhưng DW 0,0051 và r sau sai phân −0,207: tương quan giả.</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np.linalg.lstsq(X, y)</a:t>
            </a:r>
            <a:r>
              <a:rPr sz="950" b="1" i="0">
                <a:solidFill>
                  <a:srgbClr val="5B6778"/>
                </a:solidFill>
                <a:latin typeface="Arial"/>
              </a:rPr>
              <a:t>   numpy</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Tìm hệ số đường thẳng làm tổng bình phương sai lệch nhỏ nhất.</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durbin_watson</a:t>
            </a:r>
            <a:r>
              <a:rPr sz="950" b="1" i="0">
                <a:solidFill>
                  <a:srgbClr val="5B6778"/>
                </a:solidFill>
                <a:latin typeface="Arial"/>
              </a:rPr>
              <a:t>   tự viết</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Tổng bình phương bước nhảy của phần dư chia tổng bình phương phần dư.</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diff().corr()</a:t>
            </a:r>
            <a:r>
              <a:rPr sz="950" b="1" i="0">
                <a:solidFill>
                  <a:srgbClr val="5B6778"/>
                </a:solidFill>
                <a:latin typeface="Arial"/>
              </a:rPr>
              <a:t>   pandas</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Lấy thay đổi hằng tháng rồi tính tương quan của hai cột.</a:t>
            </a:r>
          </a:p>
        </p:txBody>
      </p:sp>
      <p:sp>
        <p:nvSpPr>
          <p:cNvPr id="29" name="Rounded Rectangle 28"/>
          <p:cNvSpPr/>
          <p:nvPr/>
        </p:nvSpPr>
        <p:spPr>
          <a:xfrm>
            <a:off x="7863840" y="4059935"/>
            <a:ext cx="3776472" cy="896112"/>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6b4626f0c56e.png"/>
          <p:cNvPicPr>
            <a:picLocks noChangeAspect="1"/>
          </p:cNvPicPr>
          <p:nvPr/>
        </p:nvPicPr>
        <p:blipFill>
          <a:blip r:embed="rId2"/>
          <a:stretch>
            <a:fillRect/>
          </a:stretch>
        </p:blipFill>
        <p:spPr>
          <a:xfrm>
            <a:off x="8947630" y="4114799"/>
            <a:ext cx="1608891" cy="786384"/>
          </a:xfrm>
          <a:prstGeom prst="rect">
            <a:avLst/>
          </a:prstGeom>
        </p:spPr>
      </p:pic>
      <p:pic>
        <p:nvPicPr>
          <p:cNvPr id="31" name="Picture 30" descr="kn-durbin-watson.png"/>
          <p:cNvPicPr>
            <a:picLocks noChangeAspect="1"/>
          </p:cNvPicPr>
          <p:nvPr/>
        </p:nvPicPr>
        <p:blipFill>
          <a:blip r:embed="rId3"/>
          <a:stretch>
            <a:fillRect/>
          </a:stretch>
        </p:blipFill>
        <p:spPr>
          <a:xfrm>
            <a:off x="8219989" y="5093207"/>
            <a:ext cx="3064173" cy="1380744"/>
          </a:xfrm>
          <a:prstGeom prst="rect">
            <a:avLst/>
          </a:prstGeom>
        </p:spPr>
      </p:pic>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CDD, HDD và MI xáo theo khối</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8</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Tách quan hệ chữ U thành hai nhánh, và kiểm MI có thật bằng cách xáo cả tuần.</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from sklearn.feature_selection import mutual_info_regression</a:t>
            </a:r>
          </a:p>
          <a:p>
            <a:r>
              <a:rPr sz="850">
                <a:solidFill>
                  <a:srgbClr val="6B7385"/>
                </a:solidFill>
                <a:latin typeface="Courier New"/>
              </a:rPr>
              <a:t> 3 </a:t>
            </a:r>
            <a:r>
              <a:rPr sz="850">
                <a:solidFill>
                  <a:srgbClr val="E6EAF0"/>
                </a:solidFill>
                <a:latin typeface="Courier New"/>
              </a:rPr>
              <a:t>t, y = df["nhiet"].to_numpy(), df["tai"].to_numpy() / 1000   </a:t>
            </a:r>
            <a:r>
              <a:rPr sz="850">
                <a:solidFill>
                  <a:srgbClr val="8FC99A"/>
                </a:solidFill>
                <a:latin typeface="Courier New"/>
              </a:rPr>
              <a:t># °C, GW</a:t>
            </a:r>
          </a:p>
          <a:p>
            <a:r>
              <a:rPr sz="850">
                <a:solidFill>
                  <a:srgbClr val="6B7385"/>
                </a:solidFill>
                <a:latin typeface="Courier New"/>
              </a:rPr>
              <a:t> 4 </a:t>
            </a:r>
            <a:r>
              <a:rPr sz="850">
                <a:solidFill>
                  <a:srgbClr val="E6EAF0"/>
                </a:solidFill>
                <a:latin typeface="Courier New"/>
              </a:rPr>
              <a:t>cdd, hdd = np.maximum(t - 18.33, 0), np.maximum(18.33 - t, 0)  </a:t>
            </a:r>
            <a:r>
              <a:rPr sz="850">
                <a:solidFill>
                  <a:srgbClr val="8FC99A"/>
                </a:solidFill>
                <a:latin typeface="Courier New"/>
              </a:rPr>
              <a:t># mốc 65 °F</a:t>
            </a:r>
          </a:p>
          <a:p>
            <a:r>
              <a:rPr sz="850">
                <a:solidFill>
                  <a:srgbClr val="6B7385"/>
                </a:solidFill>
                <a:latin typeface="Courier New"/>
              </a:rPr>
              <a:t> 5 </a:t>
            </a:r>
            <a:r>
              <a:rPr sz="850">
                <a:solidFill>
                  <a:srgbClr val="E6EAF0"/>
                </a:solidFill>
                <a:latin typeface="Courier New"/>
              </a:rPr>
              <a:t>def r2_hoi_quy(*cot):</a:t>
            </a:r>
          </a:p>
          <a:p>
            <a:r>
              <a:rPr sz="850">
                <a:solidFill>
                  <a:srgbClr val="6B7385"/>
                </a:solidFill>
                <a:latin typeface="Courier New"/>
              </a:rPr>
              <a:t> 6 </a:t>
            </a:r>
            <a:r>
              <a:rPr sz="850">
                <a:solidFill>
                  <a:srgbClr val="E6EAF0"/>
                </a:solidFill>
                <a:latin typeface="Courier New"/>
              </a:rPr>
              <a:t>    X = np.column_stack([np.ones(y.size), *cot])</a:t>
            </a:r>
          </a:p>
          <a:p>
            <a:r>
              <a:rPr sz="850">
                <a:solidFill>
                  <a:srgbClr val="6B7385"/>
                </a:solidFill>
                <a:latin typeface="Courier New"/>
              </a:rPr>
              <a:t> 7 </a:t>
            </a:r>
            <a:r>
              <a:rPr sz="850">
                <a:solidFill>
                  <a:srgbClr val="E6EAF0"/>
                </a:solidFill>
                <a:latin typeface="Courier New"/>
              </a:rPr>
              <a:t>    du = y - X @ np.linalg.lstsq(X, y, rcond=None)[0]</a:t>
            </a:r>
          </a:p>
          <a:p>
            <a:r>
              <a:rPr sz="850">
                <a:solidFill>
                  <a:srgbClr val="6B7385"/>
                </a:solidFill>
                <a:latin typeface="Courier New"/>
              </a:rPr>
              <a:t> 8 </a:t>
            </a:r>
            <a:r>
              <a:rPr sz="850">
                <a:solidFill>
                  <a:srgbClr val="E6EAF0"/>
                </a:solidFill>
                <a:latin typeface="Courier New"/>
              </a:rPr>
              <a:t>    return 1 - du.var() / y.var()</a:t>
            </a:r>
          </a:p>
          <a:p>
            <a:r>
              <a:rPr sz="850">
                <a:solidFill>
                  <a:srgbClr val="6B7385"/>
                </a:solidFill>
                <a:latin typeface="Courier New"/>
              </a:rPr>
              <a:t> 9 </a:t>
            </a:r>
            <a:r>
              <a:rPr sz="850">
                <a:solidFill>
                  <a:srgbClr val="E6EAF0"/>
                </a:solidFill>
                <a:latin typeface="Courier New"/>
              </a:rPr>
              <a:t>r2_thang, r2_hai_nhanh = r2_hoi_quy(t), r2_hoi_quy(cdd, hdd)</a:t>
            </a:r>
          </a:p>
          <a:p>
            <a:r>
              <a:rPr sz="850">
                <a:solidFill>
                  <a:srgbClr val="6B7385"/>
                </a:solidFill>
                <a:latin typeface="Courier New"/>
              </a:rPr>
              <a:t>10 </a:t>
            </a:r>
            <a:r>
              <a:rPr sz="850">
                <a:solidFill>
                  <a:srgbClr val="E6EAF0"/>
                </a:solidFill>
                <a:latin typeface="Courier New"/>
              </a:rPr>
              <a:t>def mi(x, v):</a:t>
            </a:r>
          </a:p>
          <a:p>
            <a:r>
              <a:rPr sz="850">
                <a:solidFill>
                  <a:srgbClr val="6B7385"/>
                </a:solidFill>
                <a:latin typeface="Courier New"/>
              </a:rPr>
              <a:t>11 </a:t>
            </a:r>
            <a:r>
              <a:rPr sz="850">
                <a:solidFill>
                  <a:srgbClr val="E6EAF0"/>
                </a:solidFill>
                <a:latin typeface="Courier New"/>
              </a:rPr>
              <a:t>    return mutual_info_regression(x.reshape(-1, 1), v, random_state=0)[0]</a:t>
            </a:r>
          </a:p>
          <a:p>
            <a:r>
              <a:rPr sz="850">
                <a:solidFill>
                  <a:srgbClr val="6B7385"/>
                </a:solidFill>
                <a:latin typeface="Courier New"/>
              </a:rPr>
              <a:t>12 </a:t>
            </a:r>
            <a:r>
              <a:rPr sz="850">
                <a:solidFill>
                  <a:srgbClr val="E6EAF0"/>
                </a:solidFill>
                <a:latin typeface="Courier New"/>
              </a:rPr>
              <a:t>rng = np.random.default_rng(0)</a:t>
            </a:r>
          </a:p>
          <a:p>
            <a:r>
              <a:rPr sz="850">
                <a:solidFill>
                  <a:srgbClr val="6B7385"/>
                </a:solidFill>
                <a:latin typeface="Courier New"/>
              </a:rPr>
              <a:t>13 </a:t>
            </a:r>
            <a:r>
              <a:rPr sz="850">
                <a:solidFill>
                  <a:srgbClr val="E6EAF0"/>
                </a:solidFill>
                <a:latin typeface="Courier New"/>
              </a:rPr>
              <a:t>khoi = [y[i:i + 168] for i in range(0, y.size, 168)]      </a:t>
            </a:r>
            <a:r>
              <a:rPr sz="850">
                <a:solidFill>
                  <a:srgbClr val="8FC99A"/>
                </a:solidFill>
                <a:latin typeface="Courier New"/>
              </a:rPr>
              <a:t># khối 1 tuần</a:t>
            </a:r>
          </a:p>
          <a:p>
            <a:r>
              <a:rPr sz="850">
                <a:solidFill>
                  <a:srgbClr val="6B7385"/>
                </a:solidFill>
                <a:latin typeface="Courier New"/>
              </a:rPr>
              <a:t>14 </a:t>
            </a:r>
            <a:r>
              <a:rPr sz="850">
                <a:solidFill>
                  <a:srgbClr val="E6EAF0"/>
                </a:solidFill>
                <a:latin typeface="Courier New"/>
              </a:rPr>
              <a:t>xao = [np.concatenate([khoi[i] for i in rng.permutation(len(khoi))])</a:t>
            </a:r>
          </a:p>
          <a:p>
            <a:r>
              <a:rPr sz="850">
                <a:solidFill>
                  <a:srgbClr val="6B7385"/>
                </a:solidFill>
                <a:latin typeface="Courier New"/>
              </a:rPr>
              <a:t>15 </a:t>
            </a:r>
            <a:r>
              <a:rPr sz="850">
                <a:solidFill>
                  <a:srgbClr val="E6EAF0"/>
                </a:solidFill>
                <a:latin typeface="Courier New"/>
              </a:rPr>
              <a:t>       for _ in range(100)]</a:t>
            </a:r>
          </a:p>
          <a:p>
            <a:r>
              <a:rPr sz="850">
                <a:solidFill>
                  <a:srgbClr val="6B7385"/>
                </a:solidFill>
                <a:latin typeface="Courier New"/>
              </a:rPr>
              <a:t>16 </a:t>
            </a:r>
            <a:r>
              <a:rPr sz="850">
                <a:solidFill>
                  <a:srgbClr val="E6EAF0"/>
                </a:solidFill>
                <a:latin typeface="Courier New"/>
              </a:rPr>
              <a:t>nguong = np.quantile([mi(t, v) for v in xao], 0.95)      </a:t>
            </a:r>
            <a:r>
              <a:rPr sz="850">
                <a:solidFill>
                  <a:srgbClr val="8FC99A"/>
                </a:solidFill>
                <a:latin typeface="Courier New"/>
              </a:rPr>
              <a:t># so với mi(t, y)</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buoi-08/tu-hoc.ipynb, phần 3</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4</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Độ nóng và độ lạnh so với mốc 18,33 °C.</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5–9</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R² theo nhiệt độ so với theo CDD + HDD.</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10–11</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MI bắt được cả quan hệ cong.</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13–15</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Xáo thứ tự các tuần, giữ nhịp trong tuần.</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16</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Ngưỡng 95% của MI khi không có quan hệ.</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R² tăng từ 0,379 lên 0,812. Nhánh lạnh r = −0,649, nhánh nóng +0,910. MI thật 0,862 vượt xa ngưỡng xáo khối 0,124.</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np.maximum(a, 0)</a:t>
            </a:r>
            <a:r>
              <a:rPr sz="950" b="1" i="0">
                <a:solidFill>
                  <a:srgbClr val="5B6778"/>
                </a:solidFill>
                <a:latin typeface="Arial"/>
              </a:rPr>
              <a:t>   numpy</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Giữ phần dương, còn lại thành 0: đúng cách tính CDD, HDD.</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mutual_info_regression</a:t>
            </a:r>
            <a:r>
              <a:rPr sz="950" b="1" i="0">
                <a:solidFill>
                  <a:srgbClr val="5B6778"/>
                </a:solidFill>
                <a:latin typeface="Arial"/>
              </a:rPr>
              <a:t>   sklearn</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Ước lượng thông tin tương hỗ: biết x bớt được bao nhiêu điều về y.</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rng.permutation(n)</a:t>
            </a:r>
            <a:r>
              <a:rPr sz="950" b="1" i="0">
                <a:solidFill>
                  <a:srgbClr val="5B6778"/>
                </a:solidFill>
                <a:latin typeface="Arial"/>
              </a:rPr>
              <a:t>   numpy</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Xáo ngẫu nhiên thứ tự 0 tới n − 1, ở đây là thứ tự các khối.</a:t>
            </a:r>
          </a:p>
        </p:txBody>
      </p:sp>
      <p:sp>
        <p:nvSpPr>
          <p:cNvPr id="29" name="Rounded Rectangle 28"/>
          <p:cNvSpPr/>
          <p:nvPr/>
        </p:nvSpPr>
        <p:spPr>
          <a:xfrm>
            <a:off x="7863840" y="4059935"/>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b318c348677d.png"/>
          <p:cNvPicPr>
            <a:picLocks noChangeAspect="1"/>
          </p:cNvPicPr>
          <p:nvPr/>
        </p:nvPicPr>
        <p:blipFill>
          <a:blip r:embed="rId2"/>
          <a:stretch>
            <a:fillRect/>
          </a:stretch>
        </p:blipFill>
        <p:spPr>
          <a:xfrm>
            <a:off x="8388095" y="4233671"/>
            <a:ext cx="2727960" cy="201168"/>
          </a:xfrm>
          <a:prstGeom prst="rect">
            <a:avLst/>
          </a:prstGeom>
        </p:spPr>
      </p:pic>
      <p:pic>
        <p:nvPicPr>
          <p:cNvPr id="31" name="Picture 30" descr="kn-cdd-hdd.png"/>
          <p:cNvPicPr>
            <a:picLocks noChangeAspect="1"/>
          </p:cNvPicPr>
          <p:nvPr/>
        </p:nvPicPr>
        <p:blipFill>
          <a:blip r:embed="rId3"/>
          <a:stretch>
            <a:fillRect/>
          </a:stretch>
        </p:blipFill>
        <p:spPr>
          <a:xfrm>
            <a:off x="8074406" y="4745735"/>
            <a:ext cx="3355338" cy="1728216"/>
          </a:xfrm>
          <a:prstGeom prst="rect">
            <a:avLst/>
          </a:prstGeom>
        </p:spPr>
      </p:pic>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tương quan chéo sau prewhitening</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8</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Lọc bỏ độ trơn của x trước, rồi mới đọc độ trễ mà x báo trước y.</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from statsmodels.tsa.ar_model import AutoReg</a:t>
            </a:r>
          </a:p>
          <a:p>
            <a:r>
              <a:rPr sz="850">
                <a:solidFill>
                  <a:srgbClr val="6B7385"/>
                </a:solidFill>
                <a:latin typeface="Courier New"/>
              </a:rPr>
              <a:t> 3 </a:t>
            </a:r>
          </a:p>
          <a:p>
            <a:r>
              <a:rPr sz="850">
                <a:solidFill>
                  <a:srgbClr val="6B7385"/>
                </a:solidFill>
                <a:latin typeface="Courier New"/>
              </a:rPr>
              <a:t> 4 </a:t>
            </a:r>
            <a:r>
              <a:rPr sz="850">
                <a:solidFill>
                  <a:srgbClr val="E6EAF0"/>
                </a:solidFill>
                <a:latin typeface="Courier New"/>
              </a:rPr>
              <a:t>def ccf_tu_viet(x, y, so_tre):                    </a:t>
            </a:r>
            <a:r>
              <a:rPr sz="850">
                <a:solidFill>
                  <a:srgbClr val="8FC99A"/>
                </a:solidFill>
                <a:latin typeface="Courier New"/>
              </a:rPr>
              <a:t># corr(x_t, y_(t+k))</a:t>
            </a:r>
          </a:p>
          <a:p>
            <a:r>
              <a:rPr sz="850">
                <a:solidFill>
                  <a:srgbClr val="6B7385"/>
                </a:solidFill>
                <a:latin typeface="Courier New"/>
              </a:rPr>
              <a:t> 5 </a:t>
            </a:r>
            <a:r>
              <a:rPr sz="850">
                <a:solidFill>
                  <a:srgbClr val="E6EAF0"/>
                </a:solidFill>
                <a:latin typeface="Courier New"/>
              </a:rPr>
              <a:t>    x, y = (x - x.mean()) / x.std(), (y - y.mean()) / y.std()</a:t>
            </a:r>
          </a:p>
          <a:p>
            <a:r>
              <a:rPr sz="850">
                <a:solidFill>
                  <a:srgbClr val="6B7385"/>
                </a:solidFill>
                <a:latin typeface="Courier New"/>
              </a:rPr>
              <a:t> 6 </a:t>
            </a:r>
            <a:r>
              <a:rPr sz="850">
                <a:solidFill>
                  <a:srgbClr val="E6EAF0"/>
                </a:solidFill>
                <a:latin typeface="Courier New"/>
              </a:rPr>
              <a:t>    return np.array([np.sum(x[:x.size - k] * y[k:]) / x.size</a:t>
            </a:r>
          </a:p>
          <a:p>
            <a:r>
              <a:rPr sz="850">
                <a:solidFill>
                  <a:srgbClr val="6B7385"/>
                </a:solidFill>
                <a:latin typeface="Courier New"/>
              </a:rPr>
              <a:t> 7 </a:t>
            </a:r>
            <a:r>
              <a:rPr sz="850">
                <a:solidFill>
                  <a:srgbClr val="E6EAF0"/>
                </a:solidFill>
                <a:latin typeface="Courier New"/>
              </a:rPr>
              <a:t>                     for k in range(so_tre + 1)])</a:t>
            </a:r>
          </a:p>
          <a:p>
            <a:r>
              <a:rPr sz="850">
                <a:solidFill>
                  <a:srgbClr val="6B7385"/>
                </a:solidFill>
                <a:latin typeface="Courier New"/>
              </a:rPr>
              <a:t> 8 </a:t>
            </a:r>
            <a:r>
              <a:rPr sz="850">
                <a:solidFill>
                  <a:srgbClr val="E6EAF0"/>
                </a:solidFill>
                <a:latin typeface="Courier New"/>
              </a:rPr>
              <a:t>def loc_prewhiten(x, y, bac=48):</a:t>
            </a:r>
          </a:p>
          <a:p>
            <a:r>
              <a:rPr sz="850">
                <a:solidFill>
                  <a:srgbClr val="6B7385"/>
                </a:solidFill>
                <a:latin typeface="Courier New"/>
              </a:rPr>
              <a:t> 9 </a:t>
            </a:r>
            <a:r>
              <a:rPr sz="850">
                <a:solidFill>
                  <a:srgbClr val="E6EAF0"/>
                </a:solidFill>
                <a:latin typeface="Courier New"/>
              </a:rPr>
              <a:t>    phi = AutoReg(x, lags=bac).fit().params[1:]   </a:t>
            </a:r>
            <a:r>
              <a:rPr sz="850">
                <a:solidFill>
                  <a:srgbClr val="8FC99A"/>
                </a:solidFill>
                <a:latin typeface="Courier New"/>
              </a:rPr>
              <a:t># hệ số AR(48) của x</a:t>
            </a:r>
          </a:p>
          <a:p>
            <a:r>
              <a:rPr sz="850">
                <a:solidFill>
                  <a:srgbClr val="6B7385"/>
                </a:solidFill>
                <a:latin typeface="Courier New"/>
              </a:rPr>
              <a:t>10 </a:t>
            </a:r>
            <a:r>
              <a:rPr sz="850">
                <a:solidFill>
                  <a:srgbClr val="E6EAF0"/>
                </a:solidFill>
                <a:latin typeface="Courier New"/>
              </a:rPr>
              <a:t>    def loc(v):</a:t>
            </a:r>
          </a:p>
          <a:p>
            <a:r>
              <a:rPr sz="850">
                <a:solidFill>
                  <a:srgbClr val="6B7385"/>
                </a:solidFill>
                <a:latin typeface="Courier New"/>
              </a:rPr>
              <a:t>11 </a:t>
            </a:r>
            <a:r>
              <a:rPr sz="850">
                <a:solidFill>
                  <a:srgbClr val="E6EAF0"/>
                </a:solidFill>
                <a:latin typeface="Courier New"/>
              </a:rPr>
              <a:t>        return np.array([v[i] - phi[::-1] @ v[i - bac:i]</a:t>
            </a:r>
          </a:p>
          <a:p>
            <a:r>
              <a:rPr sz="850">
                <a:solidFill>
                  <a:srgbClr val="6B7385"/>
                </a:solidFill>
                <a:latin typeface="Courier New"/>
              </a:rPr>
              <a:t>12 </a:t>
            </a:r>
            <a:r>
              <a:rPr sz="850">
                <a:solidFill>
                  <a:srgbClr val="E6EAF0"/>
                </a:solidFill>
                <a:latin typeface="Courier New"/>
              </a:rPr>
              <a:t>                         for i in range(bac, v.size)])</a:t>
            </a:r>
          </a:p>
          <a:p>
            <a:r>
              <a:rPr sz="850">
                <a:solidFill>
                  <a:srgbClr val="6B7385"/>
                </a:solidFill>
                <a:latin typeface="Courier New"/>
              </a:rPr>
              <a:t>13 </a:t>
            </a:r>
            <a:r>
              <a:rPr sz="850">
                <a:solidFill>
                  <a:srgbClr val="E6EAF0"/>
                </a:solidFill>
                <a:latin typeface="Courier New"/>
              </a:rPr>
              <a:t>    return loc(x), loc(y)                         </a:t>
            </a:r>
            <a:r>
              <a:rPr sz="850">
                <a:solidFill>
                  <a:srgbClr val="8FC99A"/>
                </a:solidFill>
                <a:latin typeface="Courier New"/>
              </a:rPr>
              <a:t># lọc CẢ HAI, cùng phi</a:t>
            </a:r>
          </a:p>
          <a:p>
            <a:r>
              <a:rPr sz="850">
                <a:solidFill>
                  <a:srgbClr val="6B7385"/>
                </a:solidFill>
                <a:latin typeface="Courier New"/>
              </a:rPr>
              <a:t>14 </a:t>
            </a:r>
            <a:r>
              <a:rPr sz="850">
                <a:solidFill>
                  <a:srgbClr val="E6EAF0"/>
                </a:solidFill>
                <a:latin typeface="Courier New"/>
              </a:rPr>
              <a:t>cdd, taiv = df["cdd"].to_numpy(), df["tai"].to_numpy()</a:t>
            </a:r>
          </a:p>
          <a:p>
            <a:r>
              <a:rPr sz="850">
                <a:solidFill>
                  <a:srgbClr val="6B7385"/>
                </a:solidFill>
                <a:latin typeface="Courier New"/>
              </a:rPr>
              <a:t>15 </a:t>
            </a:r>
            <a:r>
              <a:rPr sz="850">
                <a:solidFill>
                  <a:srgbClr val="E6EAF0"/>
                </a:solidFill>
                <a:latin typeface="Courier New"/>
              </a:rPr>
              <a:t>tho = ccf_tu_viet(cdd, taiv, 48)                  </a:t>
            </a:r>
            <a:r>
              <a:rPr sz="850">
                <a:solidFill>
                  <a:srgbClr val="8FC99A"/>
                </a:solidFill>
                <a:latin typeface="Courier New"/>
              </a:rPr>
              <a:t># thô: nhoè</a:t>
            </a:r>
          </a:p>
          <a:p>
            <a:r>
              <a:rPr sz="850">
                <a:solidFill>
                  <a:srgbClr val="6B7385"/>
                </a:solidFill>
                <a:latin typeface="Courier New"/>
              </a:rPr>
              <a:t>16 </a:t>
            </a:r>
            <a:r>
              <a:rPr sz="850">
                <a:solidFill>
                  <a:srgbClr val="E6EAF0"/>
                </a:solidFill>
                <a:latin typeface="Courier New"/>
              </a:rPr>
              <a:t>sach = ccf_tu_viet(*loc_prewhiten(cdd, taiv), 48) </a:t>
            </a:r>
            <a:r>
              <a:rPr sz="850">
                <a:solidFill>
                  <a:srgbClr val="8FC99A"/>
                </a:solidFill>
                <a:latin typeface="Courier New"/>
              </a:rPr>
              <a:t># sau lọc: sắc</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buoi-08/tu-hoc.ipynb, phần 4</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4–6</a:t>
            </a:r>
          </a:p>
        </p:txBody>
      </p:sp>
      <p:sp>
        <p:nvSpPr>
          <p:cNvPr id="11" name="TextBox 10"/>
          <p:cNvSpPr txBox="1"/>
          <p:nvPr/>
        </p:nvSpPr>
        <p:spPr>
          <a:xfrm>
            <a:off x="1353312" y="4634357"/>
            <a:ext cx="2697480" cy="457200"/>
          </a:xfrm>
          <a:prstGeom prst="rect">
            <a:avLst/>
          </a:prstGeom>
          <a:noFill/>
        </p:spPr>
        <p:txBody>
          <a:bodyPr wrap="square" lIns="0" rIns="0" tIns="0" bIns="0" anchor="t">
            <a:spAutoFit/>
          </a:bodyPr>
          <a:lstStyle/>
          <a:p>
            <a:pPr algn="l"/>
            <a:r>
              <a:rPr sz="1050" b="0" i="0">
                <a:solidFill>
                  <a:srgbClr val="1B2A41"/>
                </a:solidFill>
                <a:latin typeface="Arial"/>
              </a:rPr>
              <a:t>Chuẩn hoá rồi nhân x lúc t với y lúc t + k.</a:t>
            </a:r>
          </a:p>
        </p:txBody>
      </p:sp>
      <p:sp>
        <p:nvSpPr>
          <p:cNvPr id="12" name="Rounded Rectangle 11"/>
          <p:cNvSpPr/>
          <p:nvPr/>
        </p:nvSpPr>
        <p:spPr>
          <a:xfrm>
            <a:off x="548640" y="51098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8</a:t>
            </a:r>
          </a:p>
        </p:txBody>
      </p:sp>
      <p:sp>
        <p:nvSpPr>
          <p:cNvPr id="13" name="TextBox 12"/>
          <p:cNvSpPr txBox="1"/>
          <p:nvPr/>
        </p:nvSpPr>
        <p:spPr>
          <a:xfrm>
            <a:off x="1353312" y="5091557"/>
            <a:ext cx="2697480" cy="457200"/>
          </a:xfrm>
          <a:prstGeom prst="rect">
            <a:avLst/>
          </a:prstGeom>
          <a:noFill/>
        </p:spPr>
        <p:txBody>
          <a:bodyPr wrap="square" lIns="0" rIns="0" tIns="0" bIns="0" anchor="t">
            <a:spAutoFit/>
          </a:bodyPr>
          <a:lstStyle/>
          <a:p>
            <a:pPr algn="l"/>
            <a:r>
              <a:rPr sz="1050" b="0" i="0">
                <a:solidFill>
                  <a:srgbClr val="1B2A41"/>
                </a:solidFill>
                <a:latin typeface="Arial"/>
              </a:rPr>
              <a:t>Khớp AR(48) cho x để biết phần tự đoán được.</a:t>
            </a:r>
          </a:p>
        </p:txBody>
      </p:sp>
      <p:sp>
        <p:nvSpPr>
          <p:cNvPr id="14" name="Rounded Rectangle 13"/>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9–12</a:t>
            </a:r>
          </a:p>
        </p:txBody>
      </p:sp>
      <p:sp>
        <p:nvSpPr>
          <p:cNvPr id="15" name="TextBox 14"/>
          <p:cNvSpPr txBox="1"/>
          <p:nvPr/>
        </p:nvSpPr>
        <p:spPr>
          <a:xfrm>
            <a:off x="4965192" y="4634357"/>
            <a:ext cx="2697480" cy="457200"/>
          </a:xfrm>
          <a:prstGeom prst="rect">
            <a:avLst/>
          </a:prstGeom>
          <a:noFill/>
        </p:spPr>
        <p:txBody>
          <a:bodyPr wrap="square" lIns="0" rIns="0" tIns="0" bIns="0" anchor="t">
            <a:spAutoFit/>
          </a:bodyPr>
          <a:lstStyle/>
          <a:p>
            <a:pPr algn="l"/>
            <a:r>
              <a:rPr sz="1050" b="0" i="0">
                <a:solidFill>
                  <a:srgbClr val="1B2A41"/>
                </a:solidFill>
                <a:latin typeface="Arial"/>
              </a:rPr>
              <a:t>Lọc cả x lẫn y bằng đúng bộ hệ số đó.</a:t>
            </a:r>
          </a:p>
        </p:txBody>
      </p:sp>
      <p:sp>
        <p:nvSpPr>
          <p:cNvPr id="16" name="Rounded Rectangle 15"/>
          <p:cNvSpPr/>
          <p:nvPr/>
        </p:nvSpPr>
        <p:spPr>
          <a:xfrm>
            <a:off x="4160520" y="51098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14–15</a:t>
            </a:r>
          </a:p>
        </p:txBody>
      </p:sp>
      <p:sp>
        <p:nvSpPr>
          <p:cNvPr id="17" name="TextBox 16"/>
          <p:cNvSpPr txBox="1"/>
          <p:nvPr/>
        </p:nvSpPr>
        <p:spPr>
          <a:xfrm>
            <a:off x="4965192" y="5091557"/>
            <a:ext cx="2697480" cy="457200"/>
          </a:xfrm>
          <a:prstGeom prst="rect">
            <a:avLst/>
          </a:prstGeom>
          <a:noFill/>
        </p:spPr>
        <p:txBody>
          <a:bodyPr wrap="square" lIns="0" rIns="0" tIns="0" bIns="0" anchor="t">
            <a:spAutoFit/>
          </a:bodyPr>
          <a:lstStyle/>
          <a:p>
            <a:pPr algn="l"/>
            <a:r>
              <a:rPr sz="1050" b="0" i="0">
                <a:solidFill>
                  <a:srgbClr val="1B2A41"/>
                </a:solidFill>
                <a:latin typeface="Arial"/>
              </a:rPr>
              <a:t>So tương quan chéo thô và sau lọc.</a:t>
            </a:r>
          </a:p>
        </p:txBody>
      </p:sp>
      <p:sp>
        <p:nvSpPr>
          <p:cNvPr id="18" name="Rounded Rectangle 17"/>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Thô: trễ 24 (0,828) cao gần bằng trễ 0, là nhịp ngày của CDD. Sau lọc chỉ còn đỉnh ở trễ 0 (0,205), tắt sau vài giờ.</a:t>
            </a:r>
          </a:p>
        </p:txBody>
      </p:sp>
      <p:sp>
        <p:nvSpPr>
          <p:cNvPr id="20" name="TextBox 19"/>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1" name="TextBox 20"/>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AutoReg(x, lags).fit()</a:t>
            </a:r>
            <a:r>
              <a:rPr sz="950" b="1" i="0">
                <a:solidFill>
                  <a:srgbClr val="5B6778"/>
                </a:solidFill>
                <a:latin typeface="Arial"/>
              </a:rPr>
              <a:t>   statsmodels</a:t>
            </a:r>
          </a:p>
        </p:txBody>
      </p:sp>
      <p:sp>
        <p:nvSpPr>
          <p:cNvPr id="22" name="TextBox 21"/>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Khớp mô hình tự hồi quy: đoán x từ các giá trị trước của nó.</a:t>
            </a:r>
          </a:p>
        </p:txBody>
      </p:sp>
      <p:sp>
        <p:nvSpPr>
          <p:cNvPr id="23" name="TextBox 22"/>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ccf_tu_viet</a:t>
            </a:r>
            <a:r>
              <a:rPr sz="950" b="1" i="0">
                <a:solidFill>
                  <a:srgbClr val="5B6778"/>
                </a:solidFill>
                <a:latin typeface="Arial"/>
              </a:rPr>
              <a:t>   tự viết</a:t>
            </a:r>
          </a:p>
        </p:txBody>
      </p:sp>
      <p:sp>
        <p:nvSpPr>
          <p:cNvPr id="24" name="TextBox 23"/>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Tương quan chéo corr(x_t, y_(t+k)); k dương là x đi trước y.</a:t>
            </a:r>
          </a:p>
        </p:txBody>
      </p:sp>
      <p:sp>
        <p:nvSpPr>
          <p:cNvPr id="25" name="TextBox 24"/>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loc_prewhiten</a:t>
            </a:r>
            <a:r>
              <a:rPr sz="950" b="1" i="0">
                <a:solidFill>
                  <a:srgbClr val="5B6778"/>
                </a:solidFill>
                <a:latin typeface="Arial"/>
              </a:rPr>
              <a:t>   tự viết</a:t>
            </a:r>
          </a:p>
        </p:txBody>
      </p:sp>
      <p:sp>
        <p:nvSpPr>
          <p:cNvPr id="26" name="TextBox 25"/>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Bỏ phần x tự đoán được, lọc y y hệt, trả hai chuỗi đã lọc.</a:t>
            </a:r>
          </a:p>
        </p:txBody>
      </p:sp>
      <p:pic>
        <p:nvPicPr>
          <p:cNvPr id="27" name="Picture 26" descr="ccf.png"/>
          <p:cNvPicPr>
            <a:picLocks noChangeAspect="1"/>
          </p:cNvPicPr>
          <p:nvPr/>
        </p:nvPicPr>
        <p:blipFill>
          <a:blip r:embed="rId2"/>
          <a:stretch>
            <a:fillRect/>
          </a:stretch>
        </p:blipFill>
        <p:spPr>
          <a:xfrm>
            <a:off x="7863840" y="4701246"/>
            <a:ext cx="3776472" cy="1158827"/>
          </a:xfrm>
          <a:prstGeom prst="rect">
            <a:avLst/>
          </a:prstGeom>
        </p:spPr>
      </p:pic>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tương quan trượt 30 và 90 ngày</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8</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Thấy quan hệ nhiệt độ và tải đổi dấu theo mùa, thay vì tin một con số cả năm.</a:t>
            </a:r>
          </a:p>
        </p:txBody>
      </p:sp>
      <p:sp>
        <p:nvSpPr>
          <p:cNvPr id="6" name="Rounded Rectangle 5"/>
          <p:cNvSpPr/>
          <p:nvPr/>
        </p:nvSpPr>
        <p:spPr>
          <a:xfrm>
            <a:off x="548640" y="1737360"/>
            <a:ext cx="7086600" cy="2208276"/>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1888236"/>
          </a:xfrm>
          <a:prstGeom prst="rect">
            <a:avLst/>
          </a:prstGeom>
          <a:noFill/>
        </p:spPr>
        <p:txBody>
          <a:bodyPr wrap="none" lIns="0" rIns="0" tIns="0" bIns="0">
            <a:spAutoFit/>
          </a:bodyPr>
          <a:lstStyle/>
          <a:p>
            <a:r>
              <a:rPr sz="1050">
                <a:solidFill>
                  <a:srgbClr val="6B7385"/>
                </a:solidFill>
                <a:latin typeface="Courier New"/>
              </a:rPr>
              <a:t> 1 </a:t>
            </a:r>
            <a:r>
              <a:rPr sz="1050">
                <a:solidFill>
                  <a:srgbClr val="E6EAF0"/>
                </a:solidFill>
                <a:latin typeface="Courier New"/>
              </a:rPr>
              <a:t>import numpy as np</a:t>
            </a:r>
          </a:p>
          <a:p>
            <a:r>
              <a:rPr sz="1050">
                <a:solidFill>
                  <a:srgbClr val="6B7385"/>
                </a:solidFill>
                <a:latin typeface="Courier New"/>
              </a:rPr>
              <a:t> 2 </a:t>
            </a:r>
            <a:r>
              <a:rPr sz="1050">
                <a:solidFill>
                  <a:srgbClr val="E6EAF0"/>
                </a:solidFill>
                <a:latin typeface="Courier New"/>
              </a:rPr>
              <a:t>import pandas as pd</a:t>
            </a:r>
          </a:p>
          <a:p>
            <a:r>
              <a:rPr sz="1050">
                <a:solidFill>
                  <a:srgbClr val="6B7385"/>
                </a:solidFill>
                <a:latin typeface="Courier New"/>
              </a:rPr>
              <a:t> 3 </a:t>
            </a:r>
          </a:p>
          <a:p>
            <a:r>
              <a:rPr sz="1050">
                <a:solidFill>
                  <a:srgbClr val="6B7385"/>
                </a:solidFill>
                <a:latin typeface="Courier New"/>
              </a:rPr>
              <a:t> 4 </a:t>
            </a:r>
            <a:r>
              <a:rPr sz="1050">
                <a:solidFill>
                  <a:srgbClr val="8FC99A"/>
                </a:solidFill>
                <a:latin typeface="Courier New"/>
              </a:rPr>
              <a:t># ví dụ tay: 3 ngày đông r = −1, 3 ngày hè r = +1; gộp lại thì sao?</a:t>
            </a:r>
          </a:p>
          <a:p>
            <a:r>
              <a:rPr sz="1050">
                <a:solidFill>
                  <a:srgbClr val="6B7385"/>
                </a:solidFill>
                <a:latin typeface="Courier New"/>
              </a:rPr>
              <a:t> 5 </a:t>
            </a:r>
            <a:r>
              <a:rPr sz="1050">
                <a:solidFill>
                  <a:srgbClr val="E6EAF0"/>
                </a:solidFill>
                <a:latin typeface="Courier New"/>
              </a:rPr>
              <a:t>r_gop = np.corrcoef([5, 10, 15, 25, 30, 35], [30, 20, 10, 20, 30, 40])</a:t>
            </a:r>
          </a:p>
          <a:p>
            <a:r>
              <a:rPr sz="1050">
                <a:solidFill>
                  <a:srgbClr val="6B7385"/>
                </a:solidFill>
                <a:latin typeface="Courier New"/>
              </a:rPr>
              <a:t> 6 </a:t>
            </a:r>
          </a:p>
          <a:p>
            <a:r>
              <a:rPr sz="1050">
                <a:solidFill>
                  <a:srgbClr val="6B7385"/>
                </a:solidFill>
                <a:latin typeface="Courier New"/>
              </a:rPr>
              <a:t> 7 </a:t>
            </a:r>
            <a:r>
              <a:rPr sz="1050">
                <a:solidFill>
                  <a:srgbClr val="E6EAF0"/>
                </a:solidFill>
                <a:latin typeface="Courier New"/>
              </a:rPr>
              <a:t>ngay = df.resample("D").mean()                    </a:t>
            </a:r>
            <a:r>
              <a:rPr sz="1050">
                <a:solidFill>
                  <a:srgbClr val="8FC99A"/>
                </a:solidFill>
                <a:latin typeface="Courier New"/>
              </a:rPr>
              <a:t># giờ gộp thành ngày</a:t>
            </a:r>
          </a:p>
          <a:p>
            <a:r>
              <a:rPr sz="1050">
                <a:solidFill>
                  <a:srgbClr val="6B7385"/>
                </a:solidFill>
                <a:latin typeface="Courier New"/>
              </a:rPr>
              <a:t> 8 </a:t>
            </a:r>
            <a:r>
              <a:rPr sz="1050">
                <a:solidFill>
                  <a:srgbClr val="E6EAF0"/>
                </a:solidFill>
                <a:latin typeface="Courier New"/>
              </a:rPr>
              <a:t>r90 = ngay["nhiet"].rolling(90, min_periods=90).corr(ngay["tai"])</a:t>
            </a:r>
          </a:p>
          <a:p>
            <a:r>
              <a:rPr sz="1050">
                <a:solidFill>
                  <a:srgbClr val="6B7385"/>
                </a:solidFill>
                <a:latin typeface="Courier New"/>
              </a:rPr>
              <a:t> 9 </a:t>
            </a:r>
            <a:r>
              <a:rPr sz="1050">
                <a:solidFill>
                  <a:srgbClr val="E6EAF0"/>
                </a:solidFill>
                <a:latin typeface="Courier New"/>
              </a:rPr>
              <a:t>r30 = ngay["nhiet"].rolling(30, min_periods=30).corr(ngay["tai"])</a:t>
            </a:r>
          </a:p>
          <a:p>
            <a:r>
              <a:rPr sz="1050">
                <a:solidFill>
                  <a:srgbClr val="6B7385"/>
                </a:solidFill>
                <a:latin typeface="Courier New"/>
              </a:rPr>
              <a:t>10 </a:t>
            </a:r>
            <a:r>
              <a:rPr sz="1050">
                <a:solidFill>
                  <a:srgbClr val="E6EAF0"/>
                </a:solidFill>
                <a:latin typeface="Courier New"/>
              </a:rPr>
              <a:t>r_ca_nam = df["nhiet"].corr(df["tai"])            </a:t>
            </a:r>
            <a:r>
              <a:rPr sz="1050">
                <a:solidFill>
                  <a:srgbClr val="8FC99A"/>
                </a:solidFill>
                <a:latin typeface="Courier New"/>
              </a:rPr>
              <a:t># một số cho cả năm</a:t>
            </a:r>
          </a:p>
          <a:p>
            <a:r>
              <a:rPr sz="1050">
                <a:solidFill>
                  <a:srgbClr val="6B7385"/>
                </a:solidFill>
                <a:latin typeface="Courier New"/>
              </a:rPr>
              <a:t>11 </a:t>
            </a:r>
            <a:r>
              <a:rPr sz="1050">
                <a:solidFill>
                  <a:srgbClr val="E6EAF0"/>
                </a:solidFill>
                <a:latin typeface="Courier New"/>
              </a:rPr>
              <a:t>print(r90["2024-03-31"], r90["2024-10-14"], r30.min())</a:t>
            </a:r>
          </a:p>
        </p:txBody>
      </p:sp>
      <p:sp>
        <p:nvSpPr>
          <p:cNvPr id="8" name="TextBox 7"/>
          <p:cNvSpPr txBox="1"/>
          <p:nvPr/>
        </p:nvSpPr>
        <p:spPr>
          <a:xfrm>
            <a:off x="685800" y="3698748"/>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buoi-08/tu-hoc.ipynb, phần 5</a:t>
            </a:r>
          </a:p>
        </p:txBody>
      </p:sp>
      <p:sp>
        <p:nvSpPr>
          <p:cNvPr id="9" name="TextBox 8"/>
          <p:cNvSpPr txBox="1"/>
          <p:nvPr/>
        </p:nvSpPr>
        <p:spPr>
          <a:xfrm>
            <a:off x="548640" y="4055363"/>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3754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5</a:t>
            </a:r>
          </a:p>
        </p:txBody>
      </p:sp>
      <p:sp>
        <p:nvSpPr>
          <p:cNvPr id="11" name="TextBox 10"/>
          <p:cNvSpPr txBox="1"/>
          <p:nvPr/>
        </p:nvSpPr>
        <p:spPr>
          <a:xfrm>
            <a:off x="1353312" y="4357116"/>
            <a:ext cx="2697480" cy="457200"/>
          </a:xfrm>
          <a:prstGeom prst="rect">
            <a:avLst/>
          </a:prstGeom>
          <a:noFill/>
        </p:spPr>
        <p:txBody>
          <a:bodyPr wrap="square" lIns="0" rIns="0" tIns="0" bIns="0" anchor="t">
            <a:spAutoFit/>
          </a:bodyPr>
          <a:lstStyle/>
          <a:p>
            <a:pPr algn="l"/>
            <a:r>
              <a:rPr sz="1050" b="0" i="0">
                <a:solidFill>
                  <a:srgbClr val="1B2A41"/>
                </a:solidFill>
                <a:latin typeface="Arial"/>
              </a:rPr>
              <a:t>Hai chế độ ngược dấu gộp lại ra số lưng chừng.</a:t>
            </a:r>
          </a:p>
        </p:txBody>
      </p:sp>
      <p:sp>
        <p:nvSpPr>
          <p:cNvPr id="12" name="Rounded Rectangle 11"/>
          <p:cNvSpPr/>
          <p:nvPr/>
        </p:nvSpPr>
        <p:spPr>
          <a:xfrm>
            <a:off x="548640" y="48326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7</a:t>
            </a:r>
          </a:p>
        </p:txBody>
      </p:sp>
      <p:sp>
        <p:nvSpPr>
          <p:cNvPr id="13" name="TextBox 12"/>
          <p:cNvSpPr txBox="1"/>
          <p:nvPr/>
        </p:nvSpPr>
        <p:spPr>
          <a:xfrm>
            <a:off x="1353312" y="4814316"/>
            <a:ext cx="2697480" cy="457200"/>
          </a:xfrm>
          <a:prstGeom prst="rect">
            <a:avLst/>
          </a:prstGeom>
          <a:noFill/>
        </p:spPr>
        <p:txBody>
          <a:bodyPr wrap="square" lIns="0" rIns="0" tIns="0" bIns="0" anchor="t">
            <a:spAutoFit/>
          </a:bodyPr>
          <a:lstStyle/>
          <a:p>
            <a:pPr algn="l"/>
            <a:r>
              <a:rPr sz="1050" b="0" i="0">
                <a:solidFill>
                  <a:srgbClr val="1B2A41"/>
                </a:solidFill>
                <a:latin typeface="Arial"/>
              </a:rPr>
              <a:t>Đổi dữ liệu giờ thành trung bình ngày.</a:t>
            </a:r>
          </a:p>
        </p:txBody>
      </p:sp>
      <p:sp>
        <p:nvSpPr>
          <p:cNvPr id="14" name="Rounded Rectangle 13"/>
          <p:cNvSpPr/>
          <p:nvPr/>
        </p:nvSpPr>
        <p:spPr>
          <a:xfrm>
            <a:off x="4160520" y="43754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8–9</a:t>
            </a:r>
          </a:p>
        </p:txBody>
      </p:sp>
      <p:sp>
        <p:nvSpPr>
          <p:cNvPr id="15" name="TextBox 14"/>
          <p:cNvSpPr txBox="1"/>
          <p:nvPr/>
        </p:nvSpPr>
        <p:spPr>
          <a:xfrm>
            <a:off x="4965192" y="4357116"/>
            <a:ext cx="2697480" cy="457200"/>
          </a:xfrm>
          <a:prstGeom prst="rect">
            <a:avLst/>
          </a:prstGeom>
          <a:noFill/>
        </p:spPr>
        <p:txBody>
          <a:bodyPr wrap="square" lIns="0" rIns="0" tIns="0" bIns="0" anchor="t">
            <a:spAutoFit/>
          </a:bodyPr>
          <a:lstStyle/>
          <a:p>
            <a:pPr algn="l"/>
            <a:r>
              <a:rPr sz="1050" b="0" i="0">
                <a:solidFill>
                  <a:srgbClr val="1B2A41"/>
                </a:solidFill>
                <a:latin typeface="Arial"/>
              </a:rPr>
              <a:t>r trên cửa sổ trượt, đủ điểm mới tính.</a:t>
            </a:r>
          </a:p>
        </p:txBody>
      </p:sp>
      <p:sp>
        <p:nvSpPr>
          <p:cNvPr id="16" name="Rounded Rectangle 15"/>
          <p:cNvSpPr/>
          <p:nvPr/>
        </p:nvSpPr>
        <p:spPr>
          <a:xfrm>
            <a:off x="4160520" y="483260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10</a:t>
            </a:r>
          </a:p>
        </p:txBody>
      </p:sp>
      <p:sp>
        <p:nvSpPr>
          <p:cNvPr id="17" name="TextBox 16"/>
          <p:cNvSpPr txBox="1"/>
          <p:nvPr/>
        </p:nvSpPr>
        <p:spPr>
          <a:xfrm>
            <a:off x="4965192" y="4814316"/>
            <a:ext cx="2697480" cy="457200"/>
          </a:xfrm>
          <a:prstGeom prst="rect">
            <a:avLst/>
          </a:prstGeom>
          <a:noFill/>
        </p:spPr>
        <p:txBody>
          <a:bodyPr wrap="square" lIns="0" rIns="0" tIns="0" bIns="0" anchor="t">
            <a:spAutoFit/>
          </a:bodyPr>
          <a:lstStyle/>
          <a:p>
            <a:pPr algn="l"/>
            <a:r>
              <a:rPr sz="1050" b="0" i="0">
                <a:solidFill>
                  <a:srgbClr val="1B2A41"/>
                </a:solidFill>
                <a:latin typeface="Arial"/>
              </a:rPr>
              <a:t>Con số cả năm để so.</a:t>
            </a:r>
          </a:p>
        </p:txBody>
      </p:sp>
      <p:sp>
        <p:nvSpPr>
          <p:cNvPr id="18" name="Rounded Rectangle 17"/>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Gộp sáu ngày ra r = 0,48. Cửa sổ 90 ngày: −0,801 (31/3), +0,968 (14/10); 30 ngày xuống tới −0,971. Cả năm 0,616.</a:t>
            </a:r>
          </a:p>
        </p:txBody>
      </p:sp>
      <p:sp>
        <p:nvSpPr>
          <p:cNvPr id="20" name="TextBox 19"/>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1" name="TextBox 20"/>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resample("D").mean()</a:t>
            </a:r>
            <a:r>
              <a:rPr sz="950" b="1" i="0">
                <a:solidFill>
                  <a:srgbClr val="5B6778"/>
                </a:solidFill>
                <a:latin typeface="Arial"/>
              </a:rPr>
              <a:t>   pandas</a:t>
            </a:r>
          </a:p>
        </p:txBody>
      </p:sp>
      <p:sp>
        <p:nvSpPr>
          <p:cNvPr id="22" name="TextBox 21"/>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Gom dữ liệu theo từng ngày, lấy trung bình mỗi ngày.</a:t>
            </a:r>
          </a:p>
        </p:txBody>
      </p:sp>
      <p:sp>
        <p:nvSpPr>
          <p:cNvPr id="23" name="TextBox 22"/>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rolling(w, min_periods=w).corr(b)</a:t>
            </a:r>
            <a:r>
              <a:rPr sz="950" b="1" i="0">
                <a:solidFill>
                  <a:srgbClr val="5B6778"/>
                </a:solidFill>
                <a:latin typeface="Arial"/>
              </a:rPr>
              <a:t>   pandas</a:t>
            </a:r>
          </a:p>
        </p:txBody>
      </p:sp>
      <p:sp>
        <p:nvSpPr>
          <p:cNvPr id="24" name="TextBox 23"/>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Tương quan trên từng cửa sổ w ngày; thiếu điểm thì để trống.</a:t>
            </a:r>
          </a:p>
        </p:txBody>
      </p:sp>
      <p:sp>
        <p:nvSpPr>
          <p:cNvPr id="25" name="TextBox 24"/>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np.corrcoef(a, b)</a:t>
            </a:r>
            <a:r>
              <a:rPr sz="950" b="1" i="0">
                <a:solidFill>
                  <a:srgbClr val="5B6778"/>
                </a:solidFill>
                <a:latin typeface="Arial"/>
              </a:rPr>
              <a:t>   numpy</a:t>
            </a:r>
          </a:p>
        </p:txBody>
      </p:sp>
      <p:sp>
        <p:nvSpPr>
          <p:cNvPr id="26" name="TextBox 25"/>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Ma trận tương quan Pearson của hai dãy số.</a:t>
            </a:r>
          </a:p>
        </p:txBody>
      </p:sp>
      <p:sp>
        <p:nvSpPr>
          <p:cNvPr id="27" name="Rounded Rectangle 26"/>
          <p:cNvSpPr/>
          <p:nvPr/>
        </p:nvSpPr>
        <p:spPr>
          <a:xfrm>
            <a:off x="7863840" y="4059935"/>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69778d8dcf62.png"/>
          <p:cNvPicPr>
            <a:picLocks noChangeAspect="1"/>
          </p:cNvPicPr>
          <p:nvPr/>
        </p:nvPicPr>
        <p:blipFill>
          <a:blip r:embed="rId2"/>
          <a:stretch>
            <a:fillRect/>
          </a:stretch>
        </p:blipFill>
        <p:spPr>
          <a:xfrm>
            <a:off x="8113776" y="4227575"/>
            <a:ext cx="3276600" cy="213360"/>
          </a:xfrm>
          <a:prstGeom prst="rect">
            <a:avLst/>
          </a:prstGeom>
        </p:spPr>
      </p:pic>
      <p:pic>
        <p:nvPicPr>
          <p:cNvPr id="29" name="Picture 28" descr="truot.png"/>
          <p:cNvPicPr>
            <a:picLocks noChangeAspect="1"/>
          </p:cNvPicPr>
          <p:nvPr/>
        </p:nvPicPr>
        <p:blipFill>
          <a:blip r:embed="rId3"/>
          <a:stretch>
            <a:fillRect/>
          </a:stretch>
        </p:blipFill>
        <p:spPr>
          <a:xfrm>
            <a:off x="7863840" y="4951597"/>
            <a:ext cx="3776472" cy="1316493"/>
          </a:xfrm>
          <a:prstGeom prst="rect">
            <a:avLst/>
          </a:prstGeom>
        </p:spPr>
      </p:pic>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Granger chạy cả hai chiều</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8</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Chạy Granger hai chiều để thấy dấu hiệu của biến gây nhiễu, thay vì đọc thành nhân quả.</a:t>
            </a:r>
          </a:p>
        </p:txBody>
      </p:sp>
      <p:sp>
        <p:nvSpPr>
          <p:cNvPr id="6" name="Rounded Rectangle 5"/>
          <p:cNvSpPr/>
          <p:nvPr/>
        </p:nvSpPr>
        <p:spPr>
          <a:xfrm>
            <a:off x="548640" y="1737360"/>
            <a:ext cx="7086600" cy="2597912"/>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277872"/>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numpy as np</a:t>
            </a:r>
          </a:p>
          <a:p>
            <a:r>
              <a:rPr sz="950">
                <a:solidFill>
                  <a:srgbClr val="6B7385"/>
                </a:solidFill>
                <a:latin typeface="Courier New"/>
              </a:rPr>
              <a:t> 2 </a:t>
            </a:r>
            <a:r>
              <a:rPr sz="950">
                <a:solidFill>
                  <a:srgbClr val="E6EAF0"/>
                </a:solidFill>
                <a:latin typeface="Courier New"/>
              </a:rPr>
              <a:t>from statsmodels.tsa.stattools import grangercausalitytests</a:t>
            </a:r>
          </a:p>
          <a:p>
            <a:r>
              <a:rPr sz="950">
                <a:solidFill>
                  <a:srgbClr val="6B7385"/>
                </a:solidFill>
                <a:latin typeface="Courier New"/>
              </a:rPr>
              <a:t> 3 </a:t>
            </a:r>
          </a:p>
          <a:p>
            <a:r>
              <a:rPr sz="950">
                <a:solidFill>
                  <a:srgbClr val="6B7385"/>
                </a:solidFill>
                <a:latin typeface="Courier New"/>
              </a:rPr>
              <a:t> 4 </a:t>
            </a:r>
            <a:r>
              <a:rPr sz="950">
                <a:solidFill>
                  <a:srgbClr val="E6EAF0"/>
                </a:solidFill>
                <a:latin typeface="Courier New"/>
              </a:rPr>
              <a:t>def granger_p(nguyen_nhan, ket_qua, so_tre=4):</a:t>
            </a:r>
          </a:p>
          <a:p>
            <a:r>
              <a:rPr sz="950">
                <a:solidFill>
                  <a:srgbClr val="6B7385"/>
                </a:solidFill>
                <a:latin typeface="Courier New"/>
              </a:rPr>
              <a:t> 5 </a:t>
            </a:r>
            <a:r>
              <a:rPr sz="950">
                <a:solidFill>
                  <a:srgbClr val="E6EAF0"/>
                </a:solidFill>
                <a:latin typeface="Courier New"/>
              </a:rPr>
              <a:t>    </a:t>
            </a:r>
            <a:r>
              <a:rPr sz="950">
                <a:solidFill>
                  <a:srgbClr val="8FC99A"/>
                </a:solidFill>
                <a:latin typeface="Courier New"/>
              </a:rPr>
              <a:t># statsmodels hỏi: CỘT 2 có giúp dự báo CỘT 1 không</a:t>
            </a:r>
          </a:p>
          <a:p>
            <a:r>
              <a:rPr sz="950">
                <a:solidFill>
                  <a:srgbClr val="6B7385"/>
                </a:solidFill>
                <a:latin typeface="Courier New"/>
              </a:rPr>
              <a:t> 6 </a:t>
            </a:r>
            <a:r>
              <a:rPr sz="950">
                <a:solidFill>
                  <a:srgbClr val="E6EAF0"/>
                </a:solidFill>
                <a:latin typeface="Courier New"/>
              </a:rPr>
              <a:t>    kq = grangercausalitytests(np.column_stack([ket_qua, nguyen_nhan]),</a:t>
            </a:r>
          </a:p>
          <a:p>
            <a:r>
              <a:rPr sz="950">
                <a:solidFill>
                  <a:srgbClr val="6B7385"/>
                </a:solidFill>
                <a:latin typeface="Courier New"/>
              </a:rPr>
              <a:t> 7 </a:t>
            </a:r>
            <a:r>
              <a:rPr sz="950">
                <a:solidFill>
                  <a:srgbClr val="E6EAF0"/>
                </a:solidFill>
                <a:latin typeface="Courier New"/>
              </a:rPr>
              <a:t>                               maxlag=so_tre)</a:t>
            </a:r>
          </a:p>
          <a:p>
            <a:r>
              <a:rPr sz="950">
                <a:solidFill>
                  <a:srgbClr val="6B7385"/>
                </a:solidFill>
                <a:latin typeface="Courier New"/>
              </a:rPr>
              <a:t> 8 </a:t>
            </a:r>
            <a:r>
              <a:rPr sz="950">
                <a:solidFill>
                  <a:srgbClr val="E6EAF0"/>
                </a:solidFill>
                <a:latin typeface="Courier New"/>
              </a:rPr>
              <a:t>    return min(kq[k][0]["ssr_ftest"][1] for k in kq)   </a:t>
            </a:r>
            <a:r>
              <a:rPr sz="950">
                <a:solidFill>
                  <a:srgbClr val="8FC99A"/>
                </a:solidFill>
                <a:latin typeface="Courier New"/>
              </a:rPr>
              <a:t># p nhỏ nhất</a:t>
            </a:r>
          </a:p>
          <a:p>
            <a:r>
              <a:rPr sz="950">
                <a:solidFill>
                  <a:srgbClr val="6B7385"/>
                </a:solidFill>
                <a:latin typeface="Courier New"/>
              </a:rPr>
              <a:t> 9 </a:t>
            </a:r>
          </a:p>
          <a:p>
            <a:r>
              <a:rPr sz="950">
                <a:solidFill>
                  <a:srgbClr val="6B7385"/>
                </a:solidFill>
                <a:latin typeface="Courier New"/>
              </a:rPr>
              <a:t>10 </a:t>
            </a:r>
            <a:r>
              <a:rPr sz="950">
                <a:solidFill>
                  <a:srgbClr val="E6EAF0"/>
                </a:solidFill>
                <a:latin typeface="Courier New"/>
              </a:rPr>
              <a:t>cdd, taiv = df["cdd"].to_numpy(), df["tai"].to_numpy()</a:t>
            </a:r>
          </a:p>
          <a:p>
            <a:r>
              <a:rPr sz="950">
                <a:solidFill>
                  <a:srgbClr val="6B7385"/>
                </a:solidFill>
                <a:latin typeface="Courier New"/>
              </a:rPr>
              <a:t>11 </a:t>
            </a:r>
            <a:r>
              <a:rPr sz="950">
                <a:solidFill>
                  <a:srgbClr val="E6EAF0"/>
                </a:solidFill>
                <a:latin typeface="Courier New"/>
              </a:rPr>
              <a:t>p_xuoi = granger_p(cdd, taiv)                     </a:t>
            </a:r>
            <a:r>
              <a:rPr sz="950">
                <a:solidFill>
                  <a:srgbClr val="8FC99A"/>
                </a:solidFill>
                <a:latin typeface="Courier New"/>
              </a:rPr>
              <a:t># CDD giúp dự báo tải?</a:t>
            </a:r>
          </a:p>
          <a:p>
            <a:r>
              <a:rPr sz="950">
                <a:solidFill>
                  <a:srgbClr val="6B7385"/>
                </a:solidFill>
                <a:latin typeface="Courier New"/>
              </a:rPr>
              <a:t>12 </a:t>
            </a:r>
            <a:r>
              <a:rPr sz="950">
                <a:solidFill>
                  <a:srgbClr val="E6EAF0"/>
                </a:solidFill>
                <a:latin typeface="Courier New"/>
              </a:rPr>
              <a:t>p_nguoc = granger_p(taiv, cdd)                    </a:t>
            </a:r>
            <a:r>
              <a:rPr sz="950">
                <a:solidFill>
                  <a:srgbClr val="8FC99A"/>
                </a:solidFill>
                <a:latin typeface="Courier New"/>
              </a:rPr>
              <a:t># tải giúp dự báo CDD?</a:t>
            </a:r>
          </a:p>
          <a:p>
            <a:r>
              <a:rPr sz="950">
                <a:solidFill>
                  <a:srgbClr val="6B7385"/>
                </a:solidFill>
                <a:latin typeface="Courier New"/>
              </a:rPr>
              <a:t>13 </a:t>
            </a:r>
          </a:p>
          <a:p>
            <a:r>
              <a:rPr sz="950">
                <a:solidFill>
                  <a:srgbClr val="6B7385"/>
                </a:solidFill>
                <a:latin typeface="Courier New"/>
              </a:rPr>
              <a:t>14 </a:t>
            </a:r>
            <a:r>
              <a:rPr sz="950">
                <a:solidFill>
                  <a:srgbClr val="E6EAF0"/>
                </a:solidFill>
                <a:latin typeface="Courier New"/>
              </a:rPr>
              <a:t>ho = df[["tai", "nhiet"]].groupby(df.index.hour).mean()   </a:t>
            </a:r>
            <a:r>
              <a:rPr sz="950">
                <a:solidFill>
                  <a:srgbClr val="8FC99A"/>
                </a:solidFill>
                <a:latin typeface="Courier New"/>
              </a:rPr>
              <a:t># theo giờ</a:t>
            </a:r>
          </a:p>
          <a:p>
            <a:r>
              <a:rPr sz="950">
                <a:solidFill>
                  <a:srgbClr val="6B7385"/>
                </a:solidFill>
                <a:latin typeface="Courier New"/>
              </a:rPr>
              <a:t>15 </a:t>
            </a:r>
            <a:r>
              <a:rPr sz="950">
                <a:solidFill>
                  <a:srgbClr val="E6EAF0"/>
                </a:solidFill>
                <a:latin typeface="Courier New"/>
              </a:rPr>
              <a:t>ho = (ho - ho.mean()) / ho.std()                  </a:t>
            </a:r>
            <a:r>
              <a:rPr sz="950">
                <a:solidFill>
                  <a:srgbClr val="8FC99A"/>
                </a:solidFill>
                <a:latin typeface="Courier New"/>
              </a:rPr>
              <a:t># cùng một nhịp 24 giờ</a:t>
            </a:r>
          </a:p>
        </p:txBody>
      </p:sp>
      <p:sp>
        <p:nvSpPr>
          <p:cNvPr id="8" name="TextBox 7"/>
          <p:cNvSpPr txBox="1"/>
          <p:nvPr/>
        </p:nvSpPr>
        <p:spPr>
          <a:xfrm>
            <a:off x="685800" y="4088384"/>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buoi-08/tu-hoc.ipynb, phần 6</a:t>
            </a:r>
          </a:p>
        </p:txBody>
      </p:sp>
      <p:sp>
        <p:nvSpPr>
          <p:cNvPr id="9" name="TextBox 8"/>
          <p:cNvSpPr txBox="1"/>
          <p:nvPr/>
        </p:nvSpPr>
        <p:spPr>
          <a:xfrm>
            <a:off x="548640" y="4445000"/>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5–6</a:t>
            </a:r>
          </a:p>
        </p:txBody>
      </p:sp>
      <p:sp>
        <p:nvSpPr>
          <p:cNvPr id="11" name="TextBox 10"/>
          <p:cNvSpPr txBox="1"/>
          <p:nvPr/>
        </p:nvSpPr>
        <p:spPr>
          <a:xfrm>
            <a:off x="1353312" y="4746752"/>
            <a:ext cx="2697480" cy="457200"/>
          </a:xfrm>
          <a:prstGeom prst="rect">
            <a:avLst/>
          </a:prstGeom>
          <a:noFill/>
        </p:spPr>
        <p:txBody>
          <a:bodyPr wrap="square" lIns="0" rIns="0" tIns="0" bIns="0" anchor="t">
            <a:spAutoFit/>
          </a:bodyPr>
          <a:lstStyle/>
          <a:p>
            <a:pPr algn="l"/>
            <a:r>
              <a:rPr sz="1050" b="0" i="0">
                <a:solidFill>
                  <a:srgbClr val="1B2A41"/>
                </a:solidFill>
                <a:latin typeface="Arial"/>
              </a:rPr>
              <a:t>Xếp cột đúng thứ tự thư viện đòi.</a:t>
            </a:r>
          </a:p>
        </p:txBody>
      </p:sp>
      <p:sp>
        <p:nvSpPr>
          <p:cNvPr id="12" name="Rounded Rectangle 11"/>
          <p:cNvSpPr/>
          <p:nvPr/>
        </p:nvSpPr>
        <p:spPr>
          <a:xfrm>
            <a:off x="548640" y="52222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7</a:t>
            </a:r>
          </a:p>
        </p:txBody>
      </p:sp>
      <p:sp>
        <p:nvSpPr>
          <p:cNvPr id="13" name="TextBox 12"/>
          <p:cNvSpPr txBox="1"/>
          <p:nvPr/>
        </p:nvSpPr>
        <p:spPr>
          <a:xfrm>
            <a:off x="1353312" y="5203952"/>
            <a:ext cx="2697480" cy="457200"/>
          </a:xfrm>
          <a:prstGeom prst="rect">
            <a:avLst/>
          </a:prstGeom>
          <a:noFill/>
        </p:spPr>
        <p:txBody>
          <a:bodyPr wrap="square" lIns="0" rIns="0" tIns="0" bIns="0" anchor="t">
            <a:spAutoFit/>
          </a:bodyPr>
          <a:lstStyle/>
          <a:p>
            <a:pPr algn="l"/>
            <a:r>
              <a:rPr sz="1050" b="0" i="0">
                <a:solidFill>
                  <a:srgbClr val="1B2A41"/>
                </a:solidFill>
                <a:latin typeface="Arial"/>
              </a:rPr>
              <a:t>Lấy p nhỏ nhất qua các độ trễ 1 tới 4.</a:t>
            </a:r>
          </a:p>
        </p:txBody>
      </p:sp>
      <p:sp>
        <p:nvSpPr>
          <p:cNvPr id="14" name="Rounded Rectangle 13"/>
          <p:cNvSpPr/>
          <p:nvPr/>
        </p:nvSpPr>
        <p:spPr>
          <a:xfrm>
            <a:off x="416052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10–11</a:t>
            </a:r>
          </a:p>
        </p:txBody>
      </p:sp>
      <p:sp>
        <p:nvSpPr>
          <p:cNvPr id="15" name="TextBox 14"/>
          <p:cNvSpPr txBox="1"/>
          <p:nvPr/>
        </p:nvSpPr>
        <p:spPr>
          <a:xfrm>
            <a:off x="4965192" y="4746752"/>
            <a:ext cx="2697480" cy="457200"/>
          </a:xfrm>
          <a:prstGeom prst="rect">
            <a:avLst/>
          </a:prstGeom>
          <a:noFill/>
        </p:spPr>
        <p:txBody>
          <a:bodyPr wrap="square" lIns="0" rIns="0" tIns="0" bIns="0" anchor="t">
            <a:spAutoFit/>
          </a:bodyPr>
          <a:lstStyle/>
          <a:p>
            <a:pPr algn="l"/>
            <a:r>
              <a:rPr sz="1050" b="0" i="0">
                <a:solidFill>
                  <a:srgbClr val="1B2A41"/>
                </a:solidFill>
                <a:latin typeface="Arial"/>
              </a:rPr>
              <a:t>Hỏi cả hai chiều, không chỉ chiều mong muốn.</a:t>
            </a:r>
          </a:p>
        </p:txBody>
      </p:sp>
      <p:sp>
        <p:nvSpPr>
          <p:cNvPr id="16" name="Rounded Rectangle 15"/>
          <p:cNvSpPr/>
          <p:nvPr/>
        </p:nvSpPr>
        <p:spPr>
          <a:xfrm>
            <a:off x="4160520" y="52222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13–14</a:t>
            </a:r>
          </a:p>
        </p:txBody>
      </p:sp>
      <p:sp>
        <p:nvSpPr>
          <p:cNvPr id="17" name="TextBox 16"/>
          <p:cNvSpPr txBox="1"/>
          <p:nvPr/>
        </p:nvSpPr>
        <p:spPr>
          <a:xfrm>
            <a:off x="4965192" y="5203952"/>
            <a:ext cx="2697480" cy="457200"/>
          </a:xfrm>
          <a:prstGeom prst="rect">
            <a:avLst/>
          </a:prstGeom>
          <a:noFill/>
        </p:spPr>
        <p:txBody>
          <a:bodyPr wrap="square" lIns="0" rIns="0" tIns="0" bIns="0" anchor="t">
            <a:spAutoFit/>
          </a:bodyPr>
          <a:lstStyle/>
          <a:p>
            <a:pPr algn="l"/>
            <a:r>
              <a:rPr sz="1050" b="0" i="0">
                <a:solidFill>
                  <a:srgbClr val="1B2A41"/>
                </a:solidFill>
                <a:latin typeface="Arial"/>
              </a:rPr>
              <a:t>Tìm biến thứ ba: nhịp giờ trong ngày.</a:t>
            </a:r>
          </a:p>
        </p:txBody>
      </p:sp>
      <p:sp>
        <p:nvSpPr>
          <p:cNvPr id="18" name="Rounded Rectangle 17"/>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Cả hai chiều p gần 0, kể cả "tải giúp dự báo nhiệt độ": vô lý, vì cả hai cùng chạy theo nhịp ngày.</a:t>
            </a:r>
          </a:p>
        </p:txBody>
      </p:sp>
      <p:sp>
        <p:nvSpPr>
          <p:cNvPr id="20" name="TextBox 19"/>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1" name="TextBox 20"/>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grangercausalitytests(data, maxlag)</a:t>
            </a:r>
            <a:r>
              <a:rPr sz="950" b="1" i="0">
                <a:solidFill>
                  <a:srgbClr val="5B6778"/>
                </a:solidFill>
                <a:latin typeface="Arial"/>
              </a:rPr>
              <a:t>   statsmodels</a:t>
            </a:r>
          </a:p>
        </p:txBody>
      </p:sp>
      <p:sp>
        <p:nvSpPr>
          <p:cNvPr id="22" name="TextBox 21"/>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Kiểm quá khứ cột 2 có giúp dự báo cột 1 không, ở mỗi độ trễ.</a:t>
            </a:r>
          </a:p>
        </p:txBody>
      </p:sp>
      <p:sp>
        <p:nvSpPr>
          <p:cNvPr id="23" name="TextBox 22"/>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groupby(df.index.hour).mean()</a:t>
            </a:r>
            <a:r>
              <a:rPr sz="950" b="1" i="0">
                <a:solidFill>
                  <a:srgbClr val="5B6778"/>
                </a:solidFill>
                <a:latin typeface="Arial"/>
              </a:rPr>
              <a:t>   pandas</a:t>
            </a:r>
          </a:p>
        </p:txBody>
      </p:sp>
      <p:sp>
        <p:nvSpPr>
          <p:cNvPr id="24" name="TextBox 23"/>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Trung bình theo giờ trong ngày: ra hình dạng một ngày điển hình.</a:t>
            </a:r>
          </a:p>
        </p:txBody>
      </p:sp>
      <p:sp>
        <p:nvSpPr>
          <p:cNvPr id="25" name="TextBox 24"/>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np.column_stack</a:t>
            </a:r>
            <a:r>
              <a:rPr sz="950" b="1" i="0">
                <a:solidFill>
                  <a:srgbClr val="5B6778"/>
                </a:solidFill>
                <a:latin typeface="Arial"/>
              </a:rPr>
              <a:t>   numpy</a:t>
            </a:r>
          </a:p>
        </p:txBody>
      </p:sp>
      <p:sp>
        <p:nvSpPr>
          <p:cNvPr id="26" name="TextBox 25"/>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Ghép các dãy thành các cột của một bảng.</a:t>
            </a:r>
          </a:p>
        </p:txBody>
      </p:sp>
      <p:pic>
        <p:nvPicPr>
          <p:cNvPr id="27" name="Picture 26" descr="kn-bien-gay-nhieu.png"/>
          <p:cNvPicPr>
            <a:picLocks noChangeAspect="1"/>
          </p:cNvPicPr>
          <p:nvPr/>
        </p:nvPicPr>
        <p:blipFill>
          <a:blip r:embed="rId2"/>
          <a:stretch>
            <a:fillRect/>
          </a:stretch>
        </p:blipFill>
        <p:spPr>
          <a:xfrm>
            <a:off x="7863840" y="4433338"/>
            <a:ext cx="3776472" cy="1694642"/>
          </a:xfrm>
          <a:prstGeom prst="rect">
            <a:avLst/>
          </a:prstGeom>
        </p:spPr>
      </p:pic>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mỗi chuỗi thành một hàng số</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9</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Tóm mỗi chuỗi thành các đặc trưng không đổi theo đơn vị, để so hàng nghìn chuỗi.</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import pandas as pd</a:t>
            </a:r>
          </a:p>
          <a:p>
            <a:r>
              <a:rPr sz="850">
                <a:solidFill>
                  <a:srgbClr val="6B7385"/>
                </a:solidFill>
                <a:latin typeface="Courier New"/>
              </a:rPr>
              <a:t> 3 </a:t>
            </a:r>
            <a:r>
              <a:rPr sz="850">
                <a:solidFill>
                  <a:srgbClr val="E6EAF0"/>
                </a:solidFill>
                <a:latin typeface="Courier New"/>
              </a:rPr>
              <a:t>from scipy import stats</a:t>
            </a:r>
          </a:p>
          <a:p>
            <a:r>
              <a:rPr sz="850">
                <a:solidFill>
                  <a:srgbClr val="6B7385"/>
                </a:solidFill>
                <a:latin typeface="Courier New"/>
              </a:rPr>
              <a:t> 4 </a:t>
            </a:r>
            <a:r>
              <a:rPr sz="850">
                <a:solidFill>
                  <a:srgbClr val="E6EAF0"/>
                </a:solidFill>
                <a:latin typeface="Courier New"/>
              </a:rPr>
              <a:t>from statsmodels.tsa.seasonal import STL</a:t>
            </a:r>
          </a:p>
          <a:p>
            <a:r>
              <a:rPr sz="850">
                <a:solidFill>
                  <a:srgbClr val="6B7385"/>
                </a:solidFill>
                <a:latin typeface="Courier New"/>
              </a:rPr>
              <a:t> 5 </a:t>
            </a:r>
          </a:p>
          <a:p>
            <a:r>
              <a:rPr sz="850">
                <a:solidFill>
                  <a:srgbClr val="6B7385"/>
                </a:solidFill>
                <a:latin typeface="Courier New"/>
              </a:rPr>
              <a:t> 6 </a:t>
            </a:r>
            <a:r>
              <a:rPr sz="850">
                <a:solidFill>
                  <a:srgbClr val="E6EAF0"/>
                </a:solidFill>
                <a:latin typeface="Courier New"/>
              </a:rPr>
              <a:t>def dac_trung(y, m=12):                           </a:t>
            </a:r>
            <a:r>
              <a:rPr sz="850">
                <a:solidFill>
                  <a:srgbClr val="8FC99A"/>
                </a:solidFill>
                <a:latin typeface="Courier New"/>
              </a:rPr>
              <a:t># 6 trong 20 đặc trưng</a:t>
            </a:r>
          </a:p>
          <a:p>
            <a:r>
              <a:rPr sz="850">
                <a:solidFill>
                  <a:srgbClr val="6B7385"/>
                </a:solidFill>
                <a:latin typeface="Courier New"/>
              </a:rPr>
              <a:t> 7 </a:t>
            </a:r>
            <a:r>
              <a:rPr sz="850">
                <a:solidFill>
                  <a:srgbClr val="E6EAF0"/>
                </a:solidFill>
                <a:latin typeface="Courier New"/>
              </a:rPr>
              <a:t>    z = (y - y.mean()) / np.std(y)                </a:t>
            </a:r>
            <a:r>
              <a:rPr sz="850">
                <a:solidFill>
                  <a:srgbClr val="8FC99A"/>
                </a:solidFill>
                <a:latin typeface="Courier New"/>
              </a:rPr>
              <a:t># STL trên chuỗi z-score</a:t>
            </a:r>
          </a:p>
          <a:p>
            <a:r>
              <a:rPr sz="850">
                <a:solidFill>
                  <a:srgbClr val="6B7385"/>
                </a:solidFill>
                <a:latin typeface="Courier New"/>
              </a:rPr>
              <a:t> 8 </a:t>
            </a:r>
            <a:r>
              <a:rPr sz="850">
                <a:solidFill>
                  <a:srgbClr val="E6EAF0"/>
                </a:solidFill>
                <a:latin typeface="Courier New"/>
              </a:rPr>
              <a:t>    idx = pd.period_range("2000-01", periods=y.size, freq="M").to_timestamp()</a:t>
            </a:r>
          </a:p>
          <a:p>
            <a:r>
              <a:rPr sz="850">
                <a:solidFill>
                  <a:srgbClr val="6B7385"/>
                </a:solidFill>
                <a:latin typeface="Courier New"/>
              </a:rPr>
              <a:t> 9 </a:t>
            </a:r>
            <a:r>
              <a:rPr sz="850">
                <a:solidFill>
                  <a:srgbClr val="E6EAF0"/>
                </a:solidFill>
                <a:latin typeface="Courier New"/>
              </a:rPr>
              <a:t>    kq = STL(pd.Series(z, index=idx), period=m).fit()</a:t>
            </a:r>
          </a:p>
          <a:p>
            <a:r>
              <a:rPr sz="850">
                <a:solidFill>
                  <a:srgbClr val="6B7385"/>
                </a:solidFill>
                <a:latin typeface="Courier New"/>
              </a:rPr>
              <a:t>10 </a:t>
            </a:r>
            <a:r>
              <a:rPr sz="850">
                <a:solidFill>
                  <a:srgbClr val="E6EAF0"/>
                </a:solidFill>
                <a:latin typeface="Courier New"/>
              </a:rPr>
              <a:t>    r, s = kq.resid.to_numpy(), kq.seasonal.to_numpy()</a:t>
            </a:r>
          </a:p>
          <a:p>
            <a:r>
              <a:rPr sz="850">
                <a:solidFill>
                  <a:srgbClr val="6B7385"/>
                </a:solidFill>
                <a:latin typeface="Courier New"/>
              </a:rPr>
              <a:t>11 </a:t>
            </a:r>
            <a:r>
              <a:rPr sz="850">
                <a:solidFill>
                  <a:srgbClr val="E6EAF0"/>
                </a:solidFill>
                <a:latin typeface="Courier New"/>
              </a:rPr>
              <a:t>    return {"trung_binh": y.mean(),</a:t>
            </a:r>
          </a:p>
          <a:p>
            <a:r>
              <a:rPr sz="850">
                <a:solidFill>
                  <a:srgbClr val="6B7385"/>
                </a:solidFill>
                <a:latin typeface="Courier New"/>
              </a:rPr>
              <a:t>12 </a:t>
            </a:r>
            <a:r>
              <a:rPr sz="850">
                <a:solidFill>
                  <a:srgbClr val="E6EAF0"/>
                </a:solidFill>
                <a:latin typeface="Courier New"/>
              </a:rPr>
              <a:t>            "he_so_bien_thien": np.std(y, ddof=1) / y.mean(),</a:t>
            </a:r>
          </a:p>
          <a:p>
            <a:r>
              <a:rPr sz="850">
                <a:solidFill>
                  <a:srgbClr val="6B7385"/>
                </a:solidFill>
                <a:latin typeface="Courier New"/>
              </a:rPr>
              <a:t>13 </a:t>
            </a:r>
            <a:r>
              <a:rPr sz="850">
                <a:solidFill>
                  <a:srgbClr val="E6EAF0"/>
                </a:solidFill>
                <a:latin typeface="Courier New"/>
              </a:rPr>
              <a:t>            "he_so_lech": stats.skew(y), "do_nhon": stats.kurtosis(y),</a:t>
            </a:r>
          </a:p>
          <a:p>
            <a:r>
              <a:rPr sz="850">
                <a:solidFill>
                  <a:srgbClr val="6B7385"/>
                </a:solidFill>
                <a:latin typeface="Courier New"/>
              </a:rPr>
              <a:t>14 </a:t>
            </a:r>
            <a:r>
              <a:rPr sz="850">
                <a:solidFill>
                  <a:srgbClr val="E6EAF0"/>
                </a:solidFill>
                <a:latin typeface="Courier New"/>
              </a:rPr>
              <a:t>            "do_manh_mua_vu": max(0.0, 1 - np.var(r) / np.var(s + r)),</a:t>
            </a:r>
          </a:p>
          <a:p>
            <a:r>
              <a:rPr sz="850">
                <a:solidFill>
                  <a:srgbClr val="6B7385"/>
                </a:solidFill>
                <a:latin typeface="Courier New"/>
              </a:rPr>
              <a:t>15 </a:t>
            </a:r>
            <a:r>
              <a:rPr sz="850">
                <a:solidFill>
                  <a:srgbClr val="E6EAF0"/>
                </a:solidFill>
                <a:latin typeface="Courier New"/>
              </a:rPr>
              <a:t>            "ty_le_0": np.mean(y == 0)}</a:t>
            </a:r>
          </a:p>
          <a:p>
            <a:r>
              <a:rPr sz="850">
                <a:solidFill>
                  <a:srgbClr val="6B7385"/>
                </a:solidFill>
                <a:latin typeface="Courier New"/>
              </a:rPr>
              <a:t>16 </a:t>
            </a:r>
            <a:r>
              <a:rPr sz="850">
                <a:solidFill>
                  <a:srgbClr val="E6EAF0"/>
                </a:solidFill>
                <a:latin typeface="Courier New"/>
              </a:rPr>
              <a:t>bang = pd.DataFrame({t: dac_trung(v[:-18]) for t, v in chuoi.items()}).T</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buoi-09/tu-hoc.ipynb, phần 1</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7</a:t>
            </a:r>
          </a:p>
        </p:txBody>
      </p:sp>
      <p:sp>
        <p:nvSpPr>
          <p:cNvPr id="11" name="TextBox 10"/>
          <p:cNvSpPr txBox="1"/>
          <p:nvPr/>
        </p:nvSpPr>
        <p:spPr>
          <a:xfrm>
            <a:off x="1353312" y="4634357"/>
            <a:ext cx="2697480" cy="457200"/>
          </a:xfrm>
          <a:prstGeom prst="rect">
            <a:avLst/>
          </a:prstGeom>
          <a:noFill/>
        </p:spPr>
        <p:txBody>
          <a:bodyPr wrap="square" lIns="0" rIns="0" tIns="0" bIns="0" anchor="t">
            <a:spAutoFit/>
          </a:bodyPr>
          <a:lstStyle/>
          <a:p>
            <a:pPr algn="l"/>
            <a:r>
              <a:rPr sz="1050" b="0" i="0">
                <a:solidFill>
                  <a:srgbClr val="1B2A41"/>
                </a:solidFill>
                <a:latin typeface="Arial"/>
              </a:rPr>
              <a:t>z-score để độ mạnh không tính bằng USD.</a:t>
            </a:r>
          </a:p>
        </p:txBody>
      </p:sp>
      <p:sp>
        <p:nvSpPr>
          <p:cNvPr id="12" name="Rounded Rectangle 11"/>
          <p:cNvSpPr/>
          <p:nvPr/>
        </p:nvSpPr>
        <p:spPr>
          <a:xfrm>
            <a:off x="548640" y="51098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8–10</a:t>
            </a:r>
          </a:p>
        </p:txBody>
      </p:sp>
      <p:sp>
        <p:nvSpPr>
          <p:cNvPr id="13" name="TextBox 12"/>
          <p:cNvSpPr txBox="1"/>
          <p:nvPr/>
        </p:nvSpPr>
        <p:spPr>
          <a:xfrm>
            <a:off x="1353312" y="5091557"/>
            <a:ext cx="2697480" cy="457200"/>
          </a:xfrm>
          <a:prstGeom prst="rect">
            <a:avLst/>
          </a:prstGeom>
          <a:noFill/>
        </p:spPr>
        <p:txBody>
          <a:bodyPr wrap="square" lIns="0" rIns="0" tIns="0" bIns="0" anchor="t">
            <a:spAutoFit/>
          </a:bodyPr>
          <a:lstStyle/>
          <a:p>
            <a:pPr algn="l"/>
            <a:r>
              <a:rPr sz="1050" b="0" i="0">
                <a:solidFill>
                  <a:srgbClr val="1B2A41"/>
                </a:solidFill>
                <a:latin typeface="Arial"/>
              </a:rPr>
              <a:t>Tách xu hướng, mùa vụ, phần dư bằng STL.</a:t>
            </a:r>
          </a:p>
        </p:txBody>
      </p:sp>
      <p:sp>
        <p:nvSpPr>
          <p:cNvPr id="14" name="Rounded Rectangle 13"/>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11–15</a:t>
            </a:r>
          </a:p>
        </p:txBody>
      </p:sp>
      <p:sp>
        <p:nvSpPr>
          <p:cNvPr id="15" name="TextBox 14"/>
          <p:cNvSpPr txBox="1"/>
          <p:nvPr/>
        </p:nvSpPr>
        <p:spPr>
          <a:xfrm>
            <a:off x="4965192" y="4634357"/>
            <a:ext cx="2697480" cy="457200"/>
          </a:xfrm>
          <a:prstGeom prst="rect">
            <a:avLst/>
          </a:prstGeom>
          <a:noFill/>
        </p:spPr>
        <p:txBody>
          <a:bodyPr wrap="square" lIns="0" rIns="0" tIns="0" bIns="0" anchor="t">
            <a:spAutoFit/>
          </a:bodyPr>
          <a:lstStyle/>
          <a:p>
            <a:pPr algn="l"/>
            <a:r>
              <a:rPr sz="1050" b="0" i="0">
                <a:solidFill>
                  <a:srgbClr val="1B2A41"/>
                </a:solidFill>
                <a:latin typeface="Arial"/>
              </a:rPr>
              <a:t>Mỗi đặc trưng một con số của cả chuỗi.</a:t>
            </a:r>
          </a:p>
        </p:txBody>
      </p:sp>
      <p:sp>
        <p:nvSpPr>
          <p:cNvPr id="16" name="Rounded Rectangle 15"/>
          <p:cNvSpPr/>
          <p:nvPr/>
        </p:nvSpPr>
        <p:spPr>
          <a:xfrm>
            <a:off x="4160520" y="51098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16</a:t>
            </a:r>
          </a:p>
        </p:txBody>
      </p:sp>
      <p:sp>
        <p:nvSpPr>
          <p:cNvPr id="17" name="TextBox 16"/>
          <p:cNvSpPr txBox="1"/>
          <p:nvPr/>
        </p:nvSpPr>
        <p:spPr>
          <a:xfrm>
            <a:off x="4965192" y="5091557"/>
            <a:ext cx="2697480" cy="457200"/>
          </a:xfrm>
          <a:prstGeom prst="rect">
            <a:avLst/>
          </a:prstGeom>
          <a:noFill/>
        </p:spPr>
        <p:txBody>
          <a:bodyPr wrap="square" lIns="0" rIns="0" tIns="0" bIns="0" anchor="t">
            <a:spAutoFit/>
          </a:bodyPr>
          <a:lstStyle/>
          <a:p>
            <a:pPr algn="l"/>
            <a:r>
              <a:rPr sz="1050" b="0" i="0">
                <a:solidFill>
                  <a:srgbClr val="1B2A41"/>
                </a:solidFill>
                <a:latin typeface="Arial"/>
              </a:rPr>
              <a:t>Chỉ tính trên phần học, bỏ 18 tháng chấm.</a:t>
            </a:r>
          </a:p>
        </p:txBody>
      </p:sp>
      <p:sp>
        <p:nvSpPr>
          <p:cNvPr id="18" name="Rounded Rectangle 17"/>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Nhân chuỗi với 1.000: chỉ trung_binh và do_lech_chuan đổi, 18 đặc trưng giữ nguyên. Bảng còn cho thấy 1 chuỗi hằng và 50 chuỗi bậc thang.</a:t>
            </a:r>
          </a:p>
        </p:txBody>
      </p:sp>
      <p:sp>
        <p:nvSpPr>
          <p:cNvPr id="20" name="TextBox 19"/>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1" name="TextBox 20"/>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STL(series, period).fit()</a:t>
            </a:r>
            <a:r>
              <a:rPr sz="950" b="1" i="0">
                <a:solidFill>
                  <a:srgbClr val="5B6778"/>
                </a:solidFill>
                <a:latin typeface="Arial"/>
              </a:rPr>
              <a:t>   statsmodels</a:t>
            </a:r>
          </a:p>
        </p:txBody>
      </p:sp>
      <p:sp>
        <p:nvSpPr>
          <p:cNvPr id="22" name="TextBox 21"/>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Tách chuỗi thành xu hướng + mùa vụ + phần dư.</a:t>
            </a:r>
          </a:p>
        </p:txBody>
      </p:sp>
      <p:sp>
        <p:nvSpPr>
          <p:cNvPr id="23" name="TextBox 22"/>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stats.skew, stats.kurtosis</a:t>
            </a:r>
            <a:r>
              <a:rPr sz="950" b="1" i="0">
                <a:solidFill>
                  <a:srgbClr val="5B6778"/>
                </a:solidFill>
                <a:latin typeface="Arial"/>
              </a:rPr>
              <a:t>   scipy</a:t>
            </a:r>
          </a:p>
        </p:txBody>
      </p:sp>
      <p:sp>
        <p:nvSpPr>
          <p:cNvPr id="24" name="TextBox 23"/>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Hệ số lệch và độ nhọn: đo đuôi và giá trị cực đoan.</a:t>
            </a:r>
          </a:p>
        </p:txBody>
      </p:sp>
      <p:sp>
        <p:nvSpPr>
          <p:cNvPr id="25" name="TextBox 24"/>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pd.DataFrame(dict).T</a:t>
            </a:r>
            <a:r>
              <a:rPr sz="950" b="1" i="0">
                <a:solidFill>
                  <a:srgbClr val="5B6778"/>
                </a:solidFill>
                <a:latin typeface="Arial"/>
              </a:rPr>
              <a:t>   pandas</a:t>
            </a:r>
          </a:p>
        </p:txBody>
      </p:sp>
      <p:sp>
        <p:nvSpPr>
          <p:cNvPr id="26" name="TextBox 25"/>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Ghép từ điển các chuỗi thành bảng, mỗi chuỗi một hàng.</a:t>
            </a:r>
          </a:p>
        </p:txBody>
      </p:sp>
      <p:pic>
        <p:nvPicPr>
          <p:cNvPr id="27" name="Picture 26" descr="kn-he-so-lech-skewness.png"/>
          <p:cNvPicPr>
            <a:picLocks noChangeAspect="1"/>
          </p:cNvPicPr>
          <p:nvPr/>
        </p:nvPicPr>
        <p:blipFill>
          <a:blip r:embed="rId2"/>
          <a:stretch>
            <a:fillRect/>
          </a:stretch>
        </p:blipFill>
        <p:spPr>
          <a:xfrm>
            <a:off x="7863840" y="4556874"/>
            <a:ext cx="3776472" cy="1447571"/>
          </a:xfrm>
          <a:prstGeom prst="rect">
            <a:avLst/>
          </a:prstGeom>
        </p:spPr>
      </p:pic>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spectral entropy từ phổ Welch</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9</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Một con số từ 0 tới 1 nói chuỗi có nhịp rõ hay giống nhiễu, không cần mô hình.</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from scipy import signal</a:t>
            </a:r>
          </a:p>
          <a:p>
            <a:r>
              <a:rPr sz="850">
                <a:solidFill>
                  <a:srgbClr val="6B7385"/>
                </a:solidFill>
                <a:latin typeface="Courier New"/>
              </a:rPr>
              <a:t> 3 </a:t>
            </a:r>
          </a:p>
          <a:p>
            <a:r>
              <a:rPr sz="850">
                <a:solidFill>
                  <a:srgbClr val="6B7385"/>
                </a:solidFill>
                <a:latin typeface="Courier New"/>
              </a:rPr>
              <a:t> 4 </a:t>
            </a:r>
            <a:r>
              <a:rPr sz="850">
                <a:solidFill>
                  <a:srgbClr val="E6EAF0"/>
                </a:solidFill>
                <a:latin typeface="Courier New"/>
              </a:rPr>
              <a:t>def entropy_pho(y):</a:t>
            </a:r>
          </a:p>
          <a:p>
            <a:r>
              <a:rPr sz="850">
                <a:solidFill>
                  <a:srgbClr val="6B7385"/>
                </a:solidFill>
                <a:latin typeface="Courier New"/>
              </a:rPr>
              <a:t> 5 </a:t>
            </a:r>
            <a:r>
              <a:rPr sz="850">
                <a:solidFill>
                  <a:srgbClr val="E6EAF0"/>
                </a:solidFill>
                <a:latin typeface="Courier New"/>
              </a:rPr>
              <a:t>    _, P = signal.welch(y - y.mean(), fs=1.0, nperseg=min(256, y.size))</a:t>
            </a:r>
          </a:p>
          <a:p>
            <a:r>
              <a:rPr sz="850">
                <a:solidFill>
                  <a:srgbClr val="6B7385"/>
                </a:solidFill>
                <a:latin typeface="Courier New"/>
              </a:rPr>
              <a:t> 6 </a:t>
            </a:r>
            <a:r>
              <a:rPr sz="850">
                <a:solidFill>
                  <a:srgbClr val="E6EAF0"/>
                </a:solidFill>
                <a:latin typeface="Courier New"/>
              </a:rPr>
              <a:t>    P = P[1:]                                     </a:t>
            </a:r>
            <a:r>
              <a:rPr sz="850">
                <a:solidFill>
                  <a:srgbClr val="8FC99A"/>
                </a:solidFill>
                <a:latin typeface="Courier New"/>
              </a:rPr>
              <a:t># bỏ tần số 0 (mức TB)</a:t>
            </a:r>
          </a:p>
          <a:p>
            <a:r>
              <a:rPr sz="850">
                <a:solidFill>
                  <a:srgbClr val="6B7385"/>
                </a:solidFill>
                <a:latin typeface="Courier New"/>
              </a:rPr>
              <a:t> 7 </a:t>
            </a:r>
            <a:r>
              <a:rPr sz="850">
                <a:solidFill>
                  <a:srgbClr val="E6EAF0"/>
                </a:solidFill>
                <a:latin typeface="Courier New"/>
              </a:rPr>
              <a:t>    p = P / P.sum()                               </a:t>
            </a:r>
            <a:r>
              <a:rPr sz="850">
                <a:solidFill>
                  <a:srgbClr val="8FC99A"/>
                </a:solidFill>
                <a:latin typeface="Courier New"/>
              </a:rPr>
              <a:t># phần năng lượng, tổng 1</a:t>
            </a:r>
          </a:p>
          <a:p>
            <a:r>
              <a:rPr sz="850">
                <a:solidFill>
                  <a:srgbClr val="6B7385"/>
                </a:solidFill>
                <a:latin typeface="Courier New"/>
              </a:rPr>
              <a:t> 8 </a:t>
            </a:r>
            <a:r>
              <a:rPr sz="850">
                <a:solidFill>
                  <a:srgbClr val="E6EAF0"/>
                </a:solidFill>
                <a:latin typeface="Courier New"/>
              </a:rPr>
              <a:t>    return float(-np.sum(p * np.log(p + 1e-300)) / np.log(p.size))</a:t>
            </a:r>
          </a:p>
          <a:p>
            <a:r>
              <a:rPr sz="850">
                <a:solidFill>
                  <a:srgbClr val="6B7385"/>
                </a:solidFill>
                <a:latin typeface="Courier New"/>
              </a:rPr>
              <a:t> 9 </a:t>
            </a:r>
          </a:p>
          <a:p>
            <a:r>
              <a:rPr sz="850">
                <a:solidFill>
                  <a:srgbClr val="6B7385"/>
                </a:solidFill>
                <a:latin typeface="Courier New"/>
              </a:rPr>
              <a:t>10 </a:t>
            </a:r>
            <a:r>
              <a:rPr sz="850">
                <a:solidFill>
                  <a:srgbClr val="E6EAF0"/>
                </a:solidFill>
                <a:latin typeface="Courier New"/>
              </a:rPr>
              <a:t>rng = np.random.default_rng(0)</a:t>
            </a:r>
          </a:p>
          <a:p>
            <a:r>
              <a:rPr sz="850">
                <a:solidFill>
                  <a:srgbClr val="6B7385"/>
                </a:solidFill>
                <a:latin typeface="Courier New"/>
              </a:rPr>
              <a:t>11 </a:t>
            </a:r>
            <a:r>
              <a:rPr sz="850">
                <a:solidFill>
                  <a:srgbClr val="E6EAF0"/>
                </a:solidFill>
                <a:latin typeface="Courier New"/>
              </a:rPr>
              <a:t>t = np.arange(120)</a:t>
            </a:r>
          </a:p>
          <a:p>
            <a:r>
              <a:rPr sz="850">
                <a:solidFill>
                  <a:srgbClr val="6B7385"/>
                </a:solidFill>
                <a:latin typeface="Courier New"/>
              </a:rPr>
              <a:t>12 </a:t>
            </a:r>
            <a:r>
              <a:rPr sz="850">
                <a:solidFill>
                  <a:srgbClr val="E6EAF0"/>
                </a:solidFill>
                <a:latin typeface="Courier New"/>
              </a:rPr>
              <a:t>mua_vu = np.sin(2 * np.pi * t / 12) + 0.2 * rng.normal(size=120)</a:t>
            </a:r>
          </a:p>
          <a:p>
            <a:r>
              <a:rPr sz="850">
                <a:solidFill>
                  <a:srgbClr val="6B7385"/>
                </a:solidFill>
                <a:latin typeface="Courier New"/>
              </a:rPr>
              <a:t>13 </a:t>
            </a:r>
            <a:r>
              <a:rPr sz="850">
                <a:solidFill>
                  <a:srgbClr val="E6EAF0"/>
                </a:solidFill>
                <a:latin typeface="Courier New"/>
              </a:rPr>
              <a:t>nhieu = rng.normal(size=120)</a:t>
            </a:r>
          </a:p>
          <a:p>
            <a:r>
              <a:rPr sz="850">
                <a:solidFill>
                  <a:srgbClr val="6B7385"/>
                </a:solidFill>
                <a:latin typeface="Courier New"/>
              </a:rPr>
              <a:t>14 </a:t>
            </a:r>
            <a:r>
              <a:rPr sz="850">
                <a:solidFill>
                  <a:srgbClr val="E6EAF0"/>
                </a:solidFill>
                <a:latin typeface="Courier New"/>
              </a:rPr>
              <a:t>print(entropy_pho(mua_vu), entropy_pho(nhieu))</a:t>
            </a:r>
          </a:p>
          <a:p>
            <a:r>
              <a:rPr sz="850">
                <a:solidFill>
                  <a:srgbClr val="6B7385"/>
                </a:solidFill>
                <a:latin typeface="Courier New"/>
              </a:rPr>
              <a:t>15 </a:t>
            </a:r>
            <a:r>
              <a:rPr sz="850">
                <a:solidFill>
                  <a:srgbClr val="E6EAF0"/>
                </a:solidFill>
                <a:latin typeface="Courier New"/>
              </a:rPr>
              <a:t>e = bang["entropy_pho"]                           </a:t>
            </a:r>
            <a:r>
              <a:rPr sz="850">
                <a:solidFill>
                  <a:srgbClr val="8FC99A"/>
                </a:solidFill>
                <a:latin typeface="Courier New"/>
              </a:rPr>
              <a:t># 4.000 chuỗi M4</a:t>
            </a:r>
          </a:p>
          <a:p>
            <a:r>
              <a:rPr sz="850">
                <a:solidFill>
                  <a:srgbClr val="6B7385"/>
                </a:solidFill>
                <a:latin typeface="Courier New"/>
              </a:rPr>
              <a:t>16 </a:t>
            </a:r>
            <a:r>
              <a:rPr sz="850">
                <a:solidFill>
                  <a:srgbClr val="E6EAF0"/>
                </a:solidFill>
                <a:latin typeface="Courier New"/>
              </a:rPr>
              <a:t>print(e.median(), e.quantile(0.8))</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buoi-09/tu-hoc.ipynb, phần 2</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5</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Phổ: mỗi tần số góp bao nhiêu năng lượng.</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7</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Chia thành các phần cộng lại bằng 1.</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8</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Entropy chia ln N để luôn nằm trong 0 tới 1.</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11–13</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So chuỗi mùa vụ 12 tháng với nhiễu thuần.</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14–15</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Xem phân bố entropy trên 4.000 chuỗi.</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Chuỗi mùa vụ entropy 0,33, nhiễu thuần 0,94. Trên M4 trung vị 0,462; một phần năm số chuỗi từ 0,666 trở lên.</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signal.welch(y, fs, nperseg)</a:t>
            </a:r>
            <a:r>
              <a:rPr sz="950" b="1" i="0">
                <a:solidFill>
                  <a:srgbClr val="5B6778"/>
                </a:solidFill>
                <a:latin typeface="Arial"/>
              </a:rPr>
              <a:t>   scipy</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Ước lượng phổ bằng trung bình phổ của nhiều đoạn chồng nhau.</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entropy_pho</a:t>
            </a:r>
            <a:r>
              <a:rPr sz="950" b="1" i="0">
                <a:solidFill>
                  <a:srgbClr val="5B6778"/>
                </a:solidFill>
                <a:latin typeface="Arial"/>
              </a:rPr>
              <a:t>   tự viết</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Năng lượng trải đều tới đâu: 0 là một nhịp, 1 là nhiễu.</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quantile(0.8)</a:t>
            </a:r>
            <a:r>
              <a:rPr sz="950" b="1" i="0">
                <a:solidFill>
                  <a:srgbClr val="5B6778"/>
                </a:solidFill>
                <a:latin typeface="Arial"/>
              </a:rPr>
              <a:t>   pandas</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Giá trị mà 80% số chuỗi nằm dưới.</a:t>
            </a:r>
          </a:p>
        </p:txBody>
      </p:sp>
      <p:sp>
        <p:nvSpPr>
          <p:cNvPr id="29" name="Rounded Rectangle 28"/>
          <p:cNvSpPr/>
          <p:nvPr/>
        </p:nvSpPr>
        <p:spPr>
          <a:xfrm>
            <a:off x="7863840" y="4059935"/>
            <a:ext cx="3776472" cy="896112"/>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a62cab6aa52f.png"/>
          <p:cNvPicPr>
            <a:picLocks noChangeAspect="1"/>
          </p:cNvPicPr>
          <p:nvPr/>
        </p:nvPicPr>
        <p:blipFill>
          <a:blip r:embed="rId2"/>
          <a:stretch>
            <a:fillRect/>
          </a:stretch>
        </p:blipFill>
        <p:spPr>
          <a:xfrm>
            <a:off x="8502395" y="4114799"/>
            <a:ext cx="2499360" cy="786384"/>
          </a:xfrm>
          <a:prstGeom prst="rect">
            <a:avLst/>
          </a:prstGeom>
        </p:spPr>
      </p:pic>
      <p:pic>
        <p:nvPicPr>
          <p:cNvPr id="31" name="Picture 30" descr="entropy-hai-chuoi.png"/>
          <p:cNvPicPr>
            <a:picLocks noChangeAspect="1"/>
          </p:cNvPicPr>
          <p:nvPr/>
        </p:nvPicPr>
        <p:blipFill>
          <a:blip r:embed="rId3"/>
          <a:stretch>
            <a:fillRect/>
          </a:stretch>
        </p:blipFill>
        <p:spPr>
          <a:xfrm>
            <a:off x="8382482" y="5093207"/>
            <a:ext cx="2739187" cy="1380744"/>
          </a:xfrm>
          <a:prstGeom prst="rect">
            <a:avLst/>
          </a:prstGeom>
        </p:spPr>
      </p:pic>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đo độ khó bằng sMAPE và MASE</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9</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Thấy chỉ đổi mẫu số của thước đo là kết luận về entropy đổi hẳn.</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import pandas as pd</a:t>
            </a:r>
          </a:p>
          <a:p>
            <a:r>
              <a:rPr sz="850">
                <a:solidFill>
                  <a:srgbClr val="6B7385"/>
                </a:solidFill>
                <a:latin typeface="Courier New"/>
              </a:rPr>
              <a:t> 3 </a:t>
            </a:r>
            <a:r>
              <a:rPr sz="850">
                <a:solidFill>
                  <a:srgbClr val="E6EAF0"/>
                </a:solidFill>
                <a:latin typeface="Courier New"/>
              </a:rPr>
              <a:t>from scipy import stats</a:t>
            </a:r>
          </a:p>
          <a:p>
            <a:r>
              <a:rPr sz="850">
                <a:solidFill>
                  <a:srgbClr val="6B7385"/>
                </a:solidFill>
                <a:latin typeface="Courier New"/>
              </a:rPr>
              <a:t> 4 </a:t>
            </a:r>
          </a:p>
          <a:p>
            <a:r>
              <a:rPr sz="850">
                <a:solidFill>
                  <a:srgbClr val="6B7385"/>
                </a:solidFill>
                <a:latin typeface="Courier New"/>
              </a:rPr>
              <a:t> 5 </a:t>
            </a:r>
            <a:r>
              <a:rPr sz="850">
                <a:solidFill>
                  <a:srgbClr val="E6EAF0"/>
                </a:solidFill>
                <a:latin typeface="Courier New"/>
              </a:rPr>
              <a:t>def smape(y, f):                                  </a:t>
            </a:r>
            <a:r>
              <a:rPr sz="850">
                <a:solidFill>
                  <a:srgbClr val="8FC99A"/>
                </a:solidFill>
                <a:latin typeface="Courier New"/>
              </a:rPr>
              <a:t># chia cho MỨC</a:t>
            </a:r>
          </a:p>
          <a:p>
            <a:r>
              <a:rPr sz="850">
                <a:solidFill>
                  <a:srgbClr val="6B7385"/>
                </a:solidFill>
                <a:latin typeface="Courier New"/>
              </a:rPr>
              <a:t> 6 </a:t>
            </a:r>
            <a:r>
              <a:rPr sz="850">
                <a:solidFill>
                  <a:srgbClr val="E6EAF0"/>
                </a:solidFill>
                <a:latin typeface="Courier New"/>
              </a:rPr>
              <a:t>    mau = np.abs(y) + np.abs(f)</a:t>
            </a:r>
          </a:p>
          <a:p>
            <a:r>
              <a:rPr sz="850">
                <a:solidFill>
                  <a:srgbClr val="6B7385"/>
                </a:solidFill>
                <a:latin typeface="Courier New"/>
              </a:rPr>
              <a:t> 7 </a:t>
            </a:r>
            <a:r>
              <a:rPr sz="850">
                <a:solidFill>
                  <a:srgbClr val="E6EAF0"/>
                </a:solidFill>
                <a:latin typeface="Courier New"/>
              </a:rPr>
              <a:t>    return np.mean(np.where(mau == 0, 0.0, 200 * np.abs(y - f) / mau))</a:t>
            </a:r>
          </a:p>
          <a:p>
            <a:r>
              <a:rPr sz="850">
                <a:solidFill>
                  <a:srgbClr val="6B7385"/>
                </a:solidFill>
                <a:latin typeface="Courier New"/>
              </a:rPr>
              <a:t> 8 </a:t>
            </a:r>
            <a:r>
              <a:rPr sz="850">
                <a:solidFill>
                  <a:srgbClr val="E6EAF0"/>
                </a:solidFill>
                <a:latin typeface="Courier New"/>
              </a:rPr>
              <a:t>def mase(y, f, hoc, m=12):                        </a:t>
            </a:r>
            <a:r>
              <a:rPr sz="850">
                <a:solidFill>
                  <a:srgbClr val="8FC99A"/>
                </a:solidFill>
                <a:latin typeface="Courier New"/>
              </a:rPr>
              <a:t># chia cho sai số snaive</a:t>
            </a:r>
          </a:p>
          <a:p>
            <a:r>
              <a:rPr sz="850">
                <a:solidFill>
                  <a:srgbClr val="6B7385"/>
                </a:solidFill>
                <a:latin typeface="Courier New"/>
              </a:rPr>
              <a:t> 9 </a:t>
            </a:r>
            <a:r>
              <a:rPr sz="850">
                <a:solidFill>
                  <a:srgbClr val="E6EAF0"/>
                </a:solidFill>
                <a:latin typeface="Courier New"/>
              </a:rPr>
              <a:t>    thang = np.mean(np.abs(hoc[m:] - hoc[:-m]))   </a:t>
            </a:r>
            <a:r>
              <a:rPr sz="850">
                <a:solidFill>
                  <a:srgbClr val="8FC99A"/>
                </a:solidFill>
                <a:latin typeface="Courier New"/>
              </a:rPr>
              <a:t># MAE snaive phần học</a:t>
            </a:r>
          </a:p>
          <a:p>
            <a:r>
              <a:rPr sz="850">
                <a:solidFill>
                  <a:srgbClr val="6B7385"/>
                </a:solidFill>
                <a:latin typeface="Courier New"/>
              </a:rPr>
              <a:t>10 </a:t>
            </a:r>
            <a:r>
              <a:rPr sz="850">
                <a:solidFill>
                  <a:srgbClr val="E6EAF0"/>
                </a:solidFill>
                <a:latin typeface="Courier New"/>
              </a:rPr>
              <a:t>    return np.mean(np.abs(y - f)) / thang</a:t>
            </a:r>
          </a:p>
          <a:p>
            <a:r>
              <a:rPr sz="850">
                <a:solidFill>
                  <a:srgbClr val="6B7385"/>
                </a:solidFill>
                <a:latin typeface="Courier New"/>
              </a:rPr>
              <a:t>11 </a:t>
            </a:r>
            <a:r>
              <a:rPr sz="850">
                <a:solidFill>
                  <a:srgbClr val="E6EAF0"/>
                </a:solidFill>
                <a:latin typeface="Courier New"/>
              </a:rPr>
              <a:t>kho = {}</a:t>
            </a:r>
          </a:p>
          <a:p>
            <a:r>
              <a:rPr sz="850">
                <a:solidFill>
                  <a:srgbClr val="6B7385"/>
                </a:solidFill>
                <a:latin typeface="Courier New"/>
              </a:rPr>
              <a:t>12 </a:t>
            </a:r>
            <a:r>
              <a:rPr sz="850">
                <a:solidFill>
                  <a:srgbClr val="E6EAF0"/>
                </a:solidFill>
                <a:latin typeface="Courier New"/>
              </a:rPr>
              <a:t>for ten, v in chuoi.items():</a:t>
            </a:r>
          </a:p>
          <a:p>
            <a:r>
              <a:rPr sz="850">
                <a:solidFill>
                  <a:srgbClr val="6B7385"/>
                </a:solidFill>
                <a:latin typeface="Courier New"/>
              </a:rPr>
              <a:t>13 </a:t>
            </a:r>
            <a:r>
              <a:rPr sz="850">
                <a:solidFill>
                  <a:srgbClr val="E6EAF0"/>
                </a:solidFill>
                <a:latin typeface="Courier New"/>
              </a:rPr>
              <a:t>    hoc, kiem = v[:-18], v[-18:]                  </a:t>
            </a:r>
            <a:r>
              <a:rPr sz="850">
                <a:solidFill>
                  <a:srgbClr val="8FC99A"/>
                </a:solidFill>
                <a:latin typeface="Courier New"/>
              </a:rPr>
              <a:t># 18 tháng cuối để chấm</a:t>
            </a:r>
          </a:p>
          <a:p>
            <a:r>
              <a:rPr sz="850">
                <a:solidFill>
                  <a:srgbClr val="6B7385"/>
                </a:solidFill>
                <a:latin typeface="Courier New"/>
              </a:rPr>
              <a:t>14 </a:t>
            </a:r>
            <a:r>
              <a:rPr sz="850">
                <a:solidFill>
                  <a:srgbClr val="E6EAF0"/>
                </a:solidFill>
                <a:latin typeface="Courier New"/>
              </a:rPr>
              <a:t>    f = np.resize(hoc[-12:], 18)                  </a:t>
            </a:r>
            <a:r>
              <a:rPr sz="850">
                <a:solidFill>
                  <a:srgbClr val="8FC99A"/>
                </a:solidFill>
                <a:latin typeface="Courier New"/>
              </a:rPr>
              <a:t># seasonal naive</a:t>
            </a:r>
          </a:p>
          <a:p>
            <a:r>
              <a:rPr sz="850">
                <a:solidFill>
                  <a:srgbClr val="6B7385"/>
                </a:solidFill>
                <a:latin typeface="Courier New"/>
              </a:rPr>
              <a:t>15 </a:t>
            </a:r>
            <a:r>
              <a:rPr sz="850">
                <a:solidFill>
                  <a:srgbClr val="E6EAF0"/>
                </a:solidFill>
                <a:latin typeface="Courier New"/>
              </a:rPr>
              <a:t>    kho[ten] = {"smape": smape(kiem, f), "mase": mase(kiem, f, hoc)}</a:t>
            </a:r>
          </a:p>
          <a:p>
            <a:r>
              <a:rPr sz="850">
                <a:solidFill>
                  <a:srgbClr val="6B7385"/>
                </a:solidFill>
                <a:latin typeface="Courier New"/>
              </a:rPr>
              <a:t>16 </a:t>
            </a:r>
            <a:r>
              <a:rPr sz="850">
                <a:solidFill>
                  <a:srgbClr val="E6EAF0"/>
                </a:solidFill>
                <a:latin typeface="Courier New"/>
              </a:rPr>
              <a:t>r = stats.pearsonr(bang["entropy_pho"], pd.DataFrame(kho).T["smape"])[0]</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buoi-09/tu-hoc.ipynb, phần 3</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5–7</a:t>
            </a:r>
          </a:p>
        </p:txBody>
      </p:sp>
      <p:sp>
        <p:nvSpPr>
          <p:cNvPr id="11" name="TextBox 10"/>
          <p:cNvSpPr txBox="1"/>
          <p:nvPr/>
        </p:nvSpPr>
        <p:spPr>
          <a:xfrm>
            <a:off x="1353312" y="4634357"/>
            <a:ext cx="2697480" cy="457200"/>
          </a:xfrm>
          <a:prstGeom prst="rect">
            <a:avLst/>
          </a:prstGeom>
          <a:noFill/>
        </p:spPr>
        <p:txBody>
          <a:bodyPr wrap="square" lIns="0" rIns="0" tIns="0" bIns="0" anchor="t">
            <a:spAutoFit/>
          </a:bodyPr>
          <a:lstStyle/>
          <a:p>
            <a:pPr algn="l"/>
            <a:r>
              <a:rPr sz="1050" b="0" i="0">
                <a:solidFill>
                  <a:srgbClr val="1B2A41"/>
                </a:solidFill>
                <a:latin typeface="Arial"/>
              </a:rPr>
              <a:t>sMAPE chia sai số cho mức của chuỗi.</a:t>
            </a:r>
          </a:p>
        </p:txBody>
      </p:sp>
      <p:sp>
        <p:nvSpPr>
          <p:cNvPr id="12" name="Rounded Rectangle 11"/>
          <p:cNvSpPr/>
          <p:nvPr/>
        </p:nvSpPr>
        <p:spPr>
          <a:xfrm>
            <a:off x="548640" y="51098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8–10</a:t>
            </a:r>
          </a:p>
        </p:txBody>
      </p:sp>
      <p:sp>
        <p:nvSpPr>
          <p:cNvPr id="13" name="TextBox 12"/>
          <p:cNvSpPr txBox="1"/>
          <p:nvPr/>
        </p:nvSpPr>
        <p:spPr>
          <a:xfrm>
            <a:off x="1353312" y="5091557"/>
            <a:ext cx="2697480" cy="457200"/>
          </a:xfrm>
          <a:prstGeom prst="rect">
            <a:avLst/>
          </a:prstGeom>
          <a:noFill/>
        </p:spPr>
        <p:txBody>
          <a:bodyPr wrap="square" lIns="0" rIns="0" tIns="0" bIns="0" anchor="t">
            <a:spAutoFit/>
          </a:bodyPr>
          <a:lstStyle/>
          <a:p>
            <a:pPr algn="l"/>
            <a:r>
              <a:rPr sz="1050" b="0" i="0">
                <a:solidFill>
                  <a:srgbClr val="1B2A41"/>
                </a:solidFill>
                <a:latin typeface="Arial"/>
              </a:rPr>
              <a:t>MASE chia cho sai số seasonal naive lúc học.</a:t>
            </a:r>
          </a:p>
        </p:txBody>
      </p:sp>
      <p:sp>
        <p:nvSpPr>
          <p:cNvPr id="14" name="Rounded Rectangle 13"/>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13–14</a:t>
            </a:r>
          </a:p>
        </p:txBody>
      </p:sp>
      <p:sp>
        <p:nvSpPr>
          <p:cNvPr id="15" name="TextBox 14"/>
          <p:cNvSpPr txBox="1"/>
          <p:nvPr/>
        </p:nvSpPr>
        <p:spPr>
          <a:xfrm>
            <a:off x="4965192" y="4634357"/>
            <a:ext cx="2697480" cy="457200"/>
          </a:xfrm>
          <a:prstGeom prst="rect">
            <a:avLst/>
          </a:prstGeom>
          <a:noFill/>
        </p:spPr>
        <p:txBody>
          <a:bodyPr wrap="square" lIns="0" rIns="0" tIns="0" bIns="0" anchor="t">
            <a:spAutoFit/>
          </a:bodyPr>
          <a:lstStyle/>
          <a:p>
            <a:pPr algn="l"/>
            <a:r>
              <a:rPr sz="1050" b="0" i="0">
                <a:solidFill>
                  <a:srgbClr val="1B2A41"/>
                </a:solidFill>
                <a:latin typeface="Arial"/>
              </a:rPr>
              <a:t>Dự báo 18 tháng bằng lặp lại năm cuối.</a:t>
            </a:r>
          </a:p>
        </p:txBody>
      </p:sp>
      <p:sp>
        <p:nvSpPr>
          <p:cNvPr id="16" name="Rounded Rectangle 15"/>
          <p:cNvSpPr/>
          <p:nvPr/>
        </p:nvSpPr>
        <p:spPr>
          <a:xfrm>
            <a:off x="4160520" y="51098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16</a:t>
            </a:r>
          </a:p>
        </p:txBody>
      </p:sp>
      <p:sp>
        <p:nvSpPr>
          <p:cNvPr id="17" name="TextBox 16"/>
          <p:cNvSpPr txBox="1"/>
          <p:nvPr/>
        </p:nvSpPr>
        <p:spPr>
          <a:xfrm>
            <a:off x="4965192" y="5091557"/>
            <a:ext cx="2697480" cy="457200"/>
          </a:xfrm>
          <a:prstGeom prst="rect">
            <a:avLst/>
          </a:prstGeom>
          <a:noFill/>
        </p:spPr>
        <p:txBody>
          <a:bodyPr wrap="square" lIns="0" rIns="0" tIns="0" bIns="0" anchor="t">
            <a:spAutoFit/>
          </a:bodyPr>
          <a:lstStyle/>
          <a:p>
            <a:pPr algn="l"/>
            <a:r>
              <a:rPr sz="1050" b="0" i="0">
                <a:solidFill>
                  <a:srgbClr val="1B2A41"/>
                </a:solidFill>
                <a:latin typeface="Arial"/>
              </a:rPr>
              <a:t>Tương quan entropy với độ khó thật.</a:t>
            </a:r>
          </a:p>
        </p:txBody>
      </p:sp>
      <p:sp>
        <p:nvSpPr>
          <p:cNvPr id="18" name="Rounded Rectangle 17"/>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Ví dụ tay: MASE nói B dễ hơn A (0,92 so với 1,00), sMAPE nói B khó hơn (76,2% so với 6,7%). Với entropy: sMAPE +0,245, MASE −0,048.</a:t>
            </a:r>
          </a:p>
        </p:txBody>
      </p:sp>
      <p:sp>
        <p:nvSpPr>
          <p:cNvPr id="20" name="TextBox 19"/>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1" name="TextBox 20"/>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np.resize(a, n)</a:t>
            </a:r>
            <a:r>
              <a:rPr sz="950" b="1" i="0">
                <a:solidFill>
                  <a:srgbClr val="5B6778"/>
                </a:solidFill>
                <a:latin typeface="Arial"/>
              </a:rPr>
              <a:t>   numpy</a:t>
            </a:r>
          </a:p>
        </p:txBody>
      </p:sp>
      <p:sp>
        <p:nvSpPr>
          <p:cNvPr id="22" name="TextBox 21"/>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Lặp lại mảng a cho đủ n phần tử: 12 tháng cuối thành 18 tháng.</a:t>
            </a:r>
          </a:p>
        </p:txBody>
      </p:sp>
      <p:sp>
        <p:nvSpPr>
          <p:cNvPr id="23" name="TextBox 22"/>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np.where(dk, a, b)</a:t>
            </a:r>
            <a:r>
              <a:rPr sz="950" b="1" i="0">
                <a:solidFill>
                  <a:srgbClr val="5B6778"/>
                </a:solidFill>
                <a:latin typeface="Arial"/>
              </a:rPr>
              <a:t>   numpy</a:t>
            </a:r>
          </a:p>
        </p:txBody>
      </p:sp>
      <p:sp>
        <p:nvSpPr>
          <p:cNvPr id="24" name="TextBox 23"/>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Chọn a nơi điều kiện đúng, b nơi sai; tránh chia cho 0.</a:t>
            </a:r>
          </a:p>
        </p:txBody>
      </p:sp>
      <p:sp>
        <p:nvSpPr>
          <p:cNvPr id="25" name="TextBox 24"/>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stats.pearsonr(x, y)</a:t>
            </a:r>
            <a:r>
              <a:rPr sz="950" b="1" i="0">
                <a:solidFill>
                  <a:srgbClr val="5B6778"/>
                </a:solidFill>
                <a:latin typeface="Arial"/>
              </a:rPr>
              <a:t>   scipy</a:t>
            </a:r>
          </a:p>
        </p:txBody>
      </p:sp>
      <p:sp>
        <p:nvSpPr>
          <p:cNvPr id="26" name="TextBox 25"/>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Hệ số tương quan Pearson của hai cột.</a:t>
            </a:r>
          </a:p>
        </p:txBody>
      </p:sp>
      <p:sp>
        <p:nvSpPr>
          <p:cNvPr id="27" name="Rounded Rectangle 26"/>
          <p:cNvSpPr/>
          <p:nvPr/>
        </p:nvSpPr>
        <p:spPr>
          <a:xfrm>
            <a:off x="7863840" y="4059935"/>
            <a:ext cx="3776472" cy="57912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53c234db9f42.png"/>
          <p:cNvPicPr>
            <a:picLocks noChangeAspect="1"/>
          </p:cNvPicPr>
          <p:nvPr/>
        </p:nvPicPr>
        <p:blipFill>
          <a:blip r:embed="rId2"/>
          <a:stretch>
            <a:fillRect/>
          </a:stretch>
        </p:blipFill>
        <p:spPr>
          <a:xfrm>
            <a:off x="8660892" y="4114799"/>
            <a:ext cx="2182368" cy="469392"/>
          </a:xfrm>
          <a:prstGeom prst="rect">
            <a:avLst/>
          </a:prstGeom>
        </p:spPr>
      </p:pic>
      <p:pic>
        <p:nvPicPr>
          <p:cNvPr id="29" name="Picture 28" descr="ba-thuoc-do.png"/>
          <p:cNvPicPr>
            <a:picLocks noChangeAspect="1"/>
          </p:cNvPicPr>
          <p:nvPr/>
        </p:nvPicPr>
        <p:blipFill>
          <a:blip r:embed="rId3"/>
          <a:stretch>
            <a:fillRect/>
          </a:stretch>
        </p:blipFill>
        <p:spPr>
          <a:xfrm>
            <a:off x="7863840" y="4836429"/>
            <a:ext cx="3776472" cy="1577308"/>
          </a:xfrm>
          <a:prstGeom prst="rect">
            <a:avLst/>
          </a:prstGeom>
        </p:spPr>
      </p:pic>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bản đồ PCA và nhóm dùng baseline</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9</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Nén 15 đặc trưng về hai trục để thấy cả tập, rồi tách chuỗi chỉ cần baseline.</a:t>
            </a:r>
          </a:p>
        </p:txBody>
      </p:sp>
      <p:sp>
        <p:nvSpPr>
          <p:cNvPr id="6" name="Rounded Rectangle 5"/>
          <p:cNvSpPr/>
          <p:nvPr/>
        </p:nvSpPr>
        <p:spPr>
          <a:xfrm>
            <a:off x="548640" y="1737360"/>
            <a:ext cx="7086600" cy="2597912"/>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277872"/>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numpy as np</a:t>
            </a:r>
          </a:p>
          <a:p>
            <a:r>
              <a:rPr sz="950">
                <a:solidFill>
                  <a:srgbClr val="6B7385"/>
                </a:solidFill>
                <a:latin typeface="Courier New"/>
              </a:rPr>
              <a:t> 2 </a:t>
            </a:r>
            <a:r>
              <a:rPr sz="950">
                <a:solidFill>
                  <a:srgbClr val="E6EAF0"/>
                </a:solidFill>
                <a:latin typeface="Courier New"/>
              </a:rPr>
              <a:t>from sklearn.decomposition import PCA</a:t>
            </a:r>
          </a:p>
          <a:p>
            <a:r>
              <a:rPr sz="950">
                <a:solidFill>
                  <a:srgbClr val="6B7385"/>
                </a:solidFill>
                <a:latin typeface="Courier New"/>
              </a:rPr>
              <a:t> 3 </a:t>
            </a:r>
            <a:r>
              <a:rPr sz="950">
                <a:solidFill>
                  <a:srgbClr val="E6EAF0"/>
                </a:solidFill>
                <a:latin typeface="Courier New"/>
              </a:rPr>
              <a:t>from sklearn.preprocessing import StandardScaler</a:t>
            </a:r>
          </a:p>
          <a:p>
            <a:r>
              <a:rPr sz="950">
                <a:solidFill>
                  <a:srgbClr val="6B7385"/>
                </a:solidFill>
                <a:latin typeface="Courier New"/>
              </a:rPr>
              <a:t> 4 </a:t>
            </a:r>
          </a:p>
          <a:p>
            <a:r>
              <a:rPr sz="950">
                <a:solidFill>
                  <a:srgbClr val="6B7385"/>
                </a:solidFill>
                <a:latin typeface="Courier New"/>
              </a:rPr>
              <a:t> 5 </a:t>
            </a:r>
            <a:r>
              <a:rPr sz="950">
                <a:solidFill>
                  <a:srgbClr val="E6EAF0"/>
                </a:solidFill>
                <a:latin typeface="Courier New"/>
              </a:rPr>
              <a:t>cot = [c for c in bang.columns if bang[c].notna().all()</a:t>
            </a:r>
          </a:p>
          <a:p>
            <a:r>
              <a:rPr sz="950">
                <a:solidFill>
                  <a:srgbClr val="6B7385"/>
                </a:solidFill>
                <a:latin typeface="Courier New"/>
              </a:rPr>
              <a:t> 6 </a:t>
            </a:r>
            <a:r>
              <a:rPr sz="950">
                <a:solidFill>
                  <a:srgbClr val="E6EAF0"/>
                </a:solidFill>
                <a:latin typeface="Courier New"/>
              </a:rPr>
              <a:t>       and c not in ("trung_binh", "do_lech_chuan")    </a:t>
            </a:r>
            <a:r>
              <a:rPr sz="950">
                <a:solidFill>
                  <a:srgbClr val="8FC99A"/>
                </a:solidFill>
                <a:latin typeface="Courier New"/>
              </a:rPr>
              <a:t># bỏ cột quy mô</a:t>
            </a:r>
          </a:p>
          <a:p>
            <a:r>
              <a:rPr sz="950">
                <a:solidFill>
                  <a:srgbClr val="6B7385"/>
                </a:solidFill>
                <a:latin typeface="Courier New"/>
              </a:rPr>
              <a:t> 7 </a:t>
            </a:r>
            <a:r>
              <a:rPr sz="950">
                <a:solidFill>
                  <a:srgbClr val="E6EAF0"/>
                </a:solidFill>
                <a:latin typeface="Courier New"/>
              </a:rPr>
              <a:t>       and not c.startswith(("smape", "mase"))]        </a:t>
            </a:r>
            <a:r>
              <a:rPr sz="950">
                <a:solidFill>
                  <a:srgbClr val="8FC99A"/>
                </a:solidFill>
                <a:latin typeface="Courier New"/>
              </a:rPr>
              <a:t># bỏ cột sai số</a:t>
            </a:r>
          </a:p>
          <a:p>
            <a:r>
              <a:rPr sz="950">
                <a:solidFill>
                  <a:srgbClr val="6B7385"/>
                </a:solidFill>
                <a:latin typeface="Courier New"/>
              </a:rPr>
              <a:t> 8 </a:t>
            </a:r>
            <a:r>
              <a:rPr sz="950">
                <a:solidFill>
                  <a:srgbClr val="E6EAF0"/>
                </a:solidFill>
                <a:latin typeface="Courier New"/>
              </a:rPr>
              <a:t>X = StandardScaler().fit_transform(bang[cot])     </a:t>
            </a:r>
            <a:r>
              <a:rPr sz="950">
                <a:solidFill>
                  <a:srgbClr val="8FC99A"/>
                </a:solidFill>
                <a:latin typeface="Courier New"/>
              </a:rPr>
              <a:t># chuẩn hoá từng cột</a:t>
            </a:r>
          </a:p>
          <a:p>
            <a:r>
              <a:rPr sz="950">
                <a:solidFill>
                  <a:srgbClr val="6B7385"/>
                </a:solidFill>
                <a:latin typeface="Courier New"/>
              </a:rPr>
              <a:t> 9 </a:t>
            </a:r>
            <a:r>
              <a:rPr sz="950">
                <a:solidFill>
                  <a:srgbClr val="E6EAF0"/>
                </a:solidFill>
                <a:latin typeface="Courier New"/>
              </a:rPr>
              <a:t>pca = PCA(n_components=2, random_state=0)</a:t>
            </a:r>
          </a:p>
          <a:p>
            <a:r>
              <a:rPr sz="950">
                <a:solidFill>
                  <a:srgbClr val="6B7385"/>
                </a:solidFill>
                <a:latin typeface="Courier New"/>
              </a:rPr>
              <a:t>10 </a:t>
            </a:r>
            <a:r>
              <a:rPr sz="950">
                <a:solidFill>
                  <a:srgbClr val="E6EAF0"/>
                </a:solidFill>
                <a:latin typeface="Courier New"/>
              </a:rPr>
              <a:t>toa_do = pca.fit_transform(X)                     </a:t>
            </a:r>
            <a:r>
              <a:rPr sz="950">
                <a:solidFill>
                  <a:srgbClr val="8FC99A"/>
                </a:solidFill>
                <a:latin typeface="Courier New"/>
              </a:rPr>
              <a:t># mỗi chuỗi một chấm</a:t>
            </a:r>
          </a:p>
          <a:p>
            <a:r>
              <a:rPr sz="950">
                <a:solidFill>
                  <a:srgbClr val="6B7385"/>
                </a:solidFill>
                <a:latin typeface="Courier New"/>
              </a:rPr>
              <a:t>11 </a:t>
            </a:r>
            <a:r>
              <a:rPr sz="950">
                <a:solidFill>
                  <a:srgbClr val="E6EAF0"/>
                </a:solidFill>
                <a:latin typeface="Courier New"/>
              </a:rPr>
              <a:t>print(pca.explained_variance_ratio_)              </a:t>
            </a:r>
            <a:r>
              <a:rPr sz="950">
                <a:solidFill>
                  <a:srgbClr val="8FC99A"/>
                </a:solidFill>
                <a:latin typeface="Courier New"/>
              </a:rPr>
              <a:t># phần khác biệt giữ lại</a:t>
            </a:r>
          </a:p>
          <a:p>
            <a:r>
              <a:rPr sz="950">
                <a:solidFill>
                  <a:srgbClr val="6B7385"/>
                </a:solidFill>
                <a:latin typeface="Courier New"/>
              </a:rPr>
              <a:t>12 </a:t>
            </a:r>
          </a:p>
          <a:p>
            <a:r>
              <a:rPr sz="950">
                <a:solidFill>
                  <a:srgbClr val="6B7385"/>
                </a:solidFill>
                <a:latin typeface="Courier New"/>
              </a:rPr>
              <a:t>13 </a:t>
            </a:r>
            <a:r>
              <a:rPr sz="950">
                <a:solidFill>
                  <a:srgbClr val="E6EAF0"/>
                </a:solidFill>
                <a:latin typeface="Courier New"/>
              </a:rPr>
              <a:t>kho = (bang["entropy_pho"] &gt;= 0.666) &amp; (bang["do_manh_mua_vu"] &lt; 0.4)</a:t>
            </a:r>
          </a:p>
          <a:p>
            <a:r>
              <a:rPr sz="950">
                <a:solidFill>
                  <a:srgbClr val="6B7385"/>
                </a:solidFill>
                <a:latin typeface="Courier New"/>
              </a:rPr>
              <a:t>14 </a:t>
            </a:r>
            <a:r>
              <a:rPr sz="950">
                <a:solidFill>
                  <a:srgbClr val="E6EAF0"/>
                </a:solidFill>
                <a:latin typeface="Courier New"/>
              </a:rPr>
              <a:t>nhom = np.where(kho, "dùng baseline", "đáng đầu tư mô hình")</a:t>
            </a:r>
          </a:p>
          <a:p>
            <a:r>
              <a:rPr sz="950">
                <a:solidFill>
                  <a:srgbClr val="6B7385"/>
                </a:solidFill>
                <a:latin typeface="Courier New"/>
              </a:rPr>
              <a:t>15 </a:t>
            </a:r>
            <a:r>
              <a:rPr sz="950">
                <a:solidFill>
                  <a:srgbClr val="E6EAF0"/>
                </a:solidFill>
                <a:latin typeface="Courier New"/>
              </a:rPr>
              <a:t>print(bang.groupby(nhom)["smape_snaive"].agg(["size", "median"]))</a:t>
            </a:r>
          </a:p>
        </p:txBody>
      </p:sp>
      <p:sp>
        <p:nvSpPr>
          <p:cNvPr id="8" name="TextBox 7"/>
          <p:cNvSpPr txBox="1"/>
          <p:nvPr/>
        </p:nvSpPr>
        <p:spPr>
          <a:xfrm>
            <a:off x="685800" y="4088384"/>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buoi-09/tu-hoc.ipynb, phần 4</a:t>
            </a:r>
          </a:p>
        </p:txBody>
      </p:sp>
      <p:sp>
        <p:nvSpPr>
          <p:cNvPr id="9" name="TextBox 8"/>
          <p:cNvSpPr txBox="1"/>
          <p:nvPr/>
        </p:nvSpPr>
        <p:spPr>
          <a:xfrm>
            <a:off x="548640" y="4445000"/>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5–7</a:t>
            </a:r>
          </a:p>
        </p:txBody>
      </p:sp>
      <p:sp>
        <p:nvSpPr>
          <p:cNvPr id="11" name="TextBox 10"/>
          <p:cNvSpPr txBox="1"/>
          <p:nvPr/>
        </p:nvSpPr>
        <p:spPr>
          <a:xfrm>
            <a:off x="1353312" y="4746752"/>
            <a:ext cx="2697480" cy="347133"/>
          </a:xfrm>
          <a:prstGeom prst="rect">
            <a:avLst/>
          </a:prstGeom>
          <a:noFill/>
        </p:spPr>
        <p:txBody>
          <a:bodyPr wrap="square" lIns="0" rIns="0" tIns="0" bIns="0" anchor="t">
            <a:spAutoFit/>
          </a:bodyPr>
          <a:lstStyle/>
          <a:p>
            <a:pPr algn="l"/>
            <a:r>
              <a:rPr sz="1050" b="0" i="0">
                <a:solidFill>
                  <a:srgbClr val="1B2A41"/>
                </a:solidFill>
                <a:latin typeface="Arial"/>
              </a:rPr>
              <a:t>Chỉ giữ đặc trưng đủ số, không lẫn sai số.</a:t>
            </a:r>
          </a:p>
        </p:txBody>
      </p:sp>
      <p:sp>
        <p:nvSpPr>
          <p:cNvPr id="12" name="Rounded Rectangle 11"/>
          <p:cNvSpPr/>
          <p:nvPr/>
        </p:nvSpPr>
        <p:spPr>
          <a:xfrm>
            <a:off x="548640" y="51121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8</a:t>
            </a:r>
          </a:p>
        </p:txBody>
      </p:sp>
      <p:sp>
        <p:nvSpPr>
          <p:cNvPr id="13" name="TextBox 12"/>
          <p:cNvSpPr txBox="1"/>
          <p:nvPr/>
        </p:nvSpPr>
        <p:spPr>
          <a:xfrm>
            <a:off x="1353312" y="5093885"/>
            <a:ext cx="2697480" cy="347133"/>
          </a:xfrm>
          <a:prstGeom prst="rect">
            <a:avLst/>
          </a:prstGeom>
          <a:noFill/>
        </p:spPr>
        <p:txBody>
          <a:bodyPr wrap="square" lIns="0" rIns="0" tIns="0" bIns="0" anchor="t">
            <a:spAutoFit/>
          </a:bodyPr>
          <a:lstStyle/>
          <a:p>
            <a:pPr algn="l"/>
            <a:r>
              <a:rPr sz="1050" b="0" i="0">
                <a:solidFill>
                  <a:srgbClr val="1B2A41"/>
                </a:solidFill>
                <a:latin typeface="Arial"/>
              </a:rPr>
              <a:t>Chuẩn hoá để cột số to không lấn át.</a:t>
            </a:r>
          </a:p>
        </p:txBody>
      </p:sp>
      <p:sp>
        <p:nvSpPr>
          <p:cNvPr id="14" name="Rounded Rectangle 13"/>
          <p:cNvSpPr/>
          <p:nvPr/>
        </p:nvSpPr>
        <p:spPr>
          <a:xfrm>
            <a:off x="548640" y="54593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9–11</a:t>
            </a:r>
          </a:p>
        </p:txBody>
      </p:sp>
      <p:sp>
        <p:nvSpPr>
          <p:cNvPr id="15" name="TextBox 14"/>
          <p:cNvSpPr txBox="1"/>
          <p:nvPr/>
        </p:nvSpPr>
        <p:spPr>
          <a:xfrm>
            <a:off x="1353312" y="5441018"/>
            <a:ext cx="2697480" cy="347133"/>
          </a:xfrm>
          <a:prstGeom prst="rect">
            <a:avLst/>
          </a:prstGeom>
          <a:noFill/>
        </p:spPr>
        <p:txBody>
          <a:bodyPr wrap="square" lIns="0" rIns="0" tIns="0" bIns="0" anchor="t">
            <a:spAutoFit/>
          </a:bodyPr>
          <a:lstStyle/>
          <a:p>
            <a:pPr algn="l"/>
            <a:r>
              <a:rPr sz="1050" b="0" i="0">
                <a:solidFill>
                  <a:srgbClr val="1B2A41"/>
                </a:solidFill>
                <a:latin typeface="Arial"/>
              </a:rPr>
              <a:t>Nén về hai trục PC1, PC2.</a:t>
            </a:r>
          </a:p>
        </p:txBody>
      </p:sp>
      <p:sp>
        <p:nvSpPr>
          <p:cNvPr id="16" name="Rounded Rectangle 15"/>
          <p:cNvSpPr/>
          <p:nvPr/>
        </p:nvSpPr>
        <p:spPr>
          <a:xfrm>
            <a:off x="416052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13–14</a:t>
            </a:r>
          </a:p>
        </p:txBody>
      </p:sp>
      <p:sp>
        <p:nvSpPr>
          <p:cNvPr id="17" name="TextBox 16"/>
          <p:cNvSpPr txBox="1"/>
          <p:nvPr/>
        </p:nvSpPr>
        <p:spPr>
          <a:xfrm>
            <a:off x="4965192" y="4746752"/>
            <a:ext cx="2697480" cy="347133"/>
          </a:xfrm>
          <a:prstGeom prst="rect">
            <a:avLst/>
          </a:prstGeom>
          <a:noFill/>
        </p:spPr>
        <p:txBody>
          <a:bodyPr wrap="square" lIns="0" rIns="0" tIns="0" bIns="0" anchor="t">
            <a:spAutoFit/>
          </a:bodyPr>
          <a:lstStyle/>
          <a:p>
            <a:pPr algn="l"/>
            <a:r>
              <a:rPr sz="1050" b="0" i="0">
                <a:solidFill>
                  <a:srgbClr val="1B2A41"/>
                </a:solidFill>
                <a:latin typeface="Arial"/>
              </a:rPr>
              <a:t>Entropy cao và mùa vụ yếu: dùng baseline.</a:t>
            </a:r>
          </a:p>
        </p:txBody>
      </p:sp>
      <p:sp>
        <p:nvSpPr>
          <p:cNvPr id="18" name="Rounded Rectangle 17"/>
          <p:cNvSpPr/>
          <p:nvPr/>
        </p:nvSpPr>
        <p:spPr>
          <a:xfrm>
            <a:off x="4160520" y="51121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15</a:t>
            </a:r>
          </a:p>
        </p:txBody>
      </p:sp>
      <p:sp>
        <p:nvSpPr>
          <p:cNvPr id="19" name="TextBox 18"/>
          <p:cNvSpPr txBox="1"/>
          <p:nvPr/>
        </p:nvSpPr>
        <p:spPr>
          <a:xfrm>
            <a:off x="4965192" y="5093885"/>
            <a:ext cx="2697480" cy="347133"/>
          </a:xfrm>
          <a:prstGeom prst="rect">
            <a:avLst/>
          </a:prstGeom>
          <a:noFill/>
        </p:spPr>
        <p:txBody>
          <a:bodyPr wrap="square" lIns="0" rIns="0" tIns="0" bIns="0" anchor="t">
            <a:spAutoFit/>
          </a:bodyPr>
          <a:lstStyle/>
          <a:p>
            <a:pPr algn="l"/>
            <a:r>
              <a:rPr sz="1050" b="0" i="0">
                <a:solidFill>
                  <a:srgbClr val="1B2A41"/>
                </a:solidFill>
                <a:latin typeface="Arial"/>
              </a:rPr>
              <a:t>Kiểm lại bằng sMAPE thật của từng nhóm.</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PC1 giữ 41%, PC2 15%. 137 chuỗi dùng baseline có sMAPE trung vị 18,11%, gấp ba nhóm 3.863 chuỗi còn lại (6,05%).</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StandardScaler().fit_transform</a:t>
            </a:r>
            <a:r>
              <a:rPr sz="950" b="1" i="0">
                <a:solidFill>
                  <a:srgbClr val="5B6778"/>
                </a:solidFill>
                <a:latin typeface="Arial"/>
              </a:rPr>
              <a:t>   sklearn</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Trừ trung bình, chia độ lệch chuẩn cho từng cột.</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PCA(n_components=2)</a:t>
            </a:r>
            <a:r>
              <a:rPr sz="950" b="1" i="0">
                <a:solidFill>
                  <a:srgbClr val="5B6778"/>
                </a:solidFill>
                <a:latin typeface="Arial"/>
              </a:rPr>
              <a:t>   sklearn</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Tìm hai hướng mà các chuỗi khác nhau nhiều nhất.</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explained_variance_ratio_</a:t>
            </a:r>
            <a:r>
              <a:rPr sz="950" b="1" i="0">
                <a:solidFill>
                  <a:srgbClr val="5B6778"/>
                </a:solidFill>
                <a:latin typeface="Arial"/>
              </a:rPr>
              <a:t>   sklearn</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Mỗi trục giữ được bao nhiêu phần trăm khác biệt.</a:t>
            </a:r>
          </a:p>
        </p:txBody>
      </p:sp>
      <p:pic>
        <p:nvPicPr>
          <p:cNvPr id="29" name="Picture 28" descr="kn-pca-pc1-pc2.png"/>
          <p:cNvPicPr>
            <a:picLocks noChangeAspect="1"/>
          </p:cNvPicPr>
          <p:nvPr/>
        </p:nvPicPr>
        <p:blipFill>
          <a:blip r:embed="rId2"/>
          <a:stretch>
            <a:fillRect/>
          </a:stretch>
        </p:blipFill>
        <p:spPr>
          <a:xfrm>
            <a:off x="7863840" y="4312264"/>
            <a:ext cx="3776472" cy="1936790"/>
          </a:xfrm>
          <a:prstGeom prst="rect">
            <a:avLst/>
          </a:prstGeom>
        </p:spPr>
      </p:pic>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phân cụm DTW sau z-score</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9</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Gom chuỗi theo hình dạng, và thấy vì sao phải chuẩn hoá từng chuỗi trước DTW.</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import pandas as pd</a:t>
            </a:r>
          </a:p>
          <a:p>
            <a:r>
              <a:rPr sz="850">
                <a:solidFill>
                  <a:srgbClr val="6B7385"/>
                </a:solidFill>
                <a:latin typeface="Courier New"/>
              </a:rPr>
              <a:t> 3 </a:t>
            </a:r>
            <a:r>
              <a:rPr sz="850">
                <a:solidFill>
                  <a:srgbClr val="E6EAF0"/>
                </a:solidFill>
                <a:latin typeface="Courier New"/>
              </a:rPr>
              <a:t>from dtaidistance import dtw</a:t>
            </a:r>
          </a:p>
          <a:p>
            <a:r>
              <a:rPr sz="850">
                <a:solidFill>
                  <a:srgbClr val="6B7385"/>
                </a:solidFill>
                <a:latin typeface="Courier New"/>
              </a:rPr>
              <a:t> 4 </a:t>
            </a:r>
            <a:r>
              <a:rPr sz="850">
                <a:solidFill>
                  <a:srgbClr val="E6EAF0"/>
                </a:solidFill>
                <a:latin typeface="Courier New"/>
              </a:rPr>
              <a:t>from scipy.cluster.hierarchy import fcluster, linkage</a:t>
            </a:r>
          </a:p>
          <a:p>
            <a:r>
              <a:rPr sz="850">
                <a:solidFill>
                  <a:srgbClr val="6B7385"/>
                </a:solidFill>
                <a:latin typeface="Courier New"/>
              </a:rPr>
              <a:t> 5 </a:t>
            </a:r>
            <a:r>
              <a:rPr sz="850">
                <a:solidFill>
                  <a:srgbClr val="E6EAF0"/>
                </a:solidFill>
                <a:latin typeface="Courier New"/>
              </a:rPr>
              <a:t>from scipy.spatial.distance import squareform</a:t>
            </a:r>
          </a:p>
          <a:p>
            <a:r>
              <a:rPr sz="850">
                <a:solidFill>
                  <a:srgbClr val="6B7385"/>
                </a:solidFill>
                <a:latin typeface="Courier New"/>
              </a:rPr>
              <a:t> 6 </a:t>
            </a:r>
          </a:p>
          <a:p>
            <a:r>
              <a:rPr sz="850">
                <a:solidFill>
                  <a:srgbClr val="6B7385"/>
                </a:solidFill>
                <a:latin typeface="Courier New"/>
              </a:rPr>
              <a:t> 7 </a:t>
            </a:r>
            <a:r>
              <a:rPr sz="850">
                <a:solidFill>
                  <a:srgbClr val="E6EAF0"/>
                </a:solidFill>
                <a:latin typeface="Courier New"/>
              </a:rPr>
              <a:t>def z(v):                                         </a:t>
            </a:r>
            <a:r>
              <a:rPr sz="850">
                <a:solidFill>
                  <a:srgbClr val="8FC99A"/>
                </a:solidFill>
                <a:latin typeface="Courier New"/>
              </a:rPr>
              <a:t># bỏ mức, giữ hình dạng</a:t>
            </a:r>
          </a:p>
          <a:p>
            <a:r>
              <a:rPr sz="850">
                <a:solidFill>
                  <a:srgbClr val="6B7385"/>
                </a:solidFill>
                <a:latin typeface="Courier New"/>
              </a:rPr>
              <a:t> 8 </a:t>
            </a:r>
            <a:r>
              <a:rPr sz="850">
                <a:solidFill>
                  <a:srgbClr val="E6EAF0"/>
                </a:solidFill>
                <a:latin typeface="Courier New"/>
              </a:rPr>
              <a:t>    return (v - v.mean()) / v.std()</a:t>
            </a:r>
          </a:p>
          <a:p>
            <a:r>
              <a:rPr sz="850">
                <a:solidFill>
                  <a:srgbClr val="6B7385"/>
                </a:solidFill>
                <a:latin typeface="Courier New"/>
              </a:rPr>
              <a:t> 9 </a:t>
            </a:r>
            <a:r>
              <a:rPr sz="850">
                <a:solidFill>
                  <a:srgbClr val="E6EAF0"/>
                </a:solidFill>
                <a:latin typeface="Courier New"/>
              </a:rPr>
              <a:t>def phan_cum(mau, chuan_hoa, so_cum=4, cua_so=10):</a:t>
            </a:r>
          </a:p>
          <a:p>
            <a:r>
              <a:rPr sz="850">
                <a:solidFill>
                  <a:srgbClr val="6B7385"/>
                </a:solidFill>
                <a:latin typeface="Courier New"/>
              </a:rPr>
              <a:t>10 </a:t>
            </a:r>
            <a:r>
              <a:rPr sz="850">
                <a:solidFill>
                  <a:srgbClr val="E6EAF0"/>
                </a:solidFill>
                <a:latin typeface="Courier New"/>
              </a:rPr>
              <a:t>    day = [z(v) if chuan_hoa else v for v in mau.values()]</a:t>
            </a:r>
          </a:p>
          <a:p>
            <a:r>
              <a:rPr sz="850">
                <a:solidFill>
                  <a:srgbClr val="6B7385"/>
                </a:solidFill>
                <a:latin typeface="Courier New"/>
              </a:rPr>
              <a:t>11 </a:t>
            </a:r>
            <a:r>
              <a:rPr sz="850">
                <a:solidFill>
                  <a:srgbClr val="E6EAF0"/>
                </a:solidFill>
                <a:latin typeface="Courier New"/>
              </a:rPr>
              <a:t>    D = dtw.distance_matrix_fast(day, window=cua_so)   </a:t>
            </a:r>
            <a:r>
              <a:rPr sz="850">
                <a:solidFill>
                  <a:srgbClr val="8FC99A"/>
                </a:solidFill>
                <a:latin typeface="Courier New"/>
              </a:rPr>
              <a:t># lệch tối đa 10</a:t>
            </a:r>
          </a:p>
          <a:p>
            <a:r>
              <a:rPr sz="850">
                <a:solidFill>
                  <a:srgbClr val="6B7385"/>
                </a:solidFill>
                <a:latin typeface="Courier New"/>
              </a:rPr>
              <a:t>12 </a:t>
            </a:r>
            <a:r>
              <a:rPr sz="850">
                <a:solidFill>
                  <a:srgbClr val="E6EAF0"/>
                </a:solidFill>
                <a:latin typeface="Courier New"/>
              </a:rPr>
              <a:t>    D = np.where(np.isinf(D), 0, D)</a:t>
            </a:r>
          </a:p>
          <a:p>
            <a:r>
              <a:rPr sz="850">
                <a:solidFill>
                  <a:srgbClr val="6B7385"/>
                </a:solidFill>
                <a:latin typeface="Courier New"/>
              </a:rPr>
              <a:t>13 </a:t>
            </a:r>
            <a:r>
              <a:rPr sz="850">
                <a:solidFill>
                  <a:srgbClr val="E6EAF0"/>
                </a:solidFill>
                <a:latin typeface="Courier New"/>
              </a:rPr>
              <a:t>    D = D + D.T                                   </a:t>
            </a:r>
            <a:r>
              <a:rPr sz="850">
                <a:solidFill>
                  <a:srgbClr val="8FC99A"/>
                </a:solidFill>
                <a:latin typeface="Courier New"/>
              </a:rPr>
              <a:t># lấp đủ hai nửa ma trận</a:t>
            </a:r>
          </a:p>
          <a:p>
            <a:r>
              <a:rPr sz="850">
                <a:solidFill>
                  <a:srgbClr val="6B7385"/>
                </a:solidFill>
                <a:latin typeface="Courier New"/>
              </a:rPr>
              <a:t>14 </a:t>
            </a:r>
            <a:r>
              <a:rPr sz="850">
                <a:solidFill>
                  <a:srgbClr val="E6EAF0"/>
                </a:solidFill>
                <a:latin typeface="Courier New"/>
              </a:rPr>
              <a:t>    Z = linkage(squareform(D, checks=False), method="ward")</a:t>
            </a:r>
          </a:p>
          <a:p>
            <a:r>
              <a:rPr sz="850">
                <a:solidFill>
                  <a:srgbClr val="6B7385"/>
                </a:solidFill>
                <a:latin typeface="Courier New"/>
              </a:rPr>
              <a:t>15 </a:t>
            </a:r>
            <a:r>
              <a:rPr sz="850">
                <a:solidFill>
                  <a:srgbClr val="E6EAF0"/>
                </a:solidFill>
                <a:latin typeface="Courier New"/>
              </a:rPr>
              <a:t>    nhan = fcluster(Z, so_cum, criterion="maxclust")</a:t>
            </a:r>
          </a:p>
          <a:p>
            <a:r>
              <a:rPr sz="850">
                <a:solidFill>
                  <a:srgbClr val="6B7385"/>
                </a:solidFill>
                <a:latin typeface="Courier New"/>
              </a:rPr>
              <a:t>16 </a:t>
            </a:r>
            <a:r>
              <a:rPr sz="850">
                <a:solidFill>
                  <a:srgbClr val="E6EAF0"/>
                </a:solidFill>
                <a:latin typeface="Courier New"/>
              </a:rPr>
              <a:t>    return pd.Series(nhan, index=list(mau))</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buoi-09/tu-hoc.ipynb, phần 5</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7–8</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z-score: bỏ độ lớn, chỉ giữ hình dạng.</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10</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Chọn có chuẩn hoá hay không để so.</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11</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Khoảng cách DTW giữa mọi cặp chuỗi.</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12–13</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Sửa ma trận cho đủ và đối xứng.</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14–16</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Gộp dần theo Ward, cắt ra 4 cụm.</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Không chuẩn hoá: mức trung vị các cụm tăng đều từ 1.585 tới 9.832, chỉ xếp theo độ lớn. Chuẩn hoá: bốn cụm là bốn hình dạng.</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linkage(d, method="ward")</a:t>
            </a:r>
            <a:r>
              <a:rPr sz="950" b="1" i="0">
                <a:solidFill>
                  <a:srgbClr val="5B6778"/>
                </a:solidFill>
                <a:latin typeface="Arial"/>
              </a:rPr>
              <a:t>   scipy</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Gộp dần hai nhóm gần nhau nhất, ghi lại từng bước gộp.</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fcluster(Z, k, "maxclust")</a:t>
            </a:r>
            <a:r>
              <a:rPr sz="950" b="1" i="0">
                <a:solidFill>
                  <a:srgbClr val="5B6778"/>
                </a:solidFill>
                <a:latin typeface="Arial"/>
              </a:rPr>
              <a:t>   scipy</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Cắt cây gộp để còn đúng k cụm, trả nhãn cụm từng chuỗi.</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squareform(D)</a:t>
            </a:r>
            <a:r>
              <a:rPr sz="950" b="1" i="0">
                <a:solidFill>
                  <a:srgbClr val="5B6778"/>
                </a:solidFill>
                <a:latin typeface="Arial"/>
              </a:rPr>
              <a:t>   scipy</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Đổi ma trận khoảng cách vuông thành dạng gọn mà linkage cần.</a:t>
            </a:r>
          </a:p>
        </p:txBody>
      </p:sp>
      <p:pic>
        <p:nvPicPr>
          <p:cNvPr id="29" name="Picture 28" descr="kn-dtw-dynamic-time-warping.png"/>
          <p:cNvPicPr>
            <a:picLocks noChangeAspect="1"/>
          </p:cNvPicPr>
          <p:nvPr/>
        </p:nvPicPr>
        <p:blipFill>
          <a:blip r:embed="rId2"/>
          <a:stretch>
            <a:fillRect/>
          </a:stretch>
        </p:blipFill>
        <p:spPr>
          <a:xfrm>
            <a:off x="7863840" y="4591122"/>
            <a:ext cx="3776472" cy="1379074"/>
          </a:xfrm>
          <a:prstGeom prst="rect">
            <a:avLst/>
          </a:prstGeom>
        </p:spPr>
      </p:pic>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bảng ABC–XYZ cho mã hàng</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9</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Xếp mã hàng theo doanh thu và theo CV, rồi kiểm CV có đo được độ khó không.</a:t>
            </a:r>
          </a:p>
        </p:txBody>
      </p:sp>
      <p:sp>
        <p:nvSpPr>
          <p:cNvPr id="6" name="Rounded Rectangle 5"/>
          <p:cNvSpPr/>
          <p:nvPr/>
        </p:nvSpPr>
        <p:spPr>
          <a:xfrm>
            <a:off x="548640" y="1737360"/>
            <a:ext cx="7086600" cy="2597912"/>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277872"/>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numpy as np</a:t>
            </a:r>
          </a:p>
          <a:p>
            <a:r>
              <a:rPr sz="950">
                <a:solidFill>
                  <a:srgbClr val="6B7385"/>
                </a:solidFill>
                <a:latin typeface="Courier New"/>
              </a:rPr>
              <a:t> 2 </a:t>
            </a:r>
            <a:r>
              <a:rPr sz="950">
                <a:solidFill>
                  <a:srgbClr val="E6EAF0"/>
                </a:solidFill>
                <a:latin typeface="Courier New"/>
              </a:rPr>
              <a:t>from scipy import stats</a:t>
            </a:r>
          </a:p>
          <a:p>
            <a:r>
              <a:rPr sz="950">
                <a:solidFill>
                  <a:srgbClr val="6B7385"/>
                </a:solidFill>
                <a:latin typeface="Courier New"/>
              </a:rPr>
              <a:t> 3 </a:t>
            </a:r>
          </a:p>
          <a:p>
            <a:r>
              <a:rPr sz="950">
                <a:solidFill>
                  <a:srgbClr val="6B7385"/>
                </a:solidFill>
                <a:latin typeface="Courier New"/>
              </a:rPr>
              <a:t> 4 </a:t>
            </a:r>
            <a:r>
              <a:rPr sz="950">
                <a:solidFill>
                  <a:srgbClr val="8FC99A"/>
                </a:solidFill>
                <a:latin typeface="Courier New"/>
              </a:rPr>
              <a:t># ban_le: doanh thu theo (mã hàng, tháng) của Online Retail II</a:t>
            </a:r>
          </a:p>
          <a:p>
            <a:r>
              <a:rPr sz="950">
                <a:solidFill>
                  <a:srgbClr val="6B7385"/>
                </a:solidFill>
                <a:latin typeface="Courier New"/>
              </a:rPr>
              <a:t> 5 </a:t>
            </a:r>
            <a:r>
              <a:rPr sz="950">
                <a:solidFill>
                  <a:srgbClr val="E6EAF0"/>
                </a:solidFill>
                <a:latin typeface="Courier New"/>
              </a:rPr>
              <a:t>g = ban_le.groupby("StockCode")["doanh_thu"]</a:t>
            </a:r>
          </a:p>
          <a:p>
            <a:r>
              <a:rPr sz="950">
                <a:solidFill>
                  <a:srgbClr val="6B7385"/>
                </a:solidFill>
                <a:latin typeface="Courier New"/>
              </a:rPr>
              <a:t> 6 </a:t>
            </a:r>
            <a:r>
              <a:rPr sz="950">
                <a:solidFill>
                  <a:srgbClr val="E6EAF0"/>
                </a:solidFill>
                <a:latin typeface="Courier New"/>
              </a:rPr>
              <a:t>h = g.agg(["sum", "mean", "std", "count"])</a:t>
            </a:r>
          </a:p>
          <a:p>
            <a:r>
              <a:rPr sz="950">
                <a:solidFill>
                  <a:srgbClr val="6B7385"/>
                </a:solidFill>
                <a:latin typeface="Courier New"/>
              </a:rPr>
              <a:t> 7 </a:t>
            </a:r>
            <a:r>
              <a:rPr sz="950">
                <a:solidFill>
                  <a:srgbClr val="E6EAF0"/>
                </a:solidFill>
                <a:latin typeface="Courier New"/>
              </a:rPr>
              <a:t>h = h[h["count"] &gt;= 12].sort_values("sum", ascending=False)  </a:t>
            </a:r>
            <a:r>
              <a:rPr sz="950">
                <a:solidFill>
                  <a:srgbClr val="8FC99A"/>
                </a:solidFill>
                <a:latin typeface="Courier New"/>
              </a:rPr>
              <a:t># ≥ 12 tháng</a:t>
            </a:r>
          </a:p>
          <a:p>
            <a:r>
              <a:rPr sz="950">
                <a:solidFill>
                  <a:srgbClr val="6B7385"/>
                </a:solidFill>
                <a:latin typeface="Courier New"/>
              </a:rPr>
              <a:t> 8 </a:t>
            </a:r>
            <a:r>
              <a:rPr sz="950">
                <a:solidFill>
                  <a:srgbClr val="E6EAF0"/>
                </a:solidFill>
                <a:latin typeface="Courier New"/>
              </a:rPr>
              <a:t>h["cv"] = h["std"] / h["mean"]                    </a:t>
            </a:r>
            <a:r>
              <a:rPr sz="950">
                <a:solidFill>
                  <a:srgbClr val="8FC99A"/>
                </a:solidFill>
                <a:latin typeface="Courier New"/>
              </a:rPr>
              <a:t># hệ số biến thiên</a:t>
            </a:r>
          </a:p>
          <a:p>
            <a:r>
              <a:rPr sz="950">
                <a:solidFill>
                  <a:srgbClr val="6B7385"/>
                </a:solidFill>
                <a:latin typeface="Courier New"/>
              </a:rPr>
              <a:t> 9 </a:t>
            </a:r>
            <a:r>
              <a:rPr sz="950">
                <a:solidFill>
                  <a:srgbClr val="E6EAF0"/>
                </a:solidFill>
                <a:latin typeface="Courier New"/>
              </a:rPr>
              <a:t>ty_le = np.arange(1, len(h) + 1) / len(h)         </a:t>
            </a:r>
            <a:r>
              <a:rPr sz="950">
                <a:solidFill>
                  <a:srgbClr val="8FC99A"/>
                </a:solidFill>
                <a:latin typeface="Courier New"/>
              </a:rPr>
              <a:t># vị trí theo doanh thu</a:t>
            </a:r>
          </a:p>
          <a:p>
            <a:r>
              <a:rPr sz="950">
                <a:solidFill>
                  <a:srgbClr val="6B7385"/>
                </a:solidFill>
                <a:latin typeface="Courier New"/>
              </a:rPr>
              <a:t>10 </a:t>
            </a:r>
            <a:r>
              <a:rPr sz="950">
                <a:solidFill>
                  <a:srgbClr val="E6EAF0"/>
                </a:solidFill>
                <a:latin typeface="Courier New"/>
              </a:rPr>
              <a:t>h["abc"] = np.where(ty_le &lt;= 0.2, "A", np.where(ty_le &lt;= 0.5, "B", "C"))</a:t>
            </a:r>
          </a:p>
          <a:p>
            <a:r>
              <a:rPr sz="950">
                <a:solidFill>
                  <a:srgbClr val="6B7385"/>
                </a:solidFill>
                <a:latin typeface="Courier New"/>
              </a:rPr>
              <a:t>11 </a:t>
            </a:r>
            <a:r>
              <a:rPr sz="950">
                <a:solidFill>
                  <a:srgbClr val="E6EAF0"/>
                </a:solidFill>
                <a:latin typeface="Courier New"/>
              </a:rPr>
              <a:t>h["xyz"] = np.where(h["cv"] &lt; 0.5, "X", np.where(h["cv"] &lt;= 1, "Y", "Z"))</a:t>
            </a:r>
          </a:p>
          <a:p>
            <a:r>
              <a:rPr sz="950">
                <a:solidFill>
                  <a:srgbClr val="6B7385"/>
                </a:solidFill>
                <a:latin typeface="Courier New"/>
              </a:rPr>
              <a:t>12 </a:t>
            </a:r>
            <a:r>
              <a:rPr sz="950">
                <a:solidFill>
                  <a:srgbClr val="E6EAF0"/>
                </a:solidFill>
                <a:latin typeface="Courier New"/>
              </a:rPr>
              <a:t>o = h.groupby(["abc", "xyz"]).size().unstack(fill_value=0)   </a:t>
            </a:r>
            <a:r>
              <a:rPr sz="950">
                <a:solidFill>
                  <a:srgbClr val="8FC99A"/>
                </a:solidFill>
                <a:latin typeface="Courier New"/>
              </a:rPr>
              <a:t># bảng 3 × 3</a:t>
            </a:r>
          </a:p>
          <a:p>
            <a:r>
              <a:rPr sz="950">
                <a:solidFill>
                  <a:srgbClr val="6B7385"/>
                </a:solidFill>
                <a:latin typeface="Courier New"/>
              </a:rPr>
              <a:t>13 </a:t>
            </a:r>
          </a:p>
          <a:p>
            <a:r>
              <a:rPr sz="950">
                <a:solidFill>
                  <a:srgbClr val="6B7385"/>
                </a:solidFill>
                <a:latin typeface="Courier New"/>
              </a:rPr>
              <a:t>14 </a:t>
            </a:r>
            <a:r>
              <a:rPr sz="950">
                <a:solidFill>
                  <a:srgbClr val="E6EAF0"/>
                </a:solidFill>
                <a:latin typeface="Courier New"/>
              </a:rPr>
              <a:t>cv = bang["he_so_bien_thien"]                     </a:t>
            </a:r>
            <a:r>
              <a:rPr sz="950">
                <a:solidFill>
                  <a:srgbClr val="8FC99A"/>
                </a:solidFill>
                <a:latin typeface="Courier New"/>
              </a:rPr>
              <a:t># 4.000 chuỗi M4</a:t>
            </a:r>
          </a:p>
          <a:p>
            <a:r>
              <a:rPr sz="950">
                <a:solidFill>
                  <a:srgbClr val="6B7385"/>
                </a:solidFill>
                <a:latin typeface="Courier New"/>
              </a:rPr>
              <a:t>15 </a:t>
            </a:r>
            <a:r>
              <a:rPr sz="950">
                <a:solidFill>
                  <a:srgbClr val="E6EAF0"/>
                </a:solidFill>
                <a:latin typeface="Courier New"/>
              </a:rPr>
              <a:t>r = stats.spearmanr(cv, bang["smape_snaive"])[0]</a:t>
            </a:r>
          </a:p>
        </p:txBody>
      </p:sp>
      <p:sp>
        <p:nvSpPr>
          <p:cNvPr id="8" name="TextBox 7"/>
          <p:cNvSpPr txBox="1"/>
          <p:nvPr/>
        </p:nvSpPr>
        <p:spPr>
          <a:xfrm>
            <a:off x="685800" y="4088384"/>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buoi-09/tu-hoc.ipynb, phần 6</a:t>
            </a:r>
          </a:p>
        </p:txBody>
      </p:sp>
      <p:sp>
        <p:nvSpPr>
          <p:cNvPr id="9" name="TextBox 8"/>
          <p:cNvSpPr txBox="1"/>
          <p:nvPr/>
        </p:nvSpPr>
        <p:spPr>
          <a:xfrm>
            <a:off x="548640" y="4445000"/>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4–6</a:t>
            </a:r>
          </a:p>
        </p:txBody>
      </p:sp>
      <p:sp>
        <p:nvSpPr>
          <p:cNvPr id="11" name="TextBox 10"/>
          <p:cNvSpPr txBox="1"/>
          <p:nvPr/>
        </p:nvSpPr>
        <p:spPr>
          <a:xfrm>
            <a:off x="1353312" y="4746752"/>
            <a:ext cx="2697480" cy="347133"/>
          </a:xfrm>
          <a:prstGeom prst="rect">
            <a:avLst/>
          </a:prstGeom>
          <a:noFill/>
        </p:spPr>
        <p:txBody>
          <a:bodyPr wrap="square" lIns="0" rIns="0" tIns="0" bIns="0" anchor="t">
            <a:spAutoFit/>
          </a:bodyPr>
          <a:lstStyle/>
          <a:p>
            <a:pPr algn="l"/>
            <a:r>
              <a:rPr sz="1050" b="0" i="0">
                <a:solidFill>
                  <a:srgbClr val="1B2A41"/>
                </a:solidFill>
                <a:latin typeface="Arial"/>
              </a:rPr>
              <a:t>Tổng hợp từng mã, giữ mã có đủ 12 tháng.</a:t>
            </a:r>
          </a:p>
        </p:txBody>
      </p:sp>
      <p:sp>
        <p:nvSpPr>
          <p:cNvPr id="12" name="Rounded Rectangle 11"/>
          <p:cNvSpPr/>
          <p:nvPr/>
        </p:nvSpPr>
        <p:spPr>
          <a:xfrm>
            <a:off x="548640" y="51121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7</a:t>
            </a:r>
          </a:p>
        </p:txBody>
      </p:sp>
      <p:sp>
        <p:nvSpPr>
          <p:cNvPr id="13" name="TextBox 12"/>
          <p:cNvSpPr txBox="1"/>
          <p:nvPr/>
        </p:nvSpPr>
        <p:spPr>
          <a:xfrm>
            <a:off x="1353312" y="5093885"/>
            <a:ext cx="2697480" cy="347133"/>
          </a:xfrm>
          <a:prstGeom prst="rect">
            <a:avLst/>
          </a:prstGeom>
          <a:noFill/>
        </p:spPr>
        <p:txBody>
          <a:bodyPr wrap="square" lIns="0" rIns="0" tIns="0" bIns="0" anchor="t">
            <a:spAutoFit/>
          </a:bodyPr>
          <a:lstStyle/>
          <a:p>
            <a:pPr algn="l"/>
            <a:r>
              <a:rPr sz="1050" b="0" i="0">
                <a:solidFill>
                  <a:srgbClr val="1B2A41"/>
                </a:solidFill>
                <a:latin typeface="Arial"/>
              </a:rPr>
              <a:t>CV: độ lệch chuẩn chia trung bình.</a:t>
            </a:r>
          </a:p>
        </p:txBody>
      </p:sp>
      <p:sp>
        <p:nvSpPr>
          <p:cNvPr id="14" name="Rounded Rectangle 13"/>
          <p:cNvSpPr/>
          <p:nvPr/>
        </p:nvSpPr>
        <p:spPr>
          <a:xfrm>
            <a:off x="548640" y="54593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8–9</a:t>
            </a:r>
          </a:p>
        </p:txBody>
      </p:sp>
      <p:sp>
        <p:nvSpPr>
          <p:cNvPr id="15" name="TextBox 14"/>
          <p:cNvSpPr txBox="1"/>
          <p:nvPr/>
        </p:nvSpPr>
        <p:spPr>
          <a:xfrm>
            <a:off x="1353312" y="5441018"/>
            <a:ext cx="2697480" cy="347133"/>
          </a:xfrm>
          <a:prstGeom prst="rect">
            <a:avLst/>
          </a:prstGeom>
          <a:noFill/>
        </p:spPr>
        <p:txBody>
          <a:bodyPr wrap="square" lIns="0" rIns="0" tIns="0" bIns="0" anchor="t">
            <a:spAutoFit/>
          </a:bodyPr>
          <a:lstStyle/>
          <a:p>
            <a:pPr algn="l"/>
            <a:r>
              <a:rPr sz="1050" b="0" i="0">
                <a:solidFill>
                  <a:srgbClr val="1B2A41"/>
                </a:solidFill>
                <a:latin typeface="Arial"/>
              </a:rPr>
              <a:t>20% mã đầu là A, 30% tiếp là B, còn lại C.</a:t>
            </a:r>
          </a:p>
        </p:txBody>
      </p:sp>
      <p:sp>
        <p:nvSpPr>
          <p:cNvPr id="16" name="Rounded Rectangle 15"/>
          <p:cNvSpPr/>
          <p:nvPr/>
        </p:nvSpPr>
        <p:spPr>
          <a:xfrm>
            <a:off x="416052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10–11</a:t>
            </a:r>
          </a:p>
        </p:txBody>
      </p:sp>
      <p:sp>
        <p:nvSpPr>
          <p:cNvPr id="17" name="TextBox 16"/>
          <p:cNvSpPr txBox="1"/>
          <p:nvPr/>
        </p:nvSpPr>
        <p:spPr>
          <a:xfrm>
            <a:off x="4965192" y="4746752"/>
            <a:ext cx="2697480" cy="347133"/>
          </a:xfrm>
          <a:prstGeom prst="rect">
            <a:avLst/>
          </a:prstGeom>
          <a:noFill/>
        </p:spPr>
        <p:txBody>
          <a:bodyPr wrap="square" lIns="0" rIns="0" tIns="0" bIns="0" anchor="t">
            <a:spAutoFit/>
          </a:bodyPr>
          <a:lstStyle/>
          <a:p>
            <a:pPr algn="l"/>
            <a:r>
              <a:rPr sz="1050" b="0" i="0">
                <a:solidFill>
                  <a:srgbClr val="1B2A41"/>
                </a:solidFill>
                <a:latin typeface="Arial"/>
              </a:rPr>
              <a:t>Chia X, Y, Z theo CV rồi đếm từng ô.</a:t>
            </a:r>
          </a:p>
        </p:txBody>
      </p:sp>
      <p:sp>
        <p:nvSpPr>
          <p:cNvPr id="18" name="Rounded Rectangle 17"/>
          <p:cNvSpPr/>
          <p:nvPr/>
        </p:nvSpPr>
        <p:spPr>
          <a:xfrm>
            <a:off x="4160520" y="51121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13–14</a:t>
            </a:r>
          </a:p>
        </p:txBody>
      </p:sp>
      <p:sp>
        <p:nvSpPr>
          <p:cNvPr id="19" name="TextBox 18"/>
          <p:cNvSpPr txBox="1"/>
          <p:nvPr/>
        </p:nvSpPr>
        <p:spPr>
          <a:xfrm>
            <a:off x="4965192" y="5093885"/>
            <a:ext cx="2697480" cy="347133"/>
          </a:xfrm>
          <a:prstGeom prst="rect">
            <a:avLst/>
          </a:prstGeom>
          <a:noFill/>
        </p:spPr>
        <p:txBody>
          <a:bodyPr wrap="square" lIns="0" rIns="0" tIns="0" bIns="0" anchor="t">
            <a:spAutoFit/>
          </a:bodyPr>
          <a:lstStyle/>
          <a:p>
            <a:pPr algn="l"/>
            <a:r>
              <a:rPr sz="1050" b="0" i="0">
                <a:solidFill>
                  <a:srgbClr val="1B2A41"/>
                </a:solidFill>
                <a:latin typeface="Arial"/>
              </a:rPr>
              <a:t>Đối chiếu CV với sai số thật trên M4.</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2.773 mã hàng; nhóm A mang 74,7% doanh thu; ô CZ đông gần gấp bốn ô AX. Trên M4, Spearman CV × sMAPE 0,765 nhưng CV xếp sai chuỗi mùa vụ đều.</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groupby().agg([...])</a:t>
            </a:r>
            <a:r>
              <a:rPr sz="950" b="1" i="0">
                <a:solidFill>
                  <a:srgbClr val="5B6778"/>
                </a:solidFill>
                <a:latin typeface="Arial"/>
              </a:rPr>
              <a:t>   pandas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Tính nhiều con số tổng hợp cho từng mã hàng một lúc.</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unstack(fill_value=0)</a:t>
            </a:r>
            <a:r>
              <a:rPr sz="950" b="1" i="0">
                <a:solidFill>
                  <a:srgbClr val="5B6778"/>
                </a:solidFill>
                <a:latin typeface="Arial"/>
              </a:rPr>
              <a:t>   pandas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Xoay bảng dài thành bảng chéo, ô trống điền 0.</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stats.spearmanr</a:t>
            </a:r>
            <a:r>
              <a:rPr sz="950" b="1" i="0">
                <a:solidFill>
                  <a:srgbClr val="5B6778"/>
                </a:solidFill>
                <a:latin typeface="Arial"/>
              </a:rPr>
              <a:t>   scipy</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Tương quan trên thứ hạng giữa CV và sMAPE.</a:t>
            </a:r>
          </a:p>
        </p:txBody>
      </p:sp>
      <p:sp>
        <p:nvSpPr>
          <p:cNvPr id="29" name="Rounded Rectangle 28"/>
          <p:cNvSpPr/>
          <p:nvPr/>
        </p:nvSpPr>
        <p:spPr>
          <a:xfrm>
            <a:off x="7863840" y="4059935"/>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1a3ad9eb65cd.png"/>
          <p:cNvPicPr>
            <a:picLocks noChangeAspect="1"/>
          </p:cNvPicPr>
          <p:nvPr/>
        </p:nvPicPr>
        <p:blipFill>
          <a:blip r:embed="rId2"/>
          <a:stretch>
            <a:fillRect/>
          </a:stretch>
        </p:blipFill>
        <p:spPr>
          <a:xfrm>
            <a:off x="9409176" y="4195571"/>
            <a:ext cx="685800" cy="277368"/>
          </a:xfrm>
          <a:prstGeom prst="rect">
            <a:avLst/>
          </a:prstGeom>
        </p:spPr>
      </p:pic>
      <p:pic>
        <p:nvPicPr>
          <p:cNvPr id="31" name="Picture 30" descr="kn-phan-loai-abc-xyz-ax-cz.png"/>
          <p:cNvPicPr>
            <a:picLocks noChangeAspect="1"/>
          </p:cNvPicPr>
          <p:nvPr/>
        </p:nvPicPr>
        <p:blipFill>
          <a:blip r:embed="rId3"/>
          <a:stretch>
            <a:fillRect/>
          </a:stretch>
        </p:blipFill>
        <p:spPr>
          <a:xfrm>
            <a:off x="8069720" y="4745735"/>
            <a:ext cx="3364711" cy="1728216"/>
          </a:xfrm>
          <a:prstGeom prst="rect">
            <a:avLst/>
          </a:prstGeom>
        </p:spPr>
      </p:pic>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dựng lưới rồi mới đếm thiếu</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10</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isna() chỉ thấy ô rỗng; dựng lưới đủ mốc mới thấy cả những dòng không tồn tại.</a:t>
            </a:r>
          </a:p>
        </p:txBody>
      </p:sp>
      <p:sp>
        <p:nvSpPr>
          <p:cNvPr id="6" name="Rounded Rectangle 5"/>
          <p:cNvSpPr/>
          <p:nvPr/>
        </p:nvSpPr>
        <p:spPr>
          <a:xfrm>
            <a:off x="548640" y="1737360"/>
            <a:ext cx="7086600" cy="2455545"/>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35505"/>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numpy as np</a:t>
            </a:r>
          </a:p>
          <a:p>
            <a:r>
              <a:rPr sz="950">
                <a:solidFill>
                  <a:srgbClr val="6B7385"/>
                </a:solidFill>
                <a:latin typeface="Courier New"/>
              </a:rPr>
              <a:t> 2 </a:t>
            </a:r>
            <a:r>
              <a:rPr sz="950">
                <a:solidFill>
                  <a:srgbClr val="E6EAF0"/>
                </a:solidFill>
                <a:latin typeface="Courier New"/>
              </a:rPr>
              <a:t>import pandas as pd</a:t>
            </a:r>
          </a:p>
          <a:p>
            <a:r>
              <a:rPr sz="950">
                <a:solidFill>
                  <a:srgbClr val="6B7385"/>
                </a:solidFill>
                <a:latin typeface="Courier New"/>
              </a:rPr>
              <a:t> 3 </a:t>
            </a:r>
          </a:p>
          <a:p>
            <a:r>
              <a:rPr sz="950">
                <a:solidFill>
                  <a:srgbClr val="6B7385"/>
                </a:solidFill>
                <a:latin typeface="Courier New"/>
              </a:rPr>
              <a:t> 4 </a:t>
            </a:r>
            <a:r>
              <a:rPr sz="950">
                <a:solidFill>
                  <a:srgbClr val="E6EAF0"/>
                </a:solidFill>
                <a:latin typeface="Courier New"/>
              </a:rPr>
              <a:t>bang = pd.Series([25, 25, 26, np.nan, 26], index=pd.to_datetime([</a:t>
            </a:r>
          </a:p>
          <a:p>
            <a:r>
              <a:rPr sz="950">
                <a:solidFill>
                  <a:srgbClr val="6B7385"/>
                </a:solidFill>
                <a:latin typeface="Courier New"/>
              </a:rPr>
              <a:t> 5 </a:t>
            </a:r>
            <a:r>
              <a:rPr sz="950">
                <a:solidFill>
                  <a:srgbClr val="E6EAF0"/>
                </a:solidFill>
                <a:latin typeface="Courier New"/>
              </a:rPr>
              <a:t>    "2024-01-01 00:00", "2024-01-01 00:30", "2024-01-01 01:30",</a:t>
            </a:r>
          </a:p>
          <a:p>
            <a:r>
              <a:rPr sz="950">
                <a:solidFill>
                  <a:srgbClr val="6B7385"/>
                </a:solidFill>
                <a:latin typeface="Courier New"/>
              </a:rPr>
              <a:t> 6 </a:t>
            </a:r>
            <a:r>
              <a:rPr sz="950">
                <a:solidFill>
                  <a:srgbClr val="E6EAF0"/>
                </a:solidFill>
                <a:latin typeface="Courier New"/>
              </a:rPr>
              <a:t>    "2024-01-01 02:00", "2024-01-01 02:30"]))</a:t>
            </a:r>
          </a:p>
          <a:p>
            <a:r>
              <a:rPr sz="950">
                <a:solidFill>
                  <a:srgbClr val="6B7385"/>
                </a:solidFill>
                <a:latin typeface="Courier New"/>
              </a:rPr>
              <a:t> 7 </a:t>
            </a:r>
            <a:r>
              <a:rPr sz="950">
                <a:solidFill>
                  <a:srgbClr val="E6EAF0"/>
                </a:solidFill>
                <a:latin typeface="Courier New"/>
              </a:rPr>
              <a:t>luoi = pd.date_range(bang.index.min(), bang.index.max(), freq="30min")</a:t>
            </a:r>
          </a:p>
          <a:p>
            <a:r>
              <a:rPr sz="950">
                <a:solidFill>
                  <a:srgbClr val="6B7385"/>
                </a:solidFill>
                <a:latin typeface="Courier New"/>
              </a:rPr>
              <a:t> 8 </a:t>
            </a:r>
            <a:r>
              <a:rPr sz="950">
                <a:solidFill>
                  <a:srgbClr val="E6EAF0"/>
                </a:solidFill>
                <a:latin typeface="Courier New"/>
              </a:rPr>
              <a:t>bang.isna().sum()                      </a:t>
            </a:r>
            <a:r>
              <a:rPr sz="950">
                <a:solidFill>
                  <a:srgbClr val="8FC99A"/>
                </a:solidFill>
                <a:latin typeface="Courier New"/>
              </a:rPr>
              <a:t># 1: chỉ thấy ô rỗng</a:t>
            </a:r>
          </a:p>
          <a:p>
            <a:r>
              <a:rPr sz="950">
                <a:solidFill>
                  <a:srgbClr val="6B7385"/>
                </a:solidFill>
                <a:latin typeface="Courier New"/>
              </a:rPr>
              <a:t> 9 </a:t>
            </a:r>
            <a:r>
              <a:rPr sz="950">
                <a:solidFill>
                  <a:srgbClr val="E6EAF0"/>
                </a:solidFill>
                <a:latin typeface="Courier New"/>
              </a:rPr>
              <a:t>bang.reindex(luoi).isna().sum()        </a:t>
            </a:r>
            <a:r>
              <a:rPr sz="950">
                <a:solidFill>
                  <a:srgbClr val="8FC99A"/>
                </a:solidFill>
                <a:latin typeface="Courier New"/>
              </a:rPr>
              <a:t># 2: thấy cả mốc 01:00</a:t>
            </a:r>
          </a:p>
          <a:p>
            <a:r>
              <a:rPr sz="950">
                <a:solidFill>
                  <a:srgbClr val="6B7385"/>
                </a:solidFill>
                <a:latin typeface="Courier New"/>
              </a:rPr>
              <a:t>10 </a:t>
            </a:r>
          </a:p>
          <a:p>
            <a:r>
              <a:rPr sz="950">
                <a:solidFill>
                  <a:srgbClr val="6B7385"/>
                </a:solidFill>
                <a:latin typeface="Courier New"/>
              </a:rPr>
              <a:t>11 </a:t>
            </a:r>
            <a:r>
              <a:rPr sz="950">
                <a:solidFill>
                  <a:srgbClr val="E6EAF0"/>
                </a:solidFill>
                <a:latin typeface="Courier New"/>
              </a:rPr>
              <a:t>def do_dai_lo(y):                      </a:t>
            </a:r>
            <a:r>
              <a:rPr sz="950">
                <a:solidFill>
                  <a:srgbClr val="8FC99A"/>
                </a:solidFill>
                <a:latin typeface="Courier New"/>
              </a:rPr>
              <a:t># độ dài từng đoạn NaN liền nhau</a:t>
            </a:r>
          </a:p>
          <a:p>
            <a:r>
              <a:rPr sz="950">
                <a:solidFill>
                  <a:srgbClr val="6B7385"/>
                </a:solidFill>
                <a:latin typeface="Courier New"/>
              </a:rPr>
              <a:t>12 </a:t>
            </a:r>
            <a:r>
              <a:rPr sz="950">
                <a:solidFill>
                  <a:srgbClr val="E6EAF0"/>
                </a:solidFill>
                <a:latin typeface="Courier New"/>
              </a:rPr>
              <a:t>    thieu = y.isna()</a:t>
            </a:r>
          </a:p>
          <a:p>
            <a:r>
              <a:rPr sz="950">
                <a:solidFill>
                  <a:srgbClr val="6B7385"/>
                </a:solidFill>
                <a:latin typeface="Courier New"/>
              </a:rPr>
              <a:t>13 </a:t>
            </a:r>
            <a:r>
              <a:rPr sz="950">
                <a:solidFill>
                  <a:srgbClr val="E6EAF0"/>
                </a:solidFill>
                <a:latin typeface="Courier New"/>
              </a:rPr>
              <a:t>    nhom = (thieu != thieu.shift()).cumsum()[thieu]</a:t>
            </a:r>
          </a:p>
          <a:p>
            <a:r>
              <a:rPr sz="950">
                <a:solidFill>
                  <a:srgbClr val="6B7385"/>
                </a:solidFill>
                <a:latin typeface="Courier New"/>
              </a:rPr>
              <a:t>14 </a:t>
            </a:r>
            <a:r>
              <a:rPr sz="950">
                <a:solidFill>
                  <a:srgbClr val="E6EAF0"/>
                </a:solidFill>
                <a:latin typeface="Courier New"/>
              </a:rPr>
              <a:t>    return nhom.groupby(nhom).size()</a:t>
            </a:r>
          </a:p>
        </p:txBody>
      </p:sp>
      <p:sp>
        <p:nvSpPr>
          <p:cNvPr id="8" name="TextBox 7"/>
          <p:cNvSpPr txBox="1"/>
          <p:nvPr/>
        </p:nvSpPr>
        <p:spPr>
          <a:xfrm>
            <a:off x="685800" y="3946017"/>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buoi-10/tu-hoc.ipynb, phần 1</a:t>
            </a:r>
          </a:p>
        </p:txBody>
      </p:sp>
      <p:sp>
        <p:nvSpPr>
          <p:cNvPr id="9" name="TextBox 8"/>
          <p:cNvSpPr txBox="1"/>
          <p:nvPr/>
        </p:nvSpPr>
        <p:spPr>
          <a:xfrm>
            <a:off x="548640" y="4302633"/>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6226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4–6</a:t>
            </a:r>
          </a:p>
        </p:txBody>
      </p:sp>
      <p:sp>
        <p:nvSpPr>
          <p:cNvPr id="11" name="TextBox 10"/>
          <p:cNvSpPr txBox="1"/>
          <p:nvPr/>
        </p:nvSpPr>
        <p:spPr>
          <a:xfrm>
            <a:off x="1353312" y="4604385"/>
            <a:ext cx="2697480" cy="457200"/>
          </a:xfrm>
          <a:prstGeom prst="rect">
            <a:avLst/>
          </a:prstGeom>
          <a:noFill/>
        </p:spPr>
        <p:txBody>
          <a:bodyPr wrap="square" lIns="0" rIns="0" tIns="0" bIns="0" anchor="t">
            <a:spAutoFit/>
          </a:bodyPr>
          <a:lstStyle/>
          <a:p>
            <a:pPr algn="l"/>
            <a:r>
              <a:rPr sz="1050" b="0" i="0">
                <a:solidFill>
                  <a:srgbClr val="1B2A41"/>
                </a:solidFill>
                <a:latin typeface="Arial"/>
              </a:rPr>
              <a:t>Năm dòng đo, mốc 01:00 không có dòng nào.</a:t>
            </a:r>
          </a:p>
        </p:txBody>
      </p:sp>
      <p:sp>
        <p:nvSpPr>
          <p:cNvPr id="12" name="Rounded Rectangle 11"/>
          <p:cNvSpPr/>
          <p:nvPr/>
        </p:nvSpPr>
        <p:spPr>
          <a:xfrm>
            <a:off x="548640" y="50798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7</a:t>
            </a:r>
          </a:p>
        </p:txBody>
      </p:sp>
      <p:sp>
        <p:nvSpPr>
          <p:cNvPr id="13" name="TextBox 12"/>
          <p:cNvSpPr txBox="1"/>
          <p:nvPr/>
        </p:nvSpPr>
        <p:spPr>
          <a:xfrm>
            <a:off x="1353312" y="5061585"/>
            <a:ext cx="2697480" cy="457200"/>
          </a:xfrm>
          <a:prstGeom prst="rect">
            <a:avLst/>
          </a:prstGeom>
          <a:noFill/>
        </p:spPr>
        <p:txBody>
          <a:bodyPr wrap="square" lIns="0" rIns="0" tIns="0" bIns="0" anchor="t">
            <a:spAutoFit/>
          </a:bodyPr>
          <a:lstStyle/>
          <a:p>
            <a:pPr algn="l"/>
            <a:r>
              <a:rPr sz="1050" b="0" i="0">
                <a:solidFill>
                  <a:srgbClr val="1B2A41"/>
                </a:solidFill>
                <a:latin typeface="Arial"/>
              </a:rPr>
              <a:t>Dựng lưới đủ mọi mốc 30 phút.</a:t>
            </a:r>
          </a:p>
        </p:txBody>
      </p:sp>
      <p:sp>
        <p:nvSpPr>
          <p:cNvPr id="14" name="Rounded Rectangle 13"/>
          <p:cNvSpPr/>
          <p:nvPr/>
        </p:nvSpPr>
        <p:spPr>
          <a:xfrm>
            <a:off x="4160520" y="46226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8–9</a:t>
            </a:r>
          </a:p>
        </p:txBody>
      </p:sp>
      <p:sp>
        <p:nvSpPr>
          <p:cNvPr id="15" name="TextBox 14"/>
          <p:cNvSpPr txBox="1"/>
          <p:nvPr/>
        </p:nvSpPr>
        <p:spPr>
          <a:xfrm>
            <a:off x="4965192" y="4604385"/>
            <a:ext cx="2697480" cy="457200"/>
          </a:xfrm>
          <a:prstGeom prst="rect">
            <a:avLst/>
          </a:prstGeom>
          <a:noFill/>
        </p:spPr>
        <p:txBody>
          <a:bodyPr wrap="square" lIns="0" rIns="0" tIns="0" bIns="0" anchor="t">
            <a:spAutoFit/>
          </a:bodyPr>
          <a:lstStyle/>
          <a:p>
            <a:pPr algn="l"/>
            <a:r>
              <a:rPr sz="1050" b="0" i="0">
                <a:solidFill>
                  <a:srgbClr val="1B2A41"/>
                </a:solidFill>
                <a:latin typeface="Arial"/>
              </a:rPr>
              <a:t>Đếm thiếu trước và sau khi đưa lên lưới.</a:t>
            </a:r>
          </a:p>
        </p:txBody>
      </p:sp>
      <p:sp>
        <p:nvSpPr>
          <p:cNvPr id="16" name="Rounded Rectangle 15"/>
          <p:cNvSpPr/>
          <p:nvPr/>
        </p:nvSpPr>
        <p:spPr>
          <a:xfrm>
            <a:off x="4160520" y="50798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11–14</a:t>
            </a:r>
          </a:p>
        </p:txBody>
      </p:sp>
      <p:sp>
        <p:nvSpPr>
          <p:cNvPr id="17" name="TextBox 16"/>
          <p:cNvSpPr txBox="1"/>
          <p:nvPr/>
        </p:nvSpPr>
        <p:spPr>
          <a:xfrm>
            <a:off x="4965192" y="5061585"/>
            <a:ext cx="2697480" cy="457200"/>
          </a:xfrm>
          <a:prstGeom prst="rect">
            <a:avLst/>
          </a:prstGeom>
          <a:noFill/>
        </p:spPr>
        <p:txBody>
          <a:bodyPr wrap="square" lIns="0" rIns="0" tIns="0" bIns="0" anchor="t">
            <a:spAutoFit/>
          </a:bodyPr>
          <a:lstStyle/>
          <a:p>
            <a:pPr algn="l"/>
            <a:r>
              <a:rPr sz="1050" b="0" i="0">
                <a:solidFill>
                  <a:srgbClr val="1B2A41"/>
                </a:solidFill>
                <a:latin typeface="Arial"/>
              </a:rPr>
              <a:t>Đánh số từng đoạn thiếu rồi đếm độ dài.</a:t>
            </a:r>
          </a:p>
        </p:txBody>
      </p:sp>
      <p:sp>
        <p:nvSpPr>
          <p:cNvPr id="18" name="Rounded Rectangle 17"/>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Ví dụ: isna() báo 1, lên lưới ra 2. Nội Bài 2024: lưới 17.568 mốc, tệp 17.319 dòng, thiếu 249 mốc mà isna() chỉ thấy 2 ô.</a:t>
            </a:r>
          </a:p>
        </p:txBody>
      </p:sp>
      <p:sp>
        <p:nvSpPr>
          <p:cNvPr id="20" name="TextBox 19"/>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1" name="TextBox 20"/>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pd.date_range</a:t>
            </a:r>
            <a:r>
              <a:rPr sz="950" b="1" i="0">
                <a:solidFill>
                  <a:srgbClr val="5B6778"/>
                </a:solidFill>
                <a:latin typeface="Arial"/>
              </a:rPr>
              <a:t>   pandas</a:t>
            </a:r>
          </a:p>
        </p:txBody>
      </p:sp>
      <p:sp>
        <p:nvSpPr>
          <p:cNvPr id="22" name="TextBox 21"/>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Sinh dãy mốc thời gian đều nhau giữa hai đầu, ở đây mỗi 30 phút.</a:t>
            </a:r>
          </a:p>
        </p:txBody>
      </p:sp>
      <p:sp>
        <p:nvSpPr>
          <p:cNvPr id="23" name="TextBox 22"/>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reindex</a:t>
            </a:r>
            <a:r>
              <a:rPr sz="950" b="1" i="0">
                <a:solidFill>
                  <a:srgbClr val="5B6778"/>
                </a:solidFill>
                <a:latin typeface="Arial"/>
              </a:rPr>
              <a:t>   pandas</a:t>
            </a:r>
          </a:p>
        </p:txBody>
      </p:sp>
      <p:sp>
        <p:nvSpPr>
          <p:cNvPr id="24" name="TextBox 23"/>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Đặt chuỗi lên bộ mốc mới; mốc nào chưa có dòng thì thành NaN.</a:t>
            </a:r>
          </a:p>
        </p:txBody>
      </p:sp>
      <p:sp>
        <p:nvSpPr>
          <p:cNvPr id="25" name="TextBox 24"/>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isna().sum()</a:t>
            </a:r>
            <a:r>
              <a:rPr sz="950" b="1" i="0">
                <a:solidFill>
                  <a:srgbClr val="5B6778"/>
                </a:solidFill>
                <a:latin typeface="Arial"/>
              </a:rPr>
              <a:t>   pandas</a:t>
            </a:r>
          </a:p>
        </p:txBody>
      </p:sp>
      <p:sp>
        <p:nvSpPr>
          <p:cNvPr id="26" name="TextBox 25"/>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Đếm số ô rỗng trong những dòng đang có mặt.</a:t>
            </a:r>
          </a:p>
        </p:txBody>
      </p:sp>
      <p:pic>
        <p:nvPicPr>
          <p:cNvPr id="27" name="Picture 26" descr="kn-thieu-moc-thieu-gia-tri.png"/>
          <p:cNvPicPr>
            <a:picLocks noChangeAspect="1"/>
          </p:cNvPicPr>
          <p:nvPr/>
        </p:nvPicPr>
        <p:blipFill>
          <a:blip r:embed="rId2"/>
          <a:stretch>
            <a:fillRect/>
          </a:stretch>
        </p:blipFill>
        <p:spPr>
          <a:xfrm>
            <a:off x="7863840" y="4397538"/>
            <a:ext cx="3776472" cy="1766243"/>
          </a:xfrm>
          <a:prstGeom prst="rect">
            <a:avLst/>
          </a:prstGeom>
        </p:spPr>
      </p:pic>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MNAR làm lệch, kiểm bằng số</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10</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Thấy bằng mô phỏng vì sao MNAR điền kiểu gì cũng lệch, rồi kiểm cơ chế trên dữ liệu thật.</a:t>
            </a:r>
          </a:p>
        </p:txBody>
      </p:sp>
      <p:sp>
        <p:nvSpPr>
          <p:cNvPr id="6" name="Rounded Rectangle 5"/>
          <p:cNvSpPr/>
          <p:nvPr/>
        </p:nvSpPr>
        <p:spPr>
          <a:xfrm>
            <a:off x="548640" y="1737360"/>
            <a:ext cx="7086600" cy="2597912"/>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277872"/>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numpy as np</a:t>
            </a:r>
          </a:p>
          <a:p>
            <a:r>
              <a:rPr sz="950">
                <a:solidFill>
                  <a:srgbClr val="6B7385"/>
                </a:solidFill>
                <a:latin typeface="Courier New"/>
              </a:rPr>
              <a:t> 2 </a:t>
            </a:r>
            <a:r>
              <a:rPr sz="950">
                <a:solidFill>
                  <a:srgbClr val="E6EAF0"/>
                </a:solidFill>
                <a:latin typeface="Courier New"/>
              </a:rPr>
              <a:t>import pandas as pd</a:t>
            </a:r>
          </a:p>
          <a:p>
            <a:r>
              <a:rPr sz="950">
                <a:solidFill>
                  <a:srgbClr val="6B7385"/>
                </a:solidFill>
                <a:latin typeface="Courier New"/>
              </a:rPr>
              <a:t> 3 </a:t>
            </a:r>
          </a:p>
          <a:p>
            <a:r>
              <a:rPr sz="950">
                <a:solidFill>
                  <a:srgbClr val="6B7385"/>
                </a:solidFill>
                <a:latin typeface="Courier New"/>
              </a:rPr>
              <a:t> 4 </a:t>
            </a:r>
            <a:r>
              <a:rPr sz="950">
                <a:solidFill>
                  <a:srgbClr val="E6EAF0"/>
                </a:solidFill>
                <a:latin typeface="Courier New"/>
              </a:rPr>
              <a:t>rng = np.random.default_rng(0)</a:t>
            </a:r>
          </a:p>
          <a:p>
            <a:r>
              <a:rPr sz="950">
                <a:solidFill>
                  <a:srgbClr val="6B7385"/>
                </a:solidFill>
                <a:latin typeface="Courier New"/>
              </a:rPr>
              <a:t> 5 </a:t>
            </a:r>
            <a:r>
              <a:rPr sz="950">
                <a:solidFill>
                  <a:srgbClr val="E6EAF0"/>
                </a:solidFill>
                <a:latin typeface="Courier New"/>
              </a:rPr>
              <a:t>moc = pd.date_range("2024-01-01", periods=5000, freq="30min")</a:t>
            </a:r>
          </a:p>
          <a:p>
            <a:r>
              <a:rPr sz="950">
                <a:solidFill>
                  <a:srgbClr val="6B7385"/>
                </a:solidFill>
                <a:latin typeface="Courier New"/>
              </a:rPr>
              <a:t> 6 </a:t>
            </a:r>
            <a:r>
              <a:rPr sz="950">
                <a:solidFill>
                  <a:srgbClr val="E6EAF0"/>
                </a:solidFill>
                <a:latin typeface="Courier New"/>
              </a:rPr>
              <a:t>that = pd.Series(rng.normal(0, 1, 5000), index=moc)</a:t>
            </a:r>
          </a:p>
          <a:p>
            <a:r>
              <a:rPr sz="950">
                <a:solidFill>
                  <a:srgbClr val="6B7385"/>
                </a:solidFill>
                <a:latin typeface="Courier New"/>
              </a:rPr>
              <a:t> 7 </a:t>
            </a:r>
            <a:r>
              <a:rPr sz="950">
                <a:solidFill>
                  <a:srgbClr val="E6EAF0"/>
                </a:solidFill>
                <a:latin typeface="Courier New"/>
              </a:rPr>
              <a:t>mcar = that.mask(pd.Series(rng.random(5000) &lt; 0.1, index=moc))  </a:t>
            </a:r>
            <a:r>
              <a:rPr sz="950">
                <a:solidFill>
                  <a:srgbClr val="8FC99A"/>
                </a:solidFill>
                <a:latin typeface="Courier New"/>
              </a:rPr>
              <a:t># may rủi</a:t>
            </a:r>
          </a:p>
          <a:p>
            <a:r>
              <a:rPr sz="950">
                <a:solidFill>
                  <a:srgbClr val="6B7385"/>
                </a:solidFill>
                <a:latin typeface="Courier New"/>
              </a:rPr>
              <a:t> 8 </a:t>
            </a:r>
            <a:r>
              <a:rPr sz="950">
                <a:solidFill>
                  <a:srgbClr val="E6EAF0"/>
                </a:solidFill>
                <a:latin typeface="Courier New"/>
              </a:rPr>
              <a:t>mnar = that.mask(that &gt; 1.0)            </a:t>
            </a:r>
            <a:r>
              <a:rPr sz="950">
                <a:solidFill>
                  <a:srgbClr val="8FC99A"/>
                </a:solidFill>
                <a:latin typeface="Courier New"/>
              </a:rPr>
              <a:t># cảm biến tắt khi giá trị cao</a:t>
            </a:r>
          </a:p>
          <a:p>
            <a:r>
              <a:rPr sz="950">
                <a:solidFill>
                  <a:srgbClr val="6B7385"/>
                </a:solidFill>
                <a:latin typeface="Courier New"/>
              </a:rPr>
              <a:t> 9 </a:t>
            </a:r>
            <a:r>
              <a:rPr sz="950">
                <a:solidFill>
                  <a:srgbClr val="E6EAF0"/>
                </a:solidFill>
                <a:latin typeface="Courier New"/>
              </a:rPr>
              <a:t>noi = lambda s: s.interpolate(limit_direction="both")</a:t>
            </a:r>
          </a:p>
          <a:p>
            <a:r>
              <a:rPr sz="950">
                <a:solidFill>
                  <a:srgbClr val="6B7385"/>
                </a:solidFill>
                <a:latin typeface="Courier New"/>
              </a:rPr>
              <a:t>10 </a:t>
            </a:r>
            <a:r>
              <a:rPr sz="950">
                <a:solidFill>
                  <a:srgbClr val="E6EAF0"/>
                </a:solidFill>
                <a:latin typeface="Courier New"/>
              </a:rPr>
              <a:t>that.mean(), noi(mcar).mean(), noi(mnar).mean()</a:t>
            </a:r>
          </a:p>
          <a:p>
            <a:r>
              <a:rPr sz="950">
                <a:solidFill>
                  <a:srgbClr val="6B7385"/>
                </a:solidFill>
                <a:latin typeface="Courier New"/>
              </a:rPr>
              <a:t>11 </a:t>
            </a:r>
          </a:p>
          <a:p>
            <a:r>
              <a:rPr sz="950">
                <a:solidFill>
                  <a:srgbClr val="6B7385"/>
                </a:solidFill>
                <a:latin typeface="Courier New"/>
              </a:rPr>
              <a:t>12 </a:t>
            </a:r>
            <a:r>
              <a:rPr sz="950">
                <a:solidFill>
                  <a:srgbClr val="E6EAF0"/>
                </a:solidFill>
                <a:latin typeface="Courier New"/>
              </a:rPr>
              <a:t>def bang_chung_mnar(bang, tram):        </a:t>
            </a:r>
            <a:r>
              <a:rPr sz="950">
                <a:solidFill>
                  <a:srgbClr val="8FC99A"/>
                </a:solidFill>
                <a:latin typeface="Courier New"/>
              </a:rPr>
              <a:t># bang: PM2.5 của 12 trạm</a:t>
            </a:r>
          </a:p>
          <a:p>
            <a:r>
              <a:rPr sz="950">
                <a:solidFill>
                  <a:srgbClr val="6B7385"/>
                </a:solidFill>
                <a:latin typeface="Courier New"/>
              </a:rPr>
              <a:t>13 </a:t>
            </a:r>
            <a:r>
              <a:rPr sz="950">
                <a:solidFill>
                  <a:srgbClr val="E6EAF0"/>
                </a:solidFill>
                <a:latin typeface="Courier New"/>
              </a:rPr>
              <a:t>    khac = bang.drop(columns=[tram]).mean(axis=1)   </a:t>
            </a:r>
            <a:r>
              <a:rPr sz="950">
                <a:solidFill>
                  <a:srgbClr val="8FC99A"/>
                </a:solidFill>
                <a:latin typeface="Courier New"/>
              </a:rPr>
              <a:t># 11 trạm còn lại</a:t>
            </a:r>
          </a:p>
          <a:p>
            <a:r>
              <a:rPr sz="950">
                <a:solidFill>
                  <a:srgbClr val="6B7385"/>
                </a:solidFill>
                <a:latin typeface="Courier New"/>
              </a:rPr>
              <a:t>14 </a:t>
            </a:r>
            <a:r>
              <a:rPr sz="950">
                <a:solidFill>
                  <a:srgbClr val="E6EAF0"/>
                </a:solidFill>
                <a:latin typeface="Courier New"/>
              </a:rPr>
              <a:t>    thieu = bang[tram].isna()</a:t>
            </a:r>
          </a:p>
          <a:p>
            <a:r>
              <a:rPr sz="950">
                <a:solidFill>
                  <a:srgbClr val="6B7385"/>
                </a:solidFill>
                <a:latin typeface="Courier New"/>
              </a:rPr>
              <a:t>15 </a:t>
            </a:r>
            <a:r>
              <a:rPr sz="950">
                <a:solidFill>
                  <a:srgbClr val="E6EAF0"/>
                </a:solidFill>
                <a:latin typeface="Courier New"/>
              </a:rPr>
              <a:t>    return khac[thieu].mean() / khac[~thieu].mean() - 1</a:t>
            </a:r>
          </a:p>
        </p:txBody>
      </p:sp>
      <p:sp>
        <p:nvSpPr>
          <p:cNvPr id="8" name="TextBox 7"/>
          <p:cNvSpPr txBox="1"/>
          <p:nvPr/>
        </p:nvSpPr>
        <p:spPr>
          <a:xfrm>
            <a:off x="685800" y="4088384"/>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buoi-10/tu-hoc.ipynb, phần 2</a:t>
            </a:r>
          </a:p>
        </p:txBody>
      </p:sp>
      <p:sp>
        <p:nvSpPr>
          <p:cNvPr id="9" name="TextBox 8"/>
          <p:cNvSpPr txBox="1"/>
          <p:nvPr/>
        </p:nvSpPr>
        <p:spPr>
          <a:xfrm>
            <a:off x="548640" y="4445000"/>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4–6</a:t>
            </a:r>
          </a:p>
        </p:txBody>
      </p:sp>
      <p:sp>
        <p:nvSpPr>
          <p:cNvPr id="11" name="TextBox 10"/>
          <p:cNvSpPr txBox="1"/>
          <p:nvPr/>
        </p:nvSpPr>
        <p:spPr>
          <a:xfrm>
            <a:off x="1353312" y="4746752"/>
            <a:ext cx="2697480" cy="347133"/>
          </a:xfrm>
          <a:prstGeom prst="rect">
            <a:avLst/>
          </a:prstGeom>
          <a:noFill/>
        </p:spPr>
        <p:txBody>
          <a:bodyPr wrap="square" lIns="0" rIns="0" tIns="0" bIns="0" anchor="t">
            <a:spAutoFit/>
          </a:bodyPr>
          <a:lstStyle/>
          <a:p>
            <a:pPr algn="l"/>
            <a:r>
              <a:rPr sz="1050" b="0" i="0">
                <a:solidFill>
                  <a:srgbClr val="1B2A41"/>
                </a:solidFill>
                <a:latin typeface="Arial"/>
              </a:rPr>
              <a:t>Năm nghìn điểm thật, biết trước đáp án.</a:t>
            </a:r>
          </a:p>
        </p:txBody>
      </p:sp>
      <p:sp>
        <p:nvSpPr>
          <p:cNvPr id="12" name="Rounded Rectangle 11"/>
          <p:cNvSpPr/>
          <p:nvPr/>
        </p:nvSpPr>
        <p:spPr>
          <a:xfrm>
            <a:off x="548640" y="51121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7</a:t>
            </a:r>
          </a:p>
        </p:txBody>
      </p:sp>
      <p:sp>
        <p:nvSpPr>
          <p:cNvPr id="13" name="TextBox 12"/>
          <p:cNvSpPr txBox="1"/>
          <p:nvPr/>
        </p:nvSpPr>
        <p:spPr>
          <a:xfrm>
            <a:off x="1353312" y="5093885"/>
            <a:ext cx="2697480" cy="347133"/>
          </a:xfrm>
          <a:prstGeom prst="rect">
            <a:avLst/>
          </a:prstGeom>
          <a:noFill/>
        </p:spPr>
        <p:txBody>
          <a:bodyPr wrap="square" lIns="0" rIns="0" tIns="0" bIns="0" anchor="t">
            <a:spAutoFit/>
          </a:bodyPr>
          <a:lstStyle/>
          <a:p>
            <a:pPr algn="l"/>
            <a:r>
              <a:rPr sz="1050" b="0" i="0">
                <a:solidFill>
                  <a:srgbClr val="1B2A41"/>
                </a:solidFill>
                <a:latin typeface="Arial"/>
              </a:rPr>
              <a:t>MCAR: xoá ngẫu nhiên 10% số điểm.</a:t>
            </a:r>
          </a:p>
        </p:txBody>
      </p:sp>
      <p:sp>
        <p:nvSpPr>
          <p:cNvPr id="14" name="Rounded Rectangle 13"/>
          <p:cNvSpPr/>
          <p:nvPr/>
        </p:nvSpPr>
        <p:spPr>
          <a:xfrm>
            <a:off x="548640" y="54593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8</a:t>
            </a:r>
          </a:p>
        </p:txBody>
      </p:sp>
      <p:sp>
        <p:nvSpPr>
          <p:cNvPr id="15" name="TextBox 14"/>
          <p:cNvSpPr txBox="1"/>
          <p:nvPr/>
        </p:nvSpPr>
        <p:spPr>
          <a:xfrm>
            <a:off x="1353312" y="5441018"/>
            <a:ext cx="2697480" cy="347133"/>
          </a:xfrm>
          <a:prstGeom prst="rect">
            <a:avLst/>
          </a:prstGeom>
          <a:noFill/>
        </p:spPr>
        <p:txBody>
          <a:bodyPr wrap="square" lIns="0" rIns="0" tIns="0" bIns="0" anchor="t">
            <a:spAutoFit/>
          </a:bodyPr>
          <a:lstStyle/>
          <a:p>
            <a:pPr algn="l"/>
            <a:r>
              <a:rPr sz="1050" b="0" i="0">
                <a:solidFill>
                  <a:srgbClr val="1B2A41"/>
                </a:solidFill>
                <a:latin typeface="Arial"/>
              </a:rPr>
              <a:t>MNAR: xoá đúng những điểm cao hơn 1.</a:t>
            </a:r>
          </a:p>
        </p:txBody>
      </p:sp>
      <p:sp>
        <p:nvSpPr>
          <p:cNvPr id="16" name="Rounded Rectangle 15"/>
          <p:cNvSpPr/>
          <p:nvPr/>
        </p:nvSpPr>
        <p:spPr>
          <a:xfrm>
            <a:off x="416052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9–10</a:t>
            </a:r>
          </a:p>
        </p:txBody>
      </p:sp>
      <p:sp>
        <p:nvSpPr>
          <p:cNvPr id="17" name="TextBox 16"/>
          <p:cNvSpPr txBox="1"/>
          <p:nvPr/>
        </p:nvSpPr>
        <p:spPr>
          <a:xfrm>
            <a:off x="4965192" y="4746752"/>
            <a:ext cx="2697480" cy="347133"/>
          </a:xfrm>
          <a:prstGeom prst="rect">
            <a:avLst/>
          </a:prstGeom>
          <a:noFill/>
        </p:spPr>
        <p:txBody>
          <a:bodyPr wrap="square" lIns="0" rIns="0" tIns="0" bIns="0" anchor="t">
            <a:spAutoFit/>
          </a:bodyPr>
          <a:lstStyle/>
          <a:p>
            <a:pPr algn="l"/>
            <a:r>
              <a:rPr sz="1050" b="0" i="0">
                <a:solidFill>
                  <a:srgbClr val="1B2A41"/>
                </a:solidFill>
                <a:latin typeface="Arial"/>
              </a:rPr>
              <a:t>Nội suy rồi so trung bình với số thật.</a:t>
            </a:r>
          </a:p>
        </p:txBody>
      </p:sp>
      <p:sp>
        <p:nvSpPr>
          <p:cNvPr id="18" name="Rounded Rectangle 17"/>
          <p:cNvSpPr/>
          <p:nvPr/>
        </p:nvSpPr>
        <p:spPr>
          <a:xfrm>
            <a:off x="4160520" y="51121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12–15</a:t>
            </a:r>
          </a:p>
        </p:txBody>
      </p:sp>
      <p:sp>
        <p:nvSpPr>
          <p:cNvPr id="19" name="TextBox 18"/>
          <p:cNvSpPr txBox="1"/>
          <p:nvPr/>
        </p:nvSpPr>
        <p:spPr>
          <a:xfrm>
            <a:off x="4965192" y="5093885"/>
            <a:ext cx="2697480" cy="347133"/>
          </a:xfrm>
          <a:prstGeom prst="rect">
            <a:avLst/>
          </a:prstGeom>
          <a:noFill/>
        </p:spPr>
        <p:txBody>
          <a:bodyPr wrap="square" lIns="0" rIns="0" tIns="0" bIns="0" anchor="t">
            <a:spAutoFit/>
          </a:bodyPr>
          <a:lstStyle/>
          <a:p>
            <a:pPr algn="l"/>
            <a:r>
              <a:rPr sz="1050" b="0" i="0">
                <a:solidFill>
                  <a:srgbClr val="1B2A41"/>
                </a:solidFill>
                <a:latin typeface="Arial"/>
              </a:rPr>
              <a:t>Khi trạm mất số, trạm khác cao hay thấp?</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Mô phỏng: MNAR mất 16,2%, điền xong trung bình −0,30 thay vì −0,005; MCAR gần như không lệch. Dongsi thiếu thì trạm khác thấp hơn 3,0%.</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mask(dieu_kien)</a:t>
            </a:r>
            <a:r>
              <a:rPr sz="950" b="1" i="0">
                <a:solidFill>
                  <a:srgbClr val="5B6778"/>
                </a:solidFill>
                <a:latin typeface="Arial"/>
              </a:rPr>
              <a:t>   pandas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Đổi thành NaN mọi ô thoả điều kiện, giữ nguyên các ô còn lại.</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interpolate</a:t>
            </a:r>
            <a:r>
              <a:rPr sz="950" b="1" i="0">
                <a:solidFill>
                  <a:srgbClr val="5B6778"/>
                </a:solidFill>
                <a:latin typeface="Arial"/>
              </a:rPr>
              <a:t>   pandas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Nối thẳng hai số hai bên để lấp ô NaN ở giữa.</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default_rng(0).normal</a:t>
            </a:r>
            <a:r>
              <a:rPr sz="950" b="1" i="0">
                <a:solidFill>
                  <a:srgbClr val="5B6778"/>
                </a:solidFill>
                <a:latin typeface="Arial"/>
              </a:rPr>
              <a:t>   numpy</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Bộ sinh số ngẫu nhiên có seed, chạy lại ra đúng số cũ.</a:t>
            </a:r>
          </a:p>
        </p:txBody>
      </p:sp>
      <p:pic>
        <p:nvPicPr>
          <p:cNvPr id="29" name="Picture 28" descr="kn-mcar-mar-mnar.png"/>
          <p:cNvPicPr>
            <a:picLocks noChangeAspect="1"/>
          </p:cNvPicPr>
          <p:nvPr/>
        </p:nvPicPr>
        <p:blipFill>
          <a:blip r:embed="rId2"/>
          <a:stretch>
            <a:fillRect/>
          </a:stretch>
        </p:blipFill>
        <p:spPr>
          <a:xfrm>
            <a:off x="7863840" y="4344366"/>
            <a:ext cx="3776472" cy="1872587"/>
          </a:xfrm>
          <a:prstGeom prst="rect">
            <a:avLst/>
          </a:prstGeom>
        </p:spPr>
      </p:pic>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tìm số trông như số đo</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10</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Mã, trần, độ phân giải và đoạn kẹt không để lại NaN; phải đo từng dấu vết mới thấy.</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import pandas as pd</a:t>
            </a:r>
          </a:p>
          <a:p>
            <a:r>
              <a:rPr sz="850">
                <a:solidFill>
                  <a:srgbClr val="6B7385"/>
                </a:solidFill>
                <a:latin typeface="Courier New"/>
              </a:rPr>
              <a:t> 3 </a:t>
            </a:r>
          </a:p>
          <a:p>
            <a:r>
              <a:rPr sz="850">
                <a:solidFill>
                  <a:srgbClr val="6B7385"/>
                </a:solidFill>
                <a:latin typeface="Courier New"/>
              </a:rPr>
              <a:t> 4 </a:t>
            </a:r>
            <a:r>
              <a:rPr sz="850">
                <a:solidFill>
                  <a:srgbClr val="E6EAF0"/>
                </a:solidFill>
                <a:latin typeface="Courier New"/>
              </a:rPr>
              <a:t>goc = pd.read_parquet("ghcnh-noi-bai-2024.parquet")    </a:t>
            </a:r>
            <a:r>
              <a:rPr sz="850">
                <a:solidFill>
                  <a:srgbClr val="8FC99A"/>
                </a:solidFill>
                <a:latin typeface="Courier New"/>
              </a:rPr>
              <a:t># tệp thô</a:t>
            </a:r>
          </a:p>
          <a:p>
            <a:r>
              <a:rPr sz="850">
                <a:solidFill>
                  <a:srgbClr val="6B7385"/>
                </a:solidFill>
                <a:latin typeface="Courier New"/>
              </a:rPr>
              <a:t> 5 </a:t>
            </a:r>
            <a:r>
              <a:rPr sz="850">
                <a:solidFill>
                  <a:srgbClr val="E6EAF0"/>
                </a:solidFill>
                <a:latin typeface="Courier New"/>
              </a:rPr>
              <a:t>goc["relative_humidity"].min()      </a:t>
            </a:r>
            <a:r>
              <a:rPr sz="850">
                <a:solidFill>
                  <a:srgbClr val="8FC99A"/>
                </a:solidFill>
                <a:latin typeface="Courier New"/>
              </a:rPr>
              <a:t># ra '100': số đang lưu dạng chữ</a:t>
            </a:r>
          </a:p>
          <a:p>
            <a:r>
              <a:rPr sz="850">
                <a:solidFill>
                  <a:srgbClr val="6B7385"/>
                </a:solidFill>
                <a:latin typeface="Courier New"/>
              </a:rPr>
              <a:t> 6 </a:t>
            </a:r>
            <a:r>
              <a:rPr sz="850">
                <a:solidFill>
                  <a:srgbClr val="E6EAF0"/>
                </a:solidFill>
                <a:latin typeface="Courier New"/>
              </a:rPr>
              <a:t>rh = pd.to_numeric(goc["relative_humidity"], errors="coerce")</a:t>
            </a:r>
          </a:p>
          <a:p>
            <a:r>
              <a:rPr sz="850">
                <a:solidFill>
                  <a:srgbClr val="6B7385"/>
                </a:solidFill>
                <a:latin typeface="Courier New"/>
              </a:rPr>
              <a:t> 7 </a:t>
            </a:r>
            <a:r>
              <a:rPr sz="850">
                <a:solidFill>
                  <a:srgbClr val="E6EAF0"/>
                </a:solidFill>
                <a:latin typeface="Courier New"/>
              </a:rPr>
              <a:t>tam_nhin = pd.to_numeric(goc["visibility"], errors="coerce")</a:t>
            </a:r>
          </a:p>
          <a:p>
            <a:r>
              <a:rPr sz="850">
                <a:solidFill>
                  <a:srgbClr val="6B7385"/>
                </a:solidFill>
                <a:latin typeface="Courier New"/>
              </a:rPr>
              <a:t> 8 </a:t>
            </a:r>
            <a:r>
              <a:rPr sz="850">
                <a:solidFill>
                  <a:srgbClr val="E6EAF0"/>
                </a:solidFill>
                <a:latin typeface="Courier New"/>
              </a:rPr>
              <a:t>(tam_nhin == 9.999).mean(), (rh == 100).mean()    </a:t>
            </a:r>
            <a:r>
              <a:rPr sz="850">
                <a:solidFill>
                  <a:srgbClr val="8FC99A"/>
                </a:solidFill>
                <a:latin typeface="Courier New"/>
              </a:rPr>
              <a:t># mã và trần</a:t>
            </a:r>
          </a:p>
          <a:p>
            <a:r>
              <a:rPr sz="850">
                <a:solidFill>
                  <a:srgbClr val="6B7385"/>
                </a:solidFill>
                <a:latin typeface="Courier New"/>
              </a:rPr>
              <a:t> 9 </a:t>
            </a:r>
            <a:r>
              <a:rPr sz="850">
                <a:solidFill>
                  <a:srgbClr val="E6EAF0"/>
                </a:solidFill>
                <a:latin typeface="Courier New"/>
              </a:rPr>
              <a:t>t = pd.to_numeric(goc["temperature"], errors="coerce").dropna()</a:t>
            </a:r>
          </a:p>
          <a:p>
            <a:r>
              <a:rPr sz="850">
                <a:solidFill>
                  <a:srgbClr val="6B7385"/>
                </a:solidFill>
                <a:latin typeface="Courier New"/>
              </a:rPr>
              <a:t>10 </a:t>
            </a:r>
            <a:r>
              <a:rPr sz="850">
                <a:solidFill>
                  <a:srgbClr val="E6EAF0"/>
                </a:solidFill>
                <a:latin typeface="Courier New"/>
              </a:rPr>
              <a:t>np.diff(np.sort(t.unique())).min()  </a:t>
            </a:r>
            <a:r>
              <a:rPr sz="850">
                <a:solidFill>
                  <a:srgbClr val="8FC99A"/>
                </a:solidFill>
                <a:latin typeface="Courier New"/>
              </a:rPr>
              <a:t># độ phân giải: bước nhỏ nhất</a:t>
            </a:r>
          </a:p>
          <a:p>
            <a:r>
              <a:rPr sz="850">
                <a:solidFill>
                  <a:srgbClr val="6B7385"/>
                </a:solidFill>
                <a:latin typeface="Courier New"/>
              </a:rPr>
              <a:t>11 </a:t>
            </a:r>
          </a:p>
          <a:p>
            <a:r>
              <a:rPr sz="850">
                <a:solidFill>
                  <a:srgbClr val="6B7385"/>
                </a:solidFill>
                <a:latin typeface="Courier New"/>
              </a:rPr>
              <a:t>12 </a:t>
            </a:r>
            <a:r>
              <a:rPr sz="850">
                <a:solidFill>
                  <a:srgbClr val="E6EAF0"/>
                </a:solidFill>
                <a:latin typeface="Courier New"/>
              </a:rPr>
              <a:t>def doan_mac_ket(y, toi_thieu):     </a:t>
            </a:r>
            <a:r>
              <a:rPr sz="850">
                <a:solidFill>
                  <a:srgbClr val="8FC99A"/>
                </a:solidFill>
                <a:latin typeface="Courier New"/>
              </a:rPr>
              <a:t># đoạn lặp dài từ toi_thieu bước</a:t>
            </a:r>
          </a:p>
          <a:p>
            <a:r>
              <a:rPr sz="850">
                <a:solidFill>
                  <a:srgbClr val="6B7385"/>
                </a:solidFill>
                <a:latin typeface="Courier New"/>
              </a:rPr>
              <a:t>13 </a:t>
            </a:r>
            <a:r>
              <a:rPr sz="850">
                <a:solidFill>
                  <a:srgbClr val="E6EAF0"/>
                </a:solidFill>
                <a:latin typeface="Courier New"/>
              </a:rPr>
              <a:t>    v = y.dropna()</a:t>
            </a:r>
          </a:p>
          <a:p>
            <a:r>
              <a:rPr sz="850">
                <a:solidFill>
                  <a:srgbClr val="6B7385"/>
                </a:solidFill>
                <a:latin typeface="Courier New"/>
              </a:rPr>
              <a:t>14 </a:t>
            </a:r>
            <a:r>
              <a:rPr sz="850">
                <a:solidFill>
                  <a:srgbClr val="E6EAF0"/>
                </a:solidFill>
                <a:latin typeface="Courier New"/>
              </a:rPr>
              <a:t>    nhom = (v != v.shift()).cumsum()</a:t>
            </a:r>
          </a:p>
          <a:p>
            <a:r>
              <a:rPr sz="850">
                <a:solidFill>
                  <a:srgbClr val="6B7385"/>
                </a:solidFill>
                <a:latin typeface="Courier New"/>
              </a:rPr>
              <a:t>15 </a:t>
            </a:r>
            <a:r>
              <a:rPr sz="850">
                <a:solidFill>
                  <a:srgbClr val="E6EAF0"/>
                </a:solidFill>
                <a:latin typeface="Courier New"/>
              </a:rPr>
              <a:t>    dem = v.groupby(nhom).agg(so_buoc="size", gia_tri="first")</a:t>
            </a:r>
          </a:p>
          <a:p>
            <a:r>
              <a:rPr sz="850">
                <a:solidFill>
                  <a:srgbClr val="6B7385"/>
                </a:solidFill>
                <a:latin typeface="Courier New"/>
              </a:rPr>
              <a:t>16 </a:t>
            </a:r>
            <a:r>
              <a:rPr sz="850">
                <a:solidFill>
                  <a:srgbClr val="E6EAF0"/>
                </a:solidFill>
                <a:latin typeface="Courier New"/>
              </a:rPr>
              <a:t>    return dem[dem["so_buoc"] &gt;= toi_thieu]</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buoi-10/tu-hoc.ipynb, phần 3</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5</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Cột số lưu dạng chữ thì min so theo chữ.</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6–7</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Ép về kiểu số, chữ lạ thành NaN.</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8</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Tỷ lệ mã 9,999 km và độ ẩm chạm 100%.</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9–10</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Bước nhỏ nhất giữa hai giá trị khác nhau.</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12–16</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Đánh số từng đoạn lặp, giữ đoạn đủ dài.</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Độ ẩm dạng chữ: min '100', max '94'. Hơn 1/3 dòng tầm nhìn là mã 9,999; 5,7% độ ẩm chạm trần. Ngưỡng 18 giờ: 2 đoạn kẹt, dài nhất 33,5 giờ.</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pd.to_numeric</a:t>
            </a:r>
            <a:r>
              <a:rPr sz="950" b="1" i="0">
                <a:solidFill>
                  <a:srgbClr val="5B6778"/>
                </a:solidFill>
                <a:latin typeface="Arial"/>
              </a:rPr>
              <a:t>   pandas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Đổi cột chữ thành số; errors="coerce" biến chữ lạ thành NaN.</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unique</a:t>
            </a:r>
            <a:r>
              <a:rPr sz="950" b="1" i="0">
                <a:solidFill>
                  <a:srgbClr val="5B6778"/>
                </a:solidFill>
                <a:latin typeface="Arial"/>
              </a:rPr>
              <a:t>   pandas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Lấy danh sách các giá trị khác nhau trong cột.</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groupby().agg</a:t>
            </a:r>
            <a:r>
              <a:rPr sz="950" b="1" i="0">
                <a:solidFill>
                  <a:srgbClr val="5B6778"/>
                </a:solidFill>
                <a:latin typeface="Arial"/>
              </a:rPr>
              <a:t>   pandas</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Gom các dòng cùng nhóm rồi tính số dòng, giá trị đầu của nhóm.</a:t>
            </a:r>
          </a:p>
        </p:txBody>
      </p:sp>
      <p:pic>
        <p:nvPicPr>
          <p:cNvPr id="29" name="Picture 28" descr="kn-cam-bien-dung-yen-stuck-sensor.png"/>
          <p:cNvPicPr>
            <a:picLocks noChangeAspect="1"/>
          </p:cNvPicPr>
          <p:nvPr/>
        </p:nvPicPr>
        <p:blipFill>
          <a:blip r:embed="rId2"/>
          <a:stretch>
            <a:fillRect/>
          </a:stretch>
        </p:blipFill>
        <p:spPr>
          <a:xfrm>
            <a:off x="7863840" y="4360947"/>
            <a:ext cx="3776472" cy="1839424"/>
          </a:xfrm>
          <a:prstGeom prst="rect">
            <a:avLst/>
          </a:prstGeom>
        </p:spPr>
      </p:pic>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các cách điền một lỗ</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10</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Đặt các cách điền cạnh nhau trên một lỗ nhỏ để thấy cách nào biết hình dạng đoạn mất.</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import pandas as pd</a:t>
            </a:r>
          </a:p>
          <a:p>
            <a:r>
              <a:rPr sz="850">
                <a:solidFill>
                  <a:srgbClr val="6B7385"/>
                </a:solidFill>
                <a:latin typeface="Courier New"/>
              </a:rPr>
              <a:t> 3 </a:t>
            </a:r>
            <a:r>
              <a:rPr sz="850">
                <a:solidFill>
                  <a:srgbClr val="E6EAF0"/>
                </a:solidFill>
                <a:latin typeface="Courier New"/>
              </a:rPr>
              <a:t>from statsmodels.tsa.statespace.structural import UnobservedComponents</a:t>
            </a:r>
          </a:p>
          <a:p>
            <a:r>
              <a:rPr sz="850">
                <a:solidFill>
                  <a:srgbClr val="6B7385"/>
                </a:solidFill>
                <a:latin typeface="Courier New"/>
              </a:rPr>
              <a:t> 4 </a:t>
            </a:r>
          </a:p>
          <a:p>
            <a:r>
              <a:rPr sz="850">
                <a:solidFill>
                  <a:srgbClr val="6B7385"/>
                </a:solidFill>
                <a:latin typeface="Courier New"/>
              </a:rPr>
              <a:t> 5 </a:t>
            </a:r>
            <a:r>
              <a:rPr sz="850">
                <a:solidFill>
                  <a:srgbClr val="E6EAF0"/>
                </a:solidFill>
                <a:latin typeface="Courier New"/>
              </a:rPr>
              <a:t>hom_nay = pd.Series([21, 23, np.nan, np.nan, 27, 25.0])  </a:t>
            </a:r>
            <a:r>
              <a:rPr sz="850">
                <a:solidFill>
                  <a:srgbClr val="8FC99A"/>
                </a:solidFill>
                <a:latin typeface="Courier New"/>
              </a:rPr>
              <a:t># thật: 26, 28</a:t>
            </a:r>
          </a:p>
          <a:p>
            <a:r>
              <a:rPr sz="850">
                <a:solidFill>
                  <a:srgbClr val="6B7385"/>
                </a:solidFill>
                <a:latin typeface="Courier New"/>
              </a:rPr>
              <a:t> 6 </a:t>
            </a:r>
            <a:r>
              <a:rPr sz="850">
                <a:solidFill>
                  <a:srgbClr val="E6EAF0"/>
                </a:solidFill>
                <a:latin typeface="Courier New"/>
              </a:rPr>
              <a:t>hom_qua = pd.Series([20, 22, 25, 27, 26, 24.0])</a:t>
            </a:r>
          </a:p>
          <a:p>
            <a:r>
              <a:rPr sz="850">
                <a:solidFill>
                  <a:srgbClr val="6B7385"/>
                </a:solidFill>
                <a:latin typeface="Courier New"/>
              </a:rPr>
              <a:t> 7 </a:t>
            </a:r>
            <a:r>
              <a:rPr sz="850">
                <a:solidFill>
                  <a:srgbClr val="E6EAF0"/>
                </a:solidFill>
                <a:latin typeface="Courier New"/>
              </a:rPr>
              <a:t>tay = {"ffill": hom_nay.ffill(),                    </a:t>
            </a:r>
            <a:r>
              <a:rPr sz="850">
                <a:solidFill>
                  <a:srgbClr val="8FC99A"/>
                </a:solidFill>
                <a:latin typeface="Courier New"/>
              </a:rPr>
              <a:t># nhân quả</a:t>
            </a:r>
          </a:p>
          <a:p>
            <a:r>
              <a:rPr sz="850">
                <a:solidFill>
                  <a:srgbClr val="6B7385"/>
                </a:solidFill>
                <a:latin typeface="Courier New"/>
              </a:rPr>
              <a:t> 8 </a:t>
            </a:r>
            <a:r>
              <a:rPr sz="850">
                <a:solidFill>
                  <a:srgbClr val="E6EAF0"/>
                </a:solidFill>
                <a:latin typeface="Courier New"/>
              </a:rPr>
              <a:t>       "tuyến tính": hom_nay.interpolate(),         </a:t>
            </a:r>
            <a:r>
              <a:rPr sz="850">
                <a:solidFill>
                  <a:srgbClr val="8FC99A"/>
                </a:solidFill>
                <a:latin typeface="Courier New"/>
              </a:rPr>
              <a:t># nhìn số phía sau</a:t>
            </a:r>
          </a:p>
          <a:p>
            <a:r>
              <a:rPr sz="850">
                <a:solidFill>
                  <a:srgbClr val="6B7385"/>
                </a:solidFill>
                <a:latin typeface="Courier New"/>
              </a:rPr>
              <a:t> 9 </a:t>
            </a:r>
            <a:r>
              <a:rPr sz="850">
                <a:solidFill>
                  <a:srgbClr val="E6EAF0"/>
                </a:solidFill>
                <a:latin typeface="Courier New"/>
              </a:rPr>
              <a:t>       "spline": hom_nay.interpolate(method="spline", order=3),</a:t>
            </a:r>
          </a:p>
          <a:p>
            <a:r>
              <a:rPr sz="850">
                <a:solidFill>
                  <a:srgbClr val="6B7385"/>
                </a:solidFill>
                <a:latin typeface="Courier New"/>
              </a:rPr>
              <a:t>10 </a:t>
            </a:r>
            <a:r>
              <a:rPr sz="850">
                <a:solidFill>
                  <a:srgbClr val="E6EAF0"/>
                </a:solidFill>
                <a:latin typeface="Courier New"/>
              </a:rPr>
              <a:t>       "mùa vụ": hom_nay.fillna(hom_qua),           </a:t>
            </a:r>
            <a:r>
              <a:rPr sz="850">
                <a:solidFill>
                  <a:srgbClr val="8FC99A"/>
                </a:solidFill>
                <a:latin typeface="Courier New"/>
              </a:rPr>
              <a:t># cùng giờ hôm qua</a:t>
            </a:r>
          </a:p>
          <a:p>
            <a:r>
              <a:rPr sz="850">
                <a:solidFill>
                  <a:srgbClr val="6B7385"/>
                </a:solidFill>
                <a:latin typeface="Courier New"/>
              </a:rPr>
              <a:t>11 </a:t>
            </a:r>
            <a:r>
              <a:rPr sz="850">
                <a:solidFill>
                  <a:srgbClr val="E6EAF0"/>
                </a:solidFill>
                <a:latin typeface="Courier New"/>
              </a:rPr>
              <a:t>       "hàng xóm + 1": hom_nay.fillna(hom_qua + 1)}</a:t>
            </a:r>
          </a:p>
          <a:p>
            <a:r>
              <a:rPr sz="850">
                <a:solidFill>
                  <a:srgbClr val="6B7385"/>
                </a:solidFill>
                <a:latin typeface="Courier New"/>
              </a:rPr>
              <a:t>12 </a:t>
            </a:r>
            <a:r>
              <a:rPr sz="850">
                <a:solidFill>
                  <a:srgbClr val="E6EAF0"/>
                </a:solidFill>
                <a:latin typeface="Courier New"/>
              </a:rPr>
              <a:t>def dien_kalman(y, chu_ky=48):          </a:t>
            </a:r>
            <a:r>
              <a:rPr sz="850">
                <a:solidFill>
                  <a:srgbClr val="8FC99A"/>
                </a:solidFill>
                <a:latin typeface="Courier New"/>
              </a:rPr>
              <a:t># mức + nhịp ngày, nhìn hai phía</a:t>
            </a:r>
          </a:p>
          <a:p>
            <a:r>
              <a:rPr sz="850">
                <a:solidFill>
                  <a:srgbClr val="6B7385"/>
                </a:solidFill>
                <a:latin typeface="Courier New"/>
              </a:rPr>
              <a:t>13 </a:t>
            </a:r>
            <a:r>
              <a:rPr sz="850">
                <a:solidFill>
                  <a:srgbClr val="E6EAF0"/>
                </a:solidFill>
                <a:latin typeface="Courier New"/>
              </a:rPr>
              <a:t>    kq = UnobservedComponents(y.to_numpy(float), level="local level",</a:t>
            </a:r>
          </a:p>
          <a:p>
            <a:r>
              <a:rPr sz="850">
                <a:solidFill>
                  <a:srgbClr val="6B7385"/>
                </a:solidFill>
                <a:latin typeface="Courier New"/>
              </a:rPr>
              <a:t>14 </a:t>
            </a:r>
            <a:r>
              <a:rPr sz="850">
                <a:solidFill>
                  <a:srgbClr val="E6EAF0"/>
                </a:solidFill>
                <a:latin typeface="Courier New"/>
              </a:rPr>
              <a:t>        freq_seasonal=[{"period": chu_ky, "harmonics": 2}]).fit(disp=False)</a:t>
            </a:r>
          </a:p>
          <a:p>
            <a:r>
              <a:rPr sz="850">
                <a:solidFill>
                  <a:srgbClr val="6B7385"/>
                </a:solidFill>
                <a:latin typeface="Courier New"/>
              </a:rPr>
              <a:t>15 </a:t>
            </a:r>
            <a:r>
              <a:rPr sz="850">
                <a:solidFill>
                  <a:srgbClr val="E6EAF0"/>
                </a:solidFill>
                <a:latin typeface="Courier New"/>
              </a:rPr>
              <a:t>    lam_tron = kq.smoother_results.smoothed_forecasts[0]</a:t>
            </a:r>
          </a:p>
          <a:p>
            <a:r>
              <a:rPr sz="850">
                <a:solidFill>
                  <a:srgbClr val="6B7385"/>
                </a:solidFill>
                <a:latin typeface="Courier New"/>
              </a:rPr>
              <a:t>16 </a:t>
            </a:r>
            <a:r>
              <a:rPr sz="850">
                <a:solidFill>
                  <a:srgbClr val="E6EAF0"/>
                </a:solidFill>
                <a:latin typeface="Courier New"/>
              </a:rPr>
              <a:t>    return y.fillna(pd.Series(lam_tron, index=y.index))</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buoi-10/tu-hoc.ipynb, phần 4</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5–6</a:t>
            </a:r>
          </a:p>
        </p:txBody>
      </p:sp>
      <p:sp>
        <p:nvSpPr>
          <p:cNvPr id="11" name="TextBox 10"/>
          <p:cNvSpPr txBox="1"/>
          <p:nvPr/>
        </p:nvSpPr>
        <p:spPr>
          <a:xfrm>
            <a:off x="1353312" y="4634357"/>
            <a:ext cx="2697480" cy="457200"/>
          </a:xfrm>
          <a:prstGeom prst="rect">
            <a:avLst/>
          </a:prstGeom>
          <a:noFill/>
        </p:spPr>
        <p:txBody>
          <a:bodyPr wrap="square" lIns="0" rIns="0" tIns="0" bIns="0" anchor="t">
            <a:spAutoFit/>
          </a:bodyPr>
          <a:lstStyle/>
          <a:p>
            <a:pPr algn="l"/>
            <a:r>
              <a:rPr sz="1050" b="0" i="0">
                <a:solidFill>
                  <a:srgbClr val="1B2A41"/>
                </a:solidFill>
                <a:latin typeface="Arial"/>
              </a:rPr>
              <a:t>Lỗ hai bước hôm nay, và số cùng giờ hôm qua.</a:t>
            </a:r>
          </a:p>
        </p:txBody>
      </p:sp>
      <p:sp>
        <p:nvSpPr>
          <p:cNvPr id="12" name="Rounded Rectangle 11"/>
          <p:cNvSpPr/>
          <p:nvPr/>
        </p:nvSpPr>
        <p:spPr>
          <a:xfrm>
            <a:off x="548640" y="51098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7–9</a:t>
            </a:r>
          </a:p>
        </p:txBody>
      </p:sp>
      <p:sp>
        <p:nvSpPr>
          <p:cNvPr id="13" name="TextBox 12"/>
          <p:cNvSpPr txBox="1"/>
          <p:nvPr/>
        </p:nvSpPr>
        <p:spPr>
          <a:xfrm>
            <a:off x="1353312" y="5091557"/>
            <a:ext cx="2697480" cy="457200"/>
          </a:xfrm>
          <a:prstGeom prst="rect">
            <a:avLst/>
          </a:prstGeom>
          <a:noFill/>
        </p:spPr>
        <p:txBody>
          <a:bodyPr wrap="square" lIns="0" rIns="0" tIns="0" bIns="0" anchor="t">
            <a:spAutoFit/>
          </a:bodyPr>
          <a:lstStyle/>
          <a:p>
            <a:pPr algn="l"/>
            <a:r>
              <a:rPr sz="1050" b="0" i="0">
                <a:solidFill>
                  <a:srgbClr val="1B2A41"/>
                </a:solidFill>
                <a:latin typeface="Arial"/>
              </a:rPr>
              <a:t>Ba cách chỉ biết hai đầu lỗ.</a:t>
            </a:r>
          </a:p>
        </p:txBody>
      </p:sp>
      <p:sp>
        <p:nvSpPr>
          <p:cNvPr id="14" name="Rounded Rectangle 13"/>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10–11</a:t>
            </a:r>
          </a:p>
        </p:txBody>
      </p:sp>
      <p:sp>
        <p:nvSpPr>
          <p:cNvPr id="15" name="TextBox 14"/>
          <p:cNvSpPr txBox="1"/>
          <p:nvPr/>
        </p:nvSpPr>
        <p:spPr>
          <a:xfrm>
            <a:off x="4965192" y="4634357"/>
            <a:ext cx="2697480" cy="457200"/>
          </a:xfrm>
          <a:prstGeom prst="rect">
            <a:avLst/>
          </a:prstGeom>
          <a:noFill/>
        </p:spPr>
        <p:txBody>
          <a:bodyPr wrap="square" lIns="0" rIns="0" tIns="0" bIns="0" anchor="t">
            <a:spAutoFit/>
          </a:bodyPr>
          <a:lstStyle/>
          <a:p>
            <a:pPr algn="l"/>
            <a:r>
              <a:rPr sz="1050" b="0" i="0">
                <a:solidFill>
                  <a:srgbClr val="1B2A41"/>
                </a:solidFill>
                <a:latin typeface="Arial"/>
              </a:rPr>
              <a:t>Hai cách mượn hình dạng từ nguồn khác.</a:t>
            </a:r>
          </a:p>
        </p:txBody>
      </p:sp>
      <p:sp>
        <p:nvSpPr>
          <p:cNvPr id="16" name="Rounded Rectangle 15"/>
          <p:cNvSpPr/>
          <p:nvPr/>
        </p:nvSpPr>
        <p:spPr>
          <a:xfrm>
            <a:off x="4160520" y="51098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12–16</a:t>
            </a:r>
          </a:p>
        </p:txBody>
      </p:sp>
      <p:sp>
        <p:nvSpPr>
          <p:cNvPr id="17" name="TextBox 16"/>
          <p:cNvSpPr txBox="1"/>
          <p:nvPr/>
        </p:nvSpPr>
        <p:spPr>
          <a:xfrm>
            <a:off x="4965192" y="5091557"/>
            <a:ext cx="2697480" cy="457200"/>
          </a:xfrm>
          <a:prstGeom prst="rect">
            <a:avLst/>
          </a:prstGeom>
          <a:noFill/>
        </p:spPr>
        <p:txBody>
          <a:bodyPr wrap="square" lIns="0" rIns="0" tIns="0" bIns="0" anchor="t">
            <a:spAutoFit/>
          </a:bodyPr>
          <a:lstStyle/>
          <a:p>
            <a:pPr algn="l"/>
            <a:r>
              <a:rPr sz="1050" b="0" i="0">
                <a:solidFill>
                  <a:srgbClr val="1B2A41"/>
                </a:solidFill>
                <a:latin typeface="Arial"/>
              </a:rPr>
              <a:t>Khớp mô hình chuỗi rồi lấy giá trị làm trơn.</a:t>
            </a:r>
          </a:p>
        </p:txBody>
      </p:sp>
      <p:sp>
        <p:nvSpPr>
          <p:cNvPr id="18" name="Rounded Rectangle 17"/>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ffill sai nhiều nhất (3 và 5), tuyến tính 1,67 và 2,33, mùa vụ 1 và 1, hàng xóm trúng cả hai. Nội Bài với Open-Meteo có r = 0,976.</a:t>
            </a:r>
          </a:p>
        </p:txBody>
      </p:sp>
      <p:sp>
        <p:nvSpPr>
          <p:cNvPr id="20" name="TextBox 19"/>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1" name="TextBox 20"/>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ffill</a:t>
            </a:r>
            <a:r>
              <a:rPr sz="950" b="1" i="0">
                <a:solidFill>
                  <a:srgbClr val="5B6778"/>
                </a:solidFill>
                <a:latin typeface="Arial"/>
              </a:rPr>
              <a:t>   pandas</a:t>
            </a:r>
          </a:p>
        </p:txBody>
      </p:sp>
      <p:sp>
        <p:nvSpPr>
          <p:cNvPr id="22" name="TextBox 21"/>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Lấp ô trống bằng số gần nhất phía trước.</a:t>
            </a:r>
          </a:p>
        </p:txBody>
      </p:sp>
      <p:sp>
        <p:nvSpPr>
          <p:cNvPr id="23" name="TextBox 22"/>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fillna(chuoi_khac)</a:t>
            </a:r>
            <a:r>
              <a:rPr sz="950" b="1" i="0">
                <a:solidFill>
                  <a:srgbClr val="5B6778"/>
                </a:solidFill>
                <a:latin typeface="Arial"/>
              </a:rPr>
              <a:t>   pandas</a:t>
            </a:r>
          </a:p>
        </p:txBody>
      </p:sp>
      <p:sp>
        <p:nvSpPr>
          <p:cNvPr id="24" name="TextBox 23"/>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Lấp ô trống bằng số cùng vị trí của một chuỗi khác.</a:t>
            </a:r>
          </a:p>
        </p:txBody>
      </p:sp>
      <p:sp>
        <p:nvSpPr>
          <p:cNvPr id="25" name="TextBox 24"/>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UnobservedComponents</a:t>
            </a:r>
            <a:r>
              <a:rPr sz="950" b="1" i="0">
                <a:solidFill>
                  <a:srgbClr val="5B6778"/>
                </a:solidFill>
                <a:latin typeface="Arial"/>
              </a:rPr>
              <a:t>   statsmodels</a:t>
            </a:r>
          </a:p>
        </p:txBody>
      </p:sp>
      <p:sp>
        <p:nvSpPr>
          <p:cNvPr id="26" name="TextBox 25"/>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Mô hình chuỗi gồm mức đổi dần và nhịp lặp, ước lượng được ô thiếu.</a:t>
            </a:r>
          </a:p>
        </p:txBody>
      </p:sp>
      <p:sp>
        <p:nvSpPr>
          <p:cNvPr id="27" name="Rounded Rectangle 26"/>
          <p:cNvSpPr/>
          <p:nvPr/>
        </p:nvSpPr>
        <p:spPr>
          <a:xfrm>
            <a:off x="7863840" y="4059935"/>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eabb6c34fcc4.png"/>
          <p:cNvPicPr>
            <a:picLocks noChangeAspect="1"/>
          </p:cNvPicPr>
          <p:nvPr/>
        </p:nvPicPr>
        <p:blipFill>
          <a:blip r:embed="rId2"/>
          <a:stretch>
            <a:fillRect/>
          </a:stretch>
        </p:blipFill>
        <p:spPr>
          <a:xfrm>
            <a:off x="8609076" y="4189475"/>
            <a:ext cx="2286000" cy="289560"/>
          </a:xfrm>
          <a:prstGeom prst="rect">
            <a:avLst/>
          </a:prstGeom>
        </p:spPr>
      </p:pic>
      <p:pic>
        <p:nvPicPr>
          <p:cNvPr id="29" name="Picture 28" descr="kn-dien-du-lieu-imputation.png"/>
          <p:cNvPicPr>
            <a:picLocks noChangeAspect="1"/>
          </p:cNvPicPr>
          <p:nvPr/>
        </p:nvPicPr>
        <p:blipFill>
          <a:blip r:embed="rId3"/>
          <a:stretch>
            <a:fillRect/>
          </a:stretch>
        </p:blipFill>
        <p:spPr>
          <a:xfrm>
            <a:off x="8076813" y="4745735"/>
            <a:ext cx="3350524" cy="1728216"/>
          </a:xfrm>
          <a:prstGeom prst="rect">
            <a:avLst/>
          </a:prstGeom>
        </p:spPr>
      </p:pic>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che điểm và che khối</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10</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Tự xoá số đang có rồi điền lại để có đáp án, và che theo đúng hai kiểu lỗ thật.</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p>
          <a:p>
            <a:r>
              <a:rPr sz="850">
                <a:solidFill>
                  <a:srgbClr val="6B7385"/>
                </a:solidFill>
                <a:latin typeface="Courier New"/>
              </a:rPr>
              <a:t> 3 </a:t>
            </a:r>
            <a:r>
              <a:rPr sz="850">
                <a:solidFill>
                  <a:srgbClr val="E6EAF0"/>
                </a:solidFill>
                <a:latin typeface="Courier New"/>
              </a:rPr>
              <a:t>def che_diem(y, ty_le=0.10, seed=0):     </a:t>
            </a:r>
            <a:r>
              <a:rPr sz="850">
                <a:solidFill>
                  <a:srgbClr val="8FC99A"/>
                </a:solidFill>
                <a:latin typeface="Courier New"/>
              </a:rPr>
              <a:t># rải 10% ô đang có số</a:t>
            </a:r>
          </a:p>
          <a:p>
            <a:r>
              <a:rPr sz="850">
                <a:solidFill>
                  <a:srgbClr val="6B7385"/>
                </a:solidFill>
                <a:latin typeface="Courier New"/>
              </a:rPr>
              <a:t> 4 </a:t>
            </a:r>
            <a:r>
              <a:rPr sz="850">
                <a:solidFill>
                  <a:srgbClr val="E6EAF0"/>
                </a:solidFill>
                <a:latin typeface="Courier New"/>
              </a:rPr>
              <a:t>    rng = np.random.default_rng(seed)</a:t>
            </a:r>
          </a:p>
          <a:p>
            <a:r>
              <a:rPr sz="850">
                <a:solidFill>
                  <a:srgbClr val="6B7385"/>
                </a:solidFill>
                <a:latin typeface="Courier New"/>
              </a:rPr>
              <a:t> 5 </a:t>
            </a:r>
            <a:r>
              <a:rPr sz="850">
                <a:solidFill>
                  <a:srgbClr val="E6EAF0"/>
                </a:solidFill>
                <a:latin typeface="Courier New"/>
              </a:rPr>
              <a:t>    co = np.flatnonzero(y.notna().to_numpy())</a:t>
            </a:r>
          </a:p>
          <a:p>
            <a:r>
              <a:rPr sz="850">
                <a:solidFill>
                  <a:srgbClr val="6B7385"/>
                </a:solidFill>
                <a:latin typeface="Courier New"/>
              </a:rPr>
              <a:t> 6 </a:t>
            </a:r>
            <a:r>
              <a:rPr sz="850">
                <a:solidFill>
                  <a:srgbClr val="E6EAF0"/>
                </a:solidFill>
                <a:latin typeface="Courier New"/>
              </a:rPr>
              <a:t>    chon = rng.choice(co, size=int(len(co) * ty_le), replace=False)</a:t>
            </a:r>
          </a:p>
          <a:p>
            <a:r>
              <a:rPr sz="850">
                <a:solidFill>
                  <a:srgbClr val="6B7385"/>
                </a:solidFill>
                <a:latin typeface="Courier New"/>
              </a:rPr>
              <a:t> 7 </a:t>
            </a:r>
            <a:r>
              <a:rPr sz="850">
                <a:solidFill>
                  <a:srgbClr val="E6EAF0"/>
                </a:solidFill>
                <a:latin typeface="Courier New"/>
              </a:rPr>
              <a:t>    return y.mask(np.isin(np.arange(len(y)), chon))</a:t>
            </a:r>
          </a:p>
          <a:p>
            <a:r>
              <a:rPr sz="850">
                <a:solidFill>
                  <a:srgbClr val="6B7385"/>
                </a:solidFill>
                <a:latin typeface="Courier New"/>
              </a:rPr>
              <a:t> 8 </a:t>
            </a:r>
          </a:p>
          <a:p>
            <a:r>
              <a:rPr sz="850">
                <a:solidFill>
                  <a:srgbClr val="6B7385"/>
                </a:solidFill>
                <a:latin typeface="Courier New"/>
              </a:rPr>
              <a:t> 9 </a:t>
            </a:r>
            <a:r>
              <a:rPr sz="850">
                <a:solidFill>
                  <a:srgbClr val="E6EAF0"/>
                </a:solidFill>
                <a:latin typeface="Courier New"/>
              </a:rPr>
              <a:t>def che_khoi(y, so_buoc=96, so_khoi=5, seed=0):   </a:t>
            </a:r>
            <a:r>
              <a:rPr sz="850">
                <a:solidFill>
                  <a:srgbClr val="8FC99A"/>
                </a:solidFill>
                <a:latin typeface="Courier New"/>
              </a:rPr>
              <a:t># 5 khối 48 giờ</a:t>
            </a:r>
          </a:p>
          <a:p>
            <a:r>
              <a:rPr sz="850">
                <a:solidFill>
                  <a:srgbClr val="6B7385"/>
                </a:solidFill>
                <a:latin typeface="Courier New"/>
              </a:rPr>
              <a:t>10 </a:t>
            </a:r>
            <a:r>
              <a:rPr sz="850">
                <a:solidFill>
                  <a:srgbClr val="E6EAF0"/>
                </a:solidFill>
                <a:latin typeface="Courier New"/>
              </a:rPr>
              <a:t>    rng = np.random.default_rng(seed)</a:t>
            </a:r>
          </a:p>
          <a:p>
            <a:r>
              <a:rPr sz="850">
                <a:solidFill>
                  <a:srgbClr val="6B7385"/>
                </a:solidFill>
                <a:latin typeface="Courier New"/>
              </a:rPr>
              <a:t>11 </a:t>
            </a:r>
            <a:r>
              <a:rPr sz="850">
                <a:solidFill>
                  <a:srgbClr val="E6EAF0"/>
                </a:solidFill>
                <a:latin typeface="Courier New"/>
              </a:rPr>
              <a:t>    z = y.copy()</a:t>
            </a:r>
          </a:p>
          <a:p>
            <a:r>
              <a:rPr sz="850">
                <a:solidFill>
                  <a:srgbClr val="6B7385"/>
                </a:solidFill>
                <a:latin typeface="Courier New"/>
              </a:rPr>
              <a:t>12 </a:t>
            </a:r>
            <a:r>
              <a:rPr sz="850">
                <a:solidFill>
                  <a:srgbClr val="E6EAF0"/>
                </a:solidFill>
                <a:latin typeface="Courier New"/>
              </a:rPr>
              <a:t>    for _ in range(so_khoi):</a:t>
            </a:r>
          </a:p>
          <a:p>
            <a:r>
              <a:rPr sz="850">
                <a:solidFill>
                  <a:srgbClr val="6B7385"/>
                </a:solidFill>
                <a:latin typeface="Courier New"/>
              </a:rPr>
              <a:t>13 </a:t>
            </a:r>
            <a:r>
              <a:rPr sz="850">
                <a:solidFill>
                  <a:srgbClr val="E6EAF0"/>
                </a:solidFill>
                <a:latin typeface="Courier New"/>
              </a:rPr>
              <a:t>        dau = int(rng.integers(0, len(y) - so_buoc))</a:t>
            </a:r>
          </a:p>
          <a:p>
            <a:r>
              <a:rPr sz="850">
                <a:solidFill>
                  <a:srgbClr val="6B7385"/>
                </a:solidFill>
                <a:latin typeface="Courier New"/>
              </a:rPr>
              <a:t>14 </a:t>
            </a:r>
            <a:r>
              <a:rPr sz="850">
                <a:solidFill>
                  <a:srgbClr val="E6EAF0"/>
                </a:solidFill>
                <a:latin typeface="Courier New"/>
              </a:rPr>
              <a:t>        z.iloc[dau:dau + so_buoc] = np.nan</a:t>
            </a:r>
          </a:p>
          <a:p>
            <a:r>
              <a:rPr sz="850">
                <a:solidFill>
                  <a:srgbClr val="6B7385"/>
                </a:solidFill>
                <a:latin typeface="Courier New"/>
              </a:rPr>
              <a:t>15 </a:t>
            </a:r>
            <a:r>
              <a:rPr sz="850">
                <a:solidFill>
                  <a:srgbClr val="E6EAF0"/>
                </a:solidFill>
                <a:latin typeface="Courier New"/>
              </a:rPr>
              <a:t>    return z</a:t>
            </a:r>
          </a:p>
          <a:p>
            <a:r>
              <a:rPr sz="850">
                <a:solidFill>
                  <a:srgbClr val="6B7385"/>
                </a:solidFill>
                <a:latin typeface="Courier New"/>
              </a:rPr>
              <a:t>16 </a:t>
            </a:r>
            <a:r>
              <a:rPr sz="850">
                <a:solidFill>
                  <a:srgbClr val="E6EAF0"/>
                </a:solidFill>
                <a:latin typeface="Courier New"/>
              </a:rPr>
              <a:t>cham = lambda that, z, dien: (dien(z) - that)[z.isna()].abs().mean()</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buoi-10/tu-hoc.ipynb, phần 5</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3–7</a:t>
            </a:r>
          </a:p>
        </p:txBody>
      </p:sp>
      <p:sp>
        <p:nvSpPr>
          <p:cNvPr id="11" name="TextBox 10"/>
          <p:cNvSpPr txBox="1"/>
          <p:nvPr/>
        </p:nvSpPr>
        <p:spPr>
          <a:xfrm>
            <a:off x="1353312" y="4634357"/>
            <a:ext cx="2697480" cy="457200"/>
          </a:xfrm>
          <a:prstGeom prst="rect">
            <a:avLst/>
          </a:prstGeom>
          <a:noFill/>
        </p:spPr>
        <p:txBody>
          <a:bodyPr wrap="square" lIns="0" rIns="0" tIns="0" bIns="0" anchor="t">
            <a:spAutoFit/>
          </a:bodyPr>
          <a:lstStyle/>
          <a:p>
            <a:pPr algn="l"/>
            <a:r>
              <a:rPr sz="1050" b="0" i="0">
                <a:solidFill>
                  <a:srgbClr val="1B2A41"/>
                </a:solidFill>
                <a:latin typeface="Arial"/>
              </a:rPr>
              <a:t>Chọn ngẫu nhiên 10% ô có số rồi xoá.</a:t>
            </a:r>
          </a:p>
        </p:txBody>
      </p:sp>
      <p:sp>
        <p:nvSpPr>
          <p:cNvPr id="12" name="Rounded Rectangle 11"/>
          <p:cNvSpPr/>
          <p:nvPr/>
        </p:nvSpPr>
        <p:spPr>
          <a:xfrm>
            <a:off x="548640" y="51098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9–15</a:t>
            </a:r>
          </a:p>
        </p:txBody>
      </p:sp>
      <p:sp>
        <p:nvSpPr>
          <p:cNvPr id="13" name="TextBox 12"/>
          <p:cNvSpPr txBox="1"/>
          <p:nvPr/>
        </p:nvSpPr>
        <p:spPr>
          <a:xfrm>
            <a:off x="1353312" y="5091557"/>
            <a:ext cx="2697480" cy="457200"/>
          </a:xfrm>
          <a:prstGeom prst="rect">
            <a:avLst/>
          </a:prstGeom>
          <a:noFill/>
        </p:spPr>
        <p:txBody>
          <a:bodyPr wrap="square" lIns="0" rIns="0" tIns="0" bIns="0" anchor="t">
            <a:spAutoFit/>
          </a:bodyPr>
          <a:lstStyle/>
          <a:p>
            <a:pPr algn="l"/>
            <a:r>
              <a:rPr sz="1050" b="0" i="0">
                <a:solidFill>
                  <a:srgbClr val="1B2A41"/>
                </a:solidFill>
                <a:latin typeface="Arial"/>
              </a:rPr>
              <a:t>Xoá năm đoạn liền, mỗi đoạn 96 bước.</a:t>
            </a:r>
          </a:p>
        </p:txBody>
      </p:sp>
      <p:sp>
        <p:nvSpPr>
          <p:cNvPr id="14" name="Rounded Rectangle 13"/>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16</a:t>
            </a:r>
          </a:p>
        </p:txBody>
      </p:sp>
      <p:sp>
        <p:nvSpPr>
          <p:cNvPr id="15" name="TextBox 14"/>
          <p:cNvSpPr txBox="1"/>
          <p:nvPr/>
        </p:nvSpPr>
        <p:spPr>
          <a:xfrm>
            <a:off x="4965192" y="4634357"/>
            <a:ext cx="2697480" cy="457200"/>
          </a:xfrm>
          <a:prstGeom prst="rect">
            <a:avLst/>
          </a:prstGeom>
          <a:noFill/>
        </p:spPr>
        <p:txBody>
          <a:bodyPr wrap="square" lIns="0" rIns="0" tIns="0" bIns="0" anchor="t">
            <a:spAutoFit/>
          </a:bodyPr>
          <a:lstStyle/>
          <a:p>
            <a:pPr algn="l"/>
            <a:r>
              <a:rPr sz="1050" b="0" i="0">
                <a:solidFill>
                  <a:srgbClr val="1B2A41"/>
                </a:solidFill>
                <a:latin typeface="Arial"/>
              </a:rPr>
              <a:t>MAE chỉ tính trên những ô vừa bị che.</a:t>
            </a:r>
          </a:p>
        </p:txBody>
      </p:sp>
      <p:sp>
        <p:nvSpPr>
          <p:cNvPr id="16" name="Rounded Rectangle 15"/>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Tuyến tính hạng 1 ở lỗ ngắn (MAE 0,291 °C) nhưng hạng 5 ở lỗ 48 giờ (2,171); hàng xóm đi ngược lại, hạng 5 lên hạng 1.</a:t>
            </a:r>
          </a:p>
        </p:txBody>
      </p:sp>
      <p:sp>
        <p:nvSpPr>
          <p:cNvPr id="18" name="TextBox 17"/>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19" name="TextBox 18"/>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rng.choice</a:t>
            </a:r>
            <a:r>
              <a:rPr sz="950" b="1" i="0">
                <a:solidFill>
                  <a:srgbClr val="5B6778"/>
                </a:solidFill>
                <a:latin typeface="Arial"/>
              </a:rPr>
              <a:t>   numpy</a:t>
            </a:r>
          </a:p>
        </p:txBody>
      </p:sp>
      <p:sp>
        <p:nvSpPr>
          <p:cNvPr id="20" name="TextBox 19"/>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Rút ngẫu nhiên một số phần tử, replace=False để không trùng.</a:t>
            </a:r>
          </a:p>
        </p:txBody>
      </p:sp>
      <p:sp>
        <p:nvSpPr>
          <p:cNvPr id="21" name="TextBox 20"/>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rng.integers</a:t>
            </a:r>
            <a:r>
              <a:rPr sz="950" b="1" i="0">
                <a:solidFill>
                  <a:srgbClr val="5B6778"/>
                </a:solidFill>
                <a:latin typeface="Arial"/>
              </a:rPr>
              <a:t>   numpy</a:t>
            </a:r>
          </a:p>
        </p:txBody>
      </p:sp>
      <p:sp>
        <p:nvSpPr>
          <p:cNvPr id="22" name="TextBox 21"/>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Rút một số nguyên ngẫu nhiên trong khoảng cho trước.</a:t>
            </a:r>
          </a:p>
        </p:txBody>
      </p:sp>
      <p:sp>
        <p:nvSpPr>
          <p:cNvPr id="23" name="TextBox 22"/>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iloc[a:b]</a:t>
            </a:r>
            <a:r>
              <a:rPr sz="950" b="1" i="0">
                <a:solidFill>
                  <a:srgbClr val="5B6778"/>
                </a:solidFill>
                <a:latin typeface="Arial"/>
              </a:rPr>
              <a:t>   pandas</a:t>
            </a:r>
          </a:p>
        </p:txBody>
      </p:sp>
      <p:sp>
        <p:nvSpPr>
          <p:cNvPr id="24" name="TextBox 23"/>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Chọn các dòng theo vị trí từ a tới trước b.</a:t>
            </a:r>
          </a:p>
        </p:txBody>
      </p:sp>
      <p:pic>
        <p:nvPicPr>
          <p:cNvPr id="25" name="Picture 24" descr="kn-che-nhan-tao.png"/>
          <p:cNvPicPr>
            <a:picLocks noChangeAspect="1"/>
          </p:cNvPicPr>
          <p:nvPr/>
        </p:nvPicPr>
        <p:blipFill>
          <a:blip r:embed="rId2"/>
          <a:stretch>
            <a:fillRect/>
          </a:stretch>
        </p:blipFill>
        <p:spPr>
          <a:xfrm>
            <a:off x="7863840" y="4424755"/>
            <a:ext cx="3776472" cy="1711809"/>
          </a:xfrm>
          <a:prstGeom prst="rect">
            <a:avLst/>
          </a:prstGeom>
        </p:spPr>
      </p:pic>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chỉ điền lỗ ngắn, kiểm rò rỉ</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10</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Gói làm sạch thành hàm chỉ điền lỗ ngắn kèm cột cờ, rồi dùng máy kiểm có rò rỉ không.</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pandas as pd</a:t>
            </a:r>
          </a:p>
          <a:p>
            <a:r>
              <a:rPr sz="850">
                <a:solidFill>
                  <a:srgbClr val="6B7385"/>
                </a:solidFill>
                <a:latin typeface="Courier New"/>
              </a:rPr>
              <a:t> 2 </a:t>
            </a:r>
          </a:p>
          <a:p>
            <a:r>
              <a:rPr sz="850">
                <a:solidFill>
                  <a:srgbClr val="6B7385"/>
                </a:solidFill>
                <a:latin typeface="Courier New"/>
              </a:rPr>
              <a:t> 3 </a:t>
            </a:r>
            <a:r>
              <a:rPr sz="850">
                <a:solidFill>
                  <a:srgbClr val="E6EAF0"/>
                </a:solidFill>
                <a:latin typeface="Courier New"/>
              </a:rPr>
              <a:t>def lam_sach(v, nghi, gioi_han=6, cach=dien_mua_vu):</a:t>
            </a:r>
          </a:p>
          <a:p>
            <a:r>
              <a:rPr sz="850">
                <a:solidFill>
                  <a:srgbClr val="6B7385"/>
                </a:solidFill>
                <a:latin typeface="Courier New"/>
              </a:rPr>
              <a:t> 4 </a:t>
            </a:r>
            <a:r>
              <a:rPr sz="850">
                <a:solidFill>
                  <a:srgbClr val="E6EAF0"/>
                </a:solidFill>
                <a:latin typeface="Courier New"/>
              </a:rPr>
              <a:t>    sach = v.where(~nghi)                  </a:t>
            </a:r>
            <a:r>
              <a:rPr sz="850">
                <a:solidFill>
                  <a:srgbClr val="8FC99A"/>
                </a:solidFill>
                <a:latin typeface="Courier New"/>
              </a:rPr>
              <a:t># loại số nghi ngờ TRƯỚC</a:t>
            </a:r>
          </a:p>
          <a:p>
            <a:r>
              <a:rPr sz="850">
                <a:solidFill>
                  <a:srgbClr val="6B7385"/>
                </a:solidFill>
                <a:latin typeface="Courier New"/>
              </a:rPr>
              <a:t> 5 </a:t>
            </a:r>
            <a:r>
              <a:rPr sz="850">
                <a:solidFill>
                  <a:srgbClr val="E6EAF0"/>
                </a:solidFill>
                <a:latin typeface="Courier New"/>
              </a:rPr>
              <a:t>    thieu = sach.isna()</a:t>
            </a:r>
          </a:p>
          <a:p>
            <a:r>
              <a:rPr sz="850">
                <a:solidFill>
                  <a:srgbClr val="6B7385"/>
                </a:solidFill>
                <a:latin typeface="Courier New"/>
              </a:rPr>
              <a:t> 6 </a:t>
            </a:r>
            <a:r>
              <a:rPr sz="850">
                <a:solidFill>
                  <a:srgbClr val="E6EAF0"/>
                </a:solidFill>
                <a:latin typeface="Courier New"/>
              </a:rPr>
              <a:t>    nhom = (thieu != thieu.shift()).cumsum()</a:t>
            </a:r>
          </a:p>
          <a:p>
            <a:r>
              <a:rPr sz="850">
                <a:solidFill>
                  <a:srgbClr val="6B7385"/>
                </a:solidFill>
                <a:latin typeface="Courier New"/>
              </a:rPr>
              <a:t> 7 </a:t>
            </a:r>
            <a:r>
              <a:rPr sz="850">
                <a:solidFill>
                  <a:srgbClr val="E6EAF0"/>
                </a:solidFill>
                <a:latin typeface="Courier New"/>
              </a:rPr>
              <a:t>    do_dai = nhom.map(nhom[thieu].value_counts()).where(thieu, 0)</a:t>
            </a:r>
          </a:p>
          <a:p>
            <a:r>
              <a:rPr sz="850">
                <a:solidFill>
                  <a:srgbClr val="6B7385"/>
                </a:solidFill>
                <a:latin typeface="Courier New"/>
              </a:rPr>
              <a:t> 8 </a:t>
            </a:r>
            <a:r>
              <a:rPr sz="850">
                <a:solidFill>
                  <a:srgbClr val="E6EAF0"/>
                </a:solidFill>
                <a:latin typeface="Courier New"/>
              </a:rPr>
              <a:t>    dien_duoc = thieu &amp; (do_dai &lt;= gioi_han)    </a:t>
            </a:r>
            <a:r>
              <a:rPr sz="850">
                <a:solidFill>
                  <a:srgbClr val="8FC99A"/>
                </a:solidFill>
                <a:latin typeface="Courier New"/>
              </a:rPr>
              <a:t># chỉ lỗ tới 3 giờ</a:t>
            </a:r>
          </a:p>
          <a:p>
            <a:r>
              <a:rPr sz="850">
                <a:solidFill>
                  <a:srgbClr val="6B7385"/>
                </a:solidFill>
                <a:latin typeface="Courier New"/>
              </a:rPr>
              <a:t> 9 </a:t>
            </a:r>
            <a:r>
              <a:rPr sz="850">
                <a:solidFill>
                  <a:srgbClr val="E6EAF0"/>
                </a:solidFill>
                <a:latin typeface="Courier New"/>
              </a:rPr>
              <a:t>    kq = sach.where(~dien_duoc, cach(sach))     </a:t>
            </a:r>
            <a:r>
              <a:rPr sz="850">
                <a:solidFill>
                  <a:srgbClr val="8FC99A"/>
                </a:solidFill>
                <a:latin typeface="Courier New"/>
              </a:rPr>
              <a:t># mùa vụ: nhân quả</a:t>
            </a:r>
          </a:p>
          <a:p>
            <a:r>
              <a:rPr sz="850">
                <a:solidFill>
                  <a:srgbClr val="6B7385"/>
                </a:solidFill>
                <a:latin typeface="Courier New"/>
              </a:rPr>
              <a:t>10 </a:t>
            </a:r>
            <a:r>
              <a:rPr sz="850">
                <a:solidFill>
                  <a:srgbClr val="E6EAF0"/>
                </a:solidFill>
                <a:latin typeface="Courier New"/>
              </a:rPr>
              <a:t>    return pd.DataFrame({"y": kq, "da_dien": dien_duoc &amp; kq.notna()})</a:t>
            </a:r>
          </a:p>
          <a:p>
            <a:r>
              <a:rPr sz="850">
                <a:solidFill>
                  <a:srgbClr val="6B7385"/>
                </a:solidFill>
                <a:latin typeface="Courier New"/>
              </a:rPr>
              <a:t>11 </a:t>
            </a:r>
          </a:p>
          <a:p>
            <a:r>
              <a:rPr sz="850">
                <a:solidFill>
                  <a:srgbClr val="6B7385"/>
                </a:solidFill>
                <a:latin typeface="Courier New"/>
              </a:rPr>
              <a:t>12 </a:t>
            </a:r>
            <a:r>
              <a:rPr sz="850">
                <a:solidFill>
                  <a:srgbClr val="E6EAF0"/>
                </a:solidFill>
                <a:latin typeface="Courier New"/>
              </a:rPr>
              <a:t>def kiem_ro_ri(ham, bang, moc_cat):        </a:t>
            </a:r>
            <a:r>
              <a:rPr sz="850">
                <a:solidFill>
                  <a:srgbClr val="8FC99A"/>
                </a:solidFill>
                <a:latin typeface="Courier New"/>
              </a:rPr>
              <a:t># moc_cat nằm TRONG một lỗ</a:t>
            </a:r>
          </a:p>
          <a:p>
            <a:r>
              <a:rPr sz="850">
                <a:solidFill>
                  <a:srgbClr val="6B7385"/>
                </a:solidFill>
                <a:latin typeface="Courier New"/>
              </a:rPr>
              <a:t>13 </a:t>
            </a:r>
            <a:r>
              <a:rPr sz="850">
                <a:solidFill>
                  <a:srgbClr val="E6EAF0"/>
                </a:solidFill>
                <a:latin typeface="Courier New"/>
              </a:rPr>
              <a:t>    truoc = moc_cat - pd.Timedelta("30min")</a:t>
            </a:r>
          </a:p>
          <a:p>
            <a:r>
              <a:rPr sz="850">
                <a:solidFill>
                  <a:srgbClr val="6B7385"/>
                </a:solidFill>
                <a:latin typeface="Courier New"/>
              </a:rPr>
              <a:t>14 </a:t>
            </a:r>
            <a:r>
              <a:rPr sz="850">
                <a:solidFill>
                  <a:srgbClr val="E6EAF0"/>
                </a:solidFill>
                <a:latin typeface="Courier New"/>
              </a:rPr>
              <a:t>    day = ham(bang).loc[:truoc, "y"]</a:t>
            </a:r>
          </a:p>
          <a:p>
            <a:r>
              <a:rPr sz="850">
                <a:solidFill>
                  <a:srgbClr val="6B7385"/>
                </a:solidFill>
                <a:latin typeface="Courier New"/>
              </a:rPr>
              <a:t>15 </a:t>
            </a:r>
            <a:r>
              <a:rPr sz="850">
                <a:solidFill>
                  <a:srgbClr val="E6EAF0"/>
                </a:solidFill>
                <a:latin typeface="Courier New"/>
              </a:rPr>
              <a:t>    cat = ham(bang.loc[:truoc])["y"]</a:t>
            </a:r>
          </a:p>
          <a:p>
            <a:r>
              <a:rPr sz="850">
                <a:solidFill>
                  <a:srgbClr val="6B7385"/>
                </a:solidFill>
                <a:latin typeface="Courier New"/>
              </a:rPr>
              <a:t>16 </a:t>
            </a:r>
            <a:r>
              <a:rPr sz="850">
                <a:solidFill>
                  <a:srgbClr val="E6EAF0"/>
                </a:solidFill>
                <a:latin typeface="Courier New"/>
              </a:rPr>
              <a:t>    return (day - cat).abs().max() &gt; 1e-9  </a:t>
            </a:r>
            <a:r>
              <a:rPr sz="850">
                <a:solidFill>
                  <a:srgbClr val="8FC99A"/>
                </a:solidFill>
                <a:latin typeface="Courier New"/>
              </a:rPr>
              <a:t># True là có rò rỉ</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buoi-10/tu-hoc.ipynb, phần 6</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4</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Biến số nghi ngờ thành NaN trước tiên.</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5–7</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Đo lại độ dài lỗ cho từng ô thiếu.</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8–9</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Chỉ điền lỗ ngắn, lỗ dài để trống.</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10</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Xuất kèm cột cờ ô nào là số điền.</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12–16</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Làm sạch đủ và cắt, so phần trước mốc cắt.</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Nội Bài: 130 ô bị loại vì nghi ngờ, 198 ô được điền, 181 ô để trống. Điền mọi lỗ bằng tuyến tính bị bắt khi cắt trong lỗ.</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where(dieu_kien, khac)</a:t>
            </a:r>
            <a:r>
              <a:rPr sz="950" b="1" i="0">
                <a:solidFill>
                  <a:srgbClr val="5B6778"/>
                </a:solidFill>
                <a:latin typeface="Arial"/>
              </a:rPr>
              <a:t>   pandas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Giữ ô thoả điều kiện, ô còn lại lấy từ chuỗi khác.</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value_counts</a:t>
            </a:r>
            <a:r>
              <a:rPr sz="950" b="1" i="0">
                <a:solidFill>
                  <a:srgbClr val="5B6778"/>
                </a:solidFill>
                <a:latin typeface="Arial"/>
              </a:rPr>
              <a:t>   pandas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Đếm mỗi giá trị xuất hiện bao nhiêu lần, ở đây là cỡ mỗi lỗ.</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kiem_ro_ri</a:t>
            </a:r>
            <a:r>
              <a:rPr sz="950" b="1" i="0">
                <a:solidFill>
                  <a:srgbClr val="5B6778"/>
                </a:solidFill>
                <a:latin typeface="Arial"/>
              </a:rPr>
              <a:t>   tự viết</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So kết quả làm sạch trên dữ liệu đủ và dữ liệu cắt tại một mốc.</a:t>
            </a:r>
          </a:p>
        </p:txBody>
      </p:sp>
      <p:pic>
        <p:nvPicPr>
          <p:cNvPr id="29" name="Picture 28" descr="kn-nhan-qua-cach-dien.png"/>
          <p:cNvPicPr>
            <a:picLocks noChangeAspect="1"/>
          </p:cNvPicPr>
          <p:nvPr/>
        </p:nvPicPr>
        <p:blipFill>
          <a:blip r:embed="rId2"/>
          <a:stretch>
            <a:fillRect/>
          </a:stretch>
        </p:blipFill>
        <p:spPr>
          <a:xfrm>
            <a:off x="7863840" y="4327272"/>
            <a:ext cx="3776472" cy="1906774"/>
          </a:xfrm>
          <a:prstGeom prst="rect">
            <a:avLst/>
          </a:prstGeom>
        </p:spPr>
      </p:pic>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nhận loại bất thường</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11</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Bốn loại bất thường giống nhau ở mốc lạ; chỉ các điểm sau mốc đó mới tách được chúng.</a:t>
            </a:r>
          </a:p>
        </p:txBody>
      </p:sp>
      <p:sp>
        <p:nvSpPr>
          <p:cNvPr id="6" name="Rounded Rectangle 5"/>
          <p:cNvSpPr/>
          <p:nvPr/>
        </p:nvSpPr>
        <p:spPr>
          <a:xfrm>
            <a:off x="548640" y="1737360"/>
            <a:ext cx="7086600" cy="2313178"/>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1993138"/>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numpy as np</a:t>
            </a:r>
          </a:p>
          <a:p>
            <a:r>
              <a:rPr sz="950">
                <a:solidFill>
                  <a:srgbClr val="6B7385"/>
                </a:solidFill>
                <a:latin typeface="Courier New"/>
              </a:rPr>
              <a:t> 2 </a:t>
            </a:r>
            <a:r>
              <a:rPr sz="950">
                <a:solidFill>
                  <a:srgbClr val="E6EAF0"/>
                </a:solidFill>
                <a:latin typeface="Courier New"/>
              </a:rPr>
              <a:t>import pandas as pd</a:t>
            </a:r>
          </a:p>
          <a:p>
            <a:r>
              <a:rPr sz="950">
                <a:solidFill>
                  <a:srgbClr val="6B7385"/>
                </a:solidFill>
                <a:latin typeface="Courier New"/>
              </a:rPr>
              <a:t> 3 </a:t>
            </a:r>
          </a:p>
          <a:p>
            <a:r>
              <a:rPr sz="950">
                <a:solidFill>
                  <a:srgbClr val="6B7385"/>
                </a:solidFill>
                <a:latin typeface="Courier New"/>
              </a:rPr>
              <a:t> 4 </a:t>
            </a:r>
            <a:r>
              <a:rPr sz="950">
                <a:solidFill>
                  <a:srgbClr val="E6EAF0"/>
                </a:solidFill>
                <a:latin typeface="Courier New"/>
              </a:rPr>
              <a:t>bon = {"AO (điểm đơn)": [10, 10, 10, 25, 10, 10, 10, 10],</a:t>
            </a:r>
          </a:p>
          <a:p>
            <a:r>
              <a:rPr sz="950">
                <a:solidFill>
                  <a:srgbClr val="6B7385"/>
                </a:solidFill>
                <a:latin typeface="Courier New"/>
              </a:rPr>
              <a:t> 5 </a:t>
            </a:r>
            <a:r>
              <a:rPr sz="950">
                <a:solidFill>
                  <a:srgbClr val="E6EAF0"/>
                </a:solidFill>
                <a:latin typeface="Courier New"/>
              </a:rPr>
              <a:t>       "dịch mức": [10, 10, 10, 20, 20, 20, 20, 20],</a:t>
            </a:r>
          </a:p>
          <a:p>
            <a:r>
              <a:rPr sz="950">
                <a:solidFill>
                  <a:srgbClr val="6B7385"/>
                </a:solidFill>
                <a:latin typeface="Courier New"/>
              </a:rPr>
              <a:t> 6 </a:t>
            </a:r>
            <a:r>
              <a:rPr sz="950">
                <a:solidFill>
                  <a:srgbClr val="E6EAF0"/>
                </a:solidFill>
                <a:latin typeface="Courier New"/>
              </a:rPr>
              <a:t>       "thay đổi tạm": [10, 10, 10, 20, 15, 12, 11, 10],</a:t>
            </a:r>
          </a:p>
          <a:p>
            <a:r>
              <a:rPr sz="950">
                <a:solidFill>
                  <a:srgbClr val="6B7385"/>
                </a:solidFill>
                <a:latin typeface="Courier New"/>
              </a:rPr>
              <a:t> 7 </a:t>
            </a:r>
            <a:r>
              <a:rPr sz="950">
                <a:solidFill>
                  <a:srgbClr val="E6EAF0"/>
                </a:solidFill>
                <a:latin typeface="Courier New"/>
              </a:rPr>
              <a:t>       "đổi phương sai": [10, 10, 10, 14, 6, 13, 7, 14]}</a:t>
            </a:r>
          </a:p>
          <a:p>
            <a:r>
              <a:rPr sz="950">
                <a:solidFill>
                  <a:srgbClr val="6B7385"/>
                </a:solidFill>
                <a:latin typeface="Courier New"/>
              </a:rPr>
              <a:t> 8 </a:t>
            </a:r>
            <a:r>
              <a:rPr sz="950">
                <a:solidFill>
                  <a:srgbClr val="E6EAF0"/>
                </a:solidFill>
                <a:latin typeface="Courier New"/>
              </a:rPr>
              <a:t>bang = pd.DataFrame({ten: {</a:t>
            </a:r>
          </a:p>
          <a:p>
            <a:r>
              <a:rPr sz="950">
                <a:solidFill>
                  <a:srgbClr val="6B7385"/>
                </a:solidFill>
                <a:latin typeface="Courier New"/>
              </a:rPr>
              <a:t> 9 </a:t>
            </a:r>
            <a:r>
              <a:rPr sz="950">
                <a:solidFill>
                  <a:srgbClr val="E6EAF0"/>
                </a:solidFill>
                <a:latin typeface="Courier New"/>
              </a:rPr>
              <a:t>    "điểm 4": v[3],</a:t>
            </a:r>
          </a:p>
          <a:p>
            <a:r>
              <a:rPr sz="950">
                <a:solidFill>
                  <a:srgbClr val="6B7385"/>
                </a:solidFill>
                <a:latin typeface="Courier New"/>
              </a:rPr>
              <a:t>10 </a:t>
            </a:r>
            <a:r>
              <a:rPr sz="950">
                <a:solidFill>
                  <a:srgbClr val="E6EAF0"/>
                </a:solidFill>
                <a:latin typeface="Courier New"/>
              </a:rPr>
              <a:t>    "TB 4 điểm sau": np.mean(v[4:]),               </a:t>
            </a:r>
            <a:r>
              <a:rPr sz="950">
                <a:solidFill>
                  <a:srgbClr val="8FC99A"/>
                </a:solidFill>
                <a:latin typeface="Courier New"/>
              </a:rPr>
              <a:t># có ở lại không</a:t>
            </a:r>
          </a:p>
          <a:p>
            <a:r>
              <a:rPr sz="950">
                <a:solidFill>
                  <a:srgbClr val="6B7385"/>
                </a:solidFill>
                <a:latin typeface="Courier New"/>
              </a:rPr>
              <a:t>11 </a:t>
            </a:r>
            <a:r>
              <a:rPr sz="950">
                <a:solidFill>
                  <a:srgbClr val="E6EAF0"/>
                </a:solidFill>
                <a:latin typeface="Courier New"/>
              </a:rPr>
              <a:t>    "điểm cuối": v[-1],                            </a:t>
            </a:r>
            <a:r>
              <a:rPr sz="950">
                <a:solidFill>
                  <a:srgbClr val="8FC99A"/>
                </a:solidFill>
                <a:latin typeface="Courier New"/>
              </a:rPr>
              <a:t># có hồi về không</a:t>
            </a:r>
          </a:p>
          <a:p>
            <a:r>
              <a:rPr sz="950">
                <a:solidFill>
                  <a:srgbClr val="6B7385"/>
                </a:solidFill>
                <a:latin typeface="Courier New"/>
              </a:rPr>
              <a:t>12 </a:t>
            </a:r>
            <a:r>
              <a:rPr sz="950">
                <a:solidFill>
                  <a:srgbClr val="E6EAF0"/>
                </a:solidFill>
                <a:latin typeface="Courier New"/>
              </a:rPr>
              <a:t>    "độ lệch chuẩn sau": np.std(v[4:], ddof=1),    </a:t>
            </a:r>
            <a:r>
              <a:rPr sz="950">
                <a:solidFill>
                  <a:srgbClr val="8FC99A"/>
                </a:solidFill>
                <a:latin typeface="Courier New"/>
              </a:rPr>
              <a:t># có rung mạnh hơn</a:t>
            </a:r>
          </a:p>
          <a:p>
            <a:r>
              <a:rPr sz="950">
                <a:solidFill>
                  <a:srgbClr val="6B7385"/>
                </a:solidFill>
                <a:latin typeface="Courier New"/>
              </a:rPr>
              <a:t>13 </a:t>
            </a:r>
            <a:r>
              <a:rPr sz="950">
                <a:solidFill>
                  <a:srgbClr val="E6EAF0"/>
                </a:solidFill>
                <a:latin typeface="Courier New"/>
              </a:rPr>
              <a:t>} for ten, v in bon.items()}).T</a:t>
            </a:r>
          </a:p>
        </p:txBody>
      </p:sp>
      <p:sp>
        <p:nvSpPr>
          <p:cNvPr id="8" name="TextBox 7"/>
          <p:cNvSpPr txBox="1"/>
          <p:nvPr/>
        </p:nvSpPr>
        <p:spPr>
          <a:xfrm>
            <a:off x="685800" y="3803650"/>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buoi-11/tu-hoc.ipynb, phần 1</a:t>
            </a:r>
          </a:p>
        </p:txBody>
      </p:sp>
      <p:sp>
        <p:nvSpPr>
          <p:cNvPr id="9" name="TextBox 8"/>
          <p:cNvSpPr txBox="1"/>
          <p:nvPr/>
        </p:nvSpPr>
        <p:spPr>
          <a:xfrm>
            <a:off x="548640" y="4160266"/>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4803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4–7</a:t>
            </a:r>
          </a:p>
        </p:txBody>
      </p:sp>
      <p:sp>
        <p:nvSpPr>
          <p:cNvPr id="11" name="TextBox 10"/>
          <p:cNvSpPr txBox="1"/>
          <p:nvPr/>
        </p:nvSpPr>
        <p:spPr>
          <a:xfrm>
            <a:off x="1353312" y="4462018"/>
            <a:ext cx="2697480" cy="457200"/>
          </a:xfrm>
          <a:prstGeom prst="rect">
            <a:avLst/>
          </a:prstGeom>
          <a:noFill/>
        </p:spPr>
        <p:txBody>
          <a:bodyPr wrap="square" lIns="0" rIns="0" tIns="0" bIns="0" anchor="t">
            <a:spAutoFit/>
          </a:bodyPr>
          <a:lstStyle/>
          <a:p>
            <a:pPr algn="l"/>
            <a:r>
              <a:rPr sz="1050" b="0" i="0">
                <a:solidFill>
                  <a:srgbClr val="1B2A41"/>
                </a:solidFill>
                <a:latin typeface="Arial"/>
              </a:rPr>
              <a:t>Bốn chuỗi tám điểm, cùng mức nền 10.</a:t>
            </a:r>
          </a:p>
        </p:txBody>
      </p:sp>
      <p:sp>
        <p:nvSpPr>
          <p:cNvPr id="12" name="Rounded Rectangle 11"/>
          <p:cNvSpPr/>
          <p:nvPr/>
        </p:nvSpPr>
        <p:spPr>
          <a:xfrm>
            <a:off x="548640" y="49375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9</a:t>
            </a:r>
          </a:p>
        </p:txBody>
      </p:sp>
      <p:sp>
        <p:nvSpPr>
          <p:cNvPr id="13" name="TextBox 12"/>
          <p:cNvSpPr txBox="1"/>
          <p:nvPr/>
        </p:nvSpPr>
        <p:spPr>
          <a:xfrm>
            <a:off x="1353312" y="4919218"/>
            <a:ext cx="2697480" cy="457200"/>
          </a:xfrm>
          <a:prstGeom prst="rect">
            <a:avLst/>
          </a:prstGeom>
          <a:noFill/>
        </p:spPr>
        <p:txBody>
          <a:bodyPr wrap="square" lIns="0" rIns="0" tIns="0" bIns="0" anchor="t">
            <a:spAutoFit/>
          </a:bodyPr>
          <a:lstStyle/>
          <a:p>
            <a:pPr algn="l"/>
            <a:r>
              <a:rPr sz="1050" b="0" i="0">
                <a:solidFill>
                  <a:srgbClr val="1B2A41"/>
                </a:solidFill>
                <a:latin typeface="Arial"/>
              </a:rPr>
              <a:t>Riêng điểm lạ thì chưa phân biệt được.</a:t>
            </a:r>
          </a:p>
        </p:txBody>
      </p:sp>
      <p:sp>
        <p:nvSpPr>
          <p:cNvPr id="14" name="Rounded Rectangle 13"/>
          <p:cNvSpPr/>
          <p:nvPr/>
        </p:nvSpPr>
        <p:spPr>
          <a:xfrm>
            <a:off x="4160520" y="44803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10–12</a:t>
            </a:r>
          </a:p>
        </p:txBody>
      </p:sp>
      <p:sp>
        <p:nvSpPr>
          <p:cNvPr id="15" name="TextBox 14"/>
          <p:cNvSpPr txBox="1"/>
          <p:nvPr/>
        </p:nvSpPr>
        <p:spPr>
          <a:xfrm>
            <a:off x="4965192" y="4462018"/>
            <a:ext cx="2697480" cy="457200"/>
          </a:xfrm>
          <a:prstGeom prst="rect">
            <a:avLst/>
          </a:prstGeom>
          <a:noFill/>
        </p:spPr>
        <p:txBody>
          <a:bodyPr wrap="square" lIns="0" rIns="0" tIns="0" bIns="0" anchor="t">
            <a:spAutoFit/>
          </a:bodyPr>
          <a:lstStyle/>
          <a:p>
            <a:pPr algn="l"/>
            <a:r>
              <a:rPr sz="1050" b="0" i="0">
                <a:solidFill>
                  <a:srgbClr val="1B2A41"/>
                </a:solidFill>
                <a:latin typeface="Arial"/>
              </a:rPr>
              <a:t>Nhìn sau mốc lạ: ở lại, hồi về hay rung.</a:t>
            </a:r>
          </a:p>
        </p:txBody>
      </p:sp>
      <p:sp>
        <p:nvSpPr>
          <p:cNvPr id="16" name="Rounded Rectangle 15"/>
          <p:cNvSpPr/>
          <p:nvPr/>
        </p:nvSpPr>
        <p:spPr>
          <a:xfrm>
            <a:off x="4160520" y="49375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13</a:t>
            </a:r>
          </a:p>
        </p:txBody>
      </p:sp>
      <p:sp>
        <p:nvSpPr>
          <p:cNvPr id="17" name="TextBox 16"/>
          <p:cNvSpPr txBox="1"/>
          <p:nvPr/>
        </p:nvSpPr>
        <p:spPr>
          <a:xfrm>
            <a:off x="4965192" y="4919218"/>
            <a:ext cx="2697480" cy="457200"/>
          </a:xfrm>
          <a:prstGeom prst="rect">
            <a:avLst/>
          </a:prstGeom>
          <a:noFill/>
        </p:spPr>
        <p:txBody>
          <a:bodyPr wrap="square" lIns="0" rIns="0" tIns="0" bIns="0" anchor="t">
            <a:spAutoFit/>
          </a:bodyPr>
          <a:lstStyle/>
          <a:p>
            <a:pPr algn="l"/>
            <a:r>
              <a:rPr sz="1050" b="0" i="0">
                <a:solidFill>
                  <a:srgbClr val="1B2A41"/>
                </a:solidFill>
                <a:latin typeface="Arial"/>
              </a:rPr>
              <a:t>Làm một bảng, mỗi dòng một loại.</a:t>
            </a:r>
          </a:p>
        </p:txBody>
      </p:sp>
      <p:sp>
        <p:nvSpPr>
          <p:cNvPr id="18" name="Rounded Rectangle 17"/>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Điểm 4 không tách được ba loại đầu; bốn điểm sau thì tách: AO về 10, dịch mức ở lại 20, thay đổi tạm hồi dần. Đổi phương sai: độ lệch chuẩn 4,08.</a:t>
            </a:r>
          </a:p>
        </p:txBody>
      </p:sp>
      <p:sp>
        <p:nvSpPr>
          <p:cNvPr id="20" name="TextBox 19"/>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1" name="TextBox 20"/>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np.mean</a:t>
            </a:r>
            <a:r>
              <a:rPr sz="950" b="1" i="0">
                <a:solidFill>
                  <a:srgbClr val="5B6778"/>
                </a:solidFill>
                <a:latin typeface="Arial"/>
              </a:rPr>
              <a:t>   numpy</a:t>
            </a:r>
          </a:p>
        </p:txBody>
      </p:sp>
      <p:sp>
        <p:nvSpPr>
          <p:cNvPr id="22" name="TextBox 21"/>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Trung bình cộng các số.</a:t>
            </a:r>
          </a:p>
        </p:txBody>
      </p:sp>
      <p:sp>
        <p:nvSpPr>
          <p:cNvPr id="23" name="TextBox 22"/>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np.std(ddof=1)</a:t>
            </a:r>
            <a:r>
              <a:rPr sz="950" b="1" i="0">
                <a:solidFill>
                  <a:srgbClr val="5B6778"/>
                </a:solidFill>
                <a:latin typeface="Arial"/>
              </a:rPr>
              <a:t>   numpy</a:t>
            </a:r>
          </a:p>
        </p:txBody>
      </p:sp>
      <p:sp>
        <p:nvSpPr>
          <p:cNvPr id="24" name="TextBox 23"/>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Độ lệch chuẩn mẫu: số đo độ dao động quanh trung bình.</a:t>
            </a:r>
          </a:p>
        </p:txBody>
      </p:sp>
      <p:pic>
        <p:nvPicPr>
          <p:cNvPr id="25" name="Picture 24" descr="kn-ngoai-lai-outlier.png"/>
          <p:cNvPicPr>
            <a:picLocks noChangeAspect="1"/>
          </p:cNvPicPr>
          <p:nvPr/>
        </p:nvPicPr>
        <p:blipFill>
          <a:blip r:embed="rId2"/>
          <a:stretch>
            <a:fillRect/>
          </a:stretch>
        </p:blipFill>
        <p:spPr>
          <a:xfrm>
            <a:off x="7863840" y="4268896"/>
            <a:ext cx="3776472" cy="1365159"/>
          </a:xfrm>
          <a:prstGeom prst="rect">
            <a:avLst/>
          </a:prstGeom>
        </p:spPr>
      </p:pic>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ngưỡng 3σ bỏ sót ngoại lai</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11</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Thấy bằng số vì sao ngoại lai lớn kéo chính trung bình và độ lệch chuẩn dùng để bắt nó.</a:t>
            </a:r>
          </a:p>
        </p:txBody>
      </p:sp>
      <p:sp>
        <p:nvSpPr>
          <p:cNvPr id="6" name="Rounded Rectangle 5"/>
          <p:cNvSpPr/>
          <p:nvPr/>
        </p:nvSpPr>
        <p:spPr>
          <a:xfrm>
            <a:off x="548640" y="1737360"/>
            <a:ext cx="7086600" cy="2313178"/>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1993138"/>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numpy as np</a:t>
            </a:r>
          </a:p>
          <a:p>
            <a:r>
              <a:rPr sz="950">
                <a:solidFill>
                  <a:srgbClr val="6B7385"/>
                </a:solidFill>
                <a:latin typeface="Courier New"/>
              </a:rPr>
              <a:t> 2 </a:t>
            </a:r>
            <a:r>
              <a:rPr sz="950">
                <a:solidFill>
                  <a:srgbClr val="E6EAF0"/>
                </a:solidFill>
                <a:latin typeface="Courier New"/>
              </a:rPr>
              <a:t>import pandas as pd</a:t>
            </a:r>
          </a:p>
          <a:p>
            <a:r>
              <a:rPr sz="950">
                <a:solidFill>
                  <a:srgbClr val="6B7385"/>
                </a:solidFill>
                <a:latin typeface="Courier New"/>
              </a:rPr>
              <a:t> 3 </a:t>
            </a:r>
          </a:p>
          <a:p>
            <a:r>
              <a:rPr sz="950">
                <a:solidFill>
                  <a:srgbClr val="6B7385"/>
                </a:solidFill>
                <a:latin typeface="Courier New"/>
              </a:rPr>
              <a:t> 4 </a:t>
            </a:r>
            <a:r>
              <a:rPr sz="950">
                <a:solidFill>
                  <a:srgbClr val="E6EAF0"/>
                </a:solidFill>
                <a:latin typeface="Courier New"/>
              </a:rPr>
              <a:t>def z_score(y, nguong=3.0):</a:t>
            </a:r>
          </a:p>
          <a:p>
            <a:r>
              <a:rPr sz="950">
                <a:solidFill>
                  <a:srgbClr val="6B7385"/>
                </a:solidFill>
                <a:latin typeface="Courier New"/>
              </a:rPr>
              <a:t> 5 </a:t>
            </a:r>
            <a:r>
              <a:rPr sz="950">
                <a:solidFill>
                  <a:srgbClr val="E6EAF0"/>
                </a:solidFill>
                <a:latin typeface="Courier New"/>
              </a:rPr>
              <a:t>    return ((y - y.mean()) / y.std()).abs() &gt; nguong</a:t>
            </a:r>
          </a:p>
          <a:p>
            <a:r>
              <a:rPr sz="950">
                <a:solidFill>
                  <a:srgbClr val="6B7385"/>
                </a:solidFill>
                <a:latin typeface="Courier New"/>
              </a:rPr>
              <a:t> 6 </a:t>
            </a:r>
          </a:p>
          <a:p>
            <a:r>
              <a:rPr sz="950">
                <a:solidFill>
                  <a:srgbClr val="6B7385"/>
                </a:solidFill>
                <a:latin typeface="Courier New"/>
              </a:rPr>
              <a:t> 7 </a:t>
            </a:r>
            <a:r>
              <a:rPr sz="950">
                <a:solidFill>
                  <a:srgbClr val="E6EAF0"/>
                </a:solidFill>
                <a:latin typeface="Courier New"/>
              </a:rPr>
              <a:t>mot = np.array([10, 12, 11, 13, 12, 50, 11, 12, 13, 12.0])</a:t>
            </a:r>
          </a:p>
          <a:p>
            <a:r>
              <a:rPr sz="950">
                <a:solidFill>
                  <a:srgbClr val="6B7385"/>
                </a:solidFill>
                <a:latin typeface="Courier New"/>
              </a:rPr>
              <a:t> 8 </a:t>
            </a:r>
            <a:r>
              <a:rPr sz="950">
                <a:solidFill>
                  <a:srgbClr val="E6EAF0"/>
                </a:solidFill>
                <a:latin typeface="Courier New"/>
              </a:rPr>
              <a:t>z = (mot - mot.mean()) / mot.std(ddof=1)     </a:t>
            </a:r>
            <a:r>
              <a:rPr sz="950">
                <a:solidFill>
                  <a:srgbClr val="8FC99A"/>
                </a:solidFill>
                <a:latin typeface="Courier New"/>
              </a:rPr>
              <a:t># z của số 50</a:t>
            </a:r>
          </a:p>
          <a:p>
            <a:r>
              <a:rPr sz="950">
                <a:solidFill>
                  <a:srgbClr val="6B7385"/>
                </a:solidFill>
                <a:latin typeface="Courier New"/>
              </a:rPr>
              <a:t> 9 </a:t>
            </a:r>
            <a:r>
              <a:rPr sz="950">
                <a:solidFill>
                  <a:srgbClr val="E6EAF0"/>
                </a:solidFill>
                <a:latin typeface="Courier New"/>
              </a:rPr>
              <a:t>tran = (mot.size - 1) / np.sqrt(mot.size)   </a:t>
            </a:r>
            <a:r>
              <a:rPr sz="950">
                <a:solidFill>
                  <a:srgbClr val="8FC99A"/>
                </a:solidFill>
                <a:latin typeface="Courier New"/>
              </a:rPr>
              <a:t># trần của |z| khi n = 10</a:t>
            </a:r>
          </a:p>
          <a:p>
            <a:r>
              <a:rPr sz="950">
                <a:solidFill>
                  <a:srgbClr val="6B7385"/>
                </a:solidFill>
                <a:latin typeface="Courier New"/>
              </a:rPr>
              <a:t>10 </a:t>
            </a:r>
          </a:p>
          <a:p>
            <a:r>
              <a:rPr sz="950">
                <a:solidFill>
                  <a:srgbClr val="6B7385"/>
                </a:solidFill>
                <a:latin typeface="Courier New"/>
              </a:rPr>
              <a:t>11 </a:t>
            </a:r>
            <a:r>
              <a:rPr sz="950">
                <a:solidFill>
                  <a:srgbClr val="E6EAF0"/>
                </a:solidFill>
                <a:latin typeface="Courier New"/>
              </a:rPr>
              <a:t>them = tong.copy()                          </a:t>
            </a:r>
            <a:r>
              <a:rPr sz="950">
                <a:solidFill>
                  <a:srgbClr val="8FC99A"/>
                </a:solidFill>
                <a:latin typeface="Courier New"/>
              </a:rPr>
              <a:t># tong: lượt xem Wikipedia</a:t>
            </a:r>
          </a:p>
          <a:p>
            <a:r>
              <a:rPr sz="950">
                <a:solidFill>
                  <a:srgbClr val="6B7385"/>
                </a:solidFill>
                <a:latin typeface="Courier New"/>
              </a:rPr>
              <a:t>12 </a:t>
            </a:r>
            <a:r>
              <a:rPr sz="950">
                <a:solidFill>
                  <a:srgbClr val="E6EAF0"/>
                </a:solidFill>
                <a:latin typeface="Courier New"/>
              </a:rPr>
              <a:t>them.iloc[len(tong) // 2] = tong.max() * 8  </a:t>
            </a:r>
            <a:r>
              <a:rPr sz="950">
                <a:solidFill>
                  <a:srgbClr val="8FC99A"/>
                </a:solidFill>
                <a:latin typeface="Courier New"/>
              </a:rPr>
              <a:t># thêm một ngày giả</a:t>
            </a:r>
          </a:p>
          <a:p>
            <a:r>
              <a:rPr sz="950">
                <a:solidFill>
                  <a:srgbClr val="6B7385"/>
                </a:solidFill>
                <a:latin typeface="Courier New"/>
              </a:rPr>
              <a:t>13 </a:t>
            </a:r>
            <a:r>
              <a:rPr sz="950">
                <a:solidFill>
                  <a:srgbClr val="E6EAF0"/>
                </a:solidFill>
                <a:latin typeface="Courier New"/>
              </a:rPr>
              <a:t>z_score(tong).sum(), z_score(them).sum()    </a:t>
            </a:r>
            <a:r>
              <a:rPr sz="950">
                <a:solidFill>
                  <a:srgbClr val="8FC99A"/>
                </a:solidFill>
                <a:latin typeface="Courier New"/>
              </a:rPr>
              <a:t># số ngày bị gắn cờ</a:t>
            </a:r>
          </a:p>
        </p:txBody>
      </p:sp>
      <p:sp>
        <p:nvSpPr>
          <p:cNvPr id="8" name="TextBox 7"/>
          <p:cNvSpPr txBox="1"/>
          <p:nvPr/>
        </p:nvSpPr>
        <p:spPr>
          <a:xfrm>
            <a:off x="685800" y="3803650"/>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buoi-11/tu-hoc.ipynb, phần 2</a:t>
            </a:r>
          </a:p>
        </p:txBody>
      </p:sp>
      <p:sp>
        <p:nvSpPr>
          <p:cNvPr id="9" name="TextBox 8"/>
          <p:cNvSpPr txBox="1"/>
          <p:nvPr/>
        </p:nvSpPr>
        <p:spPr>
          <a:xfrm>
            <a:off x="548640" y="4160266"/>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4803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4–5</a:t>
            </a:r>
          </a:p>
        </p:txBody>
      </p:sp>
      <p:sp>
        <p:nvSpPr>
          <p:cNvPr id="11" name="TextBox 10"/>
          <p:cNvSpPr txBox="1"/>
          <p:nvPr/>
        </p:nvSpPr>
        <p:spPr>
          <a:xfrm>
            <a:off x="1353312" y="4462018"/>
            <a:ext cx="2697480" cy="457200"/>
          </a:xfrm>
          <a:prstGeom prst="rect">
            <a:avLst/>
          </a:prstGeom>
          <a:noFill/>
        </p:spPr>
        <p:txBody>
          <a:bodyPr wrap="square" lIns="0" rIns="0" tIns="0" bIns="0" anchor="t">
            <a:spAutoFit/>
          </a:bodyPr>
          <a:lstStyle/>
          <a:p>
            <a:pPr algn="l"/>
            <a:r>
              <a:rPr sz="1050" b="0" i="0">
                <a:solidFill>
                  <a:srgbClr val="1B2A41"/>
                </a:solidFill>
                <a:latin typeface="Arial"/>
              </a:rPr>
              <a:t>Gắn cờ khi cách trung bình quá 3σ.</a:t>
            </a:r>
          </a:p>
        </p:txBody>
      </p:sp>
      <p:sp>
        <p:nvSpPr>
          <p:cNvPr id="12" name="Rounded Rectangle 11"/>
          <p:cNvSpPr/>
          <p:nvPr/>
        </p:nvSpPr>
        <p:spPr>
          <a:xfrm>
            <a:off x="548640" y="49375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7–8</a:t>
            </a:r>
          </a:p>
        </p:txBody>
      </p:sp>
      <p:sp>
        <p:nvSpPr>
          <p:cNvPr id="13" name="TextBox 12"/>
          <p:cNvSpPr txBox="1"/>
          <p:nvPr/>
        </p:nvSpPr>
        <p:spPr>
          <a:xfrm>
            <a:off x="1353312" y="4919218"/>
            <a:ext cx="2697480" cy="457200"/>
          </a:xfrm>
          <a:prstGeom prst="rect">
            <a:avLst/>
          </a:prstGeom>
          <a:noFill/>
        </p:spPr>
        <p:txBody>
          <a:bodyPr wrap="square" lIns="0" rIns="0" tIns="0" bIns="0" anchor="t">
            <a:spAutoFit/>
          </a:bodyPr>
          <a:lstStyle/>
          <a:p>
            <a:pPr algn="l"/>
            <a:r>
              <a:rPr sz="1050" b="0" i="0">
                <a:solidFill>
                  <a:srgbClr val="1B2A41"/>
                </a:solidFill>
                <a:latin typeface="Arial"/>
              </a:rPr>
              <a:t>Mười số có một ngoại lai 50.</a:t>
            </a:r>
          </a:p>
        </p:txBody>
      </p:sp>
      <p:sp>
        <p:nvSpPr>
          <p:cNvPr id="14" name="Rounded Rectangle 13"/>
          <p:cNvSpPr/>
          <p:nvPr/>
        </p:nvSpPr>
        <p:spPr>
          <a:xfrm>
            <a:off x="4160520" y="44803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9</a:t>
            </a:r>
          </a:p>
        </p:txBody>
      </p:sp>
      <p:sp>
        <p:nvSpPr>
          <p:cNvPr id="15" name="TextBox 14"/>
          <p:cNvSpPr txBox="1"/>
          <p:nvPr/>
        </p:nvSpPr>
        <p:spPr>
          <a:xfrm>
            <a:off x="4965192" y="4462018"/>
            <a:ext cx="2697480" cy="457200"/>
          </a:xfrm>
          <a:prstGeom prst="rect">
            <a:avLst/>
          </a:prstGeom>
          <a:noFill/>
        </p:spPr>
        <p:txBody>
          <a:bodyPr wrap="square" lIns="0" rIns="0" tIns="0" bIns="0" anchor="t">
            <a:spAutoFit/>
          </a:bodyPr>
          <a:lstStyle/>
          <a:p>
            <a:pPr algn="l"/>
            <a:r>
              <a:rPr sz="1050" b="0" i="0">
                <a:solidFill>
                  <a:srgbClr val="1B2A41"/>
                </a:solidFill>
                <a:latin typeface="Arial"/>
              </a:rPr>
              <a:t>Mười số thì |z| không bao giờ vượt 2,85.</a:t>
            </a:r>
          </a:p>
        </p:txBody>
      </p:sp>
      <p:sp>
        <p:nvSpPr>
          <p:cNvPr id="16" name="Rounded Rectangle 15"/>
          <p:cNvSpPr/>
          <p:nvPr/>
        </p:nvSpPr>
        <p:spPr>
          <a:xfrm>
            <a:off x="4160520" y="49375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11–13</a:t>
            </a:r>
          </a:p>
        </p:txBody>
      </p:sp>
      <p:sp>
        <p:nvSpPr>
          <p:cNvPr id="17" name="TextBox 16"/>
          <p:cNvSpPr txBox="1"/>
          <p:nvPr/>
        </p:nvSpPr>
        <p:spPr>
          <a:xfrm>
            <a:off x="4965192" y="4919218"/>
            <a:ext cx="2697480" cy="457200"/>
          </a:xfrm>
          <a:prstGeom prst="rect">
            <a:avLst/>
          </a:prstGeom>
          <a:noFill/>
        </p:spPr>
        <p:txBody>
          <a:bodyPr wrap="square" lIns="0" rIns="0" tIns="0" bIns="0" anchor="t">
            <a:spAutoFit/>
          </a:bodyPr>
          <a:lstStyle/>
          <a:p>
            <a:pPr algn="l"/>
            <a:r>
              <a:rPr sz="1050" b="0" i="0">
                <a:solidFill>
                  <a:srgbClr val="1B2A41"/>
                </a:solidFill>
                <a:latin typeface="Arial"/>
              </a:rPr>
              <a:t>Thêm một ngày giả rồi đếm lại số cờ.</a:t>
            </a:r>
          </a:p>
        </p:txBody>
      </p:sp>
      <p:sp>
        <p:nvSpPr>
          <p:cNvPr id="18" name="Rounded Rectangle 17"/>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z của 50 chỉ 2,84, dưới trần 2,85 nên không bị bắt. Wikipedia: thêm một ngày giả, số ngày bị gắn cờ tụt từ 16 xuống 5.</a:t>
            </a:r>
          </a:p>
        </p:txBody>
      </p:sp>
      <p:sp>
        <p:nvSpPr>
          <p:cNvPr id="20" name="TextBox 19"/>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1" name="TextBox 20"/>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y.mean(), y.std()</a:t>
            </a:r>
            <a:r>
              <a:rPr sz="950" b="1" i="0">
                <a:solidFill>
                  <a:srgbClr val="5B6778"/>
                </a:solidFill>
                <a:latin typeface="Arial"/>
              </a:rPr>
              <a:t>   pandas</a:t>
            </a:r>
          </a:p>
        </p:txBody>
      </p:sp>
      <p:sp>
        <p:nvSpPr>
          <p:cNvPr id="22" name="TextBox 21"/>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Trung bình và độ lệch chuẩn của cả chuỗi, ngoại lai kéo được cả hai.</a:t>
            </a:r>
          </a:p>
        </p:txBody>
      </p:sp>
      <p:sp>
        <p:nvSpPr>
          <p:cNvPr id="23" name="TextBox 22"/>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np.sqrt</a:t>
            </a:r>
            <a:r>
              <a:rPr sz="950" b="1" i="0">
                <a:solidFill>
                  <a:srgbClr val="5B6778"/>
                </a:solidFill>
                <a:latin typeface="Arial"/>
              </a:rPr>
              <a:t>   numpy</a:t>
            </a:r>
          </a:p>
        </p:txBody>
      </p:sp>
      <p:sp>
        <p:nvSpPr>
          <p:cNvPr id="24" name="TextBox 23"/>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Căn bậc hai.</a:t>
            </a:r>
          </a:p>
        </p:txBody>
      </p:sp>
      <p:sp>
        <p:nvSpPr>
          <p:cNvPr id="25" name="Rounded Rectangle 24"/>
          <p:cNvSpPr/>
          <p:nvPr/>
        </p:nvSpPr>
        <p:spPr>
          <a:xfrm>
            <a:off x="7863840" y="3401567"/>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748c2105843c.png"/>
          <p:cNvPicPr>
            <a:picLocks noChangeAspect="1"/>
          </p:cNvPicPr>
          <p:nvPr/>
        </p:nvPicPr>
        <p:blipFill>
          <a:blip r:embed="rId2"/>
          <a:stretch>
            <a:fillRect/>
          </a:stretch>
        </p:blipFill>
        <p:spPr>
          <a:xfrm>
            <a:off x="9308592" y="3531107"/>
            <a:ext cx="886968" cy="289560"/>
          </a:xfrm>
          <a:prstGeom prst="rect">
            <a:avLst/>
          </a:prstGeom>
        </p:spPr>
      </p:pic>
      <p:pic>
        <p:nvPicPr>
          <p:cNvPr id="27" name="Picture 26" descr="masking-10-so.png"/>
          <p:cNvPicPr>
            <a:picLocks noChangeAspect="1"/>
          </p:cNvPicPr>
          <p:nvPr/>
        </p:nvPicPr>
        <p:blipFill>
          <a:blip r:embed="rId3"/>
          <a:stretch>
            <a:fillRect/>
          </a:stretch>
        </p:blipFill>
        <p:spPr>
          <a:xfrm>
            <a:off x="7863840" y="4635185"/>
            <a:ext cx="3776472" cy="1290949"/>
          </a:xfrm>
          <a:prstGeom prst="rect">
            <a:avLst/>
          </a:prstGeom>
        </p:spPr>
      </p:pic>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MAD và bộ lọc Hampel</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11</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Đổi trung bình thành trung vị để ngoại lai không kéo được thước đo, rồi trượt theo cửa sổ.</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import pandas as pd</a:t>
            </a:r>
          </a:p>
          <a:p>
            <a:r>
              <a:rPr sz="850">
                <a:solidFill>
                  <a:srgbClr val="6B7385"/>
                </a:solidFill>
                <a:latin typeface="Courier New"/>
              </a:rPr>
              <a:t> 3 </a:t>
            </a:r>
          </a:p>
          <a:p>
            <a:r>
              <a:rPr sz="850">
                <a:solidFill>
                  <a:srgbClr val="6B7385"/>
                </a:solidFill>
                <a:latin typeface="Courier New"/>
              </a:rPr>
              <a:t> 4 </a:t>
            </a:r>
            <a:r>
              <a:rPr sz="850">
                <a:solidFill>
                  <a:srgbClr val="E6EAF0"/>
                </a:solidFill>
                <a:latin typeface="Courier New"/>
              </a:rPr>
              <a:t>HE_SO_MAD = 1.4826             </a:t>
            </a:r>
            <a:r>
              <a:rPr sz="850">
                <a:solidFill>
                  <a:srgbClr val="8FC99A"/>
                </a:solidFill>
                <a:latin typeface="Courier New"/>
              </a:rPr>
              <a:t># đưa MAD về thang độ lệch chuẩn</a:t>
            </a:r>
          </a:p>
          <a:p>
            <a:r>
              <a:rPr sz="850">
                <a:solidFill>
                  <a:srgbClr val="6B7385"/>
                </a:solidFill>
                <a:latin typeface="Courier New"/>
              </a:rPr>
              <a:t> 5 </a:t>
            </a:r>
          </a:p>
          <a:p>
            <a:r>
              <a:rPr sz="850">
                <a:solidFill>
                  <a:srgbClr val="6B7385"/>
                </a:solidFill>
                <a:latin typeface="Courier New"/>
              </a:rPr>
              <a:t> 6 </a:t>
            </a:r>
            <a:r>
              <a:rPr sz="850">
                <a:solidFill>
                  <a:srgbClr val="E6EAF0"/>
                </a:solidFill>
                <a:latin typeface="Courier New"/>
              </a:rPr>
              <a:t>def mad_score(y):</a:t>
            </a:r>
          </a:p>
          <a:p>
            <a:r>
              <a:rPr sz="850">
                <a:solidFill>
                  <a:srgbClr val="6B7385"/>
                </a:solidFill>
                <a:latin typeface="Courier New"/>
              </a:rPr>
              <a:t> 7 </a:t>
            </a:r>
            <a:r>
              <a:rPr sz="850">
                <a:solidFill>
                  <a:srgbClr val="E6EAF0"/>
                </a:solidFill>
                <a:latin typeface="Courier New"/>
              </a:rPr>
              <a:t>    tv = y.median()</a:t>
            </a:r>
          </a:p>
          <a:p>
            <a:r>
              <a:rPr sz="850">
                <a:solidFill>
                  <a:srgbClr val="6B7385"/>
                </a:solidFill>
                <a:latin typeface="Courier New"/>
              </a:rPr>
              <a:t> 8 </a:t>
            </a:r>
            <a:r>
              <a:rPr sz="850">
                <a:solidFill>
                  <a:srgbClr val="E6EAF0"/>
                </a:solidFill>
                <a:latin typeface="Courier New"/>
              </a:rPr>
              <a:t>    mad = (y - tv).abs().median()</a:t>
            </a:r>
          </a:p>
          <a:p>
            <a:r>
              <a:rPr sz="850">
                <a:solidFill>
                  <a:srgbClr val="6B7385"/>
                </a:solidFill>
                <a:latin typeface="Courier New"/>
              </a:rPr>
              <a:t> 9 </a:t>
            </a:r>
            <a:r>
              <a:rPr sz="850">
                <a:solidFill>
                  <a:srgbClr val="E6EAF0"/>
                </a:solidFill>
                <a:latin typeface="Courier New"/>
              </a:rPr>
              <a:t>    return (y - tv).abs() / (HE_SO_MAD * mad)</a:t>
            </a:r>
          </a:p>
          <a:p>
            <a:r>
              <a:rPr sz="850">
                <a:solidFill>
                  <a:srgbClr val="6B7385"/>
                </a:solidFill>
                <a:latin typeface="Courier New"/>
              </a:rPr>
              <a:t>10 </a:t>
            </a:r>
          </a:p>
          <a:p>
            <a:r>
              <a:rPr sz="850">
                <a:solidFill>
                  <a:srgbClr val="6B7385"/>
                </a:solidFill>
                <a:latin typeface="Courier New"/>
              </a:rPr>
              <a:t>11 </a:t>
            </a:r>
            <a:r>
              <a:rPr sz="850">
                <a:solidFill>
                  <a:srgbClr val="E6EAF0"/>
                </a:solidFill>
                <a:latin typeface="Courier New"/>
              </a:rPr>
              <a:t>def hampel(y, cua_so=15, nguong=3.0):     </a:t>
            </a:r>
            <a:r>
              <a:rPr sz="850">
                <a:solidFill>
                  <a:srgbClr val="8FC99A"/>
                </a:solidFill>
                <a:latin typeface="Courier New"/>
              </a:rPr>
              <a:t># cửa sổ ±15 ngày quanh điểm</a:t>
            </a:r>
          </a:p>
          <a:p>
            <a:r>
              <a:rPr sz="850">
                <a:solidFill>
                  <a:srgbClr val="6B7385"/>
                </a:solidFill>
                <a:latin typeface="Courier New"/>
              </a:rPr>
              <a:t>12 </a:t>
            </a:r>
            <a:r>
              <a:rPr sz="850">
                <a:solidFill>
                  <a:srgbClr val="E6EAF0"/>
                </a:solidFill>
                <a:latin typeface="Courier New"/>
              </a:rPr>
              <a:t>    k = 2 * cua_so + 1</a:t>
            </a:r>
          </a:p>
          <a:p>
            <a:r>
              <a:rPr sz="850">
                <a:solidFill>
                  <a:srgbClr val="6B7385"/>
                </a:solidFill>
                <a:latin typeface="Courier New"/>
              </a:rPr>
              <a:t>13 </a:t>
            </a:r>
            <a:r>
              <a:rPr sz="850">
                <a:solidFill>
                  <a:srgbClr val="E6EAF0"/>
                </a:solidFill>
                <a:latin typeface="Courier New"/>
              </a:rPr>
              <a:t>    tv = y.rolling(k, center=True, min_periods=cua_so).median()</a:t>
            </a:r>
          </a:p>
          <a:p>
            <a:r>
              <a:rPr sz="850">
                <a:solidFill>
                  <a:srgbClr val="6B7385"/>
                </a:solidFill>
                <a:latin typeface="Courier New"/>
              </a:rPr>
              <a:t>14 </a:t>
            </a:r>
            <a:r>
              <a:rPr sz="850">
                <a:solidFill>
                  <a:srgbClr val="E6EAF0"/>
                </a:solidFill>
                <a:latin typeface="Courier New"/>
              </a:rPr>
              <a:t>    mad = (y - tv).abs().rolling(k, center=True, min_periods=cua_so).median()</a:t>
            </a:r>
          </a:p>
          <a:p>
            <a:r>
              <a:rPr sz="850">
                <a:solidFill>
                  <a:srgbClr val="6B7385"/>
                </a:solidFill>
                <a:latin typeface="Courier New"/>
              </a:rPr>
              <a:t>15 </a:t>
            </a:r>
            <a:r>
              <a:rPr sz="850">
                <a:solidFill>
                  <a:srgbClr val="E6EAF0"/>
                </a:solidFill>
                <a:latin typeface="Courier New"/>
              </a:rPr>
              <a:t>    diem = (y - tv).abs() / (HE_SO_MAD * mad.replace(0, np.nan))</a:t>
            </a:r>
          </a:p>
          <a:p>
            <a:r>
              <a:rPr sz="850">
                <a:solidFill>
                  <a:srgbClr val="6B7385"/>
                </a:solidFill>
                <a:latin typeface="Courier New"/>
              </a:rPr>
              <a:t>16 </a:t>
            </a:r>
            <a:r>
              <a:rPr sz="850">
                <a:solidFill>
                  <a:srgbClr val="E6EAF0"/>
                </a:solidFill>
                <a:latin typeface="Courier New"/>
              </a:rPr>
              <a:t>    return diem.fillna(0) &gt; nguong</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buoi-11/tu-hoc.ipynb, phần 3</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6–9</a:t>
            </a:r>
          </a:p>
        </p:txBody>
      </p:sp>
      <p:sp>
        <p:nvSpPr>
          <p:cNvPr id="11" name="TextBox 10"/>
          <p:cNvSpPr txBox="1"/>
          <p:nvPr/>
        </p:nvSpPr>
        <p:spPr>
          <a:xfrm>
            <a:off x="1353312" y="4634357"/>
            <a:ext cx="2697480" cy="457200"/>
          </a:xfrm>
          <a:prstGeom prst="rect">
            <a:avLst/>
          </a:prstGeom>
          <a:noFill/>
        </p:spPr>
        <p:txBody>
          <a:bodyPr wrap="square" lIns="0" rIns="0" tIns="0" bIns="0" anchor="t">
            <a:spAutoFit/>
          </a:bodyPr>
          <a:lstStyle/>
          <a:p>
            <a:pPr algn="l"/>
            <a:r>
              <a:rPr sz="1050" b="0" i="0">
                <a:solidFill>
                  <a:srgbClr val="1B2A41"/>
                </a:solidFill>
                <a:latin typeface="Arial"/>
              </a:rPr>
              <a:t>Khoảng cách tới trung vị, chia cho MAD.</a:t>
            </a:r>
          </a:p>
        </p:txBody>
      </p:sp>
      <p:sp>
        <p:nvSpPr>
          <p:cNvPr id="12" name="Rounded Rectangle 11"/>
          <p:cNvSpPr/>
          <p:nvPr/>
        </p:nvSpPr>
        <p:spPr>
          <a:xfrm>
            <a:off x="548640" y="51098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11–13</a:t>
            </a:r>
          </a:p>
        </p:txBody>
      </p:sp>
      <p:sp>
        <p:nvSpPr>
          <p:cNvPr id="13" name="TextBox 12"/>
          <p:cNvSpPr txBox="1"/>
          <p:nvPr/>
        </p:nvSpPr>
        <p:spPr>
          <a:xfrm>
            <a:off x="1353312" y="5091557"/>
            <a:ext cx="2697480" cy="457200"/>
          </a:xfrm>
          <a:prstGeom prst="rect">
            <a:avLst/>
          </a:prstGeom>
          <a:noFill/>
        </p:spPr>
        <p:txBody>
          <a:bodyPr wrap="square" lIns="0" rIns="0" tIns="0" bIns="0" anchor="t">
            <a:spAutoFit/>
          </a:bodyPr>
          <a:lstStyle/>
          <a:p>
            <a:pPr algn="l"/>
            <a:r>
              <a:rPr sz="1050" b="0" i="0">
                <a:solidFill>
                  <a:srgbClr val="1B2A41"/>
                </a:solidFill>
                <a:latin typeface="Arial"/>
              </a:rPr>
              <a:t>Trung vị của 31 ngày quanh mỗi điểm.</a:t>
            </a:r>
          </a:p>
        </p:txBody>
      </p:sp>
      <p:sp>
        <p:nvSpPr>
          <p:cNvPr id="14" name="Rounded Rectangle 13"/>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14</a:t>
            </a:r>
          </a:p>
        </p:txBody>
      </p:sp>
      <p:sp>
        <p:nvSpPr>
          <p:cNvPr id="15" name="TextBox 14"/>
          <p:cNvSpPr txBox="1"/>
          <p:nvPr/>
        </p:nvSpPr>
        <p:spPr>
          <a:xfrm>
            <a:off x="4965192" y="4634357"/>
            <a:ext cx="2697480" cy="457200"/>
          </a:xfrm>
          <a:prstGeom prst="rect">
            <a:avLst/>
          </a:prstGeom>
          <a:noFill/>
        </p:spPr>
        <p:txBody>
          <a:bodyPr wrap="square" lIns="0" rIns="0" tIns="0" bIns="0" anchor="t">
            <a:spAutoFit/>
          </a:bodyPr>
          <a:lstStyle/>
          <a:p>
            <a:pPr algn="l"/>
            <a:r>
              <a:rPr sz="1050" b="0" i="0">
                <a:solidFill>
                  <a:srgbClr val="1B2A41"/>
                </a:solidFill>
                <a:latin typeface="Arial"/>
              </a:rPr>
              <a:t>MAD cũng tính trên cửa sổ đó.</a:t>
            </a:r>
          </a:p>
        </p:txBody>
      </p:sp>
      <p:sp>
        <p:nvSpPr>
          <p:cNvPr id="16" name="Rounded Rectangle 15"/>
          <p:cNvSpPr/>
          <p:nvPr/>
        </p:nvSpPr>
        <p:spPr>
          <a:xfrm>
            <a:off x="4160520" y="51098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15–16</a:t>
            </a:r>
          </a:p>
        </p:txBody>
      </p:sp>
      <p:sp>
        <p:nvSpPr>
          <p:cNvPr id="17" name="TextBox 16"/>
          <p:cNvSpPr txBox="1"/>
          <p:nvPr/>
        </p:nvSpPr>
        <p:spPr>
          <a:xfrm>
            <a:off x="4965192" y="5091557"/>
            <a:ext cx="2697480" cy="457200"/>
          </a:xfrm>
          <a:prstGeom prst="rect">
            <a:avLst/>
          </a:prstGeom>
          <a:noFill/>
        </p:spPr>
        <p:txBody>
          <a:bodyPr wrap="square" lIns="0" rIns="0" tIns="0" bIns="0" anchor="t">
            <a:spAutoFit/>
          </a:bodyPr>
          <a:lstStyle/>
          <a:p>
            <a:pPr algn="l"/>
            <a:r>
              <a:rPr sz="1050" b="0" i="0">
                <a:solidFill>
                  <a:srgbClr val="1B2A41"/>
                </a:solidFill>
                <a:latin typeface="Arial"/>
              </a:rPr>
              <a:t>Gắn cờ điểm cách mức địa phương quá 3.</a:t>
            </a:r>
          </a:p>
        </p:txBody>
      </p:sp>
      <p:sp>
        <p:nvSpPr>
          <p:cNvPr id="18" name="Rounded Rectangle 17"/>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Điểm MAD của 50 là 25,6, bắt ngay. Wikipedia: Hampel gắn cờ 121 ngày rải đều mười năm, thêm ngày giả chỉ thành 123.</a:t>
            </a:r>
          </a:p>
        </p:txBody>
      </p:sp>
      <p:sp>
        <p:nvSpPr>
          <p:cNvPr id="20" name="TextBox 19"/>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1" name="TextBox 20"/>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median</a:t>
            </a:r>
            <a:r>
              <a:rPr sz="950" b="1" i="0">
                <a:solidFill>
                  <a:srgbClr val="5B6778"/>
                </a:solidFill>
                <a:latin typeface="Arial"/>
              </a:rPr>
              <a:t>   pandas</a:t>
            </a:r>
          </a:p>
        </p:txBody>
      </p:sp>
      <p:sp>
        <p:nvSpPr>
          <p:cNvPr id="22" name="TextBox 21"/>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Trung vị: số đứng giữa khi xếp thứ tự, ngoại lai không kéo được.</a:t>
            </a:r>
          </a:p>
        </p:txBody>
      </p:sp>
      <p:sp>
        <p:nvSpPr>
          <p:cNvPr id="23" name="TextBox 22"/>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rolling(k, center=True)</a:t>
            </a:r>
            <a:r>
              <a:rPr sz="950" b="1" i="0">
                <a:solidFill>
                  <a:srgbClr val="5B6778"/>
                </a:solidFill>
                <a:latin typeface="Arial"/>
              </a:rPr>
              <a:t>   pandas</a:t>
            </a:r>
          </a:p>
        </p:txBody>
      </p:sp>
      <p:sp>
        <p:nvSpPr>
          <p:cNvPr id="24" name="TextBox 23"/>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Cửa sổ k điểm đặt giữa là điểm đang xét.</a:t>
            </a:r>
          </a:p>
        </p:txBody>
      </p:sp>
      <p:sp>
        <p:nvSpPr>
          <p:cNvPr id="25" name="TextBox 24"/>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hampel</a:t>
            </a:r>
            <a:r>
              <a:rPr sz="950" b="1" i="0">
                <a:solidFill>
                  <a:srgbClr val="5B6778"/>
                </a:solidFill>
                <a:latin typeface="Arial"/>
              </a:rPr>
              <a:t>   tự viết</a:t>
            </a:r>
          </a:p>
        </p:txBody>
      </p:sp>
      <p:sp>
        <p:nvSpPr>
          <p:cNvPr id="26" name="TextBox 25"/>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Gắn cờ điểm lệch xa trung vị quanh nó, tính theo MAD.</a:t>
            </a:r>
          </a:p>
        </p:txBody>
      </p:sp>
      <p:sp>
        <p:nvSpPr>
          <p:cNvPr id="27" name="Rounded Rectangle 26"/>
          <p:cNvSpPr/>
          <p:nvPr/>
        </p:nvSpPr>
        <p:spPr>
          <a:xfrm>
            <a:off x="7863840" y="4059935"/>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3cc676484421.png"/>
          <p:cNvPicPr>
            <a:picLocks noChangeAspect="1"/>
          </p:cNvPicPr>
          <p:nvPr/>
        </p:nvPicPr>
        <p:blipFill>
          <a:blip r:embed="rId2"/>
          <a:stretch>
            <a:fillRect/>
          </a:stretch>
        </p:blipFill>
        <p:spPr>
          <a:xfrm>
            <a:off x="9244584" y="4169663"/>
            <a:ext cx="1014984" cy="329184"/>
          </a:xfrm>
          <a:prstGeom prst="rect">
            <a:avLst/>
          </a:prstGeom>
        </p:spPr>
      </p:pic>
      <p:pic>
        <p:nvPicPr>
          <p:cNvPr id="29" name="Picture 28" descr="kn-bo-loc-hampel.png"/>
          <p:cNvPicPr>
            <a:picLocks noChangeAspect="1"/>
          </p:cNvPicPr>
          <p:nvPr/>
        </p:nvPicPr>
        <p:blipFill>
          <a:blip r:embed="rId3"/>
          <a:stretch>
            <a:fillRect/>
          </a:stretch>
        </p:blipFill>
        <p:spPr>
          <a:xfrm>
            <a:off x="8047929" y="4745735"/>
            <a:ext cx="3408292" cy="1728216"/>
          </a:xfrm>
          <a:prstGeom prst="rect">
            <a:avLst/>
          </a:prstGeom>
        </p:spPr>
      </p:pic>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giữ Tết, winsorize lỗi đo</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11</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Ngưỡng nào cũng gắn cờ Tết; nhật ký sự kiện giữ nó lại, còn lỗi đo thì thay chứ không xoá.</a:t>
            </a:r>
          </a:p>
        </p:txBody>
      </p:sp>
      <p:sp>
        <p:nvSpPr>
          <p:cNvPr id="6" name="Rounded Rectangle 5"/>
          <p:cNvSpPr/>
          <p:nvPr/>
        </p:nvSpPr>
        <p:spPr>
          <a:xfrm>
            <a:off x="548640" y="1737360"/>
            <a:ext cx="7086600" cy="2597912"/>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277872"/>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pandas as pd</a:t>
            </a:r>
          </a:p>
          <a:p>
            <a:r>
              <a:rPr sz="950">
                <a:solidFill>
                  <a:srgbClr val="6B7385"/>
                </a:solidFill>
                <a:latin typeface="Courier New"/>
              </a:rPr>
              <a:t> 2 </a:t>
            </a:r>
          </a:p>
          <a:p>
            <a:r>
              <a:rPr sz="950">
                <a:solidFill>
                  <a:srgbClr val="6B7385"/>
                </a:solidFill>
                <a:latin typeface="Courier New"/>
              </a:rPr>
              <a:t> 3 </a:t>
            </a:r>
            <a:r>
              <a:rPr sz="950">
                <a:solidFill>
                  <a:srgbClr val="E6EAF0"/>
                </a:solidFill>
                <a:latin typeface="Courier New"/>
              </a:rPr>
              <a:t>dinh = [g.idxmax() for _, g in tet.groupby(tet.index.year)]  </a:t>
            </a:r>
            <a:r>
              <a:rPr sz="950">
                <a:solidFill>
                  <a:srgbClr val="8FC99A"/>
                </a:solidFill>
                <a:latin typeface="Courier New"/>
              </a:rPr>
              <a:t># đỉnh Tết</a:t>
            </a:r>
          </a:p>
          <a:p>
            <a:r>
              <a:rPr sz="950">
                <a:solidFill>
                  <a:srgbClr val="6B7385"/>
                </a:solidFill>
                <a:latin typeface="Courier New"/>
              </a:rPr>
              <a:t> 4 </a:t>
            </a:r>
            <a:r>
              <a:rPr sz="950">
                <a:solidFill>
                  <a:srgbClr val="E6EAF0"/>
                </a:solidFill>
                <a:latin typeface="Courier New"/>
              </a:rPr>
              <a:t>[bool(hampel(tet)[d]) for d in dinh]      </a:t>
            </a:r>
            <a:r>
              <a:rPr sz="950">
                <a:solidFill>
                  <a:srgbClr val="8FC99A"/>
                </a:solidFill>
                <a:latin typeface="Courier New"/>
              </a:rPr>
              <a:t># cả 10 đỉnh bị gắn cờ</a:t>
            </a:r>
          </a:p>
          <a:p>
            <a:r>
              <a:rPr sz="950">
                <a:solidFill>
                  <a:srgbClr val="6B7385"/>
                </a:solidFill>
                <a:latin typeface="Courier New"/>
              </a:rPr>
              <a:t> 5 </a:t>
            </a:r>
          </a:p>
          <a:p>
            <a:r>
              <a:rPr sz="950">
                <a:solidFill>
                  <a:srgbClr val="6B7385"/>
                </a:solidFill>
                <a:latin typeface="Courier New"/>
              </a:rPr>
              <a:t> 6 </a:t>
            </a:r>
            <a:r>
              <a:rPr sz="950">
                <a:solidFill>
                  <a:srgbClr val="E6EAF0"/>
                </a:solidFill>
                <a:latin typeface="Courier New"/>
              </a:rPr>
              <a:t>def xu_ly_ngoai_lai(y, cua_so=15, bo_qua_su_kien=()):</a:t>
            </a:r>
          </a:p>
          <a:p>
            <a:r>
              <a:rPr sz="950">
                <a:solidFill>
                  <a:srgbClr val="6B7385"/>
                </a:solidFill>
                <a:latin typeface="Courier New"/>
              </a:rPr>
              <a:t> 7 </a:t>
            </a:r>
            <a:r>
              <a:rPr sz="950">
                <a:solidFill>
                  <a:srgbClr val="E6EAF0"/>
                </a:solidFill>
                <a:latin typeface="Courier New"/>
              </a:rPr>
              <a:t>    y = y.astype(float)</a:t>
            </a:r>
          </a:p>
          <a:p>
            <a:r>
              <a:rPr sz="950">
                <a:solidFill>
                  <a:srgbClr val="6B7385"/>
                </a:solidFill>
                <a:latin typeface="Courier New"/>
              </a:rPr>
              <a:t> 8 </a:t>
            </a:r>
            <a:r>
              <a:rPr sz="950">
                <a:solidFill>
                  <a:srgbClr val="E6EAF0"/>
                </a:solidFill>
                <a:latin typeface="Courier New"/>
              </a:rPr>
              <a:t>    su_kien = y.index.isin(pd.DatetimeIndex(bo_qua_su_kien))</a:t>
            </a:r>
          </a:p>
          <a:p>
            <a:r>
              <a:rPr sz="950">
                <a:solidFill>
                  <a:srgbClr val="6B7385"/>
                </a:solidFill>
                <a:latin typeface="Courier New"/>
              </a:rPr>
              <a:t> 9 </a:t>
            </a:r>
            <a:r>
              <a:rPr sz="950">
                <a:solidFill>
                  <a:srgbClr val="E6EAF0"/>
                </a:solidFill>
                <a:latin typeface="Courier New"/>
              </a:rPr>
              <a:t>    co = hampel(y, cua_so) &amp; ~su_kien         </a:t>
            </a:r>
            <a:r>
              <a:rPr sz="950">
                <a:solidFill>
                  <a:srgbClr val="8FC99A"/>
                </a:solidFill>
                <a:latin typeface="Courier New"/>
              </a:rPr>
              <a:t># sự kiện thật thì bỏ qua</a:t>
            </a:r>
          </a:p>
          <a:p>
            <a:r>
              <a:rPr sz="950">
                <a:solidFill>
                  <a:srgbClr val="6B7385"/>
                </a:solidFill>
                <a:latin typeface="Courier New"/>
              </a:rPr>
              <a:t>10 </a:t>
            </a:r>
            <a:r>
              <a:rPr sz="950">
                <a:solidFill>
                  <a:srgbClr val="E6EAF0"/>
                </a:solidFill>
                <a:latin typeface="Courier New"/>
              </a:rPr>
              <a:t>    k = 2 * cua_so + 1</a:t>
            </a:r>
          </a:p>
          <a:p>
            <a:r>
              <a:rPr sz="950">
                <a:solidFill>
                  <a:srgbClr val="6B7385"/>
                </a:solidFill>
                <a:latin typeface="Courier New"/>
              </a:rPr>
              <a:t>11 </a:t>
            </a:r>
            <a:r>
              <a:rPr sz="950">
                <a:solidFill>
                  <a:srgbClr val="E6EAF0"/>
                </a:solidFill>
                <a:latin typeface="Courier New"/>
              </a:rPr>
              <a:t>    tv = y.rolling(k, center=True, min_periods=cua_so).median()</a:t>
            </a:r>
          </a:p>
          <a:p>
            <a:r>
              <a:rPr sz="950">
                <a:solidFill>
                  <a:srgbClr val="6B7385"/>
                </a:solidFill>
                <a:latin typeface="Courier New"/>
              </a:rPr>
              <a:t>12 </a:t>
            </a:r>
            <a:r>
              <a:rPr sz="950">
                <a:solidFill>
                  <a:srgbClr val="E6EAF0"/>
                </a:solidFill>
                <a:latin typeface="Courier New"/>
              </a:rPr>
              <a:t>    sach = y.where(~co, tv)                   </a:t>
            </a:r>
            <a:r>
              <a:rPr sz="950">
                <a:solidFill>
                  <a:srgbClr val="8FC99A"/>
                </a:solidFill>
                <a:latin typeface="Courier New"/>
              </a:rPr>
              <a:t># winsorize, không xoá mốc</a:t>
            </a:r>
          </a:p>
          <a:p>
            <a:r>
              <a:rPr sz="950">
                <a:solidFill>
                  <a:srgbClr val="6B7385"/>
                </a:solidFill>
                <a:latin typeface="Courier New"/>
              </a:rPr>
              <a:t>13 </a:t>
            </a:r>
            <a:r>
              <a:rPr sz="950">
                <a:solidFill>
                  <a:srgbClr val="E6EAF0"/>
                </a:solidFill>
                <a:latin typeface="Courier New"/>
              </a:rPr>
              <a:t>    return pd.DataFrame({"y": y, "sach": sach, "da_sua": co})</a:t>
            </a:r>
          </a:p>
          <a:p>
            <a:r>
              <a:rPr sz="950">
                <a:solidFill>
                  <a:srgbClr val="6B7385"/>
                </a:solidFill>
                <a:latin typeface="Courier New"/>
              </a:rPr>
              <a:t>14 </a:t>
            </a:r>
          </a:p>
          <a:p>
            <a:r>
              <a:rPr sz="950">
                <a:solidFill>
                  <a:srgbClr val="6B7385"/>
                </a:solidFill>
                <a:latin typeface="Courier New"/>
              </a:rPr>
              <a:t>15 </a:t>
            </a:r>
            <a:r>
              <a:rPr sz="950">
                <a:solidFill>
                  <a:srgbClr val="E6EAF0"/>
                </a:solidFill>
                <a:latin typeface="Courier New"/>
              </a:rPr>
              <a:t>xl = xu_ly_ngoai_lai(tet, bo_qua_su_kien=dinh)</a:t>
            </a:r>
          </a:p>
        </p:txBody>
      </p:sp>
      <p:sp>
        <p:nvSpPr>
          <p:cNvPr id="8" name="TextBox 7"/>
          <p:cNvSpPr txBox="1"/>
          <p:nvPr/>
        </p:nvSpPr>
        <p:spPr>
          <a:xfrm>
            <a:off x="685800" y="4088384"/>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buoi-11/tu-hoc.ipynb, phần 4</a:t>
            </a:r>
          </a:p>
        </p:txBody>
      </p:sp>
      <p:sp>
        <p:nvSpPr>
          <p:cNvPr id="9" name="TextBox 8"/>
          <p:cNvSpPr txBox="1"/>
          <p:nvPr/>
        </p:nvSpPr>
        <p:spPr>
          <a:xfrm>
            <a:off x="548640" y="4445000"/>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3</a:t>
            </a:r>
          </a:p>
        </p:txBody>
      </p:sp>
      <p:sp>
        <p:nvSpPr>
          <p:cNvPr id="11" name="TextBox 10"/>
          <p:cNvSpPr txBox="1"/>
          <p:nvPr/>
        </p:nvSpPr>
        <p:spPr>
          <a:xfrm>
            <a:off x="1353312" y="4746752"/>
            <a:ext cx="2697480" cy="347133"/>
          </a:xfrm>
          <a:prstGeom prst="rect">
            <a:avLst/>
          </a:prstGeom>
          <a:noFill/>
        </p:spPr>
        <p:txBody>
          <a:bodyPr wrap="square" lIns="0" rIns="0" tIns="0" bIns="0" anchor="t">
            <a:spAutoFit/>
          </a:bodyPr>
          <a:lstStyle/>
          <a:p>
            <a:pPr algn="l"/>
            <a:r>
              <a:rPr sz="1050" b="0" i="0">
                <a:solidFill>
                  <a:srgbClr val="1B2A41"/>
                </a:solidFill>
                <a:latin typeface="Arial"/>
              </a:rPr>
              <a:t>Ngày đông nhất mỗi năm chính là Tết.</a:t>
            </a:r>
          </a:p>
        </p:txBody>
      </p:sp>
      <p:sp>
        <p:nvSpPr>
          <p:cNvPr id="12" name="Rounded Rectangle 11"/>
          <p:cNvSpPr/>
          <p:nvPr/>
        </p:nvSpPr>
        <p:spPr>
          <a:xfrm>
            <a:off x="548640" y="51121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4</a:t>
            </a:r>
          </a:p>
        </p:txBody>
      </p:sp>
      <p:sp>
        <p:nvSpPr>
          <p:cNvPr id="13" name="TextBox 12"/>
          <p:cNvSpPr txBox="1"/>
          <p:nvPr/>
        </p:nvSpPr>
        <p:spPr>
          <a:xfrm>
            <a:off x="1353312" y="5093885"/>
            <a:ext cx="2697480" cy="347133"/>
          </a:xfrm>
          <a:prstGeom prst="rect">
            <a:avLst/>
          </a:prstGeom>
          <a:noFill/>
        </p:spPr>
        <p:txBody>
          <a:bodyPr wrap="square" lIns="0" rIns="0" tIns="0" bIns="0" anchor="t">
            <a:spAutoFit/>
          </a:bodyPr>
          <a:lstStyle/>
          <a:p>
            <a:pPr algn="l"/>
            <a:r>
              <a:rPr sz="1050" b="0" i="0">
                <a:solidFill>
                  <a:srgbClr val="1B2A41"/>
                </a:solidFill>
                <a:latin typeface="Arial"/>
              </a:rPr>
              <a:t>Kiểm xem Hampel có gắn cờ các đỉnh không.</a:t>
            </a:r>
          </a:p>
        </p:txBody>
      </p:sp>
      <p:sp>
        <p:nvSpPr>
          <p:cNvPr id="14" name="Rounded Rectangle 13"/>
          <p:cNvSpPr/>
          <p:nvPr/>
        </p:nvSpPr>
        <p:spPr>
          <a:xfrm>
            <a:off x="548640" y="54593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8–9</a:t>
            </a:r>
          </a:p>
        </p:txBody>
      </p:sp>
      <p:sp>
        <p:nvSpPr>
          <p:cNvPr id="15" name="TextBox 14"/>
          <p:cNvSpPr txBox="1"/>
          <p:nvPr/>
        </p:nvSpPr>
        <p:spPr>
          <a:xfrm>
            <a:off x="1353312" y="5441018"/>
            <a:ext cx="2697480" cy="347133"/>
          </a:xfrm>
          <a:prstGeom prst="rect">
            <a:avLst/>
          </a:prstGeom>
          <a:noFill/>
        </p:spPr>
        <p:txBody>
          <a:bodyPr wrap="square" lIns="0" rIns="0" tIns="0" bIns="0" anchor="t">
            <a:spAutoFit/>
          </a:bodyPr>
          <a:lstStyle/>
          <a:p>
            <a:pPr algn="l"/>
            <a:r>
              <a:rPr sz="1050" b="0" i="0">
                <a:solidFill>
                  <a:srgbClr val="1B2A41"/>
                </a:solidFill>
                <a:latin typeface="Arial"/>
              </a:rPr>
              <a:t>Bỏ cờ ở những mốc có trong nhật ký.</a:t>
            </a:r>
          </a:p>
        </p:txBody>
      </p:sp>
      <p:sp>
        <p:nvSpPr>
          <p:cNvPr id="16" name="Rounded Rectangle 15"/>
          <p:cNvSpPr/>
          <p:nvPr/>
        </p:nvSpPr>
        <p:spPr>
          <a:xfrm>
            <a:off x="416052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10–12</a:t>
            </a:r>
          </a:p>
        </p:txBody>
      </p:sp>
      <p:sp>
        <p:nvSpPr>
          <p:cNvPr id="17" name="TextBox 16"/>
          <p:cNvSpPr txBox="1"/>
          <p:nvPr/>
        </p:nvSpPr>
        <p:spPr>
          <a:xfrm>
            <a:off x="4965192" y="4746752"/>
            <a:ext cx="2697480" cy="347133"/>
          </a:xfrm>
          <a:prstGeom prst="rect">
            <a:avLst/>
          </a:prstGeom>
          <a:noFill/>
        </p:spPr>
        <p:txBody>
          <a:bodyPr wrap="square" lIns="0" rIns="0" tIns="0" bIns="0" anchor="t">
            <a:spAutoFit/>
          </a:bodyPr>
          <a:lstStyle/>
          <a:p>
            <a:pPr algn="l"/>
            <a:r>
              <a:rPr sz="1050" b="0" i="0">
                <a:solidFill>
                  <a:srgbClr val="1B2A41"/>
                </a:solidFill>
                <a:latin typeface="Arial"/>
              </a:rPr>
              <a:t>Thay điểm lỗi bằng trung vị quanh nó.</a:t>
            </a:r>
          </a:p>
        </p:txBody>
      </p:sp>
      <p:sp>
        <p:nvSpPr>
          <p:cNvPr id="18" name="Rounded Rectangle 17"/>
          <p:cNvSpPr/>
          <p:nvPr/>
        </p:nvSpPr>
        <p:spPr>
          <a:xfrm>
            <a:off x="4160520" y="51121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15</a:t>
            </a:r>
          </a:p>
        </p:txBody>
      </p:sp>
      <p:sp>
        <p:nvSpPr>
          <p:cNvPr id="19" name="TextBox 18"/>
          <p:cNvSpPr txBox="1"/>
          <p:nvPr/>
        </p:nvSpPr>
        <p:spPr>
          <a:xfrm>
            <a:off x="4965192" y="5093885"/>
            <a:ext cx="2697480" cy="347133"/>
          </a:xfrm>
          <a:prstGeom prst="rect">
            <a:avLst/>
          </a:prstGeom>
          <a:noFill/>
        </p:spPr>
        <p:txBody>
          <a:bodyPr wrap="square" lIns="0" rIns="0" tIns="0" bIns="0" anchor="t">
            <a:spAutoFit/>
          </a:bodyPr>
          <a:lstStyle/>
          <a:p>
            <a:pPr algn="l"/>
            <a:r>
              <a:rPr sz="1050" b="0" i="0">
                <a:solidFill>
                  <a:srgbClr val="1B2A41"/>
                </a:solidFill>
                <a:latin typeface="Arial"/>
              </a:rPr>
              <a:t>Chạy trên bài Tết, nhật ký là mười đỉnh.</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Năm cách gắn cờ đều bắt 10/10 đỉnh Tết. Xoá theo 3σ mất 54 mốc, cả mười đỉnh; winsorize cộng nhật ký giữ đủ 3.653 mốc.</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idxmax</a:t>
            </a:r>
            <a:r>
              <a:rPr sz="950" b="1" i="0">
                <a:solidFill>
                  <a:srgbClr val="5B6778"/>
                </a:solidFill>
                <a:latin typeface="Arial"/>
              </a:rPr>
              <a:t>   pandas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Trả về mốc thời gian có giá trị lớn nhất.</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index.isin</a:t>
            </a:r>
            <a:r>
              <a:rPr sz="950" b="1" i="0">
                <a:solidFill>
                  <a:srgbClr val="5B6778"/>
                </a:solidFill>
                <a:latin typeface="Arial"/>
              </a:rPr>
              <a:t>   pandas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Đánh dấu mốc nào nằm trong một danh sách cho trước.</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xu_ly_ngoai_lai</a:t>
            </a:r>
            <a:r>
              <a:rPr sz="950" b="1" i="0">
                <a:solidFill>
                  <a:srgbClr val="5B6778"/>
                </a:solidFill>
                <a:latin typeface="Arial"/>
              </a:rPr>
              <a:t>   tự viết</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Gắn cờ bằng Hampel, chừa sự kiện, thay điểm lỗi bằng trung vị.</a:t>
            </a:r>
          </a:p>
        </p:txBody>
      </p:sp>
      <p:pic>
        <p:nvPicPr>
          <p:cNvPr id="29" name="Picture 28" descr="kn-winsorize.png"/>
          <p:cNvPicPr>
            <a:picLocks noChangeAspect="1"/>
          </p:cNvPicPr>
          <p:nvPr/>
        </p:nvPicPr>
        <p:blipFill>
          <a:blip r:embed="rId2"/>
          <a:stretch>
            <a:fillRect/>
          </a:stretch>
        </p:blipFill>
        <p:spPr>
          <a:xfrm>
            <a:off x="7863840" y="4603331"/>
            <a:ext cx="3776472" cy="1354657"/>
          </a:xfrm>
          <a:prstGeom prst="rect">
            <a:avLst/>
          </a:prstGeom>
        </p:spPr>
      </p:pic>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PELT, lấy log, quét penalty</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11</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Tìm mốc chuỗi đổi hẳn bằng PELT, và chỉ tin điểm gãy không đổi khi penalty đổi.</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import ruptures as rpt</a:t>
            </a:r>
          </a:p>
          <a:p>
            <a:r>
              <a:rPr sz="850">
                <a:solidFill>
                  <a:srgbClr val="6B7385"/>
                </a:solidFill>
                <a:latin typeface="Courier New"/>
              </a:rPr>
              <a:t> 3 </a:t>
            </a:r>
          </a:p>
          <a:p>
            <a:r>
              <a:rPr sz="850">
                <a:solidFill>
                  <a:srgbClr val="6B7385"/>
                </a:solidFill>
                <a:latin typeface="Courier New"/>
              </a:rPr>
              <a:t> 4 </a:t>
            </a:r>
            <a:r>
              <a:rPr sz="850">
                <a:solidFill>
                  <a:srgbClr val="E6EAF0"/>
                </a:solidFill>
                <a:latin typeface="Courier New"/>
              </a:rPr>
              <a:t>v = np.array([10, 11, 10, 9, 10, 20, 21, 19, 20, 20.0])</a:t>
            </a:r>
          </a:p>
          <a:p>
            <a:r>
              <a:rPr sz="850">
                <a:solidFill>
                  <a:srgbClr val="6B7385"/>
                </a:solidFill>
                <a:latin typeface="Courier New"/>
              </a:rPr>
              <a:t> 5 </a:t>
            </a:r>
            <a:r>
              <a:rPr sz="850">
                <a:solidFill>
                  <a:srgbClr val="E6EAF0"/>
                </a:solidFill>
                <a:latin typeface="Courier New"/>
              </a:rPr>
              <a:t>beta = 3 * np.log(v.size)                 </a:t>
            </a:r>
            <a:r>
              <a:rPr sz="850">
                <a:solidFill>
                  <a:srgbClr val="8FC99A"/>
                </a:solidFill>
                <a:latin typeface="Courier New"/>
              </a:rPr>
              <a:t># phí mỗi điểm gãy</a:t>
            </a:r>
          </a:p>
          <a:p>
            <a:r>
              <a:rPr sz="850">
                <a:solidFill>
                  <a:srgbClr val="6B7385"/>
                </a:solidFill>
                <a:latin typeface="Courier New"/>
              </a:rPr>
              <a:t> 6 </a:t>
            </a:r>
            <a:r>
              <a:rPr sz="850">
                <a:solidFill>
                  <a:srgbClr val="E6EAF0"/>
                </a:solidFill>
                <a:latin typeface="Courier New"/>
              </a:rPr>
              <a:t>rpt.Pelt(model="l2", min_size=2).fit(v).predict(pen=beta)</a:t>
            </a:r>
          </a:p>
          <a:p>
            <a:r>
              <a:rPr sz="850">
                <a:solidFill>
                  <a:srgbClr val="6B7385"/>
                </a:solidFill>
                <a:latin typeface="Courier New"/>
              </a:rPr>
              <a:t> 7 </a:t>
            </a:r>
          </a:p>
          <a:p>
            <a:r>
              <a:rPr sz="850">
                <a:solidFill>
                  <a:srgbClr val="6B7385"/>
                </a:solidFill>
                <a:latin typeface="Courier New"/>
              </a:rPr>
              <a:t> 8 </a:t>
            </a:r>
            <a:r>
              <a:rPr sz="850">
                <a:solidFill>
                  <a:srgbClr val="E6EAF0"/>
                </a:solidFill>
                <a:latin typeface="Courier New"/>
              </a:rPr>
              <a:t>def diem_gay(y, pen=None, log=True):</a:t>
            </a:r>
          </a:p>
          <a:p>
            <a:r>
              <a:rPr sz="850">
                <a:solidFill>
                  <a:srgbClr val="6B7385"/>
                </a:solidFill>
                <a:latin typeface="Courier New"/>
              </a:rPr>
              <a:t> 9 </a:t>
            </a:r>
            <a:r>
              <a:rPr sz="850">
                <a:solidFill>
                  <a:srgbClr val="E6EAF0"/>
                </a:solidFill>
                <a:latin typeface="Courier New"/>
              </a:rPr>
              <a:t>    x = np.log(y.to_numpy(float)) if log else y.to_numpy(float)</a:t>
            </a:r>
          </a:p>
          <a:p>
            <a:r>
              <a:rPr sz="850">
                <a:solidFill>
                  <a:srgbClr val="6B7385"/>
                </a:solidFill>
                <a:latin typeface="Courier New"/>
              </a:rPr>
              <a:t>10 </a:t>
            </a:r>
            <a:r>
              <a:rPr sz="850">
                <a:solidFill>
                  <a:srgbClr val="E6EAF0"/>
                </a:solidFill>
                <a:latin typeface="Courier New"/>
              </a:rPr>
              <a:t>    pen = 3 * np.log(x.size) if pen is None else pen</a:t>
            </a:r>
          </a:p>
          <a:p>
            <a:r>
              <a:rPr sz="850">
                <a:solidFill>
                  <a:srgbClr val="6B7385"/>
                </a:solidFill>
                <a:latin typeface="Courier New"/>
              </a:rPr>
              <a:t>11 </a:t>
            </a:r>
            <a:r>
              <a:rPr sz="850">
                <a:solidFill>
                  <a:srgbClr val="E6EAF0"/>
                </a:solidFill>
                <a:latin typeface="Courier New"/>
              </a:rPr>
              <a:t>    cat = rpt.Pelt(model="l2", min_size=3).fit(x).predict(pen=pen)</a:t>
            </a:r>
          </a:p>
          <a:p>
            <a:r>
              <a:rPr sz="850">
                <a:solidFill>
                  <a:srgbClr val="6B7385"/>
                </a:solidFill>
                <a:latin typeface="Courier New"/>
              </a:rPr>
              <a:t>12 </a:t>
            </a:r>
            <a:r>
              <a:rPr sz="850">
                <a:solidFill>
                  <a:srgbClr val="E6EAF0"/>
                </a:solidFill>
                <a:latin typeface="Courier New"/>
              </a:rPr>
              <a:t>    return [y.index[i] for i in cat[:-1]]   </a:t>
            </a:r>
            <a:r>
              <a:rPr sz="850">
                <a:solidFill>
                  <a:srgbClr val="8FC99A"/>
                </a:solidFill>
                <a:latin typeface="Courier New"/>
              </a:rPr>
              <a:t># phần tử cuối là độ dài</a:t>
            </a:r>
          </a:p>
          <a:p>
            <a:r>
              <a:rPr sz="850">
                <a:solidFill>
                  <a:srgbClr val="6B7385"/>
                </a:solidFill>
                <a:latin typeface="Courier New"/>
              </a:rPr>
              <a:t>13 </a:t>
            </a:r>
          </a:p>
          <a:p>
            <a:r>
              <a:rPr sz="850">
                <a:solidFill>
                  <a:srgbClr val="6B7385"/>
                </a:solidFill>
                <a:latin typeface="Courier New"/>
              </a:rPr>
              <a:t>14 </a:t>
            </a:r>
            <a:r>
              <a:rPr sz="850">
                <a:solidFill>
                  <a:srgbClr val="E6EAF0"/>
                </a:solidFill>
                <a:latin typeface="Courier New"/>
              </a:rPr>
              <a:t>ln_n = np.log(len(hk))                     </a:t>
            </a:r>
            <a:r>
              <a:rPr sz="850">
                <a:solidFill>
                  <a:srgbClr val="8FC99A"/>
                </a:solidFill>
                <a:latin typeface="Courier New"/>
              </a:rPr>
              <a:t># hk: hành khách hàng không EU</a:t>
            </a:r>
          </a:p>
          <a:p>
            <a:r>
              <a:rPr sz="850">
                <a:solidFill>
                  <a:srgbClr val="6B7385"/>
                </a:solidFill>
                <a:latin typeface="Courier New"/>
              </a:rPr>
              <a:t>15 </a:t>
            </a:r>
            <a:r>
              <a:rPr sz="850">
                <a:solidFill>
                  <a:srgbClr val="E6EAF0"/>
                </a:solidFill>
                <a:latin typeface="Courier New"/>
              </a:rPr>
              <a:t>for he_so in (0.5, 1, 2, 3, 4, 6, 10):     </a:t>
            </a:r>
            <a:r>
              <a:rPr sz="850">
                <a:solidFill>
                  <a:srgbClr val="8FC99A"/>
                </a:solidFill>
                <a:latin typeface="Courier New"/>
              </a:rPr>
              <a:t># quét penalty</a:t>
            </a:r>
          </a:p>
          <a:p>
            <a:r>
              <a:rPr sz="850">
                <a:solidFill>
                  <a:srgbClr val="6B7385"/>
                </a:solidFill>
                <a:latin typeface="Courier New"/>
              </a:rPr>
              <a:t>16 </a:t>
            </a:r>
            <a:r>
              <a:rPr sz="850">
                <a:solidFill>
                  <a:srgbClr val="E6EAF0"/>
                </a:solidFill>
                <a:latin typeface="Courier New"/>
              </a:rPr>
              <a:t>    print(he_so, diem_gay(hk, pen=he_so * ln_n))</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buoi-11/tu-hoc.ipynb, phần 5</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4–5</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Mười số có một bậc, phí cắt là 3 ln n.</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6</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PELT tìm cách cắt rẻ nhất.</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9</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Lấy log để mùa hè đông khách thôi gãy.</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11–12</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Chạy PELT, đổi vị trí cắt thành ngày tháng.</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14–16</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Thử bảy mức penalty, xem điểm nào trụ lại.</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Ví dụ: ruptures trả [5, 10]. Hàng không EU: mức gốc ra 43 điểm gãy, log ra 2, ổn định từ 1 tới 4 ln n: 2/2020 (−78,7%) và 5/2021.</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rpt.Pelt</a:t>
            </a:r>
            <a:r>
              <a:rPr sz="950" b="1" i="0">
                <a:solidFill>
                  <a:srgbClr val="5B6778"/>
                </a:solidFill>
                <a:latin typeface="Arial"/>
              </a:rPr>
              <a:t>   ruptures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Tìm các mốc chia chuỗi thành đoạn, mỗi mốc phải trả một khoản phạt.</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predict(pen=...)</a:t>
            </a:r>
            <a:r>
              <a:rPr sz="950" b="1" i="0">
                <a:solidFill>
                  <a:srgbClr val="5B6778"/>
                </a:solidFill>
                <a:latin typeface="Arial"/>
              </a:rPr>
              <a:t>   ruptures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Trả vị trí kết thúc từng đoạn với mức phạt cho trước.</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np.log</a:t>
            </a:r>
            <a:r>
              <a:rPr sz="950" b="1" i="0">
                <a:solidFill>
                  <a:srgbClr val="5B6778"/>
                </a:solidFill>
                <a:latin typeface="Arial"/>
              </a:rPr>
              <a:t>   numpy</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Lấy logarit, biến tăng theo tỷ lệ thành tăng đều.</a:t>
            </a:r>
          </a:p>
        </p:txBody>
      </p:sp>
      <p:pic>
        <p:nvPicPr>
          <p:cNvPr id="29" name="Picture 28" descr="kn-penalty-phat.png"/>
          <p:cNvPicPr>
            <a:picLocks noChangeAspect="1"/>
          </p:cNvPicPr>
          <p:nvPr/>
        </p:nvPicPr>
        <p:blipFill>
          <a:blip r:embed="rId2"/>
          <a:stretch>
            <a:fillRect/>
          </a:stretch>
        </p:blipFill>
        <p:spPr>
          <a:xfrm>
            <a:off x="7863840" y="4560550"/>
            <a:ext cx="3776472" cy="1440219"/>
          </a:xfrm>
          <a:prstGeom prst="rect">
            <a:avLst/>
          </a:prstGeom>
        </p:spPr>
      </p:pic>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ba cách xử lý COVID</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11</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Giữ mô hình cố định, chỉ đổi cách xử lý COVID, để thấy lựa chọn đó đổi dự báo ra sao.</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import pandas as pd</a:t>
            </a:r>
          </a:p>
          <a:p>
            <a:r>
              <a:rPr sz="850">
                <a:solidFill>
                  <a:srgbClr val="6B7385"/>
                </a:solidFill>
                <a:latin typeface="Courier New"/>
              </a:rPr>
              <a:t> 3 </a:t>
            </a:r>
          </a:p>
          <a:p>
            <a:r>
              <a:rPr sz="850">
                <a:solidFill>
                  <a:srgbClr val="6B7385"/>
                </a:solidFill>
                <a:latin typeface="Courier New"/>
              </a:rPr>
              <a:t> 4 </a:t>
            </a:r>
            <a:r>
              <a:rPr sz="850">
                <a:solidFill>
                  <a:srgbClr val="E6EAF0"/>
                </a:solidFill>
                <a:latin typeface="Courier New"/>
              </a:rPr>
              <a:t>def du_bao_mua_vu_xu_huong(hoc, tam):     </a:t>
            </a:r>
            <a:r>
              <a:rPr sz="850">
                <a:solidFill>
                  <a:srgbClr val="8FC99A"/>
                </a:solidFill>
                <a:latin typeface="Courier New"/>
              </a:rPr>
              <a:t># xu hướng thẳng × mùa vụ nhân</a:t>
            </a:r>
          </a:p>
          <a:p>
            <a:r>
              <a:rPr sz="850">
                <a:solidFill>
                  <a:srgbClr val="6B7385"/>
                </a:solidFill>
                <a:latin typeface="Courier New"/>
              </a:rPr>
              <a:t> 5 </a:t>
            </a:r>
            <a:r>
              <a:rPr sz="850">
                <a:solidFill>
                  <a:srgbClr val="E6EAF0"/>
                </a:solidFill>
                <a:latin typeface="Courier New"/>
              </a:rPr>
              <a:t>    x = hoc.to_numpy(float)</a:t>
            </a:r>
          </a:p>
          <a:p>
            <a:r>
              <a:rPr sz="850">
                <a:solidFill>
                  <a:srgbClr val="6B7385"/>
                </a:solidFill>
                <a:latin typeface="Courier New"/>
              </a:rPr>
              <a:t> 6 </a:t>
            </a:r>
            <a:r>
              <a:rPr sz="850">
                <a:solidFill>
                  <a:srgbClr val="E6EAF0"/>
                </a:solidFill>
                <a:latin typeface="Courier New"/>
              </a:rPr>
              <a:t>    t = np.arange(x.size)</a:t>
            </a:r>
          </a:p>
          <a:p>
            <a:r>
              <a:rPr sz="850">
                <a:solidFill>
                  <a:srgbClr val="6B7385"/>
                </a:solidFill>
                <a:latin typeface="Courier New"/>
              </a:rPr>
              <a:t> 7 </a:t>
            </a:r>
            <a:r>
              <a:rPr sz="850">
                <a:solidFill>
                  <a:srgbClr val="E6EAF0"/>
                </a:solidFill>
                <a:latin typeface="Courier New"/>
              </a:rPr>
              <a:t>    a, b = np.polyfit(t, x, 1)</a:t>
            </a:r>
          </a:p>
          <a:p>
            <a:r>
              <a:rPr sz="850">
                <a:solidFill>
                  <a:srgbClr val="6B7385"/>
                </a:solidFill>
                <a:latin typeface="Courier New"/>
              </a:rPr>
              <a:t> 8 </a:t>
            </a:r>
            <a:r>
              <a:rPr sz="850">
                <a:solidFill>
                  <a:srgbClr val="E6EAF0"/>
                </a:solidFill>
                <a:latin typeface="Courier New"/>
              </a:rPr>
              <a:t>    he_so = pd.Series(x / np.maximum(a * t + b, 1), index=hoc.index)</a:t>
            </a:r>
          </a:p>
          <a:p>
            <a:r>
              <a:rPr sz="850">
                <a:solidFill>
                  <a:srgbClr val="6B7385"/>
                </a:solidFill>
                <a:latin typeface="Courier New"/>
              </a:rPr>
              <a:t> 9 </a:t>
            </a:r>
            <a:r>
              <a:rPr sz="850">
                <a:solidFill>
                  <a:srgbClr val="E6EAF0"/>
                </a:solidFill>
                <a:latin typeface="Courier New"/>
              </a:rPr>
              <a:t>    he_so = he_so.groupby(hoc.index.month).mean()</a:t>
            </a:r>
          </a:p>
          <a:p>
            <a:r>
              <a:rPr sz="850">
                <a:solidFill>
                  <a:srgbClr val="6B7385"/>
                </a:solidFill>
                <a:latin typeface="Courier New"/>
              </a:rPr>
              <a:t>10 </a:t>
            </a:r>
            <a:r>
              <a:rPr sz="850">
                <a:solidFill>
                  <a:srgbClr val="E6EAF0"/>
                </a:solidFill>
                <a:latin typeface="Courier New"/>
              </a:rPr>
              <a:t>    moc = pd.date_range(hoc.index[-1], periods=tam + 1, freq="MS")[1:]</a:t>
            </a:r>
          </a:p>
          <a:p>
            <a:r>
              <a:rPr sz="850">
                <a:solidFill>
                  <a:srgbClr val="6B7385"/>
                </a:solidFill>
                <a:latin typeface="Courier New"/>
              </a:rPr>
              <a:t>11 </a:t>
            </a:r>
            <a:r>
              <a:rPr sz="850">
                <a:solidFill>
                  <a:srgbClr val="E6EAF0"/>
                </a:solidFill>
                <a:latin typeface="Courier New"/>
              </a:rPr>
              <a:t>    return np.array([(a * (x.size + i) + b) * he_so[m.month]</a:t>
            </a:r>
          </a:p>
          <a:p>
            <a:r>
              <a:rPr sz="850">
                <a:solidFill>
                  <a:srgbClr val="6B7385"/>
                </a:solidFill>
                <a:latin typeface="Courier New"/>
              </a:rPr>
              <a:t>12 </a:t>
            </a:r>
            <a:r>
              <a:rPr sz="850">
                <a:solidFill>
                  <a:srgbClr val="E6EAF0"/>
                </a:solidFill>
                <a:latin typeface="Courier New"/>
              </a:rPr>
              <a:t>                     for i, m in enumerate(moc)])</a:t>
            </a:r>
          </a:p>
          <a:p>
            <a:r>
              <a:rPr sz="850">
                <a:solidFill>
                  <a:srgbClr val="6B7385"/>
                </a:solidFill>
                <a:latin typeface="Courier New"/>
              </a:rPr>
              <a:t>13 </a:t>
            </a:r>
            <a:r>
              <a:rPr sz="850">
                <a:solidFill>
                  <a:srgbClr val="E6EAF0"/>
                </a:solidFill>
                <a:latin typeface="Courier New"/>
              </a:rPr>
              <a:t>hoc = hk[hk.index &lt; "2023-01-01"]         </a:t>
            </a:r>
            <a:r>
              <a:rPr sz="850">
                <a:solidFill>
                  <a:srgbClr val="8FC99A"/>
                </a:solidFill>
                <a:latin typeface="Courier New"/>
              </a:rPr>
              <a:t># học tới hết 2022</a:t>
            </a:r>
          </a:p>
          <a:p>
            <a:r>
              <a:rPr sz="850">
                <a:solidFill>
                  <a:srgbClr val="6B7385"/>
                </a:solidFill>
                <a:latin typeface="Courier New"/>
              </a:rPr>
              <a:t>14 </a:t>
            </a:r>
            <a:r>
              <a:rPr sz="850">
                <a:solidFill>
                  <a:srgbClr val="E6EAF0"/>
                </a:solidFill>
                <a:latin typeface="Courier New"/>
              </a:rPr>
              <a:t>covid = (hoc.index &gt;= "2020-03-01") &amp; (hoc.index &lt;= "2021-06-30")</a:t>
            </a:r>
          </a:p>
          <a:p>
            <a:r>
              <a:rPr sz="850">
                <a:solidFill>
                  <a:srgbClr val="6B7385"/>
                </a:solidFill>
                <a:latin typeface="Courier New"/>
              </a:rPr>
              <a:t>15 </a:t>
            </a:r>
            <a:r>
              <a:rPr sz="850">
                <a:solidFill>
                  <a:srgbClr val="E6EAF0"/>
                </a:solidFill>
                <a:latin typeface="Courier New"/>
              </a:rPr>
              <a:t>cach = {"giữ nguyên": hoc, "coi là thiếu": hoc.mask(covid).interpolate(),</a:t>
            </a:r>
          </a:p>
          <a:p>
            <a:r>
              <a:rPr sz="850">
                <a:solidFill>
                  <a:srgbClr val="6B7385"/>
                </a:solidFill>
                <a:latin typeface="Courier New"/>
              </a:rPr>
              <a:t>16 </a:t>
            </a:r>
            <a:r>
              <a:rPr sz="850">
                <a:solidFill>
                  <a:srgbClr val="E6EAF0"/>
                </a:solidFill>
                <a:latin typeface="Courier New"/>
              </a:rPr>
              <a:t>        "cắt": hoc[hoc.index &gt; "2021-06-30"]}</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buoi-11/tu-hoc.ipynb, phần 6</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5–7</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Khớp một đường thẳng làm xu hướng.</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8–9</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Mỗi tháng là một tỷ lệ so với xu hướng.</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10–12</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Kéo dài xu hướng, nhân hệ số tháng.</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14</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Đánh dấu 16 tháng COVID.</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15–16</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Ba cách: giữ, coi là thiếu rồi nội suy, cắt.</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MAPE 2023: coi là thiếu 8,71%, giữ nguyên 24,01%. Giữ nguyên thì 16 tháng sụt kéo xu hướng xuống, dự báo thấp gần 20 triệu khách/tháng.</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np.polyfit(t, x, 1)</a:t>
            </a:r>
            <a:r>
              <a:rPr sz="950" b="1" i="0">
                <a:solidFill>
                  <a:srgbClr val="5B6778"/>
                </a:solidFill>
                <a:latin typeface="Arial"/>
              </a:rPr>
              <a:t>   numpy</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Tìm đường thẳng khớp dữ liệu nhất, trả độ dốc và tung độ gốc.</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groupby(month).mean()</a:t>
            </a:r>
            <a:r>
              <a:rPr sz="950" b="1" i="0">
                <a:solidFill>
                  <a:srgbClr val="5B6778"/>
                </a:solidFill>
                <a:latin typeface="Arial"/>
              </a:rPr>
              <a:t>   pandas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Trung bình theo từng tháng trong năm.</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mask().interpolate()</a:t>
            </a:r>
            <a:r>
              <a:rPr sz="950" b="1" i="0">
                <a:solidFill>
                  <a:srgbClr val="5B6778"/>
                </a:solidFill>
                <a:latin typeface="Arial"/>
              </a:rPr>
              <a:t>   pandas</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Coi đoạn đã chọn là thiếu rồi nối thẳng qua nó.</a:t>
            </a:r>
          </a:p>
        </p:txBody>
      </p:sp>
      <p:pic>
        <p:nvPicPr>
          <p:cNvPr id="29" name="Picture 28" descr="ba-cach-covid.png"/>
          <p:cNvPicPr>
            <a:picLocks noChangeAspect="1"/>
          </p:cNvPicPr>
          <p:nvPr/>
        </p:nvPicPr>
        <p:blipFill>
          <a:blip r:embed="rId2"/>
          <a:stretch>
            <a:fillRect/>
          </a:stretch>
        </p:blipFill>
        <p:spPr>
          <a:xfrm>
            <a:off x="7863840" y="4695410"/>
            <a:ext cx="3776472" cy="1170498"/>
          </a:xfrm>
          <a:prstGeom prst="rect">
            <a:avLst/>
          </a:prstGeom>
        </p:spPr>
      </p:pic>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trailing và centered</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12</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Thấy bằng số kiểu centered viết lại quá khứ khi có số mới, còn trailing thì không.</a:t>
            </a:r>
          </a:p>
        </p:txBody>
      </p:sp>
      <p:sp>
        <p:nvSpPr>
          <p:cNvPr id="6" name="Rounded Rectangle 5"/>
          <p:cNvSpPr/>
          <p:nvPr/>
        </p:nvSpPr>
        <p:spPr>
          <a:xfrm>
            <a:off x="548640" y="1737360"/>
            <a:ext cx="7086600" cy="2050922"/>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1730882"/>
          </a:xfrm>
          <a:prstGeom prst="rect">
            <a:avLst/>
          </a:prstGeom>
          <a:noFill/>
        </p:spPr>
        <p:txBody>
          <a:bodyPr wrap="none" lIns="0" rIns="0" tIns="0" bIns="0">
            <a:spAutoFit/>
          </a:bodyPr>
          <a:lstStyle/>
          <a:p>
            <a:r>
              <a:rPr sz="1050">
                <a:solidFill>
                  <a:srgbClr val="6B7385"/>
                </a:solidFill>
                <a:latin typeface="Courier New"/>
              </a:rPr>
              <a:t> 1 </a:t>
            </a:r>
            <a:r>
              <a:rPr sz="1050">
                <a:solidFill>
                  <a:srgbClr val="E6EAF0"/>
                </a:solidFill>
                <a:latin typeface="Courier New"/>
              </a:rPr>
              <a:t>import pandas as pd</a:t>
            </a:r>
          </a:p>
          <a:p>
            <a:r>
              <a:rPr sz="1050">
                <a:solidFill>
                  <a:srgbClr val="6B7385"/>
                </a:solidFill>
                <a:latin typeface="Courier New"/>
              </a:rPr>
              <a:t> 2 </a:t>
            </a:r>
          </a:p>
          <a:p>
            <a:r>
              <a:rPr sz="1050">
                <a:solidFill>
                  <a:srgbClr val="6B7385"/>
                </a:solidFill>
                <a:latin typeface="Courier New"/>
              </a:rPr>
              <a:t> 3 </a:t>
            </a:r>
            <a:r>
              <a:rPr sz="1050">
                <a:solidFill>
                  <a:srgbClr val="E6EAF0"/>
                </a:solidFill>
                <a:latin typeface="Courier New"/>
              </a:rPr>
              <a:t>y = pd.Series([10, 12, 14, 30, 16], index=range(1, 6), dtype=float)</a:t>
            </a:r>
          </a:p>
          <a:p>
            <a:r>
              <a:rPr sz="1050">
                <a:solidFill>
                  <a:srgbClr val="6B7385"/>
                </a:solidFill>
                <a:latin typeface="Courier New"/>
              </a:rPr>
              <a:t> 4 </a:t>
            </a:r>
            <a:r>
              <a:rPr sz="1050">
                <a:solidFill>
                  <a:srgbClr val="E6EAF0"/>
                </a:solidFill>
                <a:latin typeface="Courier New"/>
              </a:rPr>
              <a:t>trailing = y.rolling(3).mean()                </a:t>
            </a:r>
            <a:r>
              <a:rPr sz="1050">
                <a:solidFill>
                  <a:srgbClr val="8FC99A"/>
                </a:solidFill>
                <a:latin typeface="Courier New"/>
              </a:rPr>
              <a:t># chỉ quá khứ, nhưng trễ</a:t>
            </a:r>
          </a:p>
          <a:p>
            <a:r>
              <a:rPr sz="1050">
                <a:solidFill>
                  <a:srgbClr val="6B7385"/>
                </a:solidFill>
                <a:latin typeface="Courier New"/>
              </a:rPr>
              <a:t> 5 </a:t>
            </a:r>
            <a:r>
              <a:rPr sz="1050">
                <a:solidFill>
                  <a:srgbClr val="E6EAF0"/>
                </a:solidFill>
                <a:latin typeface="Courier New"/>
              </a:rPr>
              <a:t>centered = y.rolling(3, center=True).mean()   </a:t>
            </a:r>
            <a:r>
              <a:rPr sz="1050">
                <a:solidFill>
                  <a:srgbClr val="8FC99A"/>
                </a:solidFill>
                <a:latin typeface="Courier New"/>
              </a:rPr>
              <a:t># nửa cửa sổ ở tương lai</a:t>
            </a:r>
          </a:p>
          <a:p>
            <a:r>
              <a:rPr sz="1050">
                <a:solidFill>
                  <a:srgbClr val="6B7385"/>
                </a:solidFill>
                <a:latin typeface="Courier New"/>
              </a:rPr>
              <a:t> 6 </a:t>
            </a:r>
          </a:p>
          <a:p>
            <a:r>
              <a:rPr sz="1050">
                <a:solidFill>
                  <a:srgbClr val="6B7385"/>
                </a:solidFill>
                <a:latin typeface="Courier New"/>
              </a:rPr>
              <a:t> 7 </a:t>
            </a:r>
            <a:r>
              <a:rPr sz="1050">
                <a:solidFill>
                  <a:srgbClr val="E6EAF0"/>
                </a:solidFill>
                <a:latin typeface="Courier New"/>
              </a:rPr>
              <a:t>y2 = y.copy()</a:t>
            </a:r>
          </a:p>
          <a:p>
            <a:r>
              <a:rPr sz="1050">
                <a:solidFill>
                  <a:srgbClr val="6B7385"/>
                </a:solidFill>
                <a:latin typeface="Courier New"/>
              </a:rPr>
              <a:t> 8 </a:t>
            </a:r>
            <a:r>
              <a:rPr sz="1050">
                <a:solidFill>
                  <a:srgbClr val="E6EAF0"/>
                </a:solidFill>
                <a:latin typeface="Courier New"/>
              </a:rPr>
              <a:t>y2[5] = 40                                    </a:t>
            </a:r>
            <a:r>
              <a:rPr sz="1050">
                <a:solidFill>
                  <a:srgbClr val="8FC99A"/>
                </a:solidFill>
                <a:latin typeface="Courier New"/>
              </a:rPr>
              <a:t># số mới về khác đi</a:t>
            </a:r>
          </a:p>
          <a:p>
            <a:r>
              <a:rPr sz="1050">
                <a:solidFill>
                  <a:srgbClr val="6B7385"/>
                </a:solidFill>
                <a:latin typeface="Courier New"/>
              </a:rPr>
              <a:t> 9 </a:t>
            </a:r>
            <a:r>
              <a:rPr sz="1050">
                <a:solidFill>
                  <a:srgbClr val="E6EAF0"/>
                </a:solidFill>
                <a:latin typeface="Courier New"/>
              </a:rPr>
              <a:t>y2.rolling(3).mean()[4]                       </a:t>
            </a:r>
            <a:r>
              <a:rPr sz="1050">
                <a:solidFill>
                  <a:srgbClr val="8FC99A"/>
                </a:solidFill>
                <a:latin typeface="Courier New"/>
              </a:rPr>
              <a:t># giờ 4 giữ nguyên</a:t>
            </a:r>
          </a:p>
          <a:p>
            <a:r>
              <a:rPr sz="1050">
                <a:solidFill>
                  <a:srgbClr val="6B7385"/>
                </a:solidFill>
                <a:latin typeface="Courier New"/>
              </a:rPr>
              <a:t>10 </a:t>
            </a:r>
            <a:r>
              <a:rPr sz="1050">
                <a:solidFill>
                  <a:srgbClr val="E6EAF0"/>
                </a:solidFill>
                <a:latin typeface="Courier New"/>
              </a:rPr>
              <a:t>y2.rolling(3, center=True).mean()[4]          </a:t>
            </a:r>
            <a:r>
              <a:rPr sz="1050">
                <a:solidFill>
                  <a:srgbClr val="8FC99A"/>
                </a:solidFill>
                <a:latin typeface="Courier New"/>
              </a:rPr>
              <a:t># giờ 4 bị viết lại</a:t>
            </a:r>
          </a:p>
        </p:txBody>
      </p:sp>
      <p:sp>
        <p:nvSpPr>
          <p:cNvPr id="8" name="TextBox 7"/>
          <p:cNvSpPr txBox="1"/>
          <p:nvPr/>
        </p:nvSpPr>
        <p:spPr>
          <a:xfrm>
            <a:off x="685800" y="3541394"/>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buoi-12/tu-hoc.ipynb, phần 1</a:t>
            </a:r>
          </a:p>
        </p:txBody>
      </p:sp>
      <p:sp>
        <p:nvSpPr>
          <p:cNvPr id="9" name="TextBox 8"/>
          <p:cNvSpPr txBox="1"/>
          <p:nvPr/>
        </p:nvSpPr>
        <p:spPr>
          <a:xfrm>
            <a:off x="548640" y="3898011"/>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21805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3</a:t>
            </a:r>
          </a:p>
        </p:txBody>
      </p:sp>
      <p:sp>
        <p:nvSpPr>
          <p:cNvPr id="11" name="TextBox 10"/>
          <p:cNvSpPr txBox="1"/>
          <p:nvPr/>
        </p:nvSpPr>
        <p:spPr>
          <a:xfrm>
            <a:off x="1353312" y="4199763"/>
            <a:ext cx="2697480" cy="457200"/>
          </a:xfrm>
          <a:prstGeom prst="rect">
            <a:avLst/>
          </a:prstGeom>
          <a:noFill/>
        </p:spPr>
        <p:txBody>
          <a:bodyPr wrap="square" lIns="0" rIns="0" tIns="0" bIns="0" anchor="t">
            <a:spAutoFit/>
          </a:bodyPr>
          <a:lstStyle/>
          <a:p>
            <a:pPr algn="l"/>
            <a:r>
              <a:rPr sz="1050" b="0" i="0">
                <a:solidFill>
                  <a:srgbClr val="1B2A41"/>
                </a:solidFill>
                <a:latin typeface="Arial"/>
              </a:rPr>
              <a:t>Năm giờ điện, giờ 4 vọt lên 30.</a:t>
            </a:r>
          </a:p>
        </p:txBody>
      </p:sp>
      <p:sp>
        <p:nvSpPr>
          <p:cNvPr id="12" name="Rounded Rectangle 11"/>
          <p:cNvSpPr/>
          <p:nvPr/>
        </p:nvSpPr>
        <p:spPr>
          <a:xfrm>
            <a:off x="548640" y="467525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4–5</a:t>
            </a:r>
          </a:p>
        </p:txBody>
      </p:sp>
      <p:sp>
        <p:nvSpPr>
          <p:cNvPr id="13" name="TextBox 12"/>
          <p:cNvSpPr txBox="1"/>
          <p:nvPr/>
        </p:nvSpPr>
        <p:spPr>
          <a:xfrm>
            <a:off x="1353312" y="4656963"/>
            <a:ext cx="2697480" cy="457200"/>
          </a:xfrm>
          <a:prstGeom prst="rect">
            <a:avLst/>
          </a:prstGeom>
          <a:noFill/>
        </p:spPr>
        <p:txBody>
          <a:bodyPr wrap="square" lIns="0" rIns="0" tIns="0" bIns="0" anchor="t">
            <a:spAutoFit/>
          </a:bodyPr>
          <a:lstStyle/>
          <a:p>
            <a:pPr algn="l"/>
            <a:r>
              <a:rPr sz="1050" b="0" i="0">
                <a:solidFill>
                  <a:srgbClr val="1B2A41"/>
                </a:solidFill>
                <a:latin typeface="Arial"/>
              </a:rPr>
              <a:t>Hai kiểu trung bình trượt ba điểm.</a:t>
            </a:r>
          </a:p>
        </p:txBody>
      </p:sp>
      <p:sp>
        <p:nvSpPr>
          <p:cNvPr id="14" name="Rounded Rectangle 13"/>
          <p:cNvSpPr/>
          <p:nvPr/>
        </p:nvSpPr>
        <p:spPr>
          <a:xfrm>
            <a:off x="4160520" y="421805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7–8</a:t>
            </a:r>
          </a:p>
        </p:txBody>
      </p:sp>
      <p:sp>
        <p:nvSpPr>
          <p:cNvPr id="15" name="TextBox 14"/>
          <p:cNvSpPr txBox="1"/>
          <p:nvPr/>
        </p:nvSpPr>
        <p:spPr>
          <a:xfrm>
            <a:off x="4965192" y="4199763"/>
            <a:ext cx="2697480" cy="457200"/>
          </a:xfrm>
          <a:prstGeom prst="rect">
            <a:avLst/>
          </a:prstGeom>
          <a:noFill/>
        </p:spPr>
        <p:txBody>
          <a:bodyPr wrap="square" lIns="0" rIns="0" tIns="0" bIns="0" anchor="t">
            <a:spAutoFit/>
          </a:bodyPr>
          <a:lstStyle/>
          <a:p>
            <a:pPr algn="l"/>
            <a:r>
              <a:rPr sz="1050" b="0" i="0">
                <a:solidFill>
                  <a:srgbClr val="1B2A41"/>
                </a:solidFill>
                <a:latin typeface="Arial"/>
              </a:rPr>
              <a:t>Đổi riêng giờ cuối từ 16 thành 40.</a:t>
            </a:r>
          </a:p>
        </p:txBody>
      </p:sp>
      <p:sp>
        <p:nvSpPr>
          <p:cNvPr id="16" name="Rounded Rectangle 15"/>
          <p:cNvSpPr/>
          <p:nvPr/>
        </p:nvSpPr>
        <p:spPr>
          <a:xfrm>
            <a:off x="4160520" y="467525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9–10</a:t>
            </a:r>
          </a:p>
        </p:txBody>
      </p:sp>
      <p:sp>
        <p:nvSpPr>
          <p:cNvPr id="17" name="TextBox 16"/>
          <p:cNvSpPr txBox="1"/>
          <p:nvPr/>
        </p:nvSpPr>
        <p:spPr>
          <a:xfrm>
            <a:off x="4965192" y="4656963"/>
            <a:ext cx="2697480" cy="457200"/>
          </a:xfrm>
          <a:prstGeom prst="rect">
            <a:avLst/>
          </a:prstGeom>
          <a:noFill/>
        </p:spPr>
        <p:txBody>
          <a:bodyPr wrap="square" lIns="0" rIns="0" tIns="0" bIns="0" anchor="t">
            <a:spAutoFit/>
          </a:bodyPr>
          <a:lstStyle/>
          <a:p>
            <a:pPr algn="l"/>
            <a:r>
              <a:rPr sz="1050" b="0" i="0">
                <a:solidFill>
                  <a:srgbClr val="1B2A41"/>
                </a:solidFill>
                <a:latin typeface="Arial"/>
              </a:rPr>
              <a:t>Xem giá trị của giờ 4 có đổi theo không.</a:t>
            </a:r>
          </a:p>
        </p:txBody>
      </p:sp>
      <p:sp>
        <p:nvSpPr>
          <p:cNvPr id="18" name="Rounded Rectangle 17"/>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Giờ 3 kiểu centered ra 18,67 vì đã cộng số 30 của giờ 4. Đổi giờ 5 thành 40: centered giờ 4 nhảy từ 20 lên 28, trailing vẫn 18,67.</a:t>
            </a:r>
          </a:p>
        </p:txBody>
      </p:sp>
      <p:sp>
        <p:nvSpPr>
          <p:cNvPr id="20" name="TextBox 19"/>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1" name="TextBox 20"/>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rolling(3).mean()</a:t>
            </a:r>
            <a:r>
              <a:rPr sz="950" b="1" i="0">
                <a:solidFill>
                  <a:srgbClr val="5B6778"/>
                </a:solidFill>
                <a:latin typeface="Arial"/>
              </a:rPr>
              <a:t>   pandas</a:t>
            </a:r>
          </a:p>
        </p:txBody>
      </p:sp>
      <p:sp>
        <p:nvSpPr>
          <p:cNvPr id="22" name="TextBox 21"/>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Trung bình ba điểm: điểm đang xét và hai điểm trước.</a:t>
            </a:r>
          </a:p>
        </p:txBody>
      </p:sp>
      <p:sp>
        <p:nvSpPr>
          <p:cNvPr id="23" name="TextBox 22"/>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rolling(3, center=True)</a:t>
            </a:r>
            <a:r>
              <a:rPr sz="950" b="1" i="0">
                <a:solidFill>
                  <a:srgbClr val="5B6778"/>
                </a:solidFill>
                <a:latin typeface="Arial"/>
              </a:rPr>
              <a:t>   pandas</a:t>
            </a:r>
          </a:p>
        </p:txBody>
      </p:sp>
      <p:sp>
        <p:nvSpPr>
          <p:cNvPr id="24" name="TextBox 23"/>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Cửa sổ đặt giữa, nên dùng cả điểm ngay sau.</a:t>
            </a:r>
          </a:p>
        </p:txBody>
      </p:sp>
      <p:sp>
        <p:nvSpPr>
          <p:cNvPr id="25" name="Rounded Rectangle 24"/>
          <p:cNvSpPr/>
          <p:nvPr/>
        </p:nvSpPr>
        <p:spPr>
          <a:xfrm>
            <a:off x="7863840" y="3401567"/>
            <a:ext cx="3776472" cy="743712"/>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8800babcb00d.png"/>
          <p:cNvPicPr>
            <a:picLocks noChangeAspect="1"/>
          </p:cNvPicPr>
          <p:nvPr/>
        </p:nvPicPr>
        <p:blipFill>
          <a:blip r:embed="rId2"/>
          <a:stretch>
            <a:fillRect/>
          </a:stretch>
        </p:blipFill>
        <p:spPr>
          <a:xfrm>
            <a:off x="9294876" y="3456431"/>
            <a:ext cx="914400" cy="633984"/>
          </a:xfrm>
          <a:prstGeom prst="rect">
            <a:avLst/>
          </a:prstGeom>
        </p:spPr>
      </p:pic>
      <p:pic>
        <p:nvPicPr>
          <p:cNvPr id="27" name="Picture 26" descr="kn-bo-loc-nhan-qua.png"/>
          <p:cNvPicPr>
            <a:picLocks noChangeAspect="1"/>
          </p:cNvPicPr>
          <p:nvPr/>
        </p:nvPicPr>
        <p:blipFill>
          <a:blip r:embed="rId3"/>
          <a:stretch>
            <a:fillRect/>
          </a:stretch>
        </p:blipFill>
        <p:spPr>
          <a:xfrm>
            <a:off x="7863840" y="4405632"/>
            <a:ext cx="3776472" cy="1945126"/>
          </a:xfrm>
          <a:prstGeom prst="rect">
            <a:avLst/>
          </a:prstGeom>
        </p:spPr>
      </p:pic>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đọc phổ bằng Welch</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12</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Trước khi lọc, đo xem dao động nhanh chiếm bao nhiêu năng lượng và nhịp nào mạnh nhất.</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from scipy import signal</a:t>
            </a:r>
          </a:p>
          <a:p>
            <a:r>
              <a:rPr sz="850">
                <a:solidFill>
                  <a:srgbClr val="6B7385"/>
                </a:solidFill>
                <a:latin typeface="Courier New"/>
              </a:rPr>
              <a:t> 3 </a:t>
            </a:r>
          </a:p>
          <a:p>
            <a:r>
              <a:rPr sz="850">
                <a:solidFill>
                  <a:srgbClr val="6B7385"/>
                </a:solidFill>
                <a:latin typeface="Courier New"/>
              </a:rPr>
              <a:t> 4 </a:t>
            </a:r>
            <a:r>
              <a:rPr sz="850">
                <a:solidFill>
                  <a:srgbClr val="E6EAF0"/>
                </a:solidFill>
                <a:latin typeface="Courier New"/>
              </a:rPr>
              <a:t>FS = 6.0                                  </a:t>
            </a:r>
            <a:r>
              <a:rPr sz="850">
                <a:solidFill>
                  <a:srgbClr val="8FC99A"/>
                </a:solidFill>
                <a:latin typeface="Courier New"/>
              </a:rPr>
              <a:t># 6 mẫu mỗi giờ (10 phút/mẫu)</a:t>
            </a:r>
          </a:p>
          <a:p>
            <a:r>
              <a:rPr sz="850">
                <a:solidFill>
                  <a:srgbClr val="6B7385"/>
                </a:solidFill>
                <a:latin typeface="Courier New"/>
              </a:rPr>
              <a:t> 5 </a:t>
            </a:r>
            <a:r>
              <a:rPr sz="850">
                <a:solidFill>
                  <a:srgbClr val="E6EAF0"/>
                </a:solidFill>
                <a:latin typeface="Courier New"/>
              </a:rPr>
              <a:t>for v in ([1, -1, 1, -1, 1, -1], [1, 1, 1, -1, -1, -1]):</a:t>
            </a:r>
          </a:p>
          <a:p>
            <a:r>
              <a:rPr sz="850">
                <a:solidFill>
                  <a:srgbClr val="6B7385"/>
                </a:solidFill>
                <a:latin typeface="Courier New"/>
              </a:rPr>
              <a:t> 6 </a:t>
            </a:r>
            <a:r>
              <a:rPr sz="850">
                <a:solidFill>
                  <a:srgbClr val="E6EAF0"/>
                </a:solidFill>
                <a:latin typeface="Courier New"/>
              </a:rPr>
              <a:t>    f, P = signal.periodogram(v)</a:t>
            </a:r>
          </a:p>
          <a:p>
            <a:r>
              <a:rPr sz="850">
                <a:solidFill>
                  <a:srgbClr val="6B7385"/>
                </a:solidFill>
                <a:latin typeface="Courier New"/>
              </a:rPr>
              <a:t> 7 </a:t>
            </a:r>
            <a:r>
              <a:rPr sz="850">
                <a:solidFill>
                  <a:srgbClr val="E6EAF0"/>
                </a:solidFill>
                <a:latin typeface="Courier New"/>
              </a:rPr>
              <a:t>    f[np.argmax(P)]                       </a:t>
            </a:r>
            <a:r>
              <a:rPr sz="850">
                <a:solidFill>
                  <a:srgbClr val="8FC99A"/>
                </a:solidFill>
                <a:latin typeface="Courier New"/>
              </a:rPr>
              <a:t># tần số mạnh nhất</a:t>
            </a:r>
          </a:p>
          <a:p>
            <a:r>
              <a:rPr sz="850">
                <a:solidFill>
                  <a:srgbClr val="6B7385"/>
                </a:solidFill>
                <a:latin typeface="Courier New"/>
              </a:rPr>
              <a:t> 8 </a:t>
            </a:r>
          </a:p>
          <a:p>
            <a:r>
              <a:rPr sz="850">
                <a:solidFill>
                  <a:srgbClr val="6B7385"/>
                </a:solidFill>
                <a:latin typeface="Courier New"/>
              </a:rPr>
              <a:t> 9 </a:t>
            </a:r>
            <a:r>
              <a:rPr sz="850">
                <a:solidFill>
                  <a:srgbClr val="E6EAF0"/>
                </a:solidFill>
                <a:latin typeface="Courier New"/>
              </a:rPr>
              <a:t>def pho(y, fs=FS, nperseg=2048):          </a:t>
            </a:r>
            <a:r>
              <a:rPr sz="850">
                <a:solidFill>
                  <a:srgbClr val="8FC99A"/>
                </a:solidFill>
                <a:latin typeface="Courier New"/>
              </a:rPr>
              <a:t># trừ trung bình trước</a:t>
            </a:r>
          </a:p>
          <a:p>
            <a:r>
              <a:rPr sz="850">
                <a:solidFill>
                  <a:srgbClr val="6B7385"/>
                </a:solidFill>
                <a:latin typeface="Courier New"/>
              </a:rPr>
              <a:t>10 </a:t>
            </a:r>
            <a:r>
              <a:rPr sz="850">
                <a:solidFill>
                  <a:srgbClr val="E6EAF0"/>
                </a:solidFill>
                <a:latin typeface="Courier New"/>
              </a:rPr>
              <a:t>    y = np.asarray(y, dtype=float)</a:t>
            </a:r>
          </a:p>
          <a:p>
            <a:r>
              <a:rPr sz="850">
                <a:solidFill>
                  <a:srgbClr val="6B7385"/>
                </a:solidFill>
                <a:latin typeface="Courier New"/>
              </a:rPr>
              <a:t>11 </a:t>
            </a:r>
            <a:r>
              <a:rPr sz="850">
                <a:solidFill>
                  <a:srgbClr val="E6EAF0"/>
                </a:solidFill>
                <a:latin typeface="Courier New"/>
              </a:rPr>
              <a:t>    y = y - np.nanmean(y)</a:t>
            </a:r>
          </a:p>
          <a:p>
            <a:r>
              <a:rPr sz="850">
                <a:solidFill>
                  <a:srgbClr val="6B7385"/>
                </a:solidFill>
                <a:latin typeface="Courier New"/>
              </a:rPr>
              <a:t>12 </a:t>
            </a:r>
            <a:r>
              <a:rPr sz="850">
                <a:solidFill>
                  <a:srgbClr val="E6EAF0"/>
                </a:solidFill>
                <a:latin typeface="Courier New"/>
              </a:rPr>
              <a:t>    return signal.welch(y, fs=fs, nperseg=min(nperseg, y.size))</a:t>
            </a:r>
          </a:p>
          <a:p>
            <a:r>
              <a:rPr sz="850">
                <a:solidFill>
                  <a:srgbClr val="6B7385"/>
                </a:solidFill>
                <a:latin typeface="Courier New"/>
              </a:rPr>
              <a:t>13 </a:t>
            </a:r>
          </a:p>
          <a:p>
            <a:r>
              <a:rPr sz="850">
                <a:solidFill>
                  <a:srgbClr val="6B7385"/>
                </a:solidFill>
                <a:latin typeface="Courier New"/>
              </a:rPr>
              <a:t>14 </a:t>
            </a:r>
            <a:r>
              <a:rPr sz="850">
                <a:solidFill>
                  <a:srgbClr val="E6EAF0"/>
                </a:solidFill>
                <a:latin typeface="Courier New"/>
              </a:rPr>
              <a:t>f, P = pho(dien)                          </a:t>
            </a:r>
            <a:r>
              <a:rPr sz="850">
                <a:solidFill>
                  <a:srgbClr val="8FC99A"/>
                </a:solidFill>
                <a:latin typeface="Courier New"/>
              </a:rPr>
              <a:t># dien: điện thiết bị, Wh</a:t>
            </a:r>
          </a:p>
          <a:p>
            <a:r>
              <a:rPr sz="850">
                <a:solidFill>
                  <a:srgbClr val="6B7385"/>
                </a:solidFill>
                <a:latin typeface="Courier New"/>
              </a:rPr>
              <a:t>15 </a:t>
            </a:r>
            <a:r>
              <a:rPr sz="850">
                <a:solidFill>
                  <a:srgbClr val="E6EAF0"/>
                </a:solidFill>
                <a:latin typeface="Courier New"/>
              </a:rPr>
              <a:t>chu_ky_manh = 1 / f[1:][np.argmax(P[1:])]  </a:t>
            </a:r>
            <a:r>
              <a:rPr sz="850">
                <a:solidFill>
                  <a:srgbClr val="8FC99A"/>
                </a:solidFill>
                <a:latin typeface="Courier New"/>
              </a:rPr>
              <a:t># tính bằng giờ</a:t>
            </a:r>
          </a:p>
          <a:p>
            <a:r>
              <a:rPr sz="850">
                <a:solidFill>
                  <a:srgbClr val="6B7385"/>
                </a:solidFill>
                <a:latin typeface="Courier New"/>
              </a:rPr>
              <a:t>16 </a:t>
            </a:r>
            <a:r>
              <a:rPr sz="850">
                <a:solidFill>
                  <a:srgbClr val="E6EAF0"/>
                </a:solidFill>
                <a:latin typeface="Courier New"/>
              </a:rPr>
              <a:t>nhanh = P[f &gt; 1].sum() / P[1:].sum()      </a:t>
            </a:r>
            <a:r>
              <a:rPr sz="850">
                <a:solidFill>
                  <a:srgbClr val="8FC99A"/>
                </a:solidFill>
                <a:latin typeface="Courier New"/>
              </a:rPr>
              <a:t># phần năng lượng dưới 1 giờ</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buoi-12/tu-hoc.ipynb, phần 2</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5–7</a:t>
            </a:r>
          </a:p>
        </p:txBody>
      </p:sp>
      <p:sp>
        <p:nvSpPr>
          <p:cNvPr id="11" name="TextBox 10"/>
          <p:cNvSpPr txBox="1"/>
          <p:nvPr/>
        </p:nvSpPr>
        <p:spPr>
          <a:xfrm>
            <a:off x="1353312" y="4634357"/>
            <a:ext cx="2697480" cy="457200"/>
          </a:xfrm>
          <a:prstGeom prst="rect">
            <a:avLst/>
          </a:prstGeom>
          <a:noFill/>
        </p:spPr>
        <p:txBody>
          <a:bodyPr wrap="square" lIns="0" rIns="0" tIns="0" bIns="0" anchor="t">
            <a:spAutoFit/>
          </a:bodyPr>
          <a:lstStyle/>
          <a:p>
            <a:pPr algn="l"/>
            <a:r>
              <a:rPr sz="1050" b="0" i="0">
                <a:solidFill>
                  <a:srgbClr val="1B2A41"/>
                </a:solidFill>
                <a:latin typeface="Arial"/>
              </a:rPr>
              <a:t>Hai dãy tay: lặp mỗi 2 bước và mỗi 6 bước.</a:t>
            </a:r>
          </a:p>
        </p:txBody>
      </p:sp>
      <p:sp>
        <p:nvSpPr>
          <p:cNvPr id="12" name="Rounded Rectangle 11"/>
          <p:cNvSpPr/>
          <p:nvPr/>
        </p:nvSpPr>
        <p:spPr>
          <a:xfrm>
            <a:off x="548640" y="51098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9–12</a:t>
            </a:r>
          </a:p>
        </p:txBody>
      </p:sp>
      <p:sp>
        <p:nvSpPr>
          <p:cNvPr id="13" name="TextBox 12"/>
          <p:cNvSpPr txBox="1"/>
          <p:nvPr/>
        </p:nvSpPr>
        <p:spPr>
          <a:xfrm>
            <a:off x="1353312" y="5091557"/>
            <a:ext cx="2697480" cy="457200"/>
          </a:xfrm>
          <a:prstGeom prst="rect">
            <a:avLst/>
          </a:prstGeom>
          <a:noFill/>
        </p:spPr>
        <p:txBody>
          <a:bodyPr wrap="square" lIns="0" rIns="0" tIns="0" bIns="0" anchor="t">
            <a:spAutoFit/>
          </a:bodyPr>
          <a:lstStyle/>
          <a:p>
            <a:pPr algn="l"/>
            <a:r>
              <a:rPr sz="1050" b="0" i="0">
                <a:solidFill>
                  <a:srgbClr val="1B2A41"/>
                </a:solidFill>
                <a:latin typeface="Arial"/>
              </a:rPr>
              <a:t>Trừ trung bình để tần số 0 không át hết.</a:t>
            </a:r>
          </a:p>
        </p:txBody>
      </p:sp>
      <p:sp>
        <p:nvSpPr>
          <p:cNvPr id="14" name="Rounded Rectangle 13"/>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14–15</a:t>
            </a:r>
          </a:p>
        </p:txBody>
      </p:sp>
      <p:sp>
        <p:nvSpPr>
          <p:cNvPr id="15" name="TextBox 14"/>
          <p:cNvSpPr txBox="1"/>
          <p:nvPr/>
        </p:nvSpPr>
        <p:spPr>
          <a:xfrm>
            <a:off x="4965192" y="4634357"/>
            <a:ext cx="2697480" cy="457200"/>
          </a:xfrm>
          <a:prstGeom prst="rect">
            <a:avLst/>
          </a:prstGeom>
          <a:noFill/>
        </p:spPr>
        <p:txBody>
          <a:bodyPr wrap="square" lIns="0" rIns="0" tIns="0" bIns="0" anchor="t">
            <a:spAutoFit/>
          </a:bodyPr>
          <a:lstStyle/>
          <a:p>
            <a:pPr algn="l"/>
            <a:r>
              <a:rPr sz="1050" b="0" i="0">
                <a:solidFill>
                  <a:srgbClr val="1B2A41"/>
                </a:solidFill>
                <a:latin typeface="Arial"/>
              </a:rPr>
              <a:t>Chu kỳ mạnh nhất, bỏ qua tần số 0.</a:t>
            </a:r>
          </a:p>
        </p:txBody>
      </p:sp>
      <p:sp>
        <p:nvSpPr>
          <p:cNvPr id="16" name="Rounded Rectangle 15"/>
          <p:cNvSpPr/>
          <p:nvPr/>
        </p:nvSpPr>
        <p:spPr>
          <a:xfrm>
            <a:off x="4160520" y="51098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16</a:t>
            </a:r>
          </a:p>
        </p:txBody>
      </p:sp>
      <p:sp>
        <p:nvSpPr>
          <p:cNvPr id="17" name="TextBox 16"/>
          <p:cNvSpPr txBox="1"/>
          <p:nvPr/>
        </p:nvSpPr>
        <p:spPr>
          <a:xfrm>
            <a:off x="4965192" y="5091557"/>
            <a:ext cx="2697480" cy="457200"/>
          </a:xfrm>
          <a:prstGeom prst="rect">
            <a:avLst/>
          </a:prstGeom>
          <a:noFill/>
        </p:spPr>
        <p:txBody>
          <a:bodyPr wrap="square" lIns="0" rIns="0" tIns="0" bIns="0" anchor="t">
            <a:spAutoFit/>
          </a:bodyPr>
          <a:lstStyle/>
          <a:p>
            <a:pPr algn="l"/>
            <a:r>
              <a:rPr sz="1050" b="0" i="0">
                <a:solidFill>
                  <a:srgbClr val="1B2A41"/>
                </a:solidFill>
                <a:latin typeface="Arial"/>
              </a:rPr>
              <a:t>Tỷ lệ năng lượng ở dao động nhanh hơn 1 giờ.</a:t>
            </a:r>
          </a:p>
        </p:txBody>
      </p:sp>
      <p:sp>
        <p:nvSpPr>
          <p:cNvPr id="18" name="Rounded Rectangle 17"/>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Ví dụ tay: đỉnh ở 0,5 và 1/6. Cả hai cảm biến có đỉnh 24,38 giờ; điện thiết bị có 17,8% năng lượng dưới 1 giờ, nhiệt độ phòng 0,0.</a:t>
            </a:r>
          </a:p>
        </p:txBody>
      </p:sp>
      <p:sp>
        <p:nvSpPr>
          <p:cNvPr id="20" name="TextBox 19"/>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1" name="TextBox 20"/>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signal.periodogram</a:t>
            </a:r>
            <a:r>
              <a:rPr sz="950" b="1" i="0">
                <a:solidFill>
                  <a:srgbClr val="5B6778"/>
                </a:solidFill>
                <a:latin typeface="Arial"/>
              </a:rPr>
              <a:t>   scipy</a:t>
            </a:r>
          </a:p>
        </p:txBody>
      </p:sp>
      <p:sp>
        <p:nvSpPr>
          <p:cNvPr id="22" name="TextBox 21"/>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Tính năng lượng của từng tần số trong một dãy số.</a:t>
            </a:r>
          </a:p>
        </p:txBody>
      </p:sp>
      <p:sp>
        <p:nvSpPr>
          <p:cNvPr id="23" name="TextBox 22"/>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signal.welch</a:t>
            </a:r>
            <a:r>
              <a:rPr sz="950" b="1" i="0">
                <a:solidFill>
                  <a:srgbClr val="5B6778"/>
                </a:solidFill>
                <a:latin typeface="Arial"/>
              </a:rPr>
              <a:t>   scipy</a:t>
            </a:r>
          </a:p>
        </p:txBody>
      </p:sp>
      <p:sp>
        <p:nvSpPr>
          <p:cNvPr id="24" name="TextBox 23"/>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Phổ ổn định: chia chuỗi thành đoạn, lấy trung bình phổ các đoạn.</a:t>
            </a:r>
          </a:p>
        </p:txBody>
      </p:sp>
      <p:sp>
        <p:nvSpPr>
          <p:cNvPr id="25" name="TextBox 24"/>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np.argmax</a:t>
            </a:r>
            <a:r>
              <a:rPr sz="950" b="1" i="0">
                <a:solidFill>
                  <a:srgbClr val="5B6778"/>
                </a:solidFill>
                <a:latin typeface="Arial"/>
              </a:rPr>
              <a:t>   numpy</a:t>
            </a:r>
          </a:p>
        </p:txBody>
      </p:sp>
      <p:sp>
        <p:nvSpPr>
          <p:cNvPr id="26" name="TextBox 25"/>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Vị trí của giá trị lớn nhất.</a:t>
            </a:r>
          </a:p>
        </p:txBody>
      </p:sp>
      <p:pic>
        <p:nvPicPr>
          <p:cNvPr id="27" name="Picture 26" descr="kn-periodogram-welch.png"/>
          <p:cNvPicPr>
            <a:picLocks noChangeAspect="1"/>
          </p:cNvPicPr>
          <p:nvPr/>
        </p:nvPicPr>
        <p:blipFill>
          <a:blip r:embed="rId2"/>
          <a:stretch>
            <a:fillRect/>
          </a:stretch>
        </p:blipFill>
        <p:spPr>
          <a:xfrm>
            <a:off x="7863840" y="4336542"/>
            <a:ext cx="3776472" cy="1888236"/>
          </a:xfrm>
          <a:prstGeom prst="rect">
            <a:avLst/>
          </a:prstGeom>
        </p:spPr>
      </p:pic>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lọc thông thấp rồi mới hạ mẫu</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12</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Hạ mẫu thô làm dao động nhanh gập thành chu kỳ giả; lọc trước thì chu kỳ đó biến mất.</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from scipy import signal</a:t>
            </a:r>
          </a:p>
          <a:p>
            <a:r>
              <a:rPr sz="850">
                <a:solidFill>
                  <a:srgbClr val="6B7385"/>
                </a:solidFill>
                <a:latin typeface="Courier New"/>
              </a:rPr>
              <a:t> 3 </a:t>
            </a:r>
            <a:r>
              <a:rPr sz="850">
                <a:solidFill>
                  <a:srgbClr val="E6EAF0"/>
                </a:solidFill>
                <a:latin typeface="Courier New"/>
              </a:rPr>
              <a:t>FS = 6.0                                   </a:t>
            </a:r>
            <a:r>
              <a:rPr sz="850">
                <a:solidFill>
                  <a:srgbClr val="8FC99A"/>
                </a:solidFill>
                <a:latin typeface="Courier New"/>
              </a:rPr>
              <a:t># 6 mẫu mỗi giờ</a:t>
            </a:r>
          </a:p>
          <a:p>
            <a:r>
              <a:rPr sz="850">
                <a:solidFill>
                  <a:srgbClr val="6B7385"/>
                </a:solidFill>
                <a:latin typeface="Courier New"/>
              </a:rPr>
              <a:t> 4 </a:t>
            </a:r>
          </a:p>
          <a:p>
            <a:r>
              <a:rPr sz="850">
                <a:solidFill>
                  <a:srgbClr val="6B7385"/>
                </a:solidFill>
                <a:latin typeface="Courier New"/>
              </a:rPr>
              <a:t> 5 </a:t>
            </a:r>
            <a:r>
              <a:rPr sz="850">
                <a:solidFill>
                  <a:srgbClr val="E6EAF0"/>
                </a:solidFill>
                <a:latin typeface="Courier New"/>
              </a:rPr>
              <a:t>def f_gia(f, fs):                          </a:t>
            </a:r>
            <a:r>
              <a:rPr sz="850">
                <a:solidFill>
                  <a:srgbClr val="8FC99A"/>
                </a:solidFill>
                <a:latin typeface="Courier New"/>
              </a:rPr>
              <a:t># tần số giả sau khi lấy mẫu</a:t>
            </a:r>
          </a:p>
          <a:p>
            <a:r>
              <a:rPr sz="850">
                <a:solidFill>
                  <a:srgbClr val="6B7385"/>
                </a:solidFill>
                <a:latin typeface="Courier New"/>
              </a:rPr>
              <a:t> 6 </a:t>
            </a:r>
            <a:r>
              <a:rPr sz="850">
                <a:solidFill>
                  <a:srgbClr val="E6EAF0"/>
                </a:solidFill>
                <a:latin typeface="Courier New"/>
              </a:rPr>
              <a:t>    return abs(f - round(f / fs) * fs)</a:t>
            </a:r>
          </a:p>
          <a:p>
            <a:r>
              <a:rPr sz="850">
                <a:solidFill>
                  <a:srgbClr val="6B7385"/>
                </a:solidFill>
                <a:latin typeface="Courier New"/>
              </a:rPr>
              <a:t> 7 </a:t>
            </a:r>
          </a:p>
          <a:p>
            <a:r>
              <a:rPr sz="850">
                <a:solidFill>
                  <a:srgbClr val="6B7385"/>
                </a:solidFill>
                <a:latin typeface="Courier New"/>
              </a:rPr>
              <a:t> 8 </a:t>
            </a:r>
            <a:r>
              <a:rPr sz="850">
                <a:solidFill>
                  <a:srgbClr val="E6EAF0"/>
                </a:solidFill>
                <a:latin typeface="Courier New"/>
              </a:rPr>
              <a:t>def ha_mau(y, buoc=6, loc_truoc=True):</a:t>
            </a:r>
          </a:p>
          <a:p>
            <a:r>
              <a:rPr sz="850">
                <a:solidFill>
                  <a:srgbClr val="6B7385"/>
                </a:solidFill>
                <a:latin typeface="Courier New"/>
              </a:rPr>
              <a:t> 9 </a:t>
            </a:r>
            <a:r>
              <a:rPr sz="850">
                <a:solidFill>
                  <a:srgbClr val="E6EAF0"/>
                </a:solidFill>
                <a:latin typeface="Courier New"/>
              </a:rPr>
              <a:t>    y = np.asarray(y, dtype=float)</a:t>
            </a:r>
          </a:p>
          <a:p>
            <a:r>
              <a:rPr sz="850">
                <a:solidFill>
                  <a:srgbClr val="6B7385"/>
                </a:solidFill>
                <a:latin typeface="Courier New"/>
              </a:rPr>
              <a:t>10 </a:t>
            </a:r>
            <a:r>
              <a:rPr sz="850">
                <a:solidFill>
                  <a:srgbClr val="E6EAF0"/>
                </a:solidFill>
                <a:latin typeface="Courier New"/>
              </a:rPr>
              <a:t>    if not loc_truoc:</a:t>
            </a:r>
          </a:p>
          <a:p>
            <a:r>
              <a:rPr sz="850">
                <a:solidFill>
                  <a:srgbClr val="6B7385"/>
                </a:solidFill>
                <a:latin typeface="Courier New"/>
              </a:rPr>
              <a:t>11 </a:t>
            </a:r>
            <a:r>
              <a:rPr sz="850">
                <a:solidFill>
                  <a:srgbClr val="E6EAF0"/>
                </a:solidFill>
                <a:latin typeface="Courier New"/>
              </a:rPr>
              <a:t>        return y[::buoc]                   </a:t>
            </a:r>
            <a:r>
              <a:rPr sz="850">
                <a:solidFill>
                  <a:srgbClr val="8FC99A"/>
                </a:solidFill>
                <a:latin typeface="Courier New"/>
              </a:rPr>
              <a:t># hạ mẫu thô</a:t>
            </a:r>
          </a:p>
          <a:p>
            <a:r>
              <a:rPr sz="850">
                <a:solidFill>
                  <a:srgbClr val="6B7385"/>
                </a:solidFill>
                <a:latin typeface="Courier New"/>
              </a:rPr>
              <a:t>12 </a:t>
            </a:r>
            <a:r>
              <a:rPr sz="850">
                <a:solidFill>
                  <a:srgbClr val="E6EAF0"/>
                </a:solidFill>
                <a:latin typeface="Courier New"/>
              </a:rPr>
              <a:t>    sos = signal.butter(8, 0.8 * FS / buoc / 2, fs=FS, output="sos")</a:t>
            </a:r>
          </a:p>
          <a:p>
            <a:r>
              <a:rPr sz="850">
                <a:solidFill>
                  <a:srgbClr val="6B7385"/>
                </a:solidFill>
                <a:latin typeface="Courier New"/>
              </a:rPr>
              <a:t>13 </a:t>
            </a:r>
            <a:r>
              <a:rPr sz="850">
                <a:solidFill>
                  <a:srgbClr val="E6EAF0"/>
                </a:solidFill>
                <a:latin typeface="Courier New"/>
              </a:rPr>
              <a:t>    return signal.sosfiltfilt(sos, y)[::buoc]   </a:t>
            </a:r>
            <a:r>
              <a:rPr sz="850">
                <a:solidFill>
                  <a:srgbClr val="8FC99A"/>
                </a:solidFill>
                <a:latin typeface="Courier New"/>
              </a:rPr>
              <a:t># hai chiều: chỉ lịch sử</a:t>
            </a:r>
          </a:p>
          <a:p>
            <a:r>
              <a:rPr sz="850">
                <a:solidFill>
                  <a:srgbClr val="6B7385"/>
                </a:solidFill>
                <a:latin typeface="Courier New"/>
              </a:rPr>
              <a:t>14 </a:t>
            </a:r>
          </a:p>
          <a:p>
            <a:r>
              <a:rPr sz="850">
                <a:solidFill>
                  <a:srgbClr val="6B7385"/>
                </a:solidFill>
                <a:latin typeface="Courier New"/>
              </a:rPr>
              <a:t>15 </a:t>
            </a:r>
            <a:r>
              <a:rPr sz="850">
                <a:solidFill>
                  <a:srgbClr val="E6EAF0"/>
                </a:solidFill>
                <a:latin typeface="Courier New"/>
              </a:rPr>
              <a:t>t = np.arange(6000) / FS                   </a:t>
            </a:r>
            <a:r>
              <a:rPr sz="850">
                <a:solidFill>
                  <a:srgbClr val="8FC99A"/>
                </a:solidFill>
                <a:latin typeface="Courier New"/>
              </a:rPr>
              <a:t># thời gian, tính bằng giờ</a:t>
            </a:r>
          </a:p>
          <a:p>
            <a:r>
              <a:rPr sz="850">
                <a:solidFill>
                  <a:srgbClr val="6B7385"/>
                </a:solidFill>
                <a:latin typeface="Courier New"/>
              </a:rPr>
              <a:t>16 </a:t>
            </a:r>
            <a:r>
              <a:rPr sz="850">
                <a:solidFill>
                  <a:srgbClr val="E6EAF0"/>
                </a:solidFill>
                <a:latin typeface="Courier New"/>
              </a:rPr>
              <a:t>y = 20 + 2 * np.sin(2 * np.pi * t / 24) + 0.5 * np.sin(2 * np.pi * 1.4 * t)</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buoi-12/tu-hoc.ipynb, phần 3</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5–6</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Tính tần số bị gập về sau khi lấy mẫu.</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11</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Lấy mỗi 6 mẫu một: dễ sinh chu kỳ giả.</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12</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Bộ lọc cắt ở 0,8 lần Nyquist mới.</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13</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Lọc hai chiều rồi mới lấy mẫu.</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15–16</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Nhịp ngày cộng dao động 1,4 chu kỳ/giờ.</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1,4 chu kỳ/giờ lấy mẫu mỗi giờ gập thành 0,4: chu kỳ giả 2,5 giờ, công suất 64,0 khi hạ mẫu thô và 0,0 khi lọc trước.</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signal.butter</a:t>
            </a:r>
            <a:r>
              <a:rPr sz="950" b="1" i="0">
                <a:solidFill>
                  <a:srgbClr val="5B6778"/>
                </a:solidFill>
                <a:latin typeface="Arial"/>
              </a:rPr>
              <a:t>   scipy</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Thiết kế bộ lọc Butterworth: giữ tần số thấp, chặn tần số cao.</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signal.sosfiltfilt</a:t>
            </a:r>
            <a:r>
              <a:rPr sz="950" b="1" i="0">
                <a:solidFill>
                  <a:srgbClr val="5B6778"/>
                </a:solidFill>
                <a:latin typeface="Arial"/>
              </a:rPr>
              <a:t>   scipy</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Lọc xuôi rồi lọc ngược: không trễ nhưng dùng cả tương lai.</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y[::buoc]</a:t>
            </a:r>
            <a:r>
              <a:rPr sz="950" b="1" i="0">
                <a:solidFill>
                  <a:srgbClr val="5B6778"/>
                </a:solidFill>
                <a:latin typeface="Arial"/>
              </a:rPr>
              <a:t>   numpy</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Lấy một phần tử sau mỗi buoc phần tử.</a:t>
            </a:r>
          </a:p>
        </p:txBody>
      </p:sp>
      <p:sp>
        <p:nvSpPr>
          <p:cNvPr id="29" name="Rounded Rectangle 28"/>
          <p:cNvSpPr/>
          <p:nvPr/>
        </p:nvSpPr>
        <p:spPr>
          <a:xfrm>
            <a:off x="7863840" y="4059935"/>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b19d5f073c2b.png"/>
          <p:cNvPicPr>
            <a:picLocks noChangeAspect="1"/>
          </p:cNvPicPr>
          <p:nvPr/>
        </p:nvPicPr>
        <p:blipFill>
          <a:blip r:embed="rId2"/>
          <a:stretch>
            <a:fillRect/>
          </a:stretch>
        </p:blipFill>
        <p:spPr>
          <a:xfrm>
            <a:off x="9073895" y="4213859"/>
            <a:ext cx="1356360" cy="240791"/>
          </a:xfrm>
          <a:prstGeom prst="rect">
            <a:avLst/>
          </a:prstGeom>
        </p:spPr>
      </p:pic>
      <p:pic>
        <p:nvPicPr>
          <p:cNvPr id="31" name="Picture 30" descr="kn-aliasing.png"/>
          <p:cNvPicPr>
            <a:picLocks noChangeAspect="1"/>
          </p:cNvPicPr>
          <p:nvPr/>
        </p:nvPicPr>
        <p:blipFill>
          <a:blip r:embed="rId3"/>
          <a:stretch>
            <a:fillRect/>
          </a:stretch>
        </p:blipFill>
        <p:spPr>
          <a:xfrm>
            <a:off x="8129767" y="4745735"/>
            <a:ext cx="3244617" cy="1728216"/>
          </a:xfrm>
          <a:prstGeom prst="rect">
            <a:avLst/>
          </a:prstGeom>
        </p:spPr>
      </p:pic>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sáu họ bộ lọc</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12</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Chạy các họ bộ lọc trên cùng chuỗi mô phỏng để so độ trơn, độ trễ và việc nhìn tương lai.</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pandas as pd</a:t>
            </a:r>
          </a:p>
          <a:p>
            <a:r>
              <a:rPr sz="850">
                <a:solidFill>
                  <a:srgbClr val="6B7385"/>
                </a:solidFill>
                <a:latin typeface="Courier New"/>
              </a:rPr>
              <a:t> 2 </a:t>
            </a:r>
            <a:r>
              <a:rPr sz="850">
                <a:solidFill>
                  <a:srgbClr val="E6EAF0"/>
                </a:solidFill>
                <a:latin typeface="Courier New"/>
              </a:rPr>
              <a:t>from scipy import signal</a:t>
            </a:r>
          </a:p>
          <a:p>
            <a:r>
              <a:rPr sz="850">
                <a:solidFill>
                  <a:srgbClr val="6B7385"/>
                </a:solidFill>
                <a:latin typeface="Courier New"/>
              </a:rPr>
              <a:t> 3 </a:t>
            </a:r>
            <a:r>
              <a:rPr sz="850">
                <a:solidFill>
                  <a:srgbClr val="E6EAF0"/>
                </a:solidFill>
                <a:latin typeface="Courier New"/>
              </a:rPr>
              <a:t>from statsmodels.tsa.statespace.structural import UnobservedComponents</a:t>
            </a:r>
          </a:p>
          <a:p>
            <a:r>
              <a:rPr sz="850">
                <a:solidFill>
                  <a:srgbClr val="6B7385"/>
                </a:solidFill>
                <a:latin typeface="Courier New"/>
              </a:rPr>
              <a:t> 4 </a:t>
            </a:r>
          </a:p>
          <a:p>
            <a:r>
              <a:rPr sz="850">
                <a:solidFill>
                  <a:srgbClr val="6B7385"/>
                </a:solidFill>
                <a:latin typeface="Courier New"/>
              </a:rPr>
              <a:t> 5 </a:t>
            </a:r>
            <a:r>
              <a:rPr sz="850">
                <a:solidFill>
                  <a:srgbClr val="E6EAF0"/>
                </a:solidFill>
                <a:latin typeface="Courier New"/>
              </a:rPr>
              <a:t>s = pd.Series(mp)                    </a:t>
            </a:r>
            <a:r>
              <a:rPr sz="850">
                <a:solidFill>
                  <a:srgbClr val="8FC99A"/>
                </a:solidFill>
                <a:latin typeface="Courier New"/>
              </a:rPr>
              <a:t># mp: mô phỏng có nhiễu, seed 0</a:t>
            </a:r>
          </a:p>
          <a:p>
            <a:r>
              <a:rPr sz="850">
                <a:solidFill>
                  <a:srgbClr val="6B7385"/>
                </a:solidFill>
                <a:latin typeface="Courier New"/>
              </a:rPr>
              <a:t> 6 </a:t>
            </a:r>
            <a:r>
              <a:rPr sz="850">
                <a:solidFill>
                  <a:srgbClr val="E6EAF0"/>
                </a:solidFill>
                <a:latin typeface="Courier New"/>
              </a:rPr>
              <a:t>sos = signal.butter(4, 0.05, output="sos")        </a:t>
            </a:r>
            <a:r>
              <a:rPr sz="850">
                <a:solidFill>
                  <a:srgbClr val="8FC99A"/>
                </a:solidFill>
                <a:latin typeface="Courier New"/>
              </a:rPr>
              <a:t># Butterworth bậc 4</a:t>
            </a:r>
          </a:p>
          <a:p>
            <a:r>
              <a:rPr sz="850">
                <a:solidFill>
                  <a:srgbClr val="6B7385"/>
                </a:solidFill>
                <a:latin typeface="Courier New"/>
              </a:rPr>
              <a:t> 7 </a:t>
            </a:r>
            <a:r>
              <a:rPr sz="850">
                <a:solidFill>
                  <a:srgbClr val="E6EAF0"/>
                </a:solidFill>
                <a:latin typeface="Courier New"/>
              </a:rPr>
              <a:t>uc = UnobservedComponents(mp, level="local level")</a:t>
            </a:r>
          </a:p>
          <a:p>
            <a:r>
              <a:rPr sz="850">
                <a:solidFill>
                  <a:srgbClr val="6B7385"/>
                </a:solidFill>
                <a:latin typeface="Courier New"/>
              </a:rPr>
              <a:t> 8 </a:t>
            </a:r>
            <a:r>
              <a:rPr sz="850">
                <a:solidFill>
                  <a:srgbClr val="E6EAF0"/>
                </a:solidFill>
                <a:latin typeface="Courier New"/>
              </a:rPr>
              <a:t>p = UnobservedComponents(mp[:666], level="local level").fit(disp=0).params</a:t>
            </a:r>
          </a:p>
          <a:p>
            <a:r>
              <a:rPr sz="850">
                <a:solidFill>
                  <a:srgbClr val="6B7385"/>
                </a:solidFill>
                <a:latin typeface="Courier New"/>
              </a:rPr>
              <a:t> 9 </a:t>
            </a:r>
            <a:r>
              <a:rPr sz="850">
                <a:solidFill>
                  <a:srgbClr val="E6EAF0"/>
                </a:solidFill>
                <a:latin typeface="Courier New"/>
              </a:rPr>
              <a:t>ra = {"MA trailing 13": s.rolling(13, min_periods=1).mean(),</a:t>
            </a:r>
          </a:p>
          <a:p>
            <a:r>
              <a:rPr sz="850">
                <a:solidFill>
                  <a:srgbClr val="6B7385"/>
                </a:solidFill>
                <a:latin typeface="Courier New"/>
              </a:rPr>
              <a:t>10 </a:t>
            </a:r>
            <a:r>
              <a:rPr sz="850">
                <a:solidFill>
                  <a:srgbClr val="E6EAF0"/>
                </a:solidFill>
                <a:latin typeface="Courier New"/>
              </a:rPr>
              <a:t>      "MA centered 13": s.rolling(13, center=True, min_periods=1).mean(),</a:t>
            </a:r>
          </a:p>
          <a:p>
            <a:r>
              <a:rPr sz="850">
                <a:solidFill>
                  <a:srgbClr val="6B7385"/>
                </a:solidFill>
                <a:latin typeface="Courier New"/>
              </a:rPr>
              <a:t>11 </a:t>
            </a:r>
            <a:r>
              <a:rPr sz="850">
                <a:solidFill>
                  <a:srgbClr val="E6EAF0"/>
                </a:solidFill>
                <a:latin typeface="Courier New"/>
              </a:rPr>
              <a:t>      "EWMA α=0,15": s.ewm(alpha=0.15).mean(),</a:t>
            </a:r>
          </a:p>
          <a:p>
            <a:r>
              <a:rPr sz="850">
                <a:solidFill>
                  <a:srgbClr val="6B7385"/>
                </a:solidFill>
                <a:latin typeface="Courier New"/>
              </a:rPr>
              <a:t>12 </a:t>
            </a:r>
            <a:r>
              <a:rPr sz="850">
                <a:solidFill>
                  <a:srgbClr val="E6EAF0"/>
                </a:solidFill>
                <a:latin typeface="Courier New"/>
              </a:rPr>
              <a:t>      "Savitzky–Golay 13": signal.savgol_filter(mp, 13, 2),</a:t>
            </a:r>
          </a:p>
          <a:p>
            <a:r>
              <a:rPr sz="850">
                <a:solidFill>
                  <a:srgbClr val="6B7385"/>
                </a:solidFill>
                <a:latin typeface="Courier New"/>
              </a:rPr>
              <a:t>13 </a:t>
            </a:r>
            <a:r>
              <a:rPr sz="850">
                <a:solidFill>
                  <a:srgbClr val="E6EAF0"/>
                </a:solidFill>
                <a:latin typeface="Courier New"/>
              </a:rPr>
              <a:t>      "Butterworth nhân quả": signal.sosfilt(sos, mp),</a:t>
            </a:r>
          </a:p>
          <a:p>
            <a:r>
              <a:rPr sz="850">
                <a:solidFill>
                  <a:srgbClr val="6B7385"/>
                </a:solidFill>
                <a:latin typeface="Courier New"/>
              </a:rPr>
              <a:t>14 </a:t>
            </a:r>
            <a:r>
              <a:rPr sz="850">
                <a:solidFill>
                  <a:srgbClr val="E6EAF0"/>
                </a:solidFill>
                <a:latin typeface="Courier New"/>
              </a:rPr>
              <a:t>      "Butterworth filtfilt": signal.sosfiltfilt(sos, mp),</a:t>
            </a:r>
          </a:p>
          <a:p>
            <a:r>
              <a:rPr sz="850">
                <a:solidFill>
                  <a:srgbClr val="6B7385"/>
                </a:solidFill>
                <a:latin typeface="Courier New"/>
              </a:rPr>
              <a:t>15 </a:t>
            </a:r>
            <a:r>
              <a:rPr sz="850">
                <a:solidFill>
                  <a:srgbClr val="E6EAF0"/>
                </a:solidFill>
                <a:latin typeface="Courier New"/>
              </a:rPr>
              <a:t>      "Kalman filter": uc.filter(p).filtered_state[0],</a:t>
            </a:r>
          </a:p>
          <a:p>
            <a:r>
              <a:rPr sz="850">
                <a:solidFill>
                  <a:srgbClr val="6B7385"/>
                </a:solidFill>
                <a:latin typeface="Courier New"/>
              </a:rPr>
              <a:t>16 </a:t>
            </a:r>
            <a:r>
              <a:rPr sz="850">
                <a:solidFill>
                  <a:srgbClr val="E6EAF0"/>
                </a:solidFill>
                <a:latin typeface="Courier New"/>
              </a:rPr>
              <a:t>      "Kalman smoother": uc.smooth(p).smoothed_state[0]}</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buoi-12/tu-hoc.ipynb, phần 4</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7–8</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Tham số Kalman chỉ học trên 1/3 đầu.</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9–11</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Trung bình trượt hai kiểu và EWMA.</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12</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Khớp đa thức bậc 2 trong cửa sổ 13.</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13–14</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Cùng bộ lọc, một chiều hay hai chiều.</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15–16</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Kalman: filter chỉ quá khứ, smoother cả hai.</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Ba RMSE thấp nhất (centered 0,357, Kalman smoother, Savitzky–Golay) đều nhìn tương lai. Nhân quả tốt nhất: Kalman filter 0,584, trễ 1.</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ewm(alpha).mean()</a:t>
            </a:r>
            <a:r>
              <a:rPr sz="950" b="1" i="0">
                <a:solidFill>
                  <a:srgbClr val="5B6778"/>
                </a:solidFill>
                <a:latin typeface="Arial"/>
              </a:rPr>
              <a:t>   pandas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Trung bình có trọng số giảm dần về quá khứ.</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signal.savgol_filter</a:t>
            </a:r>
            <a:r>
              <a:rPr sz="950" b="1" i="0">
                <a:solidFill>
                  <a:srgbClr val="5B6778"/>
                </a:solidFill>
                <a:latin typeface="Arial"/>
              </a:rPr>
              <a:t>   scipy</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Khớp đa thức trong cửa sổ trượt có tâm, giữ đỉnh tốt.</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UnobservedComponents</a:t>
            </a:r>
            <a:r>
              <a:rPr sz="950" b="1" i="0">
                <a:solidFill>
                  <a:srgbClr val="5B6778"/>
                </a:solidFill>
                <a:latin typeface="Arial"/>
              </a:rPr>
              <a:t>   statsmodels</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Mô hình mức đổi dần; filter chỉ dùng quá khứ, smooth dùng cả hai phía.</a:t>
            </a:r>
          </a:p>
        </p:txBody>
      </p:sp>
      <p:sp>
        <p:nvSpPr>
          <p:cNvPr id="29" name="Rounded Rectangle 28"/>
          <p:cNvSpPr/>
          <p:nvPr/>
        </p:nvSpPr>
        <p:spPr>
          <a:xfrm>
            <a:off x="7863840" y="4059935"/>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40ab913f0582.png"/>
          <p:cNvPicPr>
            <a:picLocks noChangeAspect="1"/>
          </p:cNvPicPr>
          <p:nvPr/>
        </p:nvPicPr>
        <p:blipFill>
          <a:blip r:embed="rId2"/>
          <a:stretch>
            <a:fillRect/>
          </a:stretch>
        </p:blipFill>
        <p:spPr>
          <a:xfrm>
            <a:off x="8602980" y="4227575"/>
            <a:ext cx="2298192" cy="213360"/>
          </a:xfrm>
          <a:prstGeom prst="rect">
            <a:avLst/>
          </a:prstGeom>
        </p:spPr>
      </p:pic>
      <p:pic>
        <p:nvPicPr>
          <p:cNvPr id="31" name="Picture 30" descr="kn-tre-pha.png"/>
          <p:cNvPicPr>
            <a:picLocks noChangeAspect="1"/>
          </p:cNvPicPr>
          <p:nvPr/>
        </p:nvPicPr>
        <p:blipFill>
          <a:blip r:embed="rId3"/>
          <a:stretch>
            <a:fillRect/>
          </a:stretch>
        </p:blipFill>
        <p:spPr>
          <a:xfrm>
            <a:off x="8226046" y="4745735"/>
            <a:ext cx="3052058" cy="1728216"/>
          </a:xfrm>
          <a:prstGeom prst="rect">
            <a:avLst/>
          </a:prstGeom>
        </p:spPr>
      </p:pic>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đổi đuôi, xem đầu</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12</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Một phép thử chạy được cho mọi bộ lọc: đổi đuôi chuỗi, xem quá khứ có bị đổi theo không.</a:t>
            </a:r>
          </a:p>
        </p:txBody>
      </p:sp>
      <p:sp>
        <p:nvSpPr>
          <p:cNvPr id="6" name="Rounded Rectangle 5"/>
          <p:cNvSpPr/>
          <p:nvPr/>
        </p:nvSpPr>
        <p:spPr>
          <a:xfrm>
            <a:off x="548640" y="1737360"/>
            <a:ext cx="7086600" cy="2455545"/>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35505"/>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numpy as np</a:t>
            </a:r>
          </a:p>
          <a:p>
            <a:r>
              <a:rPr sz="950">
                <a:solidFill>
                  <a:srgbClr val="6B7385"/>
                </a:solidFill>
                <a:latin typeface="Courier New"/>
              </a:rPr>
              <a:t> 2 </a:t>
            </a:r>
          </a:p>
          <a:p>
            <a:r>
              <a:rPr sz="950">
                <a:solidFill>
                  <a:srgbClr val="6B7385"/>
                </a:solidFill>
                <a:latin typeface="Courier New"/>
              </a:rPr>
              <a:t> 3 </a:t>
            </a:r>
            <a:r>
              <a:rPr sz="950">
                <a:solidFill>
                  <a:srgbClr val="E6EAF0"/>
                </a:solidFill>
                <a:latin typeface="Courier New"/>
              </a:rPr>
              <a:t>def kiem_nhan_qua(ham_loc, y, so_diem_doi=10, thay_doi=50.0):</a:t>
            </a:r>
          </a:p>
          <a:p>
            <a:r>
              <a:rPr sz="950">
                <a:solidFill>
                  <a:srgbClr val="6B7385"/>
                </a:solidFill>
                <a:latin typeface="Courier New"/>
              </a:rPr>
              <a:t> 4 </a:t>
            </a:r>
            <a:r>
              <a:rPr sz="950">
                <a:solidFill>
                  <a:srgbClr val="E6EAF0"/>
                </a:solidFill>
                <a:latin typeface="Courier New"/>
              </a:rPr>
              <a:t>    y = np.asarray(y, dtype=float)</a:t>
            </a:r>
          </a:p>
          <a:p>
            <a:r>
              <a:rPr sz="950">
                <a:solidFill>
                  <a:srgbClr val="6B7385"/>
                </a:solidFill>
                <a:latin typeface="Courier New"/>
              </a:rPr>
              <a:t> 5 </a:t>
            </a:r>
            <a:r>
              <a:rPr sz="950">
                <a:solidFill>
                  <a:srgbClr val="E6EAF0"/>
                </a:solidFill>
                <a:latin typeface="Courier New"/>
              </a:rPr>
              <a:t>    k0 = y.size - so_diem_doi</a:t>
            </a:r>
          </a:p>
          <a:p>
            <a:r>
              <a:rPr sz="950">
                <a:solidFill>
                  <a:srgbClr val="6B7385"/>
                </a:solidFill>
                <a:latin typeface="Courier New"/>
              </a:rPr>
              <a:t> 6 </a:t>
            </a:r>
            <a:r>
              <a:rPr sz="950">
                <a:solidFill>
                  <a:srgbClr val="E6EAF0"/>
                </a:solidFill>
                <a:latin typeface="Courier New"/>
              </a:rPr>
              <a:t>    goc = np.asarray(ham_loc(y), dtype=float)</a:t>
            </a:r>
          </a:p>
          <a:p>
            <a:r>
              <a:rPr sz="950">
                <a:solidFill>
                  <a:srgbClr val="6B7385"/>
                </a:solidFill>
                <a:latin typeface="Courier New"/>
              </a:rPr>
              <a:t> 7 </a:t>
            </a:r>
            <a:r>
              <a:rPr sz="950">
                <a:solidFill>
                  <a:srgbClr val="E6EAF0"/>
                </a:solidFill>
                <a:latin typeface="Courier New"/>
              </a:rPr>
              <a:t>    y_doi = y.copy()</a:t>
            </a:r>
          </a:p>
          <a:p>
            <a:r>
              <a:rPr sz="950">
                <a:solidFill>
                  <a:srgbClr val="6B7385"/>
                </a:solidFill>
                <a:latin typeface="Courier New"/>
              </a:rPr>
              <a:t> 8 </a:t>
            </a:r>
            <a:r>
              <a:rPr sz="950">
                <a:solidFill>
                  <a:srgbClr val="E6EAF0"/>
                </a:solidFill>
                <a:latin typeface="Courier New"/>
              </a:rPr>
              <a:t>    y_doi[k0:] += thay_doi                 </a:t>
            </a:r>
            <a:r>
              <a:rPr sz="950">
                <a:solidFill>
                  <a:srgbClr val="8FC99A"/>
                </a:solidFill>
                <a:latin typeface="Courier New"/>
              </a:rPr>
              <a:t># cộng 50 vào 10 số cuối</a:t>
            </a:r>
          </a:p>
          <a:p>
            <a:r>
              <a:rPr sz="950">
                <a:solidFill>
                  <a:srgbClr val="6B7385"/>
                </a:solidFill>
                <a:latin typeface="Courier New"/>
              </a:rPr>
              <a:t> 9 </a:t>
            </a:r>
            <a:r>
              <a:rPr sz="950">
                <a:solidFill>
                  <a:srgbClr val="E6EAF0"/>
                </a:solidFill>
                <a:latin typeface="Courier New"/>
              </a:rPr>
              <a:t>    moi = np.asarray(ham_loc(y_doi), dtype=float)</a:t>
            </a:r>
          </a:p>
          <a:p>
            <a:r>
              <a:rPr sz="950">
                <a:solidFill>
                  <a:srgbClr val="6B7385"/>
                </a:solidFill>
                <a:latin typeface="Courier New"/>
              </a:rPr>
              <a:t>10 </a:t>
            </a:r>
            <a:r>
              <a:rPr sz="950">
                <a:solidFill>
                  <a:srgbClr val="E6EAF0"/>
                </a:solidFill>
                <a:latin typeface="Courier New"/>
              </a:rPr>
              <a:t>    lech = np.abs(np.nan_to_num(moi[:k0]) - np.nan_to_num(goc[:k0]))</a:t>
            </a:r>
          </a:p>
          <a:p>
            <a:r>
              <a:rPr sz="950">
                <a:solidFill>
                  <a:srgbClr val="6B7385"/>
                </a:solidFill>
                <a:latin typeface="Courier New"/>
              </a:rPr>
              <a:t>11 </a:t>
            </a:r>
            <a:r>
              <a:rPr sz="950">
                <a:solidFill>
                  <a:srgbClr val="E6EAF0"/>
                </a:solidFill>
                <a:latin typeface="Courier New"/>
              </a:rPr>
              <a:t>    nguong = max(1e-9, 1e-7 * float(np.nanmax(np.abs(y))))  </a:t>
            </a:r>
            <a:r>
              <a:rPr sz="950">
                <a:solidFill>
                  <a:srgbClr val="8FC99A"/>
                </a:solidFill>
                <a:latin typeface="Courier New"/>
              </a:rPr>
              <a:t># sai số máy</a:t>
            </a:r>
          </a:p>
          <a:p>
            <a:r>
              <a:rPr sz="950">
                <a:solidFill>
                  <a:srgbClr val="6B7385"/>
                </a:solidFill>
                <a:latin typeface="Courier New"/>
              </a:rPr>
              <a:t>12 </a:t>
            </a:r>
            <a:r>
              <a:rPr sz="950">
                <a:solidFill>
                  <a:srgbClr val="E6EAF0"/>
                </a:solidFill>
                <a:latin typeface="Courier New"/>
              </a:rPr>
              <a:t>    return lech.max() &gt; nguong             </a:t>
            </a:r>
            <a:r>
              <a:rPr sz="950">
                <a:solidFill>
                  <a:srgbClr val="8FC99A"/>
                </a:solidFill>
                <a:latin typeface="Courier New"/>
              </a:rPr>
              <a:t># True: có nhìn tương lai</a:t>
            </a:r>
          </a:p>
          <a:p>
            <a:r>
              <a:rPr sz="950">
                <a:solidFill>
                  <a:srgbClr val="6B7385"/>
                </a:solidFill>
                <a:latin typeface="Courier New"/>
              </a:rPr>
              <a:t>13 </a:t>
            </a:r>
          </a:p>
          <a:p>
            <a:r>
              <a:rPr sz="950">
                <a:solidFill>
                  <a:srgbClr val="6B7385"/>
                </a:solidFill>
                <a:latin typeface="Courier New"/>
              </a:rPr>
              <a:t>14 </a:t>
            </a:r>
            <a:r>
              <a:rPr sz="950">
                <a:solidFill>
                  <a:srgbClr val="E6EAF0"/>
                </a:solidFill>
                <a:latin typeface="Courier New"/>
              </a:rPr>
              <a:t>{ten: kiem_nhan_qua(ham, mp) for ten, ham in BO_LOC.items()}</a:t>
            </a:r>
          </a:p>
        </p:txBody>
      </p:sp>
      <p:sp>
        <p:nvSpPr>
          <p:cNvPr id="8" name="TextBox 7"/>
          <p:cNvSpPr txBox="1"/>
          <p:nvPr/>
        </p:nvSpPr>
        <p:spPr>
          <a:xfrm>
            <a:off x="685800" y="3946017"/>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buoi-12/tu-hoc.ipynb, phần 5</a:t>
            </a:r>
          </a:p>
        </p:txBody>
      </p:sp>
      <p:sp>
        <p:nvSpPr>
          <p:cNvPr id="9" name="TextBox 8"/>
          <p:cNvSpPr txBox="1"/>
          <p:nvPr/>
        </p:nvSpPr>
        <p:spPr>
          <a:xfrm>
            <a:off x="548640" y="4302633"/>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6226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6</a:t>
            </a:r>
          </a:p>
        </p:txBody>
      </p:sp>
      <p:sp>
        <p:nvSpPr>
          <p:cNvPr id="11" name="TextBox 10"/>
          <p:cNvSpPr txBox="1"/>
          <p:nvPr/>
        </p:nvSpPr>
        <p:spPr>
          <a:xfrm>
            <a:off x="1353312" y="4604385"/>
            <a:ext cx="2697480" cy="394588"/>
          </a:xfrm>
          <a:prstGeom prst="rect">
            <a:avLst/>
          </a:prstGeom>
          <a:noFill/>
        </p:spPr>
        <p:txBody>
          <a:bodyPr wrap="square" lIns="0" rIns="0" tIns="0" bIns="0" anchor="t">
            <a:spAutoFit/>
          </a:bodyPr>
          <a:lstStyle/>
          <a:p>
            <a:pPr algn="l"/>
            <a:r>
              <a:rPr sz="1050" b="0" i="0">
                <a:solidFill>
                  <a:srgbClr val="1B2A41"/>
                </a:solidFill>
                <a:latin typeface="Arial"/>
              </a:rPr>
              <a:t>Chạy bộ lọc trên chuỗi gốc.</a:t>
            </a:r>
          </a:p>
        </p:txBody>
      </p:sp>
      <p:sp>
        <p:nvSpPr>
          <p:cNvPr id="12" name="Rounded Rectangle 11"/>
          <p:cNvSpPr/>
          <p:nvPr/>
        </p:nvSpPr>
        <p:spPr>
          <a:xfrm>
            <a:off x="548640" y="5017262"/>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7–9</a:t>
            </a:r>
          </a:p>
        </p:txBody>
      </p:sp>
      <p:sp>
        <p:nvSpPr>
          <p:cNvPr id="13" name="TextBox 12"/>
          <p:cNvSpPr txBox="1"/>
          <p:nvPr/>
        </p:nvSpPr>
        <p:spPr>
          <a:xfrm>
            <a:off x="1353312" y="4998974"/>
            <a:ext cx="2697480" cy="394588"/>
          </a:xfrm>
          <a:prstGeom prst="rect">
            <a:avLst/>
          </a:prstGeom>
          <a:noFill/>
        </p:spPr>
        <p:txBody>
          <a:bodyPr wrap="square" lIns="0" rIns="0" tIns="0" bIns="0" anchor="t">
            <a:spAutoFit/>
          </a:bodyPr>
          <a:lstStyle/>
          <a:p>
            <a:pPr algn="l"/>
            <a:r>
              <a:rPr sz="1050" b="0" i="0">
                <a:solidFill>
                  <a:srgbClr val="1B2A41"/>
                </a:solidFill>
                <a:latin typeface="Arial"/>
              </a:rPr>
              <a:t>Đổi đuôi chuỗi rồi chạy lại.</a:t>
            </a:r>
          </a:p>
        </p:txBody>
      </p:sp>
      <p:sp>
        <p:nvSpPr>
          <p:cNvPr id="14" name="Rounded Rectangle 13"/>
          <p:cNvSpPr/>
          <p:nvPr/>
        </p:nvSpPr>
        <p:spPr>
          <a:xfrm>
            <a:off x="548640" y="541185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10</a:t>
            </a:r>
          </a:p>
        </p:txBody>
      </p:sp>
      <p:sp>
        <p:nvSpPr>
          <p:cNvPr id="15" name="TextBox 14"/>
          <p:cNvSpPr txBox="1"/>
          <p:nvPr/>
        </p:nvSpPr>
        <p:spPr>
          <a:xfrm>
            <a:off x="1353312" y="5393563"/>
            <a:ext cx="2697480" cy="394588"/>
          </a:xfrm>
          <a:prstGeom prst="rect">
            <a:avLst/>
          </a:prstGeom>
          <a:noFill/>
        </p:spPr>
        <p:txBody>
          <a:bodyPr wrap="square" lIns="0" rIns="0" tIns="0" bIns="0" anchor="t">
            <a:spAutoFit/>
          </a:bodyPr>
          <a:lstStyle/>
          <a:p>
            <a:pPr algn="l"/>
            <a:r>
              <a:rPr sz="1050" b="0" i="0">
                <a:solidFill>
                  <a:srgbClr val="1B2A41"/>
                </a:solidFill>
                <a:latin typeface="Arial"/>
              </a:rPr>
              <a:t>So mọi mốc trước chỗ đổi.</a:t>
            </a:r>
          </a:p>
        </p:txBody>
      </p:sp>
      <p:sp>
        <p:nvSpPr>
          <p:cNvPr id="16" name="Rounded Rectangle 15"/>
          <p:cNvSpPr/>
          <p:nvPr/>
        </p:nvSpPr>
        <p:spPr>
          <a:xfrm>
            <a:off x="4160520" y="46226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11–12</a:t>
            </a:r>
          </a:p>
        </p:txBody>
      </p:sp>
      <p:sp>
        <p:nvSpPr>
          <p:cNvPr id="17" name="TextBox 16"/>
          <p:cNvSpPr txBox="1"/>
          <p:nvPr/>
        </p:nvSpPr>
        <p:spPr>
          <a:xfrm>
            <a:off x="4965192" y="4604385"/>
            <a:ext cx="2697480" cy="394588"/>
          </a:xfrm>
          <a:prstGeom prst="rect">
            <a:avLst/>
          </a:prstGeom>
          <a:noFill/>
        </p:spPr>
        <p:txBody>
          <a:bodyPr wrap="square" lIns="0" rIns="0" tIns="0" bIns="0" anchor="t">
            <a:spAutoFit/>
          </a:bodyPr>
          <a:lstStyle/>
          <a:p>
            <a:pPr algn="l"/>
            <a:r>
              <a:rPr sz="1050" b="0" i="0">
                <a:solidFill>
                  <a:srgbClr val="1B2A41"/>
                </a:solidFill>
                <a:latin typeface="Arial"/>
              </a:rPr>
              <a:t>Lệch quá sai số máy tức là nhìn tương lai.</a:t>
            </a:r>
          </a:p>
        </p:txBody>
      </p:sp>
      <p:sp>
        <p:nvSpPr>
          <p:cNvPr id="18" name="Rounded Rectangle 17"/>
          <p:cNvSpPr/>
          <p:nvPr/>
        </p:nvSpPr>
        <p:spPr>
          <a:xfrm>
            <a:off x="4160520" y="5017262"/>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14</a:t>
            </a:r>
          </a:p>
        </p:txBody>
      </p:sp>
      <p:sp>
        <p:nvSpPr>
          <p:cNvPr id="19" name="TextBox 18"/>
          <p:cNvSpPr txBox="1"/>
          <p:nvPr/>
        </p:nvSpPr>
        <p:spPr>
          <a:xfrm>
            <a:off x="4965192" y="4998974"/>
            <a:ext cx="2697480" cy="394588"/>
          </a:xfrm>
          <a:prstGeom prst="rect">
            <a:avLst/>
          </a:prstGeom>
          <a:noFill/>
        </p:spPr>
        <p:txBody>
          <a:bodyPr wrap="square" lIns="0" rIns="0" tIns="0" bIns="0" anchor="t">
            <a:spAutoFit/>
          </a:bodyPr>
          <a:lstStyle/>
          <a:p>
            <a:pPr algn="l"/>
            <a:r>
              <a:rPr sz="1050" b="0" i="0">
                <a:solidFill>
                  <a:srgbClr val="1B2A41"/>
                </a:solidFill>
                <a:latin typeface="Arial"/>
              </a:rPr>
              <a:t>Kiểm cả mười cấu hình bộ lọc.</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6/10 cấu hình nhìn tương lai. Centered 13 đổi quá khứ 23,077; Kalman khớp lại cả chuỗi đổi 1,134; filtfilt làm bẩn ngược 274 bước.</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np.nan_to_num</a:t>
            </a:r>
            <a:r>
              <a:rPr sz="950" b="1" i="0">
                <a:solidFill>
                  <a:srgbClr val="5B6778"/>
                </a:solidFill>
                <a:latin typeface="Arial"/>
              </a:rPr>
              <a:t>   numpy</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Đổi NaN thành 0 để phép trừ không ra NaN.</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np.nanmax</a:t>
            </a:r>
            <a:r>
              <a:rPr sz="950" b="1" i="0">
                <a:solidFill>
                  <a:srgbClr val="5B6778"/>
                </a:solidFill>
                <a:latin typeface="Arial"/>
              </a:rPr>
              <a:t>   numpy</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Giá trị lớn nhất, bỏ qua các ô NaN.</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kiem_nhan_qua</a:t>
            </a:r>
            <a:r>
              <a:rPr sz="950" b="1" i="0">
                <a:solidFill>
                  <a:srgbClr val="5B6778"/>
                </a:solidFill>
                <a:latin typeface="Arial"/>
              </a:rPr>
              <a:t>   tự viết</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Báo một hàm lọc có dùng số tương lai hay không.</a:t>
            </a:r>
          </a:p>
        </p:txBody>
      </p:sp>
      <p:pic>
        <p:nvPicPr>
          <p:cNvPr id="29" name="Picture 28" descr="kiem-nhan-qua.png"/>
          <p:cNvPicPr>
            <a:picLocks noChangeAspect="1"/>
          </p:cNvPicPr>
          <p:nvPr/>
        </p:nvPicPr>
        <p:blipFill>
          <a:blip r:embed="rId2"/>
          <a:stretch>
            <a:fillRect/>
          </a:stretch>
        </p:blipFill>
        <p:spPr>
          <a:xfrm>
            <a:off x="7863840" y="4345424"/>
            <a:ext cx="3776472" cy="1870470"/>
          </a:xfrm>
          <a:prstGeom prst="rect">
            <a:avLst/>
          </a:prstGeom>
        </p:spPr>
      </p:pic>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đo cái giá của rò rỉ</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12</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Đo feature nhìn tương lai làm sai số đẹp giả bao nhiêu, khi chấm trên chuỗi gốc.</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import pandas as pd</a:t>
            </a:r>
          </a:p>
          <a:p>
            <a:r>
              <a:rPr sz="850">
                <a:solidFill>
                  <a:srgbClr val="6B7385"/>
                </a:solidFill>
                <a:latin typeface="Courier New"/>
              </a:rPr>
              <a:t> 3 </a:t>
            </a:r>
          </a:p>
          <a:p>
            <a:r>
              <a:rPr sz="850">
                <a:solidFill>
                  <a:srgbClr val="6B7385"/>
                </a:solidFill>
                <a:latin typeface="Courier New"/>
              </a:rPr>
              <a:t> 4 </a:t>
            </a:r>
            <a:r>
              <a:rPr sz="850">
                <a:solidFill>
                  <a:srgbClr val="E6EAF0"/>
                </a:solidFill>
                <a:latin typeface="Courier New"/>
              </a:rPr>
              <a:t>def danh_gia_feature(y, ham_loc, tam=6, ty_le_hoc=0.7):</a:t>
            </a:r>
          </a:p>
          <a:p>
            <a:r>
              <a:rPr sz="850">
                <a:solidFill>
                  <a:srgbClr val="6B7385"/>
                </a:solidFill>
                <a:latin typeface="Courier New"/>
              </a:rPr>
              <a:t> 5 </a:t>
            </a:r>
            <a:r>
              <a:rPr sz="850">
                <a:solidFill>
                  <a:srgbClr val="E6EAF0"/>
                </a:solidFill>
                <a:latin typeface="Courier New"/>
              </a:rPr>
              <a:t>    bang = pd.DataFrame({"loc": ham_loc(y.to_numpy()), "y": y.to_numpy(),</a:t>
            </a:r>
          </a:p>
          <a:p>
            <a:r>
              <a:rPr sz="850">
                <a:solidFill>
                  <a:srgbClr val="6B7385"/>
                </a:solidFill>
                <a:latin typeface="Courier New"/>
              </a:rPr>
              <a:t> 6 </a:t>
            </a:r>
            <a:r>
              <a:rPr sz="850">
                <a:solidFill>
                  <a:srgbClr val="E6EAF0"/>
                </a:solidFill>
                <a:latin typeface="Courier New"/>
              </a:rPr>
              <a:t>                         "muc_tieu": y.shift(-tam).to_numpy()}).dropna()</a:t>
            </a:r>
          </a:p>
          <a:p>
            <a:r>
              <a:rPr sz="850">
                <a:solidFill>
                  <a:srgbClr val="6B7385"/>
                </a:solidFill>
                <a:latin typeface="Courier New"/>
              </a:rPr>
              <a:t> 7 </a:t>
            </a:r>
            <a:r>
              <a:rPr sz="850">
                <a:solidFill>
                  <a:srgbClr val="E6EAF0"/>
                </a:solidFill>
                <a:latin typeface="Courier New"/>
              </a:rPr>
              <a:t>    cat = int(len(bang) * ty_le_hoc)       </a:t>
            </a:r>
            <a:r>
              <a:rPr sz="850">
                <a:solidFill>
                  <a:srgbClr val="8FC99A"/>
                </a:solidFill>
                <a:latin typeface="Courier New"/>
              </a:rPr>
              <a:t># 70% đầu học, 30% sau chấm</a:t>
            </a:r>
          </a:p>
          <a:p>
            <a:r>
              <a:rPr sz="850">
                <a:solidFill>
                  <a:srgbClr val="6B7385"/>
                </a:solidFill>
                <a:latin typeface="Courier New"/>
              </a:rPr>
              <a:t> 8 </a:t>
            </a:r>
            <a:r>
              <a:rPr sz="850">
                <a:solidFill>
                  <a:srgbClr val="E6EAF0"/>
                </a:solidFill>
                <a:latin typeface="Courier New"/>
              </a:rPr>
              <a:t>    hoc, kt = bang.iloc[:cat], bang.iloc[cat:]</a:t>
            </a:r>
          </a:p>
          <a:p>
            <a:r>
              <a:rPr sz="850">
                <a:solidFill>
                  <a:srgbClr val="6B7385"/>
                </a:solidFill>
                <a:latin typeface="Courier New"/>
              </a:rPr>
              <a:t> 9 </a:t>
            </a:r>
            <a:r>
              <a:rPr sz="850">
                <a:solidFill>
                  <a:srgbClr val="E6EAF0"/>
                </a:solidFill>
                <a:latin typeface="Courier New"/>
              </a:rPr>
              <a:t>    X = lambda d: np.column_stack([np.ones(len(d)), d["loc"], d["y"]])</a:t>
            </a:r>
          </a:p>
          <a:p>
            <a:r>
              <a:rPr sz="850">
                <a:solidFill>
                  <a:srgbClr val="6B7385"/>
                </a:solidFill>
                <a:latin typeface="Courier New"/>
              </a:rPr>
              <a:t>10 </a:t>
            </a:r>
            <a:r>
              <a:rPr sz="850">
                <a:solidFill>
                  <a:srgbClr val="E6EAF0"/>
                </a:solidFill>
                <a:latin typeface="Courier New"/>
              </a:rPr>
              <a:t>    he_so = np.linalg.lstsq(X(hoc), hoc["muc_tieu"], rcond=None)[0]</a:t>
            </a:r>
          </a:p>
          <a:p>
            <a:r>
              <a:rPr sz="850">
                <a:solidFill>
                  <a:srgbClr val="6B7385"/>
                </a:solidFill>
                <a:latin typeface="Courier New"/>
              </a:rPr>
              <a:t>11 </a:t>
            </a:r>
            <a:r>
              <a:rPr sz="850">
                <a:solidFill>
                  <a:srgbClr val="E6EAF0"/>
                </a:solidFill>
                <a:latin typeface="Courier New"/>
              </a:rPr>
              <a:t>    du_bao = X(kt) @ he_so</a:t>
            </a:r>
          </a:p>
          <a:p>
            <a:r>
              <a:rPr sz="850">
                <a:solidFill>
                  <a:srgbClr val="6B7385"/>
                </a:solidFill>
                <a:latin typeface="Courier New"/>
              </a:rPr>
              <a:t>12 </a:t>
            </a:r>
            <a:r>
              <a:rPr sz="850">
                <a:solidFill>
                  <a:srgbClr val="E6EAF0"/>
                </a:solidFill>
                <a:latin typeface="Courier New"/>
              </a:rPr>
              <a:t>    return np.mean(np.abs(du_bao - kt["muc_tieu"]))   </a:t>
            </a:r>
            <a:r>
              <a:rPr sz="850">
                <a:solidFill>
                  <a:srgbClr val="8FC99A"/>
                </a:solidFill>
                <a:latin typeface="Courier New"/>
              </a:rPr>
              <a:t># trên chuỗi gốc</a:t>
            </a:r>
          </a:p>
          <a:p>
            <a:r>
              <a:rPr sz="850">
                <a:solidFill>
                  <a:srgbClr val="6B7385"/>
                </a:solidFill>
                <a:latin typeface="Courier New"/>
              </a:rPr>
              <a:t>13 </a:t>
            </a:r>
          </a:p>
          <a:p>
            <a:r>
              <a:rPr sz="850">
                <a:solidFill>
                  <a:srgbClr val="6B7385"/>
                </a:solidFill>
                <a:latin typeface="Courier New"/>
              </a:rPr>
              <a:t>14 </a:t>
            </a:r>
            <a:r>
              <a:rPr sz="850">
                <a:solidFill>
                  <a:srgbClr val="E6EAF0"/>
                </a:solidFill>
                <a:latin typeface="Courier New"/>
              </a:rPr>
              <a:t>goc = danh_gia_feature(dien, lambda v: v)     </a:t>
            </a:r>
            <a:r>
              <a:rPr sz="850">
                <a:solidFill>
                  <a:srgbClr val="8FC99A"/>
                </a:solidFill>
                <a:latin typeface="Courier New"/>
              </a:rPr>
              <a:t># không lọc</a:t>
            </a:r>
          </a:p>
          <a:p>
            <a:r>
              <a:rPr sz="850">
                <a:solidFill>
                  <a:srgbClr val="6B7385"/>
                </a:solidFill>
                <a:latin typeface="Courier New"/>
              </a:rPr>
              <a:t>15 </a:t>
            </a:r>
            <a:r>
              <a:rPr sz="850">
                <a:solidFill>
                  <a:srgbClr val="E6EAF0"/>
                </a:solidFill>
                <a:latin typeface="Courier New"/>
              </a:rPr>
              <a:t>centered = danh_gia_feature(dien, ma_giua)    </a:t>
            </a:r>
            <a:r>
              <a:rPr sz="850">
                <a:solidFill>
                  <a:srgbClr val="8FC99A"/>
                </a:solidFill>
                <a:latin typeface="Courier New"/>
              </a:rPr>
              <a:t># nhìn tương lai</a:t>
            </a:r>
          </a:p>
          <a:p>
            <a:r>
              <a:rPr sz="850">
                <a:solidFill>
                  <a:srgbClr val="6B7385"/>
                </a:solidFill>
                <a:latin typeface="Courier New"/>
              </a:rPr>
              <a:t>16 </a:t>
            </a:r>
            <a:r>
              <a:rPr sz="850">
                <a:solidFill>
                  <a:srgbClr val="E6EAF0"/>
                </a:solidFill>
                <a:latin typeface="Courier New"/>
              </a:rPr>
              <a:t>trailing = danh_gia_feature(dien, ma_truoc)   </a:t>
            </a:r>
            <a:r>
              <a:rPr sz="850">
                <a:solidFill>
                  <a:srgbClr val="8FC99A"/>
                </a:solidFill>
                <a:latin typeface="Courier New"/>
              </a:rPr>
              <a:t># nhân quả</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buoi-12/tu-hoc.ipynb, phần 6</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5–6</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Feature là bộ lọc và giá trị hiện tại.</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6</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Mục tiêu là điện 6 bước sau, tức 1 giờ tới.</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7–8</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Chia theo thời gian, không xáo trộn.</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9–11</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Hồi quy tuyến tính bằng bình phương nhỏ nhất.</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14–16</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So MAE khi không lọc và hai kiểu lọc.</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Không lọc MAE 46,84 Wh. Centered giảm 27,7%, filtfilt 24,5%, đều giả; feature nhân quả chỉ giúp 0,9–5,9%.</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shift(-6)</a:t>
            </a:r>
            <a:r>
              <a:rPr sz="950" b="1" i="0">
                <a:solidFill>
                  <a:srgbClr val="5B6778"/>
                </a:solidFill>
                <a:latin typeface="Arial"/>
              </a:rPr>
              <a:t>   pandas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Kéo chuỗi lên 6 bước: dòng t nhận giá trị của t + 6.</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np.linalg.lstsq</a:t>
            </a:r>
            <a:r>
              <a:rPr sz="950" b="1" i="0">
                <a:solidFill>
                  <a:srgbClr val="5B6778"/>
                </a:solidFill>
                <a:latin typeface="Arial"/>
              </a:rPr>
              <a:t>   numpy</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Tìm hệ số hồi quy tuyến tính cho sai số bình phương nhỏ nhất.</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np.column_stack</a:t>
            </a:r>
            <a:r>
              <a:rPr sz="950" b="1" i="0">
                <a:solidFill>
                  <a:srgbClr val="5B6778"/>
                </a:solidFill>
                <a:latin typeface="Arial"/>
              </a:rPr>
              <a:t>   numpy</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Ghép các cột thành một ma trận.</a:t>
            </a:r>
          </a:p>
        </p:txBody>
      </p:sp>
      <p:pic>
        <p:nvPicPr>
          <p:cNvPr id="29" name="Picture 28" descr="gia-ro-ri.png"/>
          <p:cNvPicPr>
            <a:picLocks noChangeAspect="1"/>
          </p:cNvPicPr>
          <p:nvPr/>
        </p:nvPicPr>
        <p:blipFill>
          <a:blip r:embed="rId2"/>
          <a:stretch>
            <a:fillRect/>
          </a:stretch>
        </p:blipFill>
        <p:spPr>
          <a:xfrm>
            <a:off x="7863840" y="4362487"/>
            <a:ext cx="3776472" cy="1836345"/>
          </a:xfrm>
          <a:prstGeom prst="rect">
            <a:avLst/>
          </a:prstGeom>
        </p:spPr>
      </p:pic>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feature nào đã có lúc dự báo</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13</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Hỏi từng feature "lúc ra dự báo tôi có nó chưa?" rồi xếp vào đúng nhóm.</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pandas as pd</a:t>
            </a:r>
          </a:p>
          <a:p>
            <a:r>
              <a:rPr sz="850">
                <a:solidFill>
                  <a:srgbClr val="6B7385"/>
                </a:solidFill>
                <a:latin typeface="Courier New"/>
              </a:rPr>
              <a:t> 2 </a:t>
            </a:r>
          </a:p>
          <a:p>
            <a:r>
              <a:rPr sz="850">
                <a:solidFill>
                  <a:srgbClr val="6B7385"/>
                </a:solidFill>
                <a:latin typeface="Courier New"/>
              </a:rPr>
              <a:t> 3 </a:t>
            </a:r>
            <a:r>
              <a:rPr sz="850">
                <a:solidFill>
                  <a:srgbClr val="E6EAF0"/>
                </a:solidFill>
                <a:latin typeface="Courier New"/>
              </a:rPr>
              <a:t>t = pd.Timestamp("2010-06-07")              </a:t>
            </a:r>
            <a:r>
              <a:rPr sz="850">
                <a:solidFill>
                  <a:srgbClr val="8FC99A"/>
                </a:solidFill>
                <a:latin typeface="Courier New"/>
              </a:rPr>
              <a:t># tối thứ Hai ra dự báo</a:t>
            </a:r>
          </a:p>
          <a:p>
            <a:r>
              <a:rPr sz="850">
                <a:solidFill>
                  <a:srgbClr val="6B7385"/>
                </a:solidFill>
                <a:latin typeface="Courier New"/>
              </a:rPr>
              <a:t> 4 </a:t>
            </a:r>
            <a:r>
              <a:rPr sz="850">
                <a:solidFill>
                  <a:srgbClr val="E6EAF0"/>
                </a:solidFill>
                <a:latin typeface="Courier New"/>
              </a:rPr>
              <a:t>muc_tieu = t + pd.Timedelta(days=1)         </a:t>
            </a:r>
            <a:r>
              <a:rPr sz="850">
                <a:solidFill>
                  <a:srgbClr val="8FC99A"/>
                </a:solidFill>
                <a:latin typeface="Courier New"/>
              </a:rPr>
              <a:t># thứ Ba, h = 1</a:t>
            </a:r>
          </a:p>
          <a:p>
            <a:r>
              <a:rPr sz="850">
                <a:solidFill>
                  <a:srgbClr val="6B7385"/>
                </a:solidFill>
                <a:latin typeface="Courier New"/>
              </a:rPr>
              <a:t> 5 </a:t>
            </a:r>
            <a:r>
              <a:rPr sz="850">
                <a:solidFill>
                  <a:srgbClr val="E6EAF0"/>
                </a:solidFill>
                <a:latin typeface="Courier New"/>
              </a:rPr>
              <a:t>thu = muc_tieu.dayofweek                    </a:t>
            </a:r>
            <a:r>
              <a:rPr sz="850">
                <a:solidFill>
                  <a:srgbClr val="8FC99A"/>
                </a:solidFill>
                <a:latin typeface="Courier New"/>
              </a:rPr>
              <a:t># lịch: biết trước mãi mãi</a:t>
            </a:r>
          </a:p>
          <a:p>
            <a:r>
              <a:rPr sz="850">
                <a:solidFill>
                  <a:srgbClr val="6B7385"/>
                </a:solidFill>
                <a:latin typeface="Courier New"/>
              </a:rPr>
              <a:t> 6 </a:t>
            </a:r>
            <a:r>
              <a:rPr sz="850">
                <a:solidFill>
                  <a:srgbClr val="E6EAF0"/>
                </a:solidFill>
                <a:latin typeface="Courier New"/>
              </a:rPr>
              <a:t>tb_da_biet = y[:t].mean()                   </a:t>
            </a:r>
            <a:r>
              <a:rPr sz="850">
                <a:solidFill>
                  <a:srgbClr val="8FC99A"/>
                </a:solidFill>
                <a:latin typeface="Courier New"/>
              </a:rPr>
              <a:t># chỉ các ngày tới t</a:t>
            </a:r>
          </a:p>
          <a:p>
            <a:r>
              <a:rPr sz="850">
                <a:solidFill>
                  <a:srgbClr val="6B7385"/>
                </a:solidFill>
                <a:latin typeface="Courier New"/>
              </a:rPr>
              <a:t> 7 </a:t>
            </a:r>
            <a:r>
              <a:rPr sz="850">
                <a:solidFill>
                  <a:srgbClr val="E6EAF0"/>
                </a:solidFill>
                <a:latin typeface="Courier New"/>
              </a:rPr>
              <a:t>tb_ca_chuoi = y.mean()                      </a:t>
            </a:r>
            <a:r>
              <a:rPr sz="850">
                <a:solidFill>
                  <a:srgbClr val="8FC99A"/>
                </a:solidFill>
                <a:latin typeface="Courier New"/>
              </a:rPr>
              <a:t># gồm cả ngày chưa xảy ra</a:t>
            </a:r>
          </a:p>
          <a:p>
            <a:r>
              <a:rPr sz="850">
                <a:solidFill>
                  <a:srgbClr val="6B7385"/>
                </a:solidFill>
                <a:latin typeface="Courier New"/>
              </a:rPr>
              <a:t> 8 </a:t>
            </a:r>
          </a:p>
          <a:p>
            <a:r>
              <a:rPr sz="850">
                <a:solidFill>
                  <a:srgbClr val="6B7385"/>
                </a:solidFill>
                <a:latin typeface="Courier New"/>
              </a:rPr>
              <a:t> 9 </a:t>
            </a:r>
            <a:r>
              <a:rPr sz="850">
                <a:solidFill>
                  <a:srgbClr val="E6EAF0"/>
                </a:solidFill>
                <a:latin typeface="Courier New"/>
              </a:rPr>
              <a:t>def bang_biet_truoc(cot):                   </a:t>
            </a:r>
            <a:r>
              <a:rPr sz="850">
                <a:solidFill>
                  <a:srgbClr val="8FC99A"/>
                </a:solidFill>
                <a:latin typeface="Courier New"/>
              </a:rPr>
              <a:t># xếp theo TÊN cột</a:t>
            </a:r>
          </a:p>
          <a:p>
            <a:r>
              <a:rPr sz="850">
                <a:solidFill>
                  <a:srgbClr val="6B7385"/>
                </a:solidFill>
                <a:latin typeface="Courier New"/>
              </a:rPr>
              <a:t>10 </a:t>
            </a:r>
            <a:r>
              <a:rPr sz="850">
                <a:solidFill>
                  <a:srgbClr val="E6EAF0"/>
                </a:solidFill>
                <a:latin typeface="Courier New"/>
              </a:rPr>
              <a:t>    if cot.startswith(("lag_", "tb_", "sd_")):</a:t>
            </a:r>
          </a:p>
          <a:p>
            <a:r>
              <a:rPr sz="850">
                <a:solidFill>
                  <a:srgbClr val="6B7385"/>
                </a:solidFill>
                <a:latin typeface="Courier New"/>
              </a:rPr>
              <a:t>11 </a:t>
            </a:r>
            <a:r>
              <a:rPr sz="850">
                <a:solidFill>
                  <a:srgbClr val="E6EAF0"/>
                </a:solidFill>
                <a:latin typeface="Courier New"/>
              </a:rPr>
              <a:t>        return "t-h"                        </a:t>
            </a:r>
            <a:r>
              <a:rPr sz="850">
                <a:solidFill>
                  <a:srgbClr val="8FC99A"/>
                </a:solidFill>
                <a:latin typeface="Courier New"/>
              </a:rPr>
              <a:t># quá khứ của chuỗi</a:t>
            </a:r>
          </a:p>
          <a:p>
            <a:r>
              <a:rPr sz="850">
                <a:solidFill>
                  <a:srgbClr val="6B7385"/>
                </a:solidFill>
                <a:latin typeface="Courier New"/>
              </a:rPr>
              <a:t>12 </a:t>
            </a:r>
            <a:r>
              <a:rPr sz="850">
                <a:solidFill>
                  <a:srgbClr val="E6EAF0"/>
                </a:solidFill>
                <a:latin typeface="Courier New"/>
              </a:rPr>
              <a:t>    if cot.startswith(("du_bao_", "khuyen_mai")):</a:t>
            </a:r>
          </a:p>
          <a:p>
            <a:r>
              <a:rPr sz="850">
                <a:solidFill>
                  <a:srgbClr val="6B7385"/>
                </a:solidFill>
                <a:latin typeface="Courier New"/>
              </a:rPr>
              <a:t>13 </a:t>
            </a:r>
            <a:r>
              <a:rPr sz="850">
                <a:solidFill>
                  <a:srgbClr val="E6EAF0"/>
                </a:solidFill>
                <a:latin typeface="Courier New"/>
              </a:rPr>
              <a:t>        return "kế hoạch"                   </a:t>
            </a:r>
            <a:r>
              <a:rPr sz="850">
                <a:solidFill>
                  <a:srgbClr val="8FC99A"/>
                </a:solidFill>
                <a:latin typeface="Courier New"/>
              </a:rPr>
              <a:t># đã công bố</a:t>
            </a:r>
          </a:p>
          <a:p>
            <a:r>
              <a:rPr sz="850">
                <a:solidFill>
                  <a:srgbClr val="6B7385"/>
                </a:solidFill>
                <a:latin typeface="Courier New"/>
              </a:rPr>
              <a:t>14 </a:t>
            </a:r>
            <a:r>
              <a:rPr sz="850">
                <a:solidFill>
                  <a:srgbClr val="E6EAF0"/>
                </a:solidFill>
                <a:latin typeface="Courier New"/>
              </a:rPr>
              <a:t>    if cot.endswith("_that"):</a:t>
            </a:r>
          </a:p>
          <a:p>
            <a:r>
              <a:rPr sz="850">
                <a:solidFill>
                  <a:srgbClr val="6B7385"/>
                </a:solidFill>
                <a:latin typeface="Courier New"/>
              </a:rPr>
              <a:t>15 </a:t>
            </a:r>
            <a:r>
              <a:rPr sz="850">
                <a:solidFill>
                  <a:srgbClr val="E6EAF0"/>
                </a:solidFill>
                <a:latin typeface="Courier New"/>
              </a:rPr>
              <a:t>        return "KHÔNG BIẾT TRƯỚC"</a:t>
            </a:r>
          </a:p>
          <a:p>
            <a:r>
              <a:rPr sz="850">
                <a:solidFill>
                  <a:srgbClr val="6B7385"/>
                </a:solidFill>
                <a:latin typeface="Courier New"/>
              </a:rPr>
              <a:t>16 </a:t>
            </a:r>
            <a:r>
              <a:rPr sz="850">
                <a:solidFill>
                  <a:srgbClr val="E6EAF0"/>
                </a:solidFill>
                <a:latin typeface="Courier New"/>
              </a:rPr>
              <a:t>    return "vô hạn"                         </a:t>
            </a:r>
            <a:r>
              <a:rPr sz="850">
                <a:solidFill>
                  <a:srgbClr val="8FC99A"/>
                </a:solidFill>
                <a:latin typeface="Courier New"/>
              </a:rPr>
              <a:t># lịch</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buoi-13/tu-hoc.ipynb, phần 1</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3–4</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Tối thứ Hai dự báo doanh thu thứ Ba.</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5</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Thứ của ngày mai là lịch, biết từ trước.</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6–7</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So trung bình tới t với trung bình cả chuỗi.</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9–16</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Đọc tên cột để xếp feature vào một nhóm.</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14–15</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Tên đuôi _that là giá trị thật: loại.</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Trung bình 189 ngày đã biết là 27.701, cả chuỗi là 33.454 vì gồm 550 ngày chưa xảy ra. z_score lọt vào nhóm "vô hạn": tên sai thì bảng sai.</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pd.Timestamp, pd.Timedelta</a:t>
            </a:r>
            <a:r>
              <a:rPr sz="950" b="1" i="0">
                <a:solidFill>
                  <a:srgbClr val="5B6778"/>
                </a:solidFill>
                <a:latin typeface="Arial"/>
              </a:rPr>
              <a:t>   pandas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Tạo một mốc thời gian rồi cộng thêm một khoảng, ở đây là 1 ngày.</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y[:t].mean()</a:t>
            </a:r>
            <a:r>
              <a:rPr sz="950" b="1" i="0">
                <a:solidFill>
                  <a:srgbClr val="5B6778"/>
                </a:solidFill>
                <a:latin typeface="Arial"/>
              </a:rPr>
              <a:t>   pandas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Cắt chuỗi tới mốc t rồi lấy trung bình, bỏ phần tương lai.</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bang_biet_truoc</a:t>
            </a:r>
            <a:r>
              <a:rPr sz="950" b="1" i="0">
                <a:solidFill>
                  <a:srgbClr val="5B6778"/>
                </a:solidFill>
                <a:latin typeface="Arial"/>
              </a:rPr>
              <a:t>   tự viết</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Xếp feature vào nhóm lịch, kế hoạch hay quá khứ theo tên cột.</a:t>
            </a:r>
          </a:p>
        </p:txBody>
      </p:sp>
      <p:pic>
        <p:nvPicPr>
          <p:cNvPr id="29" name="Picture 28" descr="biet-truoc.png"/>
          <p:cNvPicPr>
            <a:picLocks noChangeAspect="1"/>
          </p:cNvPicPr>
          <p:nvPr/>
        </p:nvPicPr>
        <p:blipFill>
          <a:blip r:embed="rId2"/>
          <a:stretch>
            <a:fillRect/>
          </a:stretch>
        </p:blipFill>
        <p:spPr>
          <a:xfrm>
            <a:off x="7863840" y="4539277"/>
            <a:ext cx="3776472" cy="1482765"/>
          </a:xfrm>
          <a:prstGeom prst="rect">
            <a:avLst/>
          </a:prstGeom>
        </p:spPr>
      </p:pic>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shift trước, rolling sau</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13</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Thấy bằng số vì sao phải shift trước rolling, rồi gói thành hàm tạo feature.</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pandas as pd</a:t>
            </a:r>
          </a:p>
          <a:p>
            <a:r>
              <a:rPr sz="850">
                <a:solidFill>
                  <a:srgbClr val="6B7385"/>
                </a:solidFill>
                <a:latin typeface="Courier New"/>
              </a:rPr>
              <a:t> 2 </a:t>
            </a:r>
            <a:r>
              <a:rPr sz="850">
                <a:solidFill>
                  <a:srgbClr val="E6EAF0"/>
                </a:solidFill>
                <a:latin typeface="Courier New"/>
              </a:rPr>
              <a:t>v = pd.Series([10, 12, 8, 14, 20, 16], index=range(1, 7), dtype=float)</a:t>
            </a:r>
          </a:p>
          <a:p>
            <a:r>
              <a:rPr sz="850">
                <a:solidFill>
                  <a:srgbClr val="6B7385"/>
                </a:solidFill>
                <a:latin typeface="Courier New"/>
              </a:rPr>
              <a:t> 3 </a:t>
            </a:r>
            <a:r>
              <a:rPr sz="850">
                <a:solidFill>
                  <a:srgbClr val="E6EAF0"/>
                </a:solidFill>
                <a:latin typeface="Courier New"/>
              </a:rPr>
              <a:t>sai_1 = v.rolling(3, center=True).mean()     </a:t>
            </a:r>
            <a:r>
              <a:rPr sz="850">
                <a:solidFill>
                  <a:srgbClr val="8FC99A"/>
                </a:solidFill>
                <a:latin typeface="Courier New"/>
              </a:rPr>
              <a:t># nhìn cả ngày sau</a:t>
            </a:r>
          </a:p>
          <a:p>
            <a:r>
              <a:rPr sz="850">
                <a:solidFill>
                  <a:srgbClr val="6B7385"/>
                </a:solidFill>
                <a:latin typeface="Courier New"/>
              </a:rPr>
              <a:t> 4 </a:t>
            </a:r>
            <a:r>
              <a:rPr sz="850">
                <a:solidFill>
                  <a:srgbClr val="E6EAF0"/>
                </a:solidFill>
                <a:latin typeface="Courier New"/>
              </a:rPr>
              <a:t>sai_2 = v.rolling(3).mean()                  </a:t>
            </a:r>
            <a:r>
              <a:rPr sz="850">
                <a:solidFill>
                  <a:srgbClr val="8FC99A"/>
                </a:solidFill>
                <a:latin typeface="Courier New"/>
              </a:rPr>
              <a:t># chứa chính ngày t</a:t>
            </a:r>
          </a:p>
          <a:p>
            <a:r>
              <a:rPr sz="850">
                <a:solidFill>
                  <a:srgbClr val="6B7385"/>
                </a:solidFill>
                <a:latin typeface="Courier New"/>
              </a:rPr>
              <a:t> 5 </a:t>
            </a:r>
            <a:r>
              <a:rPr sz="850">
                <a:solidFill>
                  <a:srgbClr val="E6EAF0"/>
                </a:solidFill>
                <a:latin typeface="Courier New"/>
              </a:rPr>
              <a:t>dung = v.shift(1).rolling(3).mean()          </a:t>
            </a:r>
            <a:r>
              <a:rPr sz="850">
                <a:solidFill>
                  <a:srgbClr val="8FC99A"/>
                </a:solidFill>
                <a:latin typeface="Courier New"/>
              </a:rPr>
              <a:t># chỉ quá khứ</a:t>
            </a:r>
          </a:p>
          <a:p>
            <a:r>
              <a:rPr sz="850">
                <a:solidFill>
                  <a:srgbClr val="6B7385"/>
                </a:solidFill>
                <a:latin typeface="Courier New"/>
              </a:rPr>
              <a:t> 6 </a:t>
            </a:r>
          </a:p>
          <a:p>
            <a:r>
              <a:rPr sz="850">
                <a:solidFill>
                  <a:srgbClr val="6B7385"/>
                </a:solidFill>
                <a:latin typeface="Courier New"/>
              </a:rPr>
              <a:t> 7 </a:t>
            </a:r>
            <a:r>
              <a:rPr sz="850">
                <a:solidFill>
                  <a:srgbClr val="E6EAF0"/>
                </a:solidFill>
                <a:latin typeface="Courier New"/>
              </a:rPr>
              <a:t>def feature_tre(y, tam=1, cac_lag=(1, 2, 3, 7, 14, 28),</a:t>
            </a:r>
          </a:p>
          <a:p>
            <a:r>
              <a:rPr sz="850">
                <a:solidFill>
                  <a:srgbClr val="6B7385"/>
                </a:solidFill>
                <a:latin typeface="Courier New"/>
              </a:rPr>
              <a:t> 8 </a:t>
            </a:r>
            <a:r>
              <a:rPr sz="850">
                <a:solidFill>
                  <a:srgbClr val="E6EAF0"/>
                </a:solidFill>
                <a:latin typeface="Courier New"/>
              </a:rPr>
              <a:t>                cac_cua_so=(7, 28)):</a:t>
            </a:r>
          </a:p>
          <a:p>
            <a:r>
              <a:rPr sz="850">
                <a:solidFill>
                  <a:srgbClr val="6B7385"/>
                </a:solidFill>
                <a:latin typeface="Courier New"/>
              </a:rPr>
              <a:t> 9 </a:t>
            </a:r>
            <a:r>
              <a:rPr sz="850">
                <a:solidFill>
                  <a:srgbClr val="E6EAF0"/>
                </a:solidFill>
                <a:latin typeface="Courier New"/>
              </a:rPr>
              <a:t>    f = pd.DataFrame(index=y.index)</a:t>
            </a:r>
          </a:p>
          <a:p>
            <a:r>
              <a:rPr sz="850">
                <a:solidFill>
                  <a:srgbClr val="6B7385"/>
                </a:solidFill>
                <a:latin typeface="Courier New"/>
              </a:rPr>
              <a:t>10 </a:t>
            </a:r>
            <a:r>
              <a:rPr sz="850">
                <a:solidFill>
                  <a:srgbClr val="E6EAF0"/>
                </a:solidFill>
                <a:latin typeface="Courier New"/>
              </a:rPr>
              <a:t>    tre = y.shift(tam)                       </a:t>
            </a:r>
            <a:r>
              <a:rPr sz="850">
                <a:solidFill>
                  <a:srgbClr val="8FC99A"/>
                </a:solidFill>
                <a:latin typeface="Courier New"/>
              </a:rPr>
              <a:t># lùi h bước TRƯỚC</a:t>
            </a:r>
          </a:p>
          <a:p>
            <a:r>
              <a:rPr sz="850">
                <a:solidFill>
                  <a:srgbClr val="6B7385"/>
                </a:solidFill>
                <a:latin typeface="Courier New"/>
              </a:rPr>
              <a:t>11 </a:t>
            </a:r>
            <a:r>
              <a:rPr sz="850">
                <a:solidFill>
                  <a:srgbClr val="E6EAF0"/>
                </a:solidFill>
                <a:latin typeface="Courier New"/>
              </a:rPr>
              <a:t>    for lag in cac_lag:</a:t>
            </a:r>
          </a:p>
          <a:p>
            <a:r>
              <a:rPr sz="850">
                <a:solidFill>
                  <a:srgbClr val="6B7385"/>
                </a:solidFill>
                <a:latin typeface="Courier New"/>
              </a:rPr>
              <a:t>12 </a:t>
            </a:r>
            <a:r>
              <a:rPr sz="850">
                <a:solidFill>
                  <a:srgbClr val="E6EAF0"/>
                </a:solidFill>
                <a:latin typeface="Courier New"/>
              </a:rPr>
              <a:t>        f[f"lag_{lag}"] = y.shift(max(lag, tam))   </a:t>
            </a:r>
            <a:r>
              <a:rPr sz="850">
                <a:solidFill>
                  <a:srgbClr val="8FC99A"/>
                </a:solidFill>
                <a:latin typeface="Courier New"/>
              </a:rPr>
              <a:t># lag nhỏ nhất ≥ h</a:t>
            </a:r>
          </a:p>
          <a:p>
            <a:r>
              <a:rPr sz="850">
                <a:solidFill>
                  <a:srgbClr val="6B7385"/>
                </a:solidFill>
                <a:latin typeface="Courier New"/>
              </a:rPr>
              <a:t>13 </a:t>
            </a:r>
            <a:r>
              <a:rPr sz="850">
                <a:solidFill>
                  <a:srgbClr val="E6EAF0"/>
                </a:solidFill>
                <a:latin typeface="Courier New"/>
              </a:rPr>
              <a:t>    for w in cac_cua_so:</a:t>
            </a:r>
          </a:p>
          <a:p>
            <a:r>
              <a:rPr sz="850">
                <a:solidFill>
                  <a:srgbClr val="6B7385"/>
                </a:solidFill>
                <a:latin typeface="Courier New"/>
              </a:rPr>
              <a:t>14 </a:t>
            </a:r>
            <a:r>
              <a:rPr sz="850">
                <a:solidFill>
                  <a:srgbClr val="E6EAF0"/>
                </a:solidFill>
                <a:latin typeface="Courier New"/>
              </a:rPr>
              <a:t>        f[f"tb_{w}"] = tre.rolling(w).mean()       </a:t>
            </a:r>
            <a:r>
              <a:rPr sz="850">
                <a:solidFill>
                  <a:srgbClr val="8FC99A"/>
                </a:solidFill>
                <a:latin typeface="Courier New"/>
              </a:rPr>
              <a:t># rolling SAU</a:t>
            </a:r>
          </a:p>
          <a:p>
            <a:r>
              <a:rPr sz="850">
                <a:solidFill>
                  <a:srgbClr val="6B7385"/>
                </a:solidFill>
                <a:latin typeface="Courier New"/>
              </a:rPr>
              <a:t>15 </a:t>
            </a:r>
            <a:r>
              <a:rPr sz="850">
                <a:solidFill>
                  <a:srgbClr val="E6EAF0"/>
                </a:solidFill>
                <a:latin typeface="Courier New"/>
              </a:rPr>
              <a:t>        f[f"sd_{w}"] = tre.rolling(w).std()</a:t>
            </a:r>
          </a:p>
          <a:p>
            <a:r>
              <a:rPr sz="850">
                <a:solidFill>
                  <a:srgbClr val="6B7385"/>
                </a:solidFill>
                <a:latin typeface="Courier New"/>
              </a:rPr>
              <a:t>16 </a:t>
            </a:r>
            <a:r>
              <a:rPr sz="850">
                <a:solidFill>
                  <a:srgbClr val="E6EAF0"/>
                </a:solidFill>
                <a:latin typeface="Courier New"/>
              </a:rPr>
              <a:t>    return f</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buoi-13/tu-hoc.ipynb, phần 2</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2</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Sáu ngày doanh thu, dự báo trước 1 ngày.</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3–5</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Ba cách tính trung bình 3 ngày; chỉ dòng 5 đúng.</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9</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Lùi chuỗi tam bước trước khi làm gì khác.</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10–11</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Lag nhỏ hơn tầm dự báo bị nâng lên bằng tam.</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12–14</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Mọi rolling tính trên chuỗi đã lùi.</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Ngày 4: có tâm ra 14, không shift ra 11,33, shift ra 10. Cắt dữ liệu rồi tính lại: bản shift lệch 0, bản có tâm lệch tới 5.113.</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shift(k)</a:t>
            </a:r>
            <a:r>
              <a:rPr sz="950" b="1" i="0">
                <a:solidFill>
                  <a:srgbClr val="5B6778"/>
                </a:solidFill>
                <a:latin typeface="Arial"/>
              </a:rPr>
              <a:t>   pandas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Dời chuỗi xuống k bước: ngày t nhận giá trị ngày t − k.</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rolling(w).mean()</a:t>
            </a:r>
            <a:r>
              <a:rPr sz="950" b="1" i="0">
                <a:solidFill>
                  <a:srgbClr val="5B6778"/>
                </a:solidFill>
                <a:latin typeface="Arial"/>
              </a:rPr>
              <a:t>   pandas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Trung bình w điểm gần nhất, tính tới chính điểm đó.</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feature_tre</a:t>
            </a:r>
            <a:r>
              <a:rPr sz="950" b="1" i="0">
                <a:solidFill>
                  <a:srgbClr val="5B6778"/>
                </a:solidFill>
                <a:latin typeface="Arial"/>
              </a:rPr>
              <a:t>   tự viết</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Tạo các cột lag và rolling theo đúng quy tắc shift trước.</a:t>
            </a:r>
          </a:p>
        </p:txBody>
      </p:sp>
      <p:pic>
        <p:nvPicPr>
          <p:cNvPr id="29" name="Picture 28" descr="kn-rolling.png"/>
          <p:cNvPicPr>
            <a:picLocks noChangeAspect="1"/>
          </p:cNvPicPr>
          <p:nvPr/>
        </p:nvPicPr>
        <p:blipFill>
          <a:blip r:embed="rId2"/>
          <a:stretch>
            <a:fillRect/>
          </a:stretch>
        </p:blipFill>
        <p:spPr>
          <a:xfrm>
            <a:off x="7863840" y="4228056"/>
            <a:ext cx="3776472" cy="2105207"/>
          </a:xfrm>
          <a:prstGeom prst="rect">
            <a:avLst/>
          </a:prstGeom>
        </p:spPr>
      </p:pic>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sin/cos, Fourier và Tết</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13</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Mã hoá lịch sao cho Chủ nhật nằm sát thứ Hai và mùa vụ năm chỉ tốn vài cột.</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import pandas as pd</a:t>
            </a:r>
          </a:p>
          <a:p>
            <a:r>
              <a:rPr sz="850">
                <a:solidFill>
                  <a:srgbClr val="6B7385"/>
                </a:solidFill>
                <a:latin typeface="Courier New"/>
              </a:rPr>
              <a:t> 3 </a:t>
            </a:r>
            <a:r>
              <a:rPr sz="850">
                <a:solidFill>
                  <a:srgbClr val="E6EAF0"/>
                </a:solidFill>
                <a:latin typeface="Courier New"/>
              </a:rPr>
              <a:t>so = np.array([5, 6, 0])                    </a:t>
            </a:r>
            <a:r>
              <a:rPr sz="850">
                <a:solidFill>
                  <a:srgbClr val="8FC99A"/>
                </a:solidFill>
                <a:latin typeface="Courier New"/>
              </a:rPr>
              <a:t># thứ Bảy, Chủ nhật, thứ Hai</a:t>
            </a:r>
          </a:p>
          <a:p>
            <a:r>
              <a:rPr sz="850">
                <a:solidFill>
                  <a:srgbClr val="6B7385"/>
                </a:solidFill>
                <a:latin typeface="Courier New"/>
              </a:rPr>
              <a:t> 4 </a:t>
            </a:r>
            <a:r>
              <a:rPr sz="850">
                <a:solidFill>
                  <a:srgbClr val="E6EAF0"/>
                </a:solidFill>
                <a:latin typeface="Courier New"/>
              </a:rPr>
              <a:t>vong = np.column_stack([np.sin(2 * np.pi * so / 7),</a:t>
            </a:r>
          </a:p>
          <a:p>
            <a:r>
              <a:rPr sz="850">
                <a:solidFill>
                  <a:srgbClr val="6B7385"/>
                </a:solidFill>
                <a:latin typeface="Courier New"/>
              </a:rPr>
              <a:t> 5 </a:t>
            </a:r>
            <a:r>
              <a:rPr sz="850">
                <a:solidFill>
                  <a:srgbClr val="E6EAF0"/>
                </a:solidFill>
                <a:latin typeface="Courier New"/>
              </a:rPr>
              <a:t>                        np.cos(2 * np.pi * so / 7)])</a:t>
            </a:r>
          </a:p>
          <a:p>
            <a:r>
              <a:rPr sz="850">
                <a:solidFill>
                  <a:srgbClr val="6B7385"/>
                </a:solidFill>
                <a:latin typeface="Courier New"/>
              </a:rPr>
              <a:t> 6 </a:t>
            </a:r>
            <a:r>
              <a:rPr sz="850">
                <a:solidFill>
                  <a:srgbClr val="E6EAF0"/>
                </a:solidFill>
                <a:latin typeface="Courier New"/>
              </a:rPr>
              <a:t>cn_t2 = np.linalg.norm(vong[1] - vong[2])   </a:t>
            </a:r>
            <a:r>
              <a:rPr sz="850">
                <a:solidFill>
                  <a:srgbClr val="8FC99A"/>
                </a:solidFill>
                <a:latin typeface="Courier New"/>
              </a:rPr>
              <a:t># Chủ nhật – thứ Hai</a:t>
            </a:r>
          </a:p>
          <a:p>
            <a:r>
              <a:rPr sz="850">
                <a:solidFill>
                  <a:srgbClr val="6B7385"/>
                </a:solidFill>
                <a:latin typeface="Courier New"/>
              </a:rPr>
              <a:t> 7 </a:t>
            </a:r>
          </a:p>
          <a:p>
            <a:r>
              <a:rPr sz="850">
                <a:solidFill>
                  <a:srgbClr val="6B7385"/>
                </a:solidFill>
                <a:latin typeface="Courier New"/>
              </a:rPr>
              <a:t> 8 </a:t>
            </a:r>
            <a:r>
              <a:rPr sz="850">
                <a:solidFill>
                  <a:srgbClr val="E6EAF0"/>
                </a:solidFill>
                <a:latin typeface="Courier New"/>
              </a:rPr>
              <a:t>def feature_fourier(moc, chu_ky=365.25, k=3):</a:t>
            </a:r>
          </a:p>
          <a:p>
            <a:r>
              <a:rPr sz="850">
                <a:solidFill>
                  <a:srgbClr val="6B7385"/>
                </a:solidFill>
                <a:latin typeface="Courier New"/>
              </a:rPr>
              <a:t> 9 </a:t>
            </a:r>
            <a:r>
              <a:rPr sz="850">
                <a:solidFill>
                  <a:srgbClr val="E6EAF0"/>
                </a:solidFill>
                <a:latin typeface="Courier New"/>
              </a:rPr>
              <a:t>    t = (moc - moc[0]).days.to_numpy().astype(float)</a:t>
            </a:r>
          </a:p>
          <a:p>
            <a:r>
              <a:rPr sz="850">
                <a:solidFill>
                  <a:srgbClr val="6B7385"/>
                </a:solidFill>
                <a:latin typeface="Courier New"/>
              </a:rPr>
              <a:t>10 </a:t>
            </a:r>
            <a:r>
              <a:rPr sz="850">
                <a:solidFill>
                  <a:srgbClr val="E6EAF0"/>
                </a:solidFill>
                <a:latin typeface="Courier New"/>
              </a:rPr>
              <a:t>    f = pd.DataFrame(index=moc)</a:t>
            </a:r>
          </a:p>
          <a:p>
            <a:r>
              <a:rPr sz="850">
                <a:solidFill>
                  <a:srgbClr val="6B7385"/>
                </a:solidFill>
                <a:latin typeface="Courier New"/>
              </a:rPr>
              <a:t>11 </a:t>
            </a:r>
            <a:r>
              <a:rPr sz="850">
                <a:solidFill>
                  <a:srgbClr val="E6EAF0"/>
                </a:solidFill>
                <a:latin typeface="Courier New"/>
              </a:rPr>
              <a:t>    for i in range(1, k + 1):                </a:t>
            </a:r>
            <a:r>
              <a:rPr sz="850">
                <a:solidFill>
                  <a:srgbClr val="8FC99A"/>
                </a:solidFill>
                <a:latin typeface="Courier New"/>
              </a:rPr>
              <a:t># sóng lặp i lần mỗi năm</a:t>
            </a:r>
          </a:p>
          <a:p>
            <a:r>
              <a:rPr sz="850">
                <a:solidFill>
                  <a:srgbClr val="6B7385"/>
                </a:solidFill>
                <a:latin typeface="Courier New"/>
              </a:rPr>
              <a:t>12 </a:t>
            </a:r>
            <a:r>
              <a:rPr sz="850">
                <a:solidFill>
                  <a:srgbClr val="E6EAF0"/>
                </a:solidFill>
                <a:latin typeface="Courier New"/>
              </a:rPr>
              <a:t>        f[f"fourier_sin_{i}"] = np.sin(2 * np.pi * i * t / chu_ky)</a:t>
            </a:r>
          </a:p>
          <a:p>
            <a:r>
              <a:rPr sz="850">
                <a:solidFill>
                  <a:srgbClr val="6B7385"/>
                </a:solidFill>
                <a:latin typeface="Courier New"/>
              </a:rPr>
              <a:t>13 </a:t>
            </a:r>
            <a:r>
              <a:rPr sz="850">
                <a:solidFill>
                  <a:srgbClr val="E6EAF0"/>
                </a:solidFill>
                <a:latin typeface="Courier New"/>
              </a:rPr>
              <a:t>        f[f"fourier_cos_{i}"] = np.cos(2 * np.pi * i * t / chu_ky)</a:t>
            </a:r>
          </a:p>
          <a:p>
            <a:r>
              <a:rPr sz="850">
                <a:solidFill>
                  <a:srgbClr val="6B7385"/>
                </a:solidFill>
                <a:latin typeface="Courier New"/>
              </a:rPr>
              <a:t>14 </a:t>
            </a:r>
            <a:r>
              <a:rPr sz="850">
                <a:solidFill>
                  <a:srgbClr val="E6EAF0"/>
                </a:solidFill>
                <a:latin typeface="Courier New"/>
              </a:rPr>
              <a:t>    return f</a:t>
            </a:r>
          </a:p>
          <a:p>
            <a:r>
              <a:rPr sz="850">
                <a:solidFill>
                  <a:srgbClr val="6B7385"/>
                </a:solidFill>
                <a:latin typeface="Courier New"/>
              </a:rPr>
              <a:t>15 </a:t>
            </a:r>
          </a:p>
          <a:p>
            <a:r>
              <a:rPr sz="850">
                <a:solidFill>
                  <a:srgbClr val="6B7385"/>
                </a:solidFill>
                <a:latin typeface="Courier New"/>
              </a:rPr>
              <a:t>16 </a:t>
            </a:r>
            <a:r>
              <a:rPr sz="850">
                <a:solidFill>
                  <a:srgbClr val="E6EAF0"/>
                </a:solidFill>
                <a:latin typeface="Courier New"/>
              </a:rPr>
              <a:t>d = so_ngay_toi_tet(wiki.index)             </a:t>
            </a:r>
            <a:r>
              <a:rPr sz="850">
                <a:solidFill>
                  <a:srgbClr val="8FC99A"/>
                </a:solidFill>
                <a:latin typeface="Courier New"/>
              </a:rPr>
              <a:t># Tết tính từ lịch âm UTC+7</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buoi-13/tu-hoc.ipynb, phần 3</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3–5</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Đặt ba ngày cuối, đầu tuần lên vòng tròn.</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6</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Đo khoảng cách Chủ nhật tới thứ Hai.</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9</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Đổi ngày thành số ngày kể từ đầu chuỗi.</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11–13</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Mỗi i thêm một cặp sóng, K = 3 cho 6 cột.</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16</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Đếm số ngày tới mùng 1 Tết gần nhất.</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Chủ nhật cách thứ Hai 0,868, đúng bằng cách thứ Bảy. Thêm 5 feature Tết: cả năm chỉ tốt hơn 1,9%, quanh Tết tốt hơn 16,9%.</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np.sin, np.cos</a:t>
            </a:r>
            <a:r>
              <a:rPr sz="950" b="1" i="0">
                <a:solidFill>
                  <a:srgbClr val="5B6778"/>
                </a:solidFill>
                <a:latin typeface="Arial"/>
              </a:rPr>
              <a:t>   numpy</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Tính sin, cos cho cả mảng một lần; cả cặp mới định vị đúng.</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np.linalg.norm</a:t>
            </a:r>
            <a:r>
              <a:rPr sz="950" b="1" i="0">
                <a:solidFill>
                  <a:srgbClr val="5B6778"/>
                </a:solidFill>
                <a:latin typeface="Arial"/>
              </a:rPr>
              <a:t>   numpy</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Độ dài của một vectơ: khoảng cách giữa hai điểm trên vòng.</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so_ngay_toi_tet</a:t>
            </a:r>
            <a:r>
              <a:rPr sz="950" b="1" i="0">
                <a:solidFill>
                  <a:srgbClr val="5B6778"/>
                </a:solidFill>
                <a:latin typeface="Arial"/>
              </a:rPr>
              <a:t>   tự viết</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Số ngày tới mùng 1 Tết gần nhất theo lịch âm; âm là đã qua.</a:t>
            </a:r>
          </a:p>
        </p:txBody>
      </p:sp>
      <p:sp>
        <p:nvSpPr>
          <p:cNvPr id="29" name="Rounded Rectangle 28"/>
          <p:cNvSpPr/>
          <p:nvPr/>
        </p:nvSpPr>
        <p:spPr>
          <a:xfrm>
            <a:off x="7863840" y="4059935"/>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8c28e547595d.png"/>
          <p:cNvPicPr>
            <a:picLocks noChangeAspect="1"/>
          </p:cNvPicPr>
          <p:nvPr/>
        </p:nvPicPr>
        <p:blipFill>
          <a:blip r:embed="rId2"/>
          <a:stretch>
            <a:fillRect/>
          </a:stretch>
        </p:blipFill>
        <p:spPr>
          <a:xfrm>
            <a:off x="8514588" y="4181855"/>
            <a:ext cx="2474976" cy="304800"/>
          </a:xfrm>
          <a:prstGeom prst="rect">
            <a:avLst/>
          </a:prstGeom>
        </p:spPr>
      </p:pic>
      <p:pic>
        <p:nvPicPr>
          <p:cNvPr id="31" name="Picture 30" descr="kn-ma-hoa-tuan-hoan.png"/>
          <p:cNvPicPr>
            <a:picLocks noChangeAspect="1"/>
          </p:cNvPicPr>
          <p:nvPr/>
        </p:nvPicPr>
        <p:blipFill>
          <a:blip r:embed="rId3"/>
          <a:stretch>
            <a:fillRect/>
          </a:stretch>
        </p:blipFill>
        <p:spPr>
          <a:xfrm>
            <a:off x="8263638" y="4745735"/>
            <a:ext cx="2976874" cy="1728216"/>
          </a:xfrm>
          <a:prstGeom prst="rect">
            <a:avLst/>
          </a:prstGeom>
        </p:spPr>
      </p:pic>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ba kiểu rò rỉ cả chuỗi</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13</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Đặt bản sai cạnh bản đúng để thấy số tương lai lọt vào quá khứ ở đâu.</a:t>
            </a:r>
          </a:p>
        </p:txBody>
      </p:sp>
      <p:sp>
        <p:nvSpPr>
          <p:cNvPr id="6" name="Rounded Rectangle 5"/>
          <p:cNvSpPr/>
          <p:nvPr/>
        </p:nvSpPr>
        <p:spPr>
          <a:xfrm>
            <a:off x="548640" y="1737360"/>
            <a:ext cx="7086600" cy="2455545"/>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35505"/>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numpy as np</a:t>
            </a:r>
          </a:p>
          <a:p>
            <a:r>
              <a:rPr sz="950">
                <a:solidFill>
                  <a:srgbClr val="6B7385"/>
                </a:solidFill>
                <a:latin typeface="Courier New"/>
              </a:rPr>
              <a:t> 2 </a:t>
            </a:r>
            <a:r>
              <a:rPr sz="950">
                <a:solidFill>
                  <a:srgbClr val="E6EAF0"/>
                </a:solidFill>
                <a:latin typeface="Courier New"/>
              </a:rPr>
              <a:t>import pandas as pd</a:t>
            </a:r>
          </a:p>
          <a:p>
            <a:r>
              <a:rPr sz="950">
                <a:solidFill>
                  <a:srgbClr val="6B7385"/>
                </a:solidFill>
                <a:latin typeface="Courier New"/>
              </a:rPr>
              <a:t> 3 </a:t>
            </a:r>
          </a:p>
          <a:p>
            <a:r>
              <a:rPr sz="950">
                <a:solidFill>
                  <a:srgbClr val="6B7385"/>
                </a:solidFill>
                <a:latin typeface="Courier New"/>
              </a:rPr>
              <a:t> 4 </a:t>
            </a:r>
            <a:r>
              <a:rPr sz="950">
                <a:solidFill>
                  <a:srgbClr val="E6EAF0"/>
                </a:solidFill>
                <a:latin typeface="Courier New"/>
              </a:rPr>
              <a:t>v = pd.Series([10, 12, 8, 14, 20, 16], index=range(1, 7), dtype=float)</a:t>
            </a:r>
          </a:p>
          <a:p>
            <a:r>
              <a:rPr sz="950">
                <a:solidFill>
                  <a:srgbClr val="6B7385"/>
                </a:solidFill>
                <a:latin typeface="Courier New"/>
              </a:rPr>
              <a:t> 5 </a:t>
            </a:r>
            <a:r>
              <a:rPr sz="950">
                <a:solidFill>
                  <a:srgbClr val="E6EAF0"/>
                </a:solidFill>
                <a:latin typeface="Courier New"/>
              </a:rPr>
              <a:t>nhom = pd.Series(["A", "B"] * 3, index=v.index)</a:t>
            </a:r>
          </a:p>
          <a:p>
            <a:r>
              <a:rPr sz="950">
                <a:solidFill>
                  <a:srgbClr val="6B7385"/>
                </a:solidFill>
                <a:latin typeface="Courier New"/>
              </a:rPr>
              <a:t> 6 </a:t>
            </a:r>
            <a:r>
              <a:rPr sz="950">
                <a:solidFill>
                  <a:srgbClr val="E6EAF0"/>
                </a:solidFill>
                <a:latin typeface="Courier New"/>
              </a:rPr>
              <a:t>co_lo = v.copy()</a:t>
            </a:r>
          </a:p>
          <a:p>
            <a:r>
              <a:rPr sz="950">
                <a:solidFill>
                  <a:srgbClr val="6B7385"/>
                </a:solidFill>
                <a:latin typeface="Courier New"/>
              </a:rPr>
              <a:t> 7 </a:t>
            </a:r>
            <a:r>
              <a:rPr sz="950">
                <a:solidFill>
                  <a:srgbClr val="E6EAF0"/>
                </a:solidFill>
                <a:latin typeface="Courier New"/>
              </a:rPr>
              <a:t>co_lo[3] = np.nan                                  </a:t>
            </a:r>
            <a:r>
              <a:rPr sz="950">
                <a:solidFill>
                  <a:srgbClr val="8FC99A"/>
                </a:solidFill>
                <a:latin typeface="Courier New"/>
              </a:rPr>
              <a:t># ngày 3 mất số</a:t>
            </a:r>
          </a:p>
          <a:p>
            <a:r>
              <a:rPr sz="950">
                <a:solidFill>
                  <a:srgbClr val="6B7385"/>
                </a:solidFill>
                <a:latin typeface="Courier New"/>
              </a:rPr>
              <a:t> 8 </a:t>
            </a:r>
            <a:r>
              <a:rPr sz="950">
                <a:solidFill>
                  <a:srgbClr val="E6EAF0"/>
                </a:solidFill>
                <a:latin typeface="Courier New"/>
              </a:rPr>
              <a:t>z_sai = (v - v.mean()) / v.std()                   </a:t>
            </a:r>
            <a:r>
              <a:rPr sz="950">
                <a:solidFill>
                  <a:srgbClr val="8FC99A"/>
                </a:solidFill>
                <a:latin typeface="Courier New"/>
              </a:rPr>
              <a:t># dùng cả 6 ngày</a:t>
            </a:r>
          </a:p>
          <a:p>
            <a:r>
              <a:rPr sz="950">
                <a:solidFill>
                  <a:srgbClr val="6B7385"/>
                </a:solidFill>
                <a:latin typeface="Courier New"/>
              </a:rPr>
              <a:t> 9 </a:t>
            </a:r>
            <a:r>
              <a:rPr sz="950">
                <a:solidFill>
                  <a:srgbClr val="E6EAF0"/>
                </a:solidFill>
                <a:latin typeface="Courier New"/>
              </a:rPr>
              <a:t>tb_dung = v.shift(1).expanding().mean()            </a:t>
            </a:r>
            <a:r>
              <a:rPr sz="950">
                <a:solidFill>
                  <a:srgbClr val="8FC99A"/>
                </a:solidFill>
                <a:latin typeface="Courier New"/>
              </a:rPr>
              <a:t># chỉ ngày trước t</a:t>
            </a:r>
          </a:p>
          <a:p>
            <a:r>
              <a:rPr sz="950">
                <a:solidFill>
                  <a:srgbClr val="6B7385"/>
                </a:solidFill>
                <a:latin typeface="Courier New"/>
              </a:rPr>
              <a:t>10 </a:t>
            </a:r>
            <a:r>
              <a:rPr sz="950">
                <a:solidFill>
                  <a:srgbClr val="E6EAF0"/>
                </a:solidFill>
                <a:latin typeface="Courier New"/>
              </a:rPr>
              <a:t>nhom_sai = v.groupby(nhom).transform("mean")       </a:t>
            </a:r>
            <a:r>
              <a:rPr sz="950">
                <a:solidFill>
                  <a:srgbClr val="8FC99A"/>
                </a:solidFill>
                <a:latin typeface="Courier New"/>
              </a:rPr>
              <a:t># có số tương lai</a:t>
            </a:r>
          </a:p>
          <a:p>
            <a:r>
              <a:rPr sz="950">
                <a:solidFill>
                  <a:srgbClr val="6B7385"/>
                </a:solidFill>
                <a:latin typeface="Courier New"/>
              </a:rPr>
              <a:t>11 </a:t>
            </a:r>
            <a:r>
              <a:rPr sz="950">
                <a:solidFill>
                  <a:srgbClr val="E6EAF0"/>
                </a:solidFill>
                <a:latin typeface="Courier New"/>
              </a:rPr>
              <a:t>nhom_dung = v.groupby(nhom).transform(</a:t>
            </a:r>
          </a:p>
          <a:p>
            <a:r>
              <a:rPr sz="950">
                <a:solidFill>
                  <a:srgbClr val="6B7385"/>
                </a:solidFill>
                <a:latin typeface="Courier New"/>
              </a:rPr>
              <a:t>12 </a:t>
            </a:r>
            <a:r>
              <a:rPr sz="950">
                <a:solidFill>
                  <a:srgbClr val="E6EAF0"/>
                </a:solidFill>
                <a:latin typeface="Courier New"/>
              </a:rPr>
              <a:t>    lambda s: s.shift(1).expanding().mean())       </a:t>
            </a:r>
            <a:r>
              <a:rPr sz="950">
                <a:solidFill>
                  <a:srgbClr val="8FC99A"/>
                </a:solidFill>
                <a:latin typeface="Courier New"/>
              </a:rPr>
              <a:t># nhóm, chỉ quá khứ</a:t>
            </a:r>
          </a:p>
          <a:p>
            <a:r>
              <a:rPr sz="950">
                <a:solidFill>
                  <a:srgbClr val="6B7385"/>
                </a:solidFill>
                <a:latin typeface="Courier New"/>
              </a:rPr>
              <a:t>13 </a:t>
            </a:r>
            <a:r>
              <a:rPr sz="950">
                <a:solidFill>
                  <a:srgbClr val="E6EAF0"/>
                </a:solidFill>
                <a:latin typeface="Courier New"/>
              </a:rPr>
              <a:t>dien_sai = co_lo.interpolate(limit_direction="both")  </a:t>
            </a:r>
            <a:r>
              <a:rPr sz="950">
                <a:solidFill>
                  <a:srgbClr val="8FC99A"/>
                </a:solidFill>
                <a:latin typeface="Courier New"/>
              </a:rPr>
              <a:t># nhìn ngày 4</a:t>
            </a:r>
          </a:p>
          <a:p>
            <a:r>
              <a:rPr sz="950">
                <a:solidFill>
                  <a:srgbClr val="6B7385"/>
                </a:solidFill>
                <a:latin typeface="Courier New"/>
              </a:rPr>
              <a:t>14 </a:t>
            </a:r>
            <a:r>
              <a:rPr sz="950">
                <a:solidFill>
                  <a:srgbClr val="E6EAF0"/>
                </a:solidFill>
                <a:latin typeface="Courier New"/>
              </a:rPr>
              <a:t>dien_dung = co_lo.ffill()                          </a:t>
            </a:r>
            <a:r>
              <a:rPr sz="950">
                <a:solidFill>
                  <a:srgbClr val="8FC99A"/>
                </a:solidFill>
                <a:latin typeface="Courier New"/>
              </a:rPr>
              <a:t># lấy hôm trước</a:t>
            </a:r>
          </a:p>
        </p:txBody>
      </p:sp>
      <p:sp>
        <p:nvSpPr>
          <p:cNvPr id="8" name="TextBox 7"/>
          <p:cNvSpPr txBox="1"/>
          <p:nvPr/>
        </p:nvSpPr>
        <p:spPr>
          <a:xfrm>
            <a:off x="685800" y="3946017"/>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buoi-13/tu-hoc.ipynb, phần 4</a:t>
            </a:r>
          </a:p>
        </p:txBody>
      </p:sp>
      <p:sp>
        <p:nvSpPr>
          <p:cNvPr id="9" name="TextBox 8"/>
          <p:cNvSpPr txBox="1"/>
          <p:nvPr/>
        </p:nvSpPr>
        <p:spPr>
          <a:xfrm>
            <a:off x="548640" y="4302633"/>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6226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4–7</a:t>
            </a:r>
          </a:p>
        </p:txBody>
      </p:sp>
      <p:sp>
        <p:nvSpPr>
          <p:cNvPr id="11" name="TextBox 10"/>
          <p:cNvSpPr txBox="1"/>
          <p:nvPr/>
        </p:nvSpPr>
        <p:spPr>
          <a:xfrm>
            <a:off x="1353312" y="4604385"/>
            <a:ext cx="2697480" cy="457200"/>
          </a:xfrm>
          <a:prstGeom prst="rect">
            <a:avLst/>
          </a:prstGeom>
          <a:noFill/>
        </p:spPr>
        <p:txBody>
          <a:bodyPr wrap="square" lIns="0" rIns="0" tIns="0" bIns="0" anchor="t">
            <a:spAutoFit/>
          </a:bodyPr>
          <a:lstStyle/>
          <a:p>
            <a:pPr algn="l"/>
            <a:r>
              <a:rPr sz="1050" b="0" i="0">
                <a:solidFill>
                  <a:srgbClr val="1B2A41"/>
                </a:solidFill>
                <a:latin typeface="Arial"/>
              </a:rPr>
              <a:t>Sáu ngày, hai nhóm, ngày 3 bị mất số.</a:t>
            </a:r>
          </a:p>
        </p:txBody>
      </p:sp>
      <p:sp>
        <p:nvSpPr>
          <p:cNvPr id="12" name="Rounded Rectangle 11"/>
          <p:cNvSpPr/>
          <p:nvPr/>
        </p:nvSpPr>
        <p:spPr>
          <a:xfrm>
            <a:off x="548640" y="50798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8–9</a:t>
            </a:r>
          </a:p>
        </p:txBody>
      </p:sp>
      <p:sp>
        <p:nvSpPr>
          <p:cNvPr id="13" name="TextBox 12"/>
          <p:cNvSpPr txBox="1"/>
          <p:nvPr/>
        </p:nvSpPr>
        <p:spPr>
          <a:xfrm>
            <a:off x="1353312" y="5061585"/>
            <a:ext cx="2697480" cy="457200"/>
          </a:xfrm>
          <a:prstGeom prst="rect">
            <a:avLst/>
          </a:prstGeom>
          <a:noFill/>
        </p:spPr>
        <p:txBody>
          <a:bodyPr wrap="square" lIns="0" rIns="0" tIns="0" bIns="0" anchor="t">
            <a:spAutoFit/>
          </a:bodyPr>
          <a:lstStyle/>
          <a:p>
            <a:pPr algn="l"/>
            <a:r>
              <a:rPr sz="1050" b="0" i="0">
                <a:solidFill>
                  <a:srgbClr val="1B2A41"/>
                </a:solidFill>
                <a:latin typeface="Arial"/>
              </a:rPr>
              <a:t>Chuẩn hoá: toàn chuỗi so với chỉ quá khứ.</a:t>
            </a:r>
          </a:p>
        </p:txBody>
      </p:sp>
      <p:sp>
        <p:nvSpPr>
          <p:cNvPr id="14" name="Rounded Rectangle 13"/>
          <p:cNvSpPr/>
          <p:nvPr/>
        </p:nvSpPr>
        <p:spPr>
          <a:xfrm>
            <a:off x="4160520" y="46226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10–12</a:t>
            </a:r>
          </a:p>
        </p:txBody>
      </p:sp>
      <p:sp>
        <p:nvSpPr>
          <p:cNvPr id="15" name="TextBox 14"/>
          <p:cNvSpPr txBox="1"/>
          <p:nvPr/>
        </p:nvSpPr>
        <p:spPr>
          <a:xfrm>
            <a:off x="4965192" y="4604385"/>
            <a:ext cx="2697480" cy="457200"/>
          </a:xfrm>
          <a:prstGeom prst="rect">
            <a:avLst/>
          </a:prstGeom>
          <a:noFill/>
        </p:spPr>
        <p:txBody>
          <a:bodyPr wrap="square" lIns="0" rIns="0" tIns="0" bIns="0" anchor="t">
            <a:spAutoFit/>
          </a:bodyPr>
          <a:lstStyle/>
          <a:p>
            <a:pPr algn="l"/>
            <a:r>
              <a:rPr sz="1050" b="0" i="0">
                <a:solidFill>
                  <a:srgbClr val="1B2A41"/>
                </a:solidFill>
                <a:latin typeface="Arial"/>
              </a:rPr>
              <a:t>Trung bình nhóm: toàn chuỗi so với quá khứ.</a:t>
            </a:r>
          </a:p>
        </p:txBody>
      </p:sp>
      <p:sp>
        <p:nvSpPr>
          <p:cNvPr id="16" name="Rounded Rectangle 15"/>
          <p:cNvSpPr/>
          <p:nvPr/>
        </p:nvSpPr>
        <p:spPr>
          <a:xfrm>
            <a:off x="4160520" y="50798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13–14</a:t>
            </a:r>
          </a:p>
        </p:txBody>
      </p:sp>
      <p:sp>
        <p:nvSpPr>
          <p:cNvPr id="17" name="TextBox 16"/>
          <p:cNvSpPr txBox="1"/>
          <p:nvPr/>
        </p:nvSpPr>
        <p:spPr>
          <a:xfrm>
            <a:off x="4965192" y="5061585"/>
            <a:ext cx="2697480" cy="457200"/>
          </a:xfrm>
          <a:prstGeom prst="rect">
            <a:avLst/>
          </a:prstGeom>
          <a:noFill/>
        </p:spPr>
        <p:txBody>
          <a:bodyPr wrap="square" lIns="0" rIns="0" tIns="0" bIns="0" anchor="t">
            <a:spAutoFit/>
          </a:bodyPr>
          <a:lstStyle/>
          <a:p>
            <a:pPr algn="l"/>
            <a:r>
              <a:rPr sz="1050" b="0" i="0">
                <a:solidFill>
                  <a:srgbClr val="1B2A41"/>
                </a:solidFill>
                <a:latin typeface="Arial"/>
              </a:rPr>
              <a:t>Điền chỗ thiếu: hai phía so với lấy hôm trước.</a:t>
            </a:r>
          </a:p>
        </p:txBody>
      </p:sp>
      <p:sp>
        <p:nvSpPr>
          <p:cNvPr id="18" name="Rounded Rectangle 17"/>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Mọi ô z dùng trung bình 13,33 có cả hai ngày cuối. Ngày 1 mang trung bình nhóm A 12,67 có số 20 của ngày 5. Điền hai phía ra 13, ffill ra 12.</a:t>
            </a:r>
          </a:p>
        </p:txBody>
      </p:sp>
      <p:sp>
        <p:nvSpPr>
          <p:cNvPr id="20" name="TextBox 19"/>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1" name="TextBox 20"/>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shift(1).expanding().mean()</a:t>
            </a:r>
            <a:r>
              <a:rPr sz="950" b="1" i="0">
                <a:solidFill>
                  <a:srgbClr val="5B6778"/>
                </a:solidFill>
                <a:latin typeface="Arial"/>
              </a:rPr>
              <a:t>   pandas</a:t>
            </a:r>
          </a:p>
        </p:txBody>
      </p:sp>
      <p:sp>
        <p:nvSpPr>
          <p:cNvPr id="22" name="TextBox 21"/>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Trung bình từ đầu chuỗi tới hôm qua, không chạm ngày t.</a:t>
            </a:r>
          </a:p>
        </p:txBody>
      </p:sp>
      <p:sp>
        <p:nvSpPr>
          <p:cNvPr id="23" name="TextBox 22"/>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groupby(nhom).transform</a:t>
            </a:r>
            <a:r>
              <a:rPr sz="950" b="1" i="0">
                <a:solidFill>
                  <a:srgbClr val="5B6778"/>
                </a:solidFill>
                <a:latin typeface="Arial"/>
              </a:rPr>
              <a:t>   pandas</a:t>
            </a:r>
          </a:p>
        </p:txBody>
      </p:sp>
      <p:sp>
        <p:nvSpPr>
          <p:cNvPr id="24" name="TextBox 23"/>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Tính theo từng nhóm rồi trả về đúng chỗ của mỗi dòng.</a:t>
            </a:r>
          </a:p>
        </p:txBody>
      </p:sp>
      <p:sp>
        <p:nvSpPr>
          <p:cNvPr id="25" name="TextBox 24"/>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interpolate(limit_direction="both")</a:t>
            </a:r>
            <a:r>
              <a:rPr sz="950" b="1" i="0">
                <a:solidFill>
                  <a:srgbClr val="5B6778"/>
                </a:solidFill>
                <a:latin typeface="Arial"/>
              </a:rPr>
              <a:t>   pandas</a:t>
            </a:r>
          </a:p>
        </p:txBody>
      </p:sp>
      <p:sp>
        <p:nvSpPr>
          <p:cNvPr id="26" name="TextBox 25"/>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Điền chỗ thiếu bằng đường nối hai phía, tức dùng cả ngày sau.</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bài kiểm cắt tương lai</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13</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Để máy tự tìm rò rỉ: cắt dữ liệu, tính lại feature, so từng dòng trước mốc.</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def kiem_ro_ri(ham_feature, y, cac_moc=None, bo_cuoi=0):</a:t>
            </a:r>
          </a:p>
          <a:p>
            <a:r>
              <a:rPr sz="850">
                <a:solidFill>
                  <a:srgbClr val="6B7385"/>
                </a:solidFill>
                <a:latin typeface="Courier New"/>
              </a:rPr>
              <a:t> 3 </a:t>
            </a:r>
            <a:r>
              <a:rPr sz="850">
                <a:solidFill>
                  <a:srgbClr val="E6EAF0"/>
                </a:solidFill>
                <a:latin typeface="Courier New"/>
              </a:rPr>
              <a:t>    day_du, bi_bat = ham_feature(y), {}            </a:t>
            </a:r>
            <a:r>
              <a:rPr sz="850">
                <a:solidFill>
                  <a:srgbClr val="8FC99A"/>
                </a:solidFill>
                <a:latin typeface="Courier New"/>
              </a:rPr>
              <a:t># tính trên cả chuỗi</a:t>
            </a:r>
          </a:p>
          <a:p>
            <a:r>
              <a:rPr sz="850">
                <a:solidFill>
                  <a:srgbClr val="6B7385"/>
                </a:solidFill>
                <a:latin typeface="Courier New"/>
              </a:rPr>
              <a:t> 4 </a:t>
            </a:r>
            <a:r>
              <a:rPr sz="850">
                <a:solidFill>
                  <a:srgbClr val="E6EAF0"/>
                </a:solidFill>
                <a:latin typeface="Courier New"/>
              </a:rPr>
              <a:t>    cac_moc = cac_moc or [y.index[int(len(y) * p)]</a:t>
            </a:r>
          </a:p>
          <a:p>
            <a:r>
              <a:rPr sz="850">
                <a:solidFill>
                  <a:srgbClr val="6B7385"/>
                </a:solidFill>
                <a:latin typeface="Courier New"/>
              </a:rPr>
              <a:t> 5 </a:t>
            </a:r>
            <a:r>
              <a:rPr sz="850">
                <a:solidFill>
                  <a:srgbClr val="E6EAF0"/>
                </a:solidFill>
                <a:latin typeface="Courier New"/>
              </a:rPr>
              <a:t>                          for p in (0.5, 0.7, 0.9)]   </a:t>
            </a:r>
            <a:r>
              <a:rPr sz="850">
                <a:solidFill>
                  <a:srgbClr val="8FC99A"/>
                </a:solidFill>
                <a:latin typeface="Courier New"/>
              </a:rPr>
              <a:t># nhiều mốc</a:t>
            </a:r>
          </a:p>
          <a:p>
            <a:r>
              <a:rPr sz="850">
                <a:solidFill>
                  <a:srgbClr val="6B7385"/>
                </a:solidFill>
                <a:latin typeface="Courier New"/>
              </a:rPr>
              <a:t> 6 </a:t>
            </a:r>
            <a:r>
              <a:rPr sz="850">
                <a:solidFill>
                  <a:srgbClr val="E6EAF0"/>
                </a:solidFill>
                <a:latin typeface="Courier New"/>
              </a:rPr>
              <a:t>    for moc in cac_moc:</a:t>
            </a:r>
          </a:p>
          <a:p>
            <a:r>
              <a:rPr sz="850">
                <a:solidFill>
                  <a:srgbClr val="6B7385"/>
                </a:solidFill>
                <a:latin typeface="Courier New"/>
              </a:rPr>
              <a:t> 7 </a:t>
            </a:r>
            <a:r>
              <a:rPr sz="850">
                <a:solidFill>
                  <a:srgbClr val="E6EAF0"/>
                </a:solidFill>
                <a:latin typeface="Courier New"/>
              </a:rPr>
              <a:t>        cat = ham_feature(y[y.index &lt;= moc])       </a:t>
            </a:r>
            <a:r>
              <a:rPr sz="850">
                <a:solidFill>
                  <a:srgbClr val="8FC99A"/>
                </a:solidFill>
                <a:latin typeface="Courier New"/>
              </a:rPr>
              <a:t># cắt rồi tính lại</a:t>
            </a:r>
          </a:p>
          <a:p>
            <a:r>
              <a:rPr sz="850">
                <a:solidFill>
                  <a:srgbClr val="6B7385"/>
                </a:solidFill>
                <a:latin typeface="Courier New"/>
              </a:rPr>
              <a:t> 8 </a:t>
            </a:r>
            <a:r>
              <a:rPr sz="850">
                <a:solidFill>
                  <a:srgbClr val="E6EAF0"/>
                </a:solidFill>
                <a:latin typeface="Courier New"/>
              </a:rPr>
              <a:t>        chung = day_du.index[day_du.index &lt;= moc]</a:t>
            </a:r>
          </a:p>
          <a:p>
            <a:r>
              <a:rPr sz="850">
                <a:solidFill>
                  <a:srgbClr val="6B7385"/>
                </a:solidFill>
                <a:latin typeface="Courier New"/>
              </a:rPr>
              <a:t> 9 </a:t>
            </a:r>
            <a:r>
              <a:rPr sz="850">
                <a:solidFill>
                  <a:srgbClr val="E6EAF0"/>
                </a:solidFill>
                <a:latin typeface="Courier New"/>
              </a:rPr>
              <a:t>        chung = chung[:len(chung) - bo_cuoi]       </a:t>
            </a:r>
            <a:r>
              <a:rPr sz="850">
                <a:solidFill>
                  <a:srgbClr val="8FC99A"/>
                </a:solidFill>
                <a:latin typeface="Courier New"/>
              </a:rPr>
              <a:t># bo_cuoi=0: so MỌI dòng</a:t>
            </a:r>
          </a:p>
          <a:p>
            <a:r>
              <a:rPr sz="850">
                <a:solidFill>
                  <a:srgbClr val="6B7385"/>
                </a:solidFill>
                <a:latin typeface="Courier New"/>
              </a:rPr>
              <a:t>10 </a:t>
            </a:r>
            <a:r>
              <a:rPr sz="850">
                <a:solidFill>
                  <a:srgbClr val="E6EAF0"/>
                </a:solidFill>
                <a:latin typeface="Courier New"/>
              </a:rPr>
              <a:t>        for cot in day_du.columns:</a:t>
            </a:r>
          </a:p>
          <a:p>
            <a:r>
              <a:rPr sz="850">
                <a:solidFill>
                  <a:srgbClr val="6B7385"/>
                </a:solidFill>
                <a:latin typeface="Courier New"/>
              </a:rPr>
              <a:t>11 </a:t>
            </a:r>
            <a:r>
              <a:rPr sz="850">
                <a:solidFill>
                  <a:srgbClr val="E6EAF0"/>
                </a:solidFill>
                <a:latin typeface="Courier New"/>
              </a:rPr>
              <a:t>            a = day_du.loc[chung, cot].to_numpy(float)</a:t>
            </a:r>
          </a:p>
          <a:p>
            <a:r>
              <a:rPr sz="850">
                <a:solidFill>
                  <a:srgbClr val="6B7385"/>
                </a:solidFill>
                <a:latin typeface="Courier New"/>
              </a:rPr>
              <a:t>12 </a:t>
            </a:r>
            <a:r>
              <a:rPr sz="850">
                <a:solidFill>
                  <a:srgbClr val="E6EAF0"/>
                </a:solidFill>
                <a:latin typeface="Courier New"/>
              </a:rPr>
              <a:t>            b = cat.reindex(chung)[cot].to_numpy(float)</a:t>
            </a:r>
          </a:p>
          <a:p>
            <a:r>
              <a:rPr sz="850">
                <a:solidFill>
                  <a:srgbClr val="6B7385"/>
                </a:solidFill>
                <a:latin typeface="Courier New"/>
              </a:rPr>
              <a:t>13 </a:t>
            </a:r>
            <a:r>
              <a:rPr sz="850">
                <a:solidFill>
                  <a:srgbClr val="E6EAF0"/>
                </a:solidFill>
                <a:latin typeface="Courier New"/>
              </a:rPr>
              <a:t>            khac = ~np.isclose(a, b, rtol=0, atol=1e-9, equal_nan=True)</a:t>
            </a:r>
          </a:p>
          <a:p>
            <a:r>
              <a:rPr sz="850">
                <a:solidFill>
                  <a:srgbClr val="6B7385"/>
                </a:solidFill>
                <a:latin typeface="Courier New"/>
              </a:rPr>
              <a:t>14 </a:t>
            </a:r>
            <a:r>
              <a:rPr sz="850">
                <a:solidFill>
                  <a:srgbClr val="E6EAF0"/>
                </a:solidFill>
                <a:latin typeface="Courier New"/>
              </a:rPr>
              <a:t>            if khac.any():</a:t>
            </a:r>
          </a:p>
          <a:p>
            <a:r>
              <a:rPr sz="850">
                <a:solidFill>
                  <a:srgbClr val="6B7385"/>
                </a:solidFill>
                <a:latin typeface="Courier New"/>
              </a:rPr>
              <a:t>15 </a:t>
            </a:r>
            <a:r>
              <a:rPr sz="850">
                <a:solidFill>
                  <a:srgbClr val="E6EAF0"/>
                </a:solidFill>
                <a:latin typeface="Courier New"/>
              </a:rPr>
              <a:t>                bi_bat[cot] = max(bi_bat.get(cot, 0), int(khac.sum()))</a:t>
            </a:r>
          </a:p>
          <a:p>
            <a:r>
              <a:rPr sz="850">
                <a:solidFill>
                  <a:srgbClr val="6B7385"/>
                </a:solidFill>
                <a:latin typeface="Courier New"/>
              </a:rPr>
              <a:t>16 </a:t>
            </a:r>
            <a:r>
              <a:rPr sz="850">
                <a:solidFill>
                  <a:srgbClr val="E6EAF0"/>
                </a:solidFill>
                <a:latin typeface="Courier New"/>
              </a:rPr>
              <a:t>    return bi_bat                                  </a:t>
            </a:r>
            <a:r>
              <a:rPr sz="850">
                <a:solidFill>
                  <a:srgbClr val="8FC99A"/>
                </a:solidFill>
                <a:latin typeface="Courier New"/>
              </a:rPr>
              <a:t># {feature: số dòng đổi}</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buoi-13/tu-hoc.ipynb, phần 5</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3</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Tính feature một lần trên dữ liệu đầy đủ.</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4–5</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Cắt ở 50, 70, 90% chuỗi, không chỉ một mốc.</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7</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Bỏ phần sau mốc rồi tính lại feature.</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9</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So mọi dòng trước mốc, không bỏ dòng cuối.</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11–15</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Cột nào đổi dù chỉ một dòng là rò rỉ.</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Bản ẩu (một mốc, bỏ 10 dòng cuối) bắt 4 cột, lọt tb_7. Bản đúng bắt đủ 5 cột. Bộ 41 cột đã sửa qua sạch cả hai bài kiểm.</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np.isclose(equal_nan=True)</a:t>
            </a:r>
            <a:r>
              <a:rPr sz="950" b="1" i="0">
                <a:solidFill>
                  <a:srgbClr val="5B6778"/>
                </a:solidFill>
                <a:latin typeface="Arial"/>
              </a:rPr>
              <a:t>   numpy</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So hai mảng từng ô; NaN gặp NaN là bằng, NaN gặp số là khác.</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reindex</a:t>
            </a:r>
            <a:r>
              <a:rPr sz="950" b="1" i="0">
                <a:solidFill>
                  <a:srgbClr val="5B6778"/>
                </a:solidFill>
                <a:latin typeface="Arial"/>
              </a:rPr>
              <a:t>   pandas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Xếp lại bảng theo danh sách mốc cho trước; mốc thiếu thành NaN.</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kiem_ro_ri</a:t>
            </a:r>
            <a:r>
              <a:rPr sz="950" b="1" i="0">
                <a:solidFill>
                  <a:srgbClr val="5B6778"/>
                </a:solidFill>
                <a:latin typeface="Arial"/>
              </a:rPr>
              <a:t>   tự viết</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Trả các cột bị đổi khi cắt tương lai, kèm số dòng đổi.</a:t>
            </a:r>
          </a:p>
        </p:txBody>
      </p:sp>
      <p:pic>
        <p:nvPicPr>
          <p:cNvPr id="29" name="Picture 28" descr="kiem-ro-ri.png"/>
          <p:cNvPicPr>
            <a:picLocks noChangeAspect="1"/>
          </p:cNvPicPr>
          <p:nvPr/>
        </p:nvPicPr>
        <p:blipFill>
          <a:blip r:embed="rId2"/>
          <a:stretch>
            <a:fillRect/>
          </a:stretch>
        </p:blipFill>
        <p:spPr>
          <a:xfrm>
            <a:off x="7863840" y="4692103"/>
            <a:ext cx="3776472" cy="1177112"/>
          </a:xfrm>
          <a:prstGeom prst="rect">
            <a:avLst/>
          </a:prstGeom>
        </p:spPr>
      </p:pic>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D9642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B</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nhiệt độ thật hay dự báo</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D9642B"/>
                </a:solidFill>
                <a:latin typeface="Arial"/>
              </a:rPr>
              <a:t>Buổi 13</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Đo cái giá của rò rỉ: học bằng nhiệt độ thật, chạy bằng bản dự báo nhiệt độ.</a:t>
            </a:r>
          </a:p>
        </p:txBody>
      </p:sp>
      <p:sp>
        <p:nvSpPr>
          <p:cNvPr id="6" name="Rounded Rectangle 5"/>
          <p:cNvSpPr/>
          <p:nvPr/>
        </p:nvSpPr>
        <p:spPr>
          <a:xfrm>
            <a:off x="548640" y="1737360"/>
            <a:ext cx="7086600" cy="2597912"/>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277872"/>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pandas as pd</a:t>
            </a:r>
          </a:p>
          <a:p>
            <a:r>
              <a:rPr sz="950">
                <a:solidFill>
                  <a:srgbClr val="6B7385"/>
                </a:solidFill>
                <a:latin typeface="Courier New"/>
              </a:rPr>
              <a:t> 2 </a:t>
            </a:r>
          </a:p>
          <a:p>
            <a:r>
              <a:rPr sz="950">
                <a:solidFill>
                  <a:srgbClr val="6B7385"/>
                </a:solidFill>
                <a:latin typeface="Courier New"/>
              </a:rPr>
              <a:t> 3 </a:t>
            </a:r>
            <a:r>
              <a:rPr sz="950">
                <a:solidFill>
                  <a:srgbClr val="E6EAF0"/>
                </a:solidFill>
                <a:latin typeface="Courier New"/>
              </a:rPr>
              <a:t>TAM = 24</a:t>
            </a:r>
          </a:p>
          <a:p>
            <a:r>
              <a:rPr sz="950">
                <a:solidFill>
                  <a:srgbClr val="6B7385"/>
                </a:solidFill>
                <a:latin typeface="Courier New"/>
              </a:rPr>
              <a:t> 4 </a:t>
            </a:r>
            <a:r>
              <a:rPr sz="950">
                <a:solidFill>
                  <a:srgbClr val="E6EAF0"/>
                </a:solidFill>
                <a:latin typeface="Courier New"/>
              </a:rPr>
              <a:t>d["muc_tieu"] = d["phu_tai"].shift(-TAM)            </a:t>
            </a:r>
            <a:r>
              <a:rPr sz="950">
                <a:solidFill>
                  <a:srgbClr val="8FC99A"/>
                </a:solidFill>
                <a:latin typeface="Courier New"/>
              </a:rPr>
              <a:t># tải của giờ t + 24</a:t>
            </a:r>
          </a:p>
          <a:p>
            <a:r>
              <a:rPr sz="950">
                <a:solidFill>
                  <a:srgbClr val="6B7385"/>
                </a:solidFill>
                <a:latin typeface="Courier New"/>
              </a:rPr>
              <a:t> 5 </a:t>
            </a:r>
            <a:r>
              <a:rPr sz="950">
                <a:solidFill>
                  <a:srgbClr val="E6EAF0"/>
                </a:solidFill>
                <a:latin typeface="Courier New"/>
              </a:rPr>
              <a:t>d["lag_24"], d["lag_168"] = d["phu_tai"], d["phu_tai"].shift(144)</a:t>
            </a:r>
          </a:p>
          <a:p>
            <a:r>
              <a:rPr sz="950">
                <a:solidFill>
                  <a:srgbClr val="6B7385"/>
                </a:solidFill>
                <a:latin typeface="Courier New"/>
              </a:rPr>
              <a:t> 6 </a:t>
            </a:r>
            <a:r>
              <a:rPr sz="950">
                <a:solidFill>
                  <a:srgbClr val="E6EAF0"/>
                </a:solidFill>
                <a:latin typeface="Courier New"/>
              </a:rPr>
              <a:t>for c in ("nhiet_do_that", "du_bao_1_ngay", "du_bao_3_ngay"):</a:t>
            </a:r>
          </a:p>
          <a:p>
            <a:r>
              <a:rPr sz="950">
                <a:solidFill>
                  <a:srgbClr val="6B7385"/>
                </a:solidFill>
                <a:latin typeface="Courier New"/>
              </a:rPr>
              <a:t> 7 </a:t>
            </a:r>
            <a:r>
              <a:rPr sz="950">
                <a:solidFill>
                  <a:srgbClr val="E6EAF0"/>
                </a:solidFill>
                <a:latin typeface="Courier New"/>
              </a:rPr>
              <a:t>    d[f"{c}_muc_tieu"] = d[c].shift(-TAM)           </a:t>
            </a:r>
            <a:r>
              <a:rPr sz="950">
                <a:solidFill>
                  <a:srgbClr val="8FC99A"/>
                </a:solidFill>
                <a:latin typeface="Courier New"/>
              </a:rPr>
              <a:t># nhiệt độ ở giờ đích</a:t>
            </a:r>
          </a:p>
          <a:p>
            <a:r>
              <a:rPr sz="950">
                <a:solidFill>
                  <a:srgbClr val="6B7385"/>
                </a:solidFill>
                <a:latin typeface="Courier New"/>
              </a:rPr>
              <a:t> 8 </a:t>
            </a:r>
            <a:r>
              <a:rPr sz="950">
                <a:solidFill>
                  <a:srgbClr val="E6EAF0"/>
                </a:solidFill>
                <a:latin typeface="Courier New"/>
              </a:rPr>
              <a:t>NEN = ["lag_24", "lag_168", "gio_sin", "gio_cos"]</a:t>
            </a:r>
          </a:p>
          <a:p>
            <a:r>
              <a:rPr sz="950">
                <a:solidFill>
                  <a:srgbClr val="6B7385"/>
                </a:solidFill>
                <a:latin typeface="Courier New"/>
              </a:rPr>
              <a:t> 9 </a:t>
            </a:r>
            <a:r>
              <a:rPr sz="950">
                <a:solidFill>
                  <a:srgbClr val="E6EAF0"/>
                </a:solidFill>
                <a:latin typeface="Courier New"/>
              </a:rPr>
              <a:t>ro_ri = mae(NEN + ["nhiet_do_that_muc_tieu"])       </a:t>
            </a:r>
            <a:r>
              <a:rPr sz="950">
                <a:solidFill>
                  <a:srgbClr val="8FC99A"/>
                </a:solidFill>
                <a:latin typeface="Courier New"/>
              </a:rPr>
              <a:t># backtest bằng sự thật</a:t>
            </a:r>
          </a:p>
          <a:p>
            <a:r>
              <a:rPr sz="950">
                <a:solidFill>
                  <a:srgbClr val="6B7385"/>
                </a:solidFill>
                <a:latin typeface="Courier New"/>
              </a:rPr>
              <a:t>10 </a:t>
            </a:r>
            <a:r>
              <a:rPr sz="950">
                <a:solidFill>
                  <a:srgbClr val="E6EAF0"/>
                </a:solidFill>
                <a:latin typeface="Courier New"/>
              </a:rPr>
              <a:t>chay_that = mae(NEN + ["nhiet_do_that_muc_tieu"],   </a:t>
            </a:r>
            <a:r>
              <a:rPr sz="950">
                <a:solidFill>
                  <a:srgbClr val="8FC99A"/>
                </a:solidFill>
                <a:latin typeface="Courier New"/>
              </a:rPr>
              <a:t># học bằng thật,</a:t>
            </a:r>
          </a:p>
          <a:p>
            <a:r>
              <a:rPr sz="950">
                <a:solidFill>
                  <a:srgbClr val="6B7385"/>
                </a:solidFill>
                <a:latin typeface="Courier New"/>
              </a:rPr>
              <a:t>11 </a:t>
            </a:r>
            <a:r>
              <a:rPr sz="950">
                <a:solidFill>
                  <a:srgbClr val="E6EAF0"/>
                </a:solidFill>
                <a:latin typeface="Courier New"/>
              </a:rPr>
              <a:t>                NEN + ["du_bao_3_ngay_muc_tieu"])   </a:t>
            </a:r>
            <a:r>
              <a:rPr sz="950">
                <a:solidFill>
                  <a:srgbClr val="8FC99A"/>
                </a:solidFill>
                <a:latin typeface="Courier New"/>
              </a:rPr>
              <a:t># chạy bằng dự báo</a:t>
            </a:r>
          </a:p>
          <a:p>
            <a:r>
              <a:rPr sz="950">
                <a:solidFill>
                  <a:srgbClr val="6B7385"/>
                </a:solidFill>
                <a:latin typeface="Courier New"/>
              </a:rPr>
              <a:t>12 </a:t>
            </a:r>
          </a:p>
          <a:p>
            <a:r>
              <a:rPr sz="950">
                <a:solidFill>
                  <a:srgbClr val="6B7385"/>
                </a:solidFill>
                <a:latin typeface="Courier New"/>
              </a:rPr>
              <a:t>13 </a:t>
            </a:r>
            <a:r>
              <a:rPr sz="950">
                <a:solidFill>
                  <a:srgbClr val="E6EAF0"/>
                </a:solidFill>
                <a:latin typeface="Courier New"/>
              </a:rPr>
              <a:t>ghep = pd.merge_asof(trai, phai, left_index=True, right_index=True,</a:t>
            </a:r>
          </a:p>
          <a:p>
            <a:r>
              <a:rPr sz="950">
                <a:solidFill>
                  <a:srgbClr val="6B7385"/>
                </a:solidFill>
                <a:latin typeface="Courier New"/>
              </a:rPr>
              <a:t>14 </a:t>
            </a:r>
            <a:r>
              <a:rPr sz="950">
                <a:solidFill>
                  <a:srgbClr val="E6EAF0"/>
                </a:solidFill>
                <a:latin typeface="Courier New"/>
              </a:rPr>
              <a:t>                     direction="backward",           </a:t>
            </a:r>
            <a:r>
              <a:rPr sz="950">
                <a:solidFill>
                  <a:srgbClr val="8FC99A"/>
                </a:solidFill>
                <a:latin typeface="Courier New"/>
              </a:rPr>
              <a:t># chỉ bản tin cũ hơn</a:t>
            </a:r>
          </a:p>
          <a:p>
            <a:r>
              <a:rPr sz="950">
                <a:solidFill>
                  <a:srgbClr val="6B7385"/>
                </a:solidFill>
                <a:latin typeface="Courier New"/>
              </a:rPr>
              <a:t>15 </a:t>
            </a:r>
            <a:r>
              <a:rPr sz="950">
                <a:solidFill>
                  <a:srgbClr val="E6EAF0"/>
                </a:solidFill>
                <a:latin typeface="Courier New"/>
              </a:rPr>
              <a:t>                     tolerance=pd.Timedelta("3h"))   </a:t>
            </a:r>
            <a:r>
              <a:rPr sz="950">
                <a:solidFill>
                  <a:srgbClr val="8FC99A"/>
                </a:solidFill>
                <a:latin typeface="Courier New"/>
              </a:rPr>
              <a:t># quá 3 giờ: để trống</a:t>
            </a:r>
          </a:p>
        </p:txBody>
      </p:sp>
      <p:sp>
        <p:nvSpPr>
          <p:cNvPr id="8" name="TextBox 7"/>
          <p:cNvSpPr txBox="1"/>
          <p:nvPr/>
        </p:nvSpPr>
        <p:spPr>
          <a:xfrm>
            <a:off x="685800" y="4088384"/>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buoi-13/tu-hoc.ipynb, phần 6</a:t>
            </a:r>
          </a:p>
        </p:txBody>
      </p:sp>
      <p:sp>
        <p:nvSpPr>
          <p:cNvPr id="9" name="TextBox 8"/>
          <p:cNvSpPr txBox="1"/>
          <p:nvPr/>
        </p:nvSpPr>
        <p:spPr>
          <a:xfrm>
            <a:off x="548640" y="4445000"/>
            <a:ext cx="7086600" cy="274320"/>
          </a:xfrm>
          <a:prstGeom prst="rect">
            <a:avLst/>
          </a:prstGeom>
          <a:noFill/>
        </p:spPr>
        <p:txBody>
          <a:bodyPr wrap="square" lIns="0" rIns="0" tIns="0" bIns="0" anchor="t">
            <a:spAutoFit/>
          </a:bodyPr>
          <a:lstStyle/>
          <a:p>
            <a:pPr algn="l"/>
            <a:r>
              <a:rPr sz="1300" b="1" i="0">
                <a:solidFill>
                  <a:srgbClr val="D9642B"/>
                </a:solidFill>
                <a:latin typeface="Arial"/>
              </a:rPr>
              <a:t>Từng bước</a:t>
            </a:r>
          </a:p>
        </p:txBody>
      </p:sp>
      <p:sp>
        <p:nvSpPr>
          <p:cNvPr id="10" name="Rounded Rectangle 9"/>
          <p:cNvSpPr/>
          <p:nvPr/>
        </p:nvSpPr>
        <p:spPr>
          <a:xfrm>
            <a:off x="54864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4</a:t>
            </a:r>
          </a:p>
        </p:txBody>
      </p:sp>
      <p:sp>
        <p:nvSpPr>
          <p:cNvPr id="11" name="TextBox 10"/>
          <p:cNvSpPr txBox="1"/>
          <p:nvPr/>
        </p:nvSpPr>
        <p:spPr>
          <a:xfrm>
            <a:off x="1353312" y="4746752"/>
            <a:ext cx="2697480" cy="347133"/>
          </a:xfrm>
          <a:prstGeom prst="rect">
            <a:avLst/>
          </a:prstGeom>
          <a:noFill/>
        </p:spPr>
        <p:txBody>
          <a:bodyPr wrap="square" lIns="0" rIns="0" tIns="0" bIns="0" anchor="t">
            <a:spAutoFit/>
          </a:bodyPr>
          <a:lstStyle/>
          <a:p>
            <a:pPr algn="l"/>
            <a:r>
              <a:rPr sz="1050" b="0" i="0">
                <a:solidFill>
                  <a:srgbClr val="1B2A41"/>
                </a:solidFill>
                <a:latin typeface="Arial"/>
              </a:rPr>
              <a:t>Đích là tải điện 24 giờ sau lúc dự báo.</a:t>
            </a:r>
          </a:p>
        </p:txBody>
      </p:sp>
      <p:sp>
        <p:nvSpPr>
          <p:cNvPr id="12" name="Rounded Rectangle 11"/>
          <p:cNvSpPr/>
          <p:nvPr/>
        </p:nvSpPr>
        <p:spPr>
          <a:xfrm>
            <a:off x="548640" y="51121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6–7</a:t>
            </a:r>
          </a:p>
        </p:txBody>
      </p:sp>
      <p:sp>
        <p:nvSpPr>
          <p:cNvPr id="13" name="TextBox 12"/>
          <p:cNvSpPr txBox="1"/>
          <p:nvPr/>
        </p:nvSpPr>
        <p:spPr>
          <a:xfrm>
            <a:off x="1353312" y="5093885"/>
            <a:ext cx="2697480" cy="347133"/>
          </a:xfrm>
          <a:prstGeom prst="rect">
            <a:avLst/>
          </a:prstGeom>
          <a:noFill/>
        </p:spPr>
        <p:txBody>
          <a:bodyPr wrap="square" lIns="0" rIns="0" tIns="0" bIns="0" anchor="t">
            <a:spAutoFit/>
          </a:bodyPr>
          <a:lstStyle/>
          <a:p>
            <a:pPr algn="l"/>
            <a:r>
              <a:rPr sz="1050" b="0" i="0">
                <a:solidFill>
                  <a:srgbClr val="1B2A41"/>
                </a:solidFill>
                <a:latin typeface="Arial"/>
              </a:rPr>
              <a:t>Ba nguồn nhiệt độ cho đúng giờ cần dự báo.</a:t>
            </a:r>
          </a:p>
        </p:txBody>
      </p:sp>
      <p:sp>
        <p:nvSpPr>
          <p:cNvPr id="14" name="Rounded Rectangle 13"/>
          <p:cNvSpPr/>
          <p:nvPr/>
        </p:nvSpPr>
        <p:spPr>
          <a:xfrm>
            <a:off x="548640" y="54593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9</a:t>
            </a:r>
          </a:p>
        </p:txBody>
      </p:sp>
      <p:sp>
        <p:nvSpPr>
          <p:cNvPr id="15" name="TextBox 14"/>
          <p:cNvSpPr txBox="1"/>
          <p:nvPr/>
        </p:nvSpPr>
        <p:spPr>
          <a:xfrm>
            <a:off x="1353312" y="5441018"/>
            <a:ext cx="2697480" cy="347133"/>
          </a:xfrm>
          <a:prstGeom prst="rect">
            <a:avLst/>
          </a:prstGeom>
          <a:noFill/>
        </p:spPr>
        <p:txBody>
          <a:bodyPr wrap="square" lIns="0" rIns="0" tIns="0" bIns="0" anchor="t">
            <a:spAutoFit/>
          </a:bodyPr>
          <a:lstStyle/>
          <a:p>
            <a:pPr algn="l"/>
            <a:r>
              <a:rPr sz="1050" b="0" i="0">
                <a:solidFill>
                  <a:srgbClr val="1B2A41"/>
                </a:solidFill>
                <a:latin typeface="Arial"/>
              </a:rPr>
              <a:t>Backtest bằng nhiệt độ thật: con số hứa hẹn.</a:t>
            </a:r>
          </a:p>
        </p:txBody>
      </p:sp>
      <p:sp>
        <p:nvSpPr>
          <p:cNvPr id="16" name="Rounded Rectangle 15"/>
          <p:cNvSpPr/>
          <p:nvPr/>
        </p:nvSpPr>
        <p:spPr>
          <a:xfrm>
            <a:off x="416052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10–11</a:t>
            </a:r>
          </a:p>
        </p:txBody>
      </p:sp>
      <p:sp>
        <p:nvSpPr>
          <p:cNvPr id="17" name="TextBox 16"/>
          <p:cNvSpPr txBox="1"/>
          <p:nvPr/>
        </p:nvSpPr>
        <p:spPr>
          <a:xfrm>
            <a:off x="4965192" y="4746752"/>
            <a:ext cx="2697480" cy="347133"/>
          </a:xfrm>
          <a:prstGeom prst="rect">
            <a:avLst/>
          </a:prstGeom>
          <a:noFill/>
        </p:spPr>
        <p:txBody>
          <a:bodyPr wrap="square" lIns="0" rIns="0" tIns="0" bIns="0" anchor="t">
            <a:spAutoFit/>
          </a:bodyPr>
          <a:lstStyle/>
          <a:p>
            <a:pPr algn="l"/>
            <a:r>
              <a:rPr sz="1050" b="0" i="0">
                <a:solidFill>
                  <a:srgbClr val="1B2A41"/>
                </a:solidFill>
                <a:latin typeface="Arial"/>
              </a:rPr>
              <a:t>Kịch bản hay gặp: học thật, chạy dự báo.</a:t>
            </a:r>
          </a:p>
        </p:txBody>
      </p:sp>
      <p:sp>
        <p:nvSpPr>
          <p:cNvPr id="18" name="Rounded Rectangle 17"/>
          <p:cNvSpPr/>
          <p:nvPr/>
        </p:nvSpPr>
        <p:spPr>
          <a:xfrm>
            <a:off x="4160520" y="51121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D9642B"/>
                </a:solidFill>
                <a:latin typeface="Arial"/>
              </a:rPr>
              <a:t>13–15</a:t>
            </a:r>
          </a:p>
        </p:txBody>
      </p:sp>
      <p:sp>
        <p:nvSpPr>
          <p:cNvPr id="19" name="TextBox 18"/>
          <p:cNvSpPr txBox="1"/>
          <p:nvPr/>
        </p:nvSpPr>
        <p:spPr>
          <a:xfrm>
            <a:off x="4965192" y="5093885"/>
            <a:ext cx="2697480" cy="347133"/>
          </a:xfrm>
          <a:prstGeom prst="rect">
            <a:avLst/>
          </a:prstGeom>
          <a:noFill/>
        </p:spPr>
        <p:txBody>
          <a:bodyPr wrap="square" lIns="0" rIns="0" tIns="0" bIns="0" anchor="t">
            <a:spAutoFit/>
          </a:bodyPr>
          <a:lstStyle/>
          <a:p>
            <a:pPr algn="l"/>
            <a:r>
              <a:rPr sz="1050" b="0" i="0">
                <a:solidFill>
                  <a:srgbClr val="1B2A41"/>
                </a:solidFill>
                <a:latin typeface="Arial"/>
              </a:rPr>
              <a:t>Ghép bản tin gần nhất trước đó, có hạn 3 giờ.</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Nhiệt độ thật hứa giảm 3,85% sai số. Học bằng thật, chạy bằng dự báo trước 3 ngày thì sai số tăng 2,20%, tệ hơn không dùng nhiệt độ.</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D9642B"/>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shift(-24)</a:t>
            </a:r>
            <a:r>
              <a:rPr sz="950" b="1" i="0">
                <a:solidFill>
                  <a:srgbClr val="5B6778"/>
                </a:solidFill>
                <a:latin typeface="Arial"/>
              </a:rPr>
              <a:t>   pandas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Kéo giá trị 24 giờ sau về dòng hiện tại để làm đích dự báo.</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pd.merge_asof</a:t>
            </a:r>
            <a:r>
              <a:rPr sz="950" b="1" i="0">
                <a:solidFill>
                  <a:srgbClr val="5B6778"/>
                </a:solidFill>
                <a:latin typeface="Arial"/>
              </a:rPr>
              <a:t>   pandas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Ghép mỗi dòng với dòng gần nhất của bảng kia, không cần trùng mốc.</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mae</a:t>
            </a:r>
            <a:r>
              <a:rPr sz="950" b="1" i="0">
                <a:solidFill>
                  <a:srgbClr val="5B6778"/>
                </a:solidFill>
                <a:latin typeface="Arial"/>
              </a:rPr>
              <a:t>   tự viết</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Hồi quy tuyến tính học 70% đầu, trả MAE trên 30% cuối.</a:t>
            </a:r>
          </a:p>
        </p:txBody>
      </p:sp>
      <p:pic>
        <p:nvPicPr>
          <p:cNvPr id="29" name="Picture 28" descr="kn-merge-asof.png"/>
          <p:cNvPicPr>
            <a:picLocks noChangeAspect="1"/>
          </p:cNvPicPr>
          <p:nvPr/>
        </p:nvPicPr>
        <p:blipFill>
          <a:blip r:embed="rId2"/>
          <a:stretch>
            <a:fillRect/>
          </a:stretch>
        </p:blipFill>
        <p:spPr>
          <a:xfrm>
            <a:off x="7863840" y="4250452"/>
            <a:ext cx="3776472" cy="2060415"/>
          </a:xfrm>
          <a:prstGeom prst="rect">
            <a:avLst/>
          </a:prstGeom>
        </p:spPr>
      </p:pic>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0F8B8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A</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bốn baseline</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0F8B8D"/>
                </a:solidFill>
                <a:latin typeface="Arial"/>
              </a:rPr>
              <a:t>Buổi 14</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Bốn câu đoán đơn giản nhất về tương lai; mọi mô hình phải thắng cả bốn.</a:t>
            </a:r>
          </a:p>
        </p:txBody>
      </p:sp>
      <p:sp>
        <p:nvSpPr>
          <p:cNvPr id="6" name="Rounded Rectangle 5"/>
          <p:cNvSpPr/>
          <p:nvPr/>
        </p:nvSpPr>
        <p:spPr>
          <a:xfrm>
            <a:off x="548640" y="1737360"/>
            <a:ext cx="7086600" cy="2597912"/>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277872"/>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numpy as np</a:t>
            </a:r>
          </a:p>
          <a:p>
            <a:r>
              <a:rPr sz="950">
                <a:solidFill>
                  <a:srgbClr val="6B7385"/>
                </a:solidFill>
                <a:latin typeface="Courier New"/>
              </a:rPr>
              <a:t> 2 </a:t>
            </a:r>
          </a:p>
          <a:p>
            <a:r>
              <a:rPr sz="950">
                <a:solidFill>
                  <a:srgbClr val="6B7385"/>
                </a:solidFill>
                <a:latin typeface="Courier New"/>
              </a:rPr>
              <a:t> 3 </a:t>
            </a:r>
            <a:r>
              <a:rPr sz="950">
                <a:solidFill>
                  <a:srgbClr val="E6EAF0"/>
                </a:solidFill>
                <a:latin typeface="Courier New"/>
              </a:rPr>
              <a:t>def bl_trung_binh(y, tam=14):</a:t>
            </a:r>
          </a:p>
          <a:p>
            <a:r>
              <a:rPr sz="950">
                <a:solidFill>
                  <a:srgbClr val="6B7385"/>
                </a:solidFill>
                <a:latin typeface="Courier New"/>
              </a:rPr>
              <a:t> 4 </a:t>
            </a:r>
            <a:r>
              <a:rPr sz="950">
                <a:solidFill>
                  <a:srgbClr val="E6EAF0"/>
                </a:solidFill>
                <a:latin typeface="Courier New"/>
              </a:rPr>
              <a:t>    return np.repeat(float(np.mean(y)), tam)       </a:t>
            </a:r>
            <a:r>
              <a:rPr sz="950">
                <a:solidFill>
                  <a:srgbClr val="8FC99A"/>
                </a:solidFill>
                <a:latin typeface="Courier New"/>
              </a:rPr>
              <a:t># mức trung bình</a:t>
            </a:r>
          </a:p>
          <a:p>
            <a:r>
              <a:rPr sz="950">
                <a:solidFill>
                  <a:srgbClr val="6B7385"/>
                </a:solidFill>
                <a:latin typeface="Courier New"/>
              </a:rPr>
              <a:t> 5 </a:t>
            </a:r>
          </a:p>
          <a:p>
            <a:r>
              <a:rPr sz="950">
                <a:solidFill>
                  <a:srgbClr val="6B7385"/>
                </a:solidFill>
                <a:latin typeface="Courier New"/>
              </a:rPr>
              <a:t> 6 </a:t>
            </a:r>
            <a:r>
              <a:rPr sz="950">
                <a:solidFill>
                  <a:srgbClr val="E6EAF0"/>
                </a:solidFill>
                <a:latin typeface="Courier New"/>
              </a:rPr>
              <a:t>def bl_naive(y, tam=14):</a:t>
            </a:r>
          </a:p>
          <a:p>
            <a:r>
              <a:rPr sz="950">
                <a:solidFill>
                  <a:srgbClr val="6B7385"/>
                </a:solidFill>
                <a:latin typeface="Courier New"/>
              </a:rPr>
              <a:t> 7 </a:t>
            </a:r>
            <a:r>
              <a:rPr sz="950">
                <a:solidFill>
                  <a:srgbClr val="E6EAF0"/>
                </a:solidFill>
                <a:latin typeface="Courier New"/>
              </a:rPr>
              <a:t>    return np.repeat(float(y[-1]), tam)            </a:t>
            </a:r>
            <a:r>
              <a:rPr sz="950">
                <a:solidFill>
                  <a:srgbClr val="8FC99A"/>
                </a:solidFill>
                <a:latin typeface="Courier New"/>
              </a:rPr>
              <a:t># giá trị cuối</a:t>
            </a:r>
          </a:p>
          <a:p>
            <a:r>
              <a:rPr sz="950">
                <a:solidFill>
                  <a:srgbClr val="6B7385"/>
                </a:solidFill>
                <a:latin typeface="Courier New"/>
              </a:rPr>
              <a:t> 8 </a:t>
            </a:r>
          </a:p>
          <a:p>
            <a:r>
              <a:rPr sz="950">
                <a:solidFill>
                  <a:srgbClr val="6B7385"/>
                </a:solidFill>
                <a:latin typeface="Courier New"/>
              </a:rPr>
              <a:t> 9 </a:t>
            </a:r>
            <a:r>
              <a:rPr sz="950">
                <a:solidFill>
                  <a:srgbClr val="E6EAF0"/>
                </a:solidFill>
                <a:latin typeface="Courier New"/>
              </a:rPr>
              <a:t>def bl_naive_mua_vu(y, tam=14, m=7):</a:t>
            </a:r>
          </a:p>
          <a:p>
            <a:r>
              <a:rPr sz="950">
                <a:solidFill>
                  <a:srgbClr val="6B7385"/>
                </a:solidFill>
                <a:latin typeface="Courier New"/>
              </a:rPr>
              <a:t>10 </a:t>
            </a:r>
            <a:r>
              <a:rPr sz="950">
                <a:solidFill>
                  <a:srgbClr val="E6EAF0"/>
                </a:solidFill>
                <a:latin typeface="Courier New"/>
              </a:rPr>
              <a:t>    mua = y[-m:]                                   </a:t>
            </a:r>
            <a:r>
              <a:rPr sz="950">
                <a:solidFill>
                  <a:srgbClr val="8FC99A"/>
                </a:solidFill>
                <a:latin typeface="Courier New"/>
              </a:rPr>
              <a:t># vòng mùa vụ vừa qua</a:t>
            </a:r>
          </a:p>
          <a:p>
            <a:r>
              <a:rPr sz="950">
                <a:solidFill>
                  <a:srgbClr val="6B7385"/>
                </a:solidFill>
                <a:latin typeface="Courier New"/>
              </a:rPr>
              <a:t>11 </a:t>
            </a:r>
            <a:r>
              <a:rPr sz="950">
                <a:solidFill>
                  <a:srgbClr val="E6EAF0"/>
                </a:solidFill>
                <a:latin typeface="Courier New"/>
              </a:rPr>
              <a:t>    return np.array([mua[i % m] for i in range(tam)], dtype=float)</a:t>
            </a:r>
          </a:p>
          <a:p>
            <a:r>
              <a:rPr sz="950">
                <a:solidFill>
                  <a:srgbClr val="6B7385"/>
                </a:solidFill>
                <a:latin typeface="Courier New"/>
              </a:rPr>
              <a:t>12 </a:t>
            </a:r>
          </a:p>
          <a:p>
            <a:r>
              <a:rPr sz="950">
                <a:solidFill>
                  <a:srgbClr val="6B7385"/>
                </a:solidFill>
                <a:latin typeface="Courier New"/>
              </a:rPr>
              <a:t>13 </a:t>
            </a:r>
            <a:r>
              <a:rPr sz="950">
                <a:solidFill>
                  <a:srgbClr val="E6EAF0"/>
                </a:solidFill>
                <a:latin typeface="Courier New"/>
              </a:rPr>
              <a:t>def bl_drift(y, tam=14):</a:t>
            </a:r>
          </a:p>
          <a:p>
            <a:r>
              <a:rPr sz="950">
                <a:solidFill>
                  <a:srgbClr val="6B7385"/>
                </a:solidFill>
                <a:latin typeface="Courier New"/>
              </a:rPr>
              <a:t>14 </a:t>
            </a:r>
            <a:r>
              <a:rPr sz="950">
                <a:solidFill>
                  <a:srgbClr val="E6EAF0"/>
                </a:solidFill>
                <a:latin typeface="Courier New"/>
              </a:rPr>
              <a:t>    doc = (y[-1] - y[0]) / (len(y) - 1)            </a:t>
            </a:r>
            <a:r>
              <a:rPr sz="950">
                <a:solidFill>
                  <a:srgbClr val="8FC99A"/>
                </a:solidFill>
                <a:latin typeface="Courier New"/>
              </a:rPr>
              <a:t># độ dốc đầu tới cuối</a:t>
            </a:r>
          </a:p>
          <a:p>
            <a:r>
              <a:rPr sz="950">
                <a:solidFill>
                  <a:srgbClr val="6B7385"/>
                </a:solidFill>
                <a:latin typeface="Courier New"/>
              </a:rPr>
              <a:t>15 </a:t>
            </a:r>
            <a:r>
              <a:rPr sz="950">
                <a:solidFill>
                  <a:srgbClr val="E6EAF0"/>
                </a:solidFill>
                <a:latin typeface="Courier New"/>
              </a:rPr>
              <a:t>    return y[-1] + doc * np.arange(1, tam + 1)</a:t>
            </a:r>
          </a:p>
        </p:txBody>
      </p:sp>
      <p:sp>
        <p:nvSpPr>
          <p:cNvPr id="8" name="TextBox 7"/>
          <p:cNvSpPr txBox="1"/>
          <p:nvPr/>
        </p:nvSpPr>
        <p:spPr>
          <a:xfrm>
            <a:off x="685800" y="4088384"/>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buoi-14/dap-an/danh_gia.py</a:t>
            </a:r>
          </a:p>
        </p:txBody>
      </p:sp>
      <p:sp>
        <p:nvSpPr>
          <p:cNvPr id="9" name="TextBox 8"/>
          <p:cNvSpPr txBox="1"/>
          <p:nvPr/>
        </p:nvSpPr>
        <p:spPr>
          <a:xfrm>
            <a:off x="548640" y="4445000"/>
            <a:ext cx="7086600" cy="274320"/>
          </a:xfrm>
          <a:prstGeom prst="rect">
            <a:avLst/>
          </a:prstGeom>
          <a:noFill/>
        </p:spPr>
        <p:txBody>
          <a:bodyPr wrap="square" lIns="0" rIns="0" tIns="0" bIns="0" anchor="t">
            <a:spAutoFit/>
          </a:bodyPr>
          <a:lstStyle/>
          <a:p>
            <a:pPr algn="l"/>
            <a:r>
              <a:rPr sz="1300" b="1" i="0">
                <a:solidFill>
                  <a:srgbClr val="0F8B8D"/>
                </a:solidFill>
                <a:latin typeface="Arial"/>
              </a:rPr>
              <a:t>Từng bước</a:t>
            </a:r>
          </a:p>
        </p:txBody>
      </p:sp>
      <p:sp>
        <p:nvSpPr>
          <p:cNvPr id="10" name="Rounded Rectangle 9"/>
          <p:cNvSpPr/>
          <p:nvPr/>
        </p:nvSpPr>
        <p:spPr>
          <a:xfrm>
            <a:off x="54864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3–4</a:t>
            </a:r>
          </a:p>
        </p:txBody>
      </p:sp>
      <p:sp>
        <p:nvSpPr>
          <p:cNvPr id="11" name="TextBox 10"/>
          <p:cNvSpPr txBox="1"/>
          <p:nvPr/>
        </p:nvSpPr>
        <p:spPr>
          <a:xfrm>
            <a:off x="1353312" y="4746752"/>
            <a:ext cx="2697480" cy="457200"/>
          </a:xfrm>
          <a:prstGeom prst="rect">
            <a:avLst/>
          </a:prstGeom>
          <a:noFill/>
        </p:spPr>
        <p:txBody>
          <a:bodyPr wrap="square" lIns="0" rIns="0" tIns="0" bIns="0" anchor="t">
            <a:spAutoFit/>
          </a:bodyPr>
          <a:lstStyle/>
          <a:p>
            <a:pPr algn="l"/>
            <a:r>
              <a:rPr sz="1050" b="0" i="0">
                <a:solidFill>
                  <a:srgbClr val="1B2A41"/>
                </a:solidFill>
                <a:latin typeface="Arial"/>
              </a:rPr>
              <a:t>Lặp mức trung bình cả lịch sử 14 lần.</a:t>
            </a:r>
          </a:p>
        </p:txBody>
      </p:sp>
      <p:sp>
        <p:nvSpPr>
          <p:cNvPr id="12" name="Rounded Rectangle 11"/>
          <p:cNvSpPr/>
          <p:nvPr/>
        </p:nvSpPr>
        <p:spPr>
          <a:xfrm>
            <a:off x="548640" y="52222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6–7</a:t>
            </a:r>
          </a:p>
        </p:txBody>
      </p:sp>
      <p:sp>
        <p:nvSpPr>
          <p:cNvPr id="13" name="TextBox 12"/>
          <p:cNvSpPr txBox="1"/>
          <p:nvPr/>
        </p:nvSpPr>
        <p:spPr>
          <a:xfrm>
            <a:off x="1353312" y="5203952"/>
            <a:ext cx="2697480" cy="457200"/>
          </a:xfrm>
          <a:prstGeom prst="rect">
            <a:avLst/>
          </a:prstGeom>
          <a:noFill/>
        </p:spPr>
        <p:txBody>
          <a:bodyPr wrap="square" lIns="0" rIns="0" tIns="0" bIns="0" anchor="t">
            <a:spAutoFit/>
          </a:bodyPr>
          <a:lstStyle/>
          <a:p>
            <a:pPr algn="l"/>
            <a:r>
              <a:rPr sz="1050" b="0" i="0">
                <a:solidFill>
                  <a:srgbClr val="1B2A41"/>
                </a:solidFill>
                <a:latin typeface="Arial"/>
              </a:rPr>
              <a:t>Lặp giá trị cuối cùng 14 lần.</a:t>
            </a:r>
          </a:p>
        </p:txBody>
      </p:sp>
      <p:sp>
        <p:nvSpPr>
          <p:cNvPr id="14" name="Rounded Rectangle 13"/>
          <p:cNvSpPr/>
          <p:nvPr/>
        </p:nvSpPr>
        <p:spPr>
          <a:xfrm>
            <a:off x="416052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9–11</a:t>
            </a:r>
          </a:p>
        </p:txBody>
      </p:sp>
      <p:sp>
        <p:nvSpPr>
          <p:cNvPr id="15" name="TextBox 14"/>
          <p:cNvSpPr txBox="1"/>
          <p:nvPr/>
        </p:nvSpPr>
        <p:spPr>
          <a:xfrm>
            <a:off x="4965192" y="4746752"/>
            <a:ext cx="2697480" cy="457200"/>
          </a:xfrm>
          <a:prstGeom prst="rect">
            <a:avLst/>
          </a:prstGeom>
          <a:noFill/>
        </p:spPr>
        <p:txBody>
          <a:bodyPr wrap="square" lIns="0" rIns="0" tIns="0" bIns="0" anchor="t">
            <a:spAutoFit/>
          </a:bodyPr>
          <a:lstStyle/>
          <a:p>
            <a:pPr algn="l"/>
            <a:r>
              <a:rPr sz="1050" b="0" i="0">
                <a:solidFill>
                  <a:srgbClr val="1B2A41"/>
                </a:solidFill>
                <a:latin typeface="Arial"/>
              </a:rPr>
              <a:t>Lặp lại tuần vừa qua, m = 7 ngày.</a:t>
            </a:r>
          </a:p>
        </p:txBody>
      </p:sp>
      <p:sp>
        <p:nvSpPr>
          <p:cNvPr id="16" name="Rounded Rectangle 15"/>
          <p:cNvSpPr/>
          <p:nvPr/>
        </p:nvSpPr>
        <p:spPr>
          <a:xfrm>
            <a:off x="4160520" y="52222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0F8B8D"/>
                </a:solidFill>
                <a:latin typeface="Arial"/>
              </a:rPr>
              <a:t>13–15</a:t>
            </a:r>
          </a:p>
        </p:txBody>
      </p:sp>
      <p:sp>
        <p:nvSpPr>
          <p:cNvPr id="17" name="TextBox 16"/>
          <p:cNvSpPr txBox="1"/>
          <p:nvPr/>
        </p:nvSpPr>
        <p:spPr>
          <a:xfrm>
            <a:off x="4965192" y="5203952"/>
            <a:ext cx="2697480" cy="457200"/>
          </a:xfrm>
          <a:prstGeom prst="rect">
            <a:avLst/>
          </a:prstGeom>
          <a:noFill/>
        </p:spPr>
        <p:txBody>
          <a:bodyPr wrap="square" lIns="0" rIns="0" tIns="0" bIns="0" anchor="t">
            <a:spAutoFit/>
          </a:bodyPr>
          <a:lstStyle/>
          <a:p>
            <a:pPr algn="l"/>
            <a:r>
              <a:rPr sz="1050" b="0" i="0">
                <a:solidFill>
                  <a:srgbClr val="1B2A41"/>
                </a:solidFill>
                <a:latin typeface="Arial"/>
              </a:rPr>
              <a:t>Kéo dài đường thẳng nối điểm đầu và cuối.</a:t>
            </a:r>
          </a:p>
        </p:txBody>
      </p:sp>
      <p:sp>
        <p:nvSpPr>
          <p:cNvPr id="18" name="Rounded Rectangle 17"/>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MASE trung vị trên 1.000 chuỗi M4 theo ngày: trung bình 8,85; naive 0,835; seasonal naive 1,077; drift 0,810.</a:t>
            </a:r>
          </a:p>
        </p:txBody>
      </p:sp>
      <p:sp>
        <p:nvSpPr>
          <p:cNvPr id="20" name="TextBox 19"/>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0F8B8D"/>
                </a:solidFill>
                <a:latin typeface="Arial"/>
              </a:rPr>
              <a:t>Thư viện và hàm</a:t>
            </a:r>
          </a:p>
        </p:txBody>
      </p:sp>
      <p:sp>
        <p:nvSpPr>
          <p:cNvPr id="21" name="TextBox 20"/>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np.repeat</a:t>
            </a:r>
            <a:r>
              <a:rPr sz="950" b="1" i="0">
                <a:solidFill>
                  <a:srgbClr val="5B6778"/>
                </a:solidFill>
                <a:latin typeface="Arial"/>
              </a:rPr>
              <a:t>   numpy</a:t>
            </a:r>
          </a:p>
        </p:txBody>
      </p:sp>
      <p:sp>
        <p:nvSpPr>
          <p:cNvPr id="22" name="TextBox 21"/>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Lặp một con số thành mảng dài tam phần tử.</a:t>
            </a:r>
          </a:p>
        </p:txBody>
      </p:sp>
      <p:sp>
        <p:nvSpPr>
          <p:cNvPr id="23" name="TextBox 22"/>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y[-m:]</a:t>
            </a:r>
            <a:r>
              <a:rPr sz="950" b="1" i="0">
                <a:solidFill>
                  <a:srgbClr val="5B6778"/>
                </a:solidFill>
                <a:latin typeface="Arial"/>
              </a:rPr>
              <a:t>   numpy</a:t>
            </a:r>
          </a:p>
        </p:txBody>
      </p:sp>
      <p:sp>
        <p:nvSpPr>
          <p:cNvPr id="24" name="TextBox 23"/>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Lấy m giá trị cuối của mảng: một vòng mùa vụ.</a:t>
            </a:r>
          </a:p>
        </p:txBody>
      </p:sp>
      <p:sp>
        <p:nvSpPr>
          <p:cNvPr id="25" name="TextBox 24"/>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np.arange(1, tam + 1)</a:t>
            </a:r>
            <a:r>
              <a:rPr sz="950" b="1" i="0">
                <a:solidFill>
                  <a:srgbClr val="5B6778"/>
                </a:solidFill>
                <a:latin typeface="Arial"/>
              </a:rPr>
              <a:t>   numpy</a:t>
            </a:r>
          </a:p>
        </p:txBody>
      </p:sp>
      <p:sp>
        <p:nvSpPr>
          <p:cNvPr id="26" name="TextBox 25"/>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Dãy 1, 2, …, tam: số bước đi tiếp theo đường thẳng.</a:t>
            </a:r>
          </a:p>
        </p:txBody>
      </p:sp>
      <p:pic>
        <p:nvPicPr>
          <p:cNvPr id="27" name="Picture 26" descr="bon-baseline.png"/>
          <p:cNvPicPr>
            <a:picLocks noChangeAspect="1"/>
          </p:cNvPicPr>
          <p:nvPr/>
        </p:nvPicPr>
        <p:blipFill>
          <a:blip r:embed="rId2"/>
          <a:stretch>
            <a:fillRect/>
          </a:stretch>
        </p:blipFill>
        <p:spPr>
          <a:xfrm>
            <a:off x="7863840" y="4643199"/>
            <a:ext cx="3776472" cy="1274921"/>
          </a:xfrm>
          <a:prstGeom prst="rect">
            <a:avLst/>
          </a:prstGeom>
        </p:spPr>
      </p:pic>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D</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chẩn đoán phần dư</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6C4AB6"/>
                </a:solidFill>
                <a:latin typeface="Arial"/>
              </a:rPr>
              <a:t>Buổi 14</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Kiểm xem phần dư còn quy luật không, để biết mô hình tốt hơn có chỗ để thắng.</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from scipy import stats</a:t>
            </a:r>
          </a:p>
          <a:p>
            <a:r>
              <a:rPr sz="850">
                <a:solidFill>
                  <a:srgbClr val="6B7385"/>
                </a:solidFill>
                <a:latin typeface="Courier New"/>
              </a:rPr>
              <a:t> 3 </a:t>
            </a:r>
          </a:p>
          <a:p>
            <a:r>
              <a:rPr sz="850">
                <a:solidFill>
                  <a:srgbClr val="6B7385"/>
                </a:solidFill>
                <a:latin typeface="Courier New"/>
              </a:rPr>
              <a:t> 4 </a:t>
            </a:r>
            <a:r>
              <a:rPr sz="850">
                <a:solidFill>
                  <a:srgbClr val="E6EAF0"/>
                </a:solidFill>
                <a:latin typeface="Courier New"/>
              </a:rPr>
              <a:t>def phan_du_mua_vu(y, m=7):</a:t>
            </a:r>
          </a:p>
          <a:p>
            <a:r>
              <a:rPr sz="850">
                <a:solidFill>
                  <a:srgbClr val="6B7385"/>
                </a:solidFill>
                <a:latin typeface="Courier New"/>
              </a:rPr>
              <a:t> 5 </a:t>
            </a:r>
            <a:r>
              <a:rPr sz="850">
                <a:solidFill>
                  <a:srgbClr val="E6EAF0"/>
                </a:solidFill>
                <a:latin typeface="Courier New"/>
              </a:rPr>
              <a:t>    return y[m:] - y[:-m]                          </a:t>
            </a:r>
            <a:r>
              <a:rPr sz="850">
                <a:solidFill>
                  <a:srgbClr val="8FC99A"/>
                </a:solidFill>
                <a:latin typeface="Courier New"/>
              </a:rPr>
              <a:t># thực tế trừ khớp</a:t>
            </a:r>
          </a:p>
          <a:p>
            <a:r>
              <a:rPr sz="850">
                <a:solidFill>
                  <a:srgbClr val="6B7385"/>
                </a:solidFill>
                <a:latin typeface="Courier New"/>
              </a:rPr>
              <a:t> 6 </a:t>
            </a:r>
          </a:p>
          <a:p>
            <a:r>
              <a:rPr sz="850">
                <a:solidFill>
                  <a:srgbClr val="6B7385"/>
                </a:solidFill>
                <a:latin typeface="Courier New"/>
              </a:rPr>
              <a:t> 7 </a:t>
            </a:r>
            <a:r>
              <a:rPr sz="850">
                <a:solidFill>
                  <a:srgbClr val="E6EAF0"/>
                </a:solidFill>
                <a:latin typeface="Courier New"/>
              </a:rPr>
              <a:t>def ljung_box(e, so_tre=14):</a:t>
            </a:r>
          </a:p>
          <a:p>
            <a:r>
              <a:rPr sz="850">
                <a:solidFill>
                  <a:srgbClr val="6B7385"/>
                </a:solidFill>
                <a:latin typeface="Courier New"/>
              </a:rPr>
              <a:t> 8 </a:t>
            </a:r>
            <a:r>
              <a:rPr sz="850">
                <a:solidFill>
                  <a:srgbClr val="E6EAF0"/>
                </a:solidFill>
                <a:latin typeface="Courier New"/>
              </a:rPr>
              <a:t>    x = e - np.mean(e)</a:t>
            </a:r>
          </a:p>
          <a:p>
            <a:r>
              <a:rPr sz="850">
                <a:solidFill>
                  <a:srgbClr val="6B7385"/>
                </a:solidFill>
                <a:latin typeface="Courier New"/>
              </a:rPr>
              <a:t> 9 </a:t>
            </a:r>
            <a:r>
              <a:rPr sz="850">
                <a:solidFill>
                  <a:srgbClr val="E6EAF0"/>
                </a:solidFill>
                <a:latin typeface="Courier New"/>
              </a:rPr>
              <a:t>    r = np.array([np.dot(x[k:], x[:-k]) / np.dot(x, x)</a:t>
            </a:r>
          </a:p>
          <a:p>
            <a:r>
              <a:rPr sz="850">
                <a:solidFill>
                  <a:srgbClr val="6B7385"/>
                </a:solidFill>
                <a:latin typeface="Courier New"/>
              </a:rPr>
              <a:t>10 </a:t>
            </a:r>
            <a:r>
              <a:rPr sz="850">
                <a:solidFill>
                  <a:srgbClr val="E6EAF0"/>
                </a:solidFill>
                <a:latin typeface="Courier New"/>
              </a:rPr>
              <a:t>                  for k in range(1, so_tre + 1)])   </a:t>
            </a:r>
            <a:r>
              <a:rPr sz="850">
                <a:solidFill>
                  <a:srgbClr val="8FC99A"/>
                </a:solidFill>
                <a:latin typeface="Courier New"/>
              </a:rPr>
              <a:t># ACF trễ 1 tới 14</a:t>
            </a:r>
          </a:p>
          <a:p>
            <a:r>
              <a:rPr sz="850">
                <a:solidFill>
                  <a:srgbClr val="6B7385"/>
                </a:solidFill>
                <a:latin typeface="Courier New"/>
              </a:rPr>
              <a:t>11 </a:t>
            </a:r>
            <a:r>
              <a:rPr sz="850">
                <a:solidFill>
                  <a:srgbClr val="E6EAF0"/>
                </a:solidFill>
                <a:latin typeface="Courier New"/>
              </a:rPr>
              <a:t>    n = e.size</a:t>
            </a:r>
          </a:p>
          <a:p>
            <a:r>
              <a:rPr sz="850">
                <a:solidFill>
                  <a:srgbClr val="6B7385"/>
                </a:solidFill>
                <a:latin typeface="Courier New"/>
              </a:rPr>
              <a:t>12 </a:t>
            </a:r>
            <a:r>
              <a:rPr sz="850">
                <a:solidFill>
                  <a:srgbClr val="E6EAF0"/>
                </a:solidFill>
                <a:latin typeface="Courier New"/>
              </a:rPr>
              <a:t>    q = n * (n + 2) * np.sum(r ** 2 / (n - np.arange(1, so_tre + 1)))</a:t>
            </a:r>
          </a:p>
          <a:p>
            <a:r>
              <a:rPr sz="850">
                <a:solidFill>
                  <a:srgbClr val="6B7385"/>
                </a:solidFill>
                <a:latin typeface="Courier New"/>
              </a:rPr>
              <a:t>13 </a:t>
            </a:r>
            <a:r>
              <a:rPr sz="850">
                <a:solidFill>
                  <a:srgbClr val="E6EAF0"/>
                </a:solidFill>
                <a:latin typeface="Courier New"/>
              </a:rPr>
              <a:t>    return stats.chi2.sf(q, so_tre)                </a:t>
            </a:r>
            <a:r>
              <a:rPr sz="850">
                <a:solidFill>
                  <a:srgbClr val="8FC99A"/>
                </a:solidFill>
                <a:latin typeface="Courier New"/>
              </a:rPr>
              <a:t># p nhỏ: còn quy luật</a:t>
            </a:r>
          </a:p>
          <a:p>
            <a:r>
              <a:rPr sz="850">
                <a:solidFill>
                  <a:srgbClr val="6B7385"/>
                </a:solidFill>
                <a:latin typeface="Courier New"/>
              </a:rPr>
              <a:t>14 </a:t>
            </a:r>
          </a:p>
          <a:p>
            <a:r>
              <a:rPr sz="850">
                <a:solidFill>
                  <a:srgbClr val="6B7385"/>
                </a:solidFill>
                <a:latin typeface="Courier New"/>
              </a:rPr>
              <a:t>15 </a:t>
            </a:r>
            <a:r>
              <a:rPr sz="850">
                <a:solidFill>
                  <a:srgbClr val="E6EAF0"/>
                </a:solidFill>
                <a:latin typeface="Courier New"/>
              </a:rPr>
              <a:t>e = phan_du_mua_vu(y)</a:t>
            </a:r>
          </a:p>
          <a:p>
            <a:r>
              <a:rPr sz="850">
                <a:solidFill>
                  <a:srgbClr val="6B7385"/>
                </a:solidFill>
                <a:latin typeface="Courier New"/>
              </a:rPr>
              <a:t>16 </a:t>
            </a:r>
            <a:r>
              <a:rPr sz="850">
                <a:solidFill>
                  <a:srgbClr val="E6EAF0"/>
                </a:solidFill>
                <a:latin typeface="Courier New"/>
              </a:rPr>
              <a:t>p_jb = stats.jarque_bera(e).pvalue                 </a:t>
            </a:r>
            <a:r>
              <a:rPr sz="850">
                <a:solidFill>
                  <a:srgbClr val="8FC99A"/>
                </a:solidFill>
                <a:latin typeface="Courier New"/>
              </a:rPr>
              <a:t># có hình chuông không</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buoi-14/dap-an/danh_gia.py</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6C4AB6"/>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4–5</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Phần dư seasonal naive: y_t trừ y_(t−7).</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8–10</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Tự tương quan của phần dư ở 14 trễ.</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11–12</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Gộp 14 trễ thành một con số Q.</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13</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Đổi Q thành p: nhỏ là còn quy luật.</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16</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Kiểm phần dư có gần hình chuông không.</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Trên 1.000 chuỗi M4: 99,8% còn tự tương quan (Ljung–Box p &lt; 0,05), 92,5% không hình chuông, 46,4% phương sai đổi hơn 2 lần.</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6C4AB6"/>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np.dot</a:t>
            </a:r>
            <a:r>
              <a:rPr sz="950" b="1" i="0">
                <a:solidFill>
                  <a:srgbClr val="5B6778"/>
                </a:solidFill>
                <a:latin typeface="Arial"/>
              </a:rPr>
              <a:t>   numpy</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Nhân từng cặp rồi cộng lại: tử số và mẫu số của ACF.</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stats.chi2.sf</a:t>
            </a:r>
            <a:r>
              <a:rPr sz="950" b="1" i="0">
                <a:solidFill>
                  <a:srgbClr val="5B6778"/>
                </a:solidFill>
                <a:latin typeface="Arial"/>
              </a:rPr>
              <a:t>   scipy</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Xác suất gặp Q lớn cỡ này nếu phần dư chỉ là nhiễu: chính là p.</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stats.jarque_bera</a:t>
            </a:r>
            <a:r>
              <a:rPr sz="950" b="1" i="0">
                <a:solidFill>
                  <a:srgbClr val="5B6778"/>
                </a:solidFill>
                <a:latin typeface="Arial"/>
              </a:rPr>
              <a:t>   scipy</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Kiểm định phân phối có gần hình chuông; p nhỏ là không.</a:t>
            </a:r>
          </a:p>
        </p:txBody>
      </p:sp>
      <p:pic>
        <p:nvPicPr>
          <p:cNvPr id="29" name="Picture 28" descr="chan-doan-phan-du.png"/>
          <p:cNvPicPr>
            <a:picLocks noChangeAspect="1"/>
          </p:cNvPicPr>
          <p:nvPr/>
        </p:nvPicPr>
        <p:blipFill>
          <a:blip r:embed="rId2"/>
          <a:stretch>
            <a:fillRect/>
          </a:stretch>
        </p:blipFill>
        <p:spPr>
          <a:xfrm>
            <a:off x="7863840" y="4728820"/>
            <a:ext cx="3776472" cy="1103679"/>
          </a:xfrm>
          <a:prstGeom prst="rect">
            <a:avLst/>
          </a:prstGeom>
        </p:spPr>
      </p:pic>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D</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MAE, RMSE, ME</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6C4AB6"/>
                </a:solidFill>
                <a:latin typeface="Arial"/>
              </a:rPr>
              <a:t>Buổi 14</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Viết ba chỉ số rồi thấy mỗi chỉ số ưa một con số dự báo khác nhau.</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p>
          <a:p>
            <a:r>
              <a:rPr sz="850">
                <a:solidFill>
                  <a:srgbClr val="6B7385"/>
                </a:solidFill>
                <a:latin typeface="Courier New"/>
              </a:rPr>
              <a:t> 3 </a:t>
            </a:r>
            <a:r>
              <a:rPr sz="850">
                <a:solidFill>
                  <a:srgbClr val="E6EAF0"/>
                </a:solidFill>
                <a:latin typeface="Courier New"/>
              </a:rPr>
              <a:t>def mae(y, d):</a:t>
            </a:r>
          </a:p>
          <a:p>
            <a:r>
              <a:rPr sz="850">
                <a:solidFill>
                  <a:srgbClr val="6B7385"/>
                </a:solidFill>
                <a:latin typeface="Courier New"/>
              </a:rPr>
              <a:t> 4 </a:t>
            </a:r>
            <a:r>
              <a:rPr sz="850">
                <a:solidFill>
                  <a:srgbClr val="E6EAF0"/>
                </a:solidFill>
                <a:latin typeface="Courier New"/>
              </a:rPr>
              <a:t>    return float(np.mean(np.abs(y - d)))           </a:t>
            </a:r>
            <a:r>
              <a:rPr sz="850">
                <a:solidFill>
                  <a:srgbClr val="8FC99A"/>
                </a:solidFill>
                <a:latin typeface="Courier New"/>
              </a:rPr>
              <a:t># ưa trung vị</a:t>
            </a:r>
          </a:p>
          <a:p>
            <a:r>
              <a:rPr sz="850">
                <a:solidFill>
                  <a:srgbClr val="6B7385"/>
                </a:solidFill>
                <a:latin typeface="Courier New"/>
              </a:rPr>
              <a:t> 5 </a:t>
            </a:r>
            <a:r>
              <a:rPr sz="850">
                <a:solidFill>
                  <a:srgbClr val="E6EAF0"/>
                </a:solidFill>
                <a:latin typeface="Courier New"/>
              </a:rPr>
              <a:t>def rmse(y, d):</a:t>
            </a:r>
          </a:p>
          <a:p>
            <a:r>
              <a:rPr sz="850">
                <a:solidFill>
                  <a:srgbClr val="6B7385"/>
                </a:solidFill>
                <a:latin typeface="Courier New"/>
              </a:rPr>
              <a:t> 6 </a:t>
            </a:r>
            <a:r>
              <a:rPr sz="850">
                <a:solidFill>
                  <a:srgbClr val="E6EAF0"/>
                </a:solidFill>
                <a:latin typeface="Courier New"/>
              </a:rPr>
              <a:t>    return float(np.sqrt(np.mean((y - d) ** 2)))   </a:t>
            </a:r>
            <a:r>
              <a:rPr sz="850">
                <a:solidFill>
                  <a:srgbClr val="8FC99A"/>
                </a:solidFill>
                <a:latin typeface="Courier New"/>
              </a:rPr>
              <a:t># ưa trung bình</a:t>
            </a:r>
          </a:p>
          <a:p>
            <a:r>
              <a:rPr sz="850">
                <a:solidFill>
                  <a:srgbClr val="6B7385"/>
                </a:solidFill>
                <a:latin typeface="Courier New"/>
              </a:rPr>
              <a:t> 7 </a:t>
            </a:r>
            <a:r>
              <a:rPr sz="850">
                <a:solidFill>
                  <a:srgbClr val="E6EAF0"/>
                </a:solidFill>
                <a:latin typeface="Courier New"/>
              </a:rPr>
              <a:t>def me(y, d):</a:t>
            </a:r>
          </a:p>
          <a:p>
            <a:r>
              <a:rPr sz="850">
                <a:solidFill>
                  <a:srgbClr val="6B7385"/>
                </a:solidFill>
                <a:latin typeface="Courier New"/>
              </a:rPr>
              <a:t> 8 </a:t>
            </a:r>
            <a:r>
              <a:rPr sz="850">
                <a:solidFill>
                  <a:srgbClr val="E6EAF0"/>
                </a:solidFill>
                <a:latin typeface="Courier New"/>
              </a:rPr>
              <a:t>    return float(np.mean(y - d))                   </a:t>
            </a:r>
            <a:r>
              <a:rPr sz="850">
                <a:solidFill>
                  <a:srgbClr val="8FC99A"/>
                </a:solidFill>
                <a:latin typeface="Courier New"/>
              </a:rPr>
              <a:t># dương: dự báo thấp</a:t>
            </a:r>
          </a:p>
          <a:p>
            <a:r>
              <a:rPr sz="850">
                <a:solidFill>
                  <a:srgbClr val="6B7385"/>
                </a:solidFill>
                <a:latin typeface="Courier New"/>
              </a:rPr>
              <a:t> 9 </a:t>
            </a:r>
          </a:p>
          <a:p>
            <a:r>
              <a:rPr sz="850">
                <a:solidFill>
                  <a:srgbClr val="6B7385"/>
                </a:solidFill>
                <a:latin typeface="Courier New"/>
              </a:rPr>
              <a:t>10 </a:t>
            </a:r>
            <a:r>
              <a:rPr sz="850">
                <a:solidFill>
                  <a:srgbClr val="E6EAF0"/>
                </a:solidFill>
                <a:latin typeface="Courier New"/>
              </a:rPr>
              <a:t>that = np.array([10, 12, 8, 14, 16.0])</a:t>
            </a:r>
          </a:p>
          <a:p>
            <a:r>
              <a:rPr sz="850">
                <a:solidFill>
                  <a:srgbClr val="6B7385"/>
                </a:solidFill>
                <a:latin typeface="Courier New"/>
              </a:rPr>
              <a:t>11 </a:t>
            </a:r>
            <a:r>
              <a:rPr sz="850">
                <a:solidFill>
                  <a:srgbClr val="E6EAF0"/>
                </a:solidFill>
                <a:latin typeface="Courier New"/>
              </a:rPr>
              <a:t>du_bao = np.array([11, 10, 9, 14, 12.0])</a:t>
            </a:r>
          </a:p>
          <a:p>
            <a:r>
              <a:rPr sz="850">
                <a:solidFill>
                  <a:srgbClr val="6B7385"/>
                </a:solidFill>
                <a:latin typeface="Courier New"/>
              </a:rPr>
              <a:t>12 </a:t>
            </a:r>
            <a:r>
              <a:rPr sz="850">
                <a:solidFill>
                  <a:srgbClr val="E6EAF0"/>
                </a:solidFill>
                <a:latin typeface="Courier New"/>
              </a:rPr>
              <a:t>mau = np.random.default_rng(0).lognormal(3.0, 0.9, 20000)  </a:t>
            </a:r>
            <a:r>
              <a:rPr sz="850">
                <a:solidFill>
                  <a:srgbClr val="8FC99A"/>
                </a:solidFill>
                <a:latin typeface="Courier New"/>
              </a:rPr>
              <a:t># lệch phải</a:t>
            </a:r>
          </a:p>
          <a:p>
            <a:r>
              <a:rPr sz="850">
                <a:solidFill>
                  <a:srgbClr val="6B7385"/>
                </a:solidFill>
                <a:latin typeface="Courier New"/>
              </a:rPr>
              <a:t>13 </a:t>
            </a:r>
            <a:r>
              <a:rPr sz="850">
                <a:solidFill>
                  <a:srgbClr val="E6EAF0"/>
                </a:solidFill>
                <a:latin typeface="Courier New"/>
              </a:rPr>
              <a:t>luoi = np.linspace(mau.min(), np.quantile(mau, 0.999), 2000)</a:t>
            </a:r>
          </a:p>
          <a:p>
            <a:r>
              <a:rPr sz="850">
                <a:solidFill>
                  <a:srgbClr val="6B7385"/>
                </a:solidFill>
                <a:latin typeface="Courier New"/>
              </a:rPr>
              <a:t>14 </a:t>
            </a:r>
            <a:r>
              <a:rPr sz="850">
                <a:solidFill>
                  <a:srgbClr val="E6EAF0"/>
                </a:solidFill>
                <a:latin typeface="Courier New"/>
              </a:rPr>
              <a:t>mae_theo = [np.mean(np.abs(mau - c)) for c in luoi]</a:t>
            </a:r>
          </a:p>
          <a:p>
            <a:r>
              <a:rPr sz="850">
                <a:solidFill>
                  <a:srgbClr val="6B7385"/>
                </a:solidFill>
                <a:latin typeface="Courier New"/>
              </a:rPr>
              <a:t>15 </a:t>
            </a:r>
            <a:r>
              <a:rPr sz="850">
                <a:solidFill>
                  <a:srgbClr val="E6EAF0"/>
                </a:solidFill>
                <a:latin typeface="Courier New"/>
              </a:rPr>
              <a:t>rmse_theo = [np.sqrt(np.mean((mau - c) ** 2)) for c in luoi]</a:t>
            </a:r>
          </a:p>
          <a:p>
            <a:r>
              <a:rPr sz="850">
                <a:solidFill>
                  <a:srgbClr val="6B7385"/>
                </a:solidFill>
                <a:latin typeface="Courier New"/>
              </a:rPr>
              <a:t>16 </a:t>
            </a:r>
            <a:r>
              <a:rPr sz="850">
                <a:solidFill>
                  <a:srgbClr val="E6EAF0"/>
                </a:solidFill>
                <a:latin typeface="Courier New"/>
              </a:rPr>
              <a:t>c_mae, c_rmse = luoi[np.argmin(mae_theo)], luoi[np.argmin(rmse_theo)]</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buoi-14/dap-an/danh_gia.py</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6C4AB6"/>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3–8</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Ba chỉ số, sai số là thực tế trừ dự báo.</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10–11</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Bảng năm ngày để tính tay đối chiếu.</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12</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20.000 số lệch phải như doanh số, seed 0.</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13–15</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Thử 2.000 hằng số c, tính MAE và RMSE.</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16</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Tìm c cho mỗi chỉ số thấp nhất.</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Năm ngày: MAE 1,6; RMSE 2,10; ME 0,8. Trên số lệch phải, MAE đáy ở 20,0 (trung vị), RMSE đáy ở 30,1 (trung bình).</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6C4AB6"/>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np.random.default_rng(0).lognormal</a:t>
            </a:r>
            <a:r>
              <a:rPr sz="950" b="1" i="0">
                <a:solidFill>
                  <a:srgbClr val="5B6778"/>
                </a:solidFill>
                <a:latin typeface="Arial"/>
              </a:rPr>
              <a:t>   numpy</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Sinh số ngẫu nhiên lệch phải, có seed để chạy lại ra y hệt.</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np.linspace</a:t>
            </a:r>
            <a:r>
              <a:rPr sz="950" b="1" i="0">
                <a:solidFill>
                  <a:srgbClr val="5B6778"/>
                </a:solidFill>
                <a:latin typeface="Arial"/>
              </a:rPr>
              <a:t>   numpy</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Chia một khoảng thành 2.000 điểm cách đều để thử lần lượt.</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np.argmin</a:t>
            </a:r>
            <a:r>
              <a:rPr sz="950" b="1" i="0">
                <a:solidFill>
                  <a:srgbClr val="5B6778"/>
                </a:solidFill>
                <a:latin typeface="Arial"/>
              </a:rPr>
              <a:t>   numpy</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Vị trí phần tử nhỏ nhất: hằng số c cho chỉ số thấp nhất.</a:t>
            </a:r>
          </a:p>
        </p:txBody>
      </p:sp>
      <p:sp>
        <p:nvSpPr>
          <p:cNvPr id="29" name="Rounded Rectangle 28"/>
          <p:cNvSpPr/>
          <p:nvPr/>
        </p:nvSpPr>
        <p:spPr>
          <a:xfrm>
            <a:off x="7863840" y="4059935"/>
            <a:ext cx="3776472" cy="62788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cf971939715d.png"/>
          <p:cNvPicPr>
            <a:picLocks noChangeAspect="1"/>
          </p:cNvPicPr>
          <p:nvPr/>
        </p:nvPicPr>
        <p:blipFill>
          <a:blip r:embed="rId2"/>
          <a:stretch>
            <a:fillRect/>
          </a:stretch>
        </p:blipFill>
        <p:spPr>
          <a:xfrm>
            <a:off x="8889492" y="4114799"/>
            <a:ext cx="1725168" cy="518160"/>
          </a:xfrm>
          <a:prstGeom prst="rect">
            <a:avLst/>
          </a:prstGeom>
        </p:spPr>
      </p:pic>
      <p:pic>
        <p:nvPicPr>
          <p:cNvPr id="31" name="Picture 30" descr="chi-so-quyet-dinh.png"/>
          <p:cNvPicPr>
            <a:picLocks noChangeAspect="1"/>
          </p:cNvPicPr>
          <p:nvPr/>
        </p:nvPicPr>
        <p:blipFill>
          <a:blip r:embed="rId3"/>
          <a:stretch>
            <a:fillRect/>
          </a:stretch>
        </p:blipFill>
        <p:spPr>
          <a:xfrm>
            <a:off x="7863840" y="5016830"/>
            <a:ext cx="3776472" cy="1265275"/>
          </a:xfrm>
          <a:prstGeom prst="rect">
            <a:avLst/>
          </a:prstGeom>
        </p:spPr>
      </p:pic>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D</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MAPE, sMAPE, WAPE</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6C4AB6"/>
                </a:solidFill>
                <a:latin typeface="Arial"/>
              </a:rPr>
              <a:t>Buổi 14</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Ba chỉ số phần trăm và cách mỗi cái xử lý ngày có thực tế bằng 0.</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p>
          <a:p>
            <a:r>
              <a:rPr sz="850">
                <a:solidFill>
                  <a:srgbClr val="6B7385"/>
                </a:solidFill>
                <a:latin typeface="Courier New"/>
              </a:rPr>
              <a:t> 3 </a:t>
            </a:r>
            <a:r>
              <a:rPr sz="850">
                <a:solidFill>
                  <a:srgbClr val="E6EAF0"/>
                </a:solidFill>
                <a:latin typeface="Courier New"/>
              </a:rPr>
              <a:t>def mape(y, d):                                    </a:t>
            </a:r>
            <a:r>
              <a:rPr sz="850">
                <a:solidFill>
                  <a:srgbClr val="8FC99A"/>
                </a:solidFill>
                <a:latin typeface="Courier New"/>
              </a:rPr>
              <a:t># vô hạn khi có y = 0</a:t>
            </a:r>
          </a:p>
          <a:p>
            <a:r>
              <a:rPr sz="850">
                <a:solidFill>
                  <a:srgbClr val="6B7385"/>
                </a:solidFill>
                <a:latin typeface="Courier New"/>
              </a:rPr>
              <a:t> 4 </a:t>
            </a:r>
            <a:r>
              <a:rPr sz="850">
                <a:solidFill>
                  <a:srgbClr val="E6EAF0"/>
                </a:solidFill>
                <a:latin typeface="Courier New"/>
              </a:rPr>
              <a:t>    with np.errstate(divide="ignore", invalid="ignore"):</a:t>
            </a:r>
          </a:p>
          <a:p>
            <a:r>
              <a:rPr sz="850">
                <a:solidFill>
                  <a:srgbClr val="6B7385"/>
                </a:solidFill>
                <a:latin typeface="Courier New"/>
              </a:rPr>
              <a:t> 5 </a:t>
            </a:r>
            <a:r>
              <a:rPr sz="850">
                <a:solidFill>
                  <a:srgbClr val="E6EAF0"/>
                </a:solidFill>
                <a:latin typeface="Courier New"/>
              </a:rPr>
              <a:t>        v = np.abs((y - d) / y)</a:t>
            </a:r>
          </a:p>
          <a:p>
            <a:r>
              <a:rPr sz="850">
                <a:solidFill>
                  <a:srgbClr val="6B7385"/>
                </a:solidFill>
                <a:latin typeface="Courier New"/>
              </a:rPr>
              <a:t> 6 </a:t>
            </a:r>
            <a:r>
              <a:rPr sz="850">
                <a:solidFill>
                  <a:srgbClr val="E6EAF0"/>
                </a:solidFill>
                <a:latin typeface="Courier New"/>
              </a:rPr>
              <a:t>    return float(np.mean(v) * 100)</a:t>
            </a:r>
          </a:p>
          <a:p>
            <a:r>
              <a:rPr sz="850">
                <a:solidFill>
                  <a:srgbClr val="6B7385"/>
                </a:solidFill>
                <a:latin typeface="Courier New"/>
              </a:rPr>
              <a:t> 7 </a:t>
            </a:r>
          </a:p>
          <a:p>
            <a:r>
              <a:rPr sz="850">
                <a:solidFill>
                  <a:srgbClr val="6B7385"/>
                </a:solidFill>
                <a:latin typeface="Courier New"/>
              </a:rPr>
              <a:t> 8 </a:t>
            </a:r>
            <a:r>
              <a:rPr sz="850">
                <a:solidFill>
                  <a:srgbClr val="E6EAF0"/>
                </a:solidFill>
                <a:latin typeface="Courier New"/>
              </a:rPr>
              <a:t>def smape(y, d):                                   </a:t>
            </a:r>
            <a:r>
              <a:rPr sz="850">
                <a:solidFill>
                  <a:srgbClr val="8FC99A"/>
                </a:solidFill>
                <a:latin typeface="Courier New"/>
              </a:rPr>
              <a:t># thang 0–200 kiểu M4</a:t>
            </a:r>
          </a:p>
          <a:p>
            <a:r>
              <a:rPr sz="850">
                <a:solidFill>
                  <a:srgbClr val="6B7385"/>
                </a:solidFill>
                <a:latin typeface="Courier New"/>
              </a:rPr>
              <a:t> 9 </a:t>
            </a:r>
            <a:r>
              <a:rPr sz="850">
                <a:solidFill>
                  <a:srgbClr val="E6EAF0"/>
                </a:solidFill>
                <a:latin typeface="Courier New"/>
              </a:rPr>
              <a:t>    mau = np.abs(y) + np.abs(d)</a:t>
            </a:r>
          </a:p>
          <a:p>
            <a:r>
              <a:rPr sz="850">
                <a:solidFill>
                  <a:srgbClr val="6B7385"/>
                </a:solidFill>
                <a:latin typeface="Courier New"/>
              </a:rPr>
              <a:t>10 </a:t>
            </a:r>
            <a:r>
              <a:rPr sz="850">
                <a:solidFill>
                  <a:srgbClr val="E6EAF0"/>
                </a:solidFill>
                <a:latin typeface="Courier New"/>
              </a:rPr>
              <a:t>    with np.errstate(divide="ignore", invalid="ignore"):</a:t>
            </a:r>
          </a:p>
          <a:p>
            <a:r>
              <a:rPr sz="850">
                <a:solidFill>
                  <a:srgbClr val="6B7385"/>
                </a:solidFill>
                <a:latin typeface="Courier New"/>
              </a:rPr>
              <a:t>11 </a:t>
            </a:r>
            <a:r>
              <a:rPr sz="850">
                <a:solidFill>
                  <a:srgbClr val="E6EAF0"/>
                </a:solidFill>
                <a:latin typeface="Courier New"/>
              </a:rPr>
              <a:t>        v = np.where(mau == 0, 0.0, 2 * np.abs(y - d) / mau)</a:t>
            </a:r>
          </a:p>
          <a:p>
            <a:r>
              <a:rPr sz="850">
                <a:solidFill>
                  <a:srgbClr val="6B7385"/>
                </a:solidFill>
                <a:latin typeface="Courier New"/>
              </a:rPr>
              <a:t>12 </a:t>
            </a:r>
            <a:r>
              <a:rPr sz="850">
                <a:solidFill>
                  <a:srgbClr val="E6EAF0"/>
                </a:solidFill>
                <a:latin typeface="Courier New"/>
              </a:rPr>
              <a:t>    return float(np.mean(v) * 100)</a:t>
            </a:r>
          </a:p>
          <a:p>
            <a:r>
              <a:rPr sz="850">
                <a:solidFill>
                  <a:srgbClr val="6B7385"/>
                </a:solidFill>
                <a:latin typeface="Courier New"/>
              </a:rPr>
              <a:t>13 </a:t>
            </a:r>
          </a:p>
          <a:p>
            <a:r>
              <a:rPr sz="850">
                <a:solidFill>
                  <a:srgbClr val="6B7385"/>
                </a:solidFill>
                <a:latin typeface="Courier New"/>
              </a:rPr>
              <a:t>14 </a:t>
            </a:r>
            <a:r>
              <a:rPr sz="850">
                <a:solidFill>
                  <a:srgbClr val="E6EAF0"/>
                </a:solidFill>
                <a:latin typeface="Courier New"/>
              </a:rPr>
              <a:t>def wape(y, d):                                    </a:t>
            </a:r>
            <a:r>
              <a:rPr sz="850">
                <a:solidFill>
                  <a:srgbClr val="8FC99A"/>
                </a:solidFill>
                <a:latin typeface="Courier New"/>
              </a:rPr>
              <a:t># tổng chia tổng</a:t>
            </a:r>
          </a:p>
          <a:p>
            <a:r>
              <a:rPr sz="850">
                <a:solidFill>
                  <a:srgbClr val="6B7385"/>
                </a:solidFill>
                <a:latin typeface="Courier New"/>
              </a:rPr>
              <a:t>15 </a:t>
            </a:r>
            <a:r>
              <a:rPr sz="850">
                <a:solidFill>
                  <a:srgbClr val="E6EAF0"/>
                </a:solidFill>
                <a:latin typeface="Courier New"/>
              </a:rPr>
              <a:t>    tong = float(np.sum(np.abs(y)))</a:t>
            </a:r>
          </a:p>
          <a:p>
            <a:r>
              <a:rPr sz="850">
                <a:solidFill>
                  <a:srgbClr val="6B7385"/>
                </a:solidFill>
                <a:latin typeface="Courier New"/>
              </a:rPr>
              <a:t>16 </a:t>
            </a:r>
            <a:r>
              <a:rPr sz="850">
                <a:solidFill>
                  <a:srgbClr val="E6EAF0"/>
                </a:solidFill>
                <a:latin typeface="Courier New"/>
              </a:rPr>
              <a:t>    return float(np.sum(np.abs(y - d)) / tong * 100) if tong else np.nan</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buoi-14/dap-an/danh_gia.py</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6C4AB6"/>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3–6</a:t>
            </a:r>
          </a:p>
        </p:txBody>
      </p:sp>
      <p:sp>
        <p:nvSpPr>
          <p:cNvPr id="11" name="TextBox 10"/>
          <p:cNvSpPr txBox="1"/>
          <p:nvPr/>
        </p:nvSpPr>
        <p:spPr>
          <a:xfrm>
            <a:off x="1353312" y="4634357"/>
            <a:ext cx="2697480" cy="457200"/>
          </a:xfrm>
          <a:prstGeom prst="rect">
            <a:avLst/>
          </a:prstGeom>
          <a:noFill/>
        </p:spPr>
        <p:txBody>
          <a:bodyPr wrap="square" lIns="0" rIns="0" tIns="0" bIns="0" anchor="t">
            <a:spAutoFit/>
          </a:bodyPr>
          <a:lstStyle/>
          <a:p>
            <a:pPr algn="l"/>
            <a:r>
              <a:rPr sz="1050" b="0" i="0">
                <a:solidFill>
                  <a:srgbClr val="1B2A41"/>
                </a:solidFill>
                <a:latin typeface="Arial"/>
              </a:rPr>
              <a:t>Chia từng sai số cho từng thực tế.</a:t>
            </a:r>
          </a:p>
        </p:txBody>
      </p:sp>
      <p:sp>
        <p:nvSpPr>
          <p:cNvPr id="12" name="Rounded Rectangle 11"/>
          <p:cNvSpPr/>
          <p:nvPr/>
        </p:nvSpPr>
        <p:spPr>
          <a:xfrm>
            <a:off x="548640" y="51098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5</a:t>
            </a:r>
          </a:p>
        </p:txBody>
      </p:sp>
      <p:sp>
        <p:nvSpPr>
          <p:cNvPr id="13" name="TextBox 12"/>
          <p:cNvSpPr txBox="1"/>
          <p:nvPr/>
        </p:nvSpPr>
        <p:spPr>
          <a:xfrm>
            <a:off x="1353312" y="5091557"/>
            <a:ext cx="2697480" cy="457200"/>
          </a:xfrm>
          <a:prstGeom prst="rect">
            <a:avLst/>
          </a:prstGeom>
          <a:noFill/>
        </p:spPr>
        <p:txBody>
          <a:bodyPr wrap="square" lIns="0" rIns="0" tIns="0" bIns="0" anchor="t">
            <a:spAutoFit/>
          </a:bodyPr>
          <a:lstStyle/>
          <a:p>
            <a:pPr algn="l"/>
            <a:r>
              <a:rPr sz="1050" b="0" i="0">
                <a:solidFill>
                  <a:srgbClr val="1B2A41"/>
                </a:solidFill>
                <a:latin typeface="Arial"/>
              </a:rPr>
              <a:t>Có y = 0 thì ra vô hạn, không giấu đi.</a:t>
            </a:r>
          </a:p>
        </p:txBody>
      </p:sp>
      <p:sp>
        <p:nvSpPr>
          <p:cNvPr id="14" name="Rounded Rectangle 13"/>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8–12</a:t>
            </a:r>
          </a:p>
        </p:txBody>
      </p:sp>
      <p:sp>
        <p:nvSpPr>
          <p:cNvPr id="15" name="TextBox 14"/>
          <p:cNvSpPr txBox="1"/>
          <p:nvPr/>
        </p:nvSpPr>
        <p:spPr>
          <a:xfrm>
            <a:off x="4965192" y="4634357"/>
            <a:ext cx="2697480" cy="457200"/>
          </a:xfrm>
          <a:prstGeom prst="rect">
            <a:avLst/>
          </a:prstGeom>
          <a:noFill/>
        </p:spPr>
        <p:txBody>
          <a:bodyPr wrap="square" lIns="0" rIns="0" tIns="0" bIns="0" anchor="t">
            <a:spAutoFit/>
          </a:bodyPr>
          <a:lstStyle/>
          <a:p>
            <a:pPr algn="l"/>
            <a:r>
              <a:rPr sz="1050" b="0" i="0">
                <a:solidFill>
                  <a:srgbClr val="1B2A41"/>
                </a:solidFill>
                <a:latin typeface="Arial"/>
              </a:rPr>
              <a:t>Chia cho tổng thực tế và dự báo, nhân 200.</a:t>
            </a:r>
          </a:p>
        </p:txBody>
      </p:sp>
      <p:sp>
        <p:nvSpPr>
          <p:cNvPr id="16" name="Rounded Rectangle 15"/>
          <p:cNvSpPr/>
          <p:nvPr/>
        </p:nvSpPr>
        <p:spPr>
          <a:xfrm>
            <a:off x="4160520" y="51098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14–16</a:t>
            </a:r>
          </a:p>
        </p:txBody>
      </p:sp>
      <p:sp>
        <p:nvSpPr>
          <p:cNvPr id="17" name="TextBox 16"/>
          <p:cNvSpPr txBox="1"/>
          <p:nvPr/>
        </p:nvSpPr>
        <p:spPr>
          <a:xfrm>
            <a:off x="4965192" y="5091557"/>
            <a:ext cx="2697480" cy="457200"/>
          </a:xfrm>
          <a:prstGeom prst="rect">
            <a:avLst/>
          </a:prstGeom>
          <a:noFill/>
        </p:spPr>
        <p:txBody>
          <a:bodyPr wrap="square" lIns="0" rIns="0" tIns="0" bIns="0" anchor="t">
            <a:spAutoFit/>
          </a:bodyPr>
          <a:lstStyle/>
          <a:p>
            <a:pPr algn="l"/>
            <a:r>
              <a:rPr sz="1050" b="0" i="0">
                <a:solidFill>
                  <a:srgbClr val="1B2A41"/>
                </a:solidFill>
                <a:latin typeface="Arial"/>
              </a:rPr>
              <a:t>Tổng sai số chia tổng thực tế.</a:t>
            </a:r>
          </a:p>
        </p:txBody>
      </p:sp>
      <p:sp>
        <p:nvSpPr>
          <p:cNvPr id="18" name="Rounded Rectangle 17"/>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Bảng năm ngày: MAPE 12,8%, sMAPE 13,6, WAPE 13,3%. Thêm một ngày thực tế 0 thì MAPE thành vô hạn; trên 300 mã bán lẻ MAPE không tính được.</a:t>
            </a:r>
          </a:p>
        </p:txBody>
      </p:sp>
      <p:sp>
        <p:nvSpPr>
          <p:cNvPr id="20" name="TextBox 19"/>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6C4AB6"/>
                </a:solidFill>
                <a:latin typeface="Arial"/>
              </a:rPr>
              <a:t>Thư viện và hàm</a:t>
            </a:r>
          </a:p>
        </p:txBody>
      </p:sp>
      <p:sp>
        <p:nvSpPr>
          <p:cNvPr id="21" name="TextBox 20"/>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np.errstate</a:t>
            </a:r>
            <a:r>
              <a:rPr sz="950" b="1" i="0">
                <a:solidFill>
                  <a:srgbClr val="5B6778"/>
                </a:solidFill>
                <a:latin typeface="Arial"/>
              </a:rPr>
              <a:t>   numpy</a:t>
            </a:r>
          </a:p>
        </p:txBody>
      </p:sp>
      <p:sp>
        <p:nvSpPr>
          <p:cNvPr id="22" name="TextBox 21"/>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Tắt cảnh báo chia cho 0 trong khối with để tự xử lý kết quả.</a:t>
            </a:r>
          </a:p>
        </p:txBody>
      </p:sp>
      <p:sp>
        <p:nvSpPr>
          <p:cNvPr id="23" name="TextBox 22"/>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np.where</a:t>
            </a:r>
            <a:r>
              <a:rPr sz="950" b="1" i="0">
                <a:solidFill>
                  <a:srgbClr val="5B6778"/>
                </a:solidFill>
                <a:latin typeface="Arial"/>
              </a:rPr>
              <a:t>   numpy</a:t>
            </a:r>
          </a:p>
        </p:txBody>
      </p:sp>
      <p:sp>
        <p:nvSpPr>
          <p:cNvPr id="24" name="TextBox 23"/>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Chọn từng ô: mẫu bằng 0 thì lấy 0, còn lại lấy phép chia.</a:t>
            </a:r>
          </a:p>
        </p:txBody>
      </p:sp>
      <p:sp>
        <p:nvSpPr>
          <p:cNvPr id="25" name="TextBox 24"/>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np.sum(np.abs(...))</a:t>
            </a:r>
            <a:r>
              <a:rPr sz="950" b="1" i="0">
                <a:solidFill>
                  <a:srgbClr val="5B6778"/>
                </a:solidFill>
                <a:latin typeface="Arial"/>
              </a:rPr>
              <a:t>   numpy</a:t>
            </a:r>
          </a:p>
        </p:txBody>
      </p:sp>
      <p:sp>
        <p:nvSpPr>
          <p:cNvPr id="26" name="TextBox 25"/>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Cộng độ lớn sai số của mọi ngày thành một tổng.</a:t>
            </a:r>
          </a:p>
        </p:txBody>
      </p:sp>
      <p:sp>
        <p:nvSpPr>
          <p:cNvPr id="27" name="Rounded Rectangle 26"/>
          <p:cNvSpPr/>
          <p:nvPr/>
        </p:nvSpPr>
        <p:spPr>
          <a:xfrm>
            <a:off x="7863840" y="4059935"/>
            <a:ext cx="3776472" cy="755904"/>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05ad8f672bd8.png"/>
          <p:cNvPicPr>
            <a:picLocks noChangeAspect="1"/>
          </p:cNvPicPr>
          <p:nvPr/>
        </p:nvPicPr>
        <p:blipFill>
          <a:blip r:embed="rId2"/>
          <a:stretch>
            <a:fillRect/>
          </a:stretch>
        </p:blipFill>
        <p:spPr>
          <a:xfrm>
            <a:off x="8883396" y="4114799"/>
            <a:ext cx="1737360" cy="646176"/>
          </a:xfrm>
          <a:prstGeom prst="rect">
            <a:avLst/>
          </a:prstGeom>
        </p:spPr>
      </p:pic>
      <p:pic>
        <p:nvPicPr>
          <p:cNvPr id="29" name="Picture 28" descr="chi-so-quyet-dinh.png"/>
          <p:cNvPicPr>
            <a:picLocks noChangeAspect="1"/>
          </p:cNvPicPr>
          <p:nvPr/>
        </p:nvPicPr>
        <p:blipFill>
          <a:blip r:embed="rId3"/>
          <a:stretch>
            <a:fillRect/>
          </a:stretch>
        </p:blipFill>
        <p:spPr>
          <a:xfrm>
            <a:off x="7863840" y="5080838"/>
            <a:ext cx="3776472" cy="1265275"/>
          </a:xfrm>
          <a:prstGeom prst="rect">
            <a:avLst/>
          </a:prstGeom>
        </p:spPr>
      </p:pic>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D</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MASE, RMSSE</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6C4AB6"/>
                </a:solidFill>
                <a:latin typeface="Arial"/>
              </a:rPr>
              <a:t>Buổi 14</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Chia sai số cho mức sai quen thuộc của baseline để so được giữa các chuỗi.</a:t>
            </a:r>
          </a:p>
        </p:txBody>
      </p:sp>
      <p:sp>
        <p:nvSpPr>
          <p:cNvPr id="6" name="Rounded Rectangle 5"/>
          <p:cNvSpPr/>
          <p:nvPr/>
        </p:nvSpPr>
        <p:spPr>
          <a:xfrm>
            <a:off x="548640" y="1737360"/>
            <a:ext cx="7086600" cy="2597912"/>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277872"/>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numpy as np</a:t>
            </a:r>
          </a:p>
          <a:p>
            <a:r>
              <a:rPr sz="950">
                <a:solidFill>
                  <a:srgbClr val="6B7385"/>
                </a:solidFill>
                <a:latin typeface="Courier New"/>
              </a:rPr>
              <a:t> 2 </a:t>
            </a:r>
          </a:p>
          <a:p>
            <a:r>
              <a:rPr sz="950">
                <a:solidFill>
                  <a:srgbClr val="6B7385"/>
                </a:solidFill>
                <a:latin typeface="Courier New"/>
              </a:rPr>
              <a:t> 3 </a:t>
            </a:r>
            <a:r>
              <a:rPr sz="950">
                <a:solidFill>
                  <a:srgbClr val="E6EAF0"/>
                </a:solidFill>
                <a:latin typeface="Courier New"/>
              </a:rPr>
              <a:t>def _mau_so_scaled(hoc, m, binh_phuong=False):</a:t>
            </a:r>
          </a:p>
          <a:p>
            <a:r>
              <a:rPr sz="950">
                <a:solidFill>
                  <a:srgbClr val="6B7385"/>
                </a:solidFill>
                <a:latin typeface="Courier New"/>
              </a:rPr>
              <a:t> 4 </a:t>
            </a:r>
            <a:r>
              <a:rPr sz="950">
                <a:solidFill>
                  <a:srgbClr val="E6EAF0"/>
                </a:solidFill>
                <a:latin typeface="Courier New"/>
              </a:rPr>
              <a:t>    lech = hoc[m:] - hoc[:-m]              </a:t>
            </a:r>
            <a:r>
              <a:rPr sz="950">
                <a:solidFill>
                  <a:srgbClr val="8FC99A"/>
                </a:solidFill>
                <a:latin typeface="Courier New"/>
              </a:rPr>
              <a:t># seasonal naive TRÊN PHẦN HỌC</a:t>
            </a:r>
          </a:p>
          <a:p>
            <a:r>
              <a:rPr sz="950">
                <a:solidFill>
                  <a:srgbClr val="6B7385"/>
                </a:solidFill>
                <a:latin typeface="Courier New"/>
              </a:rPr>
              <a:t> 5 </a:t>
            </a:r>
            <a:r>
              <a:rPr sz="950">
                <a:solidFill>
                  <a:srgbClr val="E6EAF0"/>
                </a:solidFill>
                <a:latin typeface="Courier New"/>
              </a:rPr>
              <a:t>    if binh_phuong:</a:t>
            </a:r>
          </a:p>
          <a:p>
            <a:r>
              <a:rPr sz="950">
                <a:solidFill>
                  <a:srgbClr val="6B7385"/>
                </a:solidFill>
                <a:latin typeface="Courier New"/>
              </a:rPr>
              <a:t> 6 </a:t>
            </a:r>
            <a:r>
              <a:rPr sz="950">
                <a:solidFill>
                  <a:srgbClr val="E6EAF0"/>
                </a:solidFill>
                <a:latin typeface="Courier New"/>
              </a:rPr>
              <a:t>        return float(np.mean(lech ** 2))</a:t>
            </a:r>
          </a:p>
          <a:p>
            <a:r>
              <a:rPr sz="950">
                <a:solidFill>
                  <a:srgbClr val="6B7385"/>
                </a:solidFill>
                <a:latin typeface="Courier New"/>
              </a:rPr>
              <a:t> 7 </a:t>
            </a:r>
            <a:r>
              <a:rPr sz="950">
                <a:solidFill>
                  <a:srgbClr val="E6EAF0"/>
                </a:solidFill>
                <a:latin typeface="Courier New"/>
              </a:rPr>
              <a:t>    return float(np.mean(np.abs(lech)))</a:t>
            </a:r>
          </a:p>
          <a:p>
            <a:r>
              <a:rPr sz="950">
                <a:solidFill>
                  <a:srgbClr val="6B7385"/>
                </a:solidFill>
                <a:latin typeface="Courier New"/>
              </a:rPr>
              <a:t> 8 </a:t>
            </a:r>
          </a:p>
          <a:p>
            <a:r>
              <a:rPr sz="950">
                <a:solidFill>
                  <a:srgbClr val="6B7385"/>
                </a:solidFill>
                <a:latin typeface="Courier New"/>
              </a:rPr>
              <a:t> 9 </a:t>
            </a:r>
            <a:r>
              <a:rPr sz="950">
                <a:solidFill>
                  <a:srgbClr val="E6EAF0"/>
                </a:solidFill>
                <a:latin typeface="Courier New"/>
              </a:rPr>
              <a:t>def mase(y, d, hoc, m=7):</a:t>
            </a:r>
          </a:p>
          <a:p>
            <a:r>
              <a:rPr sz="950">
                <a:solidFill>
                  <a:srgbClr val="6B7385"/>
                </a:solidFill>
                <a:latin typeface="Courier New"/>
              </a:rPr>
              <a:t>10 </a:t>
            </a:r>
            <a:r>
              <a:rPr sz="950">
                <a:solidFill>
                  <a:srgbClr val="E6EAF0"/>
                </a:solidFill>
                <a:latin typeface="Courier New"/>
              </a:rPr>
              <a:t>    mau = _mau_so_scaled(hoc, m)</a:t>
            </a:r>
          </a:p>
          <a:p>
            <a:r>
              <a:rPr sz="950">
                <a:solidFill>
                  <a:srgbClr val="6B7385"/>
                </a:solidFill>
                <a:latin typeface="Courier New"/>
              </a:rPr>
              <a:t>11 </a:t>
            </a:r>
            <a:r>
              <a:rPr sz="950">
                <a:solidFill>
                  <a:srgbClr val="E6EAF0"/>
                </a:solidFill>
                <a:latin typeface="Courier New"/>
              </a:rPr>
              <a:t>    return float("nan") if not mau else mae(y, d) / mau   </a:t>
            </a:r>
            <a:r>
              <a:rPr sz="950">
                <a:solidFill>
                  <a:srgbClr val="8FC99A"/>
                </a:solidFill>
                <a:latin typeface="Courier New"/>
              </a:rPr>
              <a:t># 0 thì NaN</a:t>
            </a:r>
          </a:p>
          <a:p>
            <a:r>
              <a:rPr sz="950">
                <a:solidFill>
                  <a:srgbClr val="6B7385"/>
                </a:solidFill>
                <a:latin typeface="Courier New"/>
              </a:rPr>
              <a:t>12 </a:t>
            </a:r>
          </a:p>
          <a:p>
            <a:r>
              <a:rPr sz="950">
                <a:solidFill>
                  <a:srgbClr val="6B7385"/>
                </a:solidFill>
                <a:latin typeface="Courier New"/>
              </a:rPr>
              <a:t>13 </a:t>
            </a:r>
            <a:r>
              <a:rPr sz="950">
                <a:solidFill>
                  <a:srgbClr val="E6EAF0"/>
                </a:solidFill>
                <a:latin typeface="Courier New"/>
              </a:rPr>
              <a:t>def rmsse(y, d, hoc, m=7):</a:t>
            </a:r>
          </a:p>
          <a:p>
            <a:r>
              <a:rPr sz="950">
                <a:solidFill>
                  <a:srgbClr val="6B7385"/>
                </a:solidFill>
                <a:latin typeface="Courier New"/>
              </a:rPr>
              <a:t>14 </a:t>
            </a:r>
            <a:r>
              <a:rPr sz="950">
                <a:solidFill>
                  <a:srgbClr val="E6EAF0"/>
                </a:solidFill>
                <a:latin typeface="Courier New"/>
              </a:rPr>
              <a:t>    mau = _mau_so_scaled(hoc, m, binh_phuong=True)</a:t>
            </a:r>
          </a:p>
          <a:p>
            <a:r>
              <a:rPr sz="950">
                <a:solidFill>
                  <a:srgbClr val="6B7385"/>
                </a:solidFill>
                <a:latin typeface="Courier New"/>
              </a:rPr>
              <a:t>15 </a:t>
            </a:r>
            <a:r>
              <a:rPr sz="950">
                <a:solidFill>
                  <a:srgbClr val="E6EAF0"/>
                </a:solidFill>
                <a:latin typeface="Courier New"/>
              </a:rPr>
              <a:t>    return float("nan") if not mau else rmse(y, d) / np.sqrt(mau)</a:t>
            </a:r>
          </a:p>
        </p:txBody>
      </p:sp>
      <p:sp>
        <p:nvSpPr>
          <p:cNvPr id="8" name="TextBox 7"/>
          <p:cNvSpPr txBox="1"/>
          <p:nvPr/>
        </p:nvSpPr>
        <p:spPr>
          <a:xfrm>
            <a:off x="685800" y="4088384"/>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buoi-14/dap-an/danh_gia.py</a:t>
            </a:r>
          </a:p>
        </p:txBody>
      </p:sp>
      <p:sp>
        <p:nvSpPr>
          <p:cNvPr id="9" name="TextBox 8"/>
          <p:cNvSpPr txBox="1"/>
          <p:nvPr/>
        </p:nvSpPr>
        <p:spPr>
          <a:xfrm>
            <a:off x="548640" y="4445000"/>
            <a:ext cx="7086600" cy="274320"/>
          </a:xfrm>
          <a:prstGeom prst="rect">
            <a:avLst/>
          </a:prstGeom>
          <a:noFill/>
        </p:spPr>
        <p:txBody>
          <a:bodyPr wrap="square" lIns="0" rIns="0" tIns="0" bIns="0" anchor="t">
            <a:spAutoFit/>
          </a:bodyPr>
          <a:lstStyle/>
          <a:p>
            <a:pPr algn="l"/>
            <a:r>
              <a:rPr sz="1300" b="1" i="0">
                <a:solidFill>
                  <a:srgbClr val="6C4AB6"/>
                </a:solidFill>
                <a:latin typeface="Arial"/>
              </a:rPr>
              <a:t>Từng bước</a:t>
            </a:r>
          </a:p>
        </p:txBody>
      </p:sp>
      <p:sp>
        <p:nvSpPr>
          <p:cNvPr id="10" name="Rounded Rectangle 9"/>
          <p:cNvSpPr/>
          <p:nvPr/>
        </p:nvSpPr>
        <p:spPr>
          <a:xfrm>
            <a:off x="54864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4</a:t>
            </a:r>
          </a:p>
        </p:txBody>
      </p:sp>
      <p:sp>
        <p:nvSpPr>
          <p:cNvPr id="11" name="TextBox 10"/>
          <p:cNvSpPr txBox="1"/>
          <p:nvPr/>
        </p:nvSpPr>
        <p:spPr>
          <a:xfrm>
            <a:off x="1353312" y="4746752"/>
            <a:ext cx="2697480" cy="347133"/>
          </a:xfrm>
          <a:prstGeom prst="rect">
            <a:avLst/>
          </a:prstGeom>
          <a:noFill/>
        </p:spPr>
        <p:txBody>
          <a:bodyPr wrap="square" lIns="0" rIns="0" tIns="0" bIns="0" anchor="t">
            <a:spAutoFit/>
          </a:bodyPr>
          <a:lstStyle/>
          <a:p>
            <a:pPr algn="l"/>
            <a:r>
              <a:rPr sz="1050" b="0" i="0">
                <a:solidFill>
                  <a:srgbClr val="1B2A41"/>
                </a:solidFill>
                <a:latin typeface="Arial"/>
              </a:rPr>
              <a:t>Sai số seasonal naive, chỉ trên phần học.</a:t>
            </a:r>
          </a:p>
        </p:txBody>
      </p:sp>
      <p:sp>
        <p:nvSpPr>
          <p:cNvPr id="12" name="Rounded Rectangle 11"/>
          <p:cNvSpPr/>
          <p:nvPr/>
        </p:nvSpPr>
        <p:spPr>
          <a:xfrm>
            <a:off x="548640" y="51121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5–7</a:t>
            </a:r>
          </a:p>
        </p:txBody>
      </p:sp>
      <p:sp>
        <p:nvSpPr>
          <p:cNvPr id="13" name="TextBox 12"/>
          <p:cNvSpPr txBox="1"/>
          <p:nvPr/>
        </p:nvSpPr>
        <p:spPr>
          <a:xfrm>
            <a:off x="1353312" y="5093885"/>
            <a:ext cx="2697480" cy="347133"/>
          </a:xfrm>
          <a:prstGeom prst="rect">
            <a:avLst/>
          </a:prstGeom>
          <a:noFill/>
        </p:spPr>
        <p:txBody>
          <a:bodyPr wrap="square" lIns="0" rIns="0" tIns="0" bIns="0" anchor="t">
            <a:spAutoFit/>
          </a:bodyPr>
          <a:lstStyle/>
          <a:p>
            <a:pPr algn="l"/>
            <a:r>
              <a:rPr sz="1050" b="0" i="0">
                <a:solidFill>
                  <a:srgbClr val="1B2A41"/>
                </a:solidFill>
                <a:latin typeface="Arial"/>
              </a:rPr>
              <a:t>Trung bình bình phương hoặc trị tuyệt đối.</a:t>
            </a:r>
          </a:p>
        </p:txBody>
      </p:sp>
      <p:sp>
        <p:nvSpPr>
          <p:cNvPr id="14" name="Rounded Rectangle 13"/>
          <p:cNvSpPr/>
          <p:nvPr/>
        </p:nvSpPr>
        <p:spPr>
          <a:xfrm>
            <a:off x="548640" y="5459306"/>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9–11</a:t>
            </a:r>
          </a:p>
        </p:txBody>
      </p:sp>
      <p:sp>
        <p:nvSpPr>
          <p:cNvPr id="15" name="TextBox 14"/>
          <p:cNvSpPr txBox="1"/>
          <p:nvPr/>
        </p:nvSpPr>
        <p:spPr>
          <a:xfrm>
            <a:off x="1353312" y="5441018"/>
            <a:ext cx="2697480" cy="347133"/>
          </a:xfrm>
          <a:prstGeom prst="rect">
            <a:avLst/>
          </a:prstGeom>
          <a:noFill/>
        </p:spPr>
        <p:txBody>
          <a:bodyPr wrap="square" lIns="0" rIns="0" tIns="0" bIns="0" anchor="t">
            <a:spAutoFit/>
          </a:bodyPr>
          <a:lstStyle/>
          <a:p>
            <a:pPr algn="l"/>
            <a:r>
              <a:rPr sz="1050" b="0" i="0">
                <a:solidFill>
                  <a:srgbClr val="1B2A41"/>
                </a:solidFill>
                <a:latin typeface="Arial"/>
              </a:rPr>
              <a:t>MAE kỳ chấm chia mẫu số của phần học.</a:t>
            </a:r>
          </a:p>
        </p:txBody>
      </p:sp>
      <p:sp>
        <p:nvSpPr>
          <p:cNvPr id="16" name="Rounded Rectangle 15"/>
          <p:cNvSpPr/>
          <p:nvPr/>
        </p:nvSpPr>
        <p:spPr>
          <a:xfrm>
            <a:off x="416052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11</a:t>
            </a:r>
          </a:p>
        </p:txBody>
      </p:sp>
      <p:sp>
        <p:nvSpPr>
          <p:cNvPr id="17" name="TextBox 16"/>
          <p:cNvSpPr txBox="1"/>
          <p:nvPr/>
        </p:nvSpPr>
        <p:spPr>
          <a:xfrm>
            <a:off x="4965192" y="4746752"/>
            <a:ext cx="2697480" cy="347133"/>
          </a:xfrm>
          <a:prstGeom prst="rect">
            <a:avLst/>
          </a:prstGeom>
          <a:noFill/>
        </p:spPr>
        <p:txBody>
          <a:bodyPr wrap="square" lIns="0" rIns="0" tIns="0" bIns="0" anchor="t">
            <a:spAutoFit/>
          </a:bodyPr>
          <a:lstStyle/>
          <a:p>
            <a:pPr algn="l"/>
            <a:r>
              <a:rPr sz="1050" b="0" i="0">
                <a:solidFill>
                  <a:srgbClr val="1B2A41"/>
                </a:solidFill>
                <a:latin typeface="Arial"/>
              </a:rPr>
              <a:t>Mẫu số bằng 0 thì trả NaN, không trả 0.</a:t>
            </a:r>
          </a:p>
        </p:txBody>
      </p:sp>
      <p:sp>
        <p:nvSpPr>
          <p:cNvPr id="18" name="Rounded Rectangle 17"/>
          <p:cNvSpPr/>
          <p:nvPr/>
        </p:nvSpPr>
        <p:spPr>
          <a:xfrm>
            <a:off x="4160520" y="511217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13–15</a:t>
            </a:r>
          </a:p>
        </p:txBody>
      </p:sp>
      <p:sp>
        <p:nvSpPr>
          <p:cNvPr id="19" name="TextBox 18"/>
          <p:cNvSpPr txBox="1"/>
          <p:nvPr/>
        </p:nvSpPr>
        <p:spPr>
          <a:xfrm>
            <a:off x="4965192" y="5093885"/>
            <a:ext cx="2697480" cy="347133"/>
          </a:xfrm>
          <a:prstGeom prst="rect">
            <a:avLst/>
          </a:prstGeom>
          <a:noFill/>
        </p:spPr>
        <p:txBody>
          <a:bodyPr wrap="square" lIns="0" rIns="0" tIns="0" bIns="0" anchor="t">
            <a:spAutoFit/>
          </a:bodyPr>
          <a:lstStyle/>
          <a:p>
            <a:pPr algn="l"/>
            <a:r>
              <a:rPr sz="1050" b="0" i="0">
                <a:solidFill>
                  <a:srgbClr val="1B2A41"/>
                </a:solidFill>
                <a:latin typeface="Arial"/>
              </a:rPr>
              <a:t>RMSSE làm y hệt với bình phương.</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Ví dụ tay: MASE 1,6 / 1,5 ≈ 1,07, RMSSE ≈ 1,33. Lấy mẫu số trên đoạn chấm (code đầu buổi) thì MASE của naive trên M4 ra 0,972 thay vì 0,835.</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6C4AB6"/>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hoc[m:] - hoc[:-m]</a:t>
            </a:r>
            <a:r>
              <a:rPr sz="950" b="1" i="0">
                <a:solidFill>
                  <a:srgbClr val="5B6778"/>
                </a:solidFill>
                <a:latin typeface="Arial"/>
              </a:rPr>
              <a:t>   numpy</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Trừ mỗi điểm cho điểm cách m bước trước: sai số seasonal naive.</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np.sqrt</a:t>
            </a:r>
            <a:r>
              <a:rPr sz="950" b="1" i="0">
                <a:solidFill>
                  <a:srgbClr val="5B6778"/>
                </a:solidFill>
                <a:latin typeface="Arial"/>
              </a:rPr>
              <a:t>   numpy</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Căn bậc hai, đưa mẫu số bình phương về cùng đơn vị với RMSE.</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mase, rmsse</a:t>
            </a:r>
            <a:r>
              <a:rPr sz="950" b="1" i="0">
                <a:solidFill>
                  <a:srgbClr val="5B6778"/>
                </a:solidFill>
                <a:latin typeface="Arial"/>
              </a:rPr>
              <a:t>   tự viết</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Chia MAE hoặc RMSE cho sai số seasonal naive trên phần học.</a:t>
            </a:r>
          </a:p>
        </p:txBody>
      </p:sp>
      <p:sp>
        <p:nvSpPr>
          <p:cNvPr id="29" name="Rounded Rectangle 28"/>
          <p:cNvSpPr/>
          <p:nvPr/>
        </p:nvSpPr>
        <p:spPr>
          <a:xfrm>
            <a:off x="7863840" y="4059935"/>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611eeeb4686a.png"/>
          <p:cNvPicPr>
            <a:picLocks noChangeAspect="1"/>
          </p:cNvPicPr>
          <p:nvPr/>
        </p:nvPicPr>
        <p:blipFill>
          <a:blip r:embed="rId2"/>
          <a:stretch>
            <a:fillRect/>
          </a:stretch>
        </p:blipFill>
        <p:spPr>
          <a:xfrm>
            <a:off x="8673084" y="4151375"/>
            <a:ext cx="2157984" cy="365760"/>
          </a:xfrm>
          <a:prstGeom prst="rect">
            <a:avLst/>
          </a:prstGeom>
        </p:spPr>
      </p:pic>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D</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gộp, xếp hạng, đối chiếu</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6C4AB6"/>
                </a:solidFill>
                <a:latin typeface="Arial"/>
              </a:rPr>
              <a:t>Buổi 14</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Gộp chỉ số qua nhiều chuỗi mà không giấu ô vô hạn, rồi soát thang của thư viện.</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from utilsforecast.losses import smape as uf_smape</a:t>
            </a:r>
          </a:p>
          <a:p>
            <a:r>
              <a:rPr sz="850">
                <a:solidFill>
                  <a:srgbClr val="6B7385"/>
                </a:solidFill>
                <a:latin typeface="Courier New"/>
              </a:rPr>
              <a:t> 3 </a:t>
            </a:r>
            <a:r>
              <a:rPr sz="850">
                <a:solidFill>
                  <a:srgbClr val="E6EAF0"/>
                </a:solidFill>
                <a:latin typeface="Courier New"/>
              </a:rPr>
              <a:t>arr = np.array(v, dtype=float)                    </a:t>
            </a:r>
            <a:r>
              <a:rPr sz="850">
                <a:solidFill>
                  <a:srgbClr val="8FC99A"/>
                </a:solidFill>
                <a:latin typeface="Courier New"/>
              </a:rPr>
              <a:t># một số mỗi chuỗi</a:t>
            </a:r>
          </a:p>
          <a:p>
            <a:r>
              <a:rPr sz="850">
                <a:solidFill>
                  <a:srgbClr val="6B7385"/>
                </a:solidFill>
                <a:latin typeface="Courier New"/>
              </a:rPr>
              <a:t> 4 </a:t>
            </a:r>
            <a:r>
              <a:rPr sz="850">
                <a:solidFill>
                  <a:srgbClr val="E6EAF0"/>
                </a:solidFill>
                <a:latin typeface="Courier New"/>
              </a:rPr>
              <a:t>huu_han = arr[np.isfinite(arr)]                   </a:t>
            </a:r>
            <a:r>
              <a:rPr sz="850">
                <a:solidFill>
                  <a:srgbClr val="8FC99A"/>
                </a:solidFill>
                <a:latin typeface="Courier New"/>
              </a:rPr>
              <a:t># bỏ ô vô hạn, NaN...</a:t>
            </a:r>
          </a:p>
          <a:p>
            <a:r>
              <a:rPr sz="850">
                <a:solidFill>
                  <a:srgbClr val="6B7385"/>
                </a:solidFill>
                <a:latin typeface="Courier New"/>
              </a:rPr>
              <a:t> 5 </a:t>
            </a:r>
            <a:r>
              <a:rPr sz="850">
                <a:solidFill>
                  <a:srgbClr val="E6EAF0"/>
                </a:solidFill>
                <a:latin typeface="Courier New"/>
              </a:rPr>
              <a:t>so_vo_han = int(np.sum(~np.isfinite(arr)))        </a:t>
            </a:r>
            <a:r>
              <a:rPr sz="850">
                <a:solidFill>
                  <a:srgbClr val="8FC99A"/>
                </a:solidFill>
                <a:latin typeface="Courier New"/>
              </a:rPr>
              <a:t># ...nhưng đếm, báo ra</a:t>
            </a:r>
          </a:p>
          <a:p>
            <a:r>
              <a:rPr sz="850">
                <a:solidFill>
                  <a:srgbClr val="6B7385"/>
                </a:solidFill>
                <a:latin typeface="Courier New"/>
              </a:rPr>
              <a:t> 6 </a:t>
            </a:r>
            <a:r>
              <a:rPr sz="850">
                <a:solidFill>
                  <a:srgbClr val="E6EAF0"/>
                </a:solidFill>
                <a:latin typeface="Courier New"/>
              </a:rPr>
              <a:t>trung_vi, trung_binh = np.median(huu_han), np.mean(huu_han)</a:t>
            </a:r>
          </a:p>
          <a:p>
            <a:r>
              <a:rPr sz="850">
                <a:solidFill>
                  <a:srgbClr val="6B7385"/>
                </a:solidFill>
                <a:latin typeface="Courier New"/>
              </a:rPr>
              <a:t> 7 </a:t>
            </a:r>
          </a:p>
          <a:p>
            <a:r>
              <a:rPr sz="850">
                <a:solidFill>
                  <a:srgbClr val="6B7385"/>
                </a:solidFill>
                <a:latin typeface="Courier New"/>
              </a:rPr>
              <a:t> 8 </a:t>
            </a:r>
            <a:r>
              <a:rPr sz="850">
                <a:solidFill>
                  <a:srgbClr val="E6EAF0"/>
                </a:solidFill>
                <a:latin typeface="Courier New"/>
              </a:rPr>
              <a:t>def xep_hang(bang, cac_cot):</a:t>
            </a:r>
          </a:p>
          <a:p>
            <a:r>
              <a:rPr sz="850">
                <a:solidFill>
                  <a:srgbClr val="6B7385"/>
                </a:solidFill>
                <a:latin typeface="Courier New"/>
              </a:rPr>
              <a:t> 9 </a:t>
            </a:r>
            <a:r>
              <a:rPr sz="850">
                <a:solidFill>
                  <a:srgbClr val="E6EAF0"/>
                </a:solidFill>
                <a:latin typeface="Courier New"/>
              </a:rPr>
              <a:t>    ra = bang[["mô hình"]].copy()</a:t>
            </a:r>
          </a:p>
          <a:p>
            <a:r>
              <a:rPr sz="850">
                <a:solidFill>
                  <a:srgbClr val="6B7385"/>
                </a:solidFill>
                <a:latin typeface="Courier New"/>
              </a:rPr>
              <a:t>10 </a:t>
            </a:r>
            <a:r>
              <a:rPr sz="850">
                <a:solidFill>
                  <a:srgbClr val="E6EAF0"/>
                </a:solidFill>
                <a:latin typeface="Courier New"/>
              </a:rPr>
              <a:t>    for cot in cac_cot:                           </a:t>
            </a:r>
            <a:r>
              <a:rPr sz="850">
                <a:solidFill>
                  <a:srgbClr val="8FC99A"/>
                </a:solidFill>
                <a:latin typeface="Courier New"/>
              </a:rPr>
              <a:t># ME xếp theo trị tuyệt đối</a:t>
            </a:r>
          </a:p>
          <a:p>
            <a:r>
              <a:rPr sz="850">
                <a:solidFill>
                  <a:srgbClr val="6B7385"/>
                </a:solidFill>
                <a:latin typeface="Courier New"/>
              </a:rPr>
              <a:t>11 </a:t>
            </a:r>
            <a:r>
              <a:rPr sz="850">
                <a:solidFill>
                  <a:srgbClr val="E6EAF0"/>
                </a:solidFill>
                <a:latin typeface="Courier New"/>
              </a:rPr>
              <a:t>        v = bang[cot].abs() if cot == "ME" else bang[cot]</a:t>
            </a:r>
          </a:p>
          <a:p>
            <a:r>
              <a:rPr sz="850">
                <a:solidFill>
                  <a:srgbClr val="6B7385"/>
                </a:solidFill>
                <a:latin typeface="Courier New"/>
              </a:rPr>
              <a:t>12 </a:t>
            </a:r>
            <a:r>
              <a:rPr sz="850">
                <a:solidFill>
                  <a:srgbClr val="E6EAF0"/>
                </a:solidFill>
                <a:latin typeface="Courier New"/>
              </a:rPr>
              <a:t>        ra[cot] = v.rank(method="min").astype("Int64")</a:t>
            </a:r>
          </a:p>
          <a:p>
            <a:r>
              <a:rPr sz="850">
                <a:solidFill>
                  <a:srgbClr val="6B7385"/>
                </a:solidFill>
                <a:latin typeface="Courier New"/>
              </a:rPr>
              <a:t>13 </a:t>
            </a:r>
            <a:r>
              <a:rPr sz="850">
                <a:solidFill>
                  <a:srgbClr val="E6EAF0"/>
                </a:solidFill>
                <a:latin typeface="Courier New"/>
              </a:rPr>
              <a:t>    return ra</a:t>
            </a:r>
          </a:p>
          <a:p>
            <a:r>
              <a:rPr sz="850">
                <a:solidFill>
                  <a:srgbClr val="6B7385"/>
                </a:solidFill>
                <a:latin typeface="Courier New"/>
              </a:rPr>
              <a:t>14 </a:t>
            </a:r>
          </a:p>
          <a:p>
            <a:r>
              <a:rPr sz="850">
                <a:solidFill>
                  <a:srgbClr val="6B7385"/>
                </a:solidFill>
                <a:latin typeface="Courier New"/>
              </a:rPr>
              <a:t>15 </a:t>
            </a:r>
            <a:r>
              <a:rPr sz="850">
                <a:solidFill>
                  <a:srgbClr val="E6EAF0"/>
                </a:solidFill>
                <a:latin typeface="Courier New"/>
              </a:rPr>
              <a:t>tl = uf_smape(dai_kiem, models=["du_bao"])["du_bao"].mean()   </a:t>
            </a:r>
            <a:r>
              <a:rPr sz="850">
                <a:solidFill>
                  <a:srgbClr val="8FC99A"/>
                </a:solidFill>
                <a:latin typeface="Courier New"/>
              </a:rPr>
              <a:t># tỷ lệ 0–1</a:t>
            </a:r>
          </a:p>
          <a:p>
            <a:r>
              <a:rPr sz="850">
                <a:solidFill>
                  <a:srgbClr val="6B7385"/>
                </a:solidFill>
                <a:latin typeface="Courier New"/>
              </a:rPr>
              <a:t>16 </a:t>
            </a:r>
            <a:r>
              <a:rPr sz="850">
                <a:solidFill>
                  <a:srgbClr val="E6EAF0"/>
                </a:solidFill>
                <a:latin typeface="Courier New"/>
              </a:rPr>
              <a:t>smape_m4 = tl * 200                               </a:t>
            </a:r>
            <a:r>
              <a:rPr sz="850">
                <a:solidFill>
                  <a:srgbClr val="8FC99A"/>
                </a:solidFill>
                <a:latin typeface="Courier New"/>
              </a:rPr>
              <a:t># về thang 0–200 của M4</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buoi-14/dap-an/danh_gia.py</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6C4AB6"/>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3–5</a:t>
            </a:r>
          </a:p>
        </p:txBody>
      </p:sp>
      <p:sp>
        <p:nvSpPr>
          <p:cNvPr id="11" name="TextBox 10"/>
          <p:cNvSpPr txBox="1"/>
          <p:nvPr/>
        </p:nvSpPr>
        <p:spPr>
          <a:xfrm>
            <a:off x="1353312" y="4634357"/>
            <a:ext cx="2697480" cy="457200"/>
          </a:xfrm>
          <a:prstGeom prst="rect">
            <a:avLst/>
          </a:prstGeom>
          <a:noFill/>
        </p:spPr>
        <p:txBody>
          <a:bodyPr wrap="square" lIns="0" rIns="0" tIns="0" bIns="0" anchor="t">
            <a:spAutoFit/>
          </a:bodyPr>
          <a:lstStyle/>
          <a:p>
            <a:pPr algn="l"/>
            <a:r>
              <a:rPr sz="1050" b="0" i="0">
                <a:solidFill>
                  <a:srgbClr val="1B2A41"/>
                </a:solidFill>
                <a:latin typeface="Arial"/>
              </a:rPr>
              <a:t>Bỏ ô không tính được nhưng đếm để báo.</a:t>
            </a:r>
          </a:p>
        </p:txBody>
      </p:sp>
      <p:sp>
        <p:nvSpPr>
          <p:cNvPr id="12" name="Rounded Rectangle 11"/>
          <p:cNvSpPr/>
          <p:nvPr/>
        </p:nvSpPr>
        <p:spPr>
          <a:xfrm>
            <a:off x="548640" y="51098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6</a:t>
            </a:r>
          </a:p>
        </p:txBody>
      </p:sp>
      <p:sp>
        <p:nvSpPr>
          <p:cNvPr id="13" name="TextBox 12"/>
          <p:cNvSpPr txBox="1"/>
          <p:nvPr/>
        </p:nvSpPr>
        <p:spPr>
          <a:xfrm>
            <a:off x="1353312" y="5091557"/>
            <a:ext cx="2697480" cy="457200"/>
          </a:xfrm>
          <a:prstGeom prst="rect">
            <a:avLst/>
          </a:prstGeom>
          <a:noFill/>
        </p:spPr>
        <p:txBody>
          <a:bodyPr wrap="square" lIns="0" rIns="0" tIns="0" bIns="0" anchor="t">
            <a:spAutoFit/>
          </a:bodyPr>
          <a:lstStyle/>
          <a:p>
            <a:pPr algn="l"/>
            <a:r>
              <a:rPr sz="1050" b="0" i="0">
                <a:solidFill>
                  <a:srgbClr val="1B2A41"/>
                </a:solidFill>
                <a:latin typeface="Arial"/>
              </a:rPr>
              <a:t>Gộp bằng trung vị và cả trung bình.</a:t>
            </a:r>
          </a:p>
        </p:txBody>
      </p:sp>
      <p:sp>
        <p:nvSpPr>
          <p:cNvPr id="14" name="Rounded Rectangle 13"/>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8–12</a:t>
            </a:r>
          </a:p>
        </p:txBody>
      </p:sp>
      <p:sp>
        <p:nvSpPr>
          <p:cNvPr id="15" name="TextBox 14"/>
          <p:cNvSpPr txBox="1"/>
          <p:nvPr/>
        </p:nvSpPr>
        <p:spPr>
          <a:xfrm>
            <a:off x="4965192" y="4634357"/>
            <a:ext cx="2697480" cy="457200"/>
          </a:xfrm>
          <a:prstGeom prst="rect">
            <a:avLst/>
          </a:prstGeom>
          <a:noFill/>
        </p:spPr>
        <p:txBody>
          <a:bodyPr wrap="square" lIns="0" rIns="0" tIns="0" bIns="0" anchor="t">
            <a:spAutoFit/>
          </a:bodyPr>
          <a:lstStyle/>
          <a:p>
            <a:pPr algn="l"/>
            <a:r>
              <a:rPr sz="1050" b="0" i="0">
                <a:solidFill>
                  <a:srgbClr val="1B2A41"/>
                </a:solidFill>
                <a:latin typeface="Arial"/>
              </a:rPr>
              <a:t>Xếp hạng mô hình theo từng chỉ số.</a:t>
            </a:r>
          </a:p>
        </p:txBody>
      </p:sp>
      <p:sp>
        <p:nvSpPr>
          <p:cNvPr id="16" name="Rounded Rectangle 15"/>
          <p:cNvSpPr/>
          <p:nvPr/>
        </p:nvSpPr>
        <p:spPr>
          <a:xfrm>
            <a:off x="4160520" y="51098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15–16</a:t>
            </a:r>
          </a:p>
        </p:txBody>
      </p:sp>
      <p:sp>
        <p:nvSpPr>
          <p:cNvPr id="17" name="TextBox 16"/>
          <p:cNvSpPr txBox="1"/>
          <p:nvPr/>
        </p:nvSpPr>
        <p:spPr>
          <a:xfrm>
            <a:off x="4965192" y="5091557"/>
            <a:ext cx="2697480" cy="457200"/>
          </a:xfrm>
          <a:prstGeom prst="rect">
            <a:avLst/>
          </a:prstGeom>
          <a:noFill/>
        </p:spPr>
        <p:txBody>
          <a:bodyPr wrap="square" lIns="0" rIns="0" tIns="0" bIns="0" anchor="t">
            <a:spAutoFit/>
          </a:bodyPr>
          <a:lstStyle/>
          <a:p>
            <a:pPr algn="l"/>
            <a:r>
              <a:rPr sz="1050" b="0" i="0">
                <a:solidFill>
                  <a:srgbClr val="1B2A41"/>
                </a:solidFill>
                <a:latin typeface="Arial"/>
              </a:rPr>
              <a:t>Thư viện trả tỷ lệ, nhân 200 mới ra M4.</a:t>
            </a:r>
          </a:p>
        </p:txBody>
      </p:sp>
      <p:sp>
        <p:nvSpPr>
          <p:cNvPr id="18" name="Rounded Rectangle 17"/>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Bán lẻ 300 mã: hạng nhất đổi theo chỉ số (naive theo MAE, seasonal naive theo sMAPE). sMAPE tự viết 3,59, utilsforecast 0,0179: lệch 200 lần.</a:t>
            </a:r>
          </a:p>
        </p:txBody>
      </p:sp>
      <p:sp>
        <p:nvSpPr>
          <p:cNvPr id="20" name="TextBox 19"/>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6C4AB6"/>
                </a:solidFill>
                <a:latin typeface="Arial"/>
              </a:rPr>
              <a:t>Thư viện và hàm</a:t>
            </a:r>
          </a:p>
        </p:txBody>
      </p:sp>
      <p:sp>
        <p:nvSpPr>
          <p:cNvPr id="21" name="TextBox 20"/>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np.isfinite</a:t>
            </a:r>
            <a:r>
              <a:rPr sz="950" b="1" i="0">
                <a:solidFill>
                  <a:srgbClr val="5B6778"/>
                </a:solidFill>
                <a:latin typeface="Arial"/>
              </a:rPr>
              <a:t>   numpy</a:t>
            </a:r>
          </a:p>
        </p:txBody>
      </p:sp>
      <p:sp>
        <p:nvSpPr>
          <p:cNvPr id="22" name="TextBox 21"/>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Đánh dấu ô là số bình thường, loại vô hạn và NaN.</a:t>
            </a:r>
          </a:p>
        </p:txBody>
      </p:sp>
      <p:sp>
        <p:nvSpPr>
          <p:cNvPr id="23" name="TextBox 22"/>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rank(method="min")</a:t>
            </a:r>
            <a:r>
              <a:rPr sz="950" b="1" i="0">
                <a:solidFill>
                  <a:srgbClr val="5B6778"/>
                </a:solidFill>
                <a:latin typeface="Arial"/>
              </a:rPr>
              <a:t>   pandas</a:t>
            </a:r>
          </a:p>
        </p:txBody>
      </p:sp>
      <p:sp>
        <p:nvSpPr>
          <p:cNvPr id="24" name="TextBox 23"/>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Đổi giá trị thành thứ hạng, 1 là nhỏ nhất; bằng nhau cùng hạng.</a:t>
            </a:r>
          </a:p>
        </p:txBody>
      </p:sp>
      <p:sp>
        <p:nvSpPr>
          <p:cNvPr id="25" name="TextBox 24"/>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utilsforecast.losses.smape</a:t>
            </a:r>
            <a:r>
              <a:rPr sz="950" b="1" i="0">
                <a:solidFill>
                  <a:srgbClr val="5B6778"/>
                </a:solidFill>
                <a:latin typeface="Arial"/>
              </a:rPr>
              <a:t>   utilsforecast</a:t>
            </a:r>
          </a:p>
        </p:txBody>
      </p:sp>
      <p:sp>
        <p:nvSpPr>
          <p:cNvPr id="26" name="TextBox 25"/>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Tính sMAPE trên bảng dạng dài; trả tỷ lệ 0–1, không phải phần trăm.</a:t>
            </a:r>
          </a:p>
        </p:txBody>
      </p:sp>
      <p:pic>
        <p:nvPicPr>
          <p:cNvPr id="27" name="Picture 26" descr="doi-chi-so-doi-hang.png"/>
          <p:cNvPicPr>
            <a:picLocks noChangeAspect="1"/>
          </p:cNvPicPr>
          <p:nvPr/>
        </p:nvPicPr>
        <p:blipFill>
          <a:blip r:embed="rId2"/>
          <a:stretch>
            <a:fillRect/>
          </a:stretch>
        </p:blipFill>
        <p:spPr>
          <a:xfrm>
            <a:off x="7863840" y="4670472"/>
            <a:ext cx="3776472" cy="1220374"/>
          </a:xfrm>
          <a:prstGeom prst="rect">
            <a:avLst/>
          </a:prstGeom>
        </p:spPr>
      </p:pic>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D</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K-fold xáo trộn so với hold-out</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6C4AB6"/>
                </a:solidFill>
                <a:latin typeface="Arial"/>
              </a:rPr>
              <a:t>Buổi 15</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Đo bằng số xem chia ngẫu nhiên hứa sai số thấp hơn thật bao nhiêu.</a:t>
            </a:r>
          </a:p>
        </p:txBody>
      </p:sp>
      <p:sp>
        <p:nvSpPr>
          <p:cNvPr id="6" name="Rounded Rectangle 5"/>
          <p:cNvSpPr/>
          <p:nvPr/>
        </p:nvSpPr>
        <p:spPr>
          <a:xfrm>
            <a:off x="548640" y="1737360"/>
            <a:ext cx="7086600" cy="2597912"/>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277872"/>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numpy as np</a:t>
            </a:r>
          </a:p>
          <a:p>
            <a:r>
              <a:rPr sz="950">
                <a:solidFill>
                  <a:srgbClr val="6B7385"/>
                </a:solidFill>
                <a:latin typeface="Courier New"/>
              </a:rPr>
              <a:t> 2 </a:t>
            </a:r>
            <a:r>
              <a:rPr sz="950">
                <a:solidFill>
                  <a:srgbClr val="E6EAF0"/>
                </a:solidFill>
                <a:latin typeface="Courier New"/>
              </a:rPr>
              <a:t>import pandas as pd</a:t>
            </a:r>
          </a:p>
          <a:p>
            <a:r>
              <a:rPr sz="950">
                <a:solidFill>
                  <a:srgbClr val="6B7385"/>
                </a:solidFill>
                <a:latin typeface="Courier New"/>
              </a:rPr>
              <a:t> 3 </a:t>
            </a:r>
            <a:r>
              <a:rPr sz="950">
                <a:solidFill>
                  <a:srgbClr val="E6EAF0"/>
                </a:solidFill>
                <a:latin typeface="Courier New"/>
              </a:rPr>
              <a:t>from sklearn.model_selection import KFold</a:t>
            </a:r>
          </a:p>
          <a:p>
            <a:r>
              <a:rPr sz="950">
                <a:solidFill>
                  <a:srgbClr val="6B7385"/>
                </a:solidFill>
                <a:latin typeface="Courier New"/>
              </a:rPr>
              <a:t> 4 </a:t>
            </a:r>
          </a:p>
          <a:p>
            <a:r>
              <a:rPr sz="950">
                <a:solidFill>
                  <a:srgbClr val="6B7385"/>
                </a:solidFill>
                <a:latin typeface="Courier New"/>
              </a:rPr>
              <a:t> 5 </a:t>
            </a:r>
            <a:r>
              <a:rPr sz="950">
                <a:solidFill>
                  <a:srgbClr val="E6EAF0"/>
                </a:solidFill>
                <a:latin typeface="Courier New"/>
              </a:rPr>
              <a:t>moc = pd.Timestamp("2024-10-01")                  </a:t>
            </a:r>
            <a:r>
              <a:rPr sz="950">
                <a:solidFill>
                  <a:srgbClr val="8FC99A"/>
                </a:solidFill>
                <a:latin typeface="Courier New"/>
              </a:rPr>
              <a:t># hold-out: 3 tháng cuối</a:t>
            </a:r>
          </a:p>
          <a:p>
            <a:r>
              <a:rPr sz="950">
                <a:solidFill>
                  <a:srgbClr val="6B7385"/>
                </a:solidFill>
                <a:latin typeface="Courier New"/>
              </a:rPr>
              <a:t> 6 </a:t>
            </a:r>
            <a:r>
              <a:rPr sz="950">
                <a:solidFill>
                  <a:srgbClr val="E6EAF0"/>
                </a:solidFill>
                <a:latin typeface="Courier New"/>
              </a:rPr>
              <a:t>bang = bang_feature(y).assign(y=y).dropna()       </a:t>
            </a:r>
            <a:r>
              <a:rPr sz="950">
                <a:solidFill>
                  <a:srgbClr val="8FC99A"/>
                </a:solidFill>
                <a:latin typeface="Courier New"/>
              </a:rPr>
              <a:t># lag ≥ 24 giờ + lịch</a:t>
            </a:r>
          </a:p>
          <a:p>
            <a:r>
              <a:rPr sz="950">
                <a:solidFill>
                  <a:srgbClr val="6B7385"/>
                </a:solidFill>
                <a:latin typeface="Courier New"/>
              </a:rPr>
              <a:t> 7 </a:t>
            </a:r>
            <a:r>
              <a:rPr sz="950">
                <a:solidFill>
                  <a:srgbClr val="E6EAF0"/>
                </a:solidFill>
                <a:latin typeface="Courier New"/>
              </a:rPr>
              <a:t>hoc, kiem = bang[bang.index &lt; moc], bang[bang.index &gt;= moc]</a:t>
            </a:r>
          </a:p>
          <a:p>
            <a:r>
              <a:rPr sz="950">
                <a:solidFill>
                  <a:srgbClr val="6B7385"/>
                </a:solidFill>
                <a:latin typeface="Courier New"/>
              </a:rPr>
              <a:t> 8 </a:t>
            </a:r>
            <a:r>
              <a:rPr sz="950">
                <a:solidFill>
                  <a:srgbClr val="E6EAF0"/>
                </a:solidFill>
                <a:latin typeface="Courier New"/>
              </a:rPr>
              <a:t>X, t = hoc.drop(columns="y"), hoc["y"]</a:t>
            </a:r>
          </a:p>
          <a:p>
            <a:r>
              <a:rPr sz="950">
                <a:solidFill>
                  <a:srgbClr val="6B7385"/>
                </a:solidFill>
                <a:latin typeface="Courier New"/>
              </a:rPr>
              <a:t> 9 </a:t>
            </a:r>
            <a:r>
              <a:rPr sz="950">
                <a:solidFill>
                  <a:srgbClr val="E6EAF0"/>
                </a:solidFill>
                <a:latin typeface="Courier New"/>
              </a:rPr>
              <a:t>loi = []</a:t>
            </a:r>
          </a:p>
          <a:p>
            <a:r>
              <a:rPr sz="950">
                <a:solidFill>
                  <a:srgbClr val="6B7385"/>
                </a:solidFill>
                <a:latin typeface="Courier New"/>
              </a:rPr>
              <a:t>10 </a:t>
            </a:r>
            <a:r>
              <a:rPr sz="950">
                <a:solidFill>
                  <a:srgbClr val="E6EAF0"/>
                </a:solidFill>
                <a:latin typeface="Courier New"/>
              </a:rPr>
              <a:t>for a, b in KFold(5, shuffle=True, random_state=0).split(X):  </a:t>
            </a:r>
            <a:r>
              <a:rPr sz="950">
                <a:solidFill>
                  <a:srgbClr val="8FC99A"/>
                </a:solidFill>
                <a:latin typeface="Courier New"/>
              </a:rPr>
              <a:t># XÁO TRỘN</a:t>
            </a:r>
          </a:p>
          <a:p>
            <a:r>
              <a:rPr sz="950">
                <a:solidFill>
                  <a:srgbClr val="6B7385"/>
                </a:solidFill>
                <a:latin typeface="Courier New"/>
              </a:rPr>
              <a:t>11 </a:t>
            </a:r>
            <a:r>
              <a:rPr sz="950">
                <a:solidFill>
                  <a:srgbClr val="E6EAF0"/>
                </a:solidFill>
                <a:latin typeface="Courier New"/>
              </a:rPr>
              <a:t>    mo_hinh = tao_rung().fit(X.iloc[a], t.iloc[a])</a:t>
            </a:r>
          </a:p>
          <a:p>
            <a:r>
              <a:rPr sz="950">
                <a:solidFill>
                  <a:srgbClr val="6B7385"/>
                </a:solidFill>
                <a:latin typeface="Courier New"/>
              </a:rPr>
              <a:t>12 </a:t>
            </a:r>
            <a:r>
              <a:rPr sz="950">
                <a:solidFill>
                  <a:srgbClr val="E6EAF0"/>
                </a:solidFill>
                <a:latin typeface="Courier New"/>
              </a:rPr>
              <a:t>    loi.append(_mae(mo_hinh.predict(X.iloc[b]), t.iloc[b]))</a:t>
            </a:r>
          </a:p>
          <a:p>
            <a:r>
              <a:rPr sz="950">
                <a:solidFill>
                  <a:srgbClr val="6B7385"/>
                </a:solidFill>
                <a:latin typeface="Courier New"/>
              </a:rPr>
              <a:t>13 </a:t>
            </a:r>
            <a:r>
              <a:rPr sz="950">
                <a:solidFill>
                  <a:srgbClr val="E6EAF0"/>
                </a:solidFill>
                <a:latin typeface="Courier New"/>
              </a:rPr>
              <a:t>mae_kfold = float(np.mean(loi))</a:t>
            </a:r>
          </a:p>
          <a:p>
            <a:r>
              <a:rPr sz="950">
                <a:solidFill>
                  <a:srgbClr val="6B7385"/>
                </a:solidFill>
                <a:latin typeface="Courier New"/>
              </a:rPr>
              <a:t>14 </a:t>
            </a:r>
            <a:r>
              <a:rPr sz="950">
                <a:solidFill>
                  <a:srgbClr val="E6EAF0"/>
                </a:solidFill>
                <a:latin typeface="Courier New"/>
              </a:rPr>
              <a:t>mo_hinh = tao_rung().fit(X, t)                    </a:t>
            </a:r>
            <a:r>
              <a:rPr sz="950">
                <a:solidFill>
                  <a:srgbClr val="8FC99A"/>
                </a:solidFill>
                <a:latin typeface="Courier New"/>
              </a:rPr>
              <a:t># học một lần trên quá khứ</a:t>
            </a:r>
          </a:p>
          <a:p>
            <a:r>
              <a:rPr sz="950">
                <a:solidFill>
                  <a:srgbClr val="6B7385"/>
                </a:solidFill>
                <a:latin typeface="Courier New"/>
              </a:rPr>
              <a:t>15 </a:t>
            </a:r>
            <a:r>
              <a:rPr sz="950">
                <a:solidFill>
                  <a:srgbClr val="E6EAF0"/>
                </a:solidFill>
                <a:latin typeface="Courier New"/>
              </a:rPr>
              <a:t>mae_that = _mae(mo_hinh.predict(kiem.drop(columns="y")), kiem["y"])</a:t>
            </a:r>
          </a:p>
        </p:txBody>
      </p:sp>
      <p:sp>
        <p:nvSpPr>
          <p:cNvPr id="8" name="TextBox 7"/>
          <p:cNvSpPr txBox="1"/>
          <p:nvPr/>
        </p:nvSpPr>
        <p:spPr>
          <a:xfrm>
            <a:off x="685800" y="4088384"/>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buoi-15/dap-an/backtest.py</a:t>
            </a:r>
          </a:p>
        </p:txBody>
      </p:sp>
      <p:sp>
        <p:nvSpPr>
          <p:cNvPr id="9" name="TextBox 8"/>
          <p:cNvSpPr txBox="1"/>
          <p:nvPr/>
        </p:nvSpPr>
        <p:spPr>
          <a:xfrm>
            <a:off x="548640" y="4445000"/>
            <a:ext cx="7086600" cy="274320"/>
          </a:xfrm>
          <a:prstGeom prst="rect">
            <a:avLst/>
          </a:prstGeom>
          <a:noFill/>
        </p:spPr>
        <p:txBody>
          <a:bodyPr wrap="square" lIns="0" rIns="0" tIns="0" bIns="0" anchor="t">
            <a:spAutoFit/>
          </a:bodyPr>
          <a:lstStyle/>
          <a:p>
            <a:pPr algn="l"/>
            <a:r>
              <a:rPr sz="1300" b="1" i="0">
                <a:solidFill>
                  <a:srgbClr val="6C4AB6"/>
                </a:solidFill>
                <a:latin typeface="Arial"/>
              </a:rPr>
              <a:t>Từng bước</a:t>
            </a:r>
          </a:p>
        </p:txBody>
      </p:sp>
      <p:sp>
        <p:nvSpPr>
          <p:cNvPr id="10" name="Rounded Rectangle 9"/>
          <p:cNvSpPr/>
          <p:nvPr/>
        </p:nvSpPr>
        <p:spPr>
          <a:xfrm>
            <a:off x="54864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5</a:t>
            </a:r>
          </a:p>
        </p:txBody>
      </p:sp>
      <p:sp>
        <p:nvSpPr>
          <p:cNvPr id="11" name="TextBox 10"/>
          <p:cNvSpPr txBox="1"/>
          <p:nvPr/>
        </p:nvSpPr>
        <p:spPr>
          <a:xfrm>
            <a:off x="1353312" y="4746752"/>
            <a:ext cx="2697480" cy="457200"/>
          </a:xfrm>
          <a:prstGeom prst="rect">
            <a:avLst/>
          </a:prstGeom>
          <a:noFill/>
        </p:spPr>
        <p:txBody>
          <a:bodyPr wrap="square" lIns="0" rIns="0" tIns="0" bIns="0" anchor="t">
            <a:spAutoFit/>
          </a:bodyPr>
          <a:lstStyle/>
          <a:p>
            <a:pPr algn="l"/>
            <a:r>
              <a:rPr sz="1050" b="0" i="0">
                <a:solidFill>
                  <a:srgbClr val="1B2A41"/>
                </a:solidFill>
                <a:latin typeface="Arial"/>
              </a:rPr>
              <a:t>Để riêng 3 tháng cuối năm 2024 làm hold-out.</a:t>
            </a:r>
          </a:p>
        </p:txBody>
      </p:sp>
      <p:sp>
        <p:nvSpPr>
          <p:cNvPr id="12" name="Rounded Rectangle 11"/>
          <p:cNvSpPr/>
          <p:nvPr/>
        </p:nvSpPr>
        <p:spPr>
          <a:xfrm>
            <a:off x="548640" y="52222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6–8</a:t>
            </a:r>
          </a:p>
        </p:txBody>
      </p:sp>
      <p:sp>
        <p:nvSpPr>
          <p:cNvPr id="13" name="TextBox 12"/>
          <p:cNvSpPr txBox="1"/>
          <p:nvPr/>
        </p:nvSpPr>
        <p:spPr>
          <a:xfrm>
            <a:off x="1353312" y="5203952"/>
            <a:ext cx="2697480" cy="457200"/>
          </a:xfrm>
          <a:prstGeom prst="rect">
            <a:avLst/>
          </a:prstGeom>
          <a:noFill/>
        </p:spPr>
        <p:txBody>
          <a:bodyPr wrap="square" lIns="0" rIns="0" tIns="0" bIns="0" anchor="t">
            <a:spAutoFit/>
          </a:bodyPr>
          <a:lstStyle/>
          <a:p>
            <a:pPr algn="l"/>
            <a:r>
              <a:rPr sz="1050" b="0" i="0">
                <a:solidFill>
                  <a:srgbClr val="1B2A41"/>
                </a:solidFill>
                <a:latin typeface="Arial"/>
              </a:rPr>
              <a:t>Feature lag ≥ 24 giờ, chỉ phần trước mốc.</a:t>
            </a:r>
          </a:p>
        </p:txBody>
      </p:sp>
      <p:sp>
        <p:nvSpPr>
          <p:cNvPr id="14" name="Rounded Rectangle 13"/>
          <p:cNvSpPr/>
          <p:nvPr/>
        </p:nvSpPr>
        <p:spPr>
          <a:xfrm>
            <a:off x="416052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10–13</a:t>
            </a:r>
          </a:p>
        </p:txBody>
      </p:sp>
      <p:sp>
        <p:nvSpPr>
          <p:cNvPr id="15" name="TextBox 14"/>
          <p:cNvSpPr txBox="1"/>
          <p:nvPr/>
        </p:nvSpPr>
        <p:spPr>
          <a:xfrm>
            <a:off x="4965192" y="4746752"/>
            <a:ext cx="2697480" cy="457200"/>
          </a:xfrm>
          <a:prstGeom prst="rect">
            <a:avLst/>
          </a:prstGeom>
          <a:noFill/>
        </p:spPr>
        <p:txBody>
          <a:bodyPr wrap="square" lIns="0" rIns="0" tIns="0" bIns="0" anchor="t">
            <a:spAutoFit/>
          </a:bodyPr>
          <a:lstStyle/>
          <a:p>
            <a:pPr algn="l"/>
            <a:r>
              <a:rPr sz="1050" b="0" i="0">
                <a:solidFill>
                  <a:srgbClr val="1B2A41"/>
                </a:solidFill>
                <a:latin typeface="Arial"/>
              </a:rPr>
              <a:t>K-fold xáo trộn: điểm kiểm xen giữa điểm học.</a:t>
            </a:r>
          </a:p>
        </p:txBody>
      </p:sp>
      <p:sp>
        <p:nvSpPr>
          <p:cNvPr id="16" name="Rounded Rectangle 15"/>
          <p:cNvSpPr/>
          <p:nvPr/>
        </p:nvSpPr>
        <p:spPr>
          <a:xfrm>
            <a:off x="4160520" y="52222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14–15</a:t>
            </a:r>
          </a:p>
        </p:txBody>
      </p:sp>
      <p:sp>
        <p:nvSpPr>
          <p:cNvPr id="17" name="TextBox 16"/>
          <p:cNvSpPr txBox="1"/>
          <p:nvPr/>
        </p:nvSpPr>
        <p:spPr>
          <a:xfrm>
            <a:off x="4965192" y="5203952"/>
            <a:ext cx="2697480" cy="457200"/>
          </a:xfrm>
          <a:prstGeom prst="rect">
            <a:avLst/>
          </a:prstGeom>
          <a:noFill/>
        </p:spPr>
        <p:txBody>
          <a:bodyPr wrap="square" lIns="0" rIns="0" tIns="0" bIns="0" anchor="t">
            <a:spAutoFit/>
          </a:bodyPr>
          <a:lstStyle/>
          <a:p>
            <a:pPr algn="l"/>
            <a:r>
              <a:rPr sz="1050" b="0" i="0">
                <a:solidFill>
                  <a:srgbClr val="1B2A41"/>
                </a:solidFill>
                <a:latin typeface="Arial"/>
              </a:rPr>
              <a:t>Học trên quá khứ, chấm trên 3 tháng sau.</a:t>
            </a:r>
          </a:p>
        </p:txBody>
      </p:sp>
      <p:sp>
        <p:nvSpPr>
          <p:cNvPr id="18" name="Rounded Rectangle 17"/>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Rừng ngẫu nhiên: K-fold hứa 1.639 MW, hold-out thật 2.129 MW, lệch −23,0%. Hồi quy tuyến tính lệch −11,8%.</a:t>
            </a:r>
          </a:p>
        </p:txBody>
      </p:sp>
      <p:sp>
        <p:nvSpPr>
          <p:cNvPr id="20" name="TextBox 19"/>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6C4AB6"/>
                </a:solidFill>
                <a:latin typeface="Arial"/>
              </a:rPr>
              <a:t>Thư viện và hàm</a:t>
            </a:r>
          </a:p>
        </p:txBody>
      </p:sp>
      <p:sp>
        <p:nvSpPr>
          <p:cNvPr id="21" name="TextBox 20"/>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KFold(5, shuffle=True)</a:t>
            </a:r>
            <a:r>
              <a:rPr sz="950" b="1" i="0">
                <a:solidFill>
                  <a:srgbClr val="5B6778"/>
                </a:solidFill>
                <a:latin typeface="Arial"/>
              </a:rPr>
              <a:t>   sklearn</a:t>
            </a:r>
          </a:p>
        </p:txBody>
      </p:sp>
      <p:sp>
        <p:nvSpPr>
          <p:cNvPr id="22" name="TextBox 21"/>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Xáo trộn rồi chia 5 phần, lần lượt lấy một phần làm kiểm.</a:t>
            </a:r>
          </a:p>
        </p:txBody>
      </p:sp>
      <p:sp>
        <p:nvSpPr>
          <p:cNvPr id="23" name="TextBox 22"/>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tao_rung().fit / predict</a:t>
            </a:r>
            <a:r>
              <a:rPr sz="950" b="1" i="0">
                <a:solidFill>
                  <a:srgbClr val="5B6778"/>
                </a:solidFill>
                <a:latin typeface="Arial"/>
              </a:rPr>
              <a:t>   sklearn</a:t>
            </a:r>
          </a:p>
        </p:txBody>
      </p:sp>
      <p:sp>
        <p:nvSpPr>
          <p:cNvPr id="24" name="TextBox 23"/>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Rừng ngẫu nhiên 200 cây: học trên phần học, rồi dự báo.</a:t>
            </a:r>
          </a:p>
        </p:txBody>
      </p:sp>
      <p:sp>
        <p:nvSpPr>
          <p:cNvPr id="25" name="TextBox 24"/>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_mae</a:t>
            </a:r>
            <a:r>
              <a:rPr sz="950" b="1" i="0">
                <a:solidFill>
                  <a:srgbClr val="5B6778"/>
                </a:solidFill>
                <a:latin typeface="Arial"/>
              </a:rPr>
              <a:t>   tự viết</a:t>
            </a:r>
          </a:p>
        </p:txBody>
      </p:sp>
      <p:sp>
        <p:nvSpPr>
          <p:cNvPr id="26" name="TextBox 25"/>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Trung bình độ lớn sai số giữa dự báo và thực tế, đơn vị MW.</a:t>
            </a:r>
          </a:p>
        </p:txBody>
      </p:sp>
      <p:pic>
        <p:nvPicPr>
          <p:cNvPr id="27" name="Picture 26" descr="ba-cach-chia.png"/>
          <p:cNvPicPr>
            <a:picLocks noChangeAspect="1"/>
          </p:cNvPicPr>
          <p:nvPr/>
        </p:nvPicPr>
        <p:blipFill>
          <a:blip r:embed="rId2"/>
          <a:stretch>
            <a:fillRect/>
          </a:stretch>
        </p:blipFill>
        <p:spPr>
          <a:xfrm>
            <a:off x="7863840" y="4413263"/>
            <a:ext cx="3776472" cy="1734793"/>
          </a:xfrm>
          <a:prstGeom prst="rect">
            <a:avLst/>
          </a:prstGeom>
        </p:spPr>
      </p:pic>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D</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bộ backtest rolling origin</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6C4AB6"/>
                </a:solidFill>
                <a:latin typeface="Arial"/>
              </a:rPr>
              <a:t>Buổi 15</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Tự viết bộ backtest: nhiều cutoff, mỗi lần chỉ học trên quá khứ rồi dự báo.</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import pandas as pd</a:t>
            </a:r>
          </a:p>
          <a:p>
            <a:r>
              <a:rPr sz="850">
                <a:solidFill>
                  <a:srgbClr val="6B7385"/>
                </a:solidFill>
                <a:latin typeface="Courier New"/>
              </a:rPr>
              <a:t> 3 </a:t>
            </a:r>
            <a:r>
              <a:rPr sz="850">
                <a:solidFill>
                  <a:srgbClr val="E6EAF0"/>
                </a:solidFill>
                <a:latin typeface="Courier New"/>
              </a:rPr>
              <a:t>def chia_cua_so(df, h, so_cua_so, buoc=None, gap=0):</a:t>
            </a:r>
          </a:p>
          <a:p>
            <a:r>
              <a:rPr sz="850">
                <a:solidFill>
                  <a:srgbClr val="6B7385"/>
                </a:solidFill>
                <a:latin typeface="Courier New"/>
              </a:rPr>
              <a:t> 4 </a:t>
            </a:r>
            <a:r>
              <a:rPr sz="850">
                <a:solidFill>
                  <a:srgbClr val="E6EAF0"/>
                </a:solidFill>
                <a:latin typeface="Courier New"/>
              </a:rPr>
              <a:t>    buoc = h if buoc is None else buoc</a:t>
            </a:r>
          </a:p>
          <a:p>
            <a:r>
              <a:rPr sz="850">
                <a:solidFill>
                  <a:srgbClr val="6B7385"/>
                </a:solidFill>
                <a:latin typeface="Courier New"/>
              </a:rPr>
              <a:t> 5 </a:t>
            </a:r>
            <a:r>
              <a:rPr sz="850">
                <a:solidFill>
                  <a:srgbClr val="E6EAF0"/>
                </a:solidFill>
                <a:latin typeface="Courier New"/>
              </a:rPr>
              <a:t>    truc = np.sort(df["ds"].unique())</a:t>
            </a:r>
          </a:p>
          <a:p>
            <a:r>
              <a:rPr sz="850">
                <a:solidFill>
                  <a:srgbClr val="6B7385"/>
                </a:solidFill>
                <a:latin typeface="Courier New"/>
              </a:rPr>
              <a:t> 6 </a:t>
            </a:r>
            <a:r>
              <a:rPr sz="850">
                <a:solidFill>
                  <a:srgbClr val="E6EAF0"/>
                </a:solidFill>
                <a:latin typeface="Courier New"/>
              </a:rPr>
              <a:t>    cuoi = len(truc) - 1 - gap - h              </a:t>
            </a:r>
            <a:r>
              <a:rPr sz="850">
                <a:solidFill>
                  <a:srgbClr val="8FC99A"/>
                </a:solidFill>
                <a:latin typeface="Courier New"/>
              </a:rPr>
              <a:t># cutoff cửa sổ cuối</a:t>
            </a:r>
          </a:p>
          <a:p>
            <a:r>
              <a:rPr sz="850">
                <a:solidFill>
                  <a:srgbClr val="6B7385"/>
                </a:solidFill>
                <a:latin typeface="Courier New"/>
              </a:rPr>
              <a:t> 7 </a:t>
            </a:r>
            <a:r>
              <a:rPr sz="850">
                <a:solidFill>
                  <a:srgbClr val="E6EAF0"/>
                </a:solidFill>
                <a:latin typeface="Courier New"/>
              </a:rPr>
              <a:t>    return [(truc[c], truc[c + gap + 1], truc[c + gap + h])</a:t>
            </a:r>
          </a:p>
          <a:p>
            <a:r>
              <a:rPr sz="850">
                <a:solidFill>
                  <a:srgbClr val="6B7385"/>
                </a:solidFill>
                <a:latin typeface="Courier New"/>
              </a:rPr>
              <a:t> 8 </a:t>
            </a:r>
            <a:r>
              <a:rPr sz="850">
                <a:solidFill>
                  <a:srgbClr val="E6EAF0"/>
                </a:solidFill>
                <a:latin typeface="Courier New"/>
              </a:rPr>
              <a:t>            for c in range(cuoi - buoc * (so_cua_so - 1), cuoi + 1, buoc)]</a:t>
            </a:r>
          </a:p>
          <a:p>
            <a:r>
              <a:rPr sz="850">
                <a:solidFill>
                  <a:srgbClr val="6B7385"/>
                </a:solidFill>
                <a:latin typeface="Courier New"/>
              </a:rPr>
              <a:t> 9 </a:t>
            </a:r>
            <a:r>
              <a:rPr sz="850">
                <a:solidFill>
                  <a:srgbClr val="E6EAF0"/>
                </a:solidFill>
                <a:latin typeface="Courier New"/>
              </a:rPr>
              <a:t>def backtest(df, ham_du_bao, h, so_cua_so, buoc=None, gap=0):</a:t>
            </a:r>
          </a:p>
          <a:p>
            <a:r>
              <a:rPr sz="850">
                <a:solidFill>
                  <a:srgbClr val="6B7385"/>
                </a:solidFill>
                <a:latin typeface="Courier New"/>
              </a:rPr>
              <a:t>10 </a:t>
            </a:r>
            <a:r>
              <a:rPr sz="850">
                <a:solidFill>
                  <a:srgbClr val="E6EAF0"/>
                </a:solidFill>
                <a:latin typeface="Courier New"/>
              </a:rPr>
              <a:t>    ket_qua = []</a:t>
            </a:r>
          </a:p>
          <a:p>
            <a:r>
              <a:rPr sz="850">
                <a:solidFill>
                  <a:srgbClr val="6B7385"/>
                </a:solidFill>
                <a:latin typeface="Courier New"/>
              </a:rPr>
              <a:t>11 </a:t>
            </a:r>
            <a:r>
              <a:rPr sz="850">
                <a:solidFill>
                  <a:srgbClr val="E6EAF0"/>
                </a:solidFill>
                <a:latin typeface="Courier New"/>
              </a:rPr>
              <a:t>    for cutoff, bd, kt in chia_cua_so(df, h, so_cua_so, buoc, gap):</a:t>
            </a:r>
          </a:p>
          <a:p>
            <a:r>
              <a:rPr sz="850">
                <a:solidFill>
                  <a:srgbClr val="6B7385"/>
                </a:solidFill>
                <a:latin typeface="Courier New"/>
              </a:rPr>
              <a:t>12 </a:t>
            </a:r>
            <a:r>
              <a:rPr sz="850">
                <a:solidFill>
                  <a:srgbClr val="E6EAF0"/>
                </a:solidFill>
                <a:latin typeface="Courier New"/>
              </a:rPr>
              <a:t>        lich_su = df[df["ds"] &lt;= cutoff]        </a:t>
            </a:r>
            <a:r>
              <a:rPr sz="850">
                <a:solidFill>
                  <a:srgbClr val="8FC99A"/>
                </a:solidFill>
                <a:latin typeface="Courier New"/>
              </a:rPr>
              <a:t># KHÔNG thấy đoạn kiểm</a:t>
            </a:r>
          </a:p>
          <a:p>
            <a:r>
              <a:rPr sz="850">
                <a:solidFill>
                  <a:srgbClr val="6B7385"/>
                </a:solidFill>
                <a:latin typeface="Courier New"/>
              </a:rPr>
              <a:t>13 </a:t>
            </a:r>
            <a:r>
              <a:rPr sz="850">
                <a:solidFill>
                  <a:srgbClr val="E6EAF0"/>
                </a:solidFill>
                <a:latin typeface="Courier New"/>
              </a:rPr>
              <a:t>        test = df[(df["ds"] &gt;= bd) &amp; (df["ds"] &lt;= kt)]</a:t>
            </a:r>
          </a:p>
          <a:p>
            <a:r>
              <a:rPr sz="850">
                <a:solidFill>
                  <a:srgbClr val="6B7385"/>
                </a:solidFill>
                <a:latin typeface="Courier New"/>
              </a:rPr>
              <a:t>14 </a:t>
            </a:r>
            <a:r>
              <a:rPr sz="850">
                <a:solidFill>
                  <a:srgbClr val="E6EAF0"/>
                </a:solidFill>
                <a:latin typeface="Courier New"/>
              </a:rPr>
              <a:t>        du_bao = ham_du_bao(lich_su.copy(), test[["unique_id", "ds"]])</a:t>
            </a:r>
          </a:p>
          <a:p>
            <a:r>
              <a:rPr sz="850">
                <a:solidFill>
                  <a:srgbClr val="6B7385"/>
                </a:solidFill>
                <a:latin typeface="Courier New"/>
              </a:rPr>
              <a:t>15 </a:t>
            </a:r>
            <a:r>
              <a:rPr sz="850">
                <a:solidFill>
                  <a:srgbClr val="E6EAF0"/>
                </a:solidFill>
                <a:latin typeface="Courier New"/>
              </a:rPr>
              <a:t>        ket_qua.append(test.merge(du_bao, on=["unique_id", "ds"]))</a:t>
            </a:r>
          </a:p>
          <a:p>
            <a:r>
              <a:rPr sz="850">
                <a:solidFill>
                  <a:srgbClr val="6B7385"/>
                </a:solidFill>
                <a:latin typeface="Courier New"/>
              </a:rPr>
              <a:t>16 </a:t>
            </a:r>
            <a:r>
              <a:rPr sz="850">
                <a:solidFill>
                  <a:srgbClr val="E6EAF0"/>
                </a:solidFill>
                <a:latin typeface="Courier New"/>
              </a:rPr>
              <a:t>    return pd.concat(ket_qua)</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buoi-15/dap-an/backtest.py</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6C4AB6"/>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6</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Cửa sổ cuối kết thúc đúng ở mốc cuối.</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7–8</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Lùi đều từng buoc; gap bỏ trống sau cutoff.</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12</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Hàm dự báo chỉ nhận dòng tới cutoff.</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13–14</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Dự báo đúng các mốc của đoạn kiểm.</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15</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Ghép dự báo với thực tế để chấm.</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Tải ERCOT, 28 cửa sổ 24 giờ: rừng ngẫu nhiên 1.944 MW so với hold-out 2.129 MW (−8,7%). Seasonal naive khớp statsforecast, chênh 0,0.</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6C4AB6"/>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np.sort(df["ds"].unique())</a:t>
            </a:r>
            <a:r>
              <a:rPr sz="950" b="1" i="0">
                <a:solidFill>
                  <a:srgbClr val="5B6778"/>
                </a:solidFill>
                <a:latin typeface="Arial"/>
              </a:rPr>
              <a:t>   numpy, pandas</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Lấy các mốc thời gian khác nhau, xếp tăng dần làm trục.</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merge</a:t>
            </a:r>
            <a:r>
              <a:rPr sz="950" b="1" i="0">
                <a:solidFill>
                  <a:srgbClr val="5B6778"/>
                </a:solidFill>
                <a:latin typeface="Arial"/>
              </a:rPr>
              <a:t>   pandas</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Ghép dự báo với thực tế theo cặp mã chuỗi và mốc thời gian.</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cross_validation</a:t>
            </a:r>
            <a:r>
              <a:rPr sz="950" b="1" i="0">
                <a:solidFill>
                  <a:srgbClr val="5B6778"/>
                </a:solidFill>
                <a:latin typeface="Arial"/>
              </a:rPr>
              <a:t>   statsforecast</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Bản thư viện làm cùng việc nhưng không có gap.</a:t>
            </a:r>
          </a:p>
        </p:txBody>
      </p:sp>
      <p:sp>
        <p:nvSpPr>
          <p:cNvPr id="29" name="Rounded Rectangle 28"/>
          <p:cNvSpPr/>
          <p:nvPr/>
        </p:nvSpPr>
        <p:spPr>
          <a:xfrm>
            <a:off x="7863840" y="4059935"/>
            <a:ext cx="3776472" cy="548640"/>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8a7b78e24cb7.png"/>
          <p:cNvPicPr>
            <a:picLocks noChangeAspect="1"/>
          </p:cNvPicPr>
          <p:nvPr/>
        </p:nvPicPr>
        <p:blipFill>
          <a:blip r:embed="rId2"/>
          <a:stretch>
            <a:fillRect/>
          </a:stretch>
        </p:blipFill>
        <p:spPr>
          <a:xfrm>
            <a:off x="8590788" y="4227575"/>
            <a:ext cx="2322576" cy="213360"/>
          </a:xfrm>
          <a:prstGeom prst="rect">
            <a:avLst/>
          </a:prstGeom>
        </p:spPr>
      </p:pic>
      <p:pic>
        <p:nvPicPr>
          <p:cNvPr id="31" name="Picture 30" descr="uoc-luong-sai-so.png"/>
          <p:cNvPicPr>
            <a:picLocks noChangeAspect="1"/>
          </p:cNvPicPr>
          <p:nvPr/>
        </p:nvPicPr>
        <p:blipFill>
          <a:blip r:embed="rId3"/>
          <a:stretch>
            <a:fillRect/>
          </a:stretch>
        </p:blipFill>
        <p:spPr>
          <a:xfrm>
            <a:off x="7863840" y="4906521"/>
            <a:ext cx="3776472" cy="1406644"/>
          </a:xfrm>
          <a:prstGeom prst="rect">
            <a:avLst/>
          </a:prstGeom>
        </p:spPr>
      </p:pic>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D</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sai số theo cửa sổ và theo h</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6C4AB6"/>
                </a:solidFill>
                <a:latin typeface="Arial"/>
              </a:rPr>
              <a:t>Buổi 15</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Tách một MAE gộp ra từng cửa sổ và từng bước h để thấy nó dao động cỡ nào.</a:t>
            </a:r>
          </a:p>
        </p:txBody>
      </p:sp>
      <p:sp>
        <p:nvSpPr>
          <p:cNvPr id="6" name="Rounded Rectangle 5"/>
          <p:cNvSpPr/>
          <p:nvPr/>
        </p:nvSpPr>
        <p:spPr>
          <a:xfrm>
            <a:off x="548640" y="1737360"/>
            <a:ext cx="7086600" cy="2597912"/>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277872"/>
          </a:xfrm>
          <a:prstGeom prst="rect">
            <a:avLst/>
          </a:prstGeom>
          <a:noFill/>
        </p:spPr>
        <p:txBody>
          <a:bodyPr wrap="none" lIns="0" rIns="0" tIns="0" bIns="0">
            <a:spAutoFit/>
          </a:bodyPr>
          <a:lstStyle/>
          <a:p>
            <a:r>
              <a:rPr sz="950">
                <a:solidFill>
                  <a:srgbClr val="6B7385"/>
                </a:solidFill>
                <a:latin typeface="Courier New"/>
              </a:rPr>
              <a:t> 1 </a:t>
            </a:r>
            <a:r>
              <a:rPr sz="950">
                <a:solidFill>
                  <a:srgbClr val="E6EAF0"/>
                </a:solidFill>
                <a:latin typeface="Courier New"/>
              </a:rPr>
              <a:t>import numpy as np</a:t>
            </a:r>
          </a:p>
          <a:p>
            <a:r>
              <a:rPr sz="950">
                <a:solidFill>
                  <a:srgbClr val="6B7385"/>
                </a:solidFill>
                <a:latin typeface="Courier New"/>
              </a:rPr>
              <a:t> 2 </a:t>
            </a:r>
            <a:r>
              <a:rPr sz="950">
                <a:solidFill>
                  <a:srgbClr val="E6EAF0"/>
                </a:solidFill>
                <a:latin typeface="Courier New"/>
              </a:rPr>
              <a:t>import pandas as pd</a:t>
            </a:r>
          </a:p>
          <a:p>
            <a:r>
              <a:rPr sz="950">
                <a:solidFill>
                  <a:srgbClr val="6B7385"/>
                </a:solidFill>
                <a:latin typeface="Courier New"/>
              </a:rPr>
              <a:t> 3 </a:t>
            </a:r>
          </a:p>
          <a:p>
            <a:r>
              <a:rPr sz="950">
                <a:solidFill>
                  <a:srgbClr val="6B7385"/>
                </a:solidFill>
                <a:latin typeface="Courier New"/>
              </a:rPr>
              <a:t> 4 </a:t>
            </a:r>
            <a:r>
              <a:rPr sz="950">
                <a:solidFill>
                  <a:srgbClr val="E6EAF0"/>
                </a:solidFill>
                <a:latin typeface="Courier New"/>
              </a:rPr>
              <a:t>def _mae(a, b):</a:t>
            </a:r>
          </a:p>
          <a:p>
            <a:r>
              <a:rPr sz="950">
                <a:solidFill>
                  <a:srgbClr val="6B7385"/>
                </a:solidFill>
                <a:latin typeface="Courier New"/>
              </a:rPr>
              <a:t> 5 </a:t>
            </a:r>
            <a:r>
              <a:rPr sz="950">
                <a:solidFill>
                  <a:srgbClr val="E6EAF0"/>
                </a:solidFill>
                <a:latin typeface="Courier New"/>
              </a:rPr>
              <a:t>    return float(np.mean(np.abs(np.asarray(a, float) - np.asarray(b, float))))</a:t>
            </a:r>
          </a:p>
          <a:p>
            <a:r>
              <a:rPr sz="950">
                <a:solidFill>
                  <a:srgbClr val="6B7385"/>
                </a:solidFill>
                <a:latin typeface="Courier New"/>
              </a:rPr>
              <a:t> 6 </a:t>
            </a:r>
          </a:p>
          <a:p>
            <a:r>
              <a:rPr sz="950">
                <a:solidFill>
                  <a:srgbClr val="6B7385"/>
                </a:solidFill>
                <a:latin typeface="Courier New"/>
              </a:rPr>
              <a:t> 7 </a:t>
            </a:r>
            <a:r>
              <a:rPr sz="950">
                <a:solidFill>
                  <a:srgbClr val="E6EAF0"/>
                </a:solidFill>
                <a:latin typeface="Courier New"/>
              </a:rPr>
              <a:t>kq = backtest(dang_dai(y[y.index &lt; moc]), ca_hai, h=24, so_cua_so=28,</a:t>
            </a:r>
          </a:p>
          <a:p>
            <a:r>
              <a:rPr sz="950">
                <a:solidFill>
                  <a:srgbClr val="6B7385"/>
                </a:solidFill>
                <a:latin typeface="Courier New"/>
              </a:rPr>
              <a:t> 8 </a:t>
            </a:r>
            <a:r>
              <a:rPr sz="950">
                <a:solidFill>
                  <a:srgbClr val="E6EAF0"/>
                </a:solidFill>
                <a:latin typeface="Courier New"/>
              </a:rPr>
              <a:t>              buoc=24)                            </a:t>
            </a:r>
            <a:r>
              <a:rPr sz="950">
                <a:solidFill>
                  <a:srgbClr val="8FC99A"/>
                </a:solidFill>
                <a:latin typeface="Courier New"/>
              </a:rPr>
              <a:t># rừng và seasonal naive</a:t>
            </a:r>
          </a:p>
          <a:p>
            <a:r>
              <a:rPr sz="950">
                <a:solidFill>
                  <a:srgbClr val="6B7385"/>
                </a:solidFill>
                <a:latin typeface="Courier New"/>
              </a:rPr>
              <a:t> 9 </a:t>
            </a:r>
            <a:r>
              <a:rPr sz="950">
                <a:solidFill>
                  <a:srgbClr val="E6EAF0"/>
                </a:solidFill>
                <a:latin typeface="Courier New"/>
              </a:rPr>
              <a:t>theo_cua_so = kq.groupby("cutoff").apply(lambda g: pd.Series({</a:t>
            </a:r>
          </a:p>
          <a:p>
            <a:r>
              <a:rPr sz="950">
                <a:solidFill>
                  <a:srgbClr val="6B7385"/>
                </a:solidFill>
                <a:latin typeface="Courier New"/>
              </a:rPr>
              <a:t>10 </a:t>
            </a:r>
            <a:r>
              <a:rPr sz="950">
                <a:solidFill>
                  <a:srgbClr val="E6EAF0"/>
                </a:solidFill>
                <a:latin typeface="Courier New"/>
              </a:rPr>
              <a:t>    "rừng": _mae(g["y"], g["du_bao"]),</a:t>
            </a:r>
          </a:p>
          <a:p>
            <a:r>
              <a:rPr sz="950">
                <a:solidFill>
                  <a:srgbClr val="6B7385"/>
                </a:solidFill>
                <a:latin typeface="Courier New"/>
              </a:rPr>
              <a:t>11 </a:t>
            </a:r>
            <a:r>
              <a:rPr sz="950">
                <a:solidFill>
                  <a:srgbClr val="E6EAF0"/>
                </a:solidFill>
                <a:latin typeface="Courier New"/>
              </a:rPr>
              <a:t>    "seasonal naive": _mae(g["y"], g["seasonal_naive"])}))</a:t>
            </a:r>
          </a:p>
          <a:p>
            <a:r>
              <a:rPr sz="950">
                <a:solidFill>
                  <a:srgbClr val="6B7385"/>
                </a:solidFill>
                <a:latin typeface="Courier New"/>
              </a:rPr>
              <a:t>12 </a:t>
            </a:r>
            <a:r>
              <a:rPr sz="950">
                <a:solidFill>
                  <a:srgbClr val="E6EAF0"/>
                </a:solidFill>
                <a:latin typeface="Courier New"/>
              </a:rPr>
              <a:t>dao_dong = theo_cua_so.describe()                 </a:t>
            </a:r>
            <a:r>
              <a:rPr sz="950">
                <a:solidFill>
                  <a:srgbClr val="8FC99A"/>
                </a:solidFill>
                <a:latin typeface="Courier New"/>
              </a:rPr>
              <a:t># nhỏ nhất tới lớn nhất</a:t>
            </a:r>
          </a:p>
          <a:p>
            <a:r>
              <a:rPr sz="950">
                <a:solidFill>
                  <a:srgbClr val="6B7385"/>
                </a:solidFill>
                <a:latin typeface="Courier New"/>
              </a:rPr>
              <a:t>13 </a:t>
            </a:r>
          </a:p>
          <a:p>
            <a:r>
              <a:rPr sz="950">
                <a:solidFill>
                  <a:srgbClr val="6B7385"/>
                </a:solidFill>
                <a:latin typeface="Courier New"/>
              </a:rPr>
              <a:t>14 </a:t>
            </a:r>
            <a:r>
              <a:rPr sz="950">
                <a:solidFill>
                  <a:srgbClr val="E6EAF0"/>
                </a:solidFill>
                <a:latin typeface="Courier New"/>
              </a:rPr>
              <a:t>def sai_so_theo_h(kq, cot):</a:t>
            </a:r>
          </a:p>
          <a:p>
            <a:r>
              <a:rPr sz="950">
                <a:solidFill>
                  <a:srgbClr val="6B7385"/>
                </a:solidFill>
                <a:latin typeface="Courier New"/>
              </a:rPr>
              <a:t>15 </a:t>
            </a:r>
            <a:r>
              <a:rPr sz="950">
                <a:solidFill>
                  <a:srgbClr val="E6EAF0"/>
                </a:solidFill>
                <a:latin typeface="Courier New"/>
              </a:rPr>
              <a:t>    return (kq["y"] - kq[cot]).abs().groupby(kq["buoc_h"]).mean()</a:t>
            </a:r>
          </a:p>
        </p:txBody>
      </p:sp>
      <p:sp>
        <p:nvSpPr>
          <p:cNvPr id="8" name="TextBox 7"/>
          <p:cNvSpPr txBox="1"/>
          <p:nvPr/>
        </p:nvSpPr>
        <p:spPr>
          <a:xfrm>
            <a:off x="685800" y="4088384"/>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buoi-15/dap-an/backtest.py</a:t>
            </a:r>
          </a:p>
        </p:txBody>
      </p:sp>
      <p:sp>
        <p:nvSpPr>
          <p:cNvPr id="9" name="TextBox 8"/>
          <p:cNvSpPr txBox="1"/>
          <p:nvPr/>
        </p:nvSpPr>
        <p:spPr>
          <a:xfrm>
            <a:off x="548640" y="4445000"/>
            <a:ext cx="7086600" cy="274320"/>
          </a:xfrm>
          <a:prstGeom prst="rect">
            <a:avLst/>
          </a:prstGeom>
          <a:noFill/>
        </p:spPr>
        <p:txBody>
          <a:bodyPr wrap="square" lIns="0" rIns="0" tIns="0" bIns="0" anchor="t">
            <a:spAutoFit/>
          </a:bodyPr>
          <a:lstStyle/>
          <a:p>
            <a:pPr algn="l"/>
            <a:r>
              <a:rPr sz="1300" b="1" i="0">
                <a:solidFill>
                  <a:srgbClr val="6C4AB6"/>
                </a:solidFill>
                <a:latin typeface="Arial"/>
              </a:rPr>
              <a:t>Từng bước</a:t>
            </a:r>
          </a:p>
        </p:txBody>
      </p:sp>
      <p:sp>
        <p:nvSpPr>
          <p:cNvPr id="10" name="Rounded Rectangle 9"/>
          <p:cNvSpPr/>
          <p:nvPr/>
        </p:nvSpPr>
        <p:spPr>
          <a:xfrm>
            <a:off x="54864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7–8</a:t>
            </a:r>
          </a:p>
        </p:txBody>
      </p:sp>
      <p:sp>
        <p:nvSpPr>
          <p:cNvPr id="11" name="TextBox 10"/>
          <p:cNvSpPr txBox="1"/>
          <p:nvPr/>
        </p:nvSpPr>
        <p:spPr>
          <a:xfrm>
            <a:off x="1353312" y="4746752"/>
            <a:ext cx="2697480" cy="457200"/>
          </a:xfrm>
          <a:prstGeom prst="rect">
            <a:avLst/>
          </a:prstGeom>
          <a:noFill/>
        </p:spPr>
        <p:txBody>
          <a:bodyPr wrap="square" lIns="0" rIns="0" tIns="0" bIns="0" anchor="t">
            <a:spAutoFit/>
          </a:bodyPr>
          <a:lstStyle/>
          <a:p>
            <a:pPr algn="l"/>
            <a:r>
              <a:rPr sz="1050" b="0" i="0">
                <a:solidFill>
                  <a:srgbClr val="1B2A41"/>
                </a:solidFill>
                <a:latin typeface="Arial"/>
              </a:rPr>
              <a:t>28 ngày, hai mô hình trên cùng cửa sổ.</a:t>
            </a:r>
          </a:p>
        </p:txBody>
      </p:sp>
      <p:sp>
        <p:nvSpPr>
          <p:cNvPr id="12" name="Rounded Rectangle 11"/>
          <p:cNvSpPr/>
          <p:nvPr/>
        </p:nvSpPr>
        <p:spPr>
          <a:xfrm>
            <a:off x="548640" y="52222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9–11</a:t>
            </a:r>
          </a:p>
        </p:txBody>
      </p:sp>
      <p:sp>
        <p:nvSpPr>
          <p:cNvPr id="13" name="TextBox 12"/>
          <p:cNvSpPr txBox="1"/>
          <p:nvPr/>
        </p:nvSpPr>
        <p:spPr>
          <a:xfrm>
            <a:off x="1353312" y="5203952"/>
            <a:ext cx="2697480" cy="457200"/>
          </a:xfrm>
          <a:prstGeom prst="rect">
            <a:avLst/>
          </a:prstGeom>
          <a:noFill/>
        </p:spPr>
        <p:txBody>
          <a:bodyPr wrap="square" lIns="0" rIns="0" tIns="0" bIns="0" anchor="t">
            <a:spAutoFit/>
          </a:bodyPr>
          <a:lstStyle/>
          <a:p>
            <a:pPr algn="l"/>
            <a:r>
              <a:rPr sz="1050" b="0" i="0">
                <a:solidFill>
                  <a:srgbClr val="1B2A41"/>
                </a:solidFill>
                <a:latin typeface="Arial"/>
              </a:rPr>
              <a:t>Một MAE cho mỗi cửa sổ, mỗi mô hình.</a:t>
            </a:r>
          </a:p>
        </p:txBody>
      </p:sp>
      <p:sp>
        <p:nvSpPr>
          <p:cNvPr id="14" name="Rounded Rectangle 13"/>
          <p:cNvSpPr/>
          <p:nvPr/>
        </p:nvSpPr>
        <p:spPr>
          <a:xfrm>
            <a:off x="4160520" y="47650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12</a:t>
            </a:r>
          </a:p>
        </p:txBody>
      </p:sp>
      <p:sp>
        <p:nvSpPr>
          <p:cNvPr id="15" name="TextBox 14"/>
          <p:cNvSpPr txBox="1"/>
          <p:nvPr/>
        </p:nvSpPr>
        <p:spPr>
          <a:xfrm>
            <a:off x="4965192" y="4746752"/>
            <a:ext cx="2697480" cy="457200"/>
          </a:xfrm>
          <a:prstGeom prst="rect">
            <a:avLst/>
          </a:prstGeom>
          <a:noFill/>
        </p:spPr>
        <p:txBody>
          <a:bodyPr wrap="square" lIns="0" rIns="0" tIns="0" bIns="0" anchor="t">
            <a:spAutoFit/>
          </a:bodyPr>
          <a:lstStyle/>
          <a:p>
            <a:pPr algn="l"/>
            <a:r>
              <a:rPr sz="1050" b="0" i="0">
                <a:solidFill>
                  <a:srgbClr val="1B2A41"/>
                </a:solidFill>
                <a:latin typeface="Arial"/>
              </a:rPr>
              <a:t>Tóm độ dao động giữa các cửa sổ.</a:t>
            </a:r>
          </a:p>
        </p:txBody>
      </p:sp>
      <p:sp>
        <p:nvSpPr>
          <p:cNvPr id="16" name="Rounded Rectangle 15"/>
          <p:cNvSpPr/>
          <p:nvPr/>
        </p:nvSpPr>
        <p:spPr>
          <a:xfrm>
            <a:off x="4160520" y="5222240"/>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14–15</a:t>
            </a:r>
          </a:p>
        </p:txBody>
      </p:sp>
      <p:sp>
        <p:nvSpPr>
          <p:cNvPr id="17" name="TextBox 16"/>
          <p:cNvSpPr txBox="1"/>
          <p:nvPr/>
        </p:nvSpPr>
        <p:spPr>
          <a:xfrm>
            <a:off x="4965192" y="5203952"/>
            <a:ext cx="2697480" cy="457200"/>
          </a:xfrm>
          <a:prstGeom prst="rect">
            <a:avLst/>
          </a:prstGeom>
          <a:noFill/>
        </p:spPr>
        <p:txBody>
          <a:bodyPr wrap="square" lIns="0" rIns="0" tIns="0" bIns="0" anchor="t">
            <a:spAutoFit/>
          </a:bodyPr>
          <a:lstStyle/>
          <a:p>
            <a:pPr algn="l"/>
            <a:r>
              <a:rPr sz="1050" b="0" i="0">
                <a:solidFill>
                  <a:srgbClr val="1B2A41"/>
                </a:solidFill>
                <a:latin typeface="Arial"/>
              </a:rPr>
              <a:t>MAE theo từng bước sau cutoff.</a:t>
            </a:r>
          </a:p>
        </p:txBody>
      </p:sp>
      <p:sp>
        <p:nvSpPr>
          <p:cNvPr id="18" name="Rounded Rectangle 17"/>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MAE một ngày của rừng ngẫu nhiên đi từ 583 tới 4.328 MW, gấp bảy lần. Trên M4, seasonal naive 24 giờ nhảy lên từ bước 25.</a:t>
            </a:r>
          </a:p>
        </p:txBody>
      </p:sp>
      <p:sp>
        <p:nvSpPr>
          <p:cNvPr id="20" name="TextBox 19"/>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6C4AB6"/>
                </a:solidFill>
                <a:latin typeface="Arial"/>
              </a:rPr>
              <a:t>Thư viện và hàm</a:t>
            </a:r>
          </a:p>
        </p:txBody>
      </p:sp>
      <p:sp>
        <p:nvSpPr>
          <p:cNvPr id="21" name="TextBox 20"/>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groupby("cutoff").apply</a:t>
            </a:r>
            <a:r>
              <a:rPr sz="950" b="1" i="0">
                <a:solidFill>
                  <a:srgbClr val="5B6778"/>
                </a:solidFill>
                <a:latin typeface="Arial"/>
              </a:rPr>
              <a:t>   pandas</a:t>
            </a:r>
          </a:p>
        </p:txBody>
      </p:sp>
      <p:sp>
        <p:nvSpPr>
          <p:cNvPr id="22" name="TextBox 21"/>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Chia kết quả theo từng cửa sổ rồi tính MAE riêng mỗi nhóm.</a:t>
            </a:r>
          </a:p>
        </p:txBody>
      </p:sp>
      <p:sp>
        <p:nvSpPr>
          <p:cNvPr id="23" name="TextBox 22"/>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describe</a:t>
            </a:r>
            <a:r>
              <a:rPr sz="950" b="1" i="0">
                <a:solidFill>
                  <a:srgbClr val="5B6778"/>
                </a:solidFill>
                <a:latin typeface="Arial"/>
              </a:rPr>
              <a:t>   pandas</a:t>
            </a:r>
          </a:p>
        </p:txBody>
      </p:sp>
      <p:sp>
        <p:nvSpPr>
          <p:cNvPr id="24" name="TextBox 23"/>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Tóm tắt nhanh: số lượng, trung bình, nhỏ nhất, phân vị, lớn nhất.</a:t>
            </a:r>
          </a:p>
        </p:txBody>
      </p:sp>
      <p:sp>
        <p:nvSpPr>
          <p:cNvPr id="25" name="TextBox 24"/>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groupby(kq["buoc_h"]).mean()</a:t>
            </a:r>
            <a:r>
              <a:rPr sz="950" b="1" i="0">
                <a:solidFill>
                  <a:srgbClr val="5B6778"/>
                </a:solidFill>
                <a:latin typeface="Arial"/>
              </a:rPr>
              <a:t>   pandas</a:t>
            </a:r>
          </a:p>
        </p:txBody>
      </p:sp>
      <p:sp>
        <p:nvSpPr>
          <p:cNvPr id="26" name="TextBox 25"/>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Trung bình sai số theo bước thứ mấy sau cutoff.</a:t>
            </a:r>
          </a:p>
        </p:txBody>
      </p:sp>
      <p:pic>
        <p:nvPicPr>
          <p:cNvPr id="27" name="Picture 26" descr="sai-so-cua-so-va-h.png"/>
          <p:cNvPicPr>
            <a:picLocks noChangeAspect="1"/>
          </p:cNvPicPr>
          <p:nvPr/>
        </p:nvPicPr>
        <p:blipFill>
          <a:blip r:embed="rId2"/>
          <a:stretch>
            <a:fillRect/>
          </a:stretch>
        </p:blipFill>
        <p:spPr>
          <a:xfrm>
            <a:off x="7863840" y="4675086"/>
            <a:ext cx="3776472" cy="1211147"/>
          </a:xfrm>
          <a:prstGeom prst="rect">
            <a:avLst/>
          </a:prstGeom>
        </p:spPr>
      </p:pic>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D</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tune, chọn, báo cáo ba đoạn</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6C4AB6"/>
                </a:solidFill>
                <a:latin typeface="Arial"/>
              </a:rPr>
              <a:t>Buổi 15</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Tách ba đoạn riêng để con số báo cáo không được hưởng phần may lúc chọn.</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import pandas as pd</a:t>
            </a:r>
          </a:p>
          <a:p>
            <a:r>
              <a:rPr sz="850">
                <a:solidFill>
                  <a:srgbClr val="6B7385"/>
                </a:solidFill>
                <a:latin typeface="Courier New"/>
              </a:rPr>
              <a:t> 3 </a:t>
            </a:r>
            <a:r>
              <a:rPr sz="850">
                <a:solidFill>
                  <a:srgbClr val="E6EAF0"/>
                </a:solidFill>
                <a:latin typeface="Courier New"/>
              </a:rPr>
              <a:t>LUOI_W = np.round(np.arange(0, 1.01, 0.1), 1)      </a:t>
            </a:r>
            <a:r>
              <a:rPr sz="850">
                <a:solidFill>
                  <a:srgbClr val="8FC99A"/>
                </a:solidFill>
                <a:latin typeface="Courier New"/>
              </a:rPr>
              <a:t># 11 giá trị w</a:t>
            </a:r>
          </a:p>
          <a:p>
            <a:r>
              <a:rPr sz="850">
                <a:solidFill>
                  <a:srgbClr val="6B7385"/>
                </a:solidFill>
                <a:latin typeface="Courier New"/>
              </a:rPr>
              <a:t> 4 </a:t>
            </a:r>
          </a:p>
          <a:p>
            <a:r>
              <a:rPr sz="850">
                <a:solidFill>
                  <a:srgbClr val="6B7385"/>
                </a:solidFill>
                <a:latin typeface="Courier New"/>
              </a:rPr>
              <a:t> 5 </a:t>
            </a:r>
            <a:r>
              <a:rPr sz="850">
                <a:solidFill>
                  <a:srgbClr val="E6EAF0"/>
                </a:solidFill>
                <a:latin typeface="Courier New"/>
              </a:rPr>
              <a:t>def chon_va_bao_cao(chuoi, h=48):</a:t>
            </a:r>
          </a:p>
          <a:p>
            <a:r>
              <a:rPr sz="850">
                <a:solidFill>
                  <a:srgbClr val="6B7385"/>
                </a:solidFill>
                <a:latin typeface="Courier New"/>
              </a:rPr>
              <a:t> 6 </a:t>
            </a:r>
            <a:r>
              <a:rPr sz="850">
                <a:solidFill>
                  <a:srgbClr val="E6EAF0"/>
                </a:solidFill>
                <a:latin typeface="Courier New"/>
              </a:rPr>
              <a:t>    hang = []</a:t>
            </a:r>
          </a:p>
          <a:p>
            <a:r>
              <a:rPr sz="850">
                <a:solidFill>
                  <a:srgbClr val="6B7385"/>
                </a:solidFill>
                <a:latin typeface="Courier New"/>
              </a:rPr>
              <a:t> 7 </a:t>
            </a:r>
            <a:r>
              <a:rPr sz="850">
                <a:solidFill>
                  <a:srgbClr val="E6EAF0"/>
                </a:solidFill>
                <a:latin typeface="Courier New"/>
              </a:rPr>
              <a:t>    for ten, v in chuoi.items():</a:t>
            </a:r>
          </a:p>
          <a:p>
            <a:r>
              <a:rPr sz="850">
                <a:solidFill>
                  <a:srgbClr val="6B7385"/>
                </a:solidFill>
                <a:latin typeface="Courier New"/>
              </a:rPr>
              <a:t> 8 </a:t>
            </a:r>
            <a:r>
              <a:rPr sz="850">
                <a:solidFill>
                  <a:srgbClr val="E6EAF0"/>
                </a:solidFill>
                <a:latin typeface="Courier New"/>
              </a:rPr>
              <a:t>        n = len(v)</a:t>
            </a:r>
          </a:p>
          <a:p>
            <a:r>
              <a:rPr sz="850">
                <a:solidFill>
                  <a:srgbClr val="6B7385"/>
                </a:solidFill>
                <a:latin typeface="Courier New"/>
              </a:rPr>
              <a:t> 9 </a:t>
            </a:r>
            <a:r>
              <a:rPr sz="850">
                <a:solidFill>
                  <a:srgbClr val="E6EAF0"/>
                </a:solidFill>
                <a:latin typeface="Courier New"/>
              </a:rPr>
              <a:t>        T, A, B = n - 3 * h, n - 2 * h, n - h        </a:t>
            </a:r>
            <a:r>
              <a:rPr sz="850">
                <a:solidFill>
                  <a:srgbClr val="8FC99A"/>
                </a:solidFill>
                <a:latin typeface="Courier New"/>
              </a:rPr>
              <a:t># ba đoạn 48 giờ cuối</a:t>
            </a:r>
          </a:p>
          <a:p>
            <a:r>
              <a:rPr sz="850">
                <a:solidFill>
                  <a:srgbClr val="6B7385"/>
                </a:solidFill>
                <a:latin typeface="Courier New"/>
              </a:rPr>
              <a:t>10 </a:t>
            </a:r>
            <a:r>
              <a:rPr sz="850">
                <a:solidFill>
                  <a:srgbClr val="E6EAF0"/>
                </a:solidFill>
                <a:latin typeface="Courier New"/>
              </a:rPr>
              <a:t>        w = min(LUOI_W, key=lambda x: _cham(v, T, x, h)["trộn"])  </a:t>
            </a:r>
            <a:r>
              <a:rPr sz="850">
                <a:solidFill>
                  <a:srgbClr val="8FC99A"/>
                </a:solidFill>
                <a:latin typeface="Courier New"/>
              </a:rPr>
              <a:t># tune</a:t>
            </a:r>
          </a:p>
          <a:p>
            <a:r>
              <a:rPr sz="850">
                <a:solidFill>
                  <a:srgbClr val="6B7385"/>
                </a:solidFill>
                <a:latin typeface="Courier New"/>
              </a:rPr>
              <a:t>11 </a:t>
            </a:r>
            <a:r>
              <a:rPr sz="850">
                <a:solidFill>
                  <a:srgbClr val="E6EAF0"/>
                </a:solidFill>
                <a:latin typeface="Courier New"/>
              </a:rPr>
              <a:t>        diem_A = _cham(v, A, w, h)</a:t>
            </a:r>
          </a:p>
          <a:p>
            <a:r>
              <a:rPr sz="850">
                <a:solidFill>
                  <a:srgbClr val="6B7385"/>
                </a:solidFill>
                <a:latin typeface="Courier New"/>
              </a:rPr>
              <a:t>12 </a:t>
            </a:r>
            <a:r>
              <a:rPr sz="850">
                <a:solidFill>
                  <a:srgbClr val="E6EAF0"/>
                </a:solidFill>
                <a:latin typeface="Courier New"/>
              </a:rPr>
              <a:t>        chon = min(diem_A, key=diem_A.get)           </a:t>
            </a:r>
            <a:r>
              <a:rPr sz="850">
                <a:solidFill>
                  <a:srgbClr val="8FC99A"/>
                </a:solidFill>
                <a:latin typeface="Courier New"/>
              </a:rPr>
              <a:t># chọn trên A</a:t>
            </a:r>
          </a:p>
          <a:p>
            <a:r>
              <a:rPr sz="850">
                <a:solidFill>
                  <a:srgbClr val="6B7385"/>
                </a:solidFill>
                <a:latin typeface="Courier New"/>
              </a:rPr>
              <a:t>13 </a:t>
            </a:r>
            <a:r>
              <a:rPr sz="850">
                <a:solidFill>
                  <a:srgbClr val="E6EAF0"/>
                </a:solidFill>
                <a:latin typeface="Courier New"/>
              </a:rPr>
              <a:t>        diem_B = _cham(v, B, w, h)                   </a:t>
            </a:r>
            <a:r>
              <a:rPr sz="850">
                <a:solidFill>
                  <a:srgbClr val="8FC99A"/>
                </a:solidFill>
                <a:latin typeface="Courier New"/>
              </a:rPr>
              <a:t># báo cáo trên B</a:t>
            </a:r>
          </a:p>
          <a:p>
            <a:r>
              <a:rPr sz="850">
                <a:solidFill>
                  <a:srgbClr val="6B7385"/>
                </a:solidFill>
                <a:latin typeface="Courier New"/>
              </a:rPr>
              <a:t>14 </a:t>
            </a:r>
            <a:r>
              <a:rPr sz="850">
                <a:solidFill>
                  <a:srgbClr val="E6EAF0"/>
                </a:solidFill>
                <a:latin typeface="Courier New"/>
              </a:rPr>
              <a:t>        hang.append({"chuỗi": ten, "chọn": chon,</a:t>
            </a:r>
          </a:p>
          <a:p>
            <a:r>
              <a:rPr sz="850">
                <a:solidFill>
                  <a:srgbClr val="6B7385"/>
                </a:solidFill>
                <a:latin typeface="Courier New"/>
              </a:rPr>
              <a:t>15 </a:t>
            </a:r>
            <a:r>
              <a:rPr sz="850">
                <a:solidFill>
                  <a:srgbClr val="E6EAF0"/>
                </a:solidFill>
                <a:latin typeface="Courier New"/>
              </a:rPr>
              <a:t>                     "MASE báo cáo (B)": diem_B[chon]})</a:t>
            </a:r>
          </a:p>
          <a:p>
            <a:r>
              <a:rPr sz="850">
                <a:solidFill>
                  <a:srgbClr val="6B7385"/>
                </a:solidFill>
                <a:latin typeface="Courier New"/>
              </a:rPr>
              <a:t>16 </a:t>
            </a:r>
            <a:r>
              <a:rPr sz="850">
                <a:solidFill>
                  <a:srgbClr val="E6EAF0"/>
                </a:solidFill>
                <a:latin typeface="Courier New"/>
              </a:rPr>
              <a:t>    return pd.DataFrame(hang)</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buoi-15/dap-an/backtest.py</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6C4AB6"/>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3</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Lưới trọng số w từ 0 tới 1, bước 0,1.</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9</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Chia ba đoạn: T tune, A chọn, B báo cáo.</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10</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Chọn w cho MASE thấp nhất trên đoạn T.</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11–12</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Chọn phương pháp tốt nhất trên đoạn A.</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13–15</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Chỉ báo MASE trên đoạn B chưa dùng.</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414 chuỗi M4 theo giờ: tune, chọn, báo cáo cùng đoạn B cho MASE trung vị 0,775; ba đoạn riêng cho 1,039, lạc quan 25%.</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6C4AB6"/>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np.arange, np.round</a:t>
            </a:r>
            <a:r>
              <a:rPr sz="950" b="1" i="0">
                <a:solidFill>
                  <a:srgbClr val="5B6778"/>
                </a:solidFill>
                <a:latin typeface="Arial"/>
              </a:rPr>
              <a:t>   numpy</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Tạo lưới 0; 0,1; …; 1 và làm tròn cho khỏi sai số lẻ.</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_cham</a:t>
            </a:r>
            <a:r>
              <a:rPr sz="950" b="1" i="0">
                <a:solidFill>
                  <a:srgbClr val="5B6778"/>
                </a:solidFill>
                <a:latin typeface="Arial"/>
              </a:rPr>
              <a:t>   tự viết</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MASE của sáu phương pháp đơn giản trên một đoạn 48 giờ.</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pd.DataFrame</a:t>
            </a:r>
            <a:r>
              <a:rPr sz="950" b="1" i="0">
                <a:solidFill>
                  <a:srgbClr val="5B6778"/>
                </a:solidFill>
                <a:latin typeface="Arial"/>
              </a:rPr>
              <a:t>   pandas</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Gom kết quả mỗi chuỗi thành một bảng để lấy trung vị.</a:t>
            </a:r>
          </a:p>
        </p:txBody>
      </p:sp>
      <p:pic>
        <p:nvPicPr>
          <p:cNvPr id="29" name="Picture 28" descr="chon-bao-cao.png"/>
          <p:cNvPicPr>
            <a:picLocks noChangeAspect="1"/>
          </p:cNvPicPr>
          <p:nvPr/>
        </p:nvPicPr>
        <p:blipFill>
          <a:blip r:embed="rId2"/>
          <a:stretch>
            <a:fillRect/>
          </a:stretch>
        </p:blipFill>
        <p:spPr>
          <a:xfrm>
            <a:off x="7863840" y="4577991"/>
            <a:ext cx="3776472" cy="1405337"/>
          </a:xfrm>
          <a:prstGeom prst="rect">
            <a:avLst/>
          </a:prstGeom>
        </p:spPr>
      </p:pic>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548640" y="457200"/>
            <a:ext cx="566928" cy="566928"/>
          </a:xfrm>
          <a:prstGeom prst="ellipse">
            <a:avLst/>
          </a:prstGeom>
          <a:solidFill>
            <a:srgbClr val="6C4A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2000" b="1" i="0">
                <a:solidFill>
                  <a:srgbClr val="FFFFFF"/>
                </a:solidFill>
                <a:latin typeface="Arial"/>
              </a:rPr>
              <a:t>D</a:t>
            </a:r>
          </a:p>
        </p:txBody>
      </p:sp>
      <p:sp>
        <p:nvSpPr>
          <p:cNvPr id="3" name="TextBox 2"/>
          <p:cNvSpPr txBox="1"/>
          <p:nvPr/>
        </p:nvSpPr>
        <p:spPr>
          <a:xfrm>
            <a:off x="1325880" y="384048"/>
            <a:ext cx="9144000" cy="731520"/>
          </a:xfrm>
          <a:prstGeom prst="rect">
            <a:avLst/>
          </a:prstGeom>
          <a:noFill/>
        </p:spPr>
        <p:txBody>
          <a:bodyPr wrap="square" lIns="0" rIns="0" tIns="0" bIns="0" anchor="ctr">
            <a:spAutoFit/>
          </a:bodyPr>
          <a:lstStyle/>
          <a:p>
            <a:pPr algn="l"/>
            <a:r>
              <a:rPr sz="3000" b="1" i="0">
                <a:solidFill>
                  <a:srgbClr val="1B2A41"/>
                </a:solidFill>
                <a:latin typeface="Arial"/>
              </a:rPr>
              <a:t>Code: kiểm định Diebold–Mariano</a:t>
            </a:r>
          </a:p>
        </p:txBody>
      </p:sp>
      <p:sp>
        <p:nvSpPr>
          <p:cNvPr id="4" name="Rounded Rectangle 3"/>
          <p:cNvSpPr/>
          <p:nvPr/>
        </p:nvSpPr>
        <p:spPr>
          <a:xfrm>
            <a:off x="10469880" y="548640"/>
            <a:ext cx="1188720" cy="384048"/>
          </a:xfrm>
          <a:prstGeom prst="roundRect">
            <a:avLst>
              <a:gd name="adj" fmla="val 5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lstStyle/>
          <a:p>
            <a:pPr algn="ctr"/>
            <a:r>
              <a:rPr sz="1200" b="1" i="0">
                <a:solidFill>
                  <a:srgbClr val="6C4AB6"/>
                </a:solidFill>
                <a:latin typeface="Arial"/>
              </a:rPr>
              <a:t>Buổi 15</a:t>
            </a:r>
          </a:p>
        </p:txBody>
      </p:sp>
      <p:sp>
        <p:nvSpPr>
          <p:cNvPr id="5" name="TextBox 4"/>
          <p:cNvSpPr txBox="1"/>
          <p:nvPr/>
        </p:nvSpPr>
        <p:spPr>
          <a:xfrm>
            <a:off x="1325880" y="1024128"/>
            <a:ext cx="10332720" cy="384048"/>
          </a:xfrm>
          <a:prstGeom prst="rect">
            <a:avLst/>
          </a:prstGeom>
          <a:noFill/>
        </p:spPr>
        <p:txBody>
          <a:bodyPr wrap="square" lIns="0" rIns="0" tIns="0" bIns="0" anchor="t">
            <a:spAutoFit/>
          </a:bodyPr>
          <a:lstStyle/>
          <a:p>
            <a:pPr algn="l"/>
            <a:r>
              <a:rPr sz="1500" b="1" i="0">
                <a:solidFill>
                  <a:srgbClr val="1B2A41"/>
                </a:solidFill>
                <a:latin typeface="Arial"/>
              </a:rPr>
              <a:t>Mục tiêu:  </a:t>
            </a:r>
            <a:r>
              <a:rPr sz="1600" b="0" i="0">
                <a:solidFill>
                  <a:srgbClr val="1B2A41"/>
                </a:solidFill>
                <a:latin typeface="Arial"/>
              </a:rPr>
              <a:t>Hỏi chênh sai số giữa hai dự báo là thật hay chỉ là may trên đoạn này.</a:t>
            </a:r>
          </a:p>
        </p:txBody>
      </p:sp>
      <p:sp>
        <p:nvSpPr>
          <p:cNvPr id="6" name="Rounded Rectangle 5"/>
          <p:cNvSpPr/>
          <p:nvPr/>
        </p:nvSpPr>
        <p:spPr>
          <a:xfrm>
            <a:off x="548640" y="1737360"/>
            <a:ext cx="7086600" cy="2485517"/>
          </a:xfrm>
          <a:prstGeom prst="roundRect">
            <a:avLst>
              <a:gd name="adj" fmla="val 3000"/>
            </a:avLst>
          </a:prstGeom>
          <a:solidFill>
            <a:srgbClr val="1E2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6858000" cy="2165477"/>
          </a:xfrm>
          <a:prstGeom prst="rect">
            <a:avLst/>
          </a:prstGeom>
          <a:noFill/>
        </p:spPr>
        <p:txBody>
          <a:bodyPr wrap="none" lIns="0" rIns="0" tIns="0" bIns="0">
            <a:spAutoFit/>
          </a:bodyPr>
          <a:lstStyle/>
          <a:p>
            <a:r>
              <a:rPr sz="850">
                <a:solidFill>
                  <a:srgbClr val="6B7385"/>
                </a:solidFill>
                <a:latin typeface="Courier New"/>
              </a:rPr>
              <a:t> 1 </a:t>
            </a:r>
            <a:r>
              <a:rPr sz="850">
                <a:solidFill>
                  <a:srgbClr val="E6EAF0"/>
                </a:solidFill>
                <a:latin typeface="Courier New"/>
              </a:rPr>
              <a:t>import numpy as np</a:t>
            </a:r>
          </a:p>
          <a:p>
            <a:r>
              <a:rPr sz="850">
                <a:solidFill>
                  <a:srgbClr val="6B7385"/>
                </a:solidFill>
                <a:latin typeface="Courier New"/>
              </a:rPr>
              <a:t> 2 </a:t>
            </a:r>
            <a:r>
              <a:rPr sz="850">
                <a:solidFill>
                  <a:srgbClr val="E6EAF0"/>
                </a:solidFill>
                <a:latin typeface="Courier New"/>
              </a:rPr>
              <a:t>from scipy import stats</a:t>
            </a:r>
          </a:p>
          <a:p>
            <a:r>
              <a:rPr sz="850">
                <a:solidFill>
                  <a:srgbClr val="6B7385"/>
                </a:solidFill>
                <a:latin typeface="Courier New"/>
              </a:rPr>
              <a:t> 3 </a:t>
            </a:r>
          </a:p>
          <a:p>
            <a:r>
              <a:rPr sz="850">
                <a:solidFill>
                  <a:srgbClr val="6B7385"/>
                </a:solidFill>
                <a:latin typeface="Courier New"/>
              </a:rPr>
              <a:t> 4 </a:t>
            </a:r>
            <a:r>
              <a:rPr sz="850">
                <a:solidFill>
                  <a:srgbClr val="E6EAF0"/>
                </a:solidFill>
                <a:latin typeface="Courier New"/>
              </a:rPr>
              <a:t>def diebold_mariano(e1, e2, h=1, hieu_chinh=True):</a:t>
            </a:r>
          </a:p>
          <a:p>
            <a:r>
              <a:rPr sz="850">
                <a:solidFill>
                  <a:srgbClr val="6B7385"/>
                </a:solidFill>
                <a:latin typeface="Courier New"/>
              </a:rPr>
              <a:t> 5 </a:t>
            </a:r>
            <a:r>
              <a:rPr sz="850">
                <a:solidFill>
                  <a:srgbClr val="E6EAF0"/>
                </a:solidFill>
                <a:latin typeface="Courier New"/>
              </a:rPr>
              <a:t>    d = np.abs(e1) - np.abs(e2)                    </a:t>
            </a:r>
            <a:r>
              <a:rPr sz="850">
                <a:solidFill>
                  <a:srgbClr val="8FC99A"/>
                </a:solidFill>
                <a:latin typeface="Courier New"/>
              </a:rPr>
              <a:t># chênh mất mát từng giờ</a:t>
            </a:r>
          </a:p>
          <a:p>
            <a:r>
              <a:rPr sz="850">
                <a:solidFill>
                  <a:srgbClr val="6B7385"/>
                </a:solidFill>
                <a:latin typeface="Courier New"/>
              </a:rPr>
              <a:t> 6 </a:t>
            </a:r>
            <a:r>
              <a:rPr sz="850">
                <a:solidFill>
                  <a:srgbClr val="E6EAF0"/>
                </a:solidFill>
                <a:latin typeface="Courier New"/>
              </a:rPr>
              <a:t>    n = len(d)</a:t>
            </a:r>
          </a:p>
          <a:p>
            <a:r>
              <a:rPr sz="850">
                <a:solidFill>
                  <a:srgbClr val="6B7385"/>
                </a:solidFill>
                <a:latin typeface="Courier New"/>
              </a:rPr>
              <a:t> 7 </a:t>
            </a:r>
            <a:r>
              <a:rPr sz="850">
                <a:solidFill>
                  <a:srgbClr val="E6EAF0"/>
                </a:solidFill>
                <a:latin typeface="Courier New"/>
              </a:rPr>
              <a:t>    lech = d - d.mean()</a:t>
            </a:r>
          </a:p>
          <a:p>
            <a:r>
              <a:rPr sz="850">
                <a:solidFill>
                  <a:srgbClr val="6B7385"/>
                </a:solidFill>
                <a:latin typeface="Courier New"/>
              </a:rPr>
              <a:t> 8 </a:t>
            </a:r>
            <a:r>
              <a:rPr sz="850">
                <a:solidFill>
                  <a:srgbClr val="E6EAF0"/>
                </a:solidFill>
                <a:latin typeface="Courier New"/>
              </a:rPr>
              <a:t>    gamma = [np.sum(lech[k:] * lech[: n - k]) / n for k in range(h)]</a:t>
            </a:r>
          </a:p>
          <a:p>
            <a:r>
              <a:rPr sz="850">
                <a:solidFill>
                  <a:srgbClr val="6B7385"/>
                </a:solidFill>
                <a:latin typeface="Courier New"/>
              </a:rPr>
              <a:t> 9 </a:t>
            </a:r>
            <a:r>
              <a:rPr sz="850">
                <a:solidFill>
                  <a:srgbClr val="E6EAF0"/>
                </a:solidFill>
                <a:latin typeface="Courier New"/>
              </a:rPr>
              <a:t>    v = (gamma[0] + 2 * sum(gamma[1:])) / n        </a:t>
            </a:r>
            <a:r>
              <a:rPr sz="850">
                <a:solidFill>
                  <a:srgbClr val="8FC99A"/>
                </a:solidFill>
                <a:latin typeface="Courier New"/>
              </a:rPr>
              <a:t># cộng tự hiệp phương sai</a:t>
            </a:r>
          </a:p>
          <a:p>
            <a:r>
              <a:rPr sz="850">
                <a:solidFill>
                  <a:srgbClr val="6B7385"/>
                </a:solidFill>
                <a:latin typeface="Courier New"/>
              </a:rPr>
              <a:t>10 </a:t>
            </a:r>
            <a:r>
              <a:rPr sz="850">
                <a:solidFill>
                  <a:srgbClr val="E6EAF0"/>
                </a:solidFill>
                <a:latin typeface="Courier New"/>
              </a:rPr>
              <a:t>    if v &lt;= 0:                                     </a:t>
            </a:r>
            <a:r>
              <a:rPr sz="850">
                <a:solidFill>
                  <a:srgbClr val="8FC99A"/>
                </a:solidFill>
                <a:latin typeface="Courier New"/>
              </a:rPr>
              <a:t># lùi về h = 1</a:t>
            </a:r>
          </a:p>
          <a:p>
            <a:r>
              <a:rPr sz="850">
                <a:solidFill>
                  <a:srgbClr val="6B7385"/>
                </a:solidFill>
                <a:latin typeface="Courier New"/>
              </a:rPr>
              <a:t>11 </a:t>
            </a:r>
            <a:r>
              <a:rPr sz="850">
                <a:solidFill>
                  <a:srgbClr val="E6EAF0"/>
                </a:solidFill>
                <a:latin typeface="Courier New"/>
              </a:rPr>
              <a:t>        h, v = 1, gamma[0] / n</a:t>
            </a:r>
          </a:p>
          <a:p>
            <a:r>
              <a:rPr sz="850">
                <a:solidFill>
                  <a:srgbClr val="6B7385"/>
                </a:solidFill>
                <a:latin typeface="Courier New"/>
              </a:rPr>
              <a:t>12 </a:t>
            </a:r>
            <a:r>
              <a:rPr sz="850">
                <a:solidFill>
                  <a:srgbClr val="E6EAF0"/>
                </a:solidFill>
                <a:latin typeface="Courier New"/>
              </a:rPr>
              <a:t>    s = d.mean() / np.sqrt(v)</a:t>
            </a:r>
          </a:p>
          <a:p>
            <a:r>
              <a:rPr sz="850">
                <a:solidFill>
                  <a:srgbClr val="6B7385"/>
                </a:solidFill>
                <a:latin typeface="Courier New"/>
              </a:rPr>
              <a:t>13 </a:t>
            </a:r>
            <a:r>
              <a:rPr sz="850">
                <a:solidFill>
                  <a:srgbClr val="E6EAF0"/>
                </a:solidFill>
                <a:latin typeface="Courier New"/>
              </a:rPr>
              <a:t>    if not hieu_chinh:</a:t>
            </a:r>
          </a:p>
          <a:p>
            <a:r>
              <a:rPr sz="850">
                <a:solidFill>
                  <a:srgbClr val="6B7385"/>
                </a:solidFill>
                <a:latin typeface="Courier New"/>
              </a:rPr>
              <a:t>14 </a:t>
            </a:r>
            <a:r>
              <a:rPr sz="850">
                <a:solidFill>
                  <a:srgbClr val="E6EAF0"/>
                </a:solidFill>
                <a:latin typeface="Courier New"/>
              </a:rPr>
              <a:t>        return s, 2 * stats.norm.sf(abs(s))        </a:t>
            </a:r>
            <a:r>
              <a:rPr sz="850">
                <a:solidFill>
                  <a:srgbClr val="8FC99A"/>
                </a:solidFill>
                <a:latin typeface="Courier New"/>
              </a:rPr>
              <a:t># bản bỏ tự tương quan</a:t>
            </a:r>
          </a:p>
          <a:p>
            <a:r>
              <a:rPr sz="850">
                <a:solidFill>
                  <a:srgbClr val="6B7385"/>
                </a:solidFill>
                <a:latin typeface="Courier New"/>
              </a:rPr>
              <a:t>15 </a:t>
            </a:r>
            <a:r>
              <a:rPr sz="850">
                <a:solidFill>
                  <a:srgbClr val="E6EAF0"/>
                </a:solidFill>
                <a:latin typeface="Courier New"/>
              </a:rPr>
              <a:t>    s *= np.sqrt((n + 1 - 2 * h + h * (h - 1) / n) / n)   </a:t>
            </a:r>
            <a:r>
              <a:rPr sz="850">
                <a:solidFill>
                  <a:srgbClr val="8FC99A"/>
                </a:solidFill>
                <a:latin typeface="Courier New"/>
              </a:rPr>
              <a:t># sửa mẫu nhỏ</a:t>
            </a:r>
          </a:p>
          <a:p>
            <a:r>
              <a:rPr sz="850">
                <a:solidFill>
                  <a:srgbClr val="6B7385"/>
                </a:solidFill>
                <a:latin typeface="Courier New"/>
              </a:rPr>
              <a:t>16 </a:t>
            </a:r>
            <a:r>
              <a:rPr sz="850">
                <a:solidFill>
                  <a:srgbClr val="E6EAF0"/>
                </a:solidFill>
                <a:latin typeface="Courier New"/>
              </a:rPr>
              <a:t>    return s, 2 * stats.t(df=n - 1).sf(abs(s))</a:t>
            </a:r>
          </a:p>
        </p:txBody>
      </p:sp>
      <p:sp>
        <p:nvSpPr>
          <p:cNvPr id="8" name="TextBox 7"/>
          <p:cNvSpPr txBox="1"/>
          <p:nvPr/>
        </p:nvSpPr>
        <p:spPr>
          <a:xfrm>
            <a:off x="685800" y="3975989"/>
            <a:ext cx="6858000" cy="201168"/>
          </a:xfrm>
          <a:prstGeom prst="rect">
            <a:avLst/>
          </a:prstGeom>
          <a:noFill/>
        </p:spPr>
        <p:txBody>
          <a:bodyPr wrap="square" lIns="0" rIns="0" tIns="0" bIns="0" anchor="t">
            <a:spAutoFit/>
          </a:bodyPr>
          <a:lstStyle/>
          <a:p>
            <a:pPr algn="l"/>
            <a:r>
              <a:rPr sz="800" b="0" i="1">
                <a:solidFill>
                  <a:srgbClr val="8A93A6"/>
                </a:solidFill>
                <a:latin typeface="Arial"/>
              </a:rPr>
              <a:t>rút gọn từ buoi-15/dap-an/backtest.py</a:t>
            </a:r>
          </a:p>
        </p:txBody>
      </p:sp>
      <p:sp>
        <p:nvSpPr>
          <p:cNvPr id="9" name="TextBox 8"/>
          <p:cNvSpPr txBox="1"/>
          <p:nvPr/>
        </p:nvSpPr>
        <p:spPr>
          <a:xfrm>
            <a:off x="548640" y="4332605"/>
            <a:ext cx="7086600" cy="274320"/>
          </a:xfrm>
          <a:prstGeom prst="rect">
            <a:avLst/>
          </a:prstGeom>
          <a:noFill/>
        </p:spPr>
        <p:txBody>
          <a:bodyPr wrap="square" lIns="0" rIns="0" tIns="0" bIns="0" anchor="t">
            <a:spAutoFit/>
          </a:bodyPr>
          <a:lstStyle/>
          <a:p>
            <a:pPr algn="l"/>
            <a:r>
              <a:rPr sz="1300" b="1" i="0">
                <a:solidFill>
                  <a:srgbClr val="6C4AB6"/>
                </a:solidFill>
                <a:latin typeface="Arial"/>
              </a:rPr>
              <a:t>Từng bước</a:t>
            </a:r>
          </a:p>
        </p:txBody>
      </p:sp>
      <p:sp>
        <p:nvSpPr>
          <p:cNvPr id="10" name="Rounded Rectangle 9"/>
          <p:cNvSpPr/>
          <p:nvPr/>
        </p:nvSpPr>
        <p:spPr>
          <a:xfrm>
            <a:off x="54864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5</a:t>
            </a:r>
          </a:p>
        </p:txBody>
      </p:sp>
      <p:sp>
        <p:nvSpPr>
          <p:cNvPr id="11" name="TextBox 10"/>
          <p:cNvSpPr txBox="1"/>
          <p:nvPr/>
        </p:nvSpPr>
        <p:spPr>
          <a:xfrm>
            <a:off x="135331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Chênh độ lớn sai số của hai dự báo.</a:t>
            </a:r>
          </a:p>
        </p:txBody>
      </p:sp>
      <p:sp>
        <p:nvSpPr>
          <p:cNvPr id="12" name="Rounded Rectangle 11"/>
          <p:cNvSpPr/>
          <p:nvPr/>
        </p:nvSpPr>
        <p:spPr>
          <a:xfrm>
            <a:off x="54864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8–9</a:t>
            </a:r>
          </a:p>
        </p:txBody>
      </p:sp>
      <p:sp>
        <p:nvSpPr>
          <p:cNvPr id="13" name="TextBox 12"/>
          <p:cNvSpPr txBox="1"/>
          <p:nvPr/>
        </p:nvSpPr>
        <p:spPr>
          <a:xfrm>
            <a:off x="135331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Cộng tự hiệp phương sai tới trễ h − 1.</a:t>
            </a:r>
          </a:p>
        </p:txBody>
      </p:sp>
      <p:sp>
        <p:nvSpPr>
          <p:cNvPr id="14" name="Rounded Rectangle 13"/>
          <p:cNvSpPr/>
          <p:nvPr/>
        </p:nvSpPr>
        <p:spPr>
          <a:xfrm>
            <a:off x="548640" y="5421841"/>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12</a:t>
            </a:r>
          </a:p>
        </p:txBody>
      </p:sp>
      <p:sp>
        <p:nvSpPr>
          <p:cNvPr id="15" name="TextBox 14"/>
          <p:cNvSpPr txBox="1"/>
          <p:nvPr/>
        </p:nvSpPr>
        <p:spPr>
          <a:xfrm>
            <a:off x="1353312" y="5403553"/>
            <a:ext cx="2697480" cy="384598"/>
          </a:xfrm>
          <a:prstGeom prst="rect">
            <a:avLst/>
          </a:prstGeom>
          <a:noFill/>
        </p:spPr>
        <p:txBody>
          <a:bodyPr wrap="square" lIns="0" rIns="0" tIns="0" bIns="0" anchor="t">
            <a:spAutoFit/>
          </a:bodyPr>
          <a:lstStyle/>
          <a:p>
            <a:pPr algn="l"/>
            <a:r>
              <a:rPr sz="1050" b="0" i="0">
                <a:solidFill>
                  <a:srgbClr val="1B2A41"/>
                </a:solidFill>
                <a:latin typeface="Arial"/>
              </a:rPr>
              <a:t>Chênh trung bình chia sai số chuẩn.</a:t>
            </a:r>
          </a:p>
        </p:txBody>
      </p:sp>
      <p:sp>
        <p:nvSpPr>
          <p:cNvPr id="16" name="Rounded Rectangle 15"/>
          <p:cNvSpPr/>
          <p:nvPr/>
        </p:nvSpPr>
        <p:spPr>
          <a:xfrm>
            <a:off x="4160520" y="4652645"/>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13–14</a:t>
            </a:r>
          </a:p>
        </p:txBody>
      </p:sp>
      <p:sp>
        <p:nvSpPr>
          <p:cNvPr id="17" name="TextBox 16"/>
          <p:cNvSpPr txBox="1"/>
          <p:nvPr/>
        </p:nvSpPr>
        <p:spPr>
          <a:xfrm>
            <a:off x="4965192" y="4634357"/>
            <a:ext cx="2697480" cy="384598"/>
          </a:xfrm>
          <a:prstGeom prst="rect">
            <a:avLst/>
          </a:prstGeom>
          <a:noFill/>
        </p:spPr>
        <p:txBody>
          <a:bodyPr wrap="square" lIns="0" rIns="0" tIns="0" bIns="0" anchor="t">
            <a:spAutoFit/>
          </a:bodyPr>
          <a:lstStyle/>
          <a:p>
            <a:pPr algn="l"/>
            <a:r>
              <a:rPr sz="1050" b="0" i="0">
                <a:solidFill>
                  <a:srgbClr val="1B2A41"/>
                </a:solidFill>
                <a:latin typeface="Arial"/>
              </a:rPr>
              <a:t>Bản ngây thơ: so với hình chuông chuẩn.</a:t>
            </a:r>
          </a:p>
        </p:txBody>
      </p:sp>
      <p:sp>
        <p:nvSpPr>
          <p:cNvPr id="18" name="Rounded Rectangle 17"/>
          <p:cNvSpPr/>
          <p:nvPr/>
        </p:nvSpPr>
        <p:spPr>
          <a:xfrm>
            <a:off x="4160520" y="5037243"/>
            <a:ext cx="731520" cy="237744"/>
          </a:xfrm>
          <a:prstGeom prst="roundRect">
            <a:avLst>
              <a:gd name="adj" fmla="val 4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lstStyle/>
          <a:p>
            <a:pPr algn="ctr"/>
            <a:r>
              <a:rPr sz="900" b="1" i="0">
                <a:solidFill>
                  <a:srgbClr val="6C4AB6"/>
                </a:solidFill>
                <a:latin typeface="Arial"/>
              </a:rPr>
              <a:t>15–16</a:t>
            </a:r>
          </a:p>
        </p:txBody>
      </p:sp>
      <p:sp>
        <p:nvSpPr>
          <p:cNvPr id="19" name="TextBox 18"/>
          <p:cNvSpPr txBox="1"/>
          <p:nvPr/>
        </p:nvSpPr>
        <p:spPr>
          <a:xfrm>
            <a:off x="4965192" y="5018955"/>
            <a:ext cx="2697480" cy="384598"/>
          </a:xfrm>
          <a:prstGeom prst="rect">
            <a:avLst/>
          </a:prstGeom>
          <a:noFill/>
        </p:spPr>
        <p:txBody>
          <a:bodyPr wrap="square" lIns="0" rIns="0" tIns="0" bIns="0" anchor="t">
            <a:spAutoFit/>
          </a:bodyPr>
          <a:lstStyle/>
          <a:p>
            <a:pPr algn="l"/>
            <a:r>
              <a:rPr sz="1050" b="0" i="0">
                <a:solidFill>
                  <a:srgbClr val="1B2A41"/>
                </a:solidFill>
                <a:latin typeface="Arial"/>
              </a:rPr>
              <a:t>Bản HLN: hệ số mẫu nhỏ, phân phối t.</a:t>
            </a:r>
          </a:p>
        </p:txBody>
      </p:sp>
      <p:sp>
        <p:nvSpPr>
          <p:cNvPr id="20" name="Rounded Rectangle 19"/>
          <p:cNvSpPr/>
          <p:nvPr/>
        </p:nvSpPr>
        <p:spPr>
          <a:xfrm>
            <a:off x="548640" y="5852160"/>
            <a:ext cx="7086600" cy="621792"/>
          </a:xfrm>
          <a:prstGeom prst="roundRect">
            <a:avLst>
              <a:gd name="adj" fmla="val 1500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879592"/>
            <a:ext cx="6766560" cy="566928"/>
          </a:xfrm>
          <a:prstGeom prst="rect">
            <a:avLst/>
          </a:prstGeom>
          <a:noFill/>
        </p:spPr>
        <p:txBody>
          <a:bodyPr wrap="square" lIns="0" rIns="0" tIns="0" bIns="0" anchor="ctr">
            <a:spAutoFit/>
          </a:bodyPr>
          <a:lstStyle/>
          <a:p>
            <a:pPr algn="l"/>
            <a:r>
              <a:rPr sz="1100" b="1" i="0">
                <a:solidFill>
                  <a:srgbClr val="1E8449"/>
                </a:solidFill>
                <a:latin typeface="Arial"/>
              </a:rPr>
              <a:t>Kết quả:  </a:t>
            </a:r>
            <a:r>
              <a:rPr sz="1100" b="0" i="0">
                <a:solidFill>
                  <a:srgbClr val="1B2A41"/>
                </a:solidFill>
                <a:latin typeface="Arial"/>
              </a:rPr>
              <a:t>Trộn so với seasonal naive trên 2.215 giờ: bỏ tự tương quan ra p = 0,0000012; bản HLN h = 24 ra −1,41, p = 0,16: chưa có bằng chứng.</a:t>
            </a:r>
          </a:p>
        </p:txBody>
      </p:sp>
      <p:sp>
        <p:nvSpPr>
          <p:cNvPr id="22" name="TextBox 21"/>
          <p:cNvSpPr txBox="1"/>
          <p:nvPr/>
        </p:nvSpPr>
        <p:spPr>
          <a:xfrm>
            <a:off x="7863840" y="1737360"/>
            <a:ext cx="3776472" cy="274320"/>
          </a:xfrm>
          <a:prstGeom prst="rect">
            <a:avLst/>
          </a:prstGeom>
          <a:noFill/>
        </p:spPr>
        <p:txBody>
          <a:bodyPr wrap="square" lIns="0" rIns="0" tIns="0" bIns="0" anchor="t">
            <a:spAutoFit/>
          </a:bodyPr>
          <a:lstStyle/>
          <a:p>
            <a:pPr algn="l"/>
            <a:r>
              <a:rPr sz="1300" b="1" i="0">
                <a:solidFill>
                  <a:srgbClr val="6C4AB6"/>
                </a:solidFill>
                <a:latin typeface="Arial"/>
              </a:rPr>
              <a:t>Thư viện và hàm</a:t>
            </a:r>
          </a:p>
        </p:txBody>
      </p:sp>
      <p:sp>
        <p:nvSpPr>
          <p:cNvPr id="23" name="TextBox 22"/>
          <p:cNvSpPr txBox="1"/>
          <p:nvPr/>
        </p:nvSpPr>
        <p:spPr>
          <a:xfrm>
            <a:off x="7863840" y="2066543"/>
            <a:ext cx="3776472" cy="237744"/>
          </a:xfrm>
          <a:prstGeom prst="rect">
            <a:avLst/>
          </a:prstGeom>
          <a:noFill/>
        </p:spPr>
        <p:txBody>
          <a:bodyPr wrap="square" lIns="0" rIns="0" tIns="0" bIns="0" anchor="t">
            <a:spAutoFit/>
          </a:bodyPr>
          <a:lstStyle/>
          <a:p>
            <a:pPr algn="l"/>
            <a:r>
              <a:rPr sz="1100" b="1" i="0">
                <a:solidFill>
                  <a:srgbClr val="1B2A41"/>
                </a:solidFill>
                <a:latin typeface="Arial"/>
              </a:rPr>
              <a:t>np.sum(lech[k:] * lech[: n - k])</a:t>
            </a:r>
            <a:r>
              <a:rPr sz="950" b="1" i="0">
                <a:solidFill>
                  <a:srgbClr val="5B6778"/>
                </a:solidFill>
                <a:latin typeface="Arial"/>
              </a:rPr>
              <a:t>   numpy</a:t>
            </a:r>
          </a:p>
        </p:txBody>
      </p:sp>
      <p:sp>
        <p:nvSpPr>
          <p:cNvPr id="24" name="TextBox 23"/>
          <p:cNvSpPr txBox="1"/>
          <p:nvPr/>
        </p:nvSpPr>
        <p:spPr>
          <a:xfrm>
            <a:off x="7863840" y="2295144"/>
            <a:ext cx="3776472" cy="384048"/>
          </a:xfrm>
          <a:prstGeom prst="rect">
            <a:avLst/>
          </a:prstGeom>
          <a:noFill/>
        </p:spPr>
        <p:txBody>
          <a:bodyPr wrap="square" lIns="0" rIns="0" tIns="0" bIns="0" anchor="t">
            <a:spAutoFit/>
          </a:bodyPr>
          <a:lstStyle/>
          <a:p>
            <a:pPr algn="l"/>
            <a:r>
              <a:rPr sz="1050" b="0" i="0">
                <a:solidFill>
                  <a:srgbClr val="1B2A41"/>
                </a:solidFill>
                <a:latin typeface="Arial"/>
              </a:rPr>
              <a:t>Tự hiệp phương sai trễ k: d_t và d_(t+k) cùng lên xuống cỡ nào.</a:t>
            </a:r>
          </a:p>
        </p:txBody>
      </p:sp>
      <p:sp>
        <p:nvSpPr>
          <p:cNvPr id="25" name="TextBox 24"/>
          <p:cNvSpPr txBox="1"/>
          <p:nvPr/>
        </p:nvSpPr>
        <p:spPr>
          <a:xfrm>
            <a:off x="7863840" y="2724911"/>
            <a:ext cx="3776472" cy="237744"/>
          </a:xfrm>
          <a:prstGeom prst="rect">
            <a:avLst/>
          </a:prstGeom>
          <a:noFill/>
        </p:spPr>
        <p:txBody>
          <a:bodyPr wrap="square" lIns="0" rIns="0" tIns="0" bIns="0" anchor="t">
            <a:spAutoFit/>
          </a:bodyPr>
          <a:lstStyle/>
          <a:p>
            <a:pPr algn="l"/>
            <a:r>
              <a:rPr sz="1100" b="1" i="0">
                <a:solidFill>
                  <a:srgbClr val="1B2A41"/>
                </a:solidFill>
                <a:latin typeface="Arial"/>
              </a:rPr>
              <a:t>stats.t(df=n - 1).sf</a:t>
            </a:r>
            <a:r>
              <a:rPr sz="950" b="1" i="0">
                <a:solidFill>
                  <a:srgbClr val="5B6778"/>
                </a:solidFill>
                <a:latin typeface="Arial"/>
              </a:rPr>
              <a:t>   scipy</a:t>
            </a:r>
          </a:p>
        </p:txBody>
      </p:sp>
      <p:sp>
        <p:nvSpPr>
          <p:cNvPr id="26" name="TextBox 25"/>
          <p:cNvSpPr txBox="1"/>
          <p:nvPr/>
        </p:nvSpPr>
        <p:spPr>
          <a:xfrm>
            <a:off x="7863840" y="2953511"/>
            <a:ext cx="3776472" cy="384048"/>
          </a:xfrm>
          <a:prstGeom prst="rect">
            <a:avLst/>
          </a:prstGeom>
          <a:noFill/>
        </p:spPr>
        <p:txBody>
          <a:bodyPr wrap="square" lIns="0" rIns="0" tIns="0" bIns="0" anchor="t">
            <a:spAutoFit/>
          </a:bodyPr>
          <a:lstStyle/>
          <a:p>
            <a:pPr algn="l"/>
            <a:r>
              <a:rPr sz="1050" b="0" i="0">
                <a:solidFill>
                  <a:srgbClr val="1B2A41"/>
                </a:solidFill>
                <a:latin typeface="Arial"/>
              </a:rPr>
              <a:t>Xác suất đuôi phân phối t; nhân 2 được p hai phía.</a:t>
            </a:r>
          </a:p>
        </p:txBody>
      </p:sp>
      <p:sp>
        <p:nvSpPr>
          <p:cNvPr id="27" name="TextBox 26"/>
          <p:cNvSpPr txBox="1"/>
          <p:nvPr/>
        </p:nvSpPr>
        <p:spPr>
          <a:xfrm>
            <a:off x="7863840" y="3383279"/>
            <a:ext cx="3776472" cy="237744"/>
          </a:xfrm>
          <a:prstGeom prst="rect">
            <a:avLst/>
          </a:prstGeom>
          <a:noFill/>
        </p:spPr>
        <p:txBody>
          <a:bodyPr wrap="square" lIns="0" rIns="0" tIns="0" bIns="0" anchor="t">
            <a:spAutoFit/>
          </a:bodyPr>
          <a:lstStyle/>
          <a:p>
            <a:pPr algn="l"/>
            <a:r>
              <a:rPr sz="1100" b="1" i="0">
                <a:solidFill>
                  <a:srgbClr val="1B2A41"/>
                </a:solidFill>
                <a:latin typeface="Arial"/>
              </a:rPr>
              <a:t>stats.norm.sf</a:t>
            </a:r>
            <a:r>
              <a:rPr sz="950" b="1" i="0">
                <a:solidFill>
                  <a:srgbClr val="5B6778"/>
                </a:solidFill>
                <a:latin typeface="Arial"/>
              </a:rPr>
              <a:t>   scipy</a:t>
            </a:r>
          </a:p>
        </p:txBody>
      </p:sp>
      <p:sp>
        <p:nvSpPr>
          <p:cNvPr id="28" name="TextBox 27"/>
          <p:cNvSpPr txBox="1"/>
          <p:nvPr/>
        </p:nvSpPr>
        <p:spPr>
          <a:xfrm>
            <a:off x="7863840" y="3611879"/>
            <a:ext cx="3776472" cy="384048"/>
          </a:xfrm>
          <a:prstGeom prst="rect">
            <a:avLst/>
          </a:prstGeom>
          <a:noFill/>
        </p:spPr>
        <p:txBody>
          <a:bodyPr wrap="square" lIns="0" rIns="0" tIns="0" bIns="0" anchor="t">
            <a:spAutoFit/>
          </a:bodyPr>
          <a:lstStyle/>
          <a:p>
            <a:pPr algn="l"/>
            <a:r>
              <a:rPr sz="1050" b="0" i="0">
                <a:solidFill>
                  <a:srgbClr val="1B2A41"/>
                </a:solidFill>
                <a:latin typeface="Arial"/>
              </a:rPr>
              <a:t>Xác suất đuôi của hình chuông chuẩn, dùng cho bản bỏ tự tương quan.</a:t>
            </a:r>
          </a:p>
        </p:txBody>
      </p:sp>
      <p:sp>
        <p:nvSpPr>
          <p:cNvPr id="29" name="Rounded Rectangle 28"/>
          <p:cNvSpPr/>
          <p:nvPr/>
        </p:nvSpPr>
        <p:spPr>
          <a:xfrm>
            <a:off x="7863840" y="4059935"/>
            <a:ext cx="3776472" cy="551688"/>
          </a:xfrm>
          <a:prstGeom prst="roundRect">
            <a:avLst>
              <a:gd name="adj" fmla="val 15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0" name="Picture 29" descr="e619b15dea33.png"/>
          <p:cNvPicPr>
            <a:picLocks noChangeAspect="1"/>
          </p:cNvPicPr>
          <p:nvPr/>
        </p:nvPicPr>
        <p:blipFill>
          <a:blip r:embed="rId2"/>
          <a:stretch>
            <a:fillRect/>
          </a:stretch>
        </p:blipFill>
        <p:spPr>
          <a:xfrm>
            <a:off x="9180576" y="4114799"/>
            <a:ext cx="1142999" cy="441959"/>
          </a:xfrm>
          <a:prstGeom prst="rect">
            <a:avLst/>
          </a:prstGeom>
        </p:spPr>
      </p:pic>
      <p:pic>
        <p:nvPicPr>
          <p:cNvPr id="31" name="Picture 30" descr="dm-tu-tuong-quan.png"/>
          <p:cNvPicPr>
            <a:picLocks noChangeAspect="1"/>
          </p:cNvPicPr>
          <p:nvPr/>
        </p:nvPicPr>
        <p:blipFill>
          <a:blip r:embed="rId3"/>
          <a:stretch>
            <a:fillRect/>
          </a:stretch>
        </p:blipFill>
        <p:spPr>
          <a:xfrm>
            <a:off x="7863840" y="5042358"/>
            <a:ext cx="3776472" cy="113801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